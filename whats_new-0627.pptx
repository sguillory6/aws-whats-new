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36.xml" ContentType="application/vnd.openxmlformats-officedocument.presentationml.slide+xml"/>
  <Override PartName="/ppt/slides/slide337.xml" ContentType="application/vnd.openxmlformats-officedocument.presentationml.slide+xml"/>
  <Override PartName="/ppt/slides/slide338.xml" ContentType="application/vnd.openxmlformats-officedocument.presentationml.slide+xml"/>
  <Override PartName="/ppt/slides/slide339.xml" ContentType="application/vnd.openxmlformats-officedocument.presentationml.slide+xml"/>
  <Override PartName="/ppt/slides/slide340.xml" ContentType="application/vnd.openxmlformats-officedocument.presentationml.slide+xml"/>
  <Override PartName="/ppt/slides/slide341.xml" ContentType="application/vnd.openxmlformats-officedocument.presentationml.slide+xml"/>
  <Override PartName="/ppt/slides/slide342.xml" ContentType="application/vnd.openxmlformats-officedocument.presentationml.slide+xml"/>
  <Override PartName="/ppt/slides/slide343.xml" ContentType="application/vnd.openxmlformats-officedocument.presentationml.slide+xml"/>
  <Override PartName="/ppt/slides/slide344.xml" ContentType="application/vnd.openxmlformats-officedocument.presentationml.slide+xml"/>
  <Override PartName="/ppt/slides/slide345.xml" ContentType="application/vnd.openxmlformats-officedocument.presentationml.slide+xml"/>
  <Override PartName="/ppt/slides/slide346.xml" ContentType="application/vnd.openxmlformats-officedocument.presentationml.slide+xml"/>
  <Override PartName="/ppt/slides/slide347.xml" ContentType="application/vnd.openxmlformats-officedocument.presentationml.slide+xml"/>
  <Override PartName="/ppt/slides/slide348.xml" ContentType="application/vnd.openxmlformats-officedocument.presentationml.slide+xml"/>
  <Override PartName="/ppt/slides/slide349.xml" ContentType="application/vnd.openxmlformats-officedocument.presentationml.slide+xml"/>
  <Override PartName="/ppt/slides/slide350.xml" ContentType="application/vnd.openxmlformats-officedocument.presentationml.slide+xml"/>
  <Override PartName="/ppt/slides/slide351.xml" ContentType="application/vnd.openxmlformats-officedocument.presentationml.slide+xml"/>
  <Override PartName="/ppt/slides/slide352.xml" ContentType="application/vnd.openxmlformats-officedocument.presentationml.slide+xml"/>
  <Override PartName="/ppt/slides/slide353.xml" ContentType="application/vnd.openxmlformats-officedocument.presentationml.slide+xml"/>
  <Override PartName="/ppt/slides/slide354.xml" ContentType="application/vnd.openxmlformats-officedocument.presentationml.slide+xml"/>
  <Override PartName="/ppt/slides/slide355.xml" ContentType="application/vnd.openxmlformats-officedocument.presentationml.slide+xml"/>
  <Override PartName="/ppt/slides/slide356.xml" ContentType="application/vnd.openxmlformats-officedocument.presentationml.slide+xml"/>
  <Override PartName="/ppt/slides/slide357.xml" ContentType="application/vnd.openxmlformats-officedocument.presentationml.slide+xml"/>
  <Override PartName="/ppt/slides/slide358.xml" ContentType="application/vnd.openxmlformats-officedocument.presentationml.slide+xml"/>
  <Override PartName="/ppt/slides/slide359.xml" ContentType="application/vnd.openxmlformats-officedocument.presentationml.slide+xml"/>
  <Override PartName="/ppt/slides/slide360.xml" ContentType="application/vnd.openxmlformats-officedocument.presentationml.slide+xml"/>
  <Override PartName="/ppt/slides/slide361.xml" ContentType="application/vnd.openxmlformats-officedocument.presentationml.slide+xml"/>
  <Override PartName="/ppt/slides/slide362.xml" ContentType="application/vnd.openxmlformats-officedocument.presentationml.slide+xml"/>
  <Override PartName="/ppt/slides/slide363.xml" ContentType="application/vnd.openxmlformats-officedocument.presentationml.slide+xml"/>
  <Override PartName="/ppt/slides/slide364.xml" ContentType="application/vnd.openxmlformats-officedocument.presentationml.slide+xml"/>
  <Override PartName="/ppt/slides/slide365.xml" ContentType="application/vnd.openxmlformats-officedocument.presentationml.slide+xml"/>
  <Override PartName="/ppt/slides/slide366.xml" ContentType="application/vnd.openxmlformats-officedocument.presentationml.slide+xml"/>
  <Override PartName="/ppt/slides/slide367.xml" ContentType="application/vnd.openxmlformats-officedocument.presentationml.slide+xml"/>
  <Override PartName="/ppt/slides/slide368.xml" ContentType="application/vnd.openxmlformats-officedocument.presentationml.slide+xml"/>
  <Override PartName="/ppt/slides/slide369.xml" ContentType="application/vnd.openxmlformats-officedocument.presentationml.slide+xml"/>
  <Override PartName="/ppt/slides/slide370.xml" ContentType="application/vnd.openxmlformats-officedocument.presentationml.slide+xml"/>
  <Override PartName="/ppt/slides/slide371.xml" ContentType="application/vnd.openxmlformats-officedocument.presentationml.slide+xml"/>
  <Override PartName="/ppt/slides/slide372.xml" ContentType="application/vnd.openxmlformats-officedocument.presentationml.slide+xml"/>
  <Override PartName="/ppt/slides/slide373.xml" ContentType="application/vnd.openxmlformats-officedocument.presentationml.slide+xml"/>
  <Override PartName="/ppt/slides/slide374.xml" ContentType="application/vnd.openxmlformats-officedocument.presentationml.slide+xml"/>
  <Override PartName="/ppt/slides/slide375.xml" ContentType="application/vnd.openxmlformats-officedocument.presentationml.slide+xml"/>
  <Override PartName="/ppt/slides/slide376.xml" ContentType="application/vnd.openxmlformats-officedocument.presentationml.slide+xml"/>
  <Override PartName="/ppt/slides/slide377.xml" ContentType="application/vnd.openxmlformats-officedocument.presentationml.slide+xml"/>
  <Override PartName="/ppt/slides/slide378.xml" ContentType="application/vnd.openxmlformats-officedocument.presentationml.slide+xml"/>
  <Override PartName="/ppt/slides/slide379.xml" ContentType="application/vnd.openxmlformats-officedocument.presentationml.slide+xml"/>
  <Override PartName="/ppt/slides/slide380.xml" ContentType="application/vnd.openxmlformats-officedocument.presentationml.slide+xml"/>
  <Override PartName="/ppt/slides/slide381.xml" ContentType="application/vnd.openxmlformats-officedocument.presentationml.slide+xml"/>
  <Override PartName="/ppt/slides/slide382.xml" ContentType="application/vnd.openxmlformats-officedocument.presentationml.slide+xml"/>
  <Override PartName="/ppt/slides/slide383.xml" ContentType="application/vnd.openxmlformats-officedocument.presentationml.slide+xml"/>
  <Override PartName="/ppt/slides/slide384.xml" ContentType="application/vnd.openxmlformats-officedocument.presentationml.slide+xml"/>
  <Override PartName="/ppt/slides/slide385.xml" ContentType="application/vnd.openxmlformats-officedocument.presentationml.slide+xml"/>
  <Override PartName="/ppt/slides/slide386.xml" ContentType="application/vnd.openxmlformats-officedocument.presentationml.slide+xml"/>
  <Override PartName="/ppt/slides/slide387.xml" ContentType="application/vnd.openxmlformats-officedocument.presentationml.slide+xml"/>
  <Override PartName="/ppt/slides/slide388.xml" ContentType="application/vnd.openxmlformats-officedocument.presentationml.slide+xml"/>
  <Override PartName="/ppt/slides/slide389.xml" ContentType="application/vnd.openxmlformats-officedocument.presentationml.slide+xml"/>
  <Override PartName="/ppt/slides/slide390.xml" ContentType="application/vnd.openxmlformats-officedocument.presentationml.slide+xml"/>
  <Override PartName="/ppt/slides/slide391.xml" ContentType="application/vnd.openxmlformats-officedocument.presentationml.slide+xml"/>
  <Override PartName="/ppt/slides/slide392.xml" ContentType="application/vnd.openxmlformats-officedocument.presentationml.slide+xml"/>
  <Override PartName="/ppt/slides/slide393.xml" ContentType="application/vnd.openxmlformats-officedocument.presentationml.slide+xml"/>
  <Override PartName="/ppt/slides/slide394.xml" ContentType="application/vnd.openxmlformats-officedocument.presentationml.slide+xml"/>
  <Override PartName="/ppt/slides/slide395.xml" ContentType="application/vnd.openxmlformats-officedocument.presentationml.slide+xml"/>
  <Override PartName="/ppt/slides/slide396.xml" ContentType="application/vnd.openxmlformats-officedocument.presentationml.slide+xml"/>
  <Override PartName="/ppt/slides/slide397.xml" ContentType="application/vnd.openxmlformats-officedocument.presentationml.slide+xml"/>
  <Override PartName="/ppt/slides/slide398.xml" ContentType="application/vnd.openxmlformats-officedocument.presentationml.slide+xml"/>
  <Override PartName="/ppt/slides/slide399.xml" ContentType="application/vnd.openxmlformats-officedocument.presentationml.slide+xml"/>
  <Override PartName="/ppt/slides/slide400.xml" ContentType="application/vnd.openxmlformats-officedocument.presentationml.slide+xml"/>
  <Override PartName="/ppt/slides/slide401.xml" ContentType="application/vnd.openxmlformats-officedocument.presentationml.slide+xml"/>
  <Override PartName="/ppt/slides/slide402.xml" ContentType="application/vnd.openxmlformats-officedocument.presentationml.slide+xml"/>
  <Override PartName="/ppt/slides/slide403.xml" ContentType="application/vnd.openxmlformats-officedocument.presentationml.slide+xml"/>
  <Override PartName="/ppt/slides/slide404.xml" ContentType="application/vnd.openxmlformats-officedocument.presentationml.slide+xml"/>
  <Override PartName="/ppt/slides/slide405.xml" ContentType="application/vnd.openxmlformats-officedocument.presentationml.slide+xml"/>
  <Override PartName="/ppt/slides/slide406.xml" ContentType="application/vnd.openxmlformats-officedocument.presentationml.slide+xml"/>
  <Override PartName="/ppt/slides/slide407.xml" ContentType="application/vnd.openxmlformats-officedocument.presentationml.slide+xml"/>
  <Override PartName="/ppt/slides/slide408.xml" ContentType="application/vnd.openxmlformats-officedocument.presentationml.slide+xml"/>
  <Override PartName="/ppt/slides/slide409.xml" ContentType="application/vnd.openxmlformats-officedocument.presentationml.slide+xml"/>
  <Override PartName="/ppt/slides/slide410.xml" ContentType="application/vnd.openxmlformats-officedocument.presentationml.slide+xml"/>
  <Override PartName="/ppt/slides/slide411.xml" ContentType="application/vnd.openxmlformats-officedocument.presentationml.slide+xml"/>
  <Override PartName="/ppt/slides/slide412.xml" ContentType="application/vnd.openxmlformats-officedocument.presentationml.slide+xml"/>
  <Override PartName="/ppt/slides/slide413.xml" ContentType="application/vnd.openxmlformats-officedocument.presentationml.slide+xml"/>
  <Override PartName="/ppt/slides/slide414.xml" ContentType="application/vnd.openxmlformats-officedocument.presentationml.slide+xml"/>
  <Override PartName="/ppt/slides/slide415.xml" ContentType="application/vnd.openxmlformats-officedocument.presentationml.slide+xml"/>
  <Override PartName="/ppt/slides/slide416.xml" ContentType="application/vnd.openxmlformats-officedocument.presentationml.slide+xml"/>
  <Override PartName="/ppt/slides/slide417.xml" ContentType="application/vnd.openxmlformats-officedocument.presentationml.slide+xml"/>
  <Override PartName="/ppt/slides/slide418.xml" ContentType="application/vnd.openxmlformats-officedocument.presentationml.slide+xml"/>
  <Override PartName="/ppt/slides/slide419.xml" ContentType="application/vnd.openxmlformats-officedocument.presentationml.slide+xml"/>
  <Override PartName="/ppt/slides/slide420.xml" ContentType="application/vnd.openxmlformats-officedocument.presentationml.slide+xml"/>
  <Override PartName="/ppt/slides/slide421.xml" ContentType="application/vnd.openxmlformats-officedocument.presentationml.slide+xml"/>
  <Override PartName="/ppt/slides/slide422.xml" ContentType="application/vnd.openxmlformats-officedocument.presentationml.slide+xml"/>
  <Override PartName="/ppt/slides/slide423.xml" ContentType="application/vnd.openxmlformats-officedocument.presentationml.slide+xml"/>
  <Override PartName="/ppt/slides/slide424.xml" ContentType="application/vnd.openxmlformats-officedocument.presentationml.slide+xml"/>
  <Override PartName="/ppt/slides/slide425.xml" ContentType="application/vnd.openxmlformats-officedocument.presentationml.slide+xml"/>
  <Override PartName="/ppt/slides/slide426.xml" ContentType="application/vnd.openxmlformats-officedocument.presentationml.slide+xml"/>
  <Override PartName="/ppt/slides/slide427.xml" ContentType="application/vnd.openxmlformats-officedocument.presentationml.slide+xml"/>
  <Override PartName="/ppt/slides/slide428.xml" ContentType="application/vnd.openxmlformats-officedocument.presentationml.slide+xml"/>
  <Override PartName="/ppt/slides/slide429.xml" ContentType="application/vnd.openxmlformats-officedocument.presentationml.slide+xml"/>
  <Override PartName="/ppt/slides/slide430.xml" ContentType="application/vnd.openxmlformats-officedocument.presentationml.slide+xml"/>
  <Override PartName="/ppt/slides/slide431.xml" ContentType="application/vnd.openxmlformats-officedocument.presentationml.slide+xml"/>
  <Override PartName="/ppt/slides/slide432.xml" ContentType="application/vnd.openxmlformats-officedocument.presentationml.slide+xml"/>
  <Override PartName="/ppt/slides/slide433.xml" ContentType="application/vnd.openxmlformats-officedocument.presentationml.slide+xml"/>
  <Override PartName="/ppt/slides/slide434.xml" ContentType="application/vnd.openxmlformats-officedocument.presentationml.slide+xml"/>
  <Override PartName="/ppt/slides/slide435.xml" ContentType="application/vnd.openxmlformats-officedocument.presentationml.slide+xml"/>
  <Override PartName="/ppt/slides/slide436.xml" ContentType="application/vnd.openxmlformats-officedocument.presentationml.slide+xml"/>
  <Override PartName="/ppt/slides/slide437.xml" ContentType="application/vnd.openxmlformats-officedocument.presentationml.slide+xml"/>
  <Override PartName="/ppt/slides/slide438.xml" ContentType="application/vnd.openxmlformats-officedocument.presentationml.slide+xml"/>
  <Override PartName="/ppt/slides/slide439.xml" ContentType="application/vnd.openxmlformats-officedocument.presentationml.slide+xml"/>
  <Override PartName="/ppt/slides/slide440.xml" ContentType="application/vnd.openxmlformats-officedocument.presentationml.slide+xml"/>
  <Override PartName="/ppt/slides/slide441.xml" ContentType="application/vnd.openxmlformats-officedocument.presentationml.slide+xml"/>
  <Override PartName="/ppt/slides/slide442.xml" ContentType="application/vnd.openxmlformats-officedocument.presentationml.slide+xml"/>
  <Override PartName="/ppt/slides/slide443.xml" ContentType="application/vnd.openxmlformats-officedocument.presentationml.slide+xml"/>
  <Override PartName="/ppt/slides/slide444.xml" ContentType="application/vnd.openxmlformats-officedocument.presentationml.slide+xml"/>
  <Override PartName="/ppt/slides/slide445.xml" ContentType="application/vnd.openxmlformats-officedocument.presentationml.slide+xml"/>
  <Override PartName="/ppt/slides/slide446.xml" ContentType="application/vnd.openxmlformats-officedocument.presentationml.slide+xml"/>
  <Override PartName="/ppt/slides/slide447.xml" ContentType="application/vnd.openxmlformats-officedocument.presentationml.slide+xml"/>
  <Override PartName="/ppt/slides/slide448.xml" ContentType="application/vnd.openxmlformats-officedocument.presentationml.slide+xml"/>
  <Override PartName="/ppt/slides/slide449.xml" ContentType="application/vnd.openxmlformats-officedocument.presentationml.slide+xml"/>
  <Override PartName="/ppt/slides/slide450.xml" ContentType="application/vnd.openxmlformats-officedocument.presentationml.slide+xml"/>
  <Override PartName="/ppt/slides/slide451.xml" ContentType="application/vnd.openxmlformats-officedocument.presentationml.slide+xml"/>
  <Override PartName="/ppt/slides/slide452.xml" ContentType="application/vnd.openxmlformats-officedocument.presentationml.slide+xml"/>
  <Override PartName="/ppt/slides/slide453.xml" ContentType="application/vnd.openxmlformats-officedocument.presentationml.slide+xml"/>
  <Override PartName="/ppt/slides/slide454.xml" ContentType="application/vnd.openxmlformats-officedocument.presentationml.slide+xml"/>
  <Override PartName="/ppt/slides/slide455.xml" ContentType="application/vnd.openxmlformats-officedocument.presentationml.slide+xml"/>
  <Override PartName="/ppt/slides/slide456.xml" ContentType="application/vnd.openxmlformats-officedocument.presentationml.slide+xml"/>
  <Override PartName="/ppt/slides/slide457.xml" ContentType="application/vnd.openxmlformats-officedocument.presentationml.slide+xml"/>
  <Override PartName="/ppt/slides/slide458.xml" ContentType="application/vnd.openxmlformats-officedocument.presentationml.slide+xml"/>
  <Override PartName="/ppt/slides/slide459.xml" ContentType="application/vnd.openxmlformats-officedocument.presentationml.slide+xml"/>
  <Override PartName="/ppt/slides/slide460.xml" ContentType="application/vnd.openxmlformats-officedocument.presentationml.slide+xml"/>
  <Override PartName="/ppt/slides/slide461.xml" ContentType="application/vnd.openxmlformats-officedocument.presentationml.slide+xml"/>
  <Override PartName="/ppt/slides/slide462.xml" ContentType="application/vnd.openxmlformats-officedocument.presentationml.slide+xml"/>
  <Override PartName="/ppt/slides/slide463.xml" ContentType="application/vnd.openxmlformats-officedocument.presentationml.slide+xml"/>
  <Override PartName="/ppt/slides/slide464.xml" ContentType="application/vnd.openxmlformats-officedocument.presentationml.slide+xml"/>
  <Override PartName="/ppt/slides/slide465.xml" ContentType="application/vnd.openxmlformats-officedocument.presentationml.slide+xml"/>
  <Override PartName="/ppt/slides/slide466.xml" ContentType="application/vnd.openxmlformats-officedocument.presentationml.slide+xml"/>
  <Override PartName="/ppt/slides/slide467.xml" ContentType="application/vnd.openxmlformats-officedocument.presentationml.slide+xml"/>
  <Override PartName="/ppt/slides/slide468.xml" ContentType="application/vnd.openxmlformats-officedocument.presentationml.slide+xml"/>
  <Override PartName="/ppt/slides/slide469.xml" ContentType="application/vnd.openxmlformats-officedocument.presentationml.slide+xml"/>
  <Override PartName="/ppt/slides/slide470.xml" ContentType="application/vnd.openxmlformats-officedocument.presentationml.slide+xml"/>
  <Override PartName="/ppt/slides/slide471.xml" ContentType="application/vnd.openxmlformats-officedocument.presentationml.slide+xml"/>
  <Override PartName="/ppt/slides/slide472.xml" ContentType="application/vnd.openxmlformats-officedocument.presentationml.slide+xml"/>
  <Override PartName="/ppt/slides/slide473.xml" ContentType="application/vnd.openxmlformats-officedocument.presentationml.slide+xml"/>
  <Override PartName="/ppt/slides/slide474.xml" ContentType="application/vnd.openxmlformats-officedocument.presentationml.slide+xml"/>
  <Override PartName="/ppt/slides/slide475.xml" ContentType="application/vnd.openxmlformats-officedocument.presentationml.slide+xml"/>
  <Override PartName="/ppt/slides/slide476.xml" ContentType="application/vnd.openxmlformats-officedocument.presentationml.slide+xml"/>
  <Override PartName="/ppt/slides/slide477.xml" ContentType="application/vnd.openxmlformats-officedocument.presentationml.slide+xml"/>
  <Override PartName="/ppt/slides/slide478.xml" ContentType="application/vnd.openxmlformats-officedocument.presentationml.slide+xml"/>
  <Override PartName="/ppt/slides/slide479.xml" ContentType="application/vnd.openxmlformats-officedocument.presentationml.slide+xml"/>
  <Override PartName="/ppt/slides/slide480.xml" ContentType="application/vnd.openxmlformats-officedocument.presentationml.slide+xml"/>
  <Override PartName="/ppt/slides/slide481.xml" ContentType="application/vnd.openxmlformats-officedocument.presentationml.slide+xml"/>
  <Override PartName="/ppt/slides/slide482.xml" ContentType="application/vnd.openxmlformats-officedocument.presentationml.slide+xml"/>
  <Override PartName="/ppt/slides/slide483.xml" ContentType="application/vnd.openxmlformats-officedocument.presentationml.slide+xml"/>
  <Override PartName="/ppt/slides/slide484.xml" ContentType="application/vnd.openxmlformats-officedocument.presentationml.slide+xml"/>
  <Override PartName="/ppt/slides/slide485.xml" ContentType="application/vnd.openxmlformats-officedocument.presentationml.slide+xml"/>
  <Override PartName="/ppt/slides/slide486.xml" ContentType="application/vnd.openxmlformats-officedocument.presentationml.slide+xml"/>
  <Override PartName="/ppt/slides/slide487.xml" ContentType="application/vnd.openxmlformats-officedocument.presentationml.slide+xml"/>
  <Override PartName="/ppt/slides/slide488.xml" ContentType="application/vnd.openxmlformats-officedocument.presentationml.slide+xml"/>
  <Override PartName="/ppt/slides/slide489.xml" ContentType="application/vnd.openxmlformats-officedocument.presentationml.slide+xml"/>
  <Override PartName="/ppt/slides/slide490.xml" ContentType="application/vnd.openxmlformats-officedocument.presentationml.slide+xml"/>
  <Override PartName="/ppt/slides/slide491.xml" ContentType="application/vnd.openxmlformats-officedocument.presentationml.slide+xml"/>
  <Override PartName="/ppt/slides/slide492.xml" ContentType="application/vnd.openxmlformats-officedocument.presentationml.slide+xml"/>
  <Override PartName="/ppt/slides/slide493.xml" ContentType="application/vnd.openxmlformats-officedocument.presentationml.slide+xml"/>
  <Override PartName="/ppt/slides/slide494.xml" ContentType="application/vnd.openxmlformats-officedocument.presentationml.slide+xml"/>
  <Override PartName="/ppt/slides/slide495.xml" ContentType="application/vnd.openxmlformats-officedocument.presentationml.slide+xml"/>
  <Override PartName="/ppt/slides/slide496.xml" ContentType="application/vnd.openxmlformats-officedocument.presentationml.slide+xml"/>
  <Override PartName="/ppt/slides/slide497.xml" ContentType="application/vnd.openxmlformats-officedocument.presentationml.slide+xml"/>
  <Override PartName="/ppt/slides/slide498.xml" ContentType="application/vnd.openxmlformats-officedocument.presentationml.slide+xml"/>
  <Override PartName="/ppt/slides/slide499.xml" ContentType="application/vnd.openxmlformats-officedocument.presentationml.slide+xml"/>
  <Override PartName="/ppt/slides/slide500.xml" ContentType="application/vnd.openxmlformats-officedocument.presentationml.slide+xml"/>
  <Override PartName="/ppt/slides/slide501.xml" ContentType="application/vnd.openxmlformats-officedocument.presentationml.slide+xml"/>
  <Override PartName="/ppt/slides/slide502.xml" ContentType="application/vnd.openxmlformats-officedocument.presentationml.slide+xml"/>
  <Override PartName="/ppt/slides/slide503.xml" ContentType="application/vnd.openxmlformats-officedocument.presentationml.slide+xml"/>
  <Override PartName="/ppt/slides/slide504.xml" ContentType="application/vnd.openxmlformats-officedocument.presentationml.slide+xml"/>
  <Override PartName="/ppt/slides/slide505.xml" ContentType="application/vnd.openxmlformats-officedocument.presentationml.slide+xml"/>
  <Override PartName="/ppt/slides/slide506.xml" ContentType="application/vnd.openxmlformats-officedocument.presentationml.slide+xml"/>
  <Override PartName="/ppt/slides/slide507.xml" ContentType="application/vnd.openxmlformats-officedocument.presentationml.slide+xml"/>
  <Override PartName="/ppt/slides/slide508.xml" ContentType="application/vnd.openxmlformats-officedocument.presentationml.slide+xml"/>
  <Override PartName="/ppt/slides/slide509.xml" ContentType="application/vnd.openxmlformats-officedocument.presentationml.slide+xml"/>
  <Override PartName="/ppt/slides/slide510.xml" ContentType="application/vnd.openxmlformats-officedocument.presentationml.slide+xml"/>
  <Override PartName="/ppt/slides/slide511.xml" ContentType="application/vnd.openxmlformats-officedocument.presentationml.slide+xml"/>
  <Override PartName="/ppt/slides/slide512.xml" ContentType="application/vnd.openxmlformats-officedocument.presentationml.slide+xml"/>
  <Override PartName="/ppt/slides/slide513.xml" ContentType="application/vnd.openxmlformats-officedocument.presentationml.slide+xml"/>
  <Override PartName="/ppt/slides/slide514.xml" ContentType="application/vnd.openxmlformats-officedocument.presentationml.slide+xml"/>
  <Override PartName="/ppt/slides/slide515.xml" ContentType="application/vnd.openxmlformats-officedocument.presentationml.slide+xml"/>
  <Override PartName="/ppt/slides/slide516.xml" ContentType="application/vnd.openxmlformats-officedocument.presentationml.slide+xml"/>
  <Override PartName="/ppt/slides/slide517.xml" ContentType="application/vnd.openxmlformats-officedocument.presentationml.slide+xml"/>
  <Override PartName="/ppt/slides/slide518.xml" ContentType="application/vnd.openxmlformats-officedocument.presentationml.slide+xml"/>
  <Override PartName="/ppt/slides/slide519.xml" ContentType="application/vnd.openxmlformats-officedocument.presentationml.slide+xml"/>
  <Override PartName="/ppt/slides/slide520.xml" ContentType="application/vnd.openxmlformats-officedocument.presentationml.slide+xml"/>
  <Override PartName="/ppt/slides/slide521.xml" ContentType="application/vnd.openxmlformats-officedocument.presentationml.slide+xml"/>
  <Override PartName="/ppt/slides/slide522.xml" ContentType="application/vnd.openxmlformats-officedocument.presentationml.slide+xml"/>
  <Override PartName="/ppt/slides/slide523.xml" ContentType="application/vnd.openxmlformats-officedocument.presentationml.slide+xml"/>
  <Override PartName="/ppt/slides/slide524.xml" ContentType="application/vnd.openxmlformats-officedocument.presentationml.slide+xml"/>
  <Override PartName="/ppt/slides/slide525.xml" ContentType="application/vnd.openxmlformats-officedocument.presentationml.slide+xml"/>
  <Override PartName="/ppt/slides/slide526.xml" ContentType="application/vnd.openxmlformats-officedocument.presentationml.slide+xml"/>
  <Override PartName="/ppt/slides/slide527.xml" ContentType="application/vnd.openxmlformats-officedocument.presentationml.slide+xml"/>
  <Override PartName="/ppt/slides/slide528.xml" ContentType="application/vnd.openxmlformats-officedocument.presentationml.slide+xml"/>
  <Override PartName="/ppt/slides/slide529.xml" ContentType="application/vnd.openxmlformats-officedocument.presentationml.slide+xml"/>
  <Override PartName="/ppt/slides/slide530.xml" ContentType="application/vnd.openxmlformats-officedocument.presentationml.slide+xml"/>
  <Override PartName="/ppt/slides/slide531.xml" ContentType="application/vnd.openxmlformats-officedocument.presentationml.slide+xml"/>
  <Override PartName="/ppt/slides/slide532.xml" ContentType="application/vnd.openxmlformats-officedocument.presentationml.slide+xml"/>
  <Override PartName="/ppt/slides/slide533.xml" ContentType="application/vnd.openxmlformats-officedocument.presentationml.slide+xml"/>
  <Override PartName="/ppt/slides/slide534.xml" ContentType="application/vnd.openxmlformats-officedocument.presentationml.slide+xml"/>
  <Override PartName="/ppt/slides/slide535.xml" ContentType="application/vnd.openxmlformats-officedocument.presentationml.slide+xml"/>
  <Override PartName="/ppt/slides/slide536.xml" ContentType="application/vnd.openxmlformats-officedocument.presentationml.slide+xml"/>
  <Override PartName="/ppt/slides/slide537.xml" ContentType="application/vnd.openxmlformats-officedocument.presentationml.slide+xml"/>
  <Override PartName="/ppt/slides/slide538.xml" ContentType="application/vnd.openxmlformats-officedocument.presentationml.slide+xml"/>
  <Override PartName="/ppt/slides/slide539.xml" ContentType="application/vnd.openxmlformats-officedocument.presentationml.slide+xml"/>
  <Override PartName="/ppt/slides/slide540.xml" ContentType="application/vnd.openxmlformats-officedocument.presentationml.slide+xml"/>
  <Override PartName="/ppt/slides/slide541.xml" ContentType="application/vnd.openxmlformats-officedocument.presentationml.slide+xml"/>
  <Override PartName="/ppt/slides/slide542.xml" ContentType="application/vnd.openxmlformats-officedocument.presentationml.slide+xml"/>
  <Override PartName="/ppt/slides/slide543.xml" ContentType="application/vnd.openxmlformats-officedocument.presentationml.slide+xml"/>
  <Override PartName="/ppt/slides/slide544.xml" ContentType="application/vnd.openxmlformats-officedocument.presentationml.slide+xml"/>
  <Override PartName="/ppt/slides/slide545.xml" ContentType="application/vnd.openxmlformats-officedocument.presentationml.slide+xml"/>
  <Override PartName="/ppt/slides/slide546.xml" ContentType="application/vnd.openxmlformats-officedocument.presentationml.slide+xml"/>
  <Override PartName="/ppt/slides/slide547.xml" ContentType="application/vnd.openxmlformats-officedocument.presentationml.slide+xml"/>
  <Override PartName="/ppt/slides/slide548.xml" ContentType="application/vnd.openxmlformats-officedocument.presentationml.slide+xml"/>
  <Override PartName="/ppt/slides/slide549.xml" ContentType="application/vnd.openxmlformats-officedocument.presentationml.slide+xml"/>
  <Override PartName="/ppt/slides/slide550.xml" ContentType="application/vnd.openxmlformats-officedocument.presentationml.slide+xml"/>
  <Override PartName="/ppt/slides/slide551.xml" ContentType="application/vnd.openxmlformats-officedocument.presentationml.slide+xml"/>
  <Override PartName="/ppt/slides/slide552.xml" ContentType="application/vnd.openxmlformats-officedocument.presentationml.slide+xml"/>
  <Override PartName="/ppt/slides/slide553.xml" ContentType="application/vnd.openxmlformats-officedocument.presentationml.slide+xml"/>
  <Override PartName="/ppt/slides/slide554.xml" ContentType="application/vnd.openxmlformats-officedocument.presentationml.slide+xml"/>
  <Override PartName="/ppt/slides/slide555.xml" ContentType="application/vnd.openxmlformats-officedocument.presentationml.slide+xml"/>
  <Override PartName="/ppt/slides/slide556.xml" ContentType="application/vnd.openxmlformats-officedocument.presentationml.slide+xml"/>
  <Override PartName="/ppt/slides/slide557.xml" ContentType="application/vnd.openxmlformats-officedocument.presentationml.slide+xml"/>
  <Override PartName="/ppt/slides/slide558.xml" ContentType="application/vnd.openxmlformats-officedocument.presentationml.slide+xml"/>
  <Override PartName="/ppt/slides/slide559.xml" ContentType="application/vnd.openxmlformats-officedocument.presentationml.slide+xml"/>
  <Override PartName="/ppt/slides/slide560.xml" ContentType="application/vnd.openxmlformats-officedocument.presentationml.slide+xml"/>
  <Override PartName="/ppt/slides/slide561.xml" ContentType="application/vnd.openxmlformats-officedocument.presentationml.slide+xml"/>
  <Override PartName="/ppt/slides/slide562.xml" ContentType="application/vnd.openxmlformats-officedocument.presentationml.slide+xml"/>
  <Override PartName="/ppt/slides/slide563.xml" ContentType="application/vnd.openxmlformats-officedocument.presentationml.slide+xml"/>
  <Override PartName="/ppt/slides/slide564.xml" ContentType="application/vnd.openxmlformats-officedocument.presentationml.slide+xml"/>
  <Override PartName="/ppt/slides/slide565.xml" ContentType="application/vnd.openxmlformats-officedocument.presentationml.slide+xml"/>
  <Override PartName="/ppt/slides/slide566.xml" ContentType="application/vnd.openxmlformats-officedocument.presentationml.slide+xml"/>
  <Override PartName="/ppt/slides/slide567.xml" ContentType="application/vnd.openxmlformats-officedocument.presentationml.slide+xml"/>
  <Override PartName="/ppt/slides/slide568.xml" ContentType="application/vnd.openxmlformats-officedocument.presentationml.slide+xml"/>
  <Override PartName="/ppt/slides/slide569.xml" ContentType="application/vnd.openxmlformats-officedocument.presentationml.slide+xml"/>
  <Override PartName="/ppt/slides/slide570.xml" ContentType="application/vnd.openxmlformats-officedocument.presentationml.slide+xml"/>
  <Override PartName="/ppt/slides/slide571.xml" ContentType="application/vnd.openxmlformats-officedocument.presentationml.slide+xml"/>
  <Override PartName="/ppt/slides/slide572.xml" ContentType="application/vnd.openxmlformats-officedocument.presentationml.slide+xml"/>
  <Override PartName="/ppt/slides/slide573.xml" ContentType="application/vnd.openxmlformats-officedocument.presentationml.slide+xml"/>
  <Override PartName="/ppt/slides/slide574.xml" ContentType="application/vnd.openxmlformats-officedocument.presentationml.slide+xml"/>
  <Override PartName="/ppt/slides/slide575.xml" ContentType="application/vnd.openxmlformats-officedocument.presentationml.slide+xml"/>
  <Override PartName="/ppt/slides/slide576.xml" ContentType="application/vnd.openxmlformats-officedocument.presentationml.slide+xml"/>
  <Override PartName="/ppt/slides/slide577.xml" ContentType="application/vnd.openxmlformats-officedocument.presentationml.slide+xml"/>
  <Override PartName="/ppt/slides/slide578.xml" ContentType="application/vnd.openxmlformats-officedocument.presentationml.slide+xml"/>
  <Override PartName="/ppt/slides/slide579.xml" ContentType="application/vnd.openxmlformats-officedocument.presentationml.slide+xml"/>
  <Override PartName="/ppt/slides/slide580.xml" ContentType="application/vnd.openxmlformats-officedocument.presentationml.slide+xml"/>
  <Override PartName="/ppt/slides/slide581.xml" ContentType="application/vnd.openxmlformats-officedocument.presentationml.slide+xml"/>
  <Override PartName="/ppt/slides/slide582.xml" ContentType="application/vnd.openxmlformats-officedocument.presentationml.slide+xml"/>
  <Override PartName="/ppt/slides/slide583.xml" ContentType="application/vnd.openxmlformats-officedocument.presentationml.slide+xml"/>
  <Override PartName="/ppt/slides/slide584.xml" ContentType="application/vnd.openxmlformats-officedocument.presentationml.slide+xml"/>
  <Override PartName="/ppt/slides/slide585.xml" ContentType="application/vnd.openxmlformats-officedocument.presentationml.slide+xml"/>
  <Override PartName="/ppt/slides/slide586.xml" ContentType="application/vnd.openxmlformats-officedocument.presentationml.slide+xml"/>
  <Override PartName="/ppt/slides/slide587.xml" ContentType="application/vnd.openxmlformats-officedocument.presentationml.slide+xml"/>
  <Override PartName="/ppt/slides/slide588.xml" ContentType="application/vnd.openxmlformats-officedocument.presentationml.slide+xml"/>
  <Override PartName="/ppt/slides/slide589.xml" ContentType="application/vnd.openxmlformats-officedocument.presentationml.slide+xml"/>
  <Override PartName="/ppt/slides/slide590.xml" ContentType="application/vnd.openxmlformats-officedocument.presentationml.slide+xml"/>
  <Override PartName="/ppt/slides/slide591.xml" ContentType="application/vnd.openxmlformats-officedocument.presentationml.slide+xml"/>
  <Override PartName="/ppt/slides/slide592.xml" ContentType="application/vnd.openxmlformats-officedocument.presentationml.slide+xml"/>
  <Override PartName="/ppt/slides/slide593.xml" ContentType="application/vnd.openxmlformats-officedocument.presentationml.slide+xml"/>
  <Override PartName="/ppt/slides/slide594.xml" ContentType="application/vnd.openxmlformats-officedocument.presentationml.slide+xml"/>
  <Override PartName="/ppt/slides/slide595.xml" ContentType="application/vnd.openxmlformats-officedocument.presentationml.slide+xml"/>
  <Override PartName="/ppt/slides/slide596.xml" ContentType="application/vnd.openxmlformats-officedocument.presentationml.slide+xml"/>
  <Override PartName="/ppt/slides/slide597.xml" ContentType="application/vnd.openxmlformats-officedocument.presentationml.slide+xml"/>
  <Override PartName="/ppt/slides/slide598.xml" ContentType="application/vnd.openxmlformats-officedocument.presentationml.slide+xml"/>
  <Override PartName="/ppt/slides/slide599.xml" ContentType="application/vnd.openxmlformats-officedocument.presentationml.slide+xml"/>
  <Override PartName="/ppt/slides/slide600.xml" ContentType="application/vnd.openxmlformats-officedocument.presentationml.slide+xml"/>
  <Override PartName="/ppt/slides/slide60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4" r:id="rId4"/>
    <p:sldMasterId id="2147483715" r:id="rId5"/>
  </p:sldMasterIdLst>
  <p:notesMasterIdLst>
    <p:notesMasterId r:id="rId607"/>
  </p:notesMasterIdLst>
  <p:handoutMasterIdLst>
    <p:handoutMasterId r:id="rId608"/>
  </p:handoutMasterIdLst>
  <p:sldIdLst>
    <p:sldId id="285" r:id="rId6"/>
    <p:sldId id="257" r:id="rId7"/>
    <p:sldId id="505" r:id="rId8"/>
    <p:sldId id="506" r:id="rId9"/>
    <p:sldId id="545" r:id="rId10"/>
    <p:sldId id="530" r:id="rId11"/>
    <p:sldId id="515" r:id="rId12"/>
    <p:sldId id="537" r:id="rId13"/>
    <p:sldId id="531" r:id="rId14"/>
    <p:sldId id="534" r:id="rId15"/>
    <p:sldId id="528" r:id="rId16"/>
    <p:sldId id="538" r:id="rId17"/>
    <p:sldId id="542" r:id="rId18"/>
    <p:sldId id="532" r:id="rId19"/>
    <p:sldId id="524" r:id="rId20"/>
    <p:sldId id="522" r:id="rId21"/>
    <p:sldId id="523" r:id="rId22"/>
    <p:sldId id="527" r:id="rId23"/>
    <p:sldId id="507" r:id="rId24"/>
    <p:sldId id="516" r:id="rId25"/>
    <p:sldId id="536" r:id="rId26"/>
    <p:sldId id="548" r:id="rId27"/>
    <p:sldId id="551" r:id="rId28"/>
    <p:sldId id="509" r:id="rId29"/>
    <p:sldId id="553" r:id="rId30"/>
    <p:sldId id="540" r:id="rId31"/>
    <p:sldId id="518" r:id="rId32"/>
    <p:sldId id="550" r:id="rId33"/>
    <p:sldId id="526" r:id="rId34"/>
    <p:sldId id="511" r:id="rId35"/>
    <p:sldId id="546" r:id="rId36"/>
    <p:sldId id="554" r:id="rId37"/>
    <p:sldId id="512" r:id="rId38"/>
    <p:sldId id="517" r:id="rId39"/>
    <p:sldId id="514" r:id="rId40"/>
    <p:sldId id="547" r:id="rId41"/>
    <p:sldId id="549" r:id="rId42"/>
    <p:sldId id="301" r:id="rId43"/>
    <p:sldId id="556" r:id="rId44"/>
    <p:sldId id="519" r:id="rId45"/>
    <p:sldId id="520" r:id="rId46"/>
    <p:sldId id="525" r:id="rId47"/>
    <p:sldId id="533" r:id="rId48"/>
    <p:sldId id="513" r:id="rId49"/>
    <p:sldId id="555" r:id="rId50"/>
    <p:sldId id="539" r:id="rId51"/>
    <p:sldId id="544" r:id="rId52"/>
    <p:sldId id="529" r:id="rId53"/>
    <p:sldId id="535" r:id="rId54"/>
    <p:sldId id="541" r:id="rId55"/>
    <p:sldId id="543" r:id="rId56"/>
    <p:sldId id="552" r:id="rId57"/>
    <p:sldId id="508" r:id="rId58"/>
    <p:sldId id="510" r:id="rId59"/>
    <p:sldId id="557" r:id="rId60"/>
    <p:sldId id="558" r:id="rId61"/>
    <p:sldId id="559" r:id="rId62"/>
    <p:sldId id="560" r:id="rId63"/>
    <p:sldId id="561" r:id="rId64"/>
    <p:sldId id="562" r:id="rId65"/>
    <p:sldId id="563" r:id="rId66"/>
    <p:sldId id="564" r:id="rId67"/>
    <p:sldId id="565" r:id="rId68"/>
    <p:sldId id="566" r:id="rId69"/>
    <p:sldId id="567" r:id="rId70"/>
    <p:sldId id="568" r:id="rId71"/>
    <p:sldId id="569" r:id="rId72"/>
    <p:sldId id="570" r:id="rId73"/>
    <p:sldId id="571" r:id="rId74"/>
    <p:sldId id="572" r:id="rId75"/>
    <p:sldId id="573" r:id="rId76"/>
    <p:sldId id="574" r:id="rId77"/>
    <p:sldId id="575" r:id="rId78"/>
    <p:sldId id="576" r:id="rId79"/>
    <p:sldId id="577" r:id="rId80"/>
    <p:sldId id="578" r:id="rId81"/>
    <p:sldId id="579" r:id="rId82"/>
    <p:sldId id="580" r:id="rId83"/>
    <p:sldId id="581" r:id="rId84"/>
    <p:sldId id="582" r:id="rId85"/>
    <p:sldId id="583" r:id="rId86"/>
    <p:sldId id="584" r:id="rId87"/>
    <p:sldId id="585" r:id="rId88"/>
    <p:sldId id="586" r:id="rId89"/>
    <p:sldId id="587" r:id="rId90"/>
    <p:sldId id="588" r:id="rId91"/>
    <p:sldId id="589" r:id="rId92"/>
    <p:sldId id="590" r:id="rId93"/>
    <p:sldId id="591" r:id="rId94"/>
    <p:sldId id="592" r:id="rId95"/>
    <p:sldId id="593" r:id="rId96"/>
    <p:sldId id="594" r:id="rId97"/>
    <p:sldId id="595" r:id="rId98"/>
    <p:sldId id="596" r:id="rId99"/>
    <p:sldId id="597" r:id="rId100"/>
    <p:sldId id="598" r:id="rId101"/>
    <p:sldId id="599" r:id="rId102"/>
    <p:sldId id="600" r:id="rId103"/>
    <p:sldId id="601" r:id="rId104"/>
    <p:sldId id="602" r:id="rId105"/>
    <p:sldId id="603" r:id="rId106"/>
    <p:sldId id="604" r:id="rId107"/>
    <p:sldId id="605" r:id="rId108"/>
    <p:sldId id="606" r:id="rId109"/>
    <p:sldId id="607" r:id="rId110"/>
    <p:sldId id="608" r:id="rId111"/>
    <p:sldId id="609" r:id="rId112"/>
    <p:sldId id="610" r:id="rId113"/>
    <p:sldId id="611" r:id="rId114"/>
    <p:sldId id="612" r:id="rId115"/>
    <p:sldId id="613" r:id="rId116"/>
    <p:sldId id="614" r:id="rId117"/>
    <p:sldId id="615" r:id="rId118"/>
    <p:sldId id="616" r:id="rId119"/>
    <p:sldId id="617" r:id="rId120"/>
    <p:sldId id="618" r:id="rId121"/>
    <p:sldId id="619" r:id="rId122"/>
    <p:sldId id="620" r:id="rId123"/>
    <p:sldId id="621" r:id="rId124"/>
    <p:sldId id="622" r:id="rId125"/>
    <p:sldId id="623" r:id="rId126"/>
    <p:sldId id="624" r:id="rId127"/>
    <p:sldId id="625" r:id="rId128"/>
    <p:sldId id="626" r:id="rId129"/>
    <p:sldId id="627" r:id="rId130"/>
    <p:sldId id="628" r:id="rId131"/>
    <p:sldId id="629" r:id="rId132"/>
    <p:sldId id="630" r:id="rId133"/>
    <p:sldId id="631" r:id="rId134"/>
    <p:sldId id="632" r:id="rId135"/>
    <p:sldId id="633" r:id="rId136"/>
    <p:sldId id="634" r:id="rId137"/>
    <p:sldId id="635" r:id="rId138"/>
    <p:sldId id="636" r:id="rId139"/>
    <p:sldId id="637" r:id="rId140"/>
    <p:sldId id="638" r:id="rId141"/>
    <p:sldId id="639" r:id="rId142"/>
    <p:sldId id="640" r:id="rId143"/>
    <p:sldId id="641" r:id="rId144"/>
    <p:sldId id="642" r:id="rId145"/>
    <p:sldId id="643" r:id="rId146"/>
    <p:sldId id="644" r:id="rId147"/>
    <p:sldId id="645" r:id="rId148"/>
    <p:sldId id="646" r:id="rId149"/>
    <p:sldId id="647" r:id="rId150"/>
    <p:sldId id="648" r:id="rId151"/>
    <p:sldId id="649" r:id="rId152"/>
    <p:sldId id="650" r:id="rId153"/>
    <p:sldId id="651" r:id="rId154"/>
    <p:sldId id="652" r:id="rId155"/>
    <p:sldId id="653" r:id="rId156"/>
    <p:sldId id="654" r:id="rId157"/>
    <p:sldId id="655" r:id="rId158"/>
    <p:sldId id="656" r:id="rId159"/>
    <p:sldId id="657" r:id="rId160"/>
    <p:sldId id="658" r:id="rId161"/>
    <p:sldId id="659" r:id="rId162"/>
    <p:sldId id="660" r:id="rId163"/>
    <p:sldId id="661" r:id="rId164"/>
    <p:sldId id="662" r:id="rId165"/>
    <p:sldId id="663" r:id="rId166"/>
    <p:sldId id="664" r:id="rId167"/>
    <p:sldId id="665" r:id="rId168"/>
    <p:sldId id="666" r:id="rId169"/>
    <p:sldId id="667" r:id="rId170"/>
    <p:sldId id="668" r:id="rId171"/>
    <p:sldId id="669" r:id="rId172"/>
    <p:sldId id="670" r:id="rId173"/>
    <p:sldId id="671" r:id="rId174"/>
    <p:sldId id="672" r:id="rId175"/>
    <p:sldId id="673" r:id="rId176"/>
    <p:sldId id="674" r:id="rId177"/>
    <p:sldId id="675" r:id="rId178"/>
    <p:sldId id="676" r:id="rId179"/>
    <p:sldId id="677" r:id="rId180"/>
    <p:sldId id="678" r:id="rId181"/>
    <p:sldId id="679" r:id="rId182"/>
    <p:sldId id="680" r:id="rId183"/>
    <p:sldId id="681" r:id="rId184"/>
    <p:sldId id="682" r:id="rId185"/>
    <p:sldId id="683" r:id="rId186"/>
    <p:sldId id="684" r:id="rId187"/>
    <p:sldId id="685" r:id="rId188"/>
    <p:sldId id="686" r:id="rId189"/>
    <p:sldId id="687" r:id="rId190"/>
    <p:sldId id="688" r:id="rId191"/>
    <p:sldId id="689" r:id="rId192"/>
    <p:sldId id="690" r:id="rId193"/>
    <p:sldId id="691" r:id="rId194"/>
    <p:sldId id="692" r:id="rId195"/>
    <p:sldId id="693" r:id="rId196"/>
    <p:sldId id="694" r:id="rId197"/>
    <p:sldId id="695" r:id="rId198"/>
    <p:sldId id="696" r:id="rId199"/>
    <p:sldId id="697" r:id="rId200"/>
    <p:sldId id="698" r:id="rId201"/>
    <p:sldId id="699" r:id="rId202"/>
    <p:sldId id="700" r:id="rId203"/>
    <p:sldId id="701" r:id="rId204"/>
    <p:sldId id="702" r:id="rId205"/>
    <p:sldId id="703" r:id="rId206"/>
    <p:sldId id="704" r:id="rId207"/>
    <p:sldId id="705" r:id="rId208"/>
    <p:sldId id="706" r:id="rId209"/>
    <p:sldId id="707" r:id="rId210"/>
    <p:sldId id="708" r:id="rId211"/>
    <p:sldId id="709" r:id="rId212"/>
    <p:sldId id="710" r:id="rId213"/>
    <p:sldId id="711" r:id="rId214"/>
    <p:sldId id="712" r:id="rId215"/>
    <p:sldId id="713" r:id="rId216"/>
    <p:sldId id="714" r:id="rId217"/>
    <p:sldId id="715" r:id="rId218"/>
    <p:sldId id="716" r:id="rId219"/>
    <p:sldId id="717" r:id="rId220"/>
    <p:sldId id="718" r:id="rId221"/>
    <p:sldId id="719" r:id="rId222"/>
    <p:sldId id="720" r:id="rId223"/>
    <p:sldId id="721" r:id="rId224"/>
    <p:sldId id="722" r:id="rId225"/>
    <p:sldId id="723" r:id="rId226"/>
    <p:sldId id="724" r:id="rId227"/>
    <p:sldId id="725" r:id="rId228"/>
    <p:sldId id="726" r:id="rId229"/>
    <p:sldId id="727" r:id="rId230"/>
    <p:sldId id="728" r:id="rId231"/>
    <p:sldId id="729" r:id="rId232"/>
    <p:sldId id="730" r:id="rId233"/>
    <p:sldId id="731" r:id="rId234"/>
    <p:sldId id="732" r:id="rId235"/>
    <p:sldId id="733" r:id="rId236"/>
    <p:sldId id="734" r:id="rId237"/>
    <p:sldId id="735" r:id="rId238"/>
    <p:sldId id="736" r:id="rId239"/>
    <p:sldId id="737" r:id="rId240"/>
    <p:sldId id="738" r:id="rId241"/>
    <p:sldId id="739" r:id="rId242"/>
    <p:sldId id="740" r:id="rId243"/>
    <p:sldId id="741" r:id="rId244"/>
    <p:sldId id="742" r:id="rId245"/>
    <p:sldId id="743" r:id="rId246"/>
    <p:sldId id="744" r:id="rId247"/>
    <p:sldId id="745" r:id="rId248"/>
    <p:sldId id="746" r:id="rId249"/>
    <p:sldId id="747" r:id="rId250"/>
    <p:sldId id="748" r:id="rId251"/>
    <p:sldId id="749" r:id="rId252"/>
    <p:sldId id="750" r:id="rId253"/>
    <p:sldId id="751" r:id="rId254"/>
    <p:sldId id="752" r:id="rId255"/>
    <p:sldId id="753" r:id="rId256"/>
    <p:sldId id="754" r:id="rId257"/>
    <p:sldId id="755" r:id="rId258"/>
    <p:sldId id="756" r:id="rId259"/>
    <p:sldId id="757" r:id="rId260"/>
    <p:sldId id="758" r:id="rId261"/>
    <p:sldId id="759" r:id="rId262"/>
    <p:sldId id="760" r:id="rId263"/>
    <p:sldId id="761" r:id="rId264"/>
    <p:sldId id="762" r:id="rId265"/>
    <p:sldId id="763" r:id="rId266"/>
    <p:sldId id="764" r:id="rId267"/>
    <p:sldId id="765" r:id="rId268"/>
    <p:sldId id="766" r:id="rId269"/>
    <p:sldId id="767" r:id="rId270"/>
    <p:sldId id="768" r:id="rId271"/>
    <p:sldId id="769" r:id="rId272"/>
    <p:sldId id="770" r:id="rId273"/>
    <p:sldId id="771" r:id="rId274"/>
    <p:sldId id="772" r:id="rId275"/>
    <p:sldId id="773" r:id="rId276"/>
    <p:sldId id="774" r:id="rId277"/>
    <p:sldId id="775" r:id="rId278"/>
    <p:sldId id="776" r:id="rId279"/>
    <p:sldId id="777" r:id="rId280"/>
    <p:sldId id="778" r:id="rId281"/>
    <p:sldId id="779" r:id="rId282"/>
    <p:sldId id="780" r:id="rId283"/>
    <p:sldId id="781" r:id="rId284"/>
    <p:sldId id="782" r:id="rId285"/>
    <p:sldId id="783" r:id="rId286"/>
    <p:sldId id="784" r:id="rId287"/>
    <p:sldId id="785" r:id="rId288"/>
    <p:sldId id="786" r:id="rId289"/>
    <p:sldId id="787" r:id="rId290"/>
    <p:sldId id="788" r:id="rId291"/>
    <p:sldId id="789" r:id="rId292"/>
    <p:sldId id="790" r:id="rId293"/>
    <p:sldId id="791" r:id="rId294"/>
    <p:sldId id="792" r:id="rId295"/>
    <p:sldId id="793" r:id="rId296"/>
    <p:sldId id="794" r:id="rId297"/>
    <p:sldId id="795" r:id="rId298"/>
    <p:sldId id="796" r:id="rId299"/>
    <p:sldId id="797" r:id="rId300"/>
    <p:sldId id="798" r:id="rId301"/>
    <p:sldId id="799" r:id="rId302"/>
    <p:sldId id="800" r:id="rId303"/>
    <p:sldId id="801" r:id="rId304"/>
    <p:sldId id="802" r:id="rId305"/>
    <p:sldId id="803" r:id="rId306"/>
    <p:sldId id="804" r:id="rId307"/>
    <p:sldId id="805" r:id="rId308"/>
    <p:sldId id="806" r:id="rId309"/>
    <p:sldId id="807" r:id="rId310"/>
    <p:sldId id="808" r:id="rId311"/>
    <p:sldId id="809" r:id="rId312"/>
    <p:sldId id="810" r:id="rId313"/>
    <p:sldId id="811" r:id="rId314"/>
    <p:sldId id="812" r:id="rId315"/>
    <p:sldId id="813" r:id="rId316"/>
    <p:sldId id="814" r:id="rId317"/>
    <p:sldId id="815" r:id="rId318"/>
    <p:sldId id="816" r:id="rId319"/>
    <p:sldId id="817" r:id="rId320"/>
    <p:sldId id="818" r:id="rId321"/>
    <p:sldId id="819" r:id="rId322"/>
    <p:sldId id="820" r:id="rId323"/>
    <p:sldId id="821" r:id="rId324"/>
    <p:sldId id="822" r:id="rId325"/>
    <p:sldId id="823" r:id="rId326"/>
    <p:sldId id="824" r:id="rId327"/>
    <p:sldId id="825" r:id="rId328"/>
    <p:sldId id="826" r:id="rId329"/>
    <p:sldId id="827" r:id="rId330"/>
    <p:sldId id="828" r:id="rId331"/>
    <p:sldId id="829" r:id="rId332"/>
    <p:sldId id="830" r:id="rId333"/>
    <p:sldId id="831" r:id="rId334"/>
    <p:sldId id="832" r:id="rId335"/>
    <p:sldId id="833" r:id="rId336"/>
    <p:sldId id="834" r:id="rId337"/>
    <p:sldId id="835" r:id="rId338"/>
    <p:sldId id="836" r:id="rId339"/>
    <p:sldId id="837" r:id="rId340"/>
    <p:sldId id="838" r:id="rId341"/>
    <p:sldId id="839" r:id="rId342"/>
    <p:sldId id="840" r:id="rId343"/>
    <p:sldId id="841" r:id="rId344"/>
    <p:sldId id="842" r:id="rId345"/>
    <p:sldId id="843" r:id="rId346"/>
    <p:sldId id="844" r:id="rId347"/>
    <p:sldId id="845" r:id="rId348"/>
    <p:sldId id="846" r:id="rId349"/>
    <p:sldId id="847" r:id="rId350"/>
    <p:sldId id="848" r:id="rId351"/>
    <p:sldId id="849" r:id="rId352"/>
    <p:sldId id="850" r:id="rId353"/>
    <p:sldId id="851" r:id="rId354"/>
    <p:sldId id="852" r:id="rId355"/>
    <p:sldId id="853" r:id="rId356"/>
    <p:sldId id="854" r:id="rId357"/>
    <p:sldId id="855" r:id="rId358"/>
    <p:sldId id="856" r:id="rId359"/>
    <p:sldId id="857" r:id="rId360"/>
    <p:sldId id="858" r:id="rId361"/>
    <p:sldId id="859" r:id="rId362"/>
    <p:sldId id="860" r:id="rId363"/>
    <p:sldId id="861" r:id="rId364"/>
    <p:sldId id="862" r:id="rId365"/>
    <p:sldId id="863" r:id="rId366"/>
    <p:sldId id="864" r:id="rId367"/>
    <p:sldId id="865" r:id="rId368"/>
    <p:sldId id="866" r:id="rId369"/>
    <p:sldId id="867" r:id="rId370"/>
    <p:sldId id="868" r:id="rId371"/>
    <p:sldId id="869" r:id="rId372"/>
    <p:sldId id="870" r:id="rId373"/>
    <p:sldId id="871" r:id="rId374"/>
    <p:sldId id="872" r:id="rId375"/>
    <p:sldId id="873" r:id="rId376"/>
    <p:sldId id="874" r:id="rId377"/>
    <p:sldId id="875" r:id="rId378"/>
    <p:sldId id="876" r:id="rId379"/>
    <p:sldId id="877" r:id="rId380"/>
    <p:sldId id="878" r:id="rId381"/>
    <p:sldId id="879" r:id="rId382"/>
    <p:sldId id="880" r:id="rId383"/>
    <p:sldId id="881" r:id="rId384"/>
    <p:sldId id="882" r:id="rId385"/>
    <p:sldId id="883" r:id="rId386"/>
    <p:sldId id="884" r:id="rId387"/>
    <p:sldId id="885" r:id="rId388"/>
    <p:sldId id="886" r:id="rId389"/>
    <p:sldId id="887" r:id="rId390"/>
    <p:sldId id="888" r:id="rId391"/>
    <p:sldId id="889" r:id="rId392"/>
    <p:sldId id="890" r:id="rId393"/>
    <p:sldId id="891" r:id="rId394"/>
    <p:sldId id="892" r:id="rId395"/>
    <p:sldId id="893" r:id="rId396"/>
    <p:sldId id="894" r:id="rId397"/>
    <p:sldId id="895" r:id="rId398"/>
    <p:sldId id="896" r:id="rId399"/>
    <p:sldId id="897" r:id="rId400"/>
    <p:sldId id="898" r:id="rId401"/>
    <p:sldId id="899" r:id="rId402"/>
    <p:sldId id="900" r:id="rId403"/>
    <p:sldId id="901" r:id="rId404"/>
    <p:sldId id="902" r:id="rId405"/>
    <p:sldId id="903" r:id="rId406"/>
    <p:sldId id="904" r:id="rId407"/>
    <p:sldId id="905" r:id="rId408"/>
    <p:sldId id="906" r:id="rId409"/>
    <p:sldId id="907" r:id="rId410"/>
    <p:sldId id="908" r:id="rId411"/>
    <p:sldId id="909" r:id="rId412"/>
    <p:sldId id="910" r:id="rId413"/>
    <p:sldId id="911" r:id="rId414"/>
    <p:sldId id="912" r:id="rId415"/>
    <p:sldId id="913" r:id="rId416"/>
    <p:sldId id="914" r:id="rId417"/>
    <p:sldId id="915" r:id="rId418"/>
    <p:sldId id="916" r:id="rId419"/>
    <p:sldId id="917" r:id="rId420"/>
    <p:sldId id="918" r:id="rId421"/>
    <p:sldId id="919" r:id="rId422"/>
    <p:sldId id="920" r:id="rId423"/>
    <p:sldId id="921" r:id="rId424"/>
    <p:sldId id="922" r:id="rId425"/>
    <p:sldId id="923" r:id="rId426"/>
    <p:sldId id="924" r:id="rId427"/>
    <p:sldId id="925" r:id="rId428"/>
    <p:sldId id="926" r:id="rId429"/>
    <p:sldId id="927" r:id="rId430"/>
    <p:sldId id="928" r:id="rId431"/>
    <p:sldId id="929" r:id="rId432"/>
    <p:sldId id="930" r:id="rId433"/>
    <p:sldId id="931" r:id="rId434"/>
    <p:sldId id="932" r:id="rId435"/>
    <p:sldId id="933" r:id="rId436"/>
    <p:sldId id="934" r:id="rId437"/>
    <p:sldId id="935" r:id="rId438"/>
    <p:sldId id="936" r:id="rId439"/>
    <p:sldId id="937" r:id="rId440"/>
    <p:sldId id="938" r:id="rId441"/>
    <p:sldId id="939" r:id="rId442"/>
    <p:sldId id="940" r:id="rId443"/>
    <p:sldId id="941" r:id="rId444"/>
    <p:sldId id="942" r:id="rId445"/>
    <p:sldId id="943" r:id="rId446"/>
    <p:sldId id="944" r:id="rId447"/>
    <p:sldId id="945" r:id="rId448"/>
    <p:sldId id="946" r:id="rId449"/>
    <p:sldId id="947" r:id="rId450"/>
    <p:sldId id="948" r:id="rId451"/>
    <p:sldId id="949" r:id="rId452"/>
    <p:sldId id="950" r:id="rId453"/>
    <p:sldId id="951" r:id="rId454"/>
    <p:sldId id="952" r:id="rId455"/>
    <p:sldId id="953" r:id="rId456"/>
    <p:sldId id="954" r:id="rId457"/>
    <p:sldId id="955" r:id="rId458"/>
    <p:sldId id="956" r:id="rId459"/>
    <p:sldId id="957" r:id="rId460"/>
    <p:sldId id="958" r:id="rId461"/>
    <p:sldId id="959" r:id="rId462"/>
    <p:sldId id="960" r:id="rId463"/>
    <p:sldId id="961" r:id="rId464"/>
    <p:sldId id="962" r:id="rId465"/>
    <p:sldId id="963" r:id="rId466"/>
    <p:sldId id="964" r:id="rId467"/>
    <p:sldId id="965" r:id="rId468"/>
    <p:sldId id="966" r:id="rId469"/>
    <p:sldId id="967" r:id="rId470"/>
    <p:sldId id="968" r:id="rId471"/>
    <p:sldId id="969" r:id="rId472"/>
    <p:sldId id="970" r:id="rId473"/>
    <p:sldId id="971" r:id="rId474"/>
    <p:sldId id="972" r:id="rId475"/>
    <p:sldId id="973" r:id="rId476"/>
    <p:sldId id="974" r:id="rId477"/>
    <p:sldId id="975" r:id="rId478"/>
    <p:sldId id="976" r:id="rId479"/>
    <p:sldId id="977" r:id="rId480"/>
    <p:sldId id="978" r:id="rId481"/>
    <p:sldId id="979" r:id="rId482"/>
    <p:sldId id="980" r:id="rId483"/>
    <p:sldId id="981" r:id="rId484"/>
    <p:sldId id="982" r:id="rId485"/>
    <p:sldId id="983" r:id="rId486"/>
    <p:sldId id="984" r:id="rId487"/>
    <p:sldId id="985" r:id="rId488"/>
    <p:sldId id="986" r:id="rId489"/>
    <p:sldId id="987" r:id="rId490"/>
    <p:sldId id="988" r:id="rId491"/>
    <p:sldId id="989" r:id="rId492"/>
    <p:sldId id="990" r:id="rId493"/>
    <p:sldId id="991" r:id="rId494"/>
    <p:sldId id="992" r:id="rId495"/>
    <p:sldId id="993" r:id="rId496"/>
    <p:sldId id="994" r:id="rId497"/>
    <p:sldId id="995" r:id="rId498"/>
    <p:sldId id="996" r:id="rId499"/>
    <p:sldId id="997" r:id="rId500"/>
    <p:sldId id="998" r:id="rId501"/>
    <p:sldId id="999" r:id="rId502"/>
    <p:sldId id="1000" r:id="rId503"/>
    <p:sldId id="1001" r:id="rId504"/>
    <p:sldId id="1002" r:id="rId505"/>
    <p:sldId id="1003" r:id="rId506"/>
    <p:sldId id="1004" r:id="rId507"/>
    <p:sldId id="1005" r:id="rId508"/>
    <p:sldId id="1006" r:id="rId509"/>
    <p:sldId id="1007" r:id="rId510"/>
    <p:sldId id="1008" r:id="rId511"/>
    <p:sldId id="1009" r:id="rId512"/>
    <p:sldId id="1010" r:id="rId513"/>
    <p:sldId id="1011" r:id="rId514"/>
    <p:sldId id="1012" r:id="rId515"/>
    <p:sldId id="1013" r:id="rId516"/>
    <p:sldId id="1014" r:id="rId517"/>
    <p:sldId id="1015" r:id="rId518"/>
    <p:sldId id="1016" r:id="rId519"/>
    <p:sldId id="1017" r:id="rId520"/>
    <p:sldId id="1018" r:id="rId521"/>
    <p:sldId id="1019" r:id="rId522"/>
    <p:sldId id="1020" r:id="rId523"/>
    <p:sldId id="1021" r:id="rId524"/>
    <p:sldId id="1022" r:id="rId525"/>
    <p:sldId id="1023" r:id="rId526"/>
    <p:sldId id="1024" r:id="rId527"/>
    <p:sldId id="1025" r:id="rId528"/>
    <p:sldId id="1026" r:id="rId529"/>
    <p:sldId id="1027" r:id="rId530"/>
    <p:sldId id="1028" r:id="rId531"/>
    <p:sldId id="1029" r:id="rId532"/>
    <p:sldId id="1030" r:id="rId533"/>
    <p:sldId id="1031" r:id="rId534"/>
    <p:sldId id="1032" r:id="rId535"/>
    <p:sldId id="1033" r:id="rId536"/>
    <p:sldId id="1034" r:id="rId537"/>
    <p:sldId id="1035" r:id="rId538"/>
    <p:sldId id="1036" r:id="rId539"/>
    <p:sldId id="1037" r:id="rId540"/>
    <p:sldId id="1038" r:id="rId541"/>
    <p:sldId id="1039" r:id="rId542"/>
    <p:sldId id="1040" r:id="rId543"/>
    <p:sldId id="1041" r:id="rId544"/>
    <p:sldId id="1042" r:id="rId545"/>
    <p:sldId id="1043" r:id="rId546"/>
    <p:sldId id="1044" r:id="rId547"/>
    <p:sldId id="1045" r:id="rId548"/>
    <p:sldId id="1046" r:id="rId549"/>
    <p:sldId id="1047" r:id="rId550"/>
    <p:sldId id="1048" r:id="rId551"/>
    <p:sldId id="1049" r:id="rId552"/>
    <p:sldId id="1050" r:id="rId553"/>
    <p:sldId id="1051" r:id="rId554"/>
    <p:sldId id="1052" r:id="rId555"/>
    <p:sldId id="1053" r:id="rId556"/>
    <p:sldId id="1054" r:id="rId557"/>
    <p:sldId id="1055" r:id="rId558"/>
    <p:sldId id="1056" r:id="rId559"/>
    <p:sldId id="1057" r:id="rId560"/>
    <p:sldId id="1058" r:id="rId561"/>
    <p:sldId id="1059" r:id="rId562"/>
    <p:sldId id="1060" r:id="rId563"/>
    <p:sldId id="1061" r:id="rId564"/>
    <p:sldId id="1062" r:id="rId565"/>
    <p:sldId id="1063" r:id="rId566"/>
    <p:sldId id="1064" r:id="rId567"/>
    <p:sldId id="1065" r:id="rId568"/>
    <p:sldId id="1066" r:id="rId569"/>
    <p:sldId id="1067" r:id="rId570"/>
    <p:sldId id="1068" r:id="rId571"/>
    <p:sldId id="1069" r:id="rId572"/>
    <p:sldId id="1070" r:id="rId573"/>
    <p:sldId id="1071" r:id="rId574"/>
    <p:sldId id="1072" r:id="rId575"/>
    <p:sldId id="1073" r:id="rId576"/>
    <p:sldId id="1074" r:id="rId577"/>
    <p:sldId id="1075" r:id="rId578"/>
    <p:sldId id="1076" r:id="rId579"/>
    <p:sldId id="1077" r:id="rId580"/>
    <p:sldId id="1078" r:id="rId581"/>
    <p:sldId id="1079" r:id="rId582"/>
    <p:sldId id="1080" r:id="rId583"/>
    <p:sldId id="1081" r:id="rId584"/>
    <p:sldId id="1082" r:id="rId585"/>
    <p:sldId id="1083" r:id="rId586"/>
    <p:sldId id="1084" r:id="rId587"/>
    <p:sldId id="1085" r:id="rId588"/>
    <p:sldId id="1086" r:id="rId589"/>
    <p:sldId id="1087" r:id="rId590"/>
    <p:sldId id="1088" r:id="rId591"/>
    <p:sldId id="1089" r:id="rId592"/>
    <p:sldId id="1090" r:id="rId593"/>
    <p:sldId id="1091" r:id="rId594"/>
    <p:sldId id="1092" r:id="rId595"/>
    <p:sldId id="1093" r:id="rId596"/>
    <p:sldId id="1094" r:id="rId597"/>
    <p:sldId id="1095" r:id="rId598"/>
    <p:sldId id="1096" r:id="rId599"/>
    <p:sldId id="1097" r:id="rId600"/>
    <p:sldId id="1098" r:id="rId601"/>
    <p:sldId id="1099" r:id="rId602"/>
    <p:sldId id="1100" r:id="rId603"/>
    <p:sldId id="1101" r:id="rId604"/>
    <p:sldId id="1102" r:id="rId605"/>
    <p:sldId id="1103" r:id="rId606"/>
  </p:sldIdLst>
  <p:sldSz cx="14630400" cy="8229600"/>
  <p:notesSz cx="6858000" cy="9144000"/>
  <p:defaultTextStyle>
    <a:defPPr>
      <a:defRPr lang="en-US"/>
    </a:defPPr>
    <a:lvl1pPr marL="0" algn="l" defTabSz="731520" rtl="0" eaLnBrk="1" latinLnBrk="0" hangingPunct="1">
      <a:defRPr sz="2880" kern="1200">
        <a:solidFill>
          <a:schemeClr val="tx1"/>
        </a:solidFill>
        <a:latin typeface="+mn-lt"/>
        <a:ea typeface="+mn-ea"/>
        <a:cs typeface="+mn-cs"/>
      </a:defRPr>
    </a:lvl1pPr>
    <a:lvl2pPr marL="731520" algn="l" defTabSz="731520" rtl="0" eaLnBrk="1" latinLnBrk="0" hangingPunct="1">
      <a:defRPr sz="2880" kern="1200">
        <a:solidFill>
          <a:schemeClr val="tx1"/>
        </a:solidFill>
        <a:latin typeface="+mn-lt"/>
        <a:ea typeface="+mn-ea"/>
        <a:cs typeface="+mn-cs"/>
      </a:defRPr>
    </a:lvl2pPr>
    <a:lvl3pPr marL="1463040" algn="l" defTabSz="731520" rtl="0" eaLnBrk="1" latinLnBrk="0" hangingPunct="1">
      <a:defRPr sz="2880" kern="1200">
        <a:solidFill>
          <a:schemeClr val="tx1"/>
        </a:solidFill>
        <a:latin typeface="+mn-lt"/>
        <a:ea typeface="+mn-ea"/>
        <a:cs typeface="+mn-cs"/>
      </a:defRPr>
    </a:lvl3pPr>
    <a:lvl4pPr marL="2194560" algn="l" defTabSz="731520" rtl="0" eaLnBrk="1" latinLnBrk="0" hangingPunct="1">
      <a:defRPr sz="2880" kern="1200">
        <a:solidFill>
          <a:schemeClr val="tx1"/>
        </a:solidFill>
        <a:latin typeface="+mn-lt"/>
        <a:ea typeface="+mn-ea"/>
        <a:cs typeface="+mn-cs"/>
      </a:defRPr>
    </a:lvl4pPr>
    <a:lvl5pPr marL="2926080" algn="l" defTabSz="731520" rtl="0" eaLnBrk="1" latinLnBrk="0" hangingPunct="1">
      <a:defRPr sz="2880" kern="1200">
        <a:solidFill>
          <a:schemeClr val="tx1"/>
        </a:solidFill>
        <a:latin typeface="+mn-lt"/>
        <a:ea typeface="+mn-ea"/>
        <a:cs typeface="+mn-cs"/>
      </a:defRPr>
    </a:lvl5pPr>
    <a:lvl6pPr marL="3657600" algn="l" defTabSz="731520" rtl="0" eaLnBrk="1" latinLnBrk="0" hangingPunct="1">
      <a:defRPr sz="2880" kern="1200">
        <a:solidFill>
          <a:schemeClr val="tx1"/>
        </a:solidFill>
        <a:latin typeface="+mn-lt"/>
        <a:ea typeface="+mn-ea"/>
        <a:cs typeface="+mn-cs"/>
      </a:defRPr>
    </a:lvl6pPr>
    <a:lvl7pPr marL="4389120" algn="l" defTabSz="731520" rtl="0" eaLnBrk="1" latinLnBrk="0" hangingPunct="1">
      <a:defRPr sz="2880" kern="1200">
        <a:solidFill>
          <a:schemeClr val="tx1"/>
        </a:solidFill>
        <a:latin typeface="+mn-lt"/>
        <a:ea typeface="+mn-ea"/>
        <a:cs typeface="+mn-cs"/>
      </a:defRPr>
    </a:lvl7pPr>
    <a:lvl8pPr marL="5120640" algn="l" defTabSz="731520" rtl="0" eaLnBrk="1" latinLnBrk="0" hangingPunct="1">
      <a:defRPr sz="2880" kern="1200">
        <a:solidFill>
          <a:schemeClr val="tx1"/>
        </a:solidFill>
        <a:latin typeface="+mn-lt"/>
        <a:ea typeface="+mn-ea"/>
        <a:cs typeface="+mn-cs"/>
      </a:defRPr>
    </a:lvl8pPr>
    <a:lvl9pPr marL="5852160" algn="l" defTabSz="731520" rtl="0" eaLnBrk="1" latinLnBrk="0" hangingPunct="1">
      <a:defRPr sz="288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8B09D30-DD73-D145-8F4E-EDDD0044F7D5}">
          <p14:sldIdLst>
            <p14:sldId id="285"/>
            <p14:sldId id="257"/>
            <p14:sldId id="505"/>
          </p14:sldIdLst>
        </p14:section>
        <p14:section name="Important" id="{68BB9669-64E9-0641-8B63-135AD657B533}">
          <p14:sldIdLst>
            <p14:sldId id="506"/>
          </p14:sldIdLst>
        </p14:section>
        <p14:section name="Compute" id="{004EA354-6280-A944-9218-C7E8CD80E8FD}">
          <p14:sldIdLst>
            <p14:sldId id="545"/>
            <p14:sldId id="530"/>
            <p14:sldId id="515"/>
            <p14:sldId id="537"/>
            <p14:sldId id="531"/>
            <p14:sldId id="534"/>
          </p14:sldIdLst>
        </p14:section>
        <p14:section name="Serverless" id="{838061DA-AE32-B44A-9174-A9DFFE1FB3DA}">
          <p14:sldIdLst>
            <p14:sldId id="528"/>
            <p14:sldId id="538"/>
            <p14:sldId id="542"/>
            <p14:sldId id="532"/>
            <p14:sldId id="524"/>
          </p14:sldIdLst>
        </p14:section>
        <p14:section name="Databases" id="{0B9F2557-F00B-924F-B73B-B75AC4E18540}">
          <p14:sldIdLst>
            <p14:sldId id="522"/>
            <p14:sldId id="523"/>
            <p14:sldId id="527"/>
            <p14:sldId id="507"/>
          </p14:sldIdLst>
        </p14:section>
        <p14:section name="Infrastructure" id="{69353E28-2021-E840-8269-250BADB5B6DC}">
          <p14:sldIdLst>
            <p14:sldId id="516"/>
            <p14:sldId id="536"/>
            <p14:sldId id="548"/>
            <p14:sldId id="551"/>
          </p14:sldIdLst>
        </p14:section>
        <p14:section name="Data Analytics" id="{25EB7616-7472-9C44-9E78-1F3F879A799B}">
          <p14:sldIdLst>
            <p14:sldId id="509"/>
            <p14:sldId id="553"/>
            <p14:sldId id="540"/>
            <p14:sldId id="518"/>
            <p14:sldId id="550"/>
            <p14:sldId id="526"/>
          </p14:sldIdLst>
        </p14:section>
        <p14:section name="Machine Learning" id="{262F9FC2-2F66-8F47-823B-F6DD7CA61C02}">
          <p14:sldIdLst>
            <p14:sldId id="511"/>
            <p14:sldId id="546"/>
            <p14:sldId id="554"/>
            <p14:sldId id="512"/>
            <p14:sldId id="517"/>
          </p14:sldIdLst>
        </p14:section>
        <p14:section name="Security" id="{74371C9B-FC4C-C44A-8743-771859577498}">
          <p14:sldIdLst>
            <p14:sldId id="514"/>
            <p14:sldId id="547"/>
            <p14:sldId id="549"/>
            <p14:sldId id="301"/>
          </p14:sldIdLst>
        </p14:section>
        <p14:section name="Good to Know" id="{BD53DC8F-C98A-5F4F-9CD9-82BDFE15D116}">
          <p14:sldIdLst>
            <p14:sldId id="556"/>
            <p14:sldId id="519"/>
            <p14:sldId id="520"/>
            <p14:sldId id="525"/>
            <p14:sldId id="533"/>
            <p14:sldId id="513"/>
            <p14:sldId id="555"/>
            <p14:sldId id="539"/>
            <p14:sldId id="544"/>
            <p14:sldId id="529"/>
            <p14:sldId id="535"/>
            <p14:sldId id="541"/>
            <p14:sldId id="543"/>
            <p14:sldId id="552"/>
            <p14:sldId id="508"/>
            <p14:sldId id="510"/>
            <p14:sldId id="557"/>
            <p14:sldId id="558"/>
            <p14:sldId id="559"/>
            <p14:sldId id="560"/>
            <p14:sldId id="561"/>
            <p14:sldId id="562"/>
            <p14:sldId id="563"/>
            <p14:sldId id="564"/>
            <p14:sldId id="565"/>
            <p14:sldId id="566"/>
            <p14:sldId id="567"/>
            <p14:sldId id="568"/>
            <p14:sldId id="569"/>
            <p14:sldId id="570"/>
            <p14:sldId id="571"/>
            <p14:sldId id="572"/>
            <p14:sldId id="573"/>
            <p14:sldId id="574"/>
            <p14:sldId id="575"/>
            <p14:sldId id="576"/>
            <p14:sldId id="577"/>
            <p14:sldId id="578"/>
            <p14:sldId id="579"/>
            <p14:sldId id="580"/>
            <p14:sldId id="581"/>
            <p14:sldId id="582"/>
            <p14:sldId id="583"/>
            <p14:sldId id="584"/>
            <p14:sldId id="585"/>
            <p14:sldId id="586"/>
            <p14:sldId id="587"/>
            <p14:sldId id="588"/>
            <p14:sldId id="589"/>
            <p14:sldId id="590"/>
            <p14:sldId id="591"/>
            <p14:sldId id="592"/>
            <p14:sldId id="593"/>
            <p14:sldId id="594"/>
            <p14:sldId id="595"/>
            <p14:sldId id="596"/>
            <p14:sldId id="597"/>
            <p14:sldId id="598"/>
            <p14:sldId id="599"/>
            <p14:sldId id="600"/>
            <p14:sldId id="601"/>
            <p14:sldId id="602"/>
            <p14:sldId id="603"/>
            <p14:sldId id="604"/>
            <p14:sldId id="605"/>
            <p14:sldId id="606"/>
            <p14:sldId id="607"/>
            <p14:sldId id="608"/>
            <p14:sldId id="609"/>
            <p14:sldId id="610"/>
            <p14:sldId id="611"/>
            <p14:sldId id="612"/>
            <p14:sldId id="613"/>
            <p14:sldId id="614"/>
            <p14:sldId id="615"/>
            <p14:sldId id="616"/>
            <p14:sldId id="617"/>
            <p14:sldId id="618"/>
            <p14:sldId id="619"/>
            <p14:sldId id="620"/>
            <p14:sldId id="621"/>
            <p14:sldId id="622"/>
            <p14:sldId id="623"/>
            <p14:sldId id="624"/>
            <p14:sldId id="625"/>
            <p14:sldId id="626"/>
            <p14:sldId id="627"/>
            <p14:sldId id="628"/>
            <p14:sldId id="629"/>
            <p14:sldId id="630"/>
            <p14:sldId id="631"/>
            <p14:sldId id="632"/>
            <p14:sldId id="633"/>
            <p14:sldId id="634"/>
            <p14:sldId id="635"/>
            <p14:sldId id="636"/>
            <p14:sldId id="637"/>
            <p14:sldId id="638"/>
            <p14:sldId id="639"/>
            <p14:sldId id="640"/>
            <p14:sldId id="641"/>
            <p14:sldId id="642"/>
            <p14:sldId id="643"/>
            <p14:sldId id="644"/>
            <p14:sldId id="645"/>
            <p14:sldId id="646"/>
            <p14:sldId id="647"/>
            <p14:sldId id="648"/>
            <p14:sldId id="649"/>
            <p14:sldId id="650"/>
            <p14:sldId id="651"/>
            <p14:sldId id="652"/>
            <p14:sldId id="653"/>
            <p14:sldId id="654"/>
            <p14:sldId id="655"/>
            <p14:sldId id="656"/>
            <p14:sldId id="657"/>
            <p14:sldId id="658"/>
            <p14:sldId id="659"/>
            <p14:sldId id="660"/>
            <p14:sldId id="661"/>
            <p14:sldId id="662"/>
            <p14:sldId id="663"/>
            <p14:sldId id="664"/>
            <p14:sldId id="665"/>
            <p14:sldId id="666"/>
            <p14:sldId id="667"/>
            <p14:sldId id="668"/>
            <p14:sldId id="669"/>
            <p14:sldId id="670"/>
            <p14:sldId id="671"/>
            <p14:sldId id="672"/>
            <p14:sldId id="673"/>
            <p14:sldId id="674"/>
            <p14:sldId id="675"/>
            <p14:sldId id="676"/>
            <p14:sldId id="677"/>
            <p14:sldId id="678"/>
            <p14:sldId id="679"/>
            <p14:sldId id="680"/>
            <p14:sldId id="681"/>
            <p14:sldId id="682"/>
            <p14:sldId id="683"/>
            <p14:sldId id="684"/>
            <p14:sldId id="685"/>
            <p14:sldId id="686"/>
            <p14:sldId id="687"/>
            <p14:sldId id="688"/>
            <p14:sldId id="689"/>
            <p14:sldId id="690"/>
            <p14:sldId id="691"/>
            <p14:sldId id="692"/>
            <p14:sldId id="693"/>
            <p14:sldId id="694"/>
            <p14:sldId id="695"/>
            <p14:sldId id="696"/>
            <p14:sldId id="697"/>
            <p14:sldId id="698"/>
            <p14:sldId id="699"/>
            <p14:sldId id="700"/>
            <p14:sldId id="701"/>
            <p14:sldId id="702"/>
            <p14:sldId id="703"/>
            <p14:sldId id="704"/>
            <p14:sldId id="705"/>
            <p14:sldId id="706"/>
            <p14:sldId id="707"/>
            <p14:sldId id="708"/>
            <p14:sldId id="709"/>
            <p14:sldId id="710"/>
            <p14:sldId id="711"/>
            <p14:sldId id="712"/>
            <p14:sldId id="713"/>
            <p14:sldId id="714"/>
            <p14:sldId id="715"/>
            <p14:sldId id="716"/>
            <p14:sldId id="717"/>
            <p14:sldId id="718"/>
            <p14:sldId id="719"/>
            <p14:sldId id="720"/>
            <p14:sldId id="721"/>
            <p14:sldId id="722"/>
            <p14:sldId id="723"/>
            <p14:sldId id="724"/>
            <p14:sldId id="725"/>
            <p14:sldId id="726"/>
            <p14:sldId id="727"/>
            <p14:sldId id="728"/>
            <p14:sldId id="729"/>
            <p14:sldId id="730"/>
            <p14:sldId id="731"/>
            <p14:sldId id="732"/>
            <p14:sldId id="733"/>
            <p14:sldId id="734"/>
            <p14:sldId id="735"/>
            <p14:sldId id="736"/>
            <p14:sldId id="737"/>
            <p14:sldId id="738"/>
            <p14:sldId id="739"/>
            <p14:sldId id="740"/>
            <p14:sldId id="741"/>
            <p14:sldId id="742"/>
            <p14:sldId id="743"/>
            <p14:sldId id="744"/>
            <p14:sldId id="745"/>
            <p14:sldId id="746"/>
            <p14:sldId id="747"/>
            <p14:sldId id="748"/>
            <p14:sldId id="749"/>
            <p14:sldId id="750"/>
            <p14:sldId id="751"/>
            <p14:sldId id="752"/>
            <p14:sldId id="753"/>
            <p14:sldId id="754"/>
            <p14:sldId id="755"/>
            <p14:sldId id="756"/>
            <p14:sldId id="757"/>
            <p14:sldId id="758"/>
            <p14:sldId id="759"/>
            <p14:sldId id="760"/>
            <p14:sldId id="761"/>
            <p14:sldId id="762"/>
            <p14:sldId id="763"/>
            <p14:sldId id="764"/>
            <p14:sldId id="765"/>
            <p14:sldId id="766"/>
            <p14:sldId id="767"/>
            <p14:sldId id="768"/>
            <p14:sldId id="769"/>
            <p14:sldId id="770"/>
            <p14:sldId id="771"/>
            <p14:sldId id="772"/>
            <p14:sldId id="773"/>
            <p14:sldId id="774"/>
            <p14:sldId id="775"/>
            <p14:sldId id="776"/>
            <p14:sldId id="777"/>
            <p14:sldId id="778"/>
            <p14:sldId id="779"/>
            <p14:sldId id="780"/>
            <p14:sldId id="781"/>
            <p14:sldId id="782"/>
            <p14:sldId id="783"/>
            <p14:sldId id="784"/>
            <p14:sldId id="785"/>
            <p14:sldId id="786"/>
            <p14:sldId id="787"/>
            <p14:sldId id="788"/>
            <p14:sldId id="789"/>
            <p14:sldId id="790"/>
            <p14:sldId id="791"/>
            <p14:sldId id="792"/>
            <p14:sldId id="793"/>
            <p14:sldId id="794"/>
            <p14:sldId id="795"/>
            <p14:sldId id="796"/>
            <p14:sldId id="797"/>
            <p14:sldId id="798"/>
            <p14:sldId id="799"/>
            <p14:sldId id="800"/>
            <p14:sldId id="801"/>
            <p14:sldId id="802"/>
            <p14:sldId id="803"/>
            <p14:sldId id="804"/>
            <p14:sldId id="805"/>
            <p14:sldId id="806"/>
            <p14:sldId id="807"/>
            <p14:sldId id="808"/>
            <p14:sldId id="809"/>
            <p14:sldId id="810"/>
            <p14:sldId id="811"/>
            <p14:sldId id="812"/>
            <p14:sldId id="813"/>
            <p14:sldId id="814"/>
            <p14:sldId id="815"/>
            <p14:sldId id="816"/>
            <p14:sldId id="817"/>
            <p14:sldId id="818"/>
            <p14:sldId id="819"/>
            <p14:sldId id="820"/>
            <p14:sldId id="821"/>
            <p14:sldId id="822"/>
            <p14:sldId id="823"/>
            <p14:sldId id="824"/>
            <p14:sldId id="825"/>
            <p14:sldId id="826"/>
            <p14:sldId id="827"/>
            <p14:sldId id="828"/>
            <p14:sldId id="829"/>
            <p14:sldId id="830"/>
            <p14:sldId id="831"/>
            <p14:sldId id="832"/>
            <p14:sldId id="833"/>
            <p14:sldId id="834"/>
            <p14:sldId id="835"/>
            <p14:sldId id="836"/>
            <p14:sldId id="837"/>
            <p14:sldId id="838"/>
            <p14:sldId id="839"/>
            <p14:sldId id="840"/>
            <p14:sldId id="841"/>
            <p14:sldId id="842"/>
            <p14:sldId id="843"/>
            <p14:sldId id="844"/>
            <p14:sldId id="845"/>
            <p14:sldId id="846"/>
            <p14:sldId id="847"/>
            <p14:sldId id="848"/>
            <p14:sldId id="849"/>
            <p14:sldId id="850"/>
            <p14:sldId id="851"/>
            <p14:sldId id="852"/>
            <p14:sldId id="853"/>
            <p14:sldId id="854"/>
            <p14:sldId id="855"/>
            <p14:sldId id="856"/>
            <p14:sldId id="857"/>
            <p14:sldId id="858"/>
            <p14:sldId id="859"/>
            <p14:sldId id="860"/>
            <p14:sldId id="861"/>
            <p14:sldId id="862"/>
            <p14:sldId id="863"/>
            <p14:sldId id="864"/>
            <p14:sldId id="865"/>
            <p14:sldId id="866"/>
            <p14:sldId id="867"/>
            <p14:sldId id="868"/>
            <p14:sldId id="869"/>
            <p14:sldId id="870"/>
            <p14:sldId id="871"/>
            <p14:sldId id="872"/>
            <p14:sldId id="873"/>
            <p14:sldId id="874"/>
            <p14:sldId id="875"/>
            <p14:sldId id="876"/>
            <p14:sldId id="877"/>
            <p14:sldId id="878"/>
            <p14:sldId id="879"/>
            <p14:sldId id="880"/>
            <p14:sldId id="881"/>
            <p14:sldId id="882"/>
            <p14:sldId id="883"/>
            <p14:sldId id="884"/>
            <p14:sldId id="885"/>
            <p14:sldId id="886"/>
            <p14:sldId id="887"/>
            <p14:sldId id="888"/>
            <p14:sldId id="889"/>
            <p14:sldId id="890"/>
            <p14:sldId id="891"/>
            <p14:sldId id="892"/>
            <p14:sldId id="893"/>
            <p14:sldId id="894"/>
            <p14:sldId id="895"/>
            <p14:sldId id="896"/>
            <p14:sldId id="897"/>
            <p14:sldId id="898"/>
            <p14:sldId id="899"/>
            <p14:sldId id="900"/>
            <p14:sldId id="901"/>
            <p14:sldId id="902"/>
            <p14:sldId id="903"/>
            <p14:sldId id="904"/>
            <p14:sldId id="905"/>
            <p14:sldId id="906"/>
            <p14:sldId id="907"/>
            <p14:sldId id="908"/>
            <p14:sldId id="909"/>
            <p14:sldId id="910"/>
            <p14:sldId id="911"/>
            <p14:sldId id="912"/>
            <p14:sldId id="913"/>
            <p14:sldId id="914"/>
            <p14:sldId id="915"/>
            <p14:sldId id="916"/>
            <p14:sldId id="917"/>
            <p14:sldId id="918"/>
            <p14:sldId id="919"/>
            <p14:sldId id="920"/>
            <p14:sldId id="921"/>
            <p14:sldId id="922"/>
            <p14:sldId id="923"/>
            <p14:sldId id="924"/>
            <p14:sldId id="925"/>
            <p14:sldId id="926"/>
            <p14:sldId id="927"/>
            <p14:sldId id="928"/>
            <p14:sldId id="929"/>
            <p14:sldId id="930"/>
            <p14:sldId id="931"/>
            <p14:sldId id="932"/>
            <p14:sldId id="933"/>
            <p14:sldId id="934"/>
            <p14:sldId id="935"/>
            <p14:sldId id="936"/>
            <p14:sldId id="937"/>
            <p14:sldId id="938"/>
            <p14:sldId id="939"/>
            <p14:sldId id="940"/>
            <p14:sldId id="941"/>
            <p14:sldId id="942"/>
            <p14:sldId id="943"/>
            <p14:sldId id="944"/>
            <p14:sldId id="945"/>
            <p14:sldId id="946"/>
            <p14:sldId id="947"/>
            <p14:sldId id="948"/>
            <p14:sldId id="949"/>
            <p14:sldId id="950"/>
            <p14:sldId id="951"/>
            <p14:sldId id="952"/>
            <p14:sldId id="953"/>
            <p14:sldId id="954"/>
            <p14:sldId id="955"/>
            <p14:sldId id="956"/>
            <p14:sldId id="957"/>
            <p14:sldId id="958"/>
            <p14:sldId id="959"/>
            <p14:sldId id="960"/>
            <p14:sldId id="961"/>
            <p14:sldId id="962"/>
            <p14:sldId id="963"/>
            <p14:sldId id="964"/>
            <p14:sldId id="965"/>
            <p14:sldId id="966"/>
            <p14:sldId id="967"/>
            <p14:sldId id="968"/>
            <p14:sldId id="969"/>
            <p14:sldId id="970"/>
            <p14:sldId id="971"/>
            <p14:sldId id="972"/>
            <p14:sldId id="973"/>
            <p14:sldId id="974"/>
            <p14:sldId id="975"/>
            <p14:sldId id="976"/>
            <p14:sldId id="977"/>
            <p14:sldId id="978"/>
            <p14:sldId id="979"/>
            <p14:sldId id="980"/>
            <p14:sldId id="981"/>
            <p14:sldId id="982"/>
            <p14:sldId id="983"/>
            <p14:sldId id="984"/>
            <p14:sldId id="985"/>
            <p14:sldId id="986"/>
            <p14:sldId id="987"/>
            <p14:sldId id="988"/>
            <p14:sldId id="989"/>
            <p14:sldId id="990"/>
            <p14:sldId id="991"/>
            <p14:sldId id="992"/>
            <p14:sldId id="993"/>
            <p14:sldId id="994"/>
            <p14:sldId id="995"/>
            <p14:sldId id="996"/>
            <p14:sldId id="997"/>
            <p14:sldId id="998"/>
            <p14:sldId id="999"/>
            <p14:sldId id="1000"/>
            <p14:sldId id="1001"/>
            <p14:sldId id="1002"/>
            <p14:sldId id="1003"/>
            <p14:sldId id="1004"/>
            <p14:sldId id="1005"/>
            <p14:sldId id="1006"/>
            <p14:sldId id="1007"/>
            <p14:sldId id="1008"/>
            <p14:sldId id="1009"/>
            <p14:sldId id="1010"/>
            <p14:sldId id="1011"/>
            <p14:sldId id="1012"/>
            <p14:sldId id="1013"/>
            <p14:sldId id="1014"/>
            <p14:sldId id="1015"/>
            <p14:sldId id="1016"/>
            <p14:sldId id="1017"/>
            <p14:sldId id="1018"/>
            <p14:sldId id="1019"/>
            <p14:sldId id="1020"/>
            <p14:sldId id="1021"/>
            <p14:sldId id="1022"/>
            <p14:sldId id="1023"/>
            <p14:sldId id="1024"/>
            <p14:sldId id="1025"/>
            <p14:sldId id="1026"/>
            <p14:sldId id="1027"/>
            <p14:sldId id="1028"/>
            <p14:sldId id="1029"/>
            <p14:sldId id="1030"/>
            <p14:sldId id="1031"/>
            <p14:sldId id="1032"/>
            <p14:sldId id="1033"/>
            <p14:sldId id="1034"/>
            <p14:sldId id="1035"/>
            <p14:sldId id="1036"/>
            <p14:sldId id="1037"/>
            <p14:sldId id="1038"/>
            <p14:sldId id="1039"/>
            <p14:sldId id="1040"/>
            <p14:sldId id="1041"/>
            <p14:sldId id="1042"/>
            <p14:sldId id="1043"/>
            <p14:sldId id="1044"/>
            <p14:sldId id="1045"/>
            <p14:sldId id="1046"/>
            <p14:sldId id="1047"/>
            <p14:sldId id="1048"/>
            <p14:sldId id="1049"/>
            <p14:sldId id="1050"/>
            <p14:sldId id="1051"/>
            <p14:sldId id="1052"/>
            <p14:sldId id="1053"/>
            <p14:sldId id="1054"/>
            <p14:sldId id="1055"/>
            <p14:sldId id="1056"/>
            <p14:sldId id="1057"/>
            <p14:sldId id="1058"/>
            <p14:sldId id="1059"/>
            <p14:sldId id="1060"/>
            <p14:sldId id="1061"/>
            <p14:sldId id="1062"/>
            <p14:sldId id="1063"/>
            <p14:sldId id="1064"/>
            <p14:sldId id="1065"/>
            <p14:sldId id="1066"/>
            <p14:sldId id="1067"/>
            <p14:sldId id="1068"/>
            <p14:sldId id="1069"/>
            <p14:sldId id="1070"/>
            <p14:sldId id="1071"/>
            <p14:sldId id="1072"/>
            <p14:sldId id="1073"/>
            <p14:sldId id="1074"/>
            <p14:sldId id="1075"/>
            <p14:sldId id="1076"/>
            <p14:sldId id="1077"/>
            <p14:sldId id="1078"/>
            <p14:sldId id="1079"/>
            <p14:sldId id="1080"/>
            <p14:sldId id="1081"/>
            <p14:sldId id="1082"/>
            <p14:sldId id="1083"/>
            <p14:sldId id="1084"/>
            <p14:sldId id="1085"/>
            <p14:sldId id="1086"/>
            <p14:sldId id="1087"/>
            <p14:sldId id="1088"/>
            <p14:sldId id="1089"/>
            <p14:sldId id="1090"/>
            <p14:sldId id="1091"/>
            <p14:sldId id="1092"/>
            <p14:sldId id="1093"/>
            <p14:sldId id="1094"/>
            <p14:sldId id="1095"/>
            <p14:sldId id="1096"/>
            <p14:sldId id="1097"/>
            <p14:sldId id="1098"/>
            <p14:sldId id="1099"/>
            <p14:sldId id="1100"/>
            <p14:sldId id="1101"/>
            <p14:sldId id="1102"/>
            <p14:sldId id="1103"/>
          </p14:sldIdLst>
        </p14:section>
      </p14:sectionLst>
    </p:ext>
    <p:ext uri="{EFAFB233-063F-42B5-8137-9DF3F51BA10A}">
      <p15:sldGuideLst xmlns:p15="http://schemas.microsoft.com/office/powerpoint/2012/main">
        <p15:guide id="1" orient="horz" pos="1030" userDrawn="1">
          <p15:clr>
            <a:srgbClr val="A4A3A4"/>
          </p15:clr>
        </p15:guide>
        <p15:guide id="2" orient="horz" pos="4637" userDrawn="1">
          <p15:clr>
            <a:srgbClr val="A4A3A4"/>
          </p15:clr>
        </p15:guide>
        <p15:guide id="3" orient="horz" pos="3859" userDrawn="1">
          <p15:clr>
            <a:srgbClr val="A4A3A4"/>
          </p15:clr>
        </p15:guide>
        <p15:guide id="4" orient="horz" pos="5114" userDrawn="1">
          <p15:clr>
            <a:srgbClr val="A4A3A4"/>
          </p15:clr>
        </p15:guide>
        <p15:guide id="5" orient="horz" pos="2160" userDrawn="1">
          <p15:clr>
            <a:srgbClr val="A4A3A4"/>
          </p15:clr>
        </p15:guide>
        <p15:guide id="6" orient="horz" pos="2205" userDrawn="1">
          <p15:clr>
            <a:srgbClr val="A4A3A4"/>
          </p15:clr>
        </p15:guide>
        <p15:guide id="7" orient="horz" pos="3325" userDrawn="1">
          <p15:clr>
            <a:srgbClr val="A4A3A4"/>
          </p15:clr>
        </p15:guide>
        <p15:guide id="8" orient="horz" pos="200" userDrawn="1">
          <p15:clr>
            <a:srgbClr val="A4A3A4"/>
          </p15:clr>
        </p15:guide>
        <p15:guide id="9" orient="horz" pos="3370" userDrawn="1">
          <p15:clr>
            <a:srgbClr val="A4A3A4"/>
          </p15:clr>
        </p15:guide>
        <p15:guide id="10" orient="horz" pos="4574" userDrawn="1">
          <p15:clr>
            <a:srgbClr val="A4A3A4"/>
          </p15:clr>
        </p15:guide>
        <p15:guide id="11" pos="1536" userDrawn="1">
          <p15:clr>
            <a:srgbClr val="A4A3A4"/>
          </p15:clr>
        </p15:guide>
        <p15:guide id="12" pos="2808" userDrawn="1">
          <p15:clr>
            <a:srgbClr val="A4A3A4"/>
          </p15:clr>
        </p15:guide>
        <p15:guide id="13" pos="4613" userDrawn="1">
          <p15:clr>
            <a:srgbClr val="A4A3A4"/>
          </p15:clr>
        </p15:guide>
        <p15:guide id="14" pos="4030" userDrawn="1">
          <p15:clr>
            <a:srgbClr val="A4A3A4"/>
          </p15:clr>
        </p15:guide>
        <p15:guide id="15" pos="7664" userDrawn="1">
          <p15:clr>
            <a:srgbClr val="A4A3A4"/>
          </p15:clr>
        </p15:guide>
        <p15:guide id="16" pos="3979" userDrawn="1">
          <p15:clr>
            <a:srgbClr val="A4A3A4"/>
          </p15:clr>
        </p15:guide>
        <p15:guide id="17" pos="2755" userDrawn="1">
          <p15:clr>
            <a:srgbClr val="A4A3A4"/>
          </p15:clr>
        </p15:guide>
        <p15:guide id="18" pos="1579" userDrawn="1">
          <p15:clr>
            <a:srgbClr val="A4A3A4"/>
          </p15:clr>
        </p15:guide>
        <p15:guide id="19" pos="7709" userDrawn="1">
          <p15:clr>
            <a:srgbClr val="A4A3A4"/>
          </p15:clr>
        </p15:guide>
        <p15:guide id="20" pos="5211" userDrawn="1">
          <p15:clr>
            <a:srgbClr val="A4A3A4"/>
          </p15:clr>
        </p15:guide>
        <p15:guide id="21" userDrawn="1">
          <p15:clr>
            <a:srgbClr val="A4A3A4"/>
          </p15:clr>
        </p15:guide>
        <p15:guide id="22" pos="5256" userDrawn="1">
          <p15:clr>
            <a:srgbClr val="A4A3A4"/>
          </p15:clr>
        </p15:guide>
        <p15:guide id="23" pos="6435" userDrawn="1">
          <p15:clr>
            <a:srgbClr val="A4A3A4"/>
          </p15:clr>
        </p15:guide>
        <p15:guide id="24" pos="6485" userDrawn="1">
          <p15:clr>
            <a:srgbClr val="A4A3A4"/>
          </p15:clr>
        </p15:guide>
        <p15:guide id="25" pos="8870" userDrawn="1">
          <p15:clr>
            <a:srgbClr val="A4A3A4"/>
          </p15:clr>
        </p15:guide>
        <p15:guide id="26" pos="352" userDrawn="1">
          <p15:clr>
            <a:srgbClr val="A4A3A4"/>
          </p15:clr>
        </p15:guide>
        <p15:guide id="27" pos="5576"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Catalano, Alec" initials="" lastIdx="23" clrIdx="0"/>
  <p:cmAuthor id="1" name="Alec Catalano" initials="" lastIdx="1" clrIdx="1"/>
</p:cmAuthorLst>
</file>

<file path=ppt/presProps.xml><?xml version="1.0" encoding="utf-8"?>
<p:presentationPr xmlns:a="http://schemas.openxmlformats.org/drawingml/2006/main" xmlns:r="http://schemas.openxmlformats.org/officeDocument/2006/relationships" xmlns:p="http://schemas.openxmlformats.org/presentationml/2006/main">
  <p:prnPr/>
  <p:clrMru>
    <a:srgbClr val="232F3E"/>
    <a:srgbClr val="595A5D"/>
    <a:srgbClr val="414042"/>
    <a:srgbClr val="DCDCDC"/>
    <a:srgbClr val="4F81BD"/>
    <a:srgbClr val="0C9B2E"/>
    <a:srgbClr val="FFFAD0"/>
    <a:srgbClr val="FFF8AE"/>
    <a:srgbClr val="FCB64C"/>
    <a:srgbClr val="FEC46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359" autoAdjust="0"/>
    <p:restoredTop sz="85984" autoAdjust="0"/>
  </p:normalViewPr>
  <p:slideViewPr>
    <p:cSldViewPr snapToGrid="0" showGuides="1">
      <p:cViewPr varScale="1">
        <p:scale>
          <a:sx n="74" d="100"/>
          <a:sy n="74" d="100"/>
        </p:scale>
        <p:origin x="2816" y="200"/>
      </p:cViewPr>
      <p:guideLst>
        <p:guide orient="horz" pos="1030"/>
        <p:guide orient="horz" pos="4637"/>
        <p:guide orient="horz" pos="3859"/>
        <p:guide orient="horz" pos="5114"/>
        <p:guide orient="horz" pos="2160"/>
        <p:guide orient="horz" pos="2205"/>
        <p:guide orient="horz" pos="3325"/>
        <p:guide orient="horz" pos="200"/>
        <p:guide orient="horz" pos="3370"/>
        <p:guide orient="horz" pos="4574"/>
        <p:guide pos="1536"/>
        <p:guide pos="2808"/>
        <p:guide pos="4613"/>
        <p:guide pos="4030"/>
        <p:guide pos="7664"/>
        <p:guide pos="3979"/>
        <p:guide pos="2755"/>
        <p:guide pos="1579"/>
        <p:guide pos="7709"/>
        <p:guide pos="5211"/>
        <p:guide/>
        <p:guide pos="5256"/>
        <p:guide pos="6435"/>
        <p:guide pos="6485"/>
        <p:guide pos="8870"/>
        <p:guide pos="352"/>
        <p:guide pos="557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126" d="100"/>
          <a:sy n="126" d="100"/>
        </p:scale>
        <p:origin x="4544" y="200"/>
      </p:cViewPr>
      <p:guideLst/>
    </p:cSldViewPr>
  </p:notes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2.xml"/><Relationship Id="rId21" Type="http://schemas.openxmlformats.org/officeDocument/2006/relationships/slide" Target="slides/slide16.xml"/><Relationship Id="rId324" Type="http://schemas.openxmlformats.org/officeDocument/2006/relationships/slide" Target="slides/slide319.xml"/><Relationship Id="rId531" Type="http://schemas.openxmlformats.org/officeDocument/2006/relationships/slide" Target="slides/slide526.xml"/><Relationship Id="rId170" Type="http://schemas.openxmlformats.org/officeDocument/2006/relationships/slide" Target="slides/slide165.xml"/><Relationship Id="rId268" Type="http://schemas.openxmlformats.org/officeDocument/2006/relationships/slide" Target="slides/slide263.xml"/><Relationship Id="rId475" Type="http://schemas.openxmlformats.org/officeDocument/2006/relationships/slide" Target="slides/slide470.xml"/><Relationship Id="rId32" Type="http://schemas.openxmlformats.org/officeDocument/2006/relationships/slide" Target="slides/slide27.xml"/><Relationship Id="rId128" Type="http://schemas.openxmlformats.org/officeDocument/2006/relationships/slide" Target="slides/slide123.xml"/><Relationship Id="rId335" Type="http://schemas.openxmlformats.org/officeDocument/2006/relationships/slide" Target="slides/slide330.xml"/><Relationship Id="rId542" Type="http://schemas.openxmlformats.org/officeDocument/2006/relationships/slide" Target="slides/slide537.xml"/><Relationship Id="rId181" Type="http://schemas.openxmlformats.org/officeDocument/2006/relationships/slide" Target="slides/slide176.xml"/><Relationship Id="rId402" Type="http://schemas.openxmlformats.org/officeDocument/2006/relationships/slide" Target="slides/slide397.xml"/><Relationship Id="rId279" Type="http://schemas.openxmlformats.org/officeDocument/2006/relationships/slide" Target="slides/slide274.xml"/><Relationship Id="rId486" Type="http://schemas.openxmlformats.org/officeDocument/2006/relationships/slide" Target="slides/slide481.xml"/><Relationship Id="rId43" Type="http://schemas.openxmlformats.org/officeDocument/2006/relationships/slide" Target="slides/slide38.xml"/><Relationship Id="rId139" Type="http://schemas.openxmlformats.org/officeDocument/2006/relationships/slide" Target="slides/slide134.xml"/><Relationship Id="rId346" Type="http://schemas.openxmlformats.org/officeDocument/2006/relationships/slide" Target="slides/slide341.xml"/><Relationship Id="rId553" Type="http://schemas.openxmlformats.org/officeDocument/2006/relationships/slide" Target="slides/slide548.xml"/><Relationship Id="rId192" Type="http://schemas.openxmlformats.org/officeDocument/2006/relationships/slide" Target="slides/slide187.xml"/><Relationship Id="rId206" Type="http://schemas.openxmlformats.org/officeDocument/2006/relationships/slide" Target="slides/slide201.xml"/><Relationship Id="rId413" Type="http://schemas.openxmlformats.org/officeDocument/2006/relationships/slide" Target="slides/slide408.xml"/><Relationship Id="rId497" Type="http://schemas.openxmlformats.org/officeDocument/2006/relationships/slide" Target="slides/slide492.xml"/><Relationship Id="rId357" Type="http://schemas.openxmlformats.org/officeDocument/2006/relationships/slide" Target="slides/slide352.xml"/><Relationship Id="rId54" Type="http://schemas.openxmlformats.org/officeDocument/2006/relationships/slide" Target="slides/slide49.xml"/><Relationship Id="rId217" Type="http://schemas.openxmlformats.org/officeDocument/2006/relationships/slide" Target="slides/slide212.xml"/><Relationship Id="rId564" Type="http://schemas.openxmlformats.org/officeDocument/2006/relationships/slide" Target="slides/slide559.xml"/><Relationship Id="rId424" Type="http://schemas.openxmlformats.org/officeDocument/2006/relationships/slide" Target="slides/slide419.xml"/><Relationship Id="rId270" Type="http://schemas.openxmlformats.org/officeDocument/2006/relationships/slide" Target="slides/slide265.xml"/><Relationship Id="rId65" Type="http://schemas.openxmlformats.org/officeDocument/2006/relationships/slide" Target="slides/slide60.xml"/><Relationship Id="rId130" Type="http://schemas.openxmlformats.org/officeDocument/2006/relationships/slide" Target="slides/slide125.xml"/><Relationship Id="rId368" Type="http://schemas.openxmlformats.org/officeDocument/2006/relationships/slide" Target="slides/slide363.xml"/><Relationship Id="rId575" Type="http://schemas.openxmlformats.org/officeDocument/2006/relationships/slide" Target="slides/slide570.xml"/><Relationship Id="rId228" Type="http://schemas.openxmlformats.org/officeDocument/2006/relationships/slide" Target="slides/slide223.xml"/><Relationship Id="rId435" Type="http://schemas.openxmlformats.org/officeDocument/2006/relationships/slide" Target="slides/slide430.xml"/><Relationship Id="rId281" Type="http://schemas.openxmlformats.org/officeDocument/2006/relationships/slide" Target="slides/slide276.xml"/><Relationship Id="rId502" Type="http://schemas.openxmlformats.org/officeDocument/2006/relationships/slide" Target="slides/slide497.xml"/><Relationship Id="rId76" Type="http://schemas.openxmlformats.org/officeDocument/2006/relationships/slide" Target="slides/slide71.xml"/><Relationship Id="rId141" Type="http://schemas.openxmlformats.org/officeDocument/2006/relationships/slide" Target="slides/slide136.xml"/><Relationship Id="rId379" Type="http://schemas.openxmlformats.org/officeDocument/2006/relationships/slide" Target="slides/slide374.xml"/><Relationship Id="rId586" Type="http://schemas.openxmlformats.org/officeDocument/2006/relationships/slide" Target="slides/slide581.xml"/><Relationship Id="rId7" Type="http://schemas.openxmlformats.org/officeDocument/2006/relationships/slide" Target="slides/slide2.xml"/><Relationship Id="rId239" Type="http://schemas.openxmlformats.org/officeDocument/2006/relationships/slide" Target="slides/slide234.xml"/><Relationship Id="rId446" Type="http://schemas.openxmlformats.org/officeDocument/2006/relationships/slide" Target="slides/slide441.xml"/><Relationship Id="rId292" Type="http://schemas.openxmlformats.org/officeDocument/2006/relationships/slide" Target="slides/slide287.xml"/><Relationship Id="rId306" Type="http://schemas.openxmlformats.org/officeDocument/2006/relationships/slide" Target="slides/slide301.xml"/><Relationship Id="rId87" Type="http://schemas.openxmlformats.org/officeDocument/2006/relationships/slide" Target="slides/slide82.xml"/><Relationship Id="rId513" Type="http://schemas.openxmlformats.org/officeDocument/2006/relationships/slide" Target="slides/slide508.xml"/><Relationship Id="rId597" Type="http://schemas.openxmlformats.org/officeDocument/2006/relationships/slide" Target="slides/slide592.xml"/><Relationship Id="rId152" Type="http://schemas.openxmlformats.org/officeDocument/2006/relationships/slide" Target="slides/slide147.xml"/><Relationship Id="rId457" Type="http://schemas.openxmlformats.org/officeDocument/2006/relationships/slide" Target="slides/slide452.xml"/><Relationship Id="rId14" Type="http://schemas.openxmlformats.org/officeDocument/2006/relationships/slide" Target="slides/slide9.xml"/><Relationship Id="rId317" Type="http://schemas.openxmlformats.org/officeDocument/2006/relationships/slide" Target="slides/slide312.xml"/><Relationship Id="rId524" Type="http://schemas.openxmlformats.org/officeDocument/2006/relationships/slide" Target="slides/slide519.xml"/><Relationship Id="rId98" Type="http://schemas.openxmlformats.org/officeDocument/2006/relationships/slide" Target="slides/slide93.xml"/><Relationship Id="rId163" Type="http://schemas.openxmlformats.org/officeDocument/2006/relationships/slide" Target="slides/slide158.xml"/><Relationship Id="rId370" Type="http://schemas.openxmlformats.org/officeDocument/2006/relationships/slide" Target="slides/slide365.xml"/><Relationship Id="rId230" Type="http://schemas.openxmlformats.org/officeDocument/2006/relationships/slide" Target="slides/slide225.xml"/><Relationship Id="rId468" Type="http://schemas.openxmlformats.org/officeDocument/2006/relationships/slide" Target="slides/slide463.xml"/><Relationship Id="rId25" Type="http://schemas.openxmlformats.org/officeDocument/2006/relationships/slide" Target="slides/slide20.xml"/><Relationship Id="rId67" Type="http://schemas.openxmlformats.org/officeDocument/2006/relationships/slide" Target="slides/slide62.xml"/><Relationship Id="rId272" Type="http://schemas.openxmlformats.org/officeDocument/2006/relationships/slide" Target="slides/slide267.xml"/><Relationship Id="rId328" Type="http://schemas.openxmlformats.org/officeDocument/2006/relationships/slide" Target="slides/slide323.xml"/><Relationship Id="rId535" Type="http://schemas.openxmlformats.org/officeDocument/2006/relationships/slide" Target="slides/slide530.xml"/><Relationship Id="rId577" Type="http://schemas.openxmlformats.org/officeDocument/2006/relationships/slide" Target="slides/slide572.xml"/><Relationship Id="rId132" Type="http://schemas.openxmlformats.org/officeDocument/2006/relationships/slide" Target="slides/slide127.xml"/><Relationship Id="rId174" Type="http://schemas.openxmlformats.org/officeDocument/2006/relationships/slide" Target="slides/slide169.xml"/><Relationship Id="rId381" Type="http://schemas.openxmlformats.org/officeDocument/2006/relationships/slide" Target="slides/slide376.xml"/><Relationship Id="rId602" Type="http://schemas.openxmlformats.org/officeDocument/2006/relationships/slide" Target="slides/slide597.xml"/><Relationship Id="rId241" Type="http://schemas.openxmlformats.org/officeDocument/2006/relationships/slide" Target="slides/slide236.xml"/><Relationship Id="rId437" Type="http://schemas.openxmlformats.org/officeDocument/2006/relationships/slide" Target="slides/slide432.xml"/><Relationship Id="rId479" Type="http://schemas.openxmlformats.org/officeDocument/2006/relationships/slide" Target="slides/slide474.xml"/><Relationship Id="rId36" Type="http://schemas.openxmlformats.org/officeDocument/2006/relationships/slide" Target="slides/slide31.xml"/><Relationship Id="rId283" Type="http://schemas.openxmlformats.org/officeDocument/2006/relationships/slide" Target="slides/slide278.xml"/><Relationship Id="rId339" Type="http://schemas.openxmlformats.org/officeDocument/2006/relationships/slide" Target="slides/slide334.xml"/><Relationship Id="rId490" Type="http://schemas.openxmlformats.org/officeDocument/2006/relationships/slide" Target="slides/slide485.xml"/><Relationship Id="rId504" Type="http://schemas.openxmlformats.org/officeDocument/2006/relationships/slide" Target="slides/slide499.xml"/><Relationship Id="rId546" Type="http://schemas.openxmlformats.org/officeDocument/2006/relationships/slide" Target="slides/slide541.xml"/><Relationship Id="rId78" Type="http://schemas.openxmlformats.org/officeDocument/2006/relationships/slide" Target="slides/slide73.xml"/><Relationship Id="rId101" Type="http://schemas.openxmlformats.org/officeDocument/2006/relationships/slide" Target="slides/slide96.xml"/><Relationship Id="rId143" Type="http://schemas.openxmlformats.org/officeDocument/2006/relationships/slide" Target="slides/slide138.xml"/><Relationship Id="rId185" Type="http://schemas.openxmlformats.org/officeDocument/2006/relationships/slide" Target="slides/slide180.xml"/><Relationship Id="rId350" Type="http://schemas.openxmlformats.org/officeDocument/2006/relationships/slide" Target="slides/slide345.xml"/><Relationship Id="rId406" Type="http://schemas.openxmlformats.org/officeDocument/2006/relationships/slide" Target="slides/slide401.xml"/><Relationship Id="rId588" Type="http://schemas.openxmlformats.org/officeDocument/2006/relationships/slide" Target="slides/slide583.xml"/><Relationship Id="rId9" Type="http://schemas.openxmlformats.org/officeDocument/2006/relationships/slide" Target="slides/slide4.xml"/><Relationship Id="rId210" Type="http://schemas.openxmlformats.org/officeDocument/2006/relationships/slide" Target="slides/slide205.xml"/><Relationship Id="rId392" Type="http://schemas.openxmlformats.org/officeDocument/2006/relationships/slide" Target="slides/slide387.xml"/><Relationship Id="rId448" Type="http://schemas.openxmlformats.org/officeDocument/2006/relationships/slide" Target="slides/slide443.xml"/><Relationship Id="rId613" Type="http://schemas.openxmlformats.org/officeDocument/2006/relationships/tableStyles" Target="tableStyles.xml"/><Relationship Id="rId252" Type="http://schemas.openxmlformats.org/officeDocument/2006/relationships/slide" Target="slides/slide247.xml"/><Relationship Id="rId294" Type="http://schemas.openxmlformats.org/officeDocument/2006/relationships/slide" Target="slides/slide289.xml"/><Relationship Id="rId308" Type="http://schemas.openxmlformats.org/officeDocument/2006/relationships/slide" Target="slides/slide303.xml"/><Relationship Id="rId515" Type="http://schemas.openxmlformats.org/officeDocument/2006/relationships/slide" Target="slides/slide510.xml"/><Relationship Id="rId47" Type="http://schemas.openxmlformats.org/officeDocument/2006/relationships/slide" Target="slides/slide42.xml"/><Relationship Id="rId89" Type="http://schemas.openxmlformats.org/officeDocument/2006/relationships/slide" Target="slides/slide84.xml"/><Relationship Id="rId112" Type="http://schemas.openxmlformats.org/officeDocument/2006/relationships/slide" Target="slides/slide107.xml"/><Relationship Id="rId154" Type="http://schemas.openxmlformats.org/officeDocument/2006/relationships/slide" Target="slides/slide149.xml"/><Relationship Id="rId361" Type="http://schemas.openxmlformats.org/officeDocument/2006/relationships/slide" Target="slides/slide356.xml"/><Relationship Id="rId557" Type="http://schemas.openxmlformats.org/officeDocument/2006/relationships/slide" Target="slides/slide552.xml"/><Relationship Id="rId599" Type="http://schemas.openxmlformats.org/officeDocument/2006/relationships/slide" Target="slides/slide594.xml"/><Relationship Id="rId196" Type="http://schemas.openxmlformats.org/officeDocument/2006/relationships/slide" Target="slides/slide191.xml"/><Relationship Id="rId417" Type="http://schemas.openxmlformats.org/officeDocument/2006/relationships/slide" Target="slides/slide412.xml"/><Relationship Id="rId459" Type="http://schemas.openxmlformats.org/officeDocument/2006/relationships/slide" Target="slides/slide454.xml"/><Relationship Id="rId16" Type="http://schemas.openxmlformats.org/officeDocument/2006/relationships/slide" Target="slides/slide11.xml"/><Relationship Id="rId221" Type="http://schemas.openxmlformats.org/officeDocument/2006/relationships/slide" Target="slides/slide216.xml"/><Relationship Id="rId263" Type="http://schemas.openxmlformats.org/officeDocument/2006/relationships/slide" Target="slides/slide258.xml"/><Relationship Id="rId319" Type="http://schemas.openxmlformats.org/officeDocument/2006/relationships/slide" Target="slides/slide314.xml"/><Relationship Id="rId470" Type="http://schemas.openxmlformats.org/officeDocument/2006/relationships/slide" Target="slides/slide465.xml"/><Relationship Id="rId526" Type="http://schemas.openxmlformats.org/officeDocument/2006/relationships/slide" Target="slides/slide521.xml"/><Relationship Id="rId58" Type="http://schemas.openxmlformats.org/officeDocument/2006/relationships/slide" Target="slides/slide53.xml"/><Relationship Id="rId123" Type="http://schemas.openxmlformats.org/officeDocument/2006/relationships/slide" Target="slides/slide118.xml"/><Relationship Id="rId330" Type="http://schemas.openxmlformats.org/officeDocument/2006/relationships/slide" Target="slides/slide325.xml"/><Relationship Id="rId568" Type="http://schemas.openxmlformats.org/officeDocument/2006/relationships/slide" Target="slides/slide563.xml"/><Relationship Id="rId165" Type="http://schemas.openxmlformats.org/officeDocument/2006/relationships/slide" Target="slides/slide160.xml"/><Relationship Id="rId372" Type="http://schemas.openxmlformats.org/officeDocument/2006/relationships/slide" Target="slides/slide367.xml"/><Relationship Id="rId428" Type="http://schemas.openxmlformats.org/officeDocument/2006/relationships/slide" Target="slides/slide423.xml"/><Relationship Id="rId232" Type="http://schemas.openxmlformats.org/officeDocument/2006/relationships/slide" Target="slides/slide227.xml"/><Relationship Id="rId274" Type="http://schemas.openxmlformats.org/officeDocument/2006/relationships/slide" Target="slides/slide269.xml"/><Relationship Id="rId481" Type="http://schemas.openxmlformats.org/officeDocument/2006/relationships/slide" Target="slides/slide476.xml"/><Relationship Id="rId27" Type="http://schemas.openxmlformats.org/officeDocument/2006/relationships/slide" Target="slides/slide22.xml"/><Relationship Id="rId69" Type="http://schemas.openxmlformats.org/officeDocument/2006/relationships/slide" Target="slides/slide64.xml"/><Relationship Id="rId134" Type="http://schemas.openxmlformats.org/officeDocument/2006/relationships/slide" Target="slides/slide129.xml"/><Relationship Id="rId537" Type="http://schemas.openxmlformats.org/officeDocument/2006/relationships/slide" Target="slides/slide532.xml"/><Relationship Id="rId579" Type="http://schemas.openxmlformats.org/officeDocument/2006/relationships/slide" Target="slides/slide574.xml"/><Relationship Id="rId80" Type="http://schemas.openxmlformats.org/officeDocument/2006/relationships/slide" Target="slides/slide75.xml"/><Relationship Id="rId176" Type="http://schemas.openxmlformats.org/officeDocument/2006/relationships/slide" Target="slides/slide171.xml"/><Relationship Id="rId341" Type="http://schemas.openxmlformats.org/officeDocument/2006/relationships/slide" Target="slides/slide336.xml"/><Relationship Id="rId383" Type="http://schemas.openxmlformats.org/officeDocument/2006/relationships/slide" Target="slides/slide378.xml"/><Relationship Id="rId439" Type="http://schemas.openxmlformats.org/officeDocument/2006/relationships/slide" Target="slides/slide434.xml"/><Relationship Id="rId590" Type="http://schemas.openxmlformats.org/officeDocument/2006/relationships/slide" Target="slides/slide585.xml"/><Relationship Id="rId604" Type="http://schemas.openxmlformats.org/officeDocument/2006/relationships/slide" Target="slides/slide599.xml"/><Relationship Id="rId201" Type="http://schemas.openxmlformats.org/officeDocument/2006/relationships/slide" Target="slides/slide196.xml"/><Relationship Id="rId243" Type="http://schemas.openxmlformats.org/officeDocument/2006/relationships/slide" Target="slides/slide238.xml"/><Relationship Id="rId285" Type="http://schemas.openxmlformats.org/officeDocument/2006/relationships/slide" Target="slides/slide280.xml"/><Relationship Id="rId450" Type="http://schemas.openxmlformats.org/officeDocument/2006/relationships/slide" Target="slides/slide445.xml"/><Relationship Id="rId506" Type="http://schemas.openxmlformats.org/officeDocument/2006/relationships/slide" Target="slides/slide501.xml"/><Relationship Id="rId38" Type="http://schemas.openxmlformats.org/officeDocument/2006/relationships/slide" Target="slides/slide33.xml"/><Relationship Id="rId103" Type="http://schemas.openxmlformats.org/officeDocument/2006/relationships/slide" Target="slides/slide98.xml"/><Relationship Id="rId310" Type="http://schemas.openxmlformats.org/officeDocument/2006/relationships/slide" Target="slides/slide305.xml"/><Relationship Id="rId492" Type="http://schemas.openxmlformats.org/officeDocument/2006/relationships/slide" Target="slides/slide487.xml"/><Relationship Id="rId548" Type="http://schemas.openxmlformats.org/officeDocument/2006/relationships/slide" Target="slides/slide543.xml"/><Relationship Id="rId91" Type="http://schemas.openxmlformats.org/officeDocument/2006/relationships/slide" Target="slides/slide86.xml"/><Relationship Id="rId145" Type="http://schemas.openxmlformats.org/officeDocument/2006/relationships/slide" Target="slides/slide140.xml"/><Relationship Id="rId187" Type="http://schemas.openxmlformats.org/officeDocument/2006/relationships/slide" Target="slides/slide182.xml"/><Relationship Id="rId352" Type="http://schemas.openxmlformats.org/officeDocument/2006/relationships/slide" Target="slides/slide347.xml"/><Relationship Id="rId394" Type="http://schemas.openxmlformats.org/officeDocument/2006/relationships/slide" Target="slides/slide389.xml"/><Relationship Id="rId408" Type="http://schemas.openxmlformats.org/officeDocument/2006/relationships/slide" Target="slides/slide403.xml"/><Relationship Id="rId212" Type="http://schemas.openxmlformats.org/officeDocument/2006/relationships/slide" Target="slides/slide207.xml"/><Relationship Id="rId254" Type="http://schemas.openxmlformats.org/officeDocument/2006/relationships/slide" Target="slides/slide249.xml"/><Relationship Id="rId49" Type="http://schemas.openxmlformats.org/officeDocument/2006/relationships/slide" Target="slides/slide44.xml"/><Relationship Id="rId114" Type="http://schemas.openxmlformats.org/officeDocument/2006/relationships/slide" Target="slides/slide109.xml"/><Relationship Id="rId296" Type="http://schemas.openxmlformats.org/officeDocument/2006/relationships/slide" Target="slides/slide291.xml"/><Relationship Id="rId461" Type="http://schemas.openxmlformats.org/officeDocument/2006/relationships/slide" Target="slides/slide456.xml"/><Relationship Id="rId517" Type="http://schemas.openxmlformats.org/officeDocument/2006/relationships/slide" Target="slides/slide512.xml"/><Relationship Id="rId559" Type="http://schemas.openxmlformats.org/officeDocument/2006/relationships/slide" Target="slides/slide554.xml"/><Relationship Id="rId60" Type="http://schemas.openxmlformats.org/officeDocument/2006/relationships/slide" Target="slides/slide55.xml"/><Relationship Id="rId156" Type="http://schemas.openxmlformats.org/officeDocument/2006/relationships/slide" Target="slides/slide151.xml"/><Relationship Id="rId198" Type="http://schemas.openxmlformats.org/officeDocument/2006/relationships/slide" Target="slides/slide193.xml"/><Relationship Id="rId321" Type="http://schemas.openxmlformats.org/officeDocument/2006/relationships/slide" Target="slides/slide316.xml"/><Relationship Id="rId363" Type="http://schemas.openxmlformats.org/officeDocument/2006/relationships/slide" Target="slides/slide358.xml"/><Relationship Id="rId419" Type="http://schemas.openxmlformats.org/officeDocument/2006/relationships/slide" Target="slides/slide414.xml"/><Relationship Id="rId570" Type="http://schemas.openxmlformats.org/officeDocument/2006/relationships/slide" Target="slides/slide565.xml"/><Relationship Id="rId223" Type="http://schemas.openxmlformats.org/officeDocument/2006/relationships/slide" Target="slides/slide218.xml"/><Relationship Id="rId430" Type="http://schemas.openxmlformats.org/officeDocument/2006/relationships/slide" Target="slides/slide425.xml"/><Relationship Id="rId18" Type="http://schemas.openxmlformats.org/officeDocument/2006/relationships/slide" Target="slides/slide13.xml"/><Relationship Id="rId265" Type="http://schemas.openxmlformats.org/officeDocument/2006/relationships/slide" Target="slides/slide260.xml"/><Relationship Id="rId472" Type="http://schemas.openxmlformats.org/officeDocument/2006/relationships/slide" Target="slides/slide467.xml"/><Relationship Id="rId528" Type="http://schemas.openxmlformats.org/officeDocument/2006/relationships/slide" Target="slides/slide523.xml"/><Relationship Id="rId125" Type="http://schemas.openxmlformats.org/officeDocument/2006/relationships/slide" Target="slides/slide120.xml"/><Relationship Id="rId167" Type="http://schemas.openxmlformats.org/officeDocument/2006/relationships/slide" Target="slides/slide162.xml"/><Relationship Id="rId332" Type="http://schemas.openxmlformats.org/officeDocument/2006/relationships/slide" Target="slides/slide327.xml"/><Relationship Id="rId374" Type="http://schemas.openxmlformats.org/officeDocument/2006/relationships/slide" Target="slides/slide369.xml"/><Relationship Id="rId581" Type="http://schemas.openxmlformats.org/officeDocument/2006/relationships/slide" Target="slides/slide576.xml"/><Relationship Id="rId71" Type="http://schemas.openxmlformats.org/officeDocument/2006/relationships/slide" Target="slides/slide66.xml"/><Relationship Id="rId234" Type="http://schemas.openxmlformats.org/officeDocument/2006/relationships/slide" Target="slides/slide229.xml"/><Relationship Id="rId2" Type="http://schemas.openxmlformats.org/officeDocument/2006/relationships/customXml" Target="../customXml/item2.xml"/><Relationship Id="rId29" Type="http://schemas.openxmlformats.org/officeDocument/2006/relationships/slide" Target="slides/slide24.xml"/><Relationship Id="rId276" Type="http://schemas.openxmlformats.org/officeDocument/2006/relationships/slide" Target="slides/slide271.xml"/><Relationship Id="rId441" Type="http://schemas.openxmlformats.org/officeDocument/2006/relationships/slide" Target="slides/slide436.xml"/><Relationship Id="rId483" Type="http://schemas.openxmlformats.org/officeDocument/2006/relationships/slide" Target="slides/slide478.xml"/><Relationship Id="rId539" Type="http://schemas.openxmlformats.org/officeDocument/2006/relationships/slide" Target="slides/slide534.xml"/><Relationship Id="rId40" Type="http://schemas.openxmlformats.org/officeDocument/2006/relationships/slide" Target="slides/slide35.xml"/><Relationship Id="rId136" Type="http://schemas.openxmlformats.org/officeDocument/2006/relationships/slide" Target="slides/slide131.xml"/><Relationship Id="rId178" Type="http://schemas.openxmlformats.org/officeDocument/2006/relationships/slide" Target="slides/slide173.xml"/><Relationship Id="rId301" Type="http://schemas.openxmlformats.org/officeDocument/2006/relationships/slide" Target="slides/slide296.xml"/><Relationship Id="rId343" Type="http://schemas.openxmlformats.org/officeDocument/2006/relationships/slide" Target="slides/slide338.xml"/><Relationship Id="rId550" Type="http://schemas.openxmlformats.org/officeDocument/2006/relationships/slide" Target="slides/slide545.xml"/><Relationship Id="rId82" Type="http://schemas.openxmlformats.org/officeDocument/2006/relationships/slide" Target="slides/slide77.xml"/><Relationship Id="rId203" Type="http://schemas.openxmlformats.org/officeDocument/2006/relationships/slide" Target="slides/slide198.xml"/><Relationship Id="rId385" Type="http://schemas.openxmlformats.org/officeDocument/2006/relationships/slide" Target="slides/slide380.xml"/><Relationship Id="rId592" Type="http://schemas.openxmlformats.org/officeDocument/2006/relationships/slide" Target="slides/slide587.xml"/><Relationship Id="rId606" Type="http://schemas.openxmlformats.org/officeDocument/2006/relationships/slide" Target="slides/slide601.xml"/><Relationship Id="rId245" Type="http://schemas.openxmlformats.org/officeDocument/2006/relationships/slide" Target="slides/slide240.xml"/><Relationship Id="rId287" Type="http://schemas.openxmlformats.org/officeDocument/2006/relationships/slide" Target="slides/slide282.xml"/><Relationship Id="rId410" Type="http://schemas.openxmlformats.org/officeDocument/2006/relationships/slide" Target="slides/slide405.xml"/><Relationship Id="rId452" Type="http://schemas.openxmlformats.org/officeDocument/2006/relationships/slide" Target="slides/slide447.xml"/><Relationship Id="rId494" Type="http://schemas.openxmlformats.org/officeDocument/2006/relationships/slide" Target="slides/slide489.xml"/><Relationship Id="rId508" Type="http://schemas.openxmlformats.org/officeDocument/2006/relationships/slide" Target="slides/slide503.xml"/><Relationship Id="rId105" Type="http://schemas.openxmlformats.org/officeDocument/2006/relationships/slide" Target="slides/slide100.xml"/><Relationship Id="rId147" Type="http://schemas.openxmlformats.org/officeDocument/2006/relationships/slide" Target="slides/slide142.xml"/><Relationship Id="rId312" Type="http://schemas.openxmlformats.org/officeDocument/2006/relationships/slide" Target="slides/slide307.xml"/><Relationship Id="rId354" Type="http://schemas.openxmlformats.org/officeDocument/2006/relationships/slide" Target="slides/slide349.xml"/><Relationship Id="rId51" Type="http://schemas.openxmlformats.org/officeDocument/2006/relationships/slide" Target="slides/slide46.xml"/><Relationship Id="rId93" Type="http://schemas.openxmlformats.org/officeDocument/2006/relationships/slide" Target="slides/slide88.xml"/><Relationship Id="rId189" Type="http://schemas.openxmlformats.org/officeDocument/2006/relationships/slide" Target="slides/slide184.xml"/><Relationship Id="rId396" Type="http://schemas.openxmlformats.org/officeDocument/2006/relationships/slide" Target="slides/slide391.xml"/><Relationship Id="rId561" Type="http://schemas.openxmlformats.org/officeDocument/2006/relationships/slide" Target="slides/slide556.xml"/><Relationship Id="rId214" Type="http://schemas.openxmlformats.org/officeDocument/2006/relationships/slide" Target="slides/slide209.xml"/><Relationship Id="rId256" Type="http://schemas.openxmlformats.org/officeDocument/2006/relationships/slide" Target="slides/slide251.xml"/><Relationship Id="rId298" Type="http://schemas.openxmlformats.org/officeDocument/2006/relationships/slide" Target="slides/slide293.xml"/><Relationship Id="rId421" Type="http://schemas.openxmlformats.org/officeDocument/2006/relationships/slide" Target="slides/slide416.xml"/><Relationship Id="rId463" Type="http://schemas.openxmlformats.org/officeDocument/2006/relationships/slide" Target="slides/slide458.xml"/><Relationship Id="rId519" Type="http://schemas.openxmlformats.org/officeDocument/2006/relationships/slide" Target="slides/slide514.xml"/><Relationship Id="rId116" Type="http://schemas.openxmlformats.org/officeDocument/2006/relationships/slide" Target="slides/slide111.xml"/><Relationship Id="rId158" Type="http://schemas.openxmlformats.org/officeDocument/2006/relationships/slide" Target="slides/slide153.xml"/><Relationship Id="rId323" Type="http://schemas.openxmlformats.org/officeDocument/2006/relationships/slide" Target="slides/slide318.xml"/><Relationship Id="rId530" Type="http://schemas.openxmlformats.org/officeDocument/2006/relationships/slide" Target="slides/slide525.xml"/><Relationship Id="rId20" Type="http://schemas.openxmlformats.org/officeDocument/2006/relationships/slide" Target="slides/slide15.xml"/><Relationship Id="rId62" Type="http://schemas.openxmlformats.org/officeDocument/2006/relationships/slide" Target="slides/slide57.xml"/><Relationship Id="rId365" Type="http://schemas.openxmlformats.org/officeDocument/2006/relationships/slide" Target="slides/slide360.xml"/><Relationship Id="rId572" Type="http://schemas.openxmlformats.org/officeDocument/2006/relationships/slide" Target="slides/slide567.xml"/><Relationship Id="rId225" Type="http://schemas.openxmlformats.org/officeDocument/2006/relationships/slide" Target="slides/slide220.xml"/><Relationship Id="rId267" Type="http://schemas.openxmlformats.org/officeDocument/2006/relationships/slide" Target="slides/slide262.xml"/><Relationship Id="rId432" Type="http://schemas.openxmlformats.org/officeDocument/2006/relationships/slide" Target="slides/slide427.xml"/><Relationship Id="rId474" Type="http://schemas.openxmlformats.org/officeDocument/2006/relationships/slide" Target="slides/slide469.xml"/><Relationship Id="rId127" Type="http://schemas.openxmlformats.org/officeDocument/2006/relationships/slide" Target="slides/slide122.xml"/><Relationship Id="rId31" Type="http://schemas.openxmlformats.org/officeDocument/2006/relationships/slide" Target="slides/slide26.xml"/><Relationship Id="rId73" Type="http://schemas.openxmlformats.org/officeDocument/2006/relationships/slide" Target="slides/slide68.xml"/><Relationship Id="rId169" Type="http://schemas.openxmlformats.org/officeDocument/2006/relationships/slide" Target="slides/slide164.xml"/><Relationship Id="rId334" Type="http://schemas.openxmlformats.org/officeDocument/2006/relationships/slide" Target="slides/slide329.xml"/><Relationship Id="rId376" Type="http://schemas.openxmlformats.org/officeDocument/2006/relationships/slide" Target="slides/slide371.xml"/><Relationship Id="rId541" Type="http://schemas.openxmlformats.org/officeDocument/2006/relationships/slide" Target="slides/slide536.xml"/><Relationship Id="rId583" Type="http://schemas.openxmlformats.org/officeDocument/2006/relationships/slide" Target="slides/slide578.xml"/><Relationship Id="rId4" Type="http://schemas.openxmlformats.org/officeDocument/2006/relationships/slideMaster" Target="slideMasters/slideMaster1.xml"/><Relationship Id="rId180" Type="http://schemas.openxmlformats.org/officeDocument/2006/relationships/slide" Target="slides/slide175.xml"/><Relationship Id="rId236" Type="http://schemas.openxmlformats.org/officeDocument/2006/relationships/slide" Target="slides/slide231.xml"/><Relationship Id="rId278" Type="http://schemas.openxmlformats.org/officeDocument/2006/relationships/slide" Target="slides/slide273.xml"/><Relationship Id="rId401" Type="http://schemas.openxmlformats.org/officeDocument/2006/relationships/slide" Target="slides/slide396.xml"/><Relationship Id="rId443" Type="http://schemas.openxmlformats.org/officeDocument/2006/relationships/slide" Target="slides/slide438.xml"/><Relationship Id="rId303" Type="http://schemas.openxmlformats.org/officeDocument/2006/relationships/slide" Target="slides/slide298.xml"/><Relationship Id="rId485" Type="http://schemas.openxmlformats.org/officeDocument/2006/relationships/slide" Target="slides/slide480.xml"/><Relationship Id="rId42" Type="http://schemas.openxmlformats.org/officeDocument/2006/relationships/slide" Target="slides/slide37.xml"/><Relationship Id="rId84" Type="http://schemas.openxmlformats.org/officeDocument/2006/relationships/slide" Target="slides/slide79.xml"/><Relationship Id="rId138" Type="http://schemas.openxmlformats.org/officeDocument/2006/relationships/slide" Target="slides/slide133.xml"/><Relationship Id="rId345" Type="http://schemas.openxmlformats.org/officeDocument/2006/relationships/slide" Target="slides/slide340.xml"/><Relationship Id="rId387" Type="http://schemas.openxmlformats.org/officeDocument/2006/relationships/slide" Target="slides/slide382.xml"/><Relationship Id="rId510" Type="http://schemas.openxmlformats.org/officeDocument/2006/relationships/slide" Target="slides/slide505.xml"/><Relationship Id="rId552" Type="http://schemas.openxmlformats.org/officeDocument/2006/relationships/slide" Target="slides/slide547.xml"/><Relationship Id="rId594" Type="http://schemas.openxmlformats.org/officeDocument/2006/relationships/slide" Target="slides/slide589.xml"/><Relationship Id="rId608" Type="http://schemas.openxmlformats.org/officeDocument/2006/relationships/handoutMaster" Target="handoutMasters/handoutMaster1.xml"/><Relationship Id="rId191" Type="http://schemas.openxmlformats.org/officeDocument/2006/relationships/slide" Target="slides/slide186.xml"/><Relationship Id="rId205" Type="http://schemas.openxmlformats.org/officeDocument/2006/relationships/slide" Target="slides/slide200.xml"/><Relationship Id="rId247" Type="http://schemas.openxmlformats.org/officeDocument/2006/relationships/slide" Target="slides/slide242.xml"/><Relationship Id="rId412" Type="http://schemas.openxmlformats.org/officeDocument/2006/relationships/slide" Target="slides/slide407.xml"/><Relationship Id="rId107" Type="http://schemas.openxmlformats.org/officeDocument/2006/relationships/slide" Target="slides/slide102.xml"/><Relationship Id="rId289" Type="http://schemas.openxmlformats.org/officeDocument/2006/relationships/slide" Target="slides/slide284.xml"/><Relationship Id="rId454" Type="http://schemas.openxmlformats.org/officeDocument/2006/relationships/slide" Target="slides/slide449.xml"/><Relationship Id="rId496" Type="http://schemas.openxmlformats.org/officeDocument/2006/relationships/slide" Target="slides/slide491.xml"/><Relationship Id="rId11" Type="http://schemas.openxmlformats.org/officeDocument/2006/relationships/slide" Target="slides/slide6.xml"/><Relationship Id="rId53" Type="http://schemas.openxmlformats.org/officeDocument/2006/relationships/slide" Target="slides/slide48.xml"/><Relationship Id="rId149" Type="http://schemas.openxmlformats.org/officeDocument/2006/relationships/slide" Target="slides/slide144.xml"/><Relationship Id="rId314" Type="http://schemas.openxmlformats.org/officeDocument/2006/relationships/slide" Target="slides/slide309.xml"/><Relationship Id="rId356" Type="http://schemas.openxmlformats.org/officeDocument/2006/relationships/slide" Target="slides/slide351.xml"/><Relationship Id="rId398" Type="http://schemas.openxmlformats.org/officeDocument/2006/relationships/slide" Target="slides/slide393.xml"/><Relationship Id="rId521" Type="http://schemas.openxmlformats.org/officeDocument/2006/relationships/slide" Target="slides/slide516.xml"/><Relationship Id="rId563" Type="http://schemas.openxmlformats.org/officeDocument/2006/relationships/slide" Target="slides/slide558.xml"/><Relationship Id="rId95" Type="http://schemas.openxmlformats.org/officeDocument/2006/relationships/slide" Target="slides/slide90.xml"/><Relationship Id="rId160" Type="http://schemas.openxmlformats.org/officeDocument/2006/relationships/slide" Target="slides/slide155.xml"/><Relationship Id="rId216" Type="http://schemas.openxmlformats.org/officeDocument/2006/relationships/slide" Target="slides/slide211.xml"/><Relationship Id="rId423" Type="http://schemas.openxmlformats.org/officeDocument/2006/relationships/slide" Target="slides/slide418.xml"/><Relationship Id="rId258" Type="http://schemas.openxmlformats.org/officeDocument/2006/relationships/slide" Target="slides/slide253.xml"/><Relationship Id="rId465" Type="http://schemas.openxmlformats.org/officeDocument/2006/relationships/slide" Target="slides/slide460.xml"/><Relationship Id="rId22" Type="http://schemas.openxmlformats.org/officeDocument/2006/relationships/slide" Target="slides/slide17.xml"/><Relationship Id="rId64" Type="http://schemas.openxmlformats.org/officeDocument/2006/relationships/slide" Target="slides/slide59.xml"/><Relationship Id="rId118" Type="http://schemas.openxmlformats.org/officeDocument/2006/relationships/slide" Target="slides/slide113.xml"/><Relationship Id="rId325" Type="http://schemas.openxmlformats.org/officeDocument/2006/relationships/slide" Target="slides/slide320.xml"/><Relationship Id="rId367" Type="http://schemas.openxmlformats.org/officeDocument/2006/relationships/slide" Target="slides/slide362.xml"/><Relationship Id="rId532" Type="http://schemas.openxmlformats.org/officeDocument/2006/relationships/slide" Target="slides/slide527.xml"/><Relationship Id="rId574" Type="http://schemas.openxmlformats.org/officeDocument/2006/relationships/slide" Target="slides/slide569.xml"/><Relationship Id="rId171" Type="http://schemas.openxmlformats.org/officeDocument/2006/relationships/slide" Target="slides/slide166.xml"/><Relationship Id="rId227" Type="http://schemas.openxmlformats.org/officeDocument/2006/relationships/slide" Target="slides/slide222.xml"/><Relationship Id="rId269" Type="http://schemas.openxmlformats.org/officeDocument/2006/relationships/slide" Target="slides/slide264.xml"/><Relationship Id="rId434" Type="http://schemas.openxmlformats.org/officeDocument/2006/relationships/slide" Target="slides/slide429.xml"/><Relationship Id="rId476" Type="http://schemas.openxmlformats.org/officeDocument/2006/relationships/slide" Target="slides/slide471.xml"/><Relationship Id="rId33" Type="http://schemas.openxmlformats.org/officeDocument/2006/relationships/slide" Target="slides/slide28.xml"/><Relationship Id="rId129" Type="http://schemas.openxmlformats.org/officeDocument/2006/relationships/slide" Target="slides/slide124.xml"/><Relationship Id="rId280" Type="http://schemas.openxmlformats.org/officeDocument/2006/relationships/slide" Target="slides/slide275.xml"/><Relationship Id="rId336" Type="http://schemas.openxmlformats.org/officeDocument/2006/relationships/slide" Target="slides/slide331.xml"/><Relationship Id="rId501" Type="http://schemas.openxmlformats.org/officeDocument/2006/relationships/slide" Target="slides/slide496.xml"/><Relationship Id="rId543" Type="http://schemas.openxmlformats.org/officeDocument/2006/relationships/slide" Target="slides/slide538.xml"/><Relationship Id="rId75" Type="http://schemas.openxmlformats.org/officeDocument/2006/relationships/slide" Target="slides/slide70.xml"/><Relationship Id="rId140" Type="http://schemas.openxmlformats.org/officeDocument/2006/relationships/slide" Target="slides/slide135.xml"/><Relationship Id="rId182" Type="http://schemas.openxmlformats.org/officeDocument/2006/relationships/slide" Target="slides/slide177.xml"/><Relationship Id="rId378" Type="http://schemas.openxmlformats.org/officeDocument/2006/relationships/slide" Target="slides/slide373.xml"/><Relationship Id="rId403" Type="http://schemas.openxmlformats.org/officeDocument/2006/relationships/slide" Target="slides/slide398.xml"/><Relationship Id="rId585" Type="http://schemas.openxmlformats.org/officeDocument/2006/relationships/slide" Target="slides/slide580.xml"/><Relationship Id="rId6" Type="http://schemas.openxmlformats.org/officeDocument/2006/relationships/slide" Target="slides/slide1.xml"/><Relationship Id="rId238" Type="http://schemas.openxmlformats.org/officeDocument/2006/relationships/slide" Target="slides/slide233.xml"/><Relationship Id="rId445" Type="http://schemas.openxmlformats.org/officeDocument/2006/relationships/slide" Target="slides/slide440.xml"/><Relationship Id="rId487" Type="http://schemas.openxmlformats.org/officeDocument/2006/relationships/slide" Target="slides/slide482.xml"/><Relationship Id="rId610" Type="http://schemas.openxmlformats.org/officeDocument/2006/relationships/presProps" Target="presProps.xml"/><Relationship Id="rId291" Type="http://schemas.openxmlformats.org/officeDocument/2006/relationships/slide" Target="slides/slide286.xml"/><Relationship Id="rId305" Type="http://schemas.openxmlformats.org/officeDocument/2006/relationships/slide" Target="slides/slide300.xml"/><Relationship Id="rId347" Type="http://schemas.openxmlformats.org/officeDocument/2006/relationships/slide" Target="slides/slide342.xml"/><Relationship Id="rId512" Type="http://schemas.openxmlformats.org/officeDocument/2006/relationships/slide" Target="slides/slide507.xml"/><Relationship Id="rId44" Type="http://schemas.openxmlformats.org/officeDocument/2006/relationships/slide" Target="slides/slide39.xml"/><Relationship Id="rId86" Type="http://schemas.openxmlformats.org/officeDocument/2006/relationships/slide" Target="slides/slide81.xml"/><Relationship Id="rId151" Type="http://schemas.openxmlformats.org/officeDocument/2006/relationships/slide" Target="slides/slide146.xml"/><Relationship Id="rId389" Type="http://schemas.openxmlformats.org/officeDocument/2006/relationships/slide" Target="slides/slide384.xml"/><Relationship Id="rId554" Type="http://schemas.openxmlformats.org/officeDocument/2006/relationships/slide" Target="slides/slide549.xml"/><Relationship Id="rId596" Type="http://schemas.openxmlformats.org/officeDocument/2006/relationships/slide" Target="slides/slide591.xml"/><Relationship Id="rId193" Type="http://schemas.openxmlformats.org/officeDocument/2006/relationships/slide" Target="slides/slide188.xml"/><Relationship Id="rId207" Type="http://schemas.openxmlformats.org/officeDocument/2006/relationships/slide" Target="slides/slide202.xml"/><Relationship Id="rId249" Type="http://schemas.openxmlformats.org/officeDocument/2006/relationships/slide" Target="slides/slide244.xml"/><Relationship Id="rId414" Type="http://schemas.openxmlformats.org/officeDocument/2006/relationships/slide" Target="slides/slide409.xml"/><Relationship Id="rId456" Type="http://schemas.openxmlformats.org/officeDocument/2006/relationships/slide" Target="slides/slide451.xml"/><Relationship Id="rId498" Type="http://schemas.openxmlformats.org/officeDocument/2006/relationships/slide" Target="slides/slide493.xml"/><Relationship Id="rId13" Type="http://schemas.openxmlformats.org/officeDocument/2006/relationships/slide" Target="slides/slide8.xml"/><Relationship Id="rId109" Type="http://schemas.openxmlformats.org/officeDocument/2006/relationships/slide" Target="slides/slide104.xml"/><Relationship Id="rId260" Type="http://schemas.openxmlformats.org/officeDocument/2006/relationships/slide" Target="slides/slide255.xml"/><Relationship Id="rId316" Type="http://schemas.openxmlformats.org/officeDocument/2006/relationships/slide" Target="slides/slide311.xml"/><Relationship Id="rId523" Type="http://schemas.openxmlformats.org/officeDocument/2006/relationships/slide" Target="slides/slide518.xml"/><Relationship Id="rId55" Type="http://schemas.openxmlformats.org/officeDocument/2006/relationships/slide" Target="slides/slide50.xml"/><Relationship Id="rId97" Type="http://schemas.openxmlformats.org/officeDocument/2006/relationships/slide" Target="slides/slide92.xml"/><Relationship Id="rId120" Type="http://schemas.openxmlformats.org/officeDocument/2006/relationships/slide" Target="slides/slide115.xml"/><Relationship Id="rId358" Type="http://schemas.openxmlformats.org/officeDocument/2006/relationships/slide" Target="slides/slide353.xml"/><Relationship Id="rId565" Type="http://schemas.openxmlformats.org/officeDocument/2006/relationships/slide" Target="slides/slide560.xml"/><Relationship Id="rId162" Type="http://schemas.openxmlformats.org/officeDocument/2006/relationships/slide" Target="slides/slide157.xml"/><Relationship Id="rId218" Type="http://schemas.openxmlformats.org/officeDocument/2006/relationships/slide" Target="slides/slide213.xml"/><Relationship Id="rId425" Type="http://schemas.openxmlformats.org/officeDocument/2006/relationships/slide" Target="slides/slide420.xml"/><Relationship Id="rId467" Type="http://schemas.openxmlformats.org/officeDocument/2006/relationships/slide" Target="slides/slide462.xml"/><Relationship Id="rId271" Type="http://schemas.openxmlformats.org/officeDocument/2006/relationships/slide" Target="slides/slide266.xml"/><Relationship Id="rId24" Type="http://schemas.openxmlformats.org/officeDocument/2006/relationships/slide" Target="slides/slide19.xml"/><Relationship Id="rId66" Type="http://schemas.openxmlformats.org/officeDocument/2006/relationships/slide" Target="slides/slide61.xml"/><Relationship Id="rId131" Type="http://schemas.openxmlformats.org/officeDocument/2006/relationships/slide" Target="slides/slide126.xml"/><Relationship Id="rId327" Type="http://schemas.openxmlformats.org/officeDocument/2006/relationships/slide" Target="slides/slide322.xml"/><Relationship Id="rId369" Type="http://schemas.openxmlformats.org/officeDocument/2006/relationships/slide" Target="slides/slide364.xml"/><Relationship Id="rId534" Type="http://schemas.openxmlformats.org/officeDocument/2006/relationships/slide" Target="slides/slide529.xml"/><Relationship Id="rId576" Type="http://schemas.openxmlformats.org/officeDocument/2006/relationships/slide" Target="slides/slide571.xml"/><Relationship Id="rId173" Type="http://schemas.openxmlformats.org/officeDocument/2006/relationships/slide" Target="slides/slide168.xml"/><Relationship Id="rId229" Type="http://schemas.openxmlformats.org/officeDocument/2006/relationships/slide" Target="slides/slide224.xml"/><Relationship Id="rId380" Type="http://schemas.openxmlformats.org/officeDocument/2006/relationships/slide" Target="slides/slide375.xml"/><Relationship Id="rId436" Type="http://schemas.openxmlformats.org/officeDocument/2006/relationships/slide" Target="slides/slide431.xml"/><Relationship Id="rId601" Type="http://schemas.openxmlformats.org/officeDocument/2006/relationships/slide" Target="slides/slide596.xml"/><Relationship Id="rId240" Type="http://schemas.openxmlformats.org/officeDocument/2006/relationships/slide" Target="slides/slide235.xml"/><Relationship Id="rId478" Type="http://schemas.openxmlformats.org/officeDocument/2006/relationships/slide" Target="slides/slide473.xml"/><Relationship Id="rId35" Type="http://schemas.openxmlformats.org/officeDocument/2006/relationships/slide" Target="slides/slide30.xml"/><Relationship Id="rId77" Type="http://schemas.openxmlformats.org/officeDocument/2006/relationships/slide" Target="slides/slide72.xml"/><Relationship Id="rId100" Type="http://schemas.openxmlformats.org/officeDocument/2006/relationships/slide" Target="slides/slide95.xml"/><Relationship Id="rId282" Type="http://schemas.openxmlformats.org/officeDocument/2006/relationships/slide" Target="slides/slide277.xml"/><Relationship Id="rId338" Type="http://schemas.openxmlformats.org/officeDocument/2006/relationships/slide" Target="slides/slide333.xml"/><Relationship Id="rId503" Type="http://schemas.openxmlformats.org/officeDocument/2006/relationships/slide" Target="slides/slide498.xml"/><Relationship Id="rId545" Type="http://schemas.openxmlformats.org/officeDocument/2006/relationships/slide" Target="slides/slide540.xml"/><Relationship Id="rId587" Type="http://schemas.openxmlformats.org/officeDocument/2006/relationships/slide" Target="slides/slide582.xml"/><Relationship Id="rId8" Type="http://schemas.openxmlformats.org/officeDocument/2006/relationships/slide" Target="slides/slide3.xml"/><Relationship Id="rId142" Type="http://schemas.openxmlformats.org/officeDocument/2006/relationships/slide" Target="slides/slide137.xml"/><Relationship Id="rId184" Type="http://schemas.openxmlformats.org/officeDocument/2006/relationships/slide" Target="slides/slide179.xml"/><Relationship Id="rId391" Type="http://schemas.openxmlformats.org/officeDocument/2006/relationships/slide" Target="slides/slide386.xml"/><Relationship Id="rId405" Type="http://schemas.openxmlformats.org/officeDocument/2006/relationships/slide" Target="slides/slide400.xml"/><Relationship Id="rId447" Type="http://schemas.openxmlformats.org/officeDocument/2006/relationships/slide" Target="slides/slide442.xml"/><Relationship Id="rId612" Type="http://schemas.openxmlformats.org/officeDocument/2006/relationships/theme" Target="theme/theme1.xml"/><Relationship Id="rId251" Type="http://schemas.openxmlformats.org/officeDocument/2006/relationships/slide" Target="slides/slide246.xml"/><Relationship Id="rId489" Type="http://schemas.openxmlformats.org/officeDocument/2006/relationships/slide" Target="slides/slide484.xml"/><Relationship Id="rId46" Type="http://schemas.openxmlformats.org/officeDocument/2006/relationships/slide" Target="slides/slide41.xml"/><Relationship Id="rId293" Type="http://schemas.openxmlformats.org/officeDocument/2006/relationships/slide" Target="slides/slide288.xml"/><Relationship Id="rId307" Type="http://schemas.openxmlformats.org/officeDocument/2006/relationships/slide" Target="slides/slide302.xml"/><Relationship Id="rId349" Type="http://schemas.openxmlformats.org/officeDocument/2006/relationships/slide" Target="slides/slide344.xml"/><Relationship Id="rId514" Type="http://schemas.openxmlformats.org/officeDocument/2006/relationships/slide" Target="slides/slide509.xml"/><Relationship Id="rId556" Type="http://schemas.openxmlformats.org/officeDocument/2006/relationships/slide" Target="slides/slide551.xml"/><Relationship Id="rId88" Type="http://schemas.openxmlformats.org/officeDocument/2006/relationships/slide" Target="slides/slide83.xml"/><Relationship Id="rId111" Type="http://schemas.openxmlformats.org/officeDocument/2006/relationships/slide" Target="slides/slide106.xml"/><Relationship Id="rId153" Type="http://schemas.openxmlformats.org/officeDocument/2006/relationships/slide" Target="slides/slide148.xml"/><Relationship Id="rId195" Type="http://schemas.openxmlformats.org/officeDocument/2006/relationships/slide" Target="slides/slide190.xml"/><Relationship Id="rId209" Type="http://schemas.openxmlformats.org/officeDocument/2006/relationships/slide" Target="slides/slide204.xml"/><Relationship Id="rId360" Type="http://schemas.openxmlformats.org/officeDocument/2006/relationships/slide" Target="slides/slide355.xml"/><Relationship Id="rId416" Type="http://schemas.openxmlformats.org/officeDocument/2006/relationships/slide" Target="slides/slide411.xml"/><Relationship Id="rId598" Type="http://schemas.openxmlformats.org/officeDocument/2006/relationships/slide" Target="slides/slide593.xml"/><Relationship Id="rId220" Type="http://schemas.openxmlformats.org/officeDocument/2006/relationships/slide" Target="slides/slide215.xml"/><Relationship Id="rId458" Type="http://schemas.openxmlformats.org/officeDocument/2006/relationships/slide" Target="slides/slide453.xml"/><Relationship Id="rId15" Type="http://schemas.openxmlformats.org/officeDocument/2006/relationships/slide" Target="slides/slide10.xml"/><Relationship Id="rId57" Type="http://schemas.openxmlformats.org/officeDocument/2006/relationships/slide" Target="slides/slide52.xml"/><Relationship Id="rId262" Type="http://schemas.openxmlformats.org/officeDocument/2006/relationships/slide" Target="slides/slide257.xml"/><Relationship Id="rId318" Type="http://schemas.openxmlformats.org/officeDocument/2006/relationships/slide" Target="slides/slide313.xml"/><Relationship Id="rId525" Type="http://schemas.openxmlformats.org/officeDocument/2006/relationships/slide" Target="slides/slide520.xml"/><Relationship Id="rId567" Type="http://schemas.openxmlformats.org/officeDocument/2006/relationships/slide" Target="slides/slide562.xml"/><Relationship Id="rId99" Type="http://schemas.openxmlformats.org/officeDocument/2006/relationships/slide" Target="slides/slide94.xml"/><Relationship Id="rId122" Type="http://schemas.openxmlformats.org/officeDocument/2006/relationships/slide" Target="slides/slide117.xml"/><Relationship Id="rId164" Type="http://schemas.openxmlformats.org/officeDocument/2006/relationships/slide" Target="slides/slide159.xml"/><Relationship Id="rId371" Type="http://schemas.openxmlformats.org/officeDocument/2006/relationships/slide" Target="slides/slide366.xml"/><Relationship Id="rId427" Type="http://schemas.openxmlformats.org/officeDocument/2006/relationships/slide" Target="slides/slide422.xml"/><Relationship Id="rId469" Type="http://schemas.openxmlformats.org/officeDocument/2006/relationships/slide" Target="slides/slide464.xml"/><Relationship Id="rId26" Type="http://schemas.openxmlformats.org/officeDocument/2006/relationships/slide" Target="slides/slide21.xml"/><Relationship Id="rId231" Type="http://schemas.openxmlformats.org/officeDocument/2006/relationships/slide" Target="slides/slide226.xml"/><Relationship Id="rId273" Type="http://schemas.openxmlformats.org/officeDocument/2006/relationships/slide" Target="slides/slide268.xml"/><Relationship Id="rId329" Type="http://schemas.openxmlformats.org/officeDocument/2006/relationships/slide" Target="slides/slide324.xml"/><Relationship Id="rId480" Type="http://schemas.openxmlformats.org/officeDocument/2006/relationships/slide" Target="slides/slide475.xml"/><Relationship Id="rId536" Type="http://schemas.openxmlformats.org/officeDocument/2006/relationships/slide" Target="slides/slide531.xml"/><Relationship Id="rId68" Type="http://schemas.openxmlformats.org/officeDocument/2006/relationships/slide" Target="slides/slide63.xml"/><Relationship Id="rId133" Type="http://schemas.openxmlformats.org/officeDocument/2006/relationships/slide" Target="slides/slide128.xml"/><Relationship Id="rId175" Type="http://schemas.openxmlformats.org/officeDocument/2006/relationships/slide" Target="slides/slide170.xml"/><Relationship Id="rId340" Type="http://schemas.openxmlformats.org/officeDocument/2006/relationships/slide" Target="slides/slide335.xml"/><Relationship Id="rId578" Type="http://schemas.openxmlformats.org/officeDocument/2006/relationships/slide" Target="slides/slide573.xml"/><Relationship Id="rId200" Type="http://schemas.openxmlformats.org/officeDocument/2006/relationships/slide" Target="slides/slide195.xml"/><Relationship Id="rId382" Type="http://schemas.openxmlformats.org/officeDocument/2006/relationships/slide" Target="slides/slide377.xml"/><Relationship Id="rId438" Type="http://schemas.openxmlformats.org/officeDocument/2006/relationships/slide" Target="slides/slide433.xml"/><Relationship Id="rId603" Type="http://schemas.openxmlformats.org/officeDocument/2006/relationships/slide" Target="slides/slide598.xml"/><Relationship Id="rId242" Type="http://schemas.openxmlformats.org/officeDocument/2006/relationships/slide" Target="slides/slide237.xml"/><Relationship Id="rId284" Type="http://schemas.openxmlformats.org/officeDocument/2006/relationships/slide" Target="slides/slide279.xml"/><Relationship Id="rId491" Type="http://schemas.openxmlformats.org/officeDocument/2006/relationships/slide" Target="slides/slide486.xml"/><Relationship Id="rId505" Type="http://schemas.openxmlformats.org/officeDocument/2006/relationships/slide" Target="slides/slide500.xml"/><Relationship Id="rId37" Type="http://schemas.openxmlformats.org/officeDocument/2006/relationships/slide" Target="slides/slide32.xml"/><Relationship Id="rId79" Type="http://schemas.openxmlformats.org/officeDocument/2006/relationships/slide" Target="slides/slide74.xml"/><Relationship Id="rId102" Type="http://schemas.openxmlformats.org/officeDocument/2006/relationships/slide" Target="slides/slide97.xml"/><Relationship Id="rId144" Type="http://schemas.openxmlformats.org/officeDocument/2006/relationships/slide" Target="slides/slide139.xml"/><Relationship Id="rId547" Type="http://schemas.openxmlformats.org/officeDocument/2006/relationships/slide" Target="slides/slide542.xml"/><Relationship Id="rId589" Type="http://schemas.openxmlformats.org/officeDocument/2006/relationships/slide" Target="slides/slide584.xml"/><Relationship Id="rId90" Type="http://schemas.openxmlformats.org/officeDocument/2006/relationships/slide" Target="slides/slide85.xml"/><Relationship Id="rId186" Type="http://schemas.openxmlformats.org/officeDocument/2006/relationships/slide" Target="slides/slide181.xml"/><Relationship Id="rId351" Type="http://schemas.openxmlformats.org/officeDocument/2006/relationships/slide" Target="slides/slide346.xml"/><Relationship Id="rId393" Type="http://schemas.openxmlformats.org/officeDocument/2006/relationships/slide" Target="slides/slide388.xml"/><Relationship Id="rId407" Type="http://schemas.openxmlformats.org/officeDocument/2006/relationships/slide" Target="slides/slide402.xml"/><Relationship Id="rId449" Type="http://schemas.openxmlformats.org/officeDocument/2006/relationships/slide" Target="slides/slide444.xml"/><Relationship Id="rId211" Type="http://schemas.openxmlformats.org/officeDocument/2006/relationships/slide" Target="slides/slide206.xml"/><Relationship Id="rId253" Type="http://schemas.openxmlformats.org/officeDocument/2006/relationships/slide" Target="slides/slide248.xml"/><Relationship Id="rId295" Type="http://schemas.openxmlformats.org/officeDocument/2006/relationships/slide" Target="slides/slide290.xml"/><Relationship Id="rId309" Type="http://schemas.openxmlformats.org/officeDocument/2006/relationships/slide" Target="slides/slide304.xml"/><Relationship Id="rId460" Type="http://schemas.openxmlformats.org/officeDocument/2006/relationships/slide" Target="slides/slide455.xml"/><Relationship Id="rId516" Type="http://schemas.openxmlformats.org/officeDocument/2006/relationships/slide" Target="slides/slide511.xml"/><Relationship Id="rId48" Type="http://schemas.openxmlformats.org/officeDocument/2006/relationships/slide" Target="slides/slide43.xml"/><Relationship Id="rId113" Type="http://schemas.openxmlformats.org/officeDocument/2006/relationships/slide" Target="slides/slide108.xml"/><Relationship Id="rId320" Type="http://schemas.openxmlformats.org/officeDocument/2006/relationships/slide" Target="slides/slide315.xml"/><Relationship Id="rId558" Type="http://schemas.openxmlformats.org/officeDocument/2006/relationships/slide" Target="slides/slide553.xml"/><Relationship Id="rId155" Type="http://schemas.openxmlformats.org/officeDocument/2006/relationships/slide" Target="slides/slide150.xml"/><Relationship Id="rId197" Type="http://schemas.openxmlformats.org/officeDocument/2006/relationships/slide" Target="slides/slide192.xml"/><Relationship Id="rId362" Type="http://schemas.openxmlformats.org/officeDocument/2006/relationships/slide" Target="slides/slide357.xml"/><Relationship Id="rId418" Type="http://schemas.openxmlformats.org/officeDocument/2006/relationships/slide" Target="slides/slide413.xml"/><Relationship Id="rId222" Type="http://schemas.openxmlformats.org/officeDocument/2006/relationships/slide" Target="slides/slide217.xml"/><Relationship Id="rId264" Type="http://schemas.openxmlformats.org/officeDocument/2006/relationships/slide" Target="slides/slide259.xml"/><Relationship Id="rId471" Type="http://schemas.openxmlformats.org/officeDocument/2006/relationships/slide" Target="slides/slide466.xml"/><Relationship Id="rId17" Type="http://schemas.openxmlformats.org/officeDocument/2006/relationships/slide" Target="slides/slide12.xml"/><Relationship Id="rId59" Type="http://schemas.openxmlformats.org/officeDocument/2006/relationships/slide" Target="slides/slide54.xml"/><Relationship Id="rId124" Type="http://schemas.openxmlformats.org/officeDocument/2006/relationships/slide" Target="slides/slide119.xml"/><Relationship Id="rId527" Type="http://schemas.openxmlformats.org/officeDocument/2006/relationships/slide" Target="slides/slide522.xml"/><Relationship Id="rId569" Type="http://schemas.openxmlformats.org/officeDocument/2006/relationships/slide" Target="slides/slide564.xml"/><Relationship Id="rId70" Type="http://schemas.openxmlformats.org/officeDocument/2006/relationships/slide" Target="slides/slide65.xml"/><Relationship Id="rId166" Type="http://schemas.openxmlformats.org/officeDocument/2006/relationships/slide" Target="slides/slide161.xml"/><Relationship Id="rId331" Type="http://schemas.openxmlformats.org/officeDocument/2006/relationships/slide" Target="slides/slide326.xml"/><Relationship Id="rId373" Type="http://schemas.openxmlformats.org/officeDocument/2006/relationships/slide" Target="slides/slide368.xml"/><Relationship Id="rId429" Type="http://schemas.openxmlformats.org/officeDocument/2006/relationships/slide" Target="slides/slide424.xml"/><Relationship Id="rId580" Type="http://schemas.openxmlformats.org/officeDocument/2006/relationships/slide" Target="slides/slide575.xml"/><Relationship Id="rId1" Type="http://schemas.openxmlformats.org/officeDocument/2006/relationships/customXml" Target="../customXml/item1.xml"/><Relationship Id="rId233" Type="http://schemas.openxmlformats.org/officeDocument/2006/relationships/slide" Target="slides/slide228.xml"/><Relationship Id="rId440" Type="http://schemas.openxmlformats.org/officeDocument/2006/relationships/slide" Target="slides/slide435.xml"/><Relationship Id="rId28" Type="http://schemas.openxmlformats.org/officeDocument/2006/relationships/slide" Target="slides/slide23.xml"/><Relationship Id="rId275" Type="http://schemas.openxmlformats.org/officeDocument/2006/relationships/slide" Target="slides/slide270.xml"/><Relationship Id="rId300" Type="http://schemas.openxmlformats.org/officeDocument/2006/relationships/slide" Target="slides/slide295.xml"/><Relationship Id="rId482" Type="http://schemas.openxmlformats.org/officeDocument/2006/relationships/slide" Target="slides/slide477.xml"/><Relationship Id="rId538" Type="http://schemas.openxmlformats.org/officeDocument/2006/relationships/slide" Target="slides/slide533.xml"/><Relationship Id="rId81" Type="http://schemas.openxmlformats.org/officeDocument/2006/relationships/slide" Target="slides/slide76.xml"/><Relationship Id="rId135" Type="http://schemas.openxmlformats.org/officeDocument/2006/relationships/slide" Target="slides/slide130.xml"/><Relationship Id="rId177" Type="http://schemas.openxmlformats.org/officeDocument/2006/relationships/slide" Target="slides/slide172.xml"/><Relationship Id="rId342" Type="http://schemas.openxmlformats.org/officeDocument/2006/relationships/slide" Target="slides/slide337.xml"/><Relationship Id="rId384" Type="http://schemas.openxmlformats.org/officeDocument/2006/relationships/slide" Target="slides/slide379.xml"/><Relationship Id="rId591" Type="http://schemas.openxmlformats.org/officeDocument/2006/relationships/slide" Target="slides/slide586.xml"/><Relationship Id="rId605" Type="http://schemas.openxmlformats.org/officeDocument/2006/relationships/slide" Target="slides/slide600.xml"/><Relationship Id="rId202" Type="http://schemas.openxmlformats.org/officeDocument/2006/relationships/slide" Target="slides/slide197.xml"/><Relationship Id="rId244" Type="http://schemas.openxmlformats.org/officeDocument/2006/relationships/slide" Target="slides/slide239.xml"/><Relationship Id="rId39" Type="http://schemas.openxmlformats.org/officeDocument/2006/relationships/slide" Target="slides/slide34.xml"/><Relationship Id="rId286" Type="http://schemas.openxmlformats.org/officeDocument/2006/relationships/slide" Target="slides/slide281.xml"/><Relationship Id="rId451" Type="http://schemas.openxmlformats.org/officeDocument/2006/relationships/slide" Target="slides/slide446.xml"/><Relationship Id="rId493" Type="http://schemas.openxmlformats.org/officeDocument/2006/relationships/slide" Target="slides/slide488.xml"/><Relationship Id="rId507" Type="http://schemas.openxmlformats.org/officeDocument/2006/relationships/slide" Target="slides/slide502.xml"/><Relationship Id="rId549" Type="http://schemas.openxmlformats.org/officeDocument/2006/relationships/slide" Target="slides/slide544.xml"/><Relationship Id="rId50" Type="http://schemas.openxmlformats.org/officeDocument/2006/relationships/slide" Target="slides/slide45.xml"/><Relationship Id="rId104" Type="http://schemas.openxmlformats.org/officeDocument/2006/relationships/slide" Target="slides/slide99.xml"/><Relationship Id="rId146" Type="http://schemas.openxmlformats.org/officeDocument/2006/relationships/slide" Target="slides/slide141.xml"/><Relationship Id="rId188" Type="http://schemas.openxmlformats.org/officeDocument/2006/relationships/slide" Target="slides/slide183.xml"/><Relationship Id="rId311" Type="http://schemas.openxmlformats.org/officeDocument/2006/relationships/slide" Target="slides/slide306.xml"/><Relationship Id="rId353" Type="http://schemas.openxmlformats.org/officeDocument/2006/relationships/slide" Target="slides/slide348.xml"/><Relationship Id="rId395" Type="http://schemas.openxmlformats.org/officeDocument/2006/relationships/slide" Target="slides/slide390.xml"/><Relationship Id="rId409" Type="http://schemas.openxmlformats.org/officeDocument/2006/relationships/slide" Target="slides/slide404.xml"/><Relationship Id="rId560" Type="http://schemas.openxmlformats.org/officeDocument/2006/relationships/slide" Target="slides/slide555.xml"/><Relationship Id="rId92" Type="http://schemas.openxmlformats.org/officeDocument/2006/relationships/slide" Target="slides/slide87.xml"/><Relationship Id="rId213" Type="http://schemas.openxmlformats.org/officeDocument/2006/relationships/slide" Target="slides/slide208.xml"/><Relationship Id="rId420" Type="http://schemas.openxmlformats.org/officeDocument/2006/relationships/slide" Target="slides/slide415.xml"/><Relationship Id="rId255" Type="http://schemas.openxmlformats.org/officeDocument/2006/relationships/slide" Target="slides/slide250.xml"/><Relationship Id="rId297" Type="http://schemas.openxmlformats.org/officeDocument/2006/relationships/slide" Target="slides/slide292.xml"/><Relationship Id="rId462" Type="http://schemas.openxmlformats.org/officeDocument/2006/relationships/slide" Target="slides/slide457.xml"/><Relationship Id="rId518" Type="http://schemas.openxmlformats.org/officeDocument/2006/relationships/slide" Target="slides/slide513.xml"/><Relationship Id="rId115" Type="http://schemas.openxmlformats.org/officeDocument/2006/relationships/slide" Target="slides/slide110.xml"/><Relationship Id="rId157" Type="http://schemas.openxmlformats.org/officeDocument/2006/relationships/slide" Target="slides/slide152.xml"/><Relationship Id="rId322" Type="http://schemas.openxmlformats.org/officeDocument/2006/relationships/slide" Target="slides/slide317.xml"/><Relationship Id="rId364" Type="http://schemas.openxmlformats.org/officeDocument/2006/relationships/slide" Target="slides/slide359.xml"/><Relationship Id="rId61" Type="http://schemas.openxmlformats.org/officeDocument/2006/relationships/slide" Target="slides/slide56.xml"/><Relationship Id="rId199" Type="http://schemas.openxmlformats.org/officeDocument/2006/relationships/slide" Target="slides/slide194.xml"/><Relationship Id="rId571" Type="http://schemas.openxmlformats.org/officeDocument/2006/relationships/slide" Target="slides/slide566.xml"/><Relationship Id="rId19" Type="http://schemas.openxmlformats.org/officeDocument/2006/relationships/slide" Target="slides/slide14.xml"/><Relationship Id="rId224" Type="http://schemas.openxmlformats.org/officeDocument/2006/relationships/slide" Target="slides/slide219.xml"/><Relationship Id="rId266" Type="http://schemas.openxmlformats.org/officeDocument/2006/relationships/slide" Target="slides/slide261.xml"/><Relationship Id="rId431" Type="http://schemas.openxmlformats.org/officeDocument/2006/relationships/slide" Target="slides/slide426.xml"/><Relationship Id="rId473" Type="http://schemas.openxmlformats.org/officeDocument/2006/relationships/slide" Target="slides/slide468.xml"/><Relationship Id="rId529" Type="http://schemas.openxmlformats.org/officeDocument/2006/relationships/slide" Target="slides/slide524.xml"/><Relationship Id="rId30" Type="http://schemas.openxmlformats.org/officeDocument/2006/relationships/slide" Target="slides/slide25.xml"/><Relationship Id="rId126" Type="http://schemas.openxmlformats.org/officeDocument/2006/relationships/slide" Target="slides/slide121.xml"/><Relationship Id="rId168" Type="http://schemas.openxmlformats.org/officeDocument/2006/relationships/slide" Target="slides/slide163.xml"/><Relationship Id="rId333" Type="http://schemas.openxmlformats.org/officeDocument/2006/relationships/slide" Target="slides/slide328.xml"/><Relationship Id="rId540" Type="http://schemas.openxmlformats.org/officeDocument/2006/relationships/slide" Target="slides/slide535.xml"/><Relationship Id="rId72" Type="http://schemas.openxmlformats.org/officeDocument/2006/relationships/slide" Target="slides/slide67.xml"/><Relationship Id="rId375" Type="http://schemas.openxmlformats.org/officeDocument/2006/relationships/slide" Target="slides/slide370.xml"/><Relationship Id="rId582" Type="http://schemas.openxmlformats.org/officeDocument/2006/relationships/slide" Target="slides/slide577.xml"/><Relationship Id="rId3" Type="http://schemas.openxmlformats.org/officeDocument/2006/relationships/customXml" Target="../customXml/item3.xml"/><Relationship Id="rId235" Type="http://schemas.openxmlformats.org/officeDocument/2006/relationships/slide" Target="slides/slide230.xml"/><Relationship Id="rId277" Type="http://schemas.openxmlformats.org/officeDocument/2006/relationships/slide" Target="slides/slide272.xml"/><Relationship Id="rId400" Type="http://schemas.openxmlformats.org/officeDocument/2006/relationships/slide" Target="slides/slide395.xml"/><Relationship Id="rId442" Type="http://schemas.openxmlformats.org/officeDocument/2006/relationships/slide" Target="slides/slide437.xml"/><Relationship Id="rId484" Type="http://schemas.openxmlformats.org/officeDocument/2006/relationships/slide" Target="slides/slide479.xml"/><Relationship Id="rId137" Type="http://schemas.openxmlformats.org/officeDocument/2006/relationships/slide" Target="slides/slide132.xml"/><Relationship Id="rId302" Type="http://schemas.openxmlformats.org/officeDocument/2006/relationships/slide" Target="slides/slide297.xml"/><Relationship Id="rId344" Type="http://schemas.openxmlformats.org/officeDocument/2006/relationships/slide" Target="slides/slide339.xml"/><Relationship Id="rId41" Type="http://schemas.openxmlformats.org/officeDocument/2006/relationships/slide" Target="slides/slide36.xml"/><Relationship Id="rId83" Type="http://schemas.openxmlformats.org/officeDocument/2006/relationships/slide" Target="slides/slide78.xml"/><Relationship Id="rId179" Type="http://schemas.openxmlformats.org/officeDocument/2006/relationships/slide" Target="slides/slide174.xml"/><Relationship Id="rId386" Type="http://schemas.openxmlformats.org/officeDocument/2006/relationships/slide" Target="slides/slide381.xml"/><Relationship Id="rId551" Type="http://schemas.openxmlformats.org/officeDocument/2006/relationships/slide" Target="slides/slide546.xml"/><Relationship Id="rId593" Type="http://schemas.openxmlformats.org/officeDocument/2006/relationships/slide" Target="slides/slide588.xml"/><Relationship Id="rId607" Type="http://schemas.openxmlformats.org/officeDocument/2006/relationships/notesMaster" Target="notesMasters/notesMaster1.xml"/><Relationship Id="rId190" Type="http://schemas.openxmlformats.org/officeDocument/2006/relationships/slide" Target="slides/slide185.xml"/><Relationship Id="rId204" Type="http://schemas.openxmlformats.org/officeDocument/2006/relationships/slide" Target="slides/slide199.xml"/><Relationship Id="rId246" Type="http://schemas.openxmlformats.org/officeDocument/2006/relationships/slide" Target="slides/slide241.xml"/><Relationship Id="rId288" Type="http://schemas.openxmlformats.org/officeDocument/2006/relationships/slide" Target="slides/slide283.xml"/><Relationship Id="rId411" Type="http://schemas.openxmlformats.org/officeDocument/2006/relationships/slide" Target="slides/slide406.xml"/><Relationship Id="rId453" Type="http://schemas.openxmlformats.org/officeDocument/2006/relationships/slide" Target="slides/slide448.xml"/><Relationship Id="rId509" Type="http://schemas.openxmlformats.org/officeDocument/2006/relationships/slide" Target="slides/slide504.xml"/><Relationship Id="rId106" Type="http://schemas.openxmlformats.org/officeDocument/2006/relationships/slide" Target="slides/slide101.xml"/><Relationship Id="rId313" Type="http://schemas.openxmlformats.org/officeDocument/2006/relationships/slide" Target="slides/slide308.xml"/><Relationship Id="rId495" Type="http://schemas.openxmlformats.org/officeDocument/2006/relationships/slide" Target="slides/slide490.xml"/><Relationship Id="rId10" Type="http://schemas.openxmlformats.org/officeDocument/2006/relationships/slide" Target="slides/slide5.xml"/><Relationship Id="rId52" Type="http://schemas.openxmlformats.org/officeDocument/2006/relationships/slide" Target="slides/slide47.xml"/><Relationship Id="rId94" Type="http://schemas.openxmlformats.org/officeDocument/2006/relationships/slide" Target="slides/slide89.xml"/><Relationship Id="rId148" Type="http://schemas.openxmlformats.org/officeDocument/2006/relationships/slide" Target="slides/slide143.xml"/><Relationship Id="rId355" Type="http://schemas.openxmlformats.org/officeDocument/2006/relationships/slide" Target="slides/slide350.xml"/><Relationship Id="rId397" Type="http://schemas.openxmlformats.org/officeDocument/2006/relationships/slide" Target="slides/slide392.xml"/><Relationship Id="rId520" Type="http://schemas.openxmlformats.org/officeDocument/2006/relationships/slide" Target="slides/slide515.xml"/><Relationship Id="rId562" Type="http://schemas.openxmlformats.org/officeDocument/2006/relationships/slide" Target="slides/slide557.xml"/><Relationship Id="rId215" Type="http://schemas.openxmlformats.org/officeDocument/2006/relationships/slide" Target="slides/slide210.xml"/><Relationship Id="rId257" Type="http://schemas.openxmlformats.org/officeDocument/2006/relationships/slide" Target="slides/slide252.xml"/><Relationship Id="rId422" Type="http://schemas.openxmlformats.org/officeDocument/2006/relationships/slide" Target="slides/slide417.xml"/><Relationship Id="rId464" Type="http://schemas.openxmlformats.org/officeDocument/2006/relationships/slide" Target="slides/slide459.xml"/><Relationship Id="rId299" Type="http://schemas.openxmlformats.org/officeDocument/2006/relationships/slide" Target="slides/slide294.xml"/><Relationship Id="rId63" Type="http://schemas.openxmlformats.org/officeDocument/2006/relationships/slide" Target="slides/slide58.xml"/><Relationship Id="rId159" Type="http://schemas.openxmlformats.org/officeDocument/2006/relationships/slide" Target="slides/slide154.xml"/><Relationship Id="rId366" Type="http://schemas.openxmlformats.org/officeDocument/2006/relationships/slide" Target="slides/slide361.xml"/><Relationship Id="rId573" Type="http://schemas.openxmlformats.org/officeDocument/2006/relationships/slide" Target="slides/slide568.xml"/><Relationship Id="rId226" Type="http://schemas.openxmlformats.org/officeDocument/2006/relationships/slide" Target="slides/slide221.xml"/><Relationship Id="rId433" Type="http://schemas.openxmlformats.org/officeDocument/2006/relationships/slide" Target="slides/slide428.xml"/><Relationship Id="rId74" Type="http://schemas.openxmlformats.org/officeDocument/2006/relationships/slide" Target="slides/slide69.xml"/><Relationship Id="rId377" Type="http://schemas.openxmlformats.org/officeDocument/2006/relationships/slide" Target="slides/slide372.xml"/><Relationship Id="rId500" Type="http://schemas.openxmlformats.org/officeDocument/2006/relationships/slide" Target="slides/slide495.xml"/><Relationship Id="rId584" Type="http://schemas.openxmlformats.org/officeDocument/2006/relationships/slide" Target="slides/slide579.xml"/><Relationship Id="rId5" Type="http://schemas.openxmlformats.org/officeDocument/2006/relationships/slideMaster" Target="slideMasters/slideMaster2.xml"/><Relationship Id="rId237" Type="http://schemas.openxmlformats.org/officeDocument/2006/relationships/slide" Target="slides/slide232.xml"/><Relationship Id="rId444" Type="http://schemas.openxmlformats.org/officeDocument/2006/relationships/slide" Target="slides/slide439.xml"/><Relationship Id="rId290" Type="http://schemas.openxmlformats.org/officeDocument/2006/relationships/slide" Target="slides/slide285.xml"/><Relationship Id="rId304" Type="http://schemas.openxmlformats.org/officeDocument/2006/relationships/slide" Target="slides/slide299.xml"/><Relationship Id="rId388" Type="http://schemas.openxmlformats.org/officeDocument/2006/relationships/slide" Target="slides/slide383.xml"/><Relationship Id="rId511" Type="http://schemas.openxmlformats.org/officeDocument/2006/relationships/slide" Target="slides/slide506.xml"/><Relationship Id="rId609" Type="http://schemas.openxmlformats.org/officeDocument/2006/relationships/commentAuthors" Target="commentAuthors.xml"/><Relationship Id="rId85" Type="http://schemas.openxmlformats.org/officeDocument/2006/relationships/slide" Target="slides/slide80.xml"/><Relationship Id="rId150" Type="http://schemas.openxmlformats.org/officeDocument/2006/relationships/slide" Target="slides/slide145.xml"/><Relationship Id="rId595" Type="http://schemas.openxmlformats.org/officeDocument/2006/relationships/slide" Target="slides/slide590.xml"/><Relationship Id="rId248" Type="http://schemas.openxmlformats.org/officeDocument/2006/relationships/slide" Target="slides/slide243.xml"/><Relationship Id="rId455" Type="http://schemas.openxmlformats.org/officeDocument/2006/relationships/slide" Target="slides/slide450.xml"/><Relationship Id="rId12" Type="http://schemas.openxmlformats.org/officeDocument/2006/relationships/slide" Target="slides/slide7.xml"/><Relationship Id="rId108" Type="http://schemas.openxmlformats.org/officeDocument/2006/relationships/slide" Target="slides/slide103.xml"/><Relationship Id="rId315" Type="http://schemas.openxmlformats.org/officeDocument/2006/relationships/slide" Target="slides/slide310.xml"/><Relationship Id="rId522" Type="http://schemas.openxmlformats.org/officeDocument/2006/relationships/slide" Target="slides/slide517.xml"/><Relationship Id="rId96" Type="http://schemas.openxmlformats.org/officeDocument/2006/relationships/slide" Target="slides/slide91.xml"/><Relationship Id="rId161" Type="http://schemas.openxmlformats.org/officeDocument/2006/relationships/slide" Target="slides/slide156.xml"/><Relationship Id="rId399" Type="http://schemas.openxmlformats.org/officeDocument/2006/relationships/slide" Target="slides/slide394.xml"/><Relationship Id="rId259" Type="http://schemas.openxmlformats.org/officeDocument/2006/relationships/slide" Target="slides/slide254.xml"/><Relationship Id="rId466" Type="http://schemas.openxmlformats.org/officeDocument/2006/relationships/slide" Target="slides/slide461.xml"/><Relationship Id="rId23" Type="http://schemas.openxmlformats.org/officeDocument/2006/relationships/slide" Target="slides/slide18.xml"/><Relationship Id="rId119" Type="http://schemas.openxmlformats.org/officeDocument/2006/relationships/slide" Target="slides/slide114.xml"/><Relationship Id="rId326" Type="http://schemas.openxmlformats.org/officeDocument/2006/relationships/slide" Target="slides/slide321.xml"/><Relationship Id="rId533" Type="http://schemas.openxmlformats.org/officeDocument/2006/relationships/slide" Target="slides/slide528.xml"/><Relationship Id="rId172" Type="http://schemas.openxmlformats.org/officeDocument/2006/relationships/slide" Target="slides/slide167.xml"/><Relationship Id="rId477" Type="http://schemas.openxmlformats.org/officeDocument/2006/relationships/slide" Target="slides/slide472.xml"/><Relationship Id="rId600" Type="http://schemas.openxmlformats.org/officeDocument/2006/relationships/slide" Target="slides/slide595.xml"/><Relationship Id="rId337" Type="http://schemas.openxmlformats.org/officeDocument/2006/relationships/slide" Target="slides/slide332.xml"/><Relationship Id="rId34" Type="http://schemas.openxmlformats.org/officeDocument/2006/relationships/slide" Target="slides/slide29.xml"/><Relationship Id="rId544" Type="http://schemas.openxmlformats.org/officeDocument/2006/relationships/slide" Target="slides/slide539.xml"/><Relationship Id="rId183" Type="http://schemas.openxmlformats.org/officeDocument/2006/relationships/slide" Target="slides/slide178.xml"/><Relationship Id="rId390" Type="http://schemas.openxmlformats.org/officeDocument/2006/relationships/slide" Target="slides/slide385.xml"/><Relationship Id="rId404" Type="http://schemas.openxmlformats.org/officeDocument/2006/relationships/slide" Target="slides/slide399.xml"/><Relationship Id="rId611" Type="http://schemas.openxmlformats.org/officeDocument/2006/relationships/viewProps" Target="viewProps.xml"/><Relationship Id="rId250" Type="http://schemas.openxmlformats.org/officeDocument/2006/relationships/slide" Target="slides/slide245.xml"/><Relationship Id="rId488" Type="http://schemas.openxmlformats.org/officeDocument/2006/relationships/slide" Target="slides/slide483.xml"/><Relationship Id="rId45" Type="http://schemas.openxmlformats.org/officeDocument/2006/relationships/slide" Target="slides/slide40.xml"/><Relationship Id="rId110" Type="http://schemas.openxmlformats.org/officeDocument/2006/relationships/slide" Target="slides/slide105.xml"/><Relationship Id="rId348" Type="http://schemas.openxmlformats.org/officeDocument/2006/relationships/slide" Target="slides/slide343.xml"/><Relationship Id="rId555" Type="http://schemas.openxmlformats.org/officeDocument/2006/relationships/slide" Target="slides/slide550.xml"/><Relationship Id="rId194" Type="http://schemas.openxmlformats.org/officeDocument/2006/relationships/slide" Target="slides/slide189.xml"/><Relationship Id="rId208" Type="http://schemas.openxmlformats.org/officeDocument/2006/relationships/slide" Target="slides/slide203.xml"/><Relationship Id="rId415" Type="http://schemas.openxmlformats.org/officeDocument/2006/relationships/slide" Target="slides/slide410.xml"/><Relationship Id="rId261" Type="http://schemas.openxmlformats.org/officeDocument/2006/relationships/slide" Target="slides/slide256.xml"/><Relationship Id="rId499" Type="http://schemas.openxmlformats.org/officeDocument/2006/relationships/slide" Target="slides/slide494.xml"/><Relationship Id="rId56" Type="http://schemas.openxmlformats.org/officeDocument/2006/relationships/slide" Target="slides/slide51.xml"/><Relationship Id="rId359" Type="http://schemas.openxmlformats.org/officeDocument/2006/relationships/slide" Target="slides/slide354.xml"/><Relationship Id="rId566" Type="http://schemas.openxmlformats.org/officeDocument/2006/relationships/slide" Target="slides/slide561.xml"/><Relationship Id="rId121" Type="http://schemas.openxmlformats.org/officeDocument/2006/relationships/slide" Target="slides/slide116.xml"/><Relationship Id="rId219" Type="http://schemas.openxmlformats.org/officeDocument/2006/relationships/slide" Target="slides/slide214.xml"/><Relationship Id="rId426" Type="http://schemas.openxmlformats.org/officeDocument/2006/relationships/slide" Target="slides/slide42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9EAAF34-71F8-6342-832E-C583FEB3FB2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A700CEA-93F0-3648-8636-3ECA00800B2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2887149-AF03-6142-908A-3DD284EAF54B}" type="datetimeFigureOut">
              <a:rPr lang="en-US" smtClean="0"/>
              <a:t>6/27/21</a:t>
            </a:fld>
            <a:endParaRPr lang="en-US"/>
          </a:p>
        </p:txBody>
      </p:sp>
      <p:sp>
        <p:nvSpPr>
          <p:cNvPr id="4" name="Footer Placeholder 3">
            <a:extLst>
              <a:ext uri="{FF2B5EF4-FFF2-40B4-BE49-F238E27FC236}">
                <a16:creationId xmlns:a16="http://schemas.microsoft.com/office/drawing/2014/main" id="{15D72482-B212-B34F-AAFC-10B8C8EF77A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F0B9C6E-4611-5A44-8B47-37FCE89DEBF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71AC043-34FA-4C46-BDAD-AE3E2DBAD1A4}" type="slidenum">
              <a:rPr lang="en-US" smtClean="0"/>
              <a:t>‹#›</a:t>
            </a:fld>
            <a:endParaRPr lang="en-US"/>
          </a:p>
        </p:txBody>
      </p:sp>
    </p:spTree>
    <p:extLst>
      <p:ext uri="{BB962C8B-B14F-4D97-AF65-F5344CB8AC3E}">
        <p14:creationId xmlns:p14="http://schemas.microsoft.com/office/powerpoint/2010/main" val="246364606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b="0" i="0">
                <a:latin typeface="Amazon Ember Regular" charset="0"/>
              </a:defRPr>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b="0" i="0">
                <a:latin typeface="Amazon Ember Regular" charset="0"/>
              </a:defRPr>
            </a:lvl1pPr>
          </a:lstStyle>
          <a:p>
            <a:fld id="{0B25AC41-3BEC-9247-8322-91B80C013F2D}" type="datetimeFigureOut">
              <a:rPr lang="en-US" smtClean="0"/>
              <a:pPr/>
              <a:t>6/27/21</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b="0" i="0">
                <a:latin typeface="Amazon Ember Regular" charset="0"/>
              </a:defRPr>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b="0" i="0">
                <a:latin typeface="Amazon Ember Regular" charset="0"/>
              </a:defRPr>
            </a:lvl1pPr>
          </a:lstStyle>
          <a:p>
            <a:fld id="{69C3F2ED-74C5-7D4F-8560-0CC253E9A436}" type="slidenum">
              <a:rPr lang="en-US" smtClean="0"/>
              <a:pPr/>
              <a:t>‹#›</a:t>
            </a:fld>
            <a:endParaRPr lang="en-US" dirty="0"/>
          </a:p>
        </p:txBody>
      </p:sp>
    </p:spTree>
    <p:extLst>
      <p:ext uri="{BB962C8B-B14F-4D97-AF65-F5344CB8AC3E}">
        <p14:creationId xmlns:p14="http://schemas.microsoft.com/office/powerpoint/2010/main" val="943536003"/>
      </p:ext>
    </p:extLst>
  </p:cSld>
  <p:clrMap bg1="lt1" tx1="dk1" bg2="lt2" tx2="dk2" accent1="accent1" accent2="accent2" accent3="accent3" accent4="accent4" accent5="accent5" accent6="accent6" hlink="hlink" folHlink="folHlink"/>
  <p:notesStyle>
    <a:lvl1pPr marL="0" algn="l" defTabSz="731520" rtl="0" eaLnBrk="1" latinLnBrk="0" hangingPunct="1">
      <a:defRPr sz="1920" b="0" i="0" kern="1200">
        <a:solidFill>
          <a:schemeClr val="tx1"/>
        </a:solidFill>
        <a:latin typeface="Amazon Ember Regular" charset="0"/>
        <a:ea typeface="+mn-ea"/>
        <a:cs typeface="+mn-cs"/>
      </a:defRPr>
    </a:lvl1pPr>
    <a:lvl2pPr marL="731520" algn="l" defTabSz="731520" rtl="0" eaLnBrk="1" latinLnBrk="0" hangingPunct="1">
      <a:defRPr sz="1920" b="0" i="0" kern="1200">
        <a:solidFill>
          <a:schemeClr val="tx1"/>
        </a:solidFill>
        <a:latin typeface="Amazon Ember Regular" charset="0"/>
        <a:ea typeface="+mn-ea"/>
        <a:cs typeface="+mn-cs"/>
      </a:defRPr>
    </a:lvl2pPr>
    <a:lvl3pPr marL="1463040" algn="l" defTabSz="731520" rtl="0" eaLnBrk="1" latinLnBrk="0" hangingPunct="1">
      <a:defRPr sz="1920" b="0" i="0" kern="1200">
        <a:solidFill>
          <a:schemeClr val="tx1"/>
        </a:solidFill>
        <a:latin typeface="Amazon Ember Regular" charset="0"/>
        <a:ea typeface="+mn-ea"/>
        <a:cs typeface="+mn-cs"/>
      </a:defRPr>
    </a:lvl3pPr>
    <a:lvl4pPr marL="2194560" algn="l" defTabSz="731520" rtl="0" eaLnBrk="1" latinLnBrk="0" hangingPunct="1">
      <a:defRPr sz="1920" b="0" i="0" kern="1200">
        <a:solidFill>
          <a:schemeClr val="tx1"/>
        </a:solidFill>
        <a:latin typeface="Amazon Ember Regular" charset="0"/>
        <a:ea typeface="+mn-ea"/>
        <a:cs typeface="+mn-cs"/>
      </a:defRPr>
    </a:lvl4pPr>
    <a:lvl5pPr marL="2926080" algn="l" defTabSz="731520" rtl="0" eaLnBrk="1" latinLnBrk="0" hangingPunct="1">
      <a:defRPr sz="1920" b="0" i="0" kern="1200">
        <a:solidFill>
          <a:schemeClr val="tx1"/>
        </a:solidFill>
        <a:latin typeface="Amazon Ember Regular" charset="0"/>
        <a:ea typeface="+mn-ea"/>
        <a:cs typeface="+mn-cs"/>
      </a:defRPr>
    </a:lvl5pPr>
    <a:lvl6pPr marL="3657600" algn="l" defTabSz="731520" rtl="0" eaLnBrk="1" latinLnBrk="0" hangingPunct="1">
      <a:defRPr sz="1920" kern="1200">
        <a:solidFill>
          <a:schemeClr val="tx1"/>
        </a:solidFill>
        <a:latin typeface="+mn-lt"/>
        <a:ea typeface="+mn-ea"/>
        <a:cs typeface="+mn-cs"/>
      </a:defRPr>
    </a:lvl6pPr>
    <a:lvl7pPr marL="4389120" algn="l" defTabSz="731520" rtl="0" eaLnBrk="1" latinLnBrk="0" hangingPunct="1">
      <a:defRPr sz="1920" kern="1200">
        <a:solidFill>
          <a:schemeClr val="tx1"/>
        </a:solidFill>
        <a:latin typeface="+mn-lt"/>
        <a:ea typeface="+mn-ea"/>
        <a:cs typeface="+mn-cs"/>
      </a:defRPr>
    </a:lvl7pPr>
    <a:lvl8pPr marL="5120640" algn="l" defTabSz="731520" rtl="0" eaLnBrk="1" latinLnBrk="0" hangingPunct="1">
      <a:defRPr sz="1920" kern="1200">
        <a:solidFill>
          <a:schemeClr val="tx1"/>
        </a:solidFill>
        <a:latin typeface="+mn-lt"/>
        <a:ea typeface="+mn-ea"/>
        <a:cs typeface="+mn-cs"/>
      </a:defRPr>
    </a:lvl8pPr>
    <a:lvl9pPr marL="5852160" algn="l" defTabSz="731520" rtl="0" eaLnBrk="1" latinLnBrk="0" hangingPunct="1">
      <a:defRPr sz="192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9C3F2ED-74C5-7D4F-8560-0CC253E9A436}" type="slidenum">
              <a:rPr lang="en-US" smtClean="0"/>
              <a:pPr/>
              <a:t>1</a:t>
            </a:fld>
            <a:endParaRPr lang="en-US" dirty="0"/>
          </a:p>
        </p:txBody>
      </p:sp>
    </p:spTree>
    <p:extLst>
      <p:ext uri="{BB962C8B-B14F-4D97-AF65-F5344CB8AC3E}">
        <p14:creationId xmlns:p14="http://schemas.microsoft.com/office/powerpoint/2010/main" val="7732934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2200" dirty="0">
                <a:effectLst/>
                <a:latin typeface="Helvetica Neue"/>
                <a:ea typeface="Helvetica Neue"/>
                <a:cs typeface="Helvetica Neue"/>
                <a:sym typeface="Helvetica Neue"/>
              </a:rPr>
              <a:t>Insert next o Jeremy </a:t>
            </a:r>
            <a:r>
              <a:rPr lang="en-US" sz="2200" dirty="0" err="1">
                <a:effectLst/>
                <a:latin typeface="Helvetica Neue"/>
                <a:ea typeface="Helvetica Neue"/>
                <a:cs typeface="Helvetica Neue"/>
                <a:sym typeface="Helvetica Neue"/>
              </a:rPr>
              <a:t>Thalen</a:t>
            </a:r>
            <a:r>
              <a:rPr lang="en-US" sz="2200" baseline="0" dirty="0">
                <a:effectLst/>
                <a:latin typeface="Helvetica Neue"/>
                <a:ea typeface="Helvetica Neue"/>
                <a:cs typeface="Helvetica Neue"/>
                <a:sym typeface="Helvetica Neue"/>
              </a:rPr>
              <a:t> Masada – Custom Billing Analyst</a:t>
            </a:r>
            <a:endParaRPr lang="en-US" sz="2200" dirty="0">
              <a:effectLst/>
              <a:latin typeface="Helvetica Neue"/>
              <a:ea typeface="Helvetica Neue"/>
              <a:cs typeface="Helvetica Neue"/>
              <a:sym typeface="Helvetica Neue"/>
            </a:endParaRPr>
          </a:p>
          <a:p>
            <a:pPr marL="0" marR="0" lvl="0" indent="0" defTabSz="457200" eaLnBrk="1" fontAlgn="auto" latinLnBrk="0" hangingPunct="1">
              <a:lnSpc>
                <a:spcPct val="117999"/>
              </a:lnSpc>
              <a:spcBef>
                <a:spcPts val="0"/>
              </a:spcBef>
              <a:spcAft>
                <a:spcPts val="0"/>
              </a:spcAft>
              <a:buClrTx/>
              <a:buSzTx/>
              <a:buFontTx/>
              <a:buNone/>
              <a:tabLst/>
              <a:defRPr/>
            </a:pPr>
            <a:br>
              <a:rPr lang="en-US" dirty="0"/>
            </a:br>
            <a:endParaRPr lang="en-US" dirty="0"/>
          </a:p>
        </p:txBody>
      </p:sp>
    </p:spTree>
    <p:extLst>
      <p:ext uri="{BB962C8B-B14F-4D97-AF65-F5344CB8AC3E}">
        <p14:creationId xmlns:p14="http://schemas.microsoft.com/office/powerpoint/2010/main" val="37535168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indent="-342900">
              <a:buFont typeface="Arial" panose="020B0604020202020204" pitchFamily="34" charset="0"/>
              <a:buChar char="•"/>
            </a:pPr>
            <a:r>
              <a:rPr lang="en-US" dirty="0"/>
              <a:t>AMI will not appear in </a:t>
            </a:r>
            <a:r>
              <a:rPr lang="en-US" dirty="0" err="1"/>
              <a:t>DescribeImages</a:t>
            </a:r>
            <a:r>
              <a:rPr lang="en-US" dirty="0"/>
              <a:t> API calls</a:t>
            </a:r>
          </a:p>
        </p:txBody>
      </p:sp>
      <p:sp>
        <p:nvSpPr>
          <p:cNvPr id="4" name="Slide Number Placeholder 3"/>
          <p:cNvSpPr>
            <a:spLocks noGrp="1"/>
          </p:cNvSpPr>
          <p:nvPr>
            <p:ph type="sldNum" sz="quarter" idx="5"/>
          </p:nvPr>
        </p:nvSpPr>
        <p:spPr/>
        <p:txBody>
          <a:bodyPr/>
          <a:lstStyle/>
          <a:p>
            <a:fld id="{69C3F2ED-74C5-7D4F-8560-0CC253E9A436}" type="slidenum">
              <a:rPr lang="en-US" smtClean="0"/>
              <a:pPr/>
              <a:t>7</a:t>
            </a:fld>
            <a:endParaRPr lang="en-US" dirty="0"/>
          </a:p>
        </p:txBody>
      </p:sp>
    </p:spTree>
    <p:extLst>
      <p:ext uri="{BB962C8B-B14F-4D97-AF65-F5344CB8AC3E}">
        <p14:creationId xmlns:p14="http://schemas.microsoft.com/office/powerpoint/2010/main" val="21854195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indent="-342900">
              <a:buFont typeface="Arial" panose="020B0604020202020204" pitchFamily="34" charset="0"/>
              <a:buChar char="•"/>
            </a:pPr>
            <a:r>
              <a:rPr lang="en-US" dirty="0"/>
              <a:t>Launched pre-configured clusters on demand</a:t>
            </a:r>
          </a:p>
          <a:p>
            <a:pPr marL="342900" indent="-34290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69C3F2ED-74C5-7D4F-8560-0CC253E9A436}" type="slidenum">
              <a:rPr lang="en-US" smtClean="0"/>
              <a:pPr/>
              <a:t>26</a:t>
            </a:fld>
            <a:endParaRPr lang="en-US" dirty="0"/>
          </a:p>
        </p:txBody>
      </p:sp>
    </p:spTree>
    <p:extLst>
      <p:ext uri="{BB962C8B-B14F-4D97-AF65-F5344CB8AC3E}">
        <p14:creationId xmlns:p14="http://schemas.microsoft.com/office/powerpoint/2010/main" val="261182365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_Title_OneSpeaker">
    <p:bg>
      <p:bgRef idx="1001">
        <a:schemeClr val="bg2"/>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2BB242C-E142-0A43-9F1E-0928D9F8BACE}"/>
              </a:ext>
            </a:extLst>
          </p:cNvPr>
          <p:cNvPicPr>
            <a:picLocks noChangeAspect="1"/>
          </p:cNvPicPr>
          <p:nvPr userDrawn="1"/>
        </p:nvPicPr>
        <p:blipFill rotWithShape="1">
          <a:blip r:embed="rId2"/>
          <a:srcRect l="15935" r="10110"/>
          <a:stretch/>
        </p:blipFill>
        <p:spPr>
          <a:xfrm>
            <a:off x="-1" y="0"/>
            <a:ext cx="14630402" cy="8229600"/>
          </a:xfrm>
          <a:prstGeom prst="rect">
            <a:avLst/>
          </a:prstGeom>
        </p:spPr>
      </p:pic>
      <p:sp>
        <p:nvSpPr>
          <p:cNvPr id="6" name="Text Placeholder 11"/>
          <p:cNvSpPr>
            <a:spLocks noGrp="1"/>
          </p:cNvSpPr>
          <p:nvPr>
            <p:ph type="body" sz="quarter" idx="10" hasCustomPrompt="1"/>
          </p:nvPr>
        </p:nvSpPr>
        <p:spPr>
          <a:xfrm>
            <a:off x="548640" y="5950356"/>
            <a:ext cx="5892800" cy="996597"/>
          </a:xfrm>
          <a:prstGeom prst="rect">
            <a:avLst/>
          </a:prstGeom>
        </p:spPr>
        <p:txBody>
          <a:bodyPr>
            <a:normAutofit/>
          </a:bodyPr>
          <a:lstStyle>
            <a:lvl1pPr marL="0" indent="0" algn="l">
              <a:buNone/>
              <a:defRPr sz="2600" baseline="0"/>
            </a:lvl1pPr>
          </a:lstStyle>
          <a:p>
            <a:pPr lvl="0"/>
            <a:r>
              <a:rPr lang="en-US" dirty="0"/>
              <a:t>Click to edit Presenter, Team</a:t>
            </a:r>
          </a:p>
          <a:p>
            <a:pPr lvl="0"/>
            <a:r>
              <a:rPr lang="en-US" dirty="0"/>
              <a:t>Date, location</a:t>
            </a:r>
          </a:p>
        </p:txBody>
      </p:sp>
      <p:sp>
        <p:nvSpPr>
          <p:cNvPr id="10" name="Text Placeholder 8"/>
          <p:cNvSpPr>
            <a:spLocks noGrp="1"/>
          </p:cNvSpPr>
          <p:nvPr>
            <p:ph type="body" sz="quarter" idx="12" hasCustomPrompt="1"/>
          </p:nvPr>
        </p:nvSpPr>
        <p:spPr>
          <a:xfrm>
            <a:off x="548640" y="3053166"/>
            <a:ext cx="11719981" cy="1191259"/>
          </a:xfrm>
          <a:prstGeom prst="rect">
            <a:avLst/>
          </a:prstGeom>
        </p:spPr>
        <p:txBody>
          <a:bodyPr>
            <a:noAutofit/>
          </a:bodyPr>
          <a:lstStyle>
            <a:lvl1pPr marL="0" indent="0" algn="l">
              <a:buNone/>
              <a:defRPr sz="6400" b="1" baseline="0"/>
            </a:lvl1pPr>
          </a:lstStyle>
          <a:p>
            <a:pPr lvl="0"/>
            <a:r>
              <a:rPr lang="en-US" dirty="0"/>
              <a:t>Click to edit Master title style</a:t>
            </a:r>
          </a:p>
        </p:txBody>
      </p:sp>
      <p:sp>
        <p:nvSpPr>
          <p:cNvPr id="12" name="Text Placeholder 11"/>
          <p:cNvSpPr>
            <a:spLocks noGrp="1"/>
          </p:cNvSpPr>
          <p:nvPr>
            <p:ph type="body" sz="quarter" idx="13" hasCustomPrompt="1"/>
          </p:nvPr>
        </p:nvSpPr>
        <p:spPr>
          <a:xfrm>
            <a:off x="548640" y="4253721"/>
            <a:ext cx="9666531" cy="1231243"/>
          </a:xfrm>
          <a:prstGeom prst="rect">
            <a:avLst/>
          </a:prstGeom>
        </p:spPr>
        <p:txBody>
          <a:bodyPr/>
          <a:lstStyle>
            <a:lvl1pPr marL="0" indent="0" algn="l">
              <a:buNone/>
              <a:defRPr sz="2900"/>
            </a:lvl1pPr>
          </a:lstStyle>
          <a:p>
            <a:pPr lvl="0"/>
            <a:r>
              <a:rPr lang="en-US" dirty="0"/>
              <a:t>Click to edit Master text styles</a:t>
            </a:r>
          </a:p>
          <a:p>
            <a:pPr lvl="0"/>
            <a:r>
              <a:rPr lang="en-US" dirty="0"/>
              <a:t>Social handle</a:t>
            </a:r>
          </a:p>
        </p:txBody>
      </p:sp>
      <p:pic>
        <p:nvPicPr>
          <p:cNvPr id="9" name="Picture 8"/>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48640" y="731520"/>
            <a:ext cx="1357299" cy="811459"/>
          </a:xfrm>
          <a:prstGeom prst="rect">
            <a:avLst/>
          </a:prstGeom>
        </p:spPr>
      </p:pic>
      <p:sp>
        <p:nvSpPr>
          <p:cNvPr id="7" name="TextBox 6">
            <a:extLst>
              <a:ext uri="{FF2B5EF4-FFF2-40B4-BE49-F238E27FC236}">
                <a16:creationId xmlns:a16="http://schemas.microsoft.com/office/drawing/2014/main" id="{8FA84D03-8133-8347-8776-300EBD9F8B8C}"/>
              </a:ext>
            </a:extLst>
          </p:cNvPr>
          <p:cNvSpPr txBox="1"/>
          <p:nvPr userDrawn="1"/>
        </p:nvSpPr>
        <p:spPr>
          <a:xfrm>
            <a:off x="538863" y="7683901"/>
            <a:ext cx="7115490" cy="172355"/>
          </a:xfrm>
          <a:prstGeom prst="rect">
            <a:avLst/>
          </a:prstGeom>
          <a:noFill/>
        </p:spPr>
        <p:txBody>
          <a:bodyPr wrap="square" lIns="0" tIns="0" rIns="0" bIns="0" rtlCol="0">
            <a:spAutoFit/>
          </a:bodyPr>
          <a:lstStyle/>
          <a:p>
            <a:pPr marL="0" marR="0" indent="0" algn="l" defTabSz="731520" rtl="0" eaLnBrk="1" fontAlgn="auto" latinLnBrk="0" hangingPunct="1">
              <a:lnSpc>
                <a:spcPct val="100000"/>
              </a:lnSpc>
              <a:spcBef>
                <a:spcPts val="0"/>
              </a:spcBef>
              <a:spcAft>
                <a:spcPts val="0"/>
              </a:spcAft>
              <a:buClrTx/>
              <a:buSzTx/>
              <a:buFontTx/>
              <a:buNone/>
              <a:tabLst/>
              <a:defRPr/>
            </a:pPr>
            <a:r>
              <a:rPr lang="en-US" sz="1120" b="0" i="0" dirty="0">
                <a:solidFill>
                  <a:schemeClr val="tx1">
                    <a:lumMod val="50000"/>
                  </a:schemeClr>
                </a:solidFill>
                <a:latin typeface="Amazon Ember" panose="020B0603020204020204" pitchFamily="34" charset="0"/>
                <a:ea typeface="Amazon Ember" panose="020B0603020204020204" pitchFamily="34" charset="0"/>
                <a:cs typeface="Amazon Ember" panose="020B0603020204020204" pitchFamily="34" charset="0"/>
              </a:rPr>
              <a:t>© 2020, Amazon Web Services, Inc. or its Affiliates. </a:t>
            </a:r>
          </a:p>
        </p:txBody>
      </p:sp>
    </p:spTree>
    <p:extLst>
      <p:ext uri="{BB962C8B-B14F-4D97-AF65-F5344CB8AC3E}">
        <p14:creationId xmlns:p14="http://schemas.microsoft.com/office/powerpoint/2010/main" val="341213090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_TwoSpeakers">
    <p:bg>
      <p:bgRef idx="1001">
        <a:schemeClr val="bg2"/>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2BB242C-E142-0A43-9F1E-0928D9F8BACE}"/>
              </a:ext>
            </a:extLst>
          </p:cNvPr>
          <p:cNvPicPr>
            <a:picLocks noChangeAspect="1"/>
          </p:cNvPicPr>
          <p:nvPr userDrawn="1"/>
        </p:nvPicPr>
        <p:blipFill rotWithShape="1">
          <a:blip r:embed="rId2"/>
          <a:srcRect l="15935" r="10110"/>
          <a:stretch/>
        </p:blipFill>
        <p:spPr>
          <a:xfrm>
            <a:off x="-1" y="0"/>
            <a:ext cx="14630402" cy="8229600"/>
          </a:xfrm>
          <a:prstGeom prst="rect">
            <a:avLst/>
          </a:prstGeom>
        </p:spPr>
      </p:pic>
      <p:sp>
        <p:nvSpPr>
          <p:cNvPr id="6" name="Text Placeholder 11"/>
          <p:cNvSpPr>
            <a:spLocks noGrp="1"/>
          </p:cNvSpPr>
          <p:nvPr>
            <p:ph type="body" sz="quarter" idx="10" hasCustomPrompt="1"/>
          </p:nvPr>
        </p:nvSpPr>
        <p:spPr>
          <a:xfrm>
            <a:off x="548640" y="5950356"/>
            <a:ext cx="5892800" cy="996597"/>
          </a:xfrm>
          <a:prstGeom prst="rect">
            <a:avLst/>
          </a:prstGeom>
        </p:spPr>
        <p:txBody>
          <a:bodyPr>
            <a:normAutofit/>
          </a:bodyPr>
          <a:lstStyle>
            <a:lvl1pPr marL="0" indent="0" algn="l">
              <a:buNone/>
              <a:defRPr sz="2600" baseline="0"/>
            </a:lvl1pPr>
          </a:lstStyle>
          <a:p>
            <a:pPr lvl="0"/>
            <a:r>
              <a:rPr lang="en-US" dirty="0"/>
              <a:t>Click to edit Presenter, Team</a:t>
            </a:r>
          </a:p>
          <a:p>
            <a:pPr lvl="0"/>
            <a:r>
              <a:rPr lang="en-US" dirty="0"/>
              <a:t>Date, location</a:t>
            </a:r>
          </a:p>
        </p:txBody>
      </p:sp>
      <p:sp>
        <p:nvSpPr>
          <p:cNvPr id="10" name="Text Placeholder 8"/>
          <p:cNvSpPr>
            <a:spLocks noGrp="1"/>
          </p:cNvSpPr>
          <p:nvPr>
            <p:ph type="body" sz="quarter" idx="12" hasCustomPrompt="1"/>
          </p:nvPr>
        </p:nvSpPr>
        <p:spPr>
          <a:xfrm>
            <a:off x="548640" y="3053166"/>
            <a:ext cx="11719981" cy="1191259"/>
          </a:xfrm>
          <a:prstGeom prst="rect">
            <a:avLst/>
          </a:prstGeom>
        </p:spPr>
        <p:txBody>
          <a:bodyPr>
            <a:noAutofit/>
          </a:bodyPr>
          <a:lstStyle>
            <a:lvl1pPr marL="0" indent="0" algn="l">
              <a:buNone/>
              <a:defRPr sz="6400" b="1" baseline="0"/>
            </a:lvl1pPr>
          </a:lstStyle>
          <a:p>
            <a:pPr lvl="0"/>
            <a:r>
              <a:rPr lang="en-US" dirty="0"/>
              <a:t>Click to edit Master title style</a:t>
            </a:r>
          </a:p>
        </p:txBody>
      </p:sp>
      <p:sp>
        <p:nvSpPr>
          <p:cNvPr id="12" name="Text Placeholder 11"/>
          <p:cNvSpPr>
            <a:spLocks noGrp="1"/>
          </p:cNvSpPr>
          <p:nvPr>
            <p:ph type="body" sz="quarter" idx="13" hasCustomPrompt="1"/>
          </p:nvPr>
        </p:nvSpPr>
        <p:spPr>
          <a:xfrm>
            <a:off x="548640" y="4253721"/>
            <a:ext cx="9666531" cy="1231243"/>
          </a:xfrm>
          <a:prstGeom prst="rect">
            <a:avLst/>
          </a:prstGeom>
        </p:spPr>
        <p:txBody>
          <a:bodyPr/>
          <a:lstStyle>
            <a:lvl1pPr marL="0" indent="0" algn="l">
              <a:buNone/>
              <a:defRPr sz="2900"/>
            </a:lvl1pPr>
          </a:lstStyle>
          <a:p>
            <a:pPr lvl="0"/>
            <a:r>
              <a:rPr lang="en-US" dirty="0"/>
              <a:t>Click to edit Master text styles</a:t>
            </a:r>
          </a:p>
          <a:p>
            <a:pPr lvl="0"/>
            <a:r>
              <a:rPr lang="en-US" dirty="0"/>
              <a:t>Social handle</a:t>
            </a:r>
          </a:p>
        </p:txBody>
      </p:sp>
      <p:pic>
        <p:nvPicPr>
          <p:cNvPr id="9" name="Picture 8"/>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48640" y="731520"/>
            <a:ext cx="1357299" cy="811459"/>
          </a:xfrm>
          <a:prstGeom prst="rect">
            <a:avLst/>
          </a:prstGeom>
        </p:spPr>
      </p:pic>
      <p:sp>
        <p:nvSpPr>
          <p:cNvPr id="8" name="TextBox 7">
            <a:extLst>
              <a:ext uri="{FF2B5EF4-FFF2-40B4-BE49-F238E27FC236}">
                <a16:creationId xmlns:a16="http://schemas.microsoft.com/office/drawing/2014/main" id="{F9D47D4A-FB0D-BE48-ADF8-B8DECA8916C1}"/>
              </a:ext>
            </a:extLst>
          </p:cNvPr>
          <p:cNvSpPr txBox="1"/>
          <p:nvPr userDrawn="1"/>
        </p:nvSpPr>
        <p:spPr>
          <a:xfrm>
            <a:off x="538863" y="7683901"/>
            <a:ext cx="7115490" cy="172355"/>
          </a:xfrm>
          <a:prstGeom prst="rect">
            <a:avLst/>
          </a:prstGeom>
          <a:noFill/>
        </p:spPr>
        <p:txBody>
          <a:bodyPr wrap="square" lIns="0" tIns="0" rIns="0" bIns="0" rtlCol="0">
            <a:spAutoFit/>
          </a:bodyPr>
          <a:lstStyle/>
          <a:p>
            <a:pPr marL="0" marR="0" indent="0" algn="l" defTabSz="731520" rtl="0" eaLnBrk="1" fontAlgn="auto" latinLnBrk="0" hangingPunct="1">
              <a:lnSpc>
                <a:spcPct val="100000"/>
              </a:lnSpc>
              <a:spcBef>
                <a:spcPts val="0"/>
              </a:spcBef>
              <a:spcAft>
                <a:spcPts val="0"/>
              </a:spcAft>
              <a:buClrTx/>
              <a:buSzTx/>
              <a:buFontTx/>
              <a:buNone/>
              <a:tabLst/>
              <a:defRPr/>
            </a:pPr>
            <a:r>
              <a:rPr lang="en-US" sz="1120" b="0" i="0" dirty="0">
                <a:solidFill>
                  <a:schemeClr val="tx1">
                    <a:lumMod val="50000"/>
                  </a:schemeClr>
                </a:solidFill>
                <a:latin typeface="Amazon Ember" panose="020B0603020204020204" pitchFamily="34" charset="0"/>
                <a:ea typeface="Amazon Ember" panose="020B0603020204020204" pitchFamily="34" charset="0"/>
                <a:cs typeface="Amazon Ember" panose="020B0603020204020204" pitchFamily="34" charset="0"/>
              </a:rPr>
              <a:t>© 2020, Amazon Web Services, Inc. or its Affiliates. </a:t>
            </a:r>
          </a:p>
        </p:txBody>
      </p:sp>
    </p:spTree>
    <p:extLst>
      <p:ext uri="{BB962C8B-B14F-4D97-AF65-F5344CB8AC3E}">
        <p14:creationId xmlns:p14="http://schemas.microsoft.com/office/powerpoint/2010/main" val="200531436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able_of_Contents">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720CA0-5CE7-1A4B-ACE6-C7A15B82CC8C}"/>
              </a:ext>
            </a:extLst>
          </p:cNvPr>
          <p:cNvSpPr>
            <a:spLocks noGrp="1"/>
          </p:cNvSpPr>
          <p:nvPr>
            <p:ph type="title"/>
          </p:nvPr>
        </p:nvSpPr>
        <p:spPr>
          <a:xfrm>
            <a:off x="548640" y="183898"/>
            <a:ext cx="13510260" cy="993392"/>
          </a:xfrm>
        </p:spPr>
        <p:txBody>
          <a:bodyPr/>
          <a:lstStyle/>
          <a:p>
            <a:r>
              <a:rPr lang="en-US" dirty="0"/>
              <a:t>Click to edit Master title style</a:t>
            </a:r>
          </a:p>
        </p:txBody>
      </p:sp>
      <p:sp>
        <p:nvSpPr>
          <p:cNvPr id="5" name="Text Placeholder 4">
            <a:extLst>
              <a:ext uri="{FF2B5EF4-FFF2-40B4-BE49-F238E27FC236}">
                <a16:creationId xmlns:a16="http://schemas.microsoft.com/office/drawing/2014/main" id="{F7710D4E-8635-D746-9FE7-1EE20F49E45F}"/>
              </a:ext>
            </a:extLst>
          </p:cNvPr>
          <p:cNvSpPr>
            <a:spLocks noGrp="1"/>
          </p:cNvSpPr>
          <p:nvPr>
            <p:ph type="body" sz="quarter" idx="10"/>
          </p:nvPr>
        </p:nvSpPr>
        <p:spPr>
          <a:xfrm>
            <a:off x="548640" y="1645920"/>
            <a:ext cx="13510260" cy="4686301"/>
          </a:xfrm>
          <a:prstGeom prst="rect">
            <a:avLst/>
          </a:prstGeom>
        </p:spPr>
        <p:txBody>
          <a:bodyPr/>
          <a:lstStyle>
            <a:lvl5pPr>
              <a:defRPr sz="19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493486515"/>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ivider_Slide_and_Subtitle">
    <p:bg>
      <p:bgRef idx="1001">
        <a:schemeClr val="bg2"/>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B4A737D-052C-C84E-A767-DC5456E4AA50}"/>
              </a:ext>
            </a:extLst>
          </p:cNvPr>
          <p:cNvPicPr>
            <a:picLocks noChangeAspect="1"/>
          </p:cNvPicPr>
          <p:nvPr userDrawn="1"/>
        </p:nvPicPr>
        <p:blipFill rotWithShape="1">
          <a:blip r:embed="rId2"/>
          <a:srcRect l="3434"/>
          <a:stretch/>
        </p:blipFill>
        <p:spPr>
          <a:xfrm>
            <a:off x="0" y="0"/>
            <a:ext cx="14630400" cy="8229600"/>
          </a:xfrm>
          <a:prstGeom prst="rect">
            <a:avLst/>
          </a:prstGeom>
          <a:ln>
            <a:solidFill>
              <a:schemeClr val="accent4"/>
            </a:solidFill>
          </a:ln>
        </p:spPr>
      </p:pic>
      <p:sp>
        <p:nvSpPr>
          <p:cNvPr id="2" name="Title 1"/>
          <p:cNvSpPr>
            <a:spLocks noGrp="1"/>
          </p:cNvSpPr>
          <p:nvPr>
            <p:ph type="title"/>
          </p:nvPr>
        </p:nvSpPr>
        <p:spPr>
          <a:xfrm>
            <a:off x="548640" y="3108960"/>
            <a:ext cx="12435840" cy="1488168"/>
          </a:xfrm>
        </p:spPr>
        <p:txBody>
          <a:bodyPr anchor="ctr">
            <a:noAutofit/>
          </a:bodyPr>
          <a:lstStyle>
            <a:lvl1pPr algn="l">
              <a:defRPr sz="6400" b="1" cap="none">
                <a:solidFill>
                  <a:schemeClr val="tx1"/>
                </a:solidFill>
              </a:defRPr>
            </a:lvl1pPr>
          </a:lstStyle>
          <a:p>
            <a:r>
              <a:rPr lang="en-US" dirty="0"/>
              <a:t>Click to edit Master title style</a:t>
            </a:r>
          </a:p>
        </p:txBody>
      </p:sp>
      <p:pic>
        <p:nvPicPr>
          <p:cNvPr id="5" name="Picture 4">
            <a:extLst>
              <a:ext uri="{FF2B5EF4-FFF2-40B4-BE49-F238E27FC236}">
                <a16:creationId xmlns:a16="http://schemas.microsoft.com/office/drawing/2014/main" id="{A82B5894-DCBD-3A4E-BD40-DCA1D16A4B4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3349519" y="7531058"/>
            <a:ext cx="709381" cy="424102"/>
          </a:xfrm>
          <a:prstGeom prst="rect">
            <a:avLst/>
          </a:prstGeom>
        </p:spPr>
      </p:pic>
      <p:sp>
        <p:nvSpPr>
          <p:cNvPr id="7" name="Text Placeholder 6">
            <a:extLst>
              <a:ext uri="{FF2B5EF4-FFF2-40B4-BE49-F238E27FC236}">
                <a16:creationId xmlns:a16="http://schemas.microsoft.com/office/drawing/2014/main" id="{A9C2E74A-1C76-BA45-B688-EBC1722762EA}"/>
              </a:ext>
            </a:extLst>
          </p:cNvPr>
          <p:cNvSpPr>
            <a:spLocks noGrp="1"/>
          </p:cNvSpPr>
          <p:nvPr>
            <p:ph type="body" sz="quarter" idx="10"/>
          </p:nvPr>
        </p:nvSpPr>
        <p:spPr>
          <a:xfrm>
            <a:off x="548640" y="4752341"/>
            <a:ext cx="8219440" cy="783078"/>
          </a:xfrm>
          <a:prstGeom prst="rect">
            <a:avLst/>
          </a:prstGeom>
        </p:spPr>
        <p:txBody>
          <a:bodyPr/>
          <a:lstStyle>
            <a:lvl1pPr>
              <a:defRPr sz="2900"/>
            </a:lvl1pPr>
            <a:lvl2pPr marL="731520" indent="0">
              <a:buNone/>
              <a:defRPr/>
            </a:lvl2pPr>
          </a:lstStyle>
          <a:p>
            <a:pPr lvl="0"/>
            <a:r>
              <a:rPr lang="en-US" dirty="0"/>
              <a:t>Edit Master text styles</a:t>
            </a:r>
          </a:p>
        </p:txBody>
      </p:sp>
    </p:spTree>
    <p:extLst>
      <p:ext uri="{BB962C8B-B14F-4D97-AF65-F5344CB8AC3E}">
        <p14:creationId xmlns:p14="http://schemas.microsoft.com/office/powerpoint/2010/main" val="2124837561"/>
      </p:ext>
    </p:extLst>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vider_Slide">
    <p:bg>
      <p:bgRef idx="1001">
        <a:schemeClr val="bg2"/>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B4A737D-052C-C84E-A767-DC5456E4AA50}"/>
              </a:ext>
            </a:extLst>
          </p:cNvPr>
          <p:cNvPicPr>
            <a:picLocks noChangeAspect="1"/>
          </p:cNvPicPr>
          <p:nvPr userDrawn="1"/>
        </p:nvPicPr>
        <p:blipFill rotWithShape="1">
          <a:blip r:embed="rId2"/>
          <a:srcRect l="3434"/>
          <a:stretch/>
        </p:blipFill>
        <p:spPr>
          <a:xfrm>
            <a:off x="0" y="0"/>
            <a:ext cx="14630400" cy="8229600"/>
          </a:xfrm>
          <a:prstGeom prst="rect">
            <a:avLst/>
          </a:prstGeom>
          <a:ln>
            <a:solidFill>
              <a:schemeClr val="accent4"/>
            </a:solidFill>
          </a:ln>
        </p:spPr>
      </p:pic>
      <p:sp>
        <p:nvSpPr>
          <p:cNvPr id="2" name="Title 1"/>
          <p:cNvSpPr>
            <a:spLocks noGrp="1"/>
          </p:cNvSpPr>
          <p:nvPr>
            <p:ph type="title"/>
          </p:nvPr>
        </p:nvSpPr>
        <p:spPr>
          <a:xfrm>
            <a:off x="548640" y="3108960"/>
            <a:ext cx="12435840" cy="1488168"/>
          </a:xfrm>
        </p:spPr>
        <p:txBody>
          <a:bodyPr anchor="ctr">
            <a:noAutofit/>
          </a:bodyPr>
          <a:lstStyle>
            <a:lvl1pPr algn="l">
              <a:defRPr sz="6400" b="1" cap="none">
                <a:solidFill>
                  <a:schemeClr val="tx1"/>
                </a:solidFill>
              </a:defRPr>
            </a:lvl1pPr>
          </a:lstStyle>
          <a:p>
            <a:r>
              <a:rPr lang="en-US" dirty="0"/>
              <a:t>Click to edit Master title style</a:t>
            </a:r>
          </a:p>
        </p:txBody>
      </p:sp>
      <p:pic>
        <p:nvPicPr>
          <p:cNvPr id="6" name="Picture 5">
            <a:extLst>
              <a:ext uri="{FF2B5EF4-FFF2-40B4-BE49-F238E27FC236}">
                <a16:creationId xmlns:a16="http://schemas.microsoft.com/office/drawing/2014/main" id="{8A2B94E5-EC77-5143-891C-94FF7C49B89B}"/>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3349519" y="7531058"/>
            <a:ext cx="709381" cy="424102"/>
          </a:xfrm>
          <a:prstGeom prst="rect">
            <a:avLst/>
          </a:prstGeom>
        </p:spPr>
      </p:pic>
    </p:spTree>
    <p:extLst>
      <p:ext uri="{BB962C8B-B14F-4D97-AF65-F5344CB8AC3E}">
        <p14:creationId xmlns:p14="http://schemas.microsoft.com/office/powerpoint/2010/main" val="4029020389"/>
      </p:ext>
    </p:extLst>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Divider_Slide_SquidInk">
    <p:bg>
      <p:bgRef idx="1001">
        <a:schemeClr val="bg2"/>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61DB510E-163A-A649-85E1-F07635A2E3BD}"/>
              </a:ext>
            </a:extLst>
          </p:cNvPr>
          <p:cNvPicPr>
            <a:picLocks noChangeAspect="1"/>
          </p:cNvPicPr>
          <p:nvPr userDrawn="1"/>
        </p:nvPicPr>
        <p:blipFill rotWithShape="1">
          <a:blip r:embed="rId2"/>
          <a:srcRect l="17935" r="18573"/>
          <a:stretch/>
        </p:blipFill>
        <p:spPr>
          <a:xfrm>
            <a:off x="2" y="0"/>
            <a:ext cx="14630400" cy="8229600"/>
          </a:xfrm>
          <a:prstGeom prst="rect">
            <a:avLst/>
          </a:prstGeom>
        </p:spPr>
      </p:pic>
      <p:sp>
        <p:nvSpPr>
          <p:cNvPr id="2" name="Title 1"/>
          <p:cNvSpPr>
            <a:spLocks noGrp="1"/>
          </p:cNvSpPr>
          <p:nvPr>
            <p:ph type="title"/>
          </p:nvPr>
        </p:nvSpPr>
        <p:spPr>
          <a:xfrm>
            <a:off x="548640" y="3108960"/>
            <a:ext cx="12435840" cy="1488168"/>
          </a:xfrm>
        </p:spPr>
        <p:txBody>
          <a:bodyPr anchor="ctr">
            <a:noAutofit/>
          </a:bodyPr>
          <a:lstStyle>
            <a:lvl1pPr algn="l">
              <a:defRPr sz="6400" b="1" cap="none">
                <a:solidFill>
                  <a:schemeClr val="tx1"/>
                </a:solidFill>
              </a:defRPr>
            </a:lvl1pPr>
          </a:lstStyle>
          <a:p>
            <a:r>
              <a:rPr lang="en-US" dirty="0"/>
              <a:t>Click to edit Master title style</a:t>
            </a:r>
          </a:p>
        </p:txBody>
      </p:sp>
      <p:pic>
        <p:nvPicPr>
          <p:cNvPr id="5" name="Picture 4">
            <a:extLst>
              <a:ext uri="{FF2B5EF4-FFF2-40B4-BE49-F238E27FC236}">
                <a16:creationId xmlns:a16="http://schemas.microsoft.com/office/drawing/2014/main" id="{A82B5894-DCBD-3A4E-BD40-DCA1D16A4B4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3349519" y="7531058"/>
            <a:ext cx="709381" cy="424102"/>
          </a:xfrm>
          <a:prstGeom prst="rect">
            <a:avLst/>
          </a:prstGeom>
        </p:spPr>
      </p:pic>
      <p:sp>
        <p:nvSpPr>
          <p:cNvPr id="9" name="TextBox 8">
            <a:extLst>
              <a:ext uri="{FF2B5EF4-FFF2-40B4-BE49-F238E27FC236}">
                <a16:creationId xmlns:a16="http://schemas.microsoft.com/office/drawing/2014/main" id="{A7A5C8A9-88F8-344F-882F-87878685B257}"/>
              </a:ext>
            </a:extLst>
          </p:cNvPr>
          <p:cNvSpPr txBox="1"/>
          <p:nvPr userDrawn="1"/>
        </p:nvSpPr>
        <p:spPr>
          <a:xfrm>
            <a:off x="538863" y="7683901"/>
            <a:ext cx="7115490" cy="172355"/>
          </a:xfrm>
          <a:prstGeom prst="rect">
            <a:avLst/>
          </a:prstGeom>
          <a:noFill/>
        </p:spPr>
        <p:txBody>
          <a:bodyPr wrap="square" lIns="0" tIns="0" rIns="0" bIns="0" rtlCol="0">
            <a:spAutoFit/>
          </a:bodyPr>
          <a:lstStyle/>
          <a:p>
            <a:pPr marL="0" marR="0" indent="0" algn="l" defTabSz="731520" rtl="0" eaLnBrk="1" fontAlgn="auto" latinLnBrk="0" hangingPunct="1">
              <a:lnSpc>
                <a:spcPct val="100000"/>
              </a:lnSpc>
              <a:spcBef>
                <a:spcPts val="0"/>
              </a:spcBef>
              <a:spcAft>
                <a:spcPts val="0"/>
              </a:spcAft>
              <a:buClrTx/>
              <a:buSzTx/>
              <a:buFontTx/>
              <a:buNone/>
              <a:tabLst/>
              <a:defRPr/>
            </a:pPr>
            <a:r>
              <a:rPr lang="en-US" sz="1120" b="0" i="0" dirty="0">
                <a:solidFill>
                  <a:schemeClr val="tx1">
                    <a:lumMod val="50000"/>
                  </a:schemeClr>
                </a:solidFill>
                <a:latin typeface="Amazon Ember" panose="020B0603020204020204" pitchFamily="34" charset="0"/>
                <a:ea typeface="Amazon Ember" panose="020B0603020204020204" pitchFamily="34" charset="0"/>
                <a:cs typeface="Amazon Ember" panose="020B0603020204020204" pitchFamily="34" charset="0"/>
              </a:rPr>
              <a:t>© 2020, Amazon Web Services, Inc. or its Affiliates. </a:t>
            </a:r>
          </a:p>
        </p:txBody>
      </p:sp>
    </p:spTree>
    <p:extLst>
      <p:ext uri="{BB962C8B-B14F-4D97-AF65-F5344CB8AC3E}">
        <p14:creationId xmlns:p14="http://schemas.microsoft.com/office/powerpoint/2010/main" val="463584606"/>
      </p:ext>
    </p:extLst>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Divider_Slide_Orange">
    <p:bg>
      <p:bgRef idx="1001">
        <a:schemeClr val="bg2"/>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A96C4F3-CA83-2A40-9F3D-E162458BB038}"/>
              </a:ext>
            </a:extLst>
          </p:cNvPr>
          <p:cNvPicPr>
            <a:picLocks noChangeAspect="1"/>
          </p:cNvPicPr>
          <p:nvPr userDrawn="1"/>
        </p:nvPicPr>
        <p:blipFill rotWithShape="1">
          <a:blip r:embed="rId2"/>
          <a:srcRect l="16348" r="20161"/>
          <a:stretch/>
        </p:blipFill>
        <p:spPr>
          <a:xfrm>
            <a:off x="2" y="0"/>
            <a:ext cx="14630400" cy="8229600"/>
          </a:xfrm>
          <a:prstGeom prst="rect">
            <a:avLst/>
          </a:prstGeom>
        </p:spPr>
      </p:pic>
      <p:sp>
        <p:nvSpPr>
          <p:cNvPr id="2" name="Title 1"/>
          <p:cNvSpPr>
            <a:spLocks noGrp="1"/>
          </p:cNvSpPr>
          <p:nvPr>
            <p:ph type="title"/>
          </p:nvPr>
        </p:nvSpPr>
        <p:spPr>
          <a:xfrm>
            <a:off x="548640" y="3108960"/>
            <a:ext cx="12435840" cy="1488168"/>
          </a:xfrm>
        </p:spPr>
        <p:txBody>
          <a:bodyPr anchor="ctr">
            <a:noAutofit/>
          </a:bodyPr>
          <a:lstStyle>
            <a:lvl1pPr algn="l">
              <a:defRPr sz="6400" b="1" cap="none">
                <a:solidFill>
                  <a:schemeClr val="tx1"/>
                </a:solidFill>
              </a:defRPr>
            </a:lvl1pPr>
          </a:lstStyle>
          <a:p>
            <a:r>
              <a:rPr lang="en-US" dirty="0"/>
              <a:t>Click to edit Master title style</a:t>
            </a:r>
          </a:p>
        </p:txBody>
      </p:sp>
      <p:pic>
        <p:nvPicPr>
          <p:cNvPr id="5" name="Picture 4">
            <a:extLst>
              <a:ext uri="{FF2B5EF4-FFF2-40B4-BE49-F238E27FC236}">
                <a16:creationId xmlns:a16="http://schemas.microsoft.com/office/drawing/2014/main" id="{A82B5894-DCBD-3A4E-BD40-DCA1D16A4B4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3349519" y="7531058"/>
            <a:ext cx="709381" cy="424102"/>
          </a:xfrm>
          <a:prstGeom prst="rect">
            <a:avLst/>
          </a:prstGeom>
        </p:spPr>
      </p:pic>
      <p:sp>
        <p:nvSpPr>
          <p:cNvPr id="8" name="TextBox 7">
            <a:extLst>
              <a:ext uri="{FF2B5EF4-FFF2-40B4-BE49-F238E27FC236}">
                <a16:creationId xmlns:a16="http://schemas.microsoft.com/office/drawing/2014/main" id="{73141658-2646-1048-A1DE-3FB40A06912B}"/>
              </a:ext>
            </a:extLst>
          </p:cNvPr>
          <p:cNvSpPr txBox="1"/>
          <p:nvPr userDrawn="1"/>
        </p:nvSpPr>
        <p:spPr>
          <a:xfrm>
            <a:off x="538863" y="7683901"/>
            <a:ext cx="7115490" cy="172355"/>
          </a:xfrm>
          <a:prstGeom prst="rect">
            <a:avLst/>
          </a:prstGeom>
          <a:noFill/>
        </p:spPr>
        <p:txBody>
          <a:bodyPr wrap="square" lIns="0" tIns="0" rIns="0" bIns="0" rtlCol="0">
            <a:spAutoFit/>
          </a:bodyPr>
          <a:lstStyle/>
          <a:p>
            <a:pPr marL="0" marR="0" indent="0" algn="l" defTabSz="731520" rtl="0" eaLnBrk="1" fontAlgn="auto" latinLnBrk="0" hangingPunct="1">
              <a:lnSpc>
                <a:spcPct val="100000"/>
              </a:lnSpc>
              <a:spcBef>
                <a:spcPts val="0"/>
              </a:spcBef>
              <a:spcAft>
                <a:spcPts val="0"/>
              </a:spcAft>
              <a:buClrTx/>
              <a:buSzTx/>
              <a:buFontTx/>
              <a:buNone/>
              <a:tabLst/>
              <a:defRPr/>
            </a:pPr>
            <a:r>
              <a:rPr lang="en-US" sz="1120" b="0" i="0" dirty="0">
                <a:solidFill>
                  <a:schemeClr val="tx1">
                    <a:lumMod val="50000"/>
                  </a:schemeClr>
                </a:solidFill>
                <a:latin typeface="Amazon Ember" panose="020B0603020204020204" pitchFamily="34" charset="0"/>
                <a:ea typeface="Amazon Ember" panose="020B0603020204020204" pitchFamily="34" charset="0"/>
                <a:cs typeface="Amazon Ember" panose="020B0603020204020204" pitchFamily="34" charset="0"/>
              </a:rPr>
              <a:t>© 2020, Amazon Web Services, Inc. or its Affiliates. </a:t>
            </a:r>
          </a:p>
        </p:txBody>
      </p:sp>
    </p:spTree>
    <p:extLst>
      <p:ext uri="{BB962C8B-B14F-4D97-AF65-F5344CB8AC3E}">
        <p14:creationId xmlns:p14="http://schemas.microsoft.com/office/powerpoint/2010/main" val="1462640728"/>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Divider_Slide_Green">
    <p:bg>
      <p:bgRef idx="1001">
        <a:schemeClr val="bg2"/>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ADE0CB9-C246-C948-A3A8-F1FE53173FBC}"/>
              </a:ext>
            </a:extLst>
          </p:cNvPr>
          <p:cNvPicPr>
            <a:picLocks noChangeAspect="1"/>
          </p:cNvPicPr>
          <p:nvPr userDrawn="1"/>
        </p:nvPicPr>
        <p:blipFill rotWithShape="1">
          <a:blip r:embed="rId2"/>
          <a:srcRect l="36508"/>
          <a:stretch/>
        </p:blipFill>
        <p:spPr>
          <a:xfrm>
            <a:off x="0" y="0"/>
            <a:ext cx="14630400" cy="8229600"/>
          </a:xfrm>
          <a:prstGeom prst="rect">
            <a:avLst/>
          </a:prstGeom>
        </p:spPr>
      </p:pic>
      <p:sp>
        <p:nvSpPr>
          <p:cNvPr id="2" name="Title 1"/>
          <p:cNvSpPr>
            <a:spLocks noGrp="1"/>
          </p:cNvSpPr>
          <p:nvPr>
            <p:ph type="title"/>
          </p:nvPr>
        </p:nvSpPr>
        <p:spPr>
          <a:xfrm>
            <a:off x="548640" y="3108960"/>
            <a:ext cx="12435840" cy="1488168"/>
          </a:xfrm>
        </p:spPr>
        <p:txBody>
          <a:bodyPr anchor="ctr">
            <a:noAutofit/>
          </a:bodyPr>
          <a:lstStyle>
            <a:lvl1pPr algn="l">
              <a:defRPr sz="6400" b="1" cap="none">
                <a:solidFill>
                  <a:schemeClr val="tx1"/>
                </a:solidFill>
              </a:defRPr>
            </a:lvl1pPr>
          </a:lstStyle>
          <a:p>
            <a:r>
              <a:rPr lang="en-US" dirty="0"/>
              <a:t>Click to edit Master title style</a:t>
            </a:r>
          </a:p>
        </p:txBody>
      </p:sp>
      <p:pic>
        <p:nvPicPr>
          <p:cNvPr id="5" name="Picture 4">
            <a:extLst>
              <a:ext uri="{FF2B5EF4-FFF2-40B4-BE49-F238E27FC236}">
                <a16:creationId xmlns:a16="http://schemas.microsoft.com/office/drawing/2014/main" id="{A82B5894-DCBD-3A4E-BD40-DCA1D16A4B4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3349519" y="7531058"/>
            <a:ext cx="709381" cy="424102"/>
          </a:xfrm>
          <a:prstGeom prst="rect">
            <a:avLst/>
          </a:prstGeom>
        </p:spPr>
      </p:pic>
      <p:sp>
        <p:nvSpPr>
          <p:cNvPr id="8" name="TextBox 7">
            <a:extLst>
              <a:ext uri="{FF2B5EF4-FFF2-40B4-BE49-F238E27FC236}">
                <a16:creationId xmlns:a16="http://schemas.microsoft.com/office/drawing/2014/main" id="{6FEF9E69-433E-DC4C-824E-7F476DC4478C}"/>
              </a:ext>
            </a:extLst>
          </p:cNvPr>
          <p:cNvSpPr txBox="1"/>
          <p:nvPr userDrawn="1"/>
        </p:nvSpPr>
        <p:spPr>
          <a:xfrm>
            <a:off x="538863" y="7683901"/>
            <a:ext cx="7115490" cy="172355"/>
          </a:xfrm>
          <a:prstGeom prst="rect">
            <a:avLst/>
          </a:prstGeom>
          <a:noFill/>
        </p:spPr>
        <p:txBody>
          <a:bodyPr wrap="square" lIns="0" tIns="0" rIns="0" bIns="0" rtlCol="0">
            <a:spAutoFit/>
          </a:bodyPr>
          <a:lstStyle/>
          <a:p>
            <a:pPr marL="0" marR="0" indent="0" algn="l" defTabSz="731520" rtl="0" eaLnBrk="1" fontAlgn="auto" latinLnBrk="0" hangingPunct="1">
              <a:lnSpc>
                <a:spcPct val="100000"/>
              </a:lnSpc>
              <a:spcBef>
                <a:spcPts val="0"/>
              </a:spcBef>
              <a:spcAft>
                <a:spcPts val="0"/>
              </a:spcAft>
              <a:buClrTx/>
              <a:buSzTx/>
              <a:buFontTx/>
              <a:buNone/>
              <a:tabLst/>
              <a:defRPr/>
            </a:pPr>
            <a:r>
              <a:rPr lang="en-US" sz="1120" b="0" i="0" dirty="0">
                <a:solidFill>
                  <a:schemeClr val="tx1">
                    <a:lumMod val="50000"/>
                  </a:schemeClr>
                </a:solidFill>
                <a:latin typeface="Amazon Ember" panose="020B0603020204020204" pitchFamily="34" charset="0"/>
                <a:ea typeface="Amazon Ember" panose="020B0603020204020204" pitchFamily="34" charset="0"/>
                <a:cs typeface="Amazon Ember" panose="020B0603020204020204" pitchFamily="34" charset="0"/>
              </a:rPr>
              <a:t>© 2020, Amazon Web Services, Inc. or its Affiliates. </a:t>
            </a:r>
          </a:p>
        </p:txBody>
      </p:sp>
    </p:spTree>
    <p:extLst>
      <p:ext uri="{BB962C8B-B14F-4D97-AF65-F5344CB8AC3E}">
        <p14:creationId xmlns:p14="http://schemas.microsoft.com/office/powerpoint/2010/main" val="1704651833"/>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One_Bulleted_Lis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183898"/>
            <a:ext cx="13511460" cy="873186"/>
          </a:xfrm>
        </p:spPr>
        <p:txBody>
          <a:bodyPr/>
          <a:lstStyle/>
          <a:p>
            <a:r>
              <a:rPr lang="en-US" dirty="0"/>
              <a:t>Click to edit Master title style</a:t>
            </a:r>
          </a:p>
        </p:txBody>
      </p:sp>
      <p:sp>
        <p:nvSpPr>
          <p:cNvPr id="3" name="Content Placeholder 2"/>
          <p:cNvSpPr>
            <a:spLocks noGrp="1"/>
          </p:cNvSpPr>
          <p:nvPr>
            <p:ph sz="half" idx="1"/>
          </p:nvPr>
        </p:nvSpPr>
        <p:spPr>
          <a:xfrm>
            <a:off x="548640" y="1645920"/>
            <a:ext cx="13510260" cy="5431155"/>
          </a:xfrm>
          <a:prstGeom prst="rect">
            <a:avLst/>
          </a:prstGeom>
        </p:spPr>
        <p:txBody>
          <a:bodyPr>
            <a:normAutofit/>
          </a:bodyPr>
          <a:lstStyle>
            <a:lvl1pPr>
              <a:defRPr sz="3200"/>
            </a:lvl1pPr>
            <a:lvl2pPr>
              <a:defRPr sz="2900"/>
            </a:lvl2pPr>
            <a:lvl3pPr>
              <a:defRPr sz="2600"/>
            </a:lvl3pPr>
            <a:lvl4pPr marL="2194560" indent="0">
              <a:buNone/>
              <a:defRPr sz="2600"/>
            </a:lvl4pPr>
            <a:lvl5pPr>
              <a:defRPr sz="2560"/>
            </a:lvl5pPr>
            <a:lvl6pPr>
              <a:defRPr sz="2880"/>
            </a:lvl6pPr>
            <a:lvl7pPr>
              <a:defRPr sz="2880"/>
            </a:lvl7pPr>
            <a:lvl8pPr>
              <a:defRPr sz="2880"/>
            </a:lvl8pPr>
            <a:lvl9pPr>
              <a:defRPr sz="288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826396584"/>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_Bulleted_Sections">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183898"/>
            <a:ext cx="13510260" cy="873186"/>
          </a:xfrm>
        </p:spPr>
        <p:txBody>
          <a:bodyPr>
            <a:normAutofit/>
          </a:bodyPr>
          <a:lstStyle>
            <a:lvl1pPr>
              <a:defRPr sz="3800">
                <a:solidFill>
                  <a:schemeClr val="tx1"/>
                </a:solidFill>
              </a:defRPr>
            </a:lvl1pPr>
          </a:lstStyle>
          <a:p>
            <a:r>
              <a:rPr lang="en-US" dirty="0"/>
              <a:t>Click to edit Master title style</a:t>
            </a:r>
          </a:p>
        </p:txBody>
      </p:sp>
      <p:sp>
        <p:nvSpPr>
          <p:cNvPr id="5" name="Text Placeholder 4">
            <a:extLst>
              <a:ext uri="{FF2B5EF4-FFF2-40B4-BE49-F238E27FC236}">
                <a16:creationId xmlns:a16="http://schemas.microsoft.com/office/drawing/2014/main" id="{FE6C5D45-2516-944B-852E-9416AD28710B}"/>
              </a:ext>
            </a:extLst>
          </p:cNvPr>
          <p:cNvSpPr>
            <a:spLocks noGrp="1"/>
          </p:cNvSpPr>
          <p:nvPr>
            <p:ph type="body" sz="quarter" idx="10"/>
          </p:nvPr>
        </p:nvSpPr>
        <p:spPr>
          <a:xfrm>
            <a:off x="548639" y="1645920"/>
            <a:ext cx="6400800" cy="5089616"/>
          </a:xfrm>
          <a:prstGeom prst="rect">
            <a:avLst/>
          </a:prstGeom>
        </p:spPr>
        <p:txBody>
          <a:bodyPr/>
          <a:lstStyle>
            <a:lvl5pPr>
              <a:defRPr sz="19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4">
            <a:extLst>
              <a:ext uri="{FF2B5EF4-FFF2-40B4-BE49-F238E27FC236}">
                <a16:creationId xmlns:a16="http://schemas.microsoft.com/office/drawing/2014/main" id="{0680DD99-A52C-8C44-9396-106AF36BB473}"/>
              </a:ext>
            </a:extLst>
          </p:cNvPr>
          <p:cNvSpPr>
            <a:spLocks noGrp="1"/>
          </p:cNvSpPr>
          <p:nvPr>
            <p:ph type="body" sz="quarter" idx="11"/>
          </p:nvPr>
        </p:nvSpPr>
        <p:spPr>
          <a:xfrm>
            <a:off x="7658100" y="1645920"/>
            <a:ext cx="6400800" cy="5089616"/>
          </a:xfrm>
          <a:prstGeom prst="rect">
            <a:avLst/>
          </a:prstGeom>
        </p:spPr>
        <p:txBody>
          <a:bodyPr/>
          <a:lstStyle>
            <a:lvl5pPr>
              <a:defRPr sz="19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833519293"/>
      </p:ext>
    </p:extLst>
  </p:cSld>
  <p:clrMapOvr>
    <a:overrideClrMapping bg1="dk1" tx1="lt1" bg2="dk2" tx2="lt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_and_Imag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183898"/>
            <a:ext cx="13510260" cy="873186"/>
          </a:xfrm>
        </p:spPr>
        <p:txBody>
          <a:bodyPr>
            <a:normAutofit/>
          </a:bodyPr>
          <a:lstStyle>
            <a:lvl1pPr>
              <a:defRPr sz="3800">
                <a:solidFill>
                  <a:schemeClr val="tx1"/>
                </a:solidFill>
              </a:defRPr>
            </a:lvl1pPr>
          </a:lstStyle>
          <a:p>
            <a:r>
              <a:rPr lang="en-US" dirty="0"/>
              <a:t>Click to edit Master title style</a:t>
            </a:r>
          </a:p>
        </p:txBody>
      </p:sp>
      <p:sp>
        <p:nvSpPr>
          <p:cNvPr id="8" name="Picture Placeholder 7">
            <a:extLst>
              <a:ext uri="{FF2B5EF4-FFF2-40B4-BE49-F238E27FC236}">
                <a16:creationId xmlns:a16="http://schemas.microsoft.com/office/drawing/2014/main" id="{758B8829-AB11-E54F-AFFF-11D6AD397DEB}"/>
              </a:ext>
            </a:extLst>
          </p:cNvPr>
          <p:cNvSpPr>
            <a:spLocks noGrp="1"/>
          </p:cNvSpPr>
          <p:nvPr>
            <p:ph type="pic" sz="quarter" idx="11"/>
          </p:nvPr>
        </p:nvSpPr>
        <p:spPr>
          <a:xfrm>
            <a:off x="7658100" y="1645920"/>
            <a:ext cx="6400800" cy="5088346"/>
          </a:xfrm>
          <a:prstGeom prst="rect">
            <a:avLst/>
          </a:prstGeom>
        </p:spPr>
        <p:txBody>
          <a:bodyPr/>
          <a:lstStyle/>
          <a:p>
            <a:endParaRPr lang="en-US"/>
          </a:p>
        </p:txBody>
      </p:sp>
      <p:sp>
        <p:nvSpPr>
          <p:cNvPr id="10" name="Text Placeholder 9">
            <a:extLst>
              <a:ext uri="{FF2B5EF4-FFF2-40B4-BE49-F238E27FC236}">
                <a16:creationId xmlns:a16="http://schemas.microsoft.com/office/drawing/2014/main" id="{3305C376-814F-9B49-99E8-6F17D4026FAD}"/>
              </a:ext>
            </a:extLst>
          </p:cNvPr>
          <p:cNvSpPr>
            <a:spLocks noGrp="1"/>
          </p:cNvSpPr>
          <p:nvPr>
            <p:ph type="body" sz="quarter" idx="12" hasCustomPrompt="1"/>
          </p:nvPr>
        </p:nvSpPr>
        <p:spPr>
          <a:xfrm>
            <a:off x="548639" y="1645920"/>
            <a:ext cx="6400800" cy="5087619"/>
          </a:xfrm>
          <a:prstGeom prst="rect">
            <a:avLst/>
          </a:prstGeom>
        </p:spPr>
        <p:txBody>
          <a:bodyPr/>
          <a:lstStyle>
            <a:lvl1pPr marL="0" marR="0" indent="0" algn="l" defTabSz="731520" rtl="0" eaLnBrk="1" fontAlgn="auto" latinLnBrk="0" hangingPunct="1">
              <a:lnSpc>
                <a:spcPct val="100000"/>
              </a:lnSpc>
              <a:spcBef>
                <a:spcPct val="20000"/>
              </a:spcBef>
              <a:spcAft>
                <a:spcPts val="0"/>
              </a:spcAft>
              <a:buClrTx/>
              <a:buSzTx/>
              <a:buFontTx/>
              <a:buNone/>
              <a:tabLst/>
              <a:defRPr sz="1900" b="1">
                <a:latin typeface="+mn-lt"/>
              </a:defRPr>
            </a:lvl1pPr>
          </a:lstStyle>
          <a:p>
            <a:pPr marL="0" marR="0" lvl="0" indent="0" algn="l" defTabSz="731520" rtl="0" eaLnBrk="1" fontAlgn="auto" latinLnBrk="0" hangingPunct="1">
              <a:lnSpc>
                <a:spcPct val="100000"/>
              </a:lnSpc>
              <a:spcBef>
                <a:spcPct val="20000"/>
              </a:spcBef>
              <a:spcAft>
                <a:spcPts val="0"/>
              </a:spcAft>
              <a:buClrTx/>
              <a:buSzTx/>
              <a:buFontTx/>
              <a:buNone/>
              <a:tabLst/>
              <a:defRPr/>
            </a:pPr>
            <a:r>
              <a:rPr kumimoji="0" lang="en-US" sz="1920" b="1" i="0" u="none" strike="noStrike" kern="1200" cap="none" spc="0" normalizeH="0" baseline="0" noProof="0" dirty="0">
                <a:ln>
                  <a:noFill/>
                </a:ln>
                <a:solidFill>
                  <a:srgbClr val="FFFFFF"/>
                </a:solidFill>
                <a:effectLst/>
                <a:uLnTx/>
                <a:uFillTx/>
                <a:latin typeface="Amazon Ember Regular" charset="0"/>
                <a:ea typeface="+mn-ea"/>
                <a:cs typeface="Amazon Ember Regular" charset="0"/>
              </a:rPr>
              <a:t>Lorem ipsum dolor sit </a:t>
            </a:r>
            <a:r>
              <a:rPr kumimoji="0" lang="en-US" sz="1920" b="1" i="0" u="none" strike="noStrike" kern="1200" cap="none" spc="0" normalizeH="0" baseline="0" noProof="0" dirty="0" err="1">
                <a:ln>
                  <a:noFill/>
                </a:ln>
                <a:solidFill>
                  <a:srgbClr val="FFFFFF"/>
                </a:solidFill>
                <a:effectLst/>
                <a:uLnTx/>
                <a:uFillTx/>
                <a:latin typeface="Amazon Ember Regular" charset="0"/>
                <a:ea typeface="+mn-ea"/>
                <a:cs typeface="Amazon Ember Regular" charset="0"/>
              </a:rPr>
              <a:t>amet</a:t>
            </a:r>
            <a:r>
              <a:rPr kumimoji="0" lang="en-US" sz="1920" b="0" i="0" u="none" strike="noStrike" kern="1200" cap="none" spc="0" normalizeH="0" baseline="0" noProof="0" dirty="0">
                <a:ln>
                  <a:noFill/>
                </a:ln>
                <a:solidFill>
                  <a:srgbClr val="FFFFFF"/>
                </a:solidFill>
                <a:effectLst/>
                <a:uLnTx/>
                <a:uFillTx/>
                <a:latin typeface="Amazon Ember Regular" charset="0"/>
                <a:ea typeface="+mn-ea"/>
                <a:cs typeface="Amazon Ember Regular"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consectetuer</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adipiscing</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elit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sed</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diam</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nonummy</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nibh</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euismod</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tincidunt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ut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laoreet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dolore magna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aliquam</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erat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volutpat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p>
          <a:p>
            <a:pPr marL="0" marR="0" lvl="0" indent="0" algn="l" defTabSz="731520" rtl="0" eaLnBrk="1" fontAlgn="auto" latinLnBrk="0" hangingPunct="1">
              <a:lnSpc>
                <a:spcPct val="100000"/>
              </a:lnSpc>
              <a:spcBef>
                <a:spcPct val="20000"/>
              </a:spcBef>
              <a:spcAft>
                <a:spcPts val="0"/>
              </a:spcAft>
              <a:buClrTx/>
              <a:buSzTx/>
              <a:buFontTx/>
              <a:buNone/>
              <a:tabLst/>
              <a:defRPr/>
            </a:pPr>
            <a:endParaRPr kumimoji="0" lang="en-US" sz="3200" b="0" i="0" u="none" strike="noStrike" kern="1200" cap="none" spc="0" normalizeH="0" baseline="0" noProof="0" dirty="0">
              <a:ln>
                <a:noFill/>
              </a:ln>
              <a:solidFill>
                <a:srgbClr val="FFFFFF"/>
              </a:solidFill>
              <a:effectLst/>
              <a:uLnTx/>
              <a:uFillTx/>
              <a:latin typeface="Amazon Ember Regular" charset="0"/>
              <a:ea typeface="+mn-ea"/>
              <a:cs typeface="Amazon Ember Regular" charset="0"/>
            </a:endParaRPr>
          </a:p>
          <a:p>
            <a:pPr marL="0" marR="0" lvl="0" indent="0" algn="l" defTabSz="731520" rtl="0" eaLnBrk="1" fontAlgn="auto" latinLnBrk="0" hangingPunct="1">
              <a:lnSpc>
                <a:spcPct val="100000"/>
              </a:lnSpc>
              <a:spcBef>
                <a:spcPct val="20000"/>
              </a:spcBef>
              <a:spcAft>
                <a:spcPts val="0"/>
              </a:spcAft>
              <a:buClrTx/>
              <a:buSzTx/>
              <a:buFontTx/>
              <a:buNone/>
              <a:tabLst/>
              <a:defRPr/>
            </a:pPr>
            <a:r>
              <a:rPr kumimoji="0" lang="en-US" sz="1920" b="1" i="0" u="none" strike="noStrike" kern="1200" cap="none" spc="0" normalizeH="0" baseline="0" noProof="0" dirty="0">
                <a:ln>
                  <a:noFill/>
                </a:ln>
                <a:solidFill>
                  <a:srgbClr val="FFFFFF"/>
                </a:solidFill>
                <a:effectLst/>
                <a:uLnTx/>
                <a:uFillTx/>
                <a:latin typeface="Amazon Ember Regular" charset="0"/>
                <a:ea typeface="+mn-ea"/>
                <a:cs typeface="Amazon Ember Regular" charset="0"/>
              </a:rPr>
              <a:t>Lorem ipsum dolor sit </a:t>
            </a:r>
            <a:r>
              <a:rPr kumimoji="0" lang="en-US" sz="1920" b="1" i="0" u="none" strike="noStrike" kern="1200" cap="none" spc="0" normalizeH="0" baseline="0" noProof="0" dirty="0" err="1">
                <a:ln>
                  <a:noFill/>
                </a:ln>
                <a:solidFill>
                  <a:srgbClr val="FFFFFF"/>
                </a:solidFill>
                <a:effectLst/>
                <a:uLnTx/>
                <a:uFillTx/>
                <a:latin typeface="Amazon Ember Regular" charset="0"/>
                <a:ea typeface="+mn-ea"/>
                <a:cs typeface="Amazon Ember Regular" charset="0"/>
              </a:rPr>
              <a:t>amet</a:t>
            </a:r>
            <a:r>
              <a:rPr kumimoji="0" lang="en-US" sz="1920" b="0" i="0" u="none" strike="noStrike" kern="1200" cap="none" spc="0" normalizeH="0" baseline="0" noProof="0" dirty="0">
                <a:ln>
                  <a:noFill/>
                </a:ln>
                <a:solidFill>
                  <a:srgbClr val="FFFFFF"/>
                </a:solidFill>
                <a:effectLst/>
                <a:uLnTx/>
                <a:uFillTx/>
                <a:latin typeface="Amazon Ember Regular" charset="0"/>
                <a:ea typeface="+mn-ea"/>
                <a:cs typeface="Amazon Ember Regular"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consectetuer</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adipiscing</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elit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sed</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diam</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nonummy</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nibh</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euismod</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tincidunt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ut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laoreet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dolore magna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aliquam</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erat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volutpat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p>
          <a:p>
            <a:pPr marL="0" marR="0" lvl="0" indent="0" algn="l" defTabSz="731520" rtl="0" eaLnBrk="1" fontAlgn="auto" latinLnBrk="0" hangingPunct="1">
              <a:lnSpc>
                <a:spcPct val="100000"/>
              </a:lnSpc>
              <a:spcBef>
                <a:spcPct val="20000"/>
              </a:spcBef>
              <a:spcAft>
                <a:spcPts val="0"/>
              </a:spcAft>
              <a:buClrTx/>
              <a:buSzTx/>
              <a:buFontTx/>
              <a:buNone/>
              <a:tabLst/>
              <a:defRPr/>
            </a:pPr>
            <a:endParaRPr kumimoji="0" lang="en-US" sz="3200" b="0" i="0" u="none" strike="noStrike" kern="1200" cap="none" spc="0" normalizeH="0" baseline="0" noProof="0" dirty="0">
              <a:ln>
                <a:noFill/>
              </a:ln>
              <a:solidFill>
                <a:srgbClr val="FFFFFF"/>
              </a:solidFill>
              <a:effectLst/>
              <a:uLnTx/>
              <a:uFillTx/>
              <a:latin typeface="Amazon Ember Regular" charset="0"/>
              <a:ea typeface="+mn-ea"/>
              <a:cs typeface="Amazon Ember Regular" charset="0"/>
            </a:endParaRPr>
          </a:p>
          <a:p>
            <a:pPr marL="0" marR="0" lvl="0" indent="0" algn="l" defTabSz="731520" rtl="0" eaLnBrk="1" fontAlgn="auto" latinLnBrk="0" hangingPunct="1">
              <a:lnSpc>
                <a:spcPct val="100000"/>
              </a:lnSpc>
              <a:spcBef>
                <a:spcPct val="20000"/>
              </a:spcBef>
              <a:spcAft>
                <a:spcPts val="0"/>
              </a:spcAft>
              <a:buClrTx/>
              <a:buSzTx/>
              <a:buFontTx/>
              <a:buNone/>
              <a:tabLst/>
              <a:defRPr/>
            </a:pPr>
            <a:r>
              <a:rPr kumimoji="0" lang="en-US" sz="1920" b="1" i="0" u="none" strike="noStrike" kern="1200" cap="none" spc="0" normalizeH="0" baseline="0" noProof="0" dirty="0">
                <a:ln>
                  <a:noFill/>
                </a:ln>
                <a:solidFill>
                  <a:srgbClr val="FFFFFF"/>
                </a:solidFill>
                <a:effectLst/>
                <a:uLnTx/>
                <a:uFillTx/>
                <a:latin typeface="Amazon Ember Regular" charset="0"/>
                <a:ea typeface="+mn-ea"/>
                <a:cs typeface="Amazon Ember Regular" charset="0"/>
              </a:rPr>
              <a:t>Lorem ipsum dolor sit </a:t>
            </a:r>
            <a:r>
              <a:rPr kumimoji="0" lang="en-US" sz="1920" b="1" i="0" u="none" strike="noStrike" kern="1200" cap="none" spc="0" normalizeH="0" baseline="0" noProof="0" dirty="0" err="1">
                <a:ln>
                  <a:noFill/>
                </a:ln>
                <a:solidFill>
                  <a:srgbClr val="FFFFFF"/>
                </a:solidFill>
                <a:effectLst/>
                <a:uLnTx/>
                <a:uFillTx/>
                <a:latin typeface="Amazon Ember Regular" charset="0"/>
                <a:ea typeface="+mn-ea"/>
                <a:cs typeface="Amazon Ember Regular" charset="0"/>
              </a:rPr>
              <a:t>amet</a:t>
            </a:r>
            <a:r>
              <a:rPr kumimoji="0" lang="en-US" sz="1920" b="0" i="0" u="none" strike="noStrike" kern="1200" cap="none" spc="0" normalizeH="0" baseline="0" noProof="0" dirty="0">
                <a:ln>
                  <a:noFill/>
                </a:ln>
                <a:solidFill>
                  <a:srgbClr val="FFFFFF"/>
                </a:solidFill>
                <a:effectLst/>
                <a:uLnTx/>
                <a:uFillTx/>
                <a:latin typeface="Amazon Ember Regular" charset="0"/>
                <a:ea typeface="+mn-ea"/>
                <a:cs typeface="Amazon Ember Regular"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consectetuer</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adipiscing</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elit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sed</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diam</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nonummy</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nibh</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euismod</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tincidunt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ut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laoreet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dolore magna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aliquam</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erat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volutpat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p>
          <a:p>
            <a:pPr marL="0" marR="0" lvl="0" indent="0" algn="l" defTabSz="731520" rtl="0" eaLnBrk="1" fontAlgn="auto" latinLnBrk="0" hangingPunct="1">
              <a:lnSpc>
                <a:spcPct val="100000"/>
              </a:lnSpc>
              <a:spcBef>
                <a:spcPct val="20000"/>
              </a:spcBef>
              <a:spcAft>
                <a:spcPts val="0"/>
              </a:spcAft>
              <a:buClrTx/>
              <a:buSzTx/>
              <a:buFontTx/>
              <a:buNone/>
              <a:tabLst/>
              <a:defRPr/>
            </a:pPr>
            <a:endParaRPr kumimoji="0" lang="en-US" sz="3200" b="0" i="0" u="none" strike="noStrike" kern="1200" cap="none" spc="0" normalizeH="0" baseline="0" noProof="0" dirty="0">
              <a:ln>
                <a:noFill/>
              </a:ln>
              <a:solidFill>
                <a:srgbClr val="FFFFFF"/>
              </a:solidFill>
              <a:effectLst/>
              <a:uLnTx/>
              <a:uFillTx/>
              <a:latin typeface="Amazon Ember Regular" charset="0"/>
              <a:ea typeface="+mn-ea"/>
              <a:cs typeface="Amazon Ember Regular" charset="0"/>
            </a:endParaRPr>
          </a:p>
        </p:txBody>
      </p:sp>
    </p:spTree>
    <p:extLst>
      <p:ext uri="{BB962C8B-B14F-4D97-AF65-F5344CB8AC3E}">
        <p14:creationId xmlns:p14="http://schemas.microsoft.com/office/powerpoint/2010/main" val="1841750186"/>
      </p:ext>
    </p:extLst>
  </p:cSld>
  <p:clrMapOvr>
    <a:overrideClrMapping bg1="dk1" tx1="lt1" bg2="dk2" tx2="lt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Image_Collage">
    <p:bg>
      <p:bgRef idx="1001">
        <a:schemeClr val="bg2"/>
      </p:bgRef>
    </p:bg>
    <p:spTree>
      <p:nvGrpSpPr>
        <p:cNvPr id="1" name=""/>
        <p:cNvGrpSpPr/>
        <p:nvPr/>
      </p:nvGrpSpPr>
      <p:grpSpPr>
        <a:xfrm>
          <a:off x="0" y="0"/>
          <a:ext cx="0" cy="0"/>
          <a:chOff x="0" y="0"/>
          <a:chExt cx="0" cy="0"/>
        </a:xfrm>
      </p:grpSpPr>
      <p:sp>
        <p:nvSpPr>
          <p:cNvPr id="11" name="Title 1"/>
          <p:cNvSpPr>
            <a:spLocks noGrp="1"/>
          </p:cNvSpPr>
          <p:nvPr>
            <p:ph type="title"/>
          </p:nvPr>
        </p:nvSpPr>
        <p:spPr>
          <a:xfrm>
            <a:off x="548640" y="183898"/>
            <a:ext cx="13510260" cy="873186"/>
          </a:xfrm>
        </p:spPr>
        <p:txBody>
          <a:bodyPr>
            <a:normAutofit/>
          </a:bodyPr>
          <a:lstStyle>
            <a:lvl1pPr>
              <a:defRPr sz="3800">
                <a:solidFill>
                  <a:schemeClr val="tx1"/>
                </a:solidFill>
              </a:defRPr>
            </a:lvl1pPr>
          </a:lstStyle>
          <a:p>
            <a:r>
              <a:rPr lang="en-US" dirty="0"/>
              <a:t>Click to edit Master title style</a:t>
            </a:r>
          </a:p>
        </p:txBody>
      </p:sp>
      <p:sp>
        <p:nvSpPr>
          <p:cNvPr id="5" name="Picture Placeholder 4">
            <a:extLst>
              <a:ext uri="{FF2B5EF4-FFF2-40B4-BE49-F238E27FC236}">
                <a16:creationId xmlns:a16="http://schemas.microsoft.com/office/drawing/2014/main" id="{E78145AC-79A9-834A-BE03-ED99E1BFF7AC}"/>
              </a:ext>
            </a:extLst>
          </p:cNvPr>
          <p:cNvSpPr>
            <a:spLocks noGrp="1"/>
          </p:cNvSpPr>
          <p:nvPr>
            <p:ph type="pic" sz="quarter" idx="10"/>
          </p:nvPr>
        </p:nvSpPr>
        <p:spPr>
          <a:xfrm>
            <a:off x="548639" y="1645920"/>
            <a:ext cx="4572000" cy="5028635"/>
          </a:xfrm>
          <a:prstGeom prst="rect">
            <a:avLst/>
          </a:prstGeom>
        </p:spPr>
        <p:txBody>
          <a:bodyPr/>
          <a:lstStyle/>
          <a:p>
            <a:endParaRPr lang="en-US" dirty="0"/>
          </a:p>
        </p:txBody>
      </p:sp>
      <p:sp>
        <p:nvSpPr>
          <p:cNvPr id="9" name="Picture Placeholder 4">
            <a:extLst>
              <a:ext uri="{FF2B5EF4-FFF2-40B4-BE49-F238E27FC236}">
                <a16:creationId xmlns:a16="http://schemas.microsoft.com/office/drawing/2014/main" id="{D5A50D07-5C25-B541-89CC-C515FB54B1B4}"/>
              </a:ext>
            </a:extLst>
          </p:cNvPr>
          <p:cNvSpPr>
            <a:spLocks noGrp="1"/>
          </p:cNvSpPr>
          <p:nvPr>
            <p:ph type="pic" sz="quarter" idx="11"/>
          </p:nvPr>
        </p:nvSpPr>
        <p:spPr>
          <a:xfrm>
            <a:off x="9509760" y="1645920"/>
            <a:ext cx="4572000" cy="5028635"/>
          </a:xfrm>
          <a:prstGeom prst="rect">
            <a:avLst/>
          </a:prstGeom>
        </p:spPr>
        <p:txBody>
          <a:bodyPr/>
          <a:lstStyle/>
          <a:p>
            <a:endParaRPr lang="en-US"/>
          </a:p>
        </p:txBody>
      </p:sp>
      <p:sp>
        <p:nvSpPr>
          <p:cNvPr id="10" name="Picture Placeholder 4">
            <a:extLst>
              <a:ext uri="{FF2B5EF4-FFF2-40B4-BE49-F238E27FC236}">
                <a16:creationId xmlns:a16="http://schemas.microsoft.com/office/drawing/2014/main" id="{0FF44110-D1F4-664B-9593-798283322862}"/>
              </a:ext>
            </a:extLst>
          </p:cNvPr>
          <p:cNvSpPr>
            <a:spLocks noGrp="1"/>
          </p:cNvSpPr>
          <p:nvPr>
            <p:ph type="pic" sz="quarter" idx="12"/>
          </p:nvPr>
        </p:nvSpPr>
        <p:spPr>
          <a:xfrm>
            <a:off x="5486400" y="1645920"/>
            <a:ext cx="3657600" cy="2686296"/>
          </a:xfrm>
          <a:prstGeom prst="rect">
            <a:avLst/>
          </a:prstGeom>
        </p:spPr>
        <p:txBody>
          <a:bodyPr/>
          <a:lstStyle/>
          <a:p>
            <a:endParaRPr lang="en-US"/>
          </a:p>
        </p:txBody>
      </p:sp>
      <p:sp>
        <p:nvSpPr>
          <p:cNvPr id="12" name="Picture Placeholder 4">
            <a:extLst>
              <a:ext uri="{FF2B5EF4-FFF2-40B4-BE49-F238E27FC236}">
                <a16:creationId xmlns:a16="http://schemas.microsoft.com/office/drawing/2014/main" id="{886DFCC3-A169-A648-A099-3583B633E69B}"/>
              </a:ext>
            </a:extLst>
          </p:cNvPr>
          <p:cNvSpPr>
            <a:spLocks noGrp="1"/>
          </p:cNvSpPr>
          <p:nvPr>
            <p:ph type="pic" sz="quarter" idx="13"/>
          </p:nvPr>
        </p:nvSpPr>
        <p:spPr>
          <a:xfrm>
            <a:off x="5486400" y="4767345"/>
            <a:ext cx="3657600" cy="1892899"/>
          </a:xfrm>
          <a:prstGeom prst="rect">
            <a:avLst/>
          </a:prstGeom>
        </p:spPr>
        <p:txBody>
          <a:bodyPr/>
          <a:lstStyle/>
          <a:p>
            <a:endParaRPr lang="en-US"/>
          </a:p>
        </p:txBody>
      </p:sp>
    </p:spTree>
    <p:extLst>
      <p:ext uri="{BB962C8B-B14F-4D97-AF65-F5344CB8AC3E}">
        <p14:creationId xmlns:p14="http://schemas.microsoft.com/office/powerpoint/2010/main" val="2901287801"/>
      </p:ext>
    </p:extLst>
  </p:cSld>
  <p:clrMapOvr>
    <a:overrideClrMapping bg1="dk1" tx1="lt1" bg2="dk2" tx2="lt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_Image">
    <p:bg>
      <p:bgRef idx="1001">
        <a:schemeClr val="bg2"/>
      </p:bgRef>
    </p:bg>
    <p:spTree>
      <p:nvGrpSpPr>
        <p:cNvPr id="1" name=""/>
        <p:cNvGrpSpPr/>
        <p:nvPr/>
      </p:nvGrpSpPr>
      <p:grpSpPr>
        <a:xfrm>
          <a:off x="0" y="0"/>
          <a:ext cx="0" cy="0"/>
          <a:chOff x="0" y="0"/>
          <a:chExt cx="0" cy="0"/>
        </a:xfrm>
      </p:grpSpPr>
      <p:sp>
        <p:nvSpPr>
          <p:cNvPr id="11" name="Title 1"/>
          <p:cNvSpPr>
            <a:spLocks noGrp="1"/>
          </p:cNvSpPr>
          <p:nvPr>
            <p:ph type="title"/>
          </p:nvPr>
        </p:nvSpPr>
        <p:spPr>
          <a:xfrm>
            <a:off x="538862" y="183898"/>
            <a:ext cx="13520037" cy="873186"/>
          </a:xfrm>
        </p:spPr>
        <p:txBody>
          <a:bodyPr>
            <a:normAutofit/>
          </a:bodyPr>
          <a:lstStyle>
            <a:lvl1pPr>
              <a:defRPr sz="3800">
                <a:solidFill>
                  <a:schemeClr val="tx1"/>
                </a:solidFill>
              </a:defRPr>
            </a:lvl1pPr>
          </a:lstStyle>
          <a:p>
            <a:r>
              <a:rPr lang="en-US" dirty="0"/>
              <a:t>Click to edit Master title style</a:t>
            </a:r>
          </a:p>
        </p:txBody>
      </p:sp>
      <p:sp>
        <p:nvSpPr>
          <p:cNvPr id="5" name="Picture Placeholder 4">
            <a:extLst>
              <a:ext uri="{FF2B5EF4-FFF2-40B4-BE49-F238E27FC236}">
                <a16:creationId xmlns:a16="http://schemas.microsoft.com/office/drawing/2014/main" id="{E78145AC-79A9-834A-BE03-ED99E1BFF7AC}"/>
              </a:ext>
            </a:extLst>
          </p:cNvPr>
          <p:cNvSpPr>
            <a:spLocks noGrp="1"/>
          </p:cNvSpPr>
          <p:nvPr>
            <p:ph type="pic" sz="quarter" idx="10"/>
          </p:nvPr>
        </p:nvSpPr>
        <p:spPr>
          <a:xfrm>
            <a:off x="548640" y="1645920"/>
            <a:ext cx="8330183" cy="5028635"/>
          </a:xfrm>
          <a:prstGeom prst="rect">
            <a:avLst/>
          </a:prstGeom>
        </p:spPr>
        <p:txBody>
          <a:bodyPr/>
          <a:lstStyle/>
          <a:p>
            <a:endParaRPr lang="en-US" dirty="0"/>
          </a:p>
        </p:txBody>
      </p:sp>
      <p:sp>
        <p:nvSpPr>
          <p:cNvPr id="9" name="Picture Placeholder 4">
            <a:extLst>
              <a:ext uri="{FF2B5EF4-FFF2-40B4-BE49-F238E27FC236}">
                <a16:creationId xmlns:a16="http://schemas.microsoft.com/office/drawing/2014/main" id="{D5A50D07-5C25-B541-89CC-C515FB54B1B4}"/>
              </a:ext>
            </a:extLst>
          </p:cNvPr>
          <p:cNvSpPr>
            <a:spLocks noGrp="1"/>
          </p:cNvSpPr>
          <p:nvPr>
            <p:ph type="pic" sz="quarter" idx="11"/>
          </p:nvPr>
        </p:nvSpPr>
        <p:spPr>
          <a:xfrm>
            <a:off x="9326880" y="1645920"/>
            <a:ext cx="4754880" cy="5028635"/>
          </a:xfrm>
          <a:prstGeom prst="rect">
            <a:avLst/>
          </a:prstGeom>
        </p:spPr>
        <p:txBody>
          <a:bodyPr/>
          <a:lstStyle/>
          <a:p>
            <a:endParaRPr lang="en-US"/>
          </a:p>
        </p:txBody>
      </p:sp>
    </p:spTree>
    <p:extLst>
      <p:ext uri="{BB962C8B-B14F-4D97-AF65-F5344CB8AC3E}">
        <p14:creationId xmlns:p14="http://schemas.microsoft.com/office/powerpoint/2010/main" val="45102675"/>
      </p:ext>
    </p:extLst>
  </p:cSld>
  <p:clrMapOvr>
    <a:overrideClrMapping bg1="dk1" tx1="lt1" bg2="dk2" tx2="lt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Full_Image_Center">
    <p:bg>
      <p:bgRef idx="1001">
        <a:schemeClr val="bg2"/>
      </p:bgRef>
    </p:bg>
    <p:spTree>
      <p:nvGrpSpPr>
        <p:cNvPr id="1" name=""/>
        <p:cNvGrpSpPr/>
        <p:nvPr/>
      </p:nvGrpSpPr>
      <p:grpSpPr>
        <a:xfrm>
          <a:off x="0" y="0"/>
          <a:ext cx="0" cy="0"/>
          <a:chOff x="0" y="0"/>
          <a:chExt cx="0" cy="0"/>
        </a:xfrm>
      </p:grpSpPr>
      <p:sp>
        <p:nvSpPr>
          <p:cNvPr id="11" name="Title 1"/>
          <p:cNvSpPr>
            <a:spLocks noGrp="1"/>
          </p:cNvSpPr>
          <p:nvPr>
            <p:ph type="title"/>
          </p:nvPr>
        </p:nvSpPr>
        <p:spPr>
          <a:xfrm>
            <a:off x="548640" y="183898"/>
            <a:ext cx="13510260" cy="873186"/>
          </a:xfrm>
        </p:spPr>
        <p:txBody>
          <a:bodyPr>
            <a:normAutofit/>
          </a:bodyPr>
          <a:lstStyle>
            <a:lvl1pPr>
              <a:defRPr sz="3800">
                <a:solidFill>
                  <a:schemeClr val="tx1"/>
                </a:solidFill>
              </a:defRPr>
            </a:lvl1pPr>
          </a:lstStyle>
          <a:p>
            <a:r>
              <a:rPr lang="en-US" dirty="0"/>
              <a:t>Click to edit Master title style</a:t>
            </a:r>
          </a:p>
        </p:txBody>
      </p:sp>
      <p:sp>
        <p:nvSpPr>
          <p:cNvPr id="5" name="Picture Placeholder 4">
            <a:extLst>
              <a:ext uri="{FF2B5EF4-FFF2-40B4-BE49-F238E27FC236}">
                <a16:creationId xmlns:a16="http://schemas.microsoft.com/office/drawing/2014/main" id="{E78145AC-79A9-834A-BE03-ED99E1BFF7AC}"/>
              </a:ext>
            </a:extLst>
          </p:cNvPr>
          <p:cNvSpPr>
            <a:spLocks noGrp="1"/>
          </p:cNvSpPr>
          <p:nvPr>
            <p:ph type="pic" sz="quarter" idx="10"/>
          </p:nvPr>
        </p:nvSpPr>
        <p:spPr>
          <a:xfrm>
            <a:off x="548640" y="1645920"/>
            <a:ext cx="13514832" cy="5338152"/>
          </a:xfrm>
          <a:prstGeom prst="rect">
            <a:avLst/>
          </a:prstGeom>
        </p:spPr>
        <p:txBody>
          <a:bodyPr/>
          <a:lstStyle/>
          <a:p>
            <a:endParaRPr lang="en-US"/>
          </a:p>
        </p:txBody>
      </p:sp>
    </p:spTree>
    <p:extLst>
      <p:ext uri="{BB962C8B-B14F-4D97-AF65-F5344CB8AC3E}">
        <p14:creationId xmlns:p14="http://schemas.microsoft.com/office/powerpoint/2010/main" val="3345301845"/>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Full_Bleed_Image">
    <p:bg>
      <p:bgRef idx="1001">
        <a:schemeClr val="bg2"/>
      </p:bgRef>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E78145AC-79A9-834A-BE03-ED99E1BFF7AC}"/>
              </a:ext>
            </a:extLst>
          </p:cNvPr>
          <p:cNvSpPr>
            <a:spLocks noGrp="1"/>
          </p:cNvSpPr>
          <p:nvPr>
            <p:ph type="pic" sz="quarter" idx="10"/>
          </p:nvPr>
        </p:nvSpPr>
        <p:spPr>
          <a:xfrm>
            <a:off x="0" y="1"/>
            <a:ext cx="14630400" cy="8229598"/>
          </a:xfrm>
          <a:prstGeom prst="rect">
            <a:avLst/>
          </a:prstGeom>
        </p:spPr>
        <p:txBody>
          <a:bodyPr/>
          <a:lstStyle/>
          <a:p>
            <a:endParaRPr lang="en-US" dirty="0"/>
          </a:p>
        </p:txBody>
      </p:sp>
      <p:sp>
        <p:nvSpPr>
          <p:cNvPr id="11" name="Title 1"/>
          <p:cNvSpPr>
            <a:spLocks noGrp="1"/>
          </p:cNvSpPr>
          <p:nvPr>
            <p:ph type="title"/>
          </p:nvPr>
        </p:nvSpPr>
        <p:spPr>
          <a:xfrm>
            <a:off x="548640" y="183898"/>
            <a:ext cx="13510260" cy="873186"/>
          </a:xfrm>
        </p:spPr>
        <p:txBody>
          <a:bodyPr>
            <a:normAutofit/>
          </a:bodyPr>
          <a:lstStyle>
            <a:lvl1pPr>
              <a:defRPr sz="3800">
                <a:solidFill>
                  <a:schemeClr val="tx1"/>
                </a:solidFill>
              </a:defRPr>
            </a:lvl1pPr>
          </a:lstStyle>
          <a:p>
            <a:r>
              <a:rPr lang="en-US" dirty="0"/>
              <a:t>Click to edit Master title style</a:t>
            </a:r>
          </a:p>
        </p:txBody>
      </p:sp>
    </p:spTree>
    <p:extLst>
      <p:ext uri="{BB962C8B-B14F-4D97-AF65-F5344CB8AC3E}">
        <p14:creationId xmlns:p14="http://schemas.microsoft.com/office/powerpoint/2010/main" val="2243516696"/>
      </p:ext>
    </p:extLst>
  </p:cSld>
  <p:clrMapOvr>
    <a:overrideClrMapping bg1="dk1" tx1="lt1" bg2="dk2" tx2="lt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lor_Logo_Customer_Wall">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183898"/>
            <a:ext cx="13510260" cy="872307"/>
          </a:xfrm>
        </p:spPr>
        <p:txBody>
          <a:bodyPr/>
          <a:lstStyle/>
          <a:p>
            <a:r>
              <a:rPr lang="en-US" dirty="0"/>
              <a:t>Click to edit Master title style</a:t>
            </a:r>
          </a:p>
        </p:txBody>
      </p:sp>
      <p:sp>
        <p:nvSpPr>
          <p:cNvPr id="4" name="Rectangle 3">
            <a:extLst>
              <a:ext uri="{FF2B5EF4-FFF2-40B4-BE49-F238E27FC236}">
                <a16:creationId xmlns:a16="http://schemas.microsoft.com/office/drawing/2014/main" id="{1A65E46D-C0D2-7642-AF47-40070CB7653A}"/>
              </a:ext>
            </a:extLst>
          </p:cNvPr>
          <p:cNvSpPr/>
          <p:nvPr userDrawn="1"/>
        </p:nvSpPr>
        <p:spPr>
          <a:xfrm>
            <a:off x="0" y="1645920"/>
            <a:ext cx="14630400" cy="5329645"/>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4608" dirty="0"/>
          </a:p>
        </p:txBody>
      </p:sp>
      <p:sp>
        <p:nvSpPr>
          <p:cNvPr id="15" name="Picture Placeholder 2"/>
          <p:cNvSpPr>
            <a:spLocks noGrp="1"/>
          </p:cNvSpPr>
          <p:nvPr>
            <p:ph type="pic" sz="quarter" idx="16"/>
          </p:nvPr>
        </p:nvSpPr>
        <p:spPr>
          <a:xfrm>
            <a:off x="946674" y="2502419"/>
            <a:ext cx="2028989" cy="1518157"/>
          </a:xfrm>
          <a:prstGeom prst="rect">
            <a:avLst/>
          </a:prstGeom>
        </p:spPr>
        <p:txBody>
          <a:bodyPr>
            <a:normAutofit/>
          </a:bodyPr>
          <a:lstStyle>
            <a:lvl1pPr>
              <a:defRPr sz="2240">
                <a:solidFill>
                  <a:schemeClr val="bg1"/>
                </a:solidFill>
              </a:defRPr>
            </a:lvl1pPr>
          </a:lstStyle>
          <a:p>
            <a:r>
              <a:rPr lang="en-US" dirty="0"/>
              <a:t>Drag picture to placeholder or click icon to add</a:t>
            </a:r>
          </a:p>
        </p:txBody>
      </p:sp>
      <p:sp>
        <p:nvSpPr>
          <p:cNvPr id="16" name="Picture Placeholder 2"/>
          <p:cNvSpPr>
            <a:spLocks noGrp="1"/>
          </p:cNvSpPr>
          <p:nvPr>
            <p:ph type="pic" sz="quarter" idx="17"/>
          </p:nvPr>
        </p:nvSpPr>
        <p:spPr>
          <a:xfrm>
            <a:off x="4328298" y="2502419"/>
            <a:ext cx="2028989" cy="1518157"/>
          </a:xfrm>
          <a:prstGeom prst="rect">
            <a:avLst/>
          </a:prstGeom>
        </p:spPr>
        <p:txBody>
          <a:bodyPr>
            <a:normAutofit/>
          </a:bodyPr>
          <a:lstStyle>
            <a:lvl1pPr>
              <a:defRPr sz="2240">
                <a:solidFill>
                  <a:schemeClr val="bg1"/>
                </a:solidFill>
              </a:defRPr>
            </a:lvl1pPr>
          </a:lstStyle>
          <a:p>
            <a:r>
              <a:rPr lang="en-US"/>
              <a:t>Drag picture to placeholder or click icon to add</a:t>
            </a:r>
            <a:endParaRPr lang="en-US" dirty="0"/>
          </a:p>
        </p:txBody>
      </p:sp>
      <p:sp>
        <p:nvSpPr>
          <p:cNvPr id="17" name="Picture Placeholder 2"/>
          <p:cNvSpPr>
            <a:spLocks noGrp="1"/>
          </p:cNvSpPr>
          <p:nvPr>
            <p:ph type="pic" sz="quarter" idx="18"/>
          </p:nvPr>
        </p:nvSpPr>
        <p:spPr>
          <a:xfrm>
            <a:off x="7709922" y="2502419"/>
            <a:ext cx="2028989" cy="1518157"/>
          </a:xfrm>
          <a:prstGeom prst="rect">
            <a:avLst/>
          </a:prstGeom>
        </p:spPr>
        <p:txBody>
          <a:bodyPr>
            <a:normAutofit/>
          </a:bodyPr>
          <a:lstStyle>
            <a:lvl1pPr>
              <a:defRPr sz="2240">
                <a:solidFill>
                  <a:schemeClr val="bg1"/>
                </a:solidFill>
              </a:defRPr>
            </a:lvl1pPr>
          </a:lstStyle>
          <a:p>
            <a:r>
              <a:rPr lang="en-US"/>
              <a:t>Drag picture to placeholder or click icon to add</a:t>
            </a:r>
            <a:endParaRPr lang="en-US" dirty="0"/>
          </a:p>
        </p:txBody>
      </p:sp>
      <p:sp>
        <p:nvSpPr>
          <p:cNvPr id="18" name="Picture Placeholder 2"/>
          <p:cNvSpPr>
            <a:spLocks noGrp="1"/>
          </p:cNvSpPr>
          <p:nvPr>
            <p:ph type="pic" sz="quarter" idx="19"/>
          </p:nvPr>
        </p:nvSpPr>
        <p:spPr>
          <a:xfrm>
            <a:off x="11091547" y="2502419"/>
            <a:ext cx="2028989" cy="1518157"/>
          </a:xfrm>
          <a:prstGeom prst="rect">
            <a:avLst/>
          </a:prstGeom>
        </p:spPr>
        <p:txBody>
          <a:bodyPr>
            <a:normAutofit/>
          </a:bodyPr>
          <a:lstStyle>
            <a:lvl1pPr>
              <a:defRPr sz="2240">
                <a:solidFill>
                  <a:schemeClr val="bg1"/>
                </a:solidFill>
              </a:defRPr>
            </a:lvl1pPr>
          </a:lstStyle>
          <a:p>
            <a:r>
              <a:rPr lang="en-US"/>
              <a:t>Drag picture to placeholder or click icon to add</a:t>
            </a:r>
            <a:endParaRPr lang="en-US" dirty="0"/>
          </a:p>
        </p:txBody>
      </p:sp>
      <p:sp>
        <p:nvSpPr>
          <p:cNvPr id="19" name="Picture Placeholder 2">
            <a:extLst>
              <a:ext uri="{FF2B5EF4-FFF2-40B4-BE49-F238E27FC236}">
                <a16:creationId xmlns:a16="http://schemas.microsoft.com/office/drawing/2014/main" id="{F1543634-A736-BA4B-A10A-31EE0B13FC13}"/>
              </a:ext>
            </a:extLst>
          </p:cNvPr>
          <p:cNvSpPr>
            <a:spLocks noGrp="1"/>
          </p:cNvSpPr>
          <p:nvPr>
            <p:ph type="pic" sz="quarter" idx="20"/>
          </p:nvPr>
        </p:nvSpPr>
        <p:spPr>
          <a:xfrm>
            <a:off x="946674" y="4696978"/>
            <a:ext cx="2028989" cy="1518157"/>
          </a:xfrm>
          <a:prstGeom prst="rect">
            <a:avLst/>
          </a:prstGeom>
        </p:spPr>
        <p:txBody>
          <a:bodyPr>
            <a:normAutofit/>
          </a:bodyPr>
          <a:lstStyle>
            <a:lvl1pPr>
              <a:defRPr sz="2240">
                <a:solidFill>
                  <a:schemeClr val="bg1"/>
                </a:solidFill>
              </a:defRPr>
            </a:lvl1pPr>
          </a:lstStyle>
          <a:p>
            <a:r>
              <a:rPr lang="en-US"/>
              <a:t>Drag picture to placeholder or click icon to add</a:t>
            </a:r>
            <a:endParaRPr lang="en-US" dirty="0"/>
          </a:p>
        </p:txBody>
      </p:sp>
      <p:sp>
        <p:nvSpPr>
          <p:cNvPr id="20" name="Picture Placeholder 2">
            <a:extLst>
              <a:ext uri="{FF2B5EF4-FFF2-40B4-BE49-F238E27FC236}">
                <a16:creationId xmlns:a16="http://schemas.microsoft.com/office/drawing/2014/main" id="{31DBC551-9315-1F45-A672-93EB06007494}"/>
              </a:ext>
            </a:extLst>
          </p:cNvPr>
          <p:cNvSpPr>
            <a:spLocks noGrp="1"/>
          </p:cNvSpPr>
          <p:nvPr>
            <p:ph type="pic" sz="quarter" idx="21"/>
          </p:nvPr>
        </p:nvSpPr>
        <p:spPr>
          <a:xfrm>
            <a:off x="4328298" y="4696978"/>
            <a:ext cx="2028989" cy="1518157"/>
          </a:xfrm>
          <a:prstGeom prst="rect">
            <a:avLst/>
          </a:prstGeom>
        </p:spPr>
        <p:txBody>
          <a:bodyPr>
            <a:normAutofit/>
          </a:bodyPr>
          <a:lstStyle>
            <a:lvl1pPr>
              <a:defRPr sz="2240">
                <a:solidFill>
                  <a:schemeClr val="bg1"/>
                </a:solidFill>
              </a:defRPr>
            </a:lvl1pPr>
          </a:lstStyle>
          <a:p>
            <a:r>
              <a:rPr lang="en-US"/>
              <a:t>Drag picture to placeholder or click icon to add</a:t>
            </a:r>
            <a:endParaRPr lang="en-US" dirty="0"/>
          </a:p>
        </p:txBody>
      </p:sp>
      <p:sp>
        <p:nvSpPr>
          <p:cNvPr id="21" name="Picture Placeholder 2">
            <a:extLst>
              <a:ext uri="{FF2B5EF4-FFF2-40B4-BE49-F238E27FC236}">
                <a16:creationId xmlns:a16="http://schemas.microsoft.com/office/drawing/2014/main" id="{AB66963A-7841-B341-A47C-7BEFE1F8B8CA}"/>
              </a:ext>
            </a:extLst>
          </p:cNvPr>
          <p:cNvSpPr>
            <a:spLocks noGrp="1"/>
          </p:cNvSpPr>
          <p:nvPr>
            <p:ph type="pic" sz="quarter" idx="22"/>
          </p:nvPr>
        </p:nvSpPr>
        <p:spPr>
          <a:xfrm>
            <a:off x="7709922" y="4696978"/>
            <a:ext cx="2028989" cy="1518157"/>
          </a:xfrm>
          <a:prstGeom prst="rect">
            <a:avLst/>
          </a:prstGeom>
        </p:spPr>
        <p:txBody>
          <a:bodyPr>
            <a:normAutofit/>
          </a:bodyPr>
          <a:lstStyle>
            <a:lvl1pPr>
              <a:defRPr sz="2240">
                <a:solidFill>
                  <a:schemeClr val="bg1"/>
                </a:solidFill>
              </a:defRPr>
            </a:lvl1pPr>
          </a:lstStyle>
          <a:p>
            <a:r>
              <a:rPr lang="en-US"/>
              <a:t>Drag picture to placeholder or click icon to add</a:t>
            </a:r>
            <a:endParaRPr lang="en-US" dirty="0"/>
          </a:p>
        </p:txBody>
      </p:sp>
      <p:sp>
        <p:nvSpPr>
          <p:cNvPr id="22" name="Picture Placeholder 2">
            <a:extLst>
              <a:ext uri="{FF2B5EF4-FFF2-40B4-BE49-F238E27FC236}">
                <a16:creationId xmlns:a16="http://schemas.microsoft.com/office/drawing/2014/main" id="{7E808491-1004-3A44-87DD-41D21C9E39C3}"/>
              </a:ext>
            </a:extLst>
          </p:cNvPr>
          <p:cNvSpPr>
            <a:spLocks noGrp="1"/>
          </p:cNvSpPr>
          <p:nvPr>
            <p:ph type="pic" sz="quarter" idx="23"/>
          </p:nvPr>
        </p:nvSpPr>
        <p:spPr>
          <a:xfrm>
            <a:off x="11091547" y="4696978"/>
            <a:ext cx="2028989" cy="1518157"/>
          </a:xfrm>
          <a:prstGeom prst="rect">
            <a:avLst/>
          </a:prstGeom>
        </p:spPr>
        <p:txBody>
          <a:bodyPr>
            <a:normAutofit/>
          </a:bodyPr>
          <a:lstStyle>
            <a:lvl1pPr>
              <a:defRPr sz="2240">
                <a:solidFill>
                  <a:schemeClr val="bg1"/>
                </a:solidFill>
              </a:defRPr>
            </a:lvl1pPr>
          </a:lstStyle>
          <a:p>
            <a:r>
              <a:rPr lang="en-US" dirty="0"/>
              <a:t>Drag picture to placeholder or click icon to add</a:t>
            </a:r>
          </a:p>
        </p:txBody>
      </p:sp>
    </p:spTree>
    <p:extLst>
      <p:ext uri="{BB962C8B-B14F-4D97-AF65-F5344CB8AC3E}">
        <p14:creationId xmlns:p14="http://schemas.microsoft.com/office/powerpoint/2010/main" val="2302505678"/>
      </p:ext>
    </p:extLst>
  </p:cSld>
  <p:clrMapOvr>
    <a:overrideClrMapping bg1="dk1" tx1="lt1" bg2="dk2" tx2="lt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White_Logo_Customer_Wall">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183898"/>
            <a:ext cx="13510260" cy="872307"/>
          </a:xfrm>
        </p:spPr>
        <p:txBody>
          <a:bodyPr/>
          <a:lstStyle/>
          <a:p>
            <a:r>
              <a:rPr lang="en-US" dirty="0"/>
              <a:t>Click to edit Master title style</a:t>
            </a:r>
          </a:p>
        </p:txBody>
      </p:sp>
      <p:sp>
        <p:nvSpPr>
          <p:cNvPr id="9" name="Picture Placeholder 2"/>
          <p:cNvSpPr>
            <a:spLocks noGrp="1"/>
          </p:cNvSpPr>
          <p:nvPr>
            <p:ph type="pic" sz="quarter" idx="20"/>
          </p:nvPr>
        </p:nvSpPr>
        <p:spPr>
          <a:xfrm>
            <a:off x="543902" y="1873467"/>
            <a:ext cx="3078480" cy="1761067"/>
          </a:xfrm>
          <a:prstGeom prst="rect">
            <a:avLst/>
          </a:prstGeom>
        </p:spPr>
        <p:txBody>
          <a:bodyPr>
            <a:normAutofit/>
          </a:bodyPr>
          <a:lstStyle>
            <a:lvl1pPr>
              <a:defRPr sz="2200">
                <a:solidFill>
                  <a:srgbClr val="C2C2C1"/>
                </a:solidFill>
              </a:defRPr>
            </a:lvl1pPr>
          </a:lstStyle>
          <a:p>
            <a:r>
              <a:rPr lang="en-US" dirty="0"/>
              <a:t>Drag picture to placeholder or click icon to add</a:t>
            </a:r>
          </a:p>
        </p:txBody>
      </p:sp>
      <p:sp>
        <p:nvSpPr>
          <p:cNvPr id="10" name="Picture Placeholder 2"/>
          <p:cNvSpPr>
            <a:spLocks noGrp="1"/>
          </p:cNvSpPr>
          <p:nvPr>
            <p:ph type="pic" sz="quarter" idx="21"/>
          </p:nvPr>
        </p:nvSpPr>
        <p:spPr>
          <a:xfrm>
            <a:off x="5566893" y="1873467"/>
            <a:ext cx="3078480" cy="1761067"/>
          </a:xfrm>
          <a:prstGeom prst="rect">
            <a:avLst/>
          </a:prstGeom>
        </p:spPr>
        <p:txBody>
          <a:bodyPr>
            <a:normAutofit/>
          </a:bodyPr>
          <a:lstStyle>
            <a:lvl1pPr>
              <a:defRPr sz="2200">
                <a:solidFill>
                  <a:srgbClr val="C2C2C1"/>
                </a:solidFill>
              </a:defRPr>
            </a:lvl1pPr>
          </a:lstStyle>
          <a:p>
            <a:r>
              <a:rPr lang="en-US"/>
              <a:t>Drag picture to placeholder or click icon to add</a:t>
            </a:r>
            <a:endParaRPr lang="en-US" dirty="0"/>
          </a:p>
        </p:txBody>
      </p:sp>
      <p:sp>
        <p:nvSpPr>
          <p:cNvPr id="11" name="Picture Placeholder 2"/>
          <p:cNvSpPr>
            <a:spLocks noGrp="1"/>
          </p:cNvSpPr>
          <p:nvPr>
            <p:ph type="pic" sz="quarter" idx="22"/>
          </p:nvPr>
        </p:nvSpPr>
        <p:spPr>
          <a:xfrm>
            <a:off x="10599958" y="1873467"/>
            <a:ext cx="3078480" cy="1761067"/>
          </a:xfrm>
          <a:prstGeom prst="rect">
            <a:avLst/>
          </a:prstGeom>
        </p:spPr>
        <p:txBody>
          <a:bodyPr>
            <a:normAutofit/>
          </a:bodyPr>
          <a:lstStyle>
            <a:lvl1pPr>
              <a:defRPr sz="2200">
                <a:solidFill>
                  <a:srgbClr val="C2C2C1"/>
                </a:solidFill>
              </a:defRPr>
            </a:lvl1pPr>
          </a:lstStyle>
          <a:p>
            <a:r>
              <a:rPr lang="en-US"/>
              <a:t>Drag picture to placeholder or click icon to add</a:t>
            </a:r>
            <a:endParaRPr lang="en-US" dirty="0"/>
          </a:p>
        </p:txBody>
      </p:sp>
      <p:sp>
        <p:nvSpPr>
          <p:cNvPr id="12" name="Picture Placeholder 2"/>
          <p:cNvSpPr>
            <a:spLocks noGrp="1"/>
          </p:cNvSpPr>
          <p:nvPr>
            <p:ph type="pic" sz="quarter" idx="23"/>
          </p:nvPr>
        </p:nvSpPr>
        <p:spPr>
          <a:xfrm>
            <a:off x="543902" y="4451796"/>
            <a:ext cx="3078480" cy="1761067"/>
          </a:xfrm>
          <a:prstGeom prst="rect">
            <a:avLst/>
          </a:prstGeom>
        </p:spPr>
        <p:txBody>
          <a:bodyPr>
            <a:normAutofit/>
          </a:bodyPr>
          <a:lstStyle>
            <a:lvl1pPr>
              <a:defRPr sz="2200">
                <a:solidFill>
                  <a:srgbClr val="C2C2C1"/>
                </a:solidFill>
              </a:defRPr>
            </a:lvl1pPr>
          </a:lstStyle>
          <a:p>
            <a:r>
              <a:rPr lang="en-US"/>
              <a:t>Drag picture to placeholder or click icon to add</a:t>
            </a:r>
            <a:endParaRPr lang="en-US" dirty="0"/>
          </a:p>
        </p:txBody>
      </p:sp>
      <p:sp>
        <p:nvSpPr>
          <p:cNvPr id="13" name="Picture Placeholder 2"/>
          <p:cNvSpPr>
            <a:spLocks noGrp="1"/>
          </p:cNvSpPr>
          <p:nvPr>
            <p:ph type="pic" sz="quarter" idx="24"/>
          </p:nvPr>
        </p:nvSpPr>
        <p:spPr>
          <a:xfrm>
            <a:off x="5566893" y="4451796"/>
            <a:ext cx="3078480" cy="1761067"/>
          </a:xfrm>
          <a:prstGeom prst="rect">
            <a:avLst/>
          </a:prstGeom>
        </p:spPr>
        <p:txBody>
          <a:bodyPr>
            <a:normAutofit/>
          </a:bodyPr>
          <a:lstStyle>
            <a:lvl1pPr>
              <a:defRPr sz="2200">
                <a:solidFill>
                  <a:srgbClr val="C2C2C1"/>
                </a:solidFill>
              </a:defRPr>
            </a:lvl1pPr>
          </a:lstStyle>
          <a:p>
            <a:r>
              <a:rPr lang="en-US"/>
              <a:t>Drag picture to placeholder or click icon to add</a:t>
            </a:r>
            <a:endParaRPr lang="en-US" dirty="0"/>
          </a:p>
        </p:txBody>
      </p:sp>
      <p:sp>
        <p:nvSpPr>
          <p:cNvPr id="14" name="Picture Placeholder 2"/>
          <p:cNvSpPr>
            <a:spLocks noGrp="1"/>
          </p:cNvSpPr>
          <p:nvPr>
            <p:ph type="pic" sz="quarter" idx="25"/>
          </p:nvPr>
        </p:nvSpPr>
        <p:spPr>
          <a:xfrm>
            <a:off x="10599958" y="4451796"/>
            <a:ext cx="3078480" cy="1761067"/>
          </a:xfrm>
          <a:prstGeom prst="rect">
            <a:avLst/>
          </a:prstGeom>
        </p:spPr>
        <p:txBody>
          <a:bodyPr>
            <a:normAutofit/>
          </a:bodyPr>
          <a:lstStyle>
            <a:lvl1pPr>
              <a:defRPr sz="2200">
                <a:solidFill>
                  <a:srgbClr val="C2C2C1"/>
                </a:solidFill>
              </a:defRPr>
            </a:lvl1pPr>
          </a:lstStyle>
          <a:p>
            <a:r>
              <a:rPr lang="en-US"/>
              <a:t>Drag picture to placeholder or click icon to add</a:t>
            </a:r>
            <a:endParaRPr lang="en-US" dirty="0"/>
          </a:p>
        </p:txBody>
      </p:sp>
    </p:spTree>
    <p:extLst>
      <p:ext uri="{BB962C8B-B14F-4D97-AF65-F5344CB8AC3E}">
        <p14:creationId xmlns:p14="http://schemas.microsoft.com/office/powerpoint/2010/main" val="3273093039"/>
      </p:ext>
    </p:extLst>
  </p:cSld>
  <p:clrMapOvr>
    <a:overrideClrMapping bg1="dk1" tx1="lt1" bg2="dk2" tx2="lt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abl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183898"/>
            <a:ext cx="13510260" cy="873186"/>
          </a:xfrm>
        </p:spPr>
        <p:txBody>
          <a:bodyPr/>
          <a:lstStyle>
            <a:lvl1pPr>
              <a:defRPr>
                <a:solidFill>
                  <a:schemeClr val="tx1"/>
                </a:solidFill>
              </a:defRPr>
            </a:lvl1pPr>
          </a:lstStyle>
          <a:p>
            <a:r>
              <a:rPr lang="en-US" dirty="0"/>
              <a:t>Click to edit Master title style</a:t>
            </a:r>
          </a:p>
        </p:txBody>
      </p:sp>
      <p:sp>
        <p:nvSpPr>
          <p:cNvPr id="4" name="Table Placeholder 3">
            <a:extLst>
              <a:ext uri="{FF2B5EF4-FFF2-40B4-BE49-F238E27FC236}">
                <a16:creationId xmlns:a16="http://schemas.microsoft.com/office/drawing/2014/main" id="{D7DA888D-68DB-9B44-9614-56AAAAE93DF7}"/>
              </a:ext>
            </a:extLst>
          </p:cNvPr>
          <p:cNvSpPr>
            <a:spLocks noGrp="1"/>
          </p:cNvSpPr>
          <p:nvPr>
            <p:ph type="tbl" sz="quarter" idx="10"/>
          </p:nvPr>
        </p:nvSpPr>
        <p:spPr>
          <a:xfrm>
            <a:off x="548640" y="1645920"/>
            <a:ext cx="13510260" cy="5003800"/>
          </a:xfrm>
          <a:prstGeom prst="rect">
            <a:avLst/>
          </a:prstGeom>
        </p:spPr>
        <p:txBody>
          <a:bodyPr/>
          <a:lstStyle/>
          <a:p>
            <a:endParaRPr lang="en-US" dirty="0"/>
          </a:p>
        </p:txBody>
      </p:sp>
    </p:spTree>
    <p:extLst>
      <p:ext uri="{BB962C8B-B14F-4D97-AF65-F5344CB8AC3E}">
        <p14:creationId xmlns:p14="http://schemas.microsoft.com/office/powerpoint/2010/main" val="2636968817"/>
      </p:ext>
    </p:extLst>
  </p:cSld>
  <p:clrMapOvr>
    <a:overrideClrMapping bg1="dk1" tx1="lt1" bg2="dk2" tx2="lt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ar_Char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48639" y="183898"/>
            <a:ext cx="13509463" cy="873186"/>
          </a:xfrm>
        </p:spPr>
        <p:txBody>
          <a:bodyPr/>
          <a:lstStyle>
            <a:lvl1pPr>
              <a:defRPr>
                <a:solidFill>
                  <a:schemeClr val="tx1"/>
                </a:solidFill>
              </a:defRPr>
            </a:lvl1pPr>
          </a:lstStyle>
          <a:p>
            <a:r>
              <a:rPr lang="en-US" dirty="0"/>
              <a:t>Click to edit Master title style</a:t>
            </a:r>
          </a:p>
        </p:txBody>
      </p:sp>
      <p:sp>
        <p:nvSpPr>
          <p:cNvPr id="7" name="Chart Placeholder 5">
            <a:extLst>
              <a:ext uri="{FF2B5EF4-FFF2-40B4-BE49-F238E27FC236}">
                <a16:creationId xmlns:a16="http://schemas.microsoft.com/office/drawing/2014/main" id="{B3C77AD1-4897-A546-B977-5EB6406DD175}"/>
              </a:ext>
            </a:extLst>
          </p:cNvPr>
          <p:cNvSpPr>
            <a:spLocks noGrp="1"/>
          </p:cNvSpPr>
          <p:nvPr>
            <p:ph type="chart" sz="quarter" idx="10"/>
          </p:nvPr>
        </p:nvSpPr>
        <p:spPr>
          <a:xfrm>
            <a:off x="548640" y="1645920"/>
            <a:ext cx="13510260" cy="5445760"/>
          </a:xfrm>
          <a:prstGeom prst="rect">
            <a:avLst/>
          </a:prstGeom>
        </p:spPr>
        <p:txBody>
          <a:bodyPr/>
          <a:lstStyle/>
          <a:p>
            <a:endParaRPr lang="en-US" dirty="0"/>
          </a:p>
        </p:txBody>
      </p:sp>
    </p:spTree>
    <p:extLst>
      <p:ext uri="{BB962C8B-B14F-4D97-AF65-F5344CB8AC3E}">
        <p14:creationId xmlns:p14="http://schemas.microsoft.com/office/powerpoint/2010/main" val="1547361944"/>
      </p:ext>
    </p:extLst>
  </p:cSld>
  <p:clrMapOvr>
    <a:overrideClrMapping bg1="dk1" tx1="lt1" bg2="dk2" tx2="lt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Pie_Char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48639" y="183898"/>
            <a:ext cx="13509463" cy="872307"/>
          </a:xfrm>
        </p:spPr>
        <p:txBody>
          <a:bodyPr/>
          <a:lstStyle/>
          <a:p>
            <a:r>
              <a:rPr lang="en-US" dirty="0"/>
              <a:t>Click to edit Master title style</a:t>
            </a:r>
          </a:p>
        </p:txBody>
      </p:sp>
      <p:sp>
        <p:nvSpPr>
          <p:cNvPr id="6" name="Chart Placeholder 5">
            <a:extLst>
              <a:ext uri="{FF2B5EF4-FFF2-40B4-BE49-F238E27FC236}">
                <a16:creationId xmlns:a16="http://schemas.microsoft.com/office/drawing/2014/main" id="{A878172D-692F-8A47-81EA-89C129774DB9}"/>
              </a:ext>
            </a:extLst>
          </p:cNvPr>
          <p:cNvSpPr>
            <a:spLocks noGrp="1"/>
          </p:cNvSpPr>
          <p:nvPr>
            <p:ph type="chart" sz="quarter" idx="10"/>
          </p:nvPr>
        </p:nvSpPr>
        <p:spPr>
          <a:xfrm>
            <a:off x="548640" y="1645920"/>
            <a:ext cx="13510260" cy="5445760"/>
          </a:xfrm>
          <a:prstGeom prst="rect">
            <a:avLst/>
          </a:prstGeom>
        </p:spPr>
        <p:txBody>
          <a:bodyPr/>
          <a:lstStyle/>
          <a:p>
            <a:endParaRPr lang="en-US" dirty="0"/>
          </a:p>
        </p:txBody>
      </p:sp>
    </p:spTree>
    <p:extLst>
      <p:ext uri="{BB962C8B-B14F-4D97-AF65-F5344CB8AC3E}">
        <p14:creationId xmlns:p14="http://schemas.microsoft.com/office/powerpoint/2010/main" val="467069072"/>
      </p:ext>
    </p:extLst>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Line_Char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48639" y="183898"/>
            <a:ext cx="13509463" cy="872307"/>
          </a:xfrm>
        </p:spPr>
        <p:txBody>
          <a:bodyPr/>
          <a:lstStyle/>
          <a:p>
            <a:r>
              <a:rPr lang="en-US" dirty="0"/>
              <a:t>Click to edit Master title style</a:t>
            </a:r>
          </a:p>
        </p:txBody>
      </p:sp>
      <p:sp>
        <p:nvSpPr>
          <p:cNvPr id="5" name="Chart Placeholder 5">
            <a:extLst>
              <a:ext uri="{FF2B5EF4-FFF2-40B4-BE49-F238E27FC236}">
                <a16:creationId xmlns:a16="http://schemas.microsoft.com/office/drawing/2014/main" id="{08142378-5C5C-8B40-AD27-B9BE74F6EA71}"/>
              </a:ext>
            </a:extLst>
          </p:cNvPr>
          <p:cNvSpPr>
            <a:spLocks noGrp="1"/>
          </p:cNvSpPr>
          <p:nvPr>
            <p:ph type="chart" sz="quarter" idx="10"/>
          </p:nvPr>
        </p:nvSpPr>
        <p:spPr>
          <a:xfrm>
            <a:off x="548640" y="1645920"/>
            <a:ext cx="13510260" cy="5445760"/>
          </a:xfrm>
          <a:prstGeom prst="rect">
            <a:avLst/>
          </a:prstGeom>
        </p:spPr>
        <p:txBody>
          <a:bodyPr/>
          <a:lstStyle/>
          <a:p>
            <a:endParaRPr lang="en-US" dirty="0"/>
          </a:p>
        </p:txBody>
      </p:sp>
    </p:spTree>
    <p:extLst>
      <p:ext uri="{BB962C8B-B14F-4D97-AF65-F5344CB8AC3E}">
        <p14:creationId xmlns:p14="http://schemas.microsoft.com/office/powerpoint/2010/main" val="3083304637"/>
      </p:ext>
    </p:extLst>
  </p:cSld>
  <p:clrMapOvr>
    <a:overrideClrMapping bg1="dk1" tx1="lt1" bg2="dk2" tx2="lt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amp;A">
    <p:bg>
      <p:bgRef idx="1001">
        <a:schemeClr val="bg2"/>
      </p:bgRef>
    </p:bg>
    <p:spTree>
      <p:nvGrpSpPr>
        <p:cNvPr id="1" name=""/>
        <p:cNvGrpSpPr/>
        <p:nvPr/>
      </p:nvGrpSpPr>
      <p:grpSpPr>
        <a:xfrm>
          <a:off x="0" y="0"/>
          <a:ext cx="0" cy="0"/>
          <a:chOff x="0" y="0"/>
          <a:chExt cx="0" cy="0"/>
        </a:xfrm>
      </p:grpSpPr>
      <p:sp>
        <p:nvSpPr>
          <p:cNvPr id="4" name="TextBox 3"/>
          <p:cNvSpPr txBox="1"/>
          <p:nvPr userDrawn="1"/>
        </p:nvSpPr>
        <p:spPr>
          <a:xfrm>
            <a:off x="4516341" y="-4548146"/>
            <a:ext cx="184731" cy="801438"/>
          </a:xfrm>
          <a:prstGeom prst="rect">
            <a:avLst/>
          </a:prstGeom>
          <a:noFill/>
        </p:spPr>
        <p:txBody>
          <a:bodyPr wrap="none" rtlCol="0">
            <a:spAutoFit/>
          </a:bodyPr>
          <a:lstStyle/>
          <a:p>
            <a:endParaRPr lang="en-US" sz="4608" dirty="0"/>
          </a:p>
        </p:txBody>
      </p:sp>
      <p:pic>
        <p:nvPicPr>
          <p:cNvPr id="7" name="Picture 6">
            <a:extLst>
              <a:ext uri="{FF2B5EF4-FFF2-40B4-BE49-F238E27FC236}">
                <a16:creationId xmlns:a16="http://schemas.microsoft.com/office/drawing/2014/main" id="{94053231-B084-9A4B-85F1-9250CD176FC1}"/>
              </a:ext>
            </a:extLst>
          </p:cNvPr>
          <p:cNvPicPr>
            <a:picLocks noChangeAspect="1"/>
          </p:cNvPicPr>
          <p:nvPr userDrawn="1"/>
        </p:nvPicPr>
        <p:blipFill rotWithShape="1">
          <a:blip r:embed="rId2"/>
          <a:srcRect l="23063" r="13445"/>
          <a:stretch/>
        </p:blipFill>
        <p:spPr>
          <a:xfrm>
            <a:off x="0" y="0"/>
            <a:ext cx="14630400" cy="8229600"/>
          </a:xfrm>
          <a:prstGeom prst="rect">
            <a:avLst/>
          </a:prstGeom>
        </p:spPr>
      </p:pic>
      <p:sp>
        <p:nvSpPr>
          <p:cNvPr id="6" name="TextBox 5"/>
          <p:cNvSpPr txBox="1"/>
          <p:nvPr userDrawn="1"/>
        </p:nvSpPr>
        <p:spPr>
          <a:xfrm>
            <a:off x="11897959" y="9767944"/>
            <a:ext cx="184731" cy="801438"/>
          </a:xfrm>
          <a:prstGeom prst="rect">
            <a:avLst/>
          </a:prstGeom>
          <a:noFill/>
        </p:spPr>
        <p:txBody>
          <a:bodyPr wrap="none" rtlCol="0">
            <a:spAutoFit/>
          </a:bodyPr>
          <a:lstStyle/>
          <a:p>
            <a:endParaRPr lang="en-US" sz="4608"/>
          </a:p>
        </p:txBody>
      </p:sp>
      <p:sp>
        <p:nvSpPr>
          <p:cNvPr id="10" name="Title 1"/>
          <p:cNvSpPr>
            <a:spLocks noGrp="1"/>
          </p:cNvSpPr>
          <p:nvPr>
            <p:ph type="title"/>
          </p:nvPr>
        </p:nvSpPr>
        <p:spPr>
          <a:xfrm>
            <a:off x="548640" y="2589430"/>
            <a:ext cx="10660674" cy="1127019"/>
          </a:xfrm>
        </p:spPr>
        <p:txBody>
          <a:bodyPr anchor="ctr" anchorCtr="0">
            <a:noAutofit/>
          </a:bodyPr>
          <a:lstStyle>
            <a:lvl1pPr algn="l">
              <a:defRPr sz="6400"/>
            </a:lvl1pPr>
          </a:lstStyle>
          <a:p>
            <a:r>
              <a:rPr lang="en-US" dirty="0"/>
              <a:t>Click to edit Master title style</a:t>
            </a:r>
          </a:p>
        </p:txBody>
      </p:sp>
      <p:pic>
        <p:nvPicPr>
          <p:cNvPr id="12" name="Picture 1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3349519" y="7531058"/>
            <a:ext cx="709381" cy="424102"/>
          </a:xfrm>
          <a:prstGeom prst="rect">
            <a:avLst/>
          </a:prstGeom>
        </p:spPr>
      </p:pic>
      <p:sp>
        <p:nvSpPr>
          <p:cNvPr id="3" name="Text Placeholder 2">
            <a:extLst>
              <a:ext uri="{FF2B5EF4-FFF2-40B4-BE49-F238E27FC236}">
                <a16:creationId xmlns:a16="http://schemas.microsoft.com/office/drawing/2014/main" id="{9976E15E-156A-6740-8723-C74DD4148FEE}"/>
              </a:ext>
            </a:extLst>
          </p:cNvPr>
          <p:cNvSpPr>
            <a:spLocks noGrp="1"/>
          </p:cNvSpPr>
          <p:nvPr>
            <p:ph type="body" sz="quarter" idx="10"/>
          </p:nvPr>
        </p:nvSpPr>
        <p:spPr>
          <a:xfrm>
            <a:off x="548640" y="3716448"/>
            <a:ext cx="6380480" cy="792480"/>
          </a:xfrm>
          <a:prstGeom prst="rect">
            <a:avLst/>
          </a:prstGeom>
        </p:spPr>
        <p:txBody>
          <a:bodyPr/>
          <a:lstStyle/>
          <a:p>
            <a:pPr lvl="0"/>
            <a:r>
              <a:rPr lang="en-US" dirty="0"/>
              <a:t>Edit Master text styles</a:t>
            </a:r>
          </a:p>
        </p:txBody>
      </p:sp>
      <p:sp>
        <p:nvSpPr>
          <p:cNvPr id="14" name="Text Placeholder 11">
            <a:extLst>
              <a:ext uri="{FF2B5EF4-FFF2-40B4-BE49-F238E27FC236}">
                <a16:creationId xmlns:a16="http://schemas.microsoft.com/office/drawing/2014/main" id="{2B3CA729-7DC1-3A41-B24F-C56CB70A70FE}"/>
              </a:ext>
            </a:extLst>
          </p:cNvPr>
          <p:cNvSpPr>
            <a:spLocks noGrp="1"/>
          </p:cNvSpPr>
          <p:nvPr>
            <p:ph type="body" sz="quarter" idx="11" hasCustomPrompt="1"/>
          </p:nvPr>
        </p:nvSpPr>
        <p:spPr>
          <a:xfrm>
            <a:off x="548640" y="5950356"/>
            <a:ext cx="5892800" cy="996597"/>
          </a:xfrm>
          <a:prstGeom prst="rect">
            <a:avLst/>
          </a:prstGeom>
        </p:spPr>
        <p:txBody>
          <a:bodyPr>
            <a:normAutofit/>
          </a:bodyPr>
          <a:lstStyle>
            <a:lvl1pPr marL="0" indent="0" algn="l">
              <a:buNone/>
              <a:defRPr sz="2600" baseline="0"/>
            </a:lvl1pPr>
          </a:lstStyle>
          <a:p>
            <a:pPr lvl="0"/>
            <a:r>
              <a:rPr lang="en-US" dirty="0"/>
              <a:t>Click to edit Presenter, Team</a:t>
            </a:r>
          </a:p>
          <a:p>
            <a:pPr lvl="0"/>
            <a:r>
              <a:rPr lang="en-US" dirty="0"/>
              <a:t>Date, location</a:t>
            </a:r>
          </a:p>
        </p:txBody>
      </p:sp>
      <p:sp>
        <p:nvSpPr>
          <p:cNvPr id="11" name="TextBox 10">
            <a:extLst>
              <a:ext uri="{FF2B5EF4-FFF2-40B4-BE49-F238E27FC236}">
                <a16:creationId xmlns:a16="http://schemas.microsoft.com/office/drawing/2014/main" id="{F8B67D2B-BBD1-B546-A8C7-1FAD2B60374A}"/>
              </a:ext>
            </a:extLst>
          </p:cNvPr>
          <p:cNvSpPr txBox="1"/>
          <p:nvPr userDrawn="1"/>
        </p:nvSpPr>
        <p:spPr>
          <a:xfrm>
            <a:off x="538863" y="7683901"/>
            <a:ext cx="7115490" cy="172355"/>
          </a:xfrm>
          <a:prstGeom prst="rect">
            <a:avLst/>
          </a:prstGeom>
          <a:noFill/>
        </p:spPr>
        <p:txBody>
          <a:bodyPr wrap="square" lIns="0" tIns="0" rIns="0" bIns="0" rtlCol="0">
            <a:spAutoFit/>
          </a:bodyPr>
          <a:lstStyle/>
          <a:p>
            <a:pPr marL="0" marR="0" indent="0" algn="l" defTabSz="731520" rtl="0" eaLnBrk="1" fontAlgn="auto" latinLnBrk="0" hangingPunct="1">
              <a:lnSpc>
                <a:spcPct val="100000"/>
              </a:lnSpc>
              <a:spcBef>
                <a:spcPts val="0"/>
              </a:spcBef>
              <a:spcAft>
                <a:spcPts val="0"/>
              </a:spcAft>
              <a:buClrTx/>
              <a:buSzTx/>
              <a:buFontTx/>
              <a:buNone/>
              <a:tabLst/>
              <a:defRPr/>
            </a:pPr>
            <a:r>
              <a:rPr lang="en-US" sz="1120" b="0" i="0" dirty="0">
                <a:solidFill>
                  <a:schemeClr val="tx1">
                    <a:lumMod val="50000"/>
                  </a:schemeClr>
                </a:solidFill>
                <a:latin typeface="Amazon Ember" panose="020B0603020204020204" pitchFamily="34" charset="0"/>
                <a:ea typeface="Amazon Ember" panose="020B0603020204020204" pitchFamily="34" charset="0"/>
                <a:cs typeface="Amazon Ember" panose="020B0603020204020204" pitchFamily="34" charset="0"/>
              </a:rPr>
              <a:t>© 2020, Amazon Web Services, Inc. or its Affiliates. </a:t>
            </a:r>
          </a:p>
        </p:txBody>
      </p:sp>
    </p:spTree>
  </p:cSld>
  <p:clrMapOvr>
    <a:overrideClrMapping bg1="dk1" tx1="lt1" bg2="dk2" tx2="lt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Thank_You">
    <p:bg>
      <p:bgRef idx="1001">
        <a:schemeClr val="bg2"/>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1D519FF-1BA2-9B41-8FA0-19EC8D679C9A}"/>
              </a:ext>
            </a:extLst>
          </p:cNvPr>
          <p:cNvPicPr>
            <a:picLocks noChangeAspect="1"/>
          </p:cNvPicPr>
          <p:nvPr userDrawn="1"/>
        </p:nvPicPr>
        <p:blipFill rotWithShape="1">
          <a:blip r:embed="rId2"/>
          <a:srcRect l="25044" r="11463"/>
          <a:stretch/>
        </p:blipFill>
        <p:spPr>
          <a:xfrm>
            <a:off x="0" y="0"/>
            <a:ext cx="14630400" cy="8229600"/>
          </a:xfrm>
          <a:prstGeom prst="rect">
            <a:avLst/>
          </a:prstGeom>
        </p:spPr>
      </p:pic>
      <p:sp>
        <p:nvSpPr>
          <p:cNvPr id="2" name="Title 1"/>
          <p:cNvSpPr>
            <a:spLocks noGrp="1"/>
          </p:cNvSpPr>
          <p:nvPr>
            <p:ph type="title" hasCustomPrompt="1"/>
          </p:nvPr>
        </p:nvSpPr>
        <p:spPr>
          <a:xfrm>
            <a:off x="548640" y="2481329"/>
            <a:ext cx="12435840" cy="1634490"/>
          </a:xfrm>
        </p:spPr>
        <p:txBody>
          <a:bodyPr anchor="ctr">
            <a:noAutofit/>
          </a:bodyPr>
          <a:lstStyle>
            <a:lvl1pPr algn="l">
              <a:defRPr sz="6400" b="1" cap="none">
                <a:solidFill>
                  <a:schemeClr val="tx1"/>
                </a:solidFill>
              </a:defRPr>
            </a:lvl1pPr>
          </a:lstStyle>
          <a:p>
            <a:r>
              <a:rPr lang="en-US" dirty="0"/>
              <a:t>Thank you!</a:t>
            </a:r>
          </a:p>
        </p:txBody>
      </p:sp>
      <p:sp>
        <p:nvSpPr>
          <p:cNvPr id="3" name="Text Placeholder 11"/>
          <p:cNvSpPr>
            <a:spLocks noGrp="1"/>
          </p:cNvSpPr>
          <p:nvPr>
            <p:ph type="body" sz="quarter" idx="10"/>
          </p:nvPr>
        </p:nvSpPr>
        <p:spPr>
          <a:xfrm>
            <a:off x="548640" y="4115820"/>
            <a:ext cx="5892800" cy="693419"/>
          </a:xfrm>
          <a:prstGeom prst="rect">
            <a:avLst/>
          </a:prstGeom>
        </p:spPr>
        <p:txBody>
          <a:bodyPr>
            <a:normAutofit/>
          </a:bodyPr>
          <a:lstStyle>
            <a:lvl1pPr marL="0" indent="0" algn="l">
              <a:buNone/>
              <a:defRPr sz="2600" baseline="0"/>
            </a:lvl1pPr>
          </a:lstStyle>
          <a:p>
            <a:pPr lvl="0"/>
            <a:r>
              <a:rPr lang="en-US" dirty="0"/>
              <a:t>Click to edit Master text styles</a:t>
            </a:r>
          </a:p>
        </p:txBody>
      </p:sp>
      <p:pic>
        <p:nvPicPr>
          <p:cNvPr id="7" name="Picture 6">
            <a:extLst>
              <a:ext uri="{FF2B5EF4-FFF2-40B4-BE49-F238E27FC236}">
                <a16:creationId xmlns:a16="http://schemas.microsoft.com/office/drawing/2014/main" id="{4440B841-0DCE-4646-9E0E-B1E464D98ED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3349519" y="7531058"/>
            <a:ext cx="709381" cy="424102"/>
          </a:xfrm>
          <a:prstGeom prst="rect">
            <a:avLst/>
          </a:prstGeom>
        </p:spPr>
      </p:pic>
      <p:sp>
        <p:nvSpPr>
          <p:cNvPr id="8" name="TextBox 7">
            <a:extLst>
              <a:ext uri="{FF2B5EF4-FFF2-40B4-BE49-F238E27FC236}">
                <a16:creationId xmlns:a16="http://schemas.microsoft.com/office/drawing/2014/main" id="{8EC9990E-A3D8-4641-B99A-B31E88C6D0B8}"/>
              </a:ext>
            </a:extLst>
          </p:cNvPr>
          <p:cNvSpPr txBox="1"/>
          <p:nvPr userDrawn="1"/>
        </p:nvSpPr>
        <p:spPr>
          <a:xfrm>
            <a:off x="538863" y="7683901"/>
            <a:ext cx="7115490" cy="172355"/>
          </a:xfrm>
          <a:prstGeom prst="rect">
            <a:avLst/>
          </a:prstGeom>
          <a:noFill/>
        </p:spPr>
        <p:txBody>
          <a:bodyPr wrap="square" lIns="0" tIns="0" rIns="0" bIns="0" rtlCol="0">
            <a:spAutoFit/>
          </a:bodyPr>
          <a:lstStyle/>
          <a:p>
            <a:pPr marL="0" marR="0" indent="0" algn="l" defTabSz="731520" rtl="0" eaLnBrk="1" fontAlgn="auto" latinLnBrk="0" hangingPunct="1">
              <a:lnSpc>
                <a:spcPct val="100000"/>
              </a:lnSpc>
              <a:spcBef>
                <a:spcPts val="0"/>
              </a:spcBef>
              <a:spcAft>
                <a:spcPts val="0"/>
              </a:spcAft>
              <a:buClrTx/>
              <a:buSzTx/>
              <a:buFontTx/>
              <a:buNone/>
              <a:tabLst/>
              <a:defRPr/>
            </a:pPr>
            <a:r>
              <a:rPr lang="en-US" sz="1120" b="0" i="0" dirty="0">
                <a:solidFill>
                  <a:schemeClr val="tx1">
                    <a:lumMod val="50000"/>
                  </a:schemeClr>
                </a:solidFill>
                <a:latin typeface="Amazon Ember" panose="020B0603020204020204" pitchFamily="34" charset="0"/>
                <a:ea typeface="Amazon Ember" panose="020B0603020204020204" pitchFamily="34" charset="0"/>
                <a:cs typeface="Amazon Ember" panose="020B0603020204020204" pitchFamily="34" charset="0"/>
              </a:rPr>
              <a:t>© 2020, Amazon Web Services, Inc. or its Affiliates. </a:t>
            </a:r>
          </a:p>
        </p:txBody>
      </p:sp>
    </p:spTree>
    <p:extLst>
      <p:ext uri="{BB962C8B-B14F-4D97-AF65-F5344CB8AC3E}">
        <p14:creationId xmlns:p14="http://schemas.microsoft.com/office/powerpoint/2010/main" val="2124837561"/>
      </p:ext>
    </p:extLst>
  </p:cSld>
  <p:clrMapOvr>
    <a:overrideClrMapping bg1="dk1" tx1="lt1" bg2="dk2" tx2="lt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Blank_Pag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2647E4-E7F7-9646-880C-2CDC95018CBE}"/>
              </a:ext>
            </a:extLst>
          </p:cNvPr>
          <p:cNvSpPr>
            <a:spLocks noGrp="1"/>
          </p:cNvSpPr>
          <p:nvPr>
            <p:ph type="title"/>
          </p:nvPr>
        </p:nvSpPr>
        <p:spPr>
          <a:xfrm>
            <a:off x="548639" y="183898"/>
            <a:ext cx="13514832" cy="904122"/>
          </a:xfrm>
        </p:spPr>
        <p:txBody>
          <a:bodyPr/>
          <a:lstStyle/>
          <a:p>
            <a:r>
              <a:rPr lang="en-US" dirty="0"/>
              <a:t>Click to edit Master title style</a:t>
            </a:r>
          </a:p>
        </p:txBody>
      </p:sp>
    </p:spTree>
    <p:extLst>
      <p:ext uri="{BB962C8B-B14F-4D97-AF65-F5344CB8AC3E}">
        <p14:creationId xmlns:p14="http://schemas.microsoft.com/office/powerpoint/2010/main" val="2381838818"/>
      </p:ext>
    </p:extLst>
  </p:cSld>
  <p:clrMapOvr>
    <a:overrideClrMapping bg1="dk1" tx1="lt1" bg2="dk2" tx2="lt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_Table_of_Contents">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183898"/>
            <a:ext cx="13514832" cy="873186"/>
          </a:xfrm>
        </p:spPr>
        <p:txBody>
          <a:bodyPr/>
          <a:lstStyle>
            <a:lvl1pPr>
              <a:defRPr>
                <a:solidFill>
                  <a:schemeClr val="tx2"/>
                </a:solidFill>
              </a:defRPr>
            </a:lvl1pPr>
          </a:lstStyle>
          <a:p>
            <a:r>
              <a:rPr lang="en-US" dirty="0"/>
              <a:t>Click to edit Master title style</a:t>
            </a:r>
          </a:p>
        </p:txBody>
      </p:sp>
      <p:sp>
        <p:nvSpPr>
          <p:cNvPr id="3" name="Content Placeholder 2"/>
          <p:cNvSpPr>
            <a:spLocks noGrp="1"/>
          </p:cNvSpPr>
          <p:nvPr>
            <p:ph idx="1"/>
          </p:nvPr>
        </p:nvSpPr>
        <p:spPr>
          <a:xfrm>
            <a:off x="544947" y="1645920"/>
            <a:ext cx="13514832" cy="5686282"/>
          </a:xfrm>
          <a:prstGeom prst="rect">
            <a:avLst/>
          </a:prstGeom>
        </p:spPr>
        <p:txBody>
          <a:bodyPr/>
          <a:lstStyle>
            <a:lvl1pPr marL="0" indent="0">
              <a:buNone/>
              <a:defRPr>
                <a:solidFill>
                  <a:schemeClr val="tx2"/>
                </a:solidFill>
              </a:defRPr>
            </a:lvl1pPr>
            <a:lvl2pPr marL="1188720" indent="-457200">
              <a:buFont typeface="Arial"/>
              <a:buChar char="•"/>
              <a:defRPr>
                <a:solidFill>
                  <a:schemeClr val="tx2"/>
                </a:solidFill>
              </a:defRPr>
            </a:lvl2pPr>
            <a:lvl3pPr marL="1828800" indent="-365760">
              <a:buFont typeface="Arial"/>
              <a:buChar cha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7955969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How_to_Use">
    <p:bg>
      <p:bgRef idx="1001">
        <a:schemeClr val="bg2"/>
      </p:bgRef>
    </p:bg>
    <p:spTree>
      <p:nvGrpSpPr>
        <p:cNvPr id="1" name=""/>
        <p:cNvGrpSpPr/>
        <p:nvPr/>
      </p:nvGrpSpPr>
      <p:grpSpPr>
        <a:xfrm>
          <a:off x="0" y="0"/>
          <a:ext cx="0" cy="0"/>
          <a:chOff x="0" y="0"/>
          <a:chExt cx="0" cy="0"/>
        </a:xfrm>
      </p:grpSpPr>
      <p:sp>
        <p:nvSpPr>
          <p:cNvPr id="4" name="TextBox 3"/>
          <p:cNvSpPr txBox="1"/>
          <p:nvPr userDrawn="1"/>
        </p:nvSpPr>
        <p:spPr>
          <a:xfrm>
            <a:off x="4516341" y="-4548146"/>
            <a:ext cx="184731" cy="801438"/>
          </a:xfrm>
          <a:prstGeom prst="rect">
            <a:avLst/>
          </a:prstGeom>
          <a:noFill/>
        </p:spPr>
        <p:txBody>
          <a:bodyPr wrap="none" rtlCol="0">
            <a:spAutoFit/>
          </a:bodyPr>
          <a:lstStyle/>
          <a:p>
            <a:endParaRPr lang="en-US" sz="4608" dirty="0"/>
          </a:p>
        </p:txBody>
      </p:sp>
      <p:sp>
        <p:nvSpPr>
          <p:cNvPr id="2" name="Rectangle 1">
            <a:extLst>
              <a:ext uri="{FF2B5EF4-FFF2-40B4-BE49-F238E27FC236}">
                <a16:creationId xmlns:a16="http://schemas.microsoft.com/office/drawing/2014/main" id="{4D133B37-BB08-4347-B71D-D01F225ECB4D}"/>
              </a:ext>
            </a:extLst>
          </p:cNvPr>
          <p:cNvSpPr/>
          <p:nvPr userDrawn="1"/>
        </p:nvSpPr>
        <p:spPr>
          <a:xfrm>
            <a:off x="0" y="0"/>
            <a:ext cx="14630400" cy="82296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6" name="TextBox 5"/>
          <p:cNvSpPr txBox="1"/>
          <p:nvPr userDrawn="1"/>
        </p:nvSpPr>
        <p:spPr>
          <a:xfrm>
            <a:off x="11897959" y="9767944"/>
            <a:ext cx="184731" cy="801438"/>
          </a:xfrm>
          <a:prstGeom prst="rect">
            <a:avLst/>
          </a:prstGeom>
          <a:noFill/>
        </p:spPr>
        <p:txBody>
          <a:bodyPr wrap="none" rtlCol="0">
            <a:spAutoFit/>
          </a:bodyPr>
          <a:lstStyle/>
          <a:p>
            <a:endParaRPr lang="en-US" sz="4608"/>
          </a:p>
        </p:txBody>
      </p:sp>
      <p:pic>
        <p:nvPicPr>
          <p:cNvPr id="8" name="Picture 7">
            <a:extLst>
              <a:ext uri="{FF2B5EF4-FFF2-40B4-BE49-F238E27FC236}">
                <a16:creationId xmlns:a16="http://schemas.microsoft.com/office/drawing/2014/main" id="{ED771130-A3F1-D24E-A5F9-FD45DA62A95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3350240" y="7531058"/>
            <a:ext cx="709381" cy="424102"/>
          </a:xfrm>
          <a:prstGeom prst="rect">
            <a:avLst/>
          </a:prstGeom>
        </p:spPr>
      </p:pic>
      <p:sp>
        <p:nvSpPr>
          <p:cNvPr id="7" name="TextBox 6">
            <a:extLst>
              <a:ext uri="{FF2B5EF4-FFF2-40B4-BE49-F238E27FC236}">
                <a16:creationId xmlns:a16="http://schemas.microsoft.com/office/drawing/2014/main" id="{ACF59969-BB76-0545-A5CB-3D34504EB147}"/>
              </a:ext>
            </a:extLst>
          </p:cNvPr>
          <p:cNvSpPr txBox="1"/>
          <p:nvPr userDrawn="1"/>
        </p:nvSpPr>
        <p:spPr>
          <a:xfrm>
            <a:off x="538863" y="7695476"/>
            <a:ext cx="7115490" cy="172355"/>
          </a:xfrm>
          <a:prstGeom prst="rect">
            <a:avLst/>
          </a:prstGeom>
          <a:noFill/>
        </p:spPr>
        <p:txBody>
          <a:bodyPr wrap="square" lIns="0" tIns="0" rIns="0" bIns="0" rtlCol="0">
            <a:spAutoFit/>
          </a:bodyPr>
          <a:lstStyle/>
          <a:p>
            <a:pPr marL="0" marR="0" indent="0" algn="l" defTabSz="731520" rtl="0" eaLnBrk="1" fontAlgn="auto" latinLnBrk="0" hangingPunct="1">
              <a:lnSpc>
                <a:spcPct val="100000"/>
              </a:lnSpc>
              <a:spcBef>
                <a:spcPts val="0"/>
              </a:spcBef>
              <a:spcAft>
                <a:spcPts val="0"/>
              </a:spcAft>
              <a:buClrTx/>
              <a:buSzTx/>
              <a:buFontTx/>
              <a:buNone/>
              <a:tabLst/>
              <a:defRPr/>
            </a:pPr>
            <a:r>
              <a:rPr lang="en-US" sz="1120" b="0" i="0" dirty="0">
                <a:solidFill>
                  <a:schemeClr val="tx1">
                    <a:lumMod val="50000"/>
                  </a:schemeClr>
                </a:solidFill>
                <a:latin typeface="Amazon Ember" panose="020B0603020204020204" pitchFamily="34" charset="0"/>
                <a:ea typeface="Amazon Ember" panose="020B0603020204020204" pitchFamily="34" charset="0"/>
                <a:cs typeface="Amazon Ember" panose="020B0603020204020204" pitchFamily="34" charset="0"/>
              </a:rPr>
              <a:t>© 2020, Amazon Web Services, Inc. or its Affiliates. </a:t>
            </a:r>
          </a:p>
        </p:txBody>
      </p:sp>
    </p:spTree>
    <p:extLst>
      <p:ext uri="{BB962C8B-B14F-4D97-AF65-F5344CB8AC3E}">
        <p14:creationId xmlns:p14="http://schemas.microsoft.com/office/powerpoint/2010/main" val="4266760747"/>
      </p:ext>
    </p:extLst>
  </p:cSld>
  <p:clrMapOvr>
    <a:overrideClrMapping bg1="dk1" tx1="lt1" bg2="dk2" tx2="lt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828800" y="1346836"/>
            <a:ext cx="10972800" cy="2865120"/>
          </a:xfrm>
        </p:spPr>
        <p:txBody>
          <a:bodyPr anchor="b"/>
          <a:lstStyle>
            <a:lvl1pPr algn="ctr">
              <a:defRPr sz="7200"/>
            </a:lvl1pPr>
          </a:lstStyle>
          <a:p>
            <a:r>
              <a:rPr lang="en-US"/>
              <a:t>Click to edit Master title style</a:t>
            </a:r>
          </a:p>
        </p:txBody>
      </p:sp>
      <p:sp>
        <p:nvSpPr>
          <p:cNvPr id="3" name="Subtitle 2"/>
          <p:cNvSpPr>
            <a:spLocks noGrp="1"/>
          </p:cNvSpPr>
          <p:nvPr>
            <p:ph type="subTitle" idx="1"/>
          </p:nvPr>
        </p:nvSpPr>
        <p:spPr>
          <a:xfrm>
            <a:off x="1828800" y="4322446"/>
            <a:ext cx="10972800" cy="1986914"/>
          </a:xfrm>
        </p:spPr>
        <p:txBody>
          <a:bodyPr/>
          <a:lstStyle>
            <a:lvl1pPr marL="0" indent="0" algn="ctr">
              <a:buNone/>
              <a:defRPr sz="2880"/>
            </a:lvl1pPr>
            <a:lvl2pPr marL="548640" indent="0" algn="ctr">
              <a:buNone/>
              <a:defRPr sz="2400"/>
            </a:lvl2pPr>
            <a:lvl3pPr marL="1097280" indent="0" algn="ctr">
              <a:buNone/>
              <a:defRPr sz="2160"/>
            </a:lvl3pPr>
            <a:lvl4pPr marL="1645920" indent="0" algn="ctr">
              <a:buNone/>
              <a:defRPr sz="1920"/>
            </a:lvl4pPr>
            <a:lvl5pPr marL="2194560" indent="0" algn="ctr">
              <a:buNone/>
              <a:defRPr sz="1920"/>
            </a:lvl5pPr>
            <a:lvl6pPr marL="2743200" indent="0" algn="ctr">
              <a:buNone/>
              <a:defRPr sz="1920"/>
            </a:lvl6pPr>
            <a:lvl7pPr marL="3291840" indent="0" algn="ctr">
              <a:buNone/>
              <a:defRPr sz="1920"/>
            </a:lvl7pPr>
            <a:lvl8pPr marL="3840480" indent="0" algn="ctr">
              <a:buNone/>
              <a:defRPr sz="1920"/>
            </a:lvl8pPr>
            <a:lvl9pPr marL="4389120" indent="0" algn="ctr">
              <a:buNone/>
              <a:defRPr sz="1920"/>
            </a:lvl9pPr>
          </a:lstStyle>
          <a:p>
            <a:r>
              <a:rPr lang="en-US"/>
              <a:t>Click to edit Master subtitle style</a:t>
            </a:r>
          </a:p>
        </p:txBody>
      </p:sp>
      <p:sp>
        <p:nvSpPr>
          <p:cNvPr id="4" name="Date Placeholder 3"/>
          <p:cNvSpPr>
            <a:spLocks noGrp="1"/>
          </p:cNvSpPr>
          <p:nvPr>
            <p:ph type="dt" sz="half" idx="10"/>
          </p:nvPr>
        </p:nvSpPr>
        <p:spPr/>
        <p:txBody>
          <a:bodyPr/>
          <a:lstStyle/>
          <a:p>
            <a:fld id="{6704E1F7-E333-4846-A6DF-8FA46494B7FD}" type="datetimeFigureOut">
              <a:rPr lang="en-US" smtClean="0"/>
              <a:t>6/27/21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96E381-4743-46AE-8912-83F5743ED2C9}" type="slidenum">
              <a:rPr lang="en-US" smtClean="0"/>
              <a:t>‹#›</a:t>
            </a:fld>
            <a:endParaRPr lang="en-US"/>
          </a:p>
        </p:txBody>
      </p:sp>
    </p:spTree>
    <p:extLst>
      <p:ext uri="{BB962C8B-B14F-4D97-AF65-F5344CB8AC3E}">
        <p14:creationId xmlns:p14="http://schemas.microsoft.com/office/powerpoint/2010/main" val="182129237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704E1F7-E333-4846-A6DF-8FA46494B7FD}" type="datetimeFigureOut">
              <a:rPr lang="en-US" smtClean="0"/>
              <a:t>6/27/21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96E381-4743-46AE-8912-83F5743ED2C9}" type="slidenum">
              <a:rPr lang="en-US" smtClean="0"/>
              <a:t>‹#›</a:t>
            </a:fld>
            <a:endParaRPr lang="en-US"/>
          </a:p>
        </p:txBody>
      </p:sp>
    </p:spTree>
    <p:extLst>
      <p:ext uri="{BB962C8B-B14F-4D97-AF65-F5344CB8AC3E}">
        <p14:creationId xmlns:p14="http://schemas.microsoft.com/office/powerpoint/2010/main" val="233817845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98220" y="2051688"/>
            <a:ext cx="12618720" cy="3423284"/>
          </a:xfrm>
        </p:spPr>
        <p:txBody>
          <a:bodyPr anchor="b"/>
          <a:lstStyle>
            <a:lvl1pPr>
              <a:defRPr sz="7200"/>
            </a:lvl1pPr>
          </a:lstStyle>
          <a:p>
            <a:r>
              <a:rPr lang="en-US"/>
              <a:t>Click to edit Master title style</a:t>
            </a:r>
          </a:p>
        </p:txBody>
      </p:sp>
      <p:sp>
        <p:nvSpPr>
          <p:cNvPr id="3" name="Text Placeholder 2"/>
          <p:cNvSpPr>
            <a:spLocks noGrp="1"/>
          </p:cNvSpPr>
          <p:nvPr>
            <p:ph type="body" idx="1"/>
          </p:nvPr>
        </p:nvSpPr>
        <p:spPr>
          <a:xfrm>
            <a:off x="998220" y="5507358"/>
            <a:ext cx="12618720" cy="1800224"/>
          </a:xfrm>
        </p:spPr>
        <p:txBody>
          <a:bodyPr/>
          <a:lstStyle>
            <a:lvl1pPr marL="0" indent="0">
              <a:buNone/>
              <a:defRPr sz="2880">
                <a:solidFill>
                  <a:schemeClr val="tx1">
                    <a:tint val="75000"/>
                  </a:schemeClr>
                </a:solidFill>
              </a:defRPr>
            </a:lvl1pPr>
            <a:lvl2pPr marL="548640" indent="0">
              <a:buNone/>
              <a:defRPr sz="2400">
                <a:solidFill>
                  <a:schemeClr val="tx1">
                    <a:tint val="75000"/>
                  </a:schemeClr>
                </a:solidFill>
              </a:defRPr>
            </a:lvl2pPr>
            <a:lvl3pPr marL="1097280" indent="0">
              <a:buNone/>
              <a:defRPr sz="2160">
                <a:solidFill>
                  <a:schemeClr val="tx1">
                    <a:tint val="75000"/>
                  </a:schemeClr>
                </a:solidFill>
              </a:defRPr>
            </a:lvl3pPr>
            <a:lvl4pPr marL="1645920" indent="0">
              <a:buNone/>
              <a:defRPr sz="1920">
                <a:solidFill>
                  <a:schemeClr val="tx1">
                    <a:tint val="75000"/>
                  </a:schemeClr>
                </a:solidFill>
              </a:defRPr>
            </a:lvl4pPr>
            <a:lvl5pPr marL="2194560" indent="0">
              <a:buNone/>
              <a:defRPr sz="1920">
                <a:solidFill>
                  <a:schemeClr val="tx1">
                    <a:tint val="75000"/>
                  </a:schemeClr>
                </a:solidFill>
              </a:defRPr>
            </a:lvl5pPr>
            <a:lvl6pPr marL="2743200" indent="0">
              <a:buNone/>
              <a:defRPr sz="1920">
                <a:solidFill>
                  <a:schemeClr val="tx1">
                    <a:tint val="75000"/>
                  </a:schemeClr>
                </a:solidFill>
              </a:defRPr>
            </a:lvl6pPr>
            <a:lvl7pPr marL="3291840" indent="0">
              <a:buNone/>
              <a:defRPr sz="1920">
                <a:solidFill>
                  <a:schemeClr val="tx1">
                    <a:tint val="75000"/>
                  </a:schemeClr>
                </a:solidFill>
              </a:defRPr>
            </a:lvl7pPr>
            <a:lvl8pPr marL="3840480" indent="0">
              <a:buNone/>
              <a:defRPr sz="1920">
                <a:solidFill>
                  <a:schemeClr val="tx1">
                    <a:tint val="75000"/>
                  </a:schemeClr>
                </a:solidFill>
              </a:defRPr>
            </a:lvl8pPr>
            <a:lvl9pPr marL="4389120" indent="0">
              <a:buNone/>
              <a:defRPr sz="192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704E1F7-E333-4846-A6DF-8FA46494B7FD}" type="datetimeFigureOut">
              <a:rPr lang="en-US" smtClean="0"/>
              <a:t>6/27/21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96E381-4743-46AE-8912-83F5743ED2C9}" type="slidenum">
              <a:rPr lang="en-US" smtClean="0"/>
              <a:t>‹#›</a:t>
            </a:fld>
            <a:endParaRPr lang="en-US"/>
          </a:p>
        </p:txBody>
      </p:sp>
    </p:spTree>
    <p:extLst>
      <p:ext uri="{BB962C8B-B14F-4D97-AF65-F5344CB8AC3E}">
        <p14:creationId xmlns:p14="http://schemas.microsoft.com/office/powerpoint/2010/main" val="75215860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005840" y="2190750"/>
            <a:ext cx="6217920" cy="522160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7406640" y="2190750"/>
            <a:ext cx="6217920" cy="522160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704E1F7-E333-4846-A6DF-8FA46494B7FD}" type="datetimeFigureOut">
              <a:rPr lang="en-US" smtClean="0"/>
              <a:t>6/27/21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696E381-4743-46AE-8912-83F5743ED2C9}" type="slidenum">
              <a:rPr lang="en-US" smtClean="0"/>
              <a:t>‹#›</a:t>
            </a:fld>
            <a:endParaRPr lang="en-US"/>
          </a:p>
        </p:txBody>
      </p:sp>
    </p:spTree>
    <p:extLst>
      <p:ext uri="{BB962C8B-B14F-4D97-AF65-F5344CB8AC3E}">
        <p14:creationId xmlns:p14="http://schemas.microsoft.com/office/powerpoint/2010/main" val="66097726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007746" y="438152"/>
            <a:ext cx="12618720" cy="1590676"/>
          </a:xfrm>
        </p:spPr>
        <p:txBody>
          <a:bodyPr/>
          <a:lstStyle/>
          <a:p>
            <a:r>
              <a:rPr lang="en-US"/>
              <a:t>Click to edit Master title style</a:t>
            </a:r>
          </a:p>
        </p:txBody>
      </p:sp>
      <p:sp>
        <p:nvSpPr>
          <p:cNvPr id="3" name="Text Placeholder 2"/>
          <p:cNvSpPr>
            <a:spLocks noGrp="1"/>
          </p:cNvSpPr>
          <p:nvPr>
            <p:ph type="body" idx="1"/>
          </p:nvPr>
        </p:nvSpPr>
        <p:spPr>
          <a:xfrm>
            <a:off x="1007748" y="2017396"/>
            <a:ext cx="6189344" cy="988694"/>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Edit Master text styles</a:t>
            </a:r>
          </a:p>
        </p:txBody>
      </p:sp>
      <p:sp>
        <p:nvSpPr>
          <p:cNvPr id="4" name="Content Placeholder 3"/>
          <p:cNvSpPr>
            <a:spLocks noGrp="1"/>
          </p:cNvSpPr>
          <p:nvPr>
            <p:ph sz="half" idx="2"/>
          </p:nvPr>
        </p:nvSpPr>
        <p:spPr>
          <a:xfrm>
            <a:off x="1007748" y="3006090"/>
            <a:ext cx="6189344" cy="442150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7406640" y="2017396"/>
            <a:ext cx="6219826" cy="988694"/>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Edit Master text styles</a:t>
            </a:r>
          </a:p>
        </p:txBody>
      </p:sp>
      <p:sp>
        <p:nvSpPr>
          <p:cNvPr id="6" name="Content Placeholder 5"/>
          <p:cNvSpPr>
            <a:spLocks noGrp="1"/>
          </p:cNvSpPr>
          <p:nvPr>
            <p:ph sz="quarter" idx="4"/>
          </p:nvPr>
        </p:nvSpPr>
        <p:spPr>
          <a:xfrm>
            <a:off x="7406640" y="3006090"/>
            <a:ext cx="6219826" cy="442150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704E1F7-E333-4846-A6DF-8FA46494B7FD}" type="datetimeFigureOut">
              <a:rPr lang="en-US" smtClean="0"/>
              <a:t>6/27/21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696E381-4743-46AE-8912-83F5743ED2C9}" type="slidenum">
              <a:rPr lang="en-US" smtClean="0"/>
              <a:t>‹#›</a:t>
            </a:fld>
            <a:endParaRPr lang="en-US"/>
          </a:p>
        </p:txBody>
      </p:sp>
    </p:spTree>
    <p:extLst>
      <p:ext uri="{BB962C8B-B14F-4D97-AF65-F5344CB8AC3E}">
        <p14:creationId xmlns:p14="http://schemas.microsoft.com/office/powerpoint/2010/main" val="185812731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704E1F7-E333-4846-A6DF-8FA46494B7FD}" type="datetimeFigureOut">
              <a:rPr lang="en-US" smtClean="0"/>
              <a:t>6/27/21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696E381-4743-46AE-8912-83F5743ED2C9}" type="slidenum">
              <a:rPr lang="en-US" smtClean="0"/>
              <a:t>‹#›</a:t>
            </a:fld>
            <a:endParaRPr lang="en-US"/>
          </a:p>
        </p:txBody>
      </p:sp>
    </p:spTree>
    <p:extLst>
      <p:ext uri="{BB962C8B-B14F-4D97-AF65-F5344CB8AC3E}">
        <p14:creationId xmlns:p14="http://schemas.microsoft.com/office/powerpoint/2010/main" val="287461235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704E1F7-E333-4846-A6DF-8FA46494B7FD}" type="datetimeFigureOut">
              <a:rPr lang="en-US" smtClean="0"/>
              <a:t>6/27/21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96E381-4743-46AE-8912-83F5743ED2C9}" type="slidenum">
              <a:rPr lang="en-US" smtClean="0"/>
              <a:t>‹#›</a:t>
            </a:fld>
            <a:endParaRPr lang="en-US"/>
          </a:p>
        </p:txBody>
      </p:sp>
    </p:spTree>
    <p:extLst>
      <p:ext uri="{BB962C8B-B14F-4D97-AF65-F5344CB8AC3E}">
        <p14:creationId xmlns:p14="http://schemas.microsoft.com/office/powerpoint/2010/main" val="156175336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07748" y="548640"/>
            <a:ext cx="4718684" cy="1920240"/>
          </a:xfrm>
        </p:spPr>
        <p:txBody>
          <a:bodyPr anchor="b"/>
          <a:lstStyle>
            <a:lvl1pPr>
              <a:defRPr sz="3840"/>
            </a:lvl1pPr>
          </a:lstStyle>
          <a:p>
            <a:r>
              <a:rPr lang="en-US"/>
              <a:t>Click to edit Master title style</a:t>
            </a:r>
          </a:p>
        </p:txBody>
      </p:sp>
      <p:sp>
        <p:nvSpPr>
          <p:cNvPr id="3" name="Content Placeholder 2"/>
          <p:cNvSpPr>
            <a:spLocks noGrp="1"/>
          </p:cNvSpPr>
          <p:nvPr>
            <p:ph idx="1"/>
          </p:nvPr>
        </p:nvSpPr>
        <p:spPr>
          <a:xfrm>
            <a:off x="6219826" y="1184912"/>
            <a:ext cx="7406640" cy="5848350"/>
          </a:xfrm>
        </p:spPr>
        <p:txBody>
          <a:bodyPr/>
          <a:lstStyle>
            <a:lvl1pPr>
              <a:defRPr sz="3840"/>
            </a:lvl1pPr>
            <a:lvl2pPr>
              <a:defRPr sz="3360"/>
            </a:lvl2pPr>
            <a:lvl3pPr>
              <a:defRPr sz="2880"/>
            </a:lvl3pPr>
            <a:lvl4pPr>
              <a:defRPr sz="2400"/>
            </a:lvl4pPr>
            <a:lvl5pPr>
              <a:defRPr sz="2400"/>
            </a:lvl5pPr>
            <a:lvl6pPr>
              <a:defRPr sz="2400"/>
            </a:lvl6pPr>
            <a:lvl7pPr>
              <a:defRPr sz="2400"/>
            </a:lvl7pPr>
            <a:lvl8pPr>
              <a:defRPr sz="2400"/>
            </a:lvl8pPr>
            <a:lvl9pPr>
              <a:defRPr sz="2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007748" y="2468880"/>
            <a:ext cx="4718684" cy="4573906"/>
          </a:xfrm>
        </p:spPr>
        <p:txBody>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Edit Master text styles</a:t>
            </a:r>
          </a:p>
        </p:txBody>
      </p:sp>
      <p:sp>
        <p:nvSpPr>
          <p:cNvPr id="5" name="Date Placeholder 4"/>
          <p:cNvSpPr>
            <a:spLocks noGrp="1"/>
          </p:cNvSpPr>
          <p:nvPr>
            <p:ph type="dt" sz="half" idx="10"/>
          </p:nvPr>
        </p:nvSpPr>
        <p:spPr/>
        <p:txBody>
          <a:bodyPr/>
          <a:lstStyle/>
          <a:p>
            <a:fld id="{6704E1F7-E333-4846-A6DF-8FA46494B7FD}" type="datetimeFigureOut">
              <a:rPr lang="en-US" smtClean="0"/>
              <a:t>6/27/21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696E381-4743-46AE-8912-83F5743ED2C9}" type="slidenum">
              <a:rPr lang="en-US" smtClean="0"/>
              <a:t>‹#›</a:t>
            </a:fld>
            <a:endParaRPr lang="en-US"/>
          </a:p>
        </p:txBody>
      </p:sp>
    </p:spTree>
    <p:extLst>
      <p:ext uri="{BB962C8B-B14F-4D97-AF65-F5344CB8AC3E}">
        <p14:creationId xmlns:p14="http://schemas.microsoft.com/office/powerpoint/2010/main" val="200531445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07748" y="548640"/>
            <a:ext cx="4718684" cy="1920240"/>
          </a:xfrm>
        </p:spPr>
        <p:txBody>
          <a:bodyPr anchor="b"/>
          <a:lstStyle>
            <a:lvl1pPr>
              <a:defRPr sz="3840"/>
            </a:lvl1pPr>
          </a:lstStyle>
          <a:p>
            <a:r>
              <a:rPr lang="en-US"/>
              <a:t>Click to edit Master title style</a:t>
            </a:r>
          </a:p>
        </p:txBody>
      </p:sp>
      <p:sp>
        <p:nvSpPr>
          <p:cNvPr id="3" name="Picture Placeholder 2"/>
          <p:cNvSpPr>
            <a:spLocks noGrp="1"/>
          </p:cNvSpPr>
          <p:nvPr>
            <p:ph type="pic" idx="1"/>
          </p:nvPr>
        </p:nvSpPr>
        <p:spPr>
          <a:xfrm>
            <a:off x="6219826" y="1184912"/>
            <a:ext cx="7406640" cy="5848350"/>
          </a:xfrm>
        </p:spPr>
        <p:txBody>
          <a:bodyPr/>
          <a:lstStyle>
            <a:lvl1pPr marL="0" indent="0">
              <a:buNone/>
              <a:defRPr sz="3840"/>
            </a:lvl1pPr>
            <a:lvl2pPr marL="548640" indent="0">
              <a:buNone/>
              <a:defRPr sz="3360"/>
            </a:lvl2pPr>
            <a:lvl3pPr marL="1097280" indent="0">
              <a:buNone/>
              <a:defRPr sz="2880"/>
            </a:lvl3pPr>
            <a:lvl4pPr marL="1645920" indent="0">
              <a:buNone/>
              <a:defRPr sz="2400"/>
            </a:lvl4pPr>
            <a:lvl5pPr marL="2194560" indent="0">
              <a:buNone/>
              <a:defRPr sz="2400"/>
            </a:lvl5pPr>
            <a:lvl6pPr marL="2743200" indent="0">
              <a:buNone/>
              <a:defRPr sz="2400"/>
            </a:lvl6pPr>
            <a:lvl7pPr marL="3291840" indent="0">
              <a:buNone/>
              <a:defRPr sz="2400"/>
            </a:lvl7pPr>
            <a:lvl8pPr marL="3840480" indent="0">
              <a:buNone/>
              <a:defRPr sz="2400"/>
            </a:lvl8pPr>
            <a:lvl9pPr marL="4389120" indent="0">
              <a:buNone/>
              <a:defRPr sz="2400"/>
            </a:lvl9pPr>
          </a:lstStyle>
          <a:p>
            <a:endParaRPr lang="en-US"/>
          </a:p>
        </p:txBody>
      </p:sp>
      <p:sp>
        <p:nvSpPr>
          <p:cNvPr id="4" name="Text Placeholder 3"/>
          <p:cNvSpPr>
            <a:spLocks noGrp="1"/>
          </p:cNvSpPr>
          <p:nvPr>
            <p:ph type="body" sz="half" idx="2"/>
          </p:nvPr>
        </p:nvSpPr>
        <p:spPr>
          <a:xfrm>
            <a:off x="1007748" y="2468880"/>
            <a:ext cx="4718684" cy="4573906"/>
          </a:xfrm>
        </p:spPr>
        <p:txBody>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Edit Master text styles</a:t>
            </a:r>
          </a:p>
        </p:txBody>
      </p:sp>
      <p:sp>
        <p:nvSpPr>
          <p:cNvPr id="5" name="Date Placeholder 4"/>
          <p:cNvSpPr>
            <a:spLocks noGrp="1"/>
          </p:cNvSpPr>
          <p:nvPr>
            <p:ph type="dt" sz="half" idx="10"/>
          </p:nvPr>
        </p:nvSpPr>
        <p:spPr/>
        <p:txBody>
          <a:bodyPr/>
          <a:lstStyle/>
          <a:p>
            <a:fld id="{6704E1F7-E333-4846-A6DF-8FA46494B7FD}" type="datetimeFigureOut">
              <a:rPr lang="en-US" smtClean="0"/>
              <a:t>6/27/21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696E381-4743-46AE-8912-83F5743ED2C9}" type="slidenum">
              <a:rPr lang="en-US" smtClean="0"/>
              <a:t>‹#›</a:t>
            </a:fld>
            <a:endParaRPr lang="en-US"/>
          </a:p>
        </p:txBody>
      </p:sp>
    </p:spTree>
    <p:extLst>
      <p:ext uri="{BB962C8B-B14F-4D97-AF65-F5344CB8AC3E}">
        <p14:creationId xmlns:p14="http://schemas.microsoft.com/office/powerpoint/2010/main" val="112892105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704E1F7-E333-4846-A6DF-8FA46494B7FD}" type="datetimeFigureOut">
              <a:rPr lang="en-US" smtClean="0"/>
              <a:t>6/27/21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96E381-4743-46AE-8912-83F5743ED2C9}" type="slidenum">
              <a:rPr lang="en-US" smtClean="0"/>
              <a:t>‹#›</a:t>
            </a:fld>
            <a:endParaRPr lang="en-US"/>
          </a:p>
        </p:txBody>
      </p:sp>
    </p:spTree>
    <p:extLst>
      <p:ext uri="{BB962C8B-B14F-4D97-AF65-F5344CB8AC3E}">
        <p14:creationId xmlns:p14="http://schemas.microsoft.com/office/powerpoint/2010/main" val="18797672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469880" y="438150"/>
            <a:ext cx="3154680" cy="6974206"/>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005840" y="438150"/>
            <a:ext cx="9281160" cy="6974206"/>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704E1F7-E333-4846-A6DF-8FA46494B7FD}" type="datetimeFigureOut">
              <a:rPr lang="en-US" smtClean="0"/>
              <a:t>6/27/21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96E381-4743-46AE-8912-83F5743ED2C9}" type="slidenum">
              <a:rPr lang="en-US" smtClean="0"/>
              <a:t>‹#›</a:t>
            </a:fld>
            <a:endParaRPr lang="en-US"/>
          </a:p>
        </p:txBody>
      </p:sp>
    </p:spTree>
    <p:extLst>
      <p:ext uri="{BB962C8B-B14F-4D97-AF65-F5344CB8AC3E}">
        <p14:creationId xmlns:p14="http://schemas.microsoft.com/office/powerpoint/2010/main" val="428627292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Basic Text">
    <p:spTree>
      <p:nvGrpSpPr>
        <p:cNvPr id="1" name=""/>
        <p:cNvGrpSpPr/>
        <p:nvPr/>
      </p:nvGrpSpPr>
      <p:grpSpPr>
        <a:xfrm>
          <a:off x="0" y="0"/>
          <a:ext cx="0" cy="0"/>
          <a:chOff x="0" y="0"/>
          <a:chExt cx="0" cy="0"/>
        </a:xfrm>
      </p:grpSpPr>
      <p:sp>
        <p:nvSpPr>
          <p:cNvPr id="69" name="Shape 69"/>
          <p:cNvSpPr/>
          <p:nvPr/>
        </p:nvSpPr>
        <p:spPr>
          <a:xfrm rot="5400000">
            <a:off x="13818870" y="293372"/>
            <a:ext cx="518160" cy="510541"/>
          </a:xfrm>
          <a:custGeom>
            <a:avLst/>
            <a:gdLst/>
            <a:ahLst/>
            <a:cxnLst>
              <a:cxn ang="0">
                <a:pos x="wd2" y="hd2"/>
              </a:cxn>
              <a:cxn ang="5400000">
                <a:pos x="wd2" y="hd2"/>
              </a:cxn>
              <a:cxn ang="10800000">
                <a:pos x="wd2" y="hd2"/>
              </a:cxn>
              <a:cxn ang="16200000">
                <a:pos x="wd2" y="hd2"/>
              </a:cxn>
            </a:cxnLst>
            <a:rect l="0" t="0" r="r" b="b"/>
            <a:pathLst>
              <a:path w="21600" h="21600" extrusionOk="0">
                <a:moveTo>
                  <a:pt x="16686" y="21600"/>
                </a:moveTo>
                <a:lnTo>
                  <a:pt x="21600" y="10800"/>
                </a:lnTo>
                <a:lnTo>
                  <a:pt x="16686" y="0"/>
                </a:lnTo>
                <a:lnTo>
                  <a:pt x="0" y="0"/>
                </a:lnTo>
                <a:lnTo>
                  <a:pt x="0" y="21600"/>
                </a:lnTo>
                <a:lnTo>
                  <a:pt x="16686" y="21600"/>
                </a:lnTo>
                <a:close/>
              </a:path>
            </a:pathLst>
          </a:custGeom>
          <a:solidFill>
            <a:schemeClr val="accent3">
              <a:lumOff val="5155"/>
            </a:schemeClr>
          </a:solidFill>
          <a:ln w="12700">
            <a:miter lim="400000"/>
          </a:ln>
        </p:spPr>
        <p:txBody>
          <a:bodyPr lIns="27432" rIns="27432"/>
          <a:lstStyle/>
          <a:p>
            <a:pPr>
              <a:defRPr sz="5600">
                <a:solidFill>
                  <a:srgbClr val="000000"/>
                </a:solidFill>
                <a:latin typeface="Gill Sans"/>
                <a:ea typeface="Gill Sans"/>
                <a:cs typeface="Gill Sans"/>
                <a:sym typeface="Gill Sans"/>
              </a:defRPr>
            </a:pPr>
            <a:endParaRPr sz="3360" dirty="0"/>
          </a:p>
        </p:txBody>
      </p:sp>
      <p:sp>
        <p:nvSpPr>
          <p:cNvPr id="72" name="Shape 72"/>
          <p:cNvSpPr>
            <a:spLocks noGrp="1"/>
          </p:cNvSpPr>
          <p:nvPr>
            <p:ph type="sldNum" sz="quarter" idx="2"/>
          </p:nvPr>
        </p:nvSpPr>
        <p:spPr>
          <a:prstGeom prst="rect">
            <a:avLst/>
          </a:prstGeom>
        </p:spPr>
        <p:txBody>
          <a:bodyPr/>
          <a:lstStyle/>
          <a:p>
            <a:fld id="{86CB4B4D-7CA3-9044-876B-883B54F8677D}" type="slidenum">
              <a:t>‹#›</a:t>
            </a:fld>
            <a:endParaRPr dirty="0"/>
          </a:p>
        </p:txBody>
      </p:sp>
      <p:sp>
        <p:nvSpPr>
          <p:cNvPr id="2" name="TextBox 1"/>
          <p:cNvSpPr txBox="1"/>
          <p:nvPr userDrawn="1"/>
        </p:nvSpPr>
        <p:spPr>
          <a:xfrm>
            <a:off x="1005512" y="2275680"/>
            <a:ext cx="61620" cy="87408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30480" tIns="30480" rIns="30480" bIns="30480" numCol="1" spcCol="38100" rtlCol="0" anchor="ctr">
            <a:spAutoFit/>
          </a:bodyPr>
          <a:lstStyle/>
          <a:p>
            <a:pPr marL="0" marR="0" indent="0" algn="ctr" defTabSz="548640" rtl="0" fontAlgn="auto" latinLnBrk="0" hangingPunct="0">
              <a:lnSpc>
                <a:spcPct val="100000"/>
              </a:lnSpc>
              <a:spcBef>
                <a:spcPts val="0"/>
              </a:spcBef>
              <a:spcAft>
                <a:spcPts val="0"/>
              </a:spcAft>
              <a:buClrTx/>
              <a:buSzTx/>
              <a:buFontTx/>
              <a:buNone/>
              <a:tabLst/>
            </a:pPr>
            <a:endParaRPr kumimoji="0" lang="en-US" sz="5280" b="0" i="0" u="none" strike="noStrike" cap="none" spc="0" normalizeH="0" baseline="0" dirty="0">
              <a:ln>
                <a:noFill/>
              </a:ln>
              <a:solidFill>
                <a:srgbClr val="33B1DD"/>
              </a:solidFill>
              <a:effectLst/>
              <a:uFillTx/>
              <a:latin typeface="+mn-lt"/>
              <a:ea typeface="+mn-ea"/>
              <a:cs typeface="+mn-cs"/>
              <a:sym typeface="Helvetica"/>
            </a:endParaRPr>
          </a:p>
        </p:txBody>
      </p:sp>
    </p:spTree>
    <p:extLst>
      <p:ext uri="{BB962C8B-B14F-4D97-AF65-F5344CB8AC3E}">
        <p14:creationId xmlns:p14="http://schemas.microsoft.com/office/powerpoint/2010/main" val="4292691350"/>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4.xml"/><Relationship Id="rId13" Type="http://schemas.openxmlformats.org/officeDocument/2006/relationships/theme" Target="../theme/theme2.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slideLayout" Target="../slideLayouts/slideLayout38.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48639" y="183898"/>
            <a:ext cx="13514832" cy="1371600"/>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p:cNvSpPr>
            <a:spLocks noGrp="1"/>
          </p:cNvSpPr>
          <p:nvPr>
            <p:ph type="body" idx="1"/>
          </p:nvPr>
        </p:nvSpPr>
        <p:spPr>
          <a:xfrm>
            <a:off x="548639" y="1645920"/>
            <a:ext cx="13514832" cy="5686282"/>
          </a:xfrm>
          <a:prstGeom prst="rect">
            <a:avLst/>
          </a:prstGeom>
        </p:spPr>
        <p:txBody>
          <a:bodyPr vert="horz" lIns="91440" tIns="45720" rIns="9144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Box 5"/>
          <p:cNvSpPr txBox="1"/>
          <p:nvPr userDrawn="1"/>
        </p:nvSpPr>
        <p:spPr>
          <a:xfrm>
            <a:off x="538863" y="7683901"/>
            <a:ext cx="7115490" cy="172355"/>
          </a:xfrm>
          <a:prstGeom prst="rect">
            <a:avLst/>
          </a:prstGeom>
          <a:noFill/>
        </p:spPr>
        <p:txBody>
          <a:bodyPr wrap="square" lIns="0" tIns="0" rIns="0" bIns="0" rtlCol="0">
            <a:spAutoFit/>
          </a:bodyPr>
          <a:lstStyle/>
          <a:p>
            <a:pPr marL="0" marR="0" indent="0" algn="l" defTabSz="731520" rtl="0" eaLnBrk="1" fontAlgn="auto" latinLnBrk="0" hangingPunct="1">
              <a:lnSpc>
                <a:spcPct val="100000"/>
              </a:lnSpc>
              <a:spcBef>
                <a:spcPts val="0"/>
              </a:spcBef>
              <a:spcAft>
                <a:spcPts val="0"/>
              </a:spcAft>
              <a:buClrTx/>
              <a:buSzTx/>
              <a:buFontTx/>
              <a:buNone/>
              <a:tabLst/>
              <a:defRPr/>
            </a:pPr>
            <a:r>
              <a:rPr lang="en-US" sz="1120" b="0" i="0" dirty="0">
                <a:solidFill>
                  <a:schemeClr val="tx1">
                    <a:lumMod val="50000"/>
                  </a:schemeClr>
                </a:solidFill>
                <a:latin typeface="Amazon Ember" panose="020B0603020204020204" pitchFamily="34" charset="0"/>
                <a:ea typeface="Amazon Ember" panose="020B0603020204020204" pitchFamily="34" charset="0"/>
                <a:cs typeface="Amazon Ember" panose="020B0603020204020204" pitchFamily="34" charset="0"/>
              </a:rPr>
              <a:t>© 2020, Amazon Web Services, Inc. or its Affiliates. </a:t>
            </a:r>
          </a:p>
        </p:txBody>
      </p:sp>
      <p:pic>
        <p:nvPicPr>
          <p:cNvPr id="7" name="Picture 6"/>
          <p:cNvPicPr>
            <a:picLocks noChangeAspect="1"/>
          </p:cNvPicPr>
          <p:nvPr userDrawn="1"/>
        </p:nvPicPr>
        <p:blipFill>
          <a:blip r:embed="rId28">
            <a:extLst>
              <a:ext uri="{28A0092B-C50C-407E-A947-70E740481C1C}">
                <a14:useLocalDpi xmlns:a14="http://schemas.microsoft.com/office/drawing/2010/main" val="0"/>
              </a:ext>
            </a:extLst>
          </a:blip>
          <a:stretch>
            <a:fillRect/>
          </a:stretch>
        </p:blipFill>
        <p:spPr>
          <a:xfrm>
            <a:off x="13349519" y="7531058"/>
            <a:ext cx="709381" cy="424102"/>
          </a:xfrm>
          <a:prstGeom prst="rect">
            <a:avLst/>
          </a:prstGeom>
        </p:spPr>
      </p:pic>
    </p:spTree>
    <p:extLst>
      <p:ext uri="{BB962C8B-B14F-4D97-AF65-F5344CB8AC3E}">
        <p14:creationId xmlns:p14="http://schemas.microsoft.com/office/powerpoint/2010/main" val="14311777"/>
      </p:ext>
    </p:extLst>
  </p:cSld>
  <p:clrMap bg1="dk1" tx1="lt1" bg2="dk2" tx2="lt2" accent1="accent1" accent2="accent2" accent3="accent3" accent4="accent4" accent5="accent5" accent6="accent6" hlink="hlink" folHlink="folHlink"/>
  <p:sldLayoutIdLst>
    <p:sldLayoutId id="2147483708" r:id="rId1"/>
    <p:sldLayoutId id="2147483675" r:id="rId2"/>
    <p:sldLayoutId id="2147483696" r:id="rId3"/>
    <p:sldLayoutId id="2147483677" r:id="rId4"/>
    <p:sldLayoutId id="2147483700" r:id="rId5"/>
    <p:sldLayoutId id="2147483697" r:id="rId6"/>
    <p:sldLayoutId id="2147483698" r:id="rId7"/>
    <p:sldLayoutId id="2147483699" r:id="rId8"/>
    <p:sldLayoutId id="2147483689" r:id="rId9"/>
    <p:sldLayoutId id="2147483678" r:id="rId10"/>
    <p:sldLayoutId id="2147483707" r:id="rId11"/>
    <p:sldLayoutId id="2147483679" r:id="rId12"/>
    <p:sldLayoutId id="2147483703" r:id="rId13"/>
    <p:sldLayoutId id="2147483704" r:id="rId14"/>
    <p:sldLayoutId id="2147483705" r:id="rId15"/>
    <p:sldLayoutId id="2147483690" r:id="rId16"/>
    <p:sldLayoutId id="2147483691" r:id="rId17"/>
    <p:sldLayoutId id="2147483692" r:id="rId18"/>
    <p:sldLayoutId id="2147483702" r:id="rId19"/>
    <p:sldLayoutId id="2147483680" r:id="rId20"/>
    <p:sldLayoutId id="2147483701" r:id="rId21"/>
    <p:sldLayoutId id="2147483693" r:id="rId22"/>
    <p:sldLayoutId id="2147483687" r:id="rId23"/>
    <p:sldLayoutId id="2147483706" r:id="rId24"/>
    <p:sldLayoutId id="2147483709" r:id="rId25"/>
    <p:sldLayoutId id="2147483710" r:id="rId26"/>
  </p:sldLayoutIdLst>
  <p:txStyles>
    <p:titleStyle>
      <a:lvl1pPr algn="l" defTabSz="731520" rtl="0" eaLnBrk="1" latinLnBrk="0" hangingPunct="1">
        <a:spcBef>
          <a:spcPct val="0"/>
        </a:spcBef>
        <a:buNone/>
        <a:defRPr sz="3800" b="1" i="0" kern="1200">
          <a:solidFill>
            <a:schemeClr val="tx1"/>
          </a:solidFill>
          <a:latin typeface="Amazon Ember Regular" charset="0"/>
          <a:ea typeface="+mj-ea"/>
          <a:cs typeface="Amazon Ember Regular" charset="0"/>
        </a:defRPr>
      </a:lvl1pPr>
    </p:titleStyle>
    <p:bodyStyle>
      <a:lvl1pPr marL="0" indent="0" algn="l" defTabSz="731520" rtl="0" eaLnBrk="1" latinLnBrk="0" hangingPunct="1">
        <a:spcBef>
          <a:spcPct val="20000"/>
        </a:spcBef>
        <a:buFontTx/>
        <a:buNone/>
        <a:defRPr sz="2900" b="0" i="0" kern="1200">
          <a:solidFill>
            <a:schemeClr val="tx1"/>
          </a:solidFill>
          <a:latin typeface="Amazon Ember Regular" charset="0"/>
          <a:ea typeface="+mn-ea"/>
          <a:cs typeface="Amazon Ember Regular" charset="0"/>
        </a:defRPr>
      </a:lvl1pPr>
      <a:lvl2pPr marL="1188720" indent="-457200" algn="l" defTabSz="731520" rtl="0" eaLnBrk="1" latinLnBrk="0" hangingPunct="1">
        <a:spcBef>
          <a:spcPct val="20000"/>
        </a:spcBef>
        <a:buFont typeface="Arial"/>
        <a:buChar char="•"/>
        <a:defRPr sz="2900" b="0" i="0" kern="1200">
          <a:solidFill>
            <a:schemeClr val="tx1"/>
          </a:solidFill>
          <a:latin typeface="Amazon Ember Regular" charset="0"/>
          <a:ea typeface="+mn-ea"/>
          <a:cs typeface="Amazon Ember Regular" charset="0"/>
        </a:defRPr>
      </a:lvl2pPr>
      <a:lvl3pPr marL="1828800" indent="-365760" algn="l" defTabSz="731520" rtl="0" eaLnBrk="1" latinLnBrk="0" hangingPunct="1">
        <a:spcBef>
          <a:spcPct val="20000"/>
        </a:spcBef>
        <a:buFont typeface="Arial"/>
        <a:buChar char="•"/>
        <a:defRPr sz="2600" b="0" i="0" kern="1200">
          <a:solidFill>
            <a:schemeClr val="tx1"/>
          </a:solidFill>
          <a:latin typeface="Amazon Ember Regular" charset="0"/>
          <a:ea typeface="+mn-ea"/>
          <a:cs typeface="Amazon Ember Regular" charset="0"/>
        </a:defRPr>
      </a:lvl3pPr>
      <a:lvl4pPr marL="2560320" indent="-365760" algn="l" defTabSz="731520" rtl="0" eaLnBrk="1" latinLnBrk="0" hangingPunct="1">
        <a:spcBef>
          <a:spcPct val="20000"/>
        </a:spcBef>
        <a:buFont typeface="Arial"/>
        <a:buChar char="–"/>
        <a:defRPr sz="2200" b="0" i="0" kern="1200">
          <a:solidFill>
            <a:schemeClr val="tx1"/>
          </a:solidFill>
          <a:latin typeface="Amazon Ember Regular" charset="0"/>
          <a:ea typeface="+mn-ea"/>
          <a:cs typeface="Amazon Ember Regular" charset="0"/>
        </a:defRPr>
      </a:lvl4pPr>
      <a:lvl5pPr marL="3291840" indent="-365760" algn="l" defTabSz="731520" rtl="0" eaLnBrk="1" latinLnBrk="0" hangingPunct="1">
        <a:spcBef>
          <a:spcPct val="20000"/>
        </a:spcBef>
        <a:buFont typeface="Arial"/>
        <a:buChar char="»"/>
        <a:defRPr sz="1900" b="0" i="0" kern="1200">
          <a:solidFill>
            <a:schemeClr val="tx1"/>
          </a:solidFill>
          <a:latin typeface="Amazon Ember Regular" charset="0"/>
          <a:ea typeface="+mn-ea"/>
          <a:cs typeface="Amazon Ember Regular" charset="0"/>
        </a:defRPr>
      </a:lvl5pPr>
      <a:lvl6pPr marL="4023360" indent="-365760" algn="l" defTabSz="731520" rtl="0" eaLnBrk="1" latinLnBrk="0" hangingPunct="1">
        <a:spcBef>
          <a:spcPct val="20000"/>
        </a:spcBef>
        <a:buFont typeface="Arial"/>
        <a:buChar char="•"/>
        <a:defRPr sz="3200" kern="1200">
          <a:solidFill>
            <a:schemeClr val="tx1"/>
          </a:solidFill>
          <a:latin typeface="+mn-lt"/>
          <a:ea typeface="+mn-ea"/>
          <a:cs typeface="+mn-cs"/>
        </a:defRPr>
      </a:lvl6pPr>
      <a:lvl7pPr marL="4754880" indent="-365760" algn="l" defTabSz="731520" rtl="0" eaLnBrk="1" latinLnBrk="0" hangingPunct="1">
        <a:spcBef>
          <a:spcPct val="20000"/>
        </a:spcBef>
        <a:buFont typeface="Arial"/>
        <a:buChar char="•"/>
        <a:defRPr sz="3200" kern="1200">
          <a:solidFill>
            <a:schemeClr val="tx1"/>
          </a:solidFill>
          <a:latin typeface="+mn-lt"/>
          <a:ea typeface="+mn-ea"/>
          <a:cs typeface="+mn-cs"/>
        </a:defRPr>
      </a:lvl7pPr>
      <a:lvl8pPr marL="5486400" indent="-365760" algn="l" defTabSz="731520" rtl="0" eaLnBrk="1" latinLnBrk="0" hangingPunct="1">
        <a:spcBef>
          <a:spcPct val="20000"/>
        </a:spcBef>
        <a:buFont typeface="Arial"/>
        <a:buChar char="•"/>
        <a:defRPr sz="3200" kern="1200">
          <a:solidFill>
            <a:schemeClr val="tx1"/>
          </a:solidFill>
          <a:latin typeface="+mn-lt"/>
          <a:ea typeface="+mn-ea"/>
          <a:cs typeface="+mn-cs"/>
        </a:defRPr>
      </a:lvl8pPr>
      <a:lvl9pPr marL="6217920" indent="-365760" algn="l" defTabSz="731520" rtl="0" eaLnBrk="1" latinLnBrk="0" hangingPunct="1">
        <a:spcBef>
          <a:spcPct val="20000"/>
        </a:spcBef>
        <a:buFont typeface="Arial"/>
        <a:buChar char="•"/>
        <a:defRPr sz="3200" kern="1200">
          <a:solidFill>
            <a:schemeClr val="tx1"/>
          </a:solidFill>
          <a:latin typeface="+mn-lt"/>
          <a:ea typeface="+mn-ea"/>
          <a:cs typeface="+mn-cs"/>
        </a:defRPr>
      </a:lvl9pPr>
    </p:bodyStyle>
    <p:otherStyle>
      <a:defPPr>
        <a:defRPr lang="en-US"/>
      </a:defPPr>
      <a:lvl1pPr marL="0" algn="l" defTabSz="731520" rtl="0" eaLnBrk="1" latinLnBrk="0" hangingPunct="1">
        <a:defRPr sz="2880" kern="1200">
          <a:solidFill>
            <a:schemeClr val="tx1"/>
          </a:solidFill>
          <a:latin typeface="+mn-lt"/>
          <a:ea typeface="+mn-ea"/>
          <a:cs typeface="+mn-cs"/>
        </a:defRPr>
      </a:lvl1pPr>
      <a:lvl2pPr marL="731520" algn="l" defTabSz="731520" rtl="0" eaLnBrk="1" latinLnBrk="0" hangingPunct="1">
        <a:defRPr sz="2880" kern="1200">
          <a:solidFill>
            <a:schemeClr val="tx1"/>
          </a:solidFill>
          <a:latin typeface="+mn-lt"/>
          <a:ea typeface="+mn-ea"/>
          <a:cs typeface="+mn-cs"/>
        </a:defRPr>
      </a:lvl2pPr>
      <a:lvl3pPr marL="1463040" algn="l" defTabSz="731520" rtl="0" eaLnBrk="1" latinLnBrk="0" hangingPunct="1">
        <a:defRPr sz="2880" kern="1200">
          <a:solidFill>
            <a:schemeClr val="tx1"/>
          </a:solidFill>
          <a:latin typeface="+mn-lt"/>
          <a:ea typeface="+mn-ea"/>
          <a:cs typeface="+mn-cs"/>
        </a:defRPr>
      </a:lvl3pPr>
      <a:lvl4pPr marL="2194560" algn="l" defTabSz="731520" rtl="0" eaLnBrk="1" latinLnBrk="0" hangingPunct="1">
        <a:defRPr sz="2880" kern="1200">
          <a:solidFill>
            <a:schemeClr val="tx1"/>
          </a:solidFill>
          <a:latin typeface="+mn-lt"/>
          <a:ea typeface="+mn-ea"/>
          <a:cs typeface="+mn-cs"/>
        </a:defRPr>
      </a:lvl4pPr>
      <a:lvl5pPr marL="2926080" algn="l" defTabSz="731520" rtl="0" eaLnBrk="1" latinLnBrk="0" hangingPunct="1">
        <a:defRPr sz="2880" kern="1200">
          <a:solidFill>
            <a:schemeClr val="tx1"/>
          </a:solidFill>
          <a:latin typeface="+mn-lt"/>
          <a:ea typeface="+mn-ea"/>
          <a:cs typeface="+mn-cs"/>
        </a:defRPr>
      </a:lvl5pPr>
      <a:lvl6pPr marL="3657600" algn="l" defTabSz="731520" rtl="0" eaLnBrk="1" latinLnBrk="0" hangingPunct="1">
        <a:defRPr sz="2880" kern="1200">
          <a:solidFill>
            <a:schemeClr val="tx1"/>
          </a:solidFill>
          <a:latin typeface="+mn-lt"/>
          <a:ea typeface="+mn-ea"/>
          <a:cs typeface="+mn-cs"/>
        </a:defRPr>
      </a:lvl6pPr>
      <a:lvl7pPr marL="4389120" algn="l" defTabSz="731520" rtl="0" eaLnBrk="1" latinLnBrk="0" hangingPunct="1">
        <a:defRPr sz="2880" kern="1200">
          <a:solidFill>
            <a:schemeClr val="tx1"/>
          </a:solidFill>
          <a:latin typeface="+mn-lt"/>
          <a:ea typeface="+mn-ea"/>
          <a:cs typeface="+mn-cs"/>
        </a:defRPr>
      </a:lvl7pPr>
      <a:lvl8pPr marL="5120640" algn="l" defTabSz="731520" rtl="0" eaLnBrk="1" latinLnBrk="0" hangingPunct="1">
        <a:defRPr sz="2880" kern="1200">
          <a:solidFill>
            <a:schemeClr val="tx1"/>
          </a:solidFill>
          <a:latin typeface="+mn-lt"/>
          <a:ea typeface="+mn-ea"/>
          <a:cs typeface="+mn-cs"/>
        </a:defRPr>
      </a:lvl8pPr>
      <a:lvl9pPr marL="5852160" algn="l" defTabSz="731520" rtl="0" eaLnBrk="1" latinLnBrk="0" hangingPunct="1">
        <a:defRPr sz="288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36" userDrawn="1">
          <p15:clr>
            <a:srgbClr val="F26B43"/>
          </p15:clr>
        </p15:guide>
        <p15:guide id="2" pos="8856" userDrawn="1">
          <p15:clr>
            <a:srgbClr val="F26B43"/>
          </p15:clr>
        </p15:guide>
        <p15:guide id="3" orient="horz" pos="1032"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05840" y="438152"/>
            <a:ext cx="12618720" cy="1590676"/>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1005840" y="2190750"/>
            <a:ext cx="12618720" cy="5221606"/>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1005840" y="7627622"/>
            <a:ext cx="3291840" cy="438150"/>
          </a:xfrm>
          <a:prstGeom prst="rect">
            <a:avLst/>
          </a:prstGeom>
        </p:spPr>
        <p:txBody>
          <a:bodyPr vert="horz" lIns="91440" tIns="45720" rIns="91440" bIns="45720" rtlCol="0" anchor="ctr"/>
          <a:lstStyle>
            <a:lvl1pPr algn="l">
              <a:defRPr sz="1440">
                <a:solidFill>
                  <a:schemeClr val="tx1">
                    <a:tint val="75000"/>
                  </a:schemeClr>
                </a:solidFill>
              </a:defRPr>
            </a:lvl1pPr>
          </a:lstStyle>
          <a:p>
            <a:fld id="{6704E1F7-E333-4846-A6DF-8FA46494B7FD}" type="datetimeFigureOut">
              <a:rPr lang="en-US" smtClean="0"/>
              <a:t>6/27/21</a:t>
            </a:fld>
            <a:endParaRPr lang="en-US"/>
          </a:p>
        </p:txBody>
      </p:sp>
      <p:sp>
        <p:nvSpPr>
          <p:cNvPr id="5" name="Footer Placeholder 4"/>
          <p:cNvSpPr>
            <a:spLocks noGrp="1"/>
          </p:cNvSpPr>
          <p:nvPr>
            <p:ph type="ftr" sz="quarter" idx="3"/>
          </p:nvPr>
        </p:nvSpPr>
        <p:spPr>
          <a:xfrm>
            <a:off x="4846320" y="7627622"/>
            <a:ext cx="4937760" cy="438150"/>
          </a:xfrm>
          <a:prstGeom prst="rect">
            <a:avLst/>
          </a:prstGeom>
        </p:spPr>
        <p:txBody>
          <a:bodyPr vert="horz" lIns="91440" tIns="45720" rIns="91440" bIns="45720" rtlCol="0" anchor="ctr"/>
          <a:lstStyle>
            <a:lvl1pPr algn="ctr">
              <a:defRPr sz="144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332720" y="7627622"/>
            <a:ext cx="3291840" cy="438150"/>
          </a:xfrm>
          <a:prstGeom prst="rect">
            <a:avLst/>
          </a:prstGeom>
        </p:spPr>
        <p:txBody>
          <a:bodyPr vert="horz" lIns="91440" tIns="45720" rIns="91440" bIns="45720" rtlCol="0" anchor="ctr"/>
          <a:lstStyle>
            <a:lvl1pPr algn="r">
              <a:defRPr sz="1440">
                <a:solidFill>
                  <a:schemeClr val="tx1">
                    <a:tint val="75000"/>
                  </a:schemeClr>
                </a:solidFill>
              </a:defRPr>
            </a:lvl1pPr>
          </a:lstStyle>
          <a:p>
            <a:fld id="{9696E381-4743-46AE-8912-83F5743ED2C9}" type="slidenum">
              <a:rPr lang="en-US" smtClean="0"/>
              <a:t>‹#›</a:t>
            </a:fld>
            <a:endParaRPr lang="en-US"/>
          </a:p>
        </p:txBody>
      </p:sp>
    </p:spTree>
    <p:extLst>
      <p:ext uri="{BB962C8B-B14F-4D97-AF65-F5344CB8AC3E}">
        <p14:creationId xmlns:p14="http://schemas.microsoft.com/office/powerpoint/2010/main" val="4010961308"/>
      </p:ext>
    </p:extLst>
  </p:cSld>
  <p:clrMap bg1="lt1" tx1="dk1" bg2="lt2" tx2="dk2" accent1="accent1" accent2="accent2" accent3="accent3" accent4="accent4" accent5="accent5" accent6="accent6" hlink="hlink" folHlink="folHlink"/>
  <p:sldLayoutIdLst>
    <p:sldLayoutId id="2147483716" r:id="rId1"/>
    <p:sldLayoutId id="2147483717" r:id="rId2"/>
    <p:sldLayoutId id="2147483718" r:id="rId3"/>
    <p:sldLayoutId id="2147483719" r:id="rId4"/>
    <p:sldLayoutId id="2147483720" r:id="rId5"/>
    <p:sldLayoutId id="2147483721" r:id="rId6"/>
    <p:sldLayoutId id="2147483722" r:id="rId7"/>
    <p:sldLayoutId id="2147483723" r:id="rId8"/>
    <p:sldLayoutId id="2147483724" r:id="rId9"/>
    <p:sldLayoutId id="2147483725" r:id="rId10"/>
    <p:sldLayoutId id="2147483726" r:id="rId11"/>
    <p:sldLayoutId id="2147483727" r:id="rId12"/>
  </p:sldLayoutIdLst>
  <p:txStyles>
    <p:titleStyle>
      <a:lvl1pPr algn="l" defTabSz="1097280" rtl="0" eaLnBrk="1" latinLnBrk="0" hangingPunct="1">
        <a:lnSpc>
          <a:spcPct val="90000"/>
        </a:lnSpc>
        <a:spcBef>
          <a:spcPct val="0"/>
        </a:spcBef>
        <a:buNone/>
        <a:defRPr sz="5280" kern="1200">
          <a:solidFill>
            <a:schemeClr val="tx1"/>
          </a:solidFill>
          <a:latin typeface="+mj-lt"/>
          <a:ea typeface="+mj-ea"/>
          <a:cs typeface="+mj-cs"/>
        </a:defRPr>
      </a:lvl1pPr>
    </p:titleStyle>
    <p:body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n-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n-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n-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3" Type="http://schemas.openxmlformats.org/officeDocument/2006/relationships/image" Target="../media/image19.png"/><Relationship Id="rId18" Type="http://schemas.openxmlformats.org/officeDocument/2006/relationships/image" Target="../media/image24.png"/><Relationship Id="rId26" Type="http://schemas.openxmlformats.org/officeDocument/2006/relationships/image" Target="../media/image32.png"/><Relationship Id="rId21" Type="http://schemas.openxmlformats.org/officeDocument/2006/relationships/image" Target="../media/image27.png"/><Relationship Id="rId34" Type="http://schemas.openxmlformats.org/officeDocument/2006/relationships/image" Target="../media/image40.png"/><Relationship Id="rId7" Type="http://schemas.openxmlformats.org/officeDocument/2006/relationships/image" Target="../media/image13.png"/><Relationship Id="rId12" Type="http://schemas.openxmlformats.org/officeDocument/2006/relationships/image" Target="../media/image18.png"/><Relationship Id="rId17" Type="http://schemas.openxmlformats.org/officeDocument/2006/relationships/image" Target="../media/image23.png"/><Relationship Id="rId25" Type="http://schemas.openxmlformats.org/officeDocument/2006/relationships/image" Target="../media/image31.png"/><Relationship Id="rId33" Type="http://schemas.openxmlformats.org/officeDocument/2006/relationships/image" Target="../media/image39.png"/><Relationship Id="rId2" Type="http://schemas.openxmlformats.org/officeDocument/2006/relationships/notesSlide" Target="../notesSlides/notesSlide2.xml"/><Relationship Id="rId16" Type="http://schemas.openxmlformats.org/officeDocument/2006/relationships/image" Target="../media/image22.png"/><Relationship Id="rId20" Type="http://schemas.openxmlformats.org/officeDocument/2006/relationships/image" Target="../media/image26.png"/><Relationship Id="rId29" Type="http://schemas.openxmlformats.org/officeDocument/2006/relationships/image" Target="../media/image35.png"/><Relationship Id="rId1" Type="http://schemas.openxmlformats.org/officeDocument/2006/relationships/slideLayout" Target="../slideLayouts/slideLayout38.xml"/><Relationship Id="rId6" Type="http://schemas.openxmlformats.org/officeDocument/2006/relationships/image" Target="../media/image12.png"/><Relationship Id="rId11" Type="http://schemas.openxmlformats.org/officeDocument/2006/relationships/image" Target="../media/image17.png"/><Relationship Id="rId24" Type="http://schemas.openxmlformats.org/officeDocument/2006/relationships/image" Target="../media/image30.png"/><Relationship Id="rId32" Type="http://schemas.openxmlformats.org/officeDocument/2006/relationships/image" Target="../media/image38.png"/><Relationship Id="rId37" Type="http://schemas.openxmlformats.org/officeDocument/2006/relationships/image" Target="../media/image43.png"/><Relationship Id="rId5" Type="http://schemas.openxmlformats.org/officeDocument/2006/relationships/image" Target="../media/image11.png"/><Relationship Id="rId15" Type="http://schemas.openxmlformats.org/officeDocument/2006/relationships/image" Target="../media/image21.png"/><Relationship Id="rId23" Type="http://schemas.openxmlformats.org/officeDocument/2006/relationships/image" Target="../media/image29.png"/><Relationship Id="rId28" Type="http://schemas.openxmlformats.org/officeDocument/2006/relationships/image" Target="../media/image34.png"/><Relationship Id="rId36" Type="http://schemas.openxmlformats.org/officeDocument/2006/relationships/image" Target="../media/image42.png"/><Relationship Id="rId10" Type="http://schemas.openxmlformats.org/officeDocument/2006/relationships/image" Target="../media/image16.png"/><Relationship Id="rId19" Type="http://schemas.openxmlformats.org/officeDocument/2006/relationships/image" Target="../media/image25.png"/><Relationship Id="rId31" Type="http://schemas.openxmlformats.org/officeDocument/2006/relationships/image" Target="../media/image37.png"/><Relationship Id="rId4" Type="http://schemas.openxmlformats.org/officeDocument/2006/relationships/image" Target="../media/image10.png"/><Relationship Id="rId9" Type="http://schemas.openxmlformats.org/officeDocument/2006/relationships/image" Target="../media/image15.png"/><Relationship Id="rId14" Type="http://schemas.openxmlformats.org/officeDocument/2006/relationships/image" Target="../media/image20.png"/><Relationship Id="rId22" Type="http://schemas.openxmlformats.org/officeDocument/2006/relationships/image" Target="../media/image28.png"/><Relationship Id="rId27" Type="http://schemas.openxmlformats.org/officeDocument/2006/relationships/image" Target="../media/image33.png"/><Relationship Id="rId30" Type="http://schemas.openxmlformats.org/officeDocument/2006/relationships/image" Target="../media/image36.png"/><Relationship Id="rId35" Type="http://schemas.openxmlformats.org/officeDocument/2006/relationships/image" Target="../media/image41.png"/><Relationship Id="rId8" Type="http://schemas.openxmlformats.org/officeDocument/2006/relationships/image" Target="../media/image14.png"/><Relationship Id="rId3"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hyperlink" Target="https://aws.amazon.com/about-aws/whats-new/2021/04/amazon-ec2-auto-scaling-introduces-warm-pools-accelerate-scale-out-while-saving-money/" TargetMode="Externa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hyperlink" Target="https://aws.amazon.com/about-aws/whats-new/2021/05/amazon-ec2-auto-scaling-introduces-predictive-scaling-native-scaling-policy/" TargetMode="Externa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hyperlink" Target="https://aws.amazon.com/about-aws/whats-new/2021/06/amazon-ec2-adds-new-ami-property-to-flag-outdated-amis/" TargetMode="External"/><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hyperlink" Target="https://aws.amazon.com/about-aws/whats-new/2021/04/amazon-ecs-aws-fargate-configure-size-ephemeral-storage-tasks/" TargetMode="Externa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hyperlink" Target="https://aws.amazon.com/about-aws/whats-new/2021/05/aws-announces-aws-app-runner/" TargetMode="Externa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hyperlink" Target="https://aws.amazon.com/about-aws/whats-new/2021/05/cloudfront-functions/" TargetMode="Externa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hyperlink" Target="https://aws.amazon.com/about-aws/whats-new/2021/05/aws-lambda-extensions-now-generally-available/" TargetMode="Externa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hyperlink" Target="https://aws.amazon.com/about-aws/whats-new/2021/04/aws-distro-opentelemetry-adds-support-aws-managed-lambda-layer-other-features/" TargetMode="Externa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hyperlink" Target="https://aws.amazon.com/about-aws/whats-new/2021/04/amazon-eventbridge-introduces-support-cross-region-event-bus-targets/" TargetMode="Externa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hyperlink" Target="https://aws.amazon.com/about-aws/whats-new/2021/05/aws-step-functions-now-supports-amazon-custom-events-eventbridge/" TargetMode="Externa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hyperlink" Target="https://aws.amazon.com/about-aws/whats-new/2021/05/amazon-sqs-now-supports-a-high-throughput-mode-for-fifo-queues/" TargetMode="Externa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hyperlink" Target="https://aws.amazon.com/about-aws/whats-new/2021/06/announcing-global-clusters-for-amazon-documentdb-with-mongodb-compatibility/" TargetMode="Externa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hyperlink" Target="https://aws.amazon.com/about-aws/whats-new/2021/06/amazon-keyspaces-now-supports-customer-managed-customer-master-k/" TargetMode="Externa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2" Type="http://schemas.openxmlformats.org/officeDocument/2006/relationships/hyperlink" Target="https://aws.amazon.com/about-aws/whats-new/2021/05/amazon-aurora-mysql-improves-availability-read-replicas/" TargetMode="External"/><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2" Type="http://schemas.openxmlformats.org/officeDocument/2006/relationships/hyperlink" Target="https://aws.amazon.com/about-aws/whats-new/2021/06/amazon-dynamodb-accelerator--dax--now-supports-encryption-in-tra/" TargetMode="External"/><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2" Type="http://schemas.openxmlformats.org/officeDocument/2006/relationships/hyperlink" Target="https://aws.amazon.com/about-aws/whats-new/2021/06/aws-announces-the-general-availability-of-aws-proton/" TargetMode="External"/><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2" Type="http://schemas.openxmlformats.org/officeDocument/2006/relationships/hyperlink" Target="https://aws.amazon.com/about-aws/whats-new/2021/04/aws-cloud-development-kit-aws-cdk--v2-and-go-cdk-is-now-available-for-developer-preview/" TargetMode="External"/><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2" Type="http://schemas.openxmlformats.org/officeDocument/2006/relationships/hyperlink" Target="https://aws.amazon.com/about-aws/whats-new/2021/04/amazon-route-53-resolver-dns-firewall-generally-available/" TargetMode="External"/><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2" Type="http://schemas.openxmlformats.org/officeDocument/2006/relationships/hyperlink" Target="https://aws.amazon.com/about-aws/whats-new/2021/04/aws-firewall-manager-now-supports-centralized-management-of-amazon-route-53-resolver-dns-firewall/" TargetMode="External"/><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2" Type="http://schemas.openxmlformats.org/officeDocument/2006/relationships/hyperlink" Target="https://aws.amazon.com/about-aws/whats-new/2021/06/amazon-emr-on-eks-simplifies-big-data-application-development-with-custom-image-support/" TargetMode="External"/><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2" Type="http://schemas.openxmlformats.org/officeDocument/2006/relationships/hyperlink" Target="https://aws.amazon.com/about-aws/whats-new/2021/03/announcing-aws-step-functions-integration-amazon-emr-eks/" TargetMode="External"/><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3" Type="http://schemas.openxmlformats.org/officeDocument/2006/relationships/hyperlink" Target="https://aws.amazon.com/about-aws/whats-new/2021/04/amazon-emr-studio-is-now-generally-available/" TargetMode="External"/><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2" Type="http://schemas.openxmlformats.org/officeDocument/2006/relationships/hyperlink" Target="https://aws.amazon.com/about-aws/whats-new/2021/06/aws-glue-studio-now-includes-a-code-editor-for-customizing-your-job-scripts/" TargetMode="External"/><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2" Type="http://schemas.openxmlformats.org/officeDocument/2006/relationships/hyperlink" Target="https://aws.amazon.com/about-aws/whats-new/2021/04/aws-glue-now-supports-cross-account-reads-from-amazon-kinesis-data-streams/" TargetMode="External"/><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2" Type="http://schemas.openxmlformats.org/officeDocument/2006/relationships/hyperlink" Target="https://aws.amazon.com/about-aws/whats-new/2021/05/amazon-managed-workflows-for-apache-airflow-mwaa-now-supports-apache-airflow/" TargetMode="External"/><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2" Type="http://schemas.openxmlformats.org/officeDocument/2006/relationships/hyperlink" Target="https://aws.amazon.com/about-aws/whats-new/2021/06/amazon-textract-announces-quality-updates-to-its-forms-extraction-feature/" TargetMode="External"/><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2" Type="http://schemas.openxmlformats.org/officeDocument/2006/relationships/hyperlink" Target="https://aws.amazon.com/about-aws/whats-new/2021/04/amazon-textract-announces-quality-update-table-extraction-feature/" TargetMode="External"/><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2" Type="http://schemas.openxmlformats.org/officeDocument/2006/relationships/hyperlink" Target="https://aws.amazon.com/about-aws/whats-new/2021/03/amazon-lookout-for-metrics-generally-available/" TargetMode="External"/><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2" Type="http://schemas.openxmlformats.org/officeDocument/2006/relationships/hyperlink" Target="https://aws.amazon.com/about-aws/whats-new/2021/06/connect-your-amazon-cloudwatch-data-detect-anomalies-diagnose-their-root-causes-using-amazon-lookout-metrics/" TargetMode="External"/><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2" Type="http://schemas.openxmlformats.org/officeDocument/2006/relationships/hyperlink" Target="https://aws.amazon.com/about-aws/whats-new/2021/06/amazon-sagemaker-data-wrangler-now-supports-snowflake-as-a-data-source/" TargetMode="External"/><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2" Type="http://schemas.openxmlformats.org/officeDocument/2006/relationships/hyperlink" Target="https://aws.amazon.com/about-aws/whats-new/2021/06/kms-multi-region-keys/" TargetMode="External"/><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2" Type="http://schemas.openxmlformats.org/officeDocument/2006/relationships/hyperlink" Target="https://aws.amazon.com/about-aws/whats-new/2021/04/iam-access-analyzer-easier-implement-least-privilege-permissions-generating-iam-policies-access-activity/" TargetMode="External"/><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2" Type="http://schemas.openxmlformats.org/officeDocument/2006/relationships/hyperlink" Target="https://aws.amazon.com/about-aws/whats-new/2021/04/aws-audit-manager-now-offers-a-new-standard-framework-for-nist-800-53-rev-5-low-moderate-high/" TargetMode="External"/><Relationship Id="rId1" Type="http://schemas.openxmlformats.org/officeDocument/2006/relationships/slideLayout" Target="../slideLayouts/slideLayout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hyperlink" Target="https://aws.amazon.com/about-aws/whats-new/2021/06/aws-security-hub-adds-16-new-controls-to-its-foundational-securi/" TargetMode="External"/><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2" Type="http://schemas.openxmlformats.org/officeDocument/2006/relationships/hyperlink" Target="https://aws.amazon.com/about-aws/whats-new/2021/05/aws-glue-studio-now-allows-you-to-specify-streaming-etl-job-settings/" TargetMode="External"/><Relationship Id="rId1" Type="http://schemas.openxmlformats.org/officeDocument/2006/relationships/slideLayout" Target="../slideLayouts/slideLayout9.xml"/></Relationships>
</file>

<file path=ppt/slides/_rels/slide42.xml.rels><?xml version="1.0" encoding="UTF-8" standalone="yes"?>
<Relationships xmlns="http://schemas.openxmlformats.org/package/2006/relationships"><Relationship Id="rId2" Type="http://schemas.openxmlformats.org/officeDocument/2006/relationships/hyperlink" Target="https://aws.amazon.com/about-aws/whats-new/2021/05/amazon-emr-6-3-release-version-now-supports-apache-spark-3-1-1/" TargetMode="External"/><Relationship Id="rId1" Type="http://schemas.openxmlformats.org/officeDocument/2006/relationships/slideLayout" Target="../slideLayouts/slideLayout9.xml"/></Relationships>
</file>

<file path=ppt/slides/_rels/slide43.xml.rels><?xml version="1.0" encoding="UTF-8" standalone="yes"?>
<Relationships xmlns="http://schemas.openxmlformats.org/package/2006/relationships"><Relationship Id="rId2" Type="http://schemas.openxmlformats.org/officeDocument/2006/relationships/hyperlink" Target="https://aws.amazon.com/about-aws/whats-new/2021/05/amazon-documentdb-improves-mongodb-compatibility-and-indexing-improvements/" TargetMode="External"/><Relationship Id="rId1" Type="http://schemas.openxmlformats.org/officeDocument/2006/relationships/slideLayout" Target="../slideLayouts/slideLayout9.xml"/></Relationships>
</file>

<file path=ppt/slides/_rels/slide44.xml.rels><?xml version="1.0" encoding="UTF-8" standalone="yes"?>
<Relationships xmlns="http://schemas.openxmlformats.org/package/2006/relationships"><Relationship Id="rId2" Type="http://schemas.openxmlformats.org/officeDocument/2006/relationships/hyperlink" Target="https://aws.amazon.com/about-aws/whats-new/2021/06/amazon-aurora-supports-postgresql-12-6-11-11-10-16-and-9-6-21/" TargetMode="External"/><Relationship Id="rId1" Type="http://schemas.openxmlformats.org/officeDocument/2006/relationships/slideLayout" Target="../slideLayouts/slideLayout9.xml"/></Relationships>
</file>

<file path=ppt/slides/_rels/slide45.xml.rels><?xml version="1.0" encoding="UTF-8" standalone="yes"?>
<Relationships xmlns="http://schemas.openxmlformats.org/package/2006/relationships"><Relationship Id="rId2" Type="http://schemas.openxmlformats.org/officeDocument/2006/relationships/hyperlink" Target="https://aws.amazon.com/about-aws/whats-new/2021/03/aws-cloudtrail-adds-logging-of-data-events-for-amazon-dynamoDB/" TargetMode="External"/><Relationship Id="rId1" Type="http://schemas.openxmlformats.org/officeDocument/2006/relationships/slideLayout" Target="../slideLayouts/slideLayout9.xml"/></Relationships>
</file>

<file path=ppt/slides/_rels/slide46.xml.rels><?xml version="1.0" encoding="UTF-8" standalone="yes"?>
<Relationships xmlns="http://schemas.openxmlformats.org/package/2006/relationships"><Relationship Id="rId2" Type="http://schemas.openxmlformats.org/officeDocument/2006/relationships/hyperlink" Target="https://aws.amazon.com/about-aws/whats-new/2021/04/aws-systems-manager-now-supports-amazon-elastic-container-service-clusters/" TargetMode="External"/><Relationship Id="rId1" Type="http://schemas.openxmlformats.org/officeDocument/2006/relationships/slideLayout" Target="../slideLayouts/slideLayout9.xml"/></Relationships>
</file>

<file path=ppt/slides/_rels/slide47.xml.rels><?xml version="1.0" encoding="UTF-8" standalone="yes"?>
<Relationships xmlns="http://schemas.openxmlformats.org/package/2006/relationships"><Relationship Id="rId2" Type="http://schemas.openxmlformats.org/officeDocument/2006/relationships/hyperlink" Target="https://aws.amazon.com/about-aws/whats-new/2021/04/amazon-cloudwatch-lambda-insights-now-supports-aws-lambda-container-images-general-availability/" TargetMode="External"/><Relationship Id="rId1" Type="http://schemas.openxmlformats.org/officeDocument/2006/relationships/slideLayout" Target="../slideLayouts/slideLayout9.xml"/></Relationships>
</file>

<file path=ppt/slides/_rels/slide48.xml.rels><?xml version="1.0" encoding="UTF-8" standalone="yes"?>
<Relationships xmlns="http://schemas.openxmlformats.org/package/2006/relationships"><Relationship Id="rId2" Type="http://schemas.openxmlformats.org/officeDocument/2006/relationships/hyperlink" Target="https://aws.amazon.com/about-aws/whats-new/2021/05/aws-x-ray-now-supports-vpc-endpoints/" TargetMode="External"/><Relationship Id="rId1" Type="http://schemas.openxmlformats.org/officeDocument/2006/relationships/slideLayout" Target="../slideLayouts/slideLayout9.xml"/></Relationships>
</file>

<file path=ppt/slides/_rels/slide49.xml.rels><?xml version="1.0" encoding="UTF-8" standalone="yes"?>
<Relationships xmlns="http://schemas.openxmlformats.org/package/2006/relationships"><Relationship Id="rId2" Type="http://schemas.openxmlformats.org/officeDocument/2006/relationships/hyperlink" Target="https://aws.amazon.com/about-aws/whats-new/2021/05/introducing-amazon-finspace-a-fully-managed-service-to-store-prepare-and-analyze-data-for-the-financial-services-industry-fsi/" TargetMode="External"/><Relationship Id="rId1" Type="http://schemas.openxmlformats.org/officeDocument/2006/relationships/slideLayout" Target="../slideLayouts/slideLayout9.xml"/></Relationships>
</file>

<file path=ppt/slides/_rels/slide50.xml.rels><?xml version="1.0" encoding="UTF-8" standalone="yes"?>
<Relationships xmlns="http://schemas.openxmlformats.org/package/2006/relationships"><Relationship Id="rId2" Type="http://schemas.openxmlformats.org/officeDocument/2006/relationships/hyperlink" Target="https://aws.amazon.com/about-aws/whats-new/2021/04/review-last-accessed-information-identify-unused-ec2-iam-lambda-permissions-tighten-access-iam-roles/" TargetMode="External"/><Relationship Id="rId1" Type="http://schemas.openxmlformats.org/officeDocument/2006/relationships/slideLayout" Target="../slideLayouts/slideLayout9.xml"/></Relationships>
</file>

<file path=ppt/slides/_rels/slide51.xml.rels><?xml version="1.0" encoding="UTF-8" standalone="yes"?>
<Relationships xmlns="http://schemas.openxmlformats.org/package/2006/relationships"><Relationship Id="rId2" Type="http://schemas.openxmlformats.org/officeDocument/2006/relationships/hyperlink" Target="https://aws.amazon.com/about-aws/whats-new/2021/04/amazon-kinesis-data-streams-for-amazon-dynamodb-now-supports-aws/" TargetMode="External"/><Relationship Id="rId1" Type="http://schemas.openxmlformats.org/officeDocument/2006/relationships/slideLayout" Target="../slideLayouts/slideLayout9.xml"/></Relationships>
</file>

<file path=ppt/slides/_rels/slide52.xml.rels><?xml version="1.0" encoding="UTF-8" standalone="yes"?>
<Relationships xmlns="http://schemas.openxmlformats.org/package/2006/relationships"><Relationship Id="rId2" Type="http://schemas.openxmlformats.org/officeDocument/2006/relationships/hyperlink" Target="https://aws.amazon.com/about-aws/whats-new/2021/03/announcing-amazon-cloudwatch-metric-streams/" TargetMode="External"/><Relationship Id="rId1" Type="http://schemas.openxmlformats.org/officeDocument/2006/relationships/slideLayout" Target="../slideLayouts/slideLayout9.xml"/></Relationships>
</file>

<file path=ppt/slides/_rels/slide53.xml.rels><?xml version="1.0" encoding="UTF-8" standalone="yes"?>
<Relationships xmlns="http://schemas.openxmlformats.org/package/2006/relationships"><Relationship Id="rId2" Type="http://schemas.openxmlformats.org/officeDocument/2006/relationships/hyperlink" Target="https://aws.amazon.com/about-aws/whats-new/2021/06/amazon-documentdb-with-mongodb-compatibility-now-supports-large-instances/" TargetMode="External"/><Relationship Id="rId1" Type="http://schemas.openxmlformats.org/officeDocument/2006/relationships/slideLayout" Target="../slideLayouts/slideLayout9.xml"/></Relationships>
</file>

<file path=ppt/slides/_rels/slide54.xml.rels><?xml version="1.0" encoding="UTF-8" standalone="yes"?>
<Relationships xmlns="http://schemas.openxmlformats.org/package/2006/relationships"><Relationship Id="rId2" Type="http://schemas.openxmlformats.org/officeDocument/2006/relationships/hyperlink" Target="https://aws.amazon.com/about-aws/whats-new/2021/06/aws-sam-launches-machine-learning-inference-templates-for-aws-lambda/" TargetMode="External"/><Relationship Id="rId1" Type="http://schemas.openxmlformats.org/officeDocument/2006/relationships/slideLayout" Target="../slideLayouts/slideLayout9.xml"/></Relationships>
</file>

<file path=ppt/slides/_rels/slide55.xml.rels><?xml version="1.0" encoding="UTF-8" standalone="yes"?>
<Relationships xmlns="http://schemas.openxmlformats.org/package/2006/relationships"><Relationship Id="rId2" Type="http://schemas.openxmlformats.org/officeDocument/2006/relationships/hyperlink" Target="https://aws.amazon.com/about-aws/whats-new/2021/06/new-tools-to-simplify-continuous-integration-systems/" TargetMode="External"/><Relationship Id="rId1" Type="http://schemas.openxmlformats.org/officeDocument/2006/relationships/slideLayout" Target="../slideLayouts/slideLayout9.xml"/></Relationships>
</file>

<file path=ppt/slides/_rels/slide56.xml.rels><?xml version="1.0" encoding="UTF-8" standalone="yes"?>
<Relationships xmlns="http://schemas.openxmlformats.org/package/2006/relationships"><Relationship Id="rId2" Type="http://schemas.openxmlformats.org/officeDocument/2006/relationships/hyperlink" Target="https://aws.amazon.com/about-aws/whats-new/2021/06/amazon-codeguru-reviewer-announces-ci-cd-integration-github-actions-new-security-detectors-for-java/" TargetMode="External"/><Relationship Id="rId1" Type="http://schemas.openxmlformats.org/officeDocument/2006/relationships/slideLayout" Target="../slideLayouts/slideLayout9.xml"/></Relationships>
</file>

<file path=ppt/slides/_rels/slide57.xml.rels><?xml version="1.0" encoding="UTF-8" standalone="yes"?>
<Relationships xmlns="http://schemas.openxmlformats.org/package/2006/relationships"><Relationship Id="rId2" Type="http://schemas.openxmlformats.org/officeDocument/2006/relationships/hyperlink" Target="https://aws.amazon.com/about-aws/whats-new/2021/06/configure-github-actions-workflows-with-new-github-action-for-building-serverless-applications/" TargetMode="External"/><Relationship Id="rId1" Type="http://schemas.openxmlformats.org/officeDocument/2006/relationships/slideLayout" Target="../slideLayouts/slideLayout9.xml"/></Relationships>
</file>

<file path=ppt/slides/_rels/slide58.xml.rels><?xml version="1.0" encoding="UTF-8" standalone="yes"?>
<Relationships xmlns="http://schemas.openxmlformats.org/package/2006/relationships"><Relationship Id="rId2" Type="http://schemas.openxmlformats.org/officeDocument/2006/relationships/hyperlink" Target="https://aws.amazon.com/about-aws/whats-new/2021/06/amazon-keyspaces--for-apache-cassandra--now-helps-you-monitor-an/" TargetMode="External"/><Relationship Id="rId1" Type="http://schemas.openxmlformats.org/officeDocument/2006/relationships/slideLayout" Target="../slideLayouts/slideLayout9.xml"/></Relationships>
</file>

<file path=ppt/slides/_rels/slide59.xml.rels><?xml version="1.0" encoding="UTF-8" standalone="yes"?>
<Relationships xmlns="http://schemas.openxmlformats.org/package/2006/relationships"><Relationship Id="rId2" Type="http://schemas.openxmlformats.org/officeDocument/2006/relationships/hyperlink" Target="https://aws.amazon.com/about-aws/whats-new/2021/announcing-workflow-studio-a-new-low-code-visual-workflow-designer-foraws-step-functions/" TargetMode="External"/><Relationship Id="rId1" Type="http://schemas.openxmlformats.org/officeDocument/2006/relationships/slideLayout" Target="../slideLayouts/slideLayout9.xml"/></Relationships>
</file>

<file path=ppt/slides/_rels/slide60.xml.rels><?xml version="1.0" encoding="UTF-8" standalone="yes"?>
<Relationships xmlns="http://schemas.openxmlformats.org/package/2006/relationships"><Relationship Id="rId2" Type="http://schemas.openxmlformats.org/officeDocument/2006/relationships/hyperlink" Target="https://aws.amazon.com/about-aws/whats-new/2021/06/amazon-aurora-postgresql-supports-pg-proctab-extension-access-postgresql-system-stats/" TargetMode="External"/><Relationship Id="rId1" Type="http://schemas.openxmlformats.org/officeDocument/2006/relationships/slideLayout" Target="../slideLayouts/slideLayout9.xml"/></Relationships>
</file>

<file path=ppt/slides/_rels/slide61.xml.rels><?xml version="1.0" encoding="UTF-8" standalone="yes"?>
<Relationships xmlns="http://schemas.openxmlformats.org/package/2006/relationships"><Relationship Id="rId2" Type="http://schemas.openxmlformats.org/officeDocument/2006/relationships/hyperlink" Target="https://aws.amazon.com/about-aws/whats-new/2021/06/amazon-aurora-postgresql-supports-pg-cron-extension-for-scheduling-database-jobs/" TargetMode="External"/><Relationship Id="rId1" Type="http://schemas.openxmlformats.org/officeDocument/2006/relationships/slideLayout" Target="../slideLayouts/slideLayout9.xml"/></Relationships>
</file>

<file path=ppt/slides/_rels/slide62.xml.rels><?xml version="1.0" encoding="UTF-8" standalone="yes"?>
<Relationships xmlns="http://schemas.openxmlformats.org/package/2006/relationships"><Relationship Id="rId2" Type="http://schemas.openxmlformats.org/officeDocument/2006/relationships/hyperlink" Target="https://aws.amazon.com/about-aws/whats-new/2021/06/aws-copilot-launches-v1-8-with-improved-support-for-load-balanced-web-services-and-vpcs/" TargetMode="External"/><Relationship Id="rId1" Type="http://schemas.openxmlformats.org/officeDocument/2006/relationships/slideLayout" Target="../slideLayouts/slideLayout9.xml"/></Relationships>
</file>

<file path=ppt/slides/_rels/slide63.xml.rels><?xml version="1.0" encoding="UTF-8" standalone="yes"?>
<Relationships xmlns="http://schemas.openxmlformats.org/package/2006/relationships"><Relationship Id="rId2" Type="http://schemas.openxmlformats.org/officeDocument/2006/relationships/hyperlink" Target="https://aws.amazon.com/about-aws/whats-new/2021/06/aws-backup-supports-crash-consistent-backup-amazon-ebs-volumes-attached-to-amazon-ec2-instance/" TargetMode="External"/><Relationship Id="rId1" Type="http://schemas.openxmlformats.org/officeDocument/2006/relationships/slideLayout" Target="../slideLayouts/slideLayout9.xml"/></Relationships>
</file>

<file path=ppt/slides/_rels/slide64.xml.rels><?xml version="1.0" encoding="UTF-8" standalone="yes"?>
<Relationships xmlns="http://schemas.openxmlformats.org/package/2006/relationships"><Relationship Id="rId2" Type="http://schemas.openxmlformats.org/officeDocument/2006/relationships/hyperlink" Target="https://aws.amazon.com/about-aws/whats-new/2021/06/amazon-ec2-allows-create-crash-consistent-amis-from-instances-multiple-amazon-ebs-volumes-without-rebooting-instances/" TargetMode="External"/><Relationship Id="rId1" Type="http://schemas.openxmlformats.org/officeDocument/2006/relationships/slideLayout" Target="../slideLayouts/slideLayout9.xml"/></Relationships>
</file>

<file path=ppt/slides/_rels/slide65.xml.rels><?xml version="1.0" encoding="UTF-8" standalone="yes"?>
<Relationships xmlns="http://schemas.openxmlformats.org/package/2006/relationships"><Relationship Id="rId2" Type="http://schemas.openxmlformats.org/officeDocument/2006/relationships/hyperlink" Target="https://aws.amazon.com/about-aws/whats-new/2021/06/aws-app-mesh-introduces-enhanced-ingress-traffic-management-capabilities/" TargetMode="External"/><Relationship Id="rId1" Type="http://schemas.openxmlformats.org/officeDocument/2006/relationships/slideLayout" Target="../slideLayouts/slideLayout9.xml"/></Relationships>
</file>

<file path=ppt/slides/_rels/slide66.xml.rels><?xml version="1.0" encoding="UTF-8" standalone="yes"?>
<Relationships xmlns="http://schemas.openxmlformats.org/package/2006/relationships"><Relationship Id="rId2" Type="http://schemas.openxmlformats.org/officeDocument/2006/relationships/hyperlink" Target="https://aws.amazon.com/about-aws/whats-new/2021/06/aws-removes-nat-gateways-dependence-on-internet-gateway-for-private-communications/" TargetMode="External"/><Relationship Id="rId1" Type="http://schemas.openxmlformats.org/officeDocument/2006/relationships/slideLayout" Target="../slideLayouts/slideLayout9.xml"/></Relationships>
</file>

<file path=ppt/slides/_rels/slide67.xml.rels><?xml version="1.0" encoding="UTF-8" standalone="yes"?>
<Relationships xmlns="http://schemas.openxmlformats.org/package/2006/relationships"><Relationship Id="rId2" Type="http://schemas.openxmlformats.org/officeDocument/2006/relationships/hyperlink" Target="https://aws.amazon.com/about-aws/whats-new/2021/06/announcing-r5d-instances-and-lookup-cache-for-amazon-neptune/" TargetMode="External"/><Relationship Id="rId1" Type="http://schemas.openxmlformats.org/officeDocument/2006/relationships/slideLayout" Target="../slideLayouts/slideLayout9.xml"/></Relationships>
</file>

<file path=ppt/slides/_rels/slide68.xml.rels><?xml version="1.0" encoding="UTF-8" standalone="yes"?>
<Relationships xmlns="http://schemas.openxmlformats.org/package/2006/relationships"><Relationship Id="rId2" Type="http://schemas.openxmlformats.org/officeDocument/2006/relationships/hyperlink" Target="https://aws.amazon.com/about-aws/whats-new/2021/06/identify-and-copy-existing-objects-to-use-s3-bucket-keys-reducing-the-costs-of-server-side-encryption-with-aws-key-management-service-sse-kms/" TargetMode="External"/><Relationship Id="rId1" Type="http://schemas.openxmlformats.org/officeDocument/2006/relationships/slideLayout" Target="../slideLayouts/slideLayout9.xml"/></Relationships>
</file>

<file path=ppt/slides/_rels/slide69.xml.rels><?xml version="1.0" encoding="UTF-8" standalone="yes"?>
<Relationships xmlns="http://schemas.openxmlformats.org/package/2006/relationships"><Relationship Id="rId2" Type="http://schemas.openxmlformats.org/officeDocument/2006/relationships/hyperlink" Target="https://aws.amazon.com/about-aws/whats-new/2021/06/amazon-eks-pods-running-aws-fargate-support-custom-security-groups/" TargetMode="External"/><Relationship Id="rId1" Type="http://schemas.openxmlformats.org/officeDocument/2006/relationships/slideLayout" Target="../slideLayouts/slideLayout9.xml"/></Relationships>
</file>

<file path=ppt/slides/_rels/slide70.xml.rels><?xml version="1.0" encoding="UTF-8" standalone="yes"?>
<Relationships xmlns="http://schemas.openxmlformats.org/package/2006/relationships"><Relationship Id="rId2" Type="http://schemas.openxmlformats.org/officeDocument/2006/relationships/hyperlink" Target="https://aws.amazon.com/about-aws/whats-new/2021/06/amazon-location-service-is-now-generally-available/" TargetMode="External"/><Relationship Id="rId1" Type="http://schemas.openxmlformats.org/officeDocument/2006/relationships/slideLayout" Target="../slideLayouts/slideLayout9.xml"/></Relationships>
</file>

<file path=ppt/slides/_rels/slide71.xml.rels><?xml version="1.0" encoding="UTF-8" standalone="yes"?>
<Relationships xmlns="http://schemas.openxmlformats.org/package/2006/relationships"><Relationship Id="rId2" Type="http://schemas.openxmlformats.org/officeDocument/2006/relationships/hyperlink" Target="https://aws.amazon.com/about-aws/whats-new/2021/05/amazon-cloudwatch-logs-service-limits-can-now-be-managed-with-aws-service-quotas/" TargetMode="External"/><Relationship Id="rId1" Type="http://schemas.openxmlformats.org/officeDocument/2006/relationships/slideLayout" Target="../slideLayouts/slideLayout9.xml"/></Relationships>
</file>

<file path=ppt/slides/_rels/slide72.xml.rels><?xml version="1.0" encoding="UTF-8" standalone="yes"?>
<Relationships xmlns="http://schemas.openxmlformats.org/package/2006/relationships"><Relationship Id="rId2" Type="http://schemas.openxmlformats.org/officeDocument/2006/relationships/hyperlink" Target="https://aws.amazon.com/about-aws/whats-new/2021/05/amazon-cloudwatch-application-insights-now-supports-container-monitoring/" TargetMode="External"/><Relationship Id="rId1" Type="http://schemas.openxmlformats.org/officeDocument/2006/relationships/slideLayout" Target="../slideLayouts/slideLayout9.xml"/></Relationships>
</file>

<file path=ppt/slides/_rels/slide73.xml.rels><?xml version="1.0" encoding="UTF-8" standalone="yes"?>
<Relationships xmlns="http://schemas.openxmlformats.org/package/2006/relationships"><Relationship Id="rId2" Type="http://schemas.openxmlformats.org/officeDocument/2006/relationships/hyperlink" Target="https://aws.amazon.com/about-aws/whats-new/2021/05/amazon-eventbridge-supports-sharing-events-between-event-buses-same-account-region/" TargetMode="External"/><Relationship Id="rId1" Type="http://schemas.openxmlformats.org/officeDocument/2006/relationships/slideLayout" Target="../slideLayouts/slideLayout9.xml"/></Relationships>
</file>

<file path=ppt/slides/_rels/slide74.xml.rels><?xml version="1.0" encoding="UTF-8" standalone="yes"?>
<Relationships xmlns="http://schemas.openxmlformats.org/package/2006/relationships"><Relationship Id="rId2" Type="http://schemas.openxmlformats.org/officeDocument/2006/relationships/hyperlink" Target="https://aws.amazon.com/about-aws/whats-new/2021/05/aws-copilot-launches-v17-with-support-for-aws-app-runner-and-more/" TargetMode="External"/><Relationship Id="rId1" Type="http://schemas.openxmlformats.org/officeDocument/2006/relationships/slideLayout" Target="../slideLayouts/slideLayout9.xml"/></Relationships>
</file>

<file path=ppt/slides/_rels/slide75.xml.rels><?xml version="1.0" encoding="UTF-8" standalone="yes"?>
<Relationships xmlns="http://schemas.openxmlformats.org/package/2006/relationships"><Relationship Id="rId2" Type="http://schemas.openxmlformats.org/officeDocument/2006/relationships/hyperlink" Target="https://aws.amazon.com/about-aws/whats-new/2021/05/aws-cloudformation-guard-2-0-is-now-generally-available/" TargetMode="External"/><Relationship Id="rId1" Type="http://schemas.openxmlformats.org/officeDocument/2006/relationships/slideLayout" Target="../slideLayouts/slideLayout9.xml"/></Relationships>
</file>

<file path=ppt/slides/_rels/slide76.xml.rels><?xml version="1.0" encoding="UTF-8" standalone="yes"?>
<Relationships xmlns="http://schemas.openxmlformats.org/package/2006/relationships"><Relationship Id="rId2" Type="http://schemas.openxmlformats.org/officeDocument/2006/relationships/hyperlink" Target="https://aws.amazon.com/about-aws/whats-new/2021/05/amazon-dynamodb-global-tables-now-support-aws-cloudformation/" TargetMode="External"/><Relationship Id="rId1" Type="http://schemas.openxmlformats.org/officeDocument/2006/relationships/slideLayout" Target="../slideLayouts/slideLayout9.xml"/></Relationships>
</file>

<file path=ppt/slides/_rels/slide77.xml.rels><?xml version="1.0" encoding="UTF-8" standalone="yes"?>
<Relationships xmlns="http://schemas.openxmlformats.org/package/2006/relationships"><Relationship Id="rId2" Type="http://schemas.openxmlformats.org/officeDocument/2006/relationships/hyperlink" Target="https://aws.amazon.com/about-aws/whats-new/2021/05/aws-announces-a-price-reduction-for-amazon-managed-service-for-prometheus-amp/" TargetMode="External"/><Relationship Id="rId1" Type="http://schemas.openxmlformats.org/officeDocument/2006/relationships/slideLayout" Target="../slideLayouts/slideLayout9.xml"/></Relationships>
</file>

<file path=ppt/slides/_rels/slide78.xml.rels><?xml version="1.0" encoding="UTF-8" standalone="yes"?>
<Relationships xmlns="http://schemas.openxmlformats.org/package/2006/relationships"><Relationship Id="rId2" Type="http://schemas.openxmlformats.org/officeDocument/2006/relationships/hyperlink" Target="https://aws.amazon.com/about-aws/whats-new/2021/04/now-visualize-report-patch-compliance-aws-systems-manager-patch-manager/" TargetMode="External"/><Relationship Id="rId1" Type="http://schemas.openxmlformats.org/officeDocument/2006/relationships/slideLayout" Target="../slideLayouts/slideLayout9.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0.xml.rels><?xml version="1.0" encoding="UTF-8" standalone="yes"?>
<Relationships xmlns="http://schemas.openxmlformats.org/package/2006/relationships"><Relationship Id="rId2" Type="http://schemas.openxmlformats.org/officeDocument/2006/relationships/hyperlink" Target="https://aws.amazon.com/about-aws/whats-new/2021/06/amazon-rekognition-custom-labels-adds-support-for-kms-encryption-of-custom-model-training-data/" TargetMode="External"/><Relationship Id="rId1" Type="http://schemas.openxmlformats.org/officeDocument/2006/relationships/slideLayout" Target="../slideLayouts/slideLayout9.xml"/></Relationships>
</file>

<file path=ppt/slides/_rels/slide81.xml.rels><?xml version="1.0" encoding="UTF-8" standalone="yes"?>
<Relationships xmlns="http://schemas.openxmlformats.org/package/2006/relationships"><Relationship Id="rId2" Type="http://schemas.openxmlformats.org/officeDocument/2006/relationships/hyperlink" Target="https://aws.amazon.com/about-aws/whats-new/2021/06/amazon-connect-launches-api-configure-quick-connects-programmatically/" TargetMode="External"/><Relationship Id="rId1" Type="http://schemas.openxmlformats.org/officeDocument/2006/relationships/slideLayout" Target="../slideLayouts/slideLayout9.xml"/></Relationships>
</file>

<file path=ppt/slides/_rels/slide82.xml.rels><?xml version="1.0" encoding="UTF-8" standalone="yes"?>
<Relationships xmlns="http://schemas.openxmlformats.org/package/2006/relationships"><Relationship Id="rId2" Type="http://schemas.openxmlformats.org/officeDocument/2006/relationships/hyperlink" Target="https://aws.amazon.com/about-aws/whats-new/2021/06/amazon-ec2-inf1-instances-new-features-improved-performance-and-lower-prices/" TargetMode="External"/><Relationship Id="rId1" Type="http://schemas.openxmlformats.org/officeDocument/2006/relationships/slideLayout" Target="../slideLayouts/slideLayout9.xml"/></Relationships>
</file>

<file path=ppt/slides/_rels/slide83.xml.rels><?xml version="1.0" encoding="UTF-8" standalone="yes"?>
<Relationships xmlns="http://schemas.openxmlformats.org/package/2006/relationships"><Relationship Id="rId2" Type="http://schemas.openxmlformats.org/officeDocument/2006/relationships/hyperlink" Target="https://aws.amazon.com/about-aws/whats-new/2021/06/cloudwatch-adds-new-metric-math-functions/" TargetMode="External"/><Relationship Id="rId1" Type="http://schemas.openxmlformats.org/officeDocument/2006/relationships/slideLayout" Target="../slideLayouts/slideLayout9.xml"/></Relationships>
</file>

<file path=ppt/slides/_rels/slide84.xml.rels><?xml version="1.0" encoding="UTF-8" standalone="yes"?>
<Relationships xmlns="http://schemas.openxmlformats.org/package/2006/relationships"><Relationship Id="rId2" Type="http://schemas.openxmlformats.org/officeDocument/2006/relationships/hyperlink" Target="https://aws.amazon.com/about-aws/whats-new/2021/06/amazon-neptune-now-supports-copying-db-cluster-resources-tags-to-db-snapshots/" TargetMode="External"/><Relationship Id="rId1" Type="http://schemas.openxmlformats.org/officeDocument/2006/relationships/slideLayout" Target="../slideLayouts/slideLayout9.xml"/></Relationships>
</file>

<file path=ppt/slides/_rels/slide85.xml.rels><?xml version="1.0" encoding="UTF-8" standalone="yes"?>
<Relationships xmlns="http://schemas.openxmlformats.org/package/2006/relationships"><Relationship Id="rId2" Type="http://schemas.openxmlformats.org/officeDocument/2006/relationships/hyperlink" Target="https://aws.amazon.com/about-aws/whats-new/2021/06/aws-devops-monitoring-dashboard-solution-adds-support-for-aws-codebuild-and-asw-codepipeline-related-metrics/" TargetMode="External"/><Relationship Id="rId1" Type="http://schemas.openxmlformats.org/officeDocument/2006/relationships/slideLayout" Target="../slideLayouts/slideLayout9.xml"/></Relationships>
</file>

<file path=ppt/slides/_rels/slide86.xml.rels><?xml version="1.0" encoding="UTF-8" standalone="yes"?>
<Relationships xmlns="http://schemas.openxmlformats.org/package/2006/relationships"><Relationship Id="rId2" Type="http://schemas.openxmlformats.org/officeDocument/2006/relationships/hyperlink" Target="https://aws.amazon.com/about-aws/whats-new/2021/06/managed-database-auditing-with-amazon-rds-database-activity-streams-for-amazon-rds-for-oracle/" TargetMode="External"/><Relationship Id="rId1" Type="http://schemas.openxmlformats.org/officeDocument/2006/relationships/slideLayout" Target="../slideLayouts/slideLayout9.xml"/></Relationships>
</file>

<file path=ppt/slides/_rels/slide87.xml.rels><?xml version="1.0" encoding="UTF-8" standalone="yes"?>
<Relationships xmlns="http://schemas.openxmlformats.org/package/2006/relationships"><Relationship Id="rId2" Type="http://schemas.openxmlformats.org/officeDocument/2006/relationships/hyperlink" Target="https://aws.amazon.com/about-aws/whats-new/2021/06/amazon-qldb-is-now-available-in-the-europe-london-region/" TargetMode="External"/><Relationship Id="rId1" Type="http://schemas.openxmlformats.org/officeDocument/2006/relationships/slideLayout" Target="../slideLayouts/slideLayout9.xml"/></Relationships>
</file>

<file path=ppt/slides/_rels/slide88.xml.rels><?xml version="1.0" encoding="UTF-8" standalone="yes"?>
<Relationships xmlns="http://schemas.openxmlformats.org/package/2006/relationships"><Relationship Id="rId2" Type="http://schemas.openxmlformats.org/officeDocument/2006/relationships/hyperlink" Target="https://aws.amazon.com/about-aws/whats-new/2021/06/aws-purchase-order-management-now-supports-a-trn-filter-for-aws-europe/" TargetMode="External"/><Relationship Id="rId1" Type="http://schemas.openxmlformats.org/officeDocument/2006/relationships/slideLayout" Target="../slideLayouts/slideLayout9.xml"/></Relationships>
</file>

<file path=ppt/slides/_rels/slide89.xml.rels><?xml version="1.0" encoding="UTF-8" standalone="yes"?>
<Relationships xmlns="http://schemas.openxmlformats.org/package/2006/relationships"><Relationship Id="rId2" Type="http://schemas.openxmlformats.org/officeDocument/2006/relationships/hyperlink" Target="https://aws.amazon.com/about-aws/whats-new/2021/06/aws-now-allows-customers-to-pay-for-their-usage-in-advance-/" TargetMode="External"/><Relationship Id="rId1" Type="http://schemas.openxmlformats.org/officeDocument/2006/relationships/slideLayout" Target="../slideLayouts/slideLayout9.xml"/></Relationships>
</file>

<file path=ppt/slides/_rels/slide90.xml.rels><?xml version="1.0" encoding="UTF-8" standalone="yes"?>
<Relationships xmlns="http://schemas.openxmlformats.org/package/2006/relationships"><Relationship Id="rId2" Type="http://schemas.openxmlformats.org/officeDocument/2006/relationships/hyperlink" Target="https://aws.amazon.com/about-aws/whats-new/2021/06/aws-announces-aws-bugbust/" TargetMode="External"/><Relationship Id="rId1" Type="http://schemas.openxmlformats.org/officeDocument/2006/relationships/slideLayout" Target="../slideLayouts/slideLayout9.xml"/></Relationships>
</file>

<file path=ppt/slides/_rels/slide91.xml.rels><?xml version="1.0" encoding="UTF-8" standalone="yes"?>
<Relationships xmlns="http://schemas.openxmlformats.org/package/2006/relationships"><Relationship Id="rId2" Type="http://schemas.openxmlformats.org/officeDocument/2006/relationships/hyperlink" Target="https://aws.amazon.com/about-aws/whats-new/2021/06/amazon-emr-now-supports-up-to-thirty-instance-type-configurations-in-instance-fleets/" TargetMode="External"/><Relationship Id="rId1" Type="http://schemas.openxmlformats.org/officeDocument/2006/relationships/slideLayout" Target="../slideLayouts/slideLayout9.xml"/></Relationships>
</file>

<file path=ppt/slides/_rels/slide92.xml.rels><?xml version="1.0" encoding="UTF-8" standalone="yes"?>
<Relationships xmlns="http://schemas.openxmlformats.org/package/2006/relationships"><Relationship Id="rId2" Type="http://schemas.openxmlformats.org/officeDocument/2006/relationships/hyperlink" Target="https://aws.amazon.com/about-aws/whats-new/2021/06/aws-network-firewall-is-now-available-in-aws-govcloud-us/" TargetMode="External"/><Relationship Id="rId1" Type="http://schemas.openxmlformats.org/officeDocument/2006/relationships/slideLayout" Target="../slideLayouts/slideLayout9.xml"/></Relationships>
</file>

<file path=ppt/slides/_rels/slide93.xml.rels><?xml version="1.0" encoding="UTF-8" standalone="yes"?>
<Relationships xmlns="http://schemas.openxmlformats.org/package/2006/relationships"><Relationship Id="rId2" Type="http://schemas.openxmlformats.org/officeDocument/2006/relationships/hyperlink" Target="https://aws.amazon.com/about-aws/whats-new/2021/06/amazon-redshift-now-supports-case-insensitive-collation-with-column-level-overrides/" TargetMode="External"/><Relationship Id="rId1" Type="http://schemas.openxmlformats.org/officeDocument/2006/relationships/slideLayout" Target="../slideLayouts/slideLayout9.xml"/></Relationships>
</file>

<file path=ppt/slides/_rels/slide94.xml.rels><?xml version="1.0" encoding="UTF-8" standalone="yes"?>
<Relationships xmlns="http://schemas.openxmlformats.org/package/2006/relationships"><Relationship Id="rId2" Type="http://schemas.openxmlformats.org/officeDocument/2006/relationships/hyperlink" Target="https://aws.amazon.com/about-aws/whats-new/2021/06/aqua-for-amazon-redshift-launches-in-three-additional-aws-regions/" TargetMode="External"/><Relationship Id="rId1" Type="http://schemas.openxmlformats.org/officeDocument/2006/relationships/slideLayout" Target="../slideLayouts/slideLayout9.xml"/></Relationships>
</file>

<file path=ppt/slides/_rels/slide95.xml.rels><?xml version="1.0" encoding="UTF-8" standalone="yes"?>
<Relationships xmlns="http://schemas.openxmlformats.org/package/2006/relationships"><Relationship Id="rId2" Type="http://schemas.openxmlformats.org/officeDocument/2006/relationships/hyperlink" Target="https://aws.amazon.com/about-aws/whats-new/2021/06/aws-managed-services-ams-now-offers-self-service-operational-reporting-across-all-your-ams-managed-accounts/" TargetMode="External"/><Relationship Id="rId1" Type="http://schemas.openxmlformats.org/officeDocument/2006/relationships/slideLayout" Target="../slideLayouts/slideLayout9.xml"/></Relationships>
</file>

<file path=ppt/slides/_rels/slide96.xml.rels><?xml version="1.0" encoding="UTF-8" standalone="yes"?>
<Relationships xmlns="http://schemas.openxmlformats.org/package/2006/relationships"><Relationship Id="rId2" Type="http://schemas.openxmlformats.org/officeDocument/2006/relationships/hyperlink" Target="https://aws.amazon.com/about-aws/whats-new/2021/06/updated-classroom-course-and-new-digital-course-aws-technical-essentials/" TargetMode="External"/><Relationship Id="rId1" Type="http://schemas.openxmlformats.org/officeDocument/2006/relationships/slideLayout" Target="../slideLayouts/slideLayout9.xml"/></Relationships>
</file>

<file path=ppt/slides/_rels/slide97.xml.rels><?xml version="1.0" encoding="UTF-8" standalone="yes"?>
<Relationships xmlns="http://schemas.openxmlformats.org/package/2006/relationships"><Relationship Id="rId2" Type="http://schemas.openxmlformats.org/officeDocument/2006/relationships/hyperlink" Target="https://aws.amazon.com/about-aws/whats-new/2021/06/amazon-translate-now-supports-xml-localization-interchange-file-format-xliff-documents/" TargetMode="External"/><Relationship Id="rId1" Type="http://schemas.openxmlformats.org/officeDocument/2006/relationships/slideLayout" Target="../slideLayouts/slideLayout9.xml"/></Relationships>
</file>

<file path=ppt/slides/_rels/slide98.xml.rels><?xml version="1.0" encoding="UTF-8" standalone="yes"?>
<Relationships xmlns="http://schemas.openxmlformats.org/package/2006/relationships"><Relationship Id="rId2" Type="http://schemas.openxmlformats.org/officeDocument/2006/relationships/hyperlink" Target="https://aws.amazon.com/about-aws/whats-new/2021/06/amazon-rds-for-oracle-now-supports-additional-memory-configurations-of-the-r5-instance-class/" TargetMode="External"/><Relationship Id="rId1" Type="http://schemas.openxmlformats.org/officeDocument/2006/relationships/slideLayout" Target="../slideLayouts/slideLayout9.xml"/></Relationships>
</file>

<file path=ppt/slides/_rels/slide99.xml.rels><?xml version="1.0" encoding="UTF-8" standalone="yes"?>
<Relationships xmlns="http://schemas.openxmlformats.org/package/2006/relationships"><Relationship Id="rId2" Type="http://schemas.openxmlformats.org/officeDocument/2006/relationships/hyperlink" Target="https://aws.amazon.com/about-aws/whats-new/2021/06/aws-client-vpn-launches-desktop-client-for-linux/" TargetMode="External"/><Relationship Id="rId1" Type="http://schemas.openxmlformats.org/officeDocument/2006/relationships/slideLayout" Target="../slideLayouts/slideLayout9.xml"/></Relationships>
</file>

<file path=ppt/slides/_rels/slide100.xml.rels><?xml version="1.0" encoding="UTF-8" standalone="yes"?>
<Relationships xmlns="http://schemas.openxmlformats.org/package/2006/relationships"><Relationship Id="rId2" Type="http://schemas.openxmlformats.org/officeDocument/2006/relationships/hyperlink" Target="https://aws.amazon.com/about-aws/whats-new/2021/06/aws-outposts-is-now-supported-in-aws-asia-pacific-osaka-region/" TargetMode="External"/><Relationship Id="rId1" Type="http://schemas.openxmlformats.org/officeDocument/2006/relationships/slideLayout" Target="../slideLayouts/slideLayout9.xml"/></Relationships>
</file>

<file path=ppt/slides/_rels/slide101.xml.rels><?xml version="1.0" encoding="UTF-8" standalone="yes"?>
<Relationships xmlns="http://schemas.openxmlformats.org/package/2006/relationships"><Relationship Id="rId2" Type="http://schemas.openxmlformats.org/officeDocument/2006/relationships/hyperlink" Target="https://aws.amazon.com/about-aws/whats-new/2021/06/aws-lambda-support-for-amazon-elastic-file-system-now-available-in-asia-pacific-osaka-region/" TargetMode="External"/><Relationship Id="rId1" Type="http://schemas.openxmlformats.org/officeDocument/2006/relationships/slideLayout" Target="../slideLayouts/slideLayout9.xml"/></Relationships>
</file>

<file path=ppt/slides/_rels/slide102.xml.rels><?xml version="1.0" encoding="UTF-8" standalone="yes"?>
<Relationships xmlns="http://schemas.openxmlformats.org/package/2006/relationships"><Relationship Id="rId2" Type="http://schemas.openxmlformats.org/officeDocument/2006/relationships/hyperlink" Target="https://aws.amazon.com/about-aws/whats-new/2021/05/amazon-sagemaker-now-supports-mlg4dn-instances-for-batch-transform-and-processing-jobs/" TargetMode="External"/><Relationship Id="rId1" Type="http://schemas.openxmlformats.org/officeDocument/2006/relationships/slideLayout" Target="../slideLayouts/slideLayout9.xml"/></Relationships>
</file>

<file path=ppt/slides/_rels/slide103.xml.rels><?xml version="1.0" encoding="UTF-8" standalone="yes"?>
<Relationships xmlns="http://schemas.openxmlformats.org/package/2006/relationships"><Relationship Id="rId2" Type="http://schemas.openxmlformats.org/officeDocument/2006/relationships/hyperlink" Target="https://aws.amazon.com/about-aws/whats-new/2021/06/aws-control-tower-announces-accessibility-console-and-performance-improvements/" TargetMode="External"/><Relationship Id="rId1" Type="http://schemas.openxmlformats.org/officeDocument/2006/relationships/slideLayout" Target="../slideLayouts/slideLayout9.xml"/></Relationships>
</file>

<file path=ppt/slides/_rels/slide104.xml.rels><?xml version="1.0" encoding="UTF-8" standalone="yes"?>
<Relationships xmlns="http://schemas.openxmlformats.org/package/2006/relationships"><Relationship Id="rId2" Type="http://schemas.openxmlformats.org/officeDocument/2006/relationships/hyperlink" Target="https://aws.amazon.com/about-aws/whats-new/2021/06/sellers-consulting-partners-and-data-providers-from-hong-kong-and-qatar-now-available-in-aws-marketplace-and-aws-data-exchange/" TargetMode="External"/><Relationship Id="rId1" Type="http://schemas.openxmlformats.org/officeDocument/2006/relationships/slideLayout" Target="../slideLayouts/slideLayout9.xml"/></Relationships>
</file>

<file path=ppt/slides/_rels/slide105.xml.rels><?xml version="1.0" encoding="UTF-8" standalone="yes"?>
<Relationships xmlns="http://schemas.openxmlformats.org/package/2006/relationships"><Relationship Id="rId2" Type="http://schemas.openxmlformats.org/officeDocument/2006/relationships/hyperlink" Target="https://aws.amazon.com/about-aws/whats-new/2021/06/amazon-connect-customer-profiles-launches-in-canada-central-region/" TargetMode="External"/><Relationship Id="rId1" Type="http://schemas.openxmlformats.org/officeDocument/2006/relationships/slideLayout" Target="../slideLayouts/slideLayout9.xml"/></Relationships>
</file>

<file path=ppt/slides/_rels/slide106.xml.rels><?xml version="1.0" encoding="UTF-8" standalone="yes"?>
<Relationships xmlns="http://schemas.openxmlformats.org/package/2006/relationships"><Relationship Id="rId2" Type="http://schemas.openxmlformats.org/officeDocument/2006/relationships/hyperlink" Target="https://aws.amazon.com/about-aws/whats-new/2021/06/aws-elemental-medialive-now-converts-inage-based-subtitles-to-text-based-captions-for-mobile-device-playback/" TargetMode="External"/><Relationship Id="rId1" Type="http://schemas.openxmlformats.org/officeDocument/2006/relationships/slideLayout" Target="../slideLayouts/slideLayout9.xml"/></Relationships>
</file>

<file path=ppt/slides/_rels/slide107.xml.rels><?xml version="1.0" encoding="UTF-8" standalone="yes"?>
<Relationships xmlns="http://schemas.openxmlformats.org/package/2006/relationships"><Relationship Id="rId2" Type="http://schemas.openxmlformats.org/officeDocument/2006/relationships/hyperlink" Target="https://aws.amazon.com/about-aws/whats-new/2021/06/amazon-aurora-serverless-v1-supports-fast-database-cloning/" TargetMode="External"/><Relationship Id="rId1" Type="http://schemas.openxmlformats.org/officeDocument/2006/relationships/slideLayout" Target="../slideLayouts/slideLayout9.xml"/></Relationships>
</file>

<file path=ppt/slides/_rels/slide108.xml.rels><?xml version="1.0" encoding="UTF-8" standalone="yes"?>
<Relationships xmlns="http://schemas.openxmlformats.org/package/2006/relationships"><Relationship Id="rId2" Type="http://schemas.openxmlformats.org/officeDocument/2006/relationships/hyperlink" Target="https://aws.amazon.com/about-aws/whats-new/2021/06/amazon-rds-supports-mariadb-audit-plugin-for-mysql-version-8-0/" TargetMode="External"/><Relationship Id="rId1" Type="http://schemas.openxmlformats.org/officeDocument/2006/relationships/slideLayout" Target="../slideLayouts/slideLayout9.xml"/></Relationships>
</file>

<file path=ppt/slides/_rels/slide109.xml.rels><?xml version="1.0" encoding="UTF-8" standalone="yes"?>
<Relationships xmlns="http://schemas.openxmlformats.org/package/2006/relationships"><Relationship Id="rId2" Type="http://schemas.openxmlformats.org/officeDocument/2006/relationships/hyperlink" Target="https://aws.amazon.com/about-aws/whats-new/2021/06/announcing-a-new-public-registry-for-aws-cloudformation/" TargetMode="External"/><Relationship Id="rId1" Type="http://schemas.openxmlformats.org/officeDocument/2006/relationships/slideLayout" Target="../slideLayouts/slideLayout9.xml"/></Relationships>
</file>

<file path=ppt/slides/_rels/slide110.xml.rels><?xml version="1.0" encoding="UTF-8" standalone="yes"?>
<Relationships xmlns="http://schemas.openxmlformats.org/package/2006/relationships"><Relationship Id="rId2" Type="http://schemas.openxmlformats.org/officeDocument/2006/relationships/hyperlink" Target="https://aws.amazon.com/about-aws/whats-new/2021/06/amazon-ec2-d3-instances-with-dense-local-hdd-storage-now-available-in-aws-govcloud-us-west-region/" TargetMode="External"/><Relationship Id="rId1" Type="http://schemas.openxmlformats.org/officeDocument/2006/relationships/slideLayout" Target="../slideLayouts/slideLayout9.xml"/></Relationships>
</file>

<file path=ppt/slides/_rels/slide111.xml.rels><?xml version="1.0" encoding="UTF-8" standalone="yes"?>
<Relationships xmlns="http://schemas.openxmlformats.org/package/2006/relationships"><Relationship Id="rId2" Type="http://schemas.openxmlformats.org/officeDocument/2006/relationships/hyperlink" Target="https://aws.amazon.com/about-aws/whats-new/2021/06/aws-gateway-load-balancer-is-now-available-in-the-aws-govcloud-us-regions/" TargetMode="External"/><Relationship Id="rId1" Type="http://schemas.openxmlformats.org/officeDocument/2006/relationships/slideLayout" Target="../slideLayouts/slideLayout9.xml"/></Relationships>
</file>

<file path=ppt/slides/_rels/slide112.xml.rels><?xml version="1.0" encoding="UTF-8" standalone="yes"?>
<Relationships xmlns="http://schemas.openxmlformats.org/package/2006/relationships"><Relationship Id="rId2" Type="http://schemas.openxmlformats.org/officeDocument/2006/relationships/hyperlink" Target="https://aws.amazon.com/about-aws/whats-new/2021/06/amazon-aurora-postgre-sql-supports-pgpartman-extension-managing-time-serial-id-table-partitioning/" TargetMode="External"/><Relationship Id="rId1" Type="http://schemas.openxmlformats.org/officeDocument/2006/relationships/slideLayout" Target="../slideLayouts/slideLayout9.xml"/></Relationships>
</file>

<file path=ppt/slides/_rels/slide113.xml.rels><?xml version="1.0" encoding="UTF-8" standalone="yes"?>
<Relationships xmlns="http://schemas.openxmlformats.org/package/2006/relationships"><Relationship Id="rId2" Type="http://schemas.openxmlformats.org/officeDocument/2006/relationships/hyperlink" Target="https://aws.amazon.com/about-aws/whats-new/2021/06/amazon-aurora-postgresql-supports-pg-bigm-extension-for-faster-full-text-search/" TargetMode="External"/><Relationship Id="rId1" Type="http://schemas.openxmlformats.org/officeDocument/2006/relationships/slideLayout" Target="../slideLayouts/slideLayout9.xml"/></Relationships>
</file>

<file path=ppt/slides/_rels/slide114.xml.rels><?xml version="1.0" encoding="UTF-8" standalone="yes"?>
<Relationships xmlns="http://schemas.openxmlformats.org/package/2006/relationships"><Relationship Id="rId2" Type="http://schemas.openxmlformats.org/officeDocument/2006/relationships/hyperlink" Target="https://aws.amazon.com/about-aws/whats-new/2021/06/amazon-kendra-adds-support-for-new-aws-regions/" TargetMode="External"/><Relationship Id="rId1" Type="http://schemas.openxmlformats.org/officeDocument/2006/relationships/slideLayout" Target="../slideLayouts/slideLayout9.xml"/></Relationships>
</file>

<file path=ppt/slides/_rels/slide115.xml.rels><?xml version="1.0" encoding="UTF-8" standalone="yes"?>
<Relationships xmlns="http://schemas.openxmlformats.org/package/2006/relationships"><Relationship Id="rId2" Type="http://schemas.openxmlformats.org/officeDocument/2006/relationships/hyperlink" Target="https://aws.amazon.com/about-aws/whats-new/2021/06/amazon-mq-is-now-available-in-aws-govcloud-us-regions/" TargetMode="External"/><Relationship Id="rId1" Type="http://schemas.openxmlformats.org/officeDocument/2006/relationships/slideLayout" Target="../slideLayouts/slideLayout9.xml"/></Relationships>
</file>

<file path=ppt/slides/_rels/slide116.xml.rels><?xml version="1.0" encoding="UTF-8" standalone="yes"?>
<Relationships xmlns="http://schemas.openxmlformats.org/package/2006/relationships"><Relationship Id="rId2" Type="http://schemas.openxmlformats.org/officeDocument/2006/relationships/hyperlink" Target="https://aws.amazon.com/about-aws/whats-new/2021/06/aws-announces-general-availability-of-aws-wavelength-in-london/" TargetMode="External"/><Relationship Id="rId1" Type="http://schemas.openxmlformats.org/officeDocument/2006/relationships/slideLayout" Target="../slideLayouts/slideLayout9.xml"/></Relationships>
</file>

<file path=ppt/slides/_rels/slide117.xml.rels><?xml version="1.0" encoding="UTF-8" standalone="yes"?>
<Relationships xmlns="http://schemas.openxmlformats.org/package/2006/relationships"><Relationship Id="rId2" Type="http://schemas.openxmlformats.org/officeDocument/2006/relationships/hyperlink" Target="https://aws.amazon.com/about-aws/whats-new/2021/06/amazon-personalize-now-unlocks-information-in-unstructured-text-for-recommendations/" TargetMode="External"/><Relationship Id="rId1" Type="http://schemas.openxmlformats.org/officeDocument/2006/relationships/slideLayout" Target="../slideLayouts/slideLayout9.xml"/></Relationships>
</file>

<file path=ppt/slides/_rels/slide118.xml.rels><?xml version="1.0" encoding="UTF-8" standalone="yes"?>
<Relationships xmlns="http://schemas.openxmlformats.org/package/2006/relationships"><Relationship Id="rId2" Type="http://schemas.openxmlformats.org/officeDocument/2006/relationships/hyperlink" Target="https://aws.amazon.com/about-aws/whats-new/2021/06/amazon-rds-for-postgresql-supports-extension-allowlists/" TargetMode="External"/><Relationship Id="rId1" Type="http://schemas.openxmlformats.org/officeDocument/2006/relationships/slideLayout" Target="../slideLayouts/slideLayout9.xml"/></Relationships>
</file>

<file path=ppt/slides/_rels/slide119.xml.rels><?xml version="1.0" encoding="UTF-8" standalone="yes"?>
<Relationships xmlns="http://schemas.openxmlformats.org/package/2006/relationships"><Relationship Id="rId2" Type="http://schemas.openxmlformats.org/officeDocument/2006/relationships/hyperlink" Target="https://aws.amazon.com/about-aws/whats-new/2021/06/aws-amplify-announces-support-for-iam-permissions-boundaries-on-amplify-generated-iam-roles/" TargetMode="External"/><Relationship Id="rId1" Type="http://schemas.openxmlformats.org/officeDocument/2006/relationships/slideLayout" Target="../slideLayouts/slideLayout9.xml"/></Relationships>
</file>

<file path=ppt/slides/_rels/slide120.xml.rels><?xml version="1.0" encoding="UTF-8" standalone="yes"?>
<Relationships xmlns="http://schemas.openxmlformats.org/package/2006/relationships"><Relationship Id="rId2" Type="http://schemas.openxmlformats.org/officeDocument/2006/relationships/hyperlink" Target="https://aws.amazon.com/about-aws/whats-new/2021/06/aws-announces-a-new-shell-for-f1-instances-with-increased-fpga-resources-and-data-transfer-speeds/" TargetMode="External"/><Relationship Id="rId1" Type="http://schemas.openxmlformats.org/officeDocument/2006/relationships/slideLayout" Target="../slideLayouts/slideLayout9.xml"/></Relationships>
</file>

<file path=ppt/slides/_rels/slide121.xml.rels><?xml version="1.0" encoding="UTF-8" standalone="yes"?>
<Relationships xmlns="http://schemas.openxmlformats.org/package/2006/relationships"><Relationship Id="rId2" Type="http://schemas.openxmlformats.org/officeDocument/2006/relationships/hyperlink" Target="https://aws.amazon.com/about-aws/whats-new/2021/06/amazon-lex-announces-support-for-multi-valued-slots/" TargetMode="External"/><Relationship Id="rId1" Type="http://schemas.openxmlformats.org/officeDocument/2006/relationships/slideLayout" Target="../slideLayouts/slideLayout9.xml"/></Relationships>
</file>

<file path=ppt/slides/_rels/slide122.xml.rels><?xml version="1.0" encoding="UTF-8" standalone="yes"?>
<Relationships xmlns="http://schemas.openxmlformats.org/package/2006/relationships"><Relationship Id="rId2" Type="http://schemas.openxmlformats.org/officeDocument/2006/relationships/hyperlink" Target="https://aws.amazon.com/about-aws/whats-new/2021/06/aws-certificate-manager-private-certificate-authority-now-supports-more-flexibility-for-cas-shared-across-accounts/" TargetMode="External"/><Relationship Id="rId1" Type="http://schemas.openxmlformats.org/officeDocument/2006/relationships/slideLayout" Target="../slideLayouts/slideLayout9.xml"/></Relationships>
</file>

<file path=ppt/slides/_rels/slide123.xml.rels><?xml version="1.0" encoding="UTF-8" standalone="yes"?>
<Relationships xmlns="http://schemas.openxmlformats.org/package/2006/relationships"><Relationship Id="rId2" Type="http://schemas.openxmlformats.org/officeDocument/2006/relationships/hyperlink" Target="https://aws.amazon.com/about-aws/whats-new/2021/06/amazon-translate-now-integrated-with-amazon-cloudwatch-events-amazon-eventbridge/" TargetMode="External"/><Relationship Id="rId1" Type="http://schemas.openxmlformats.org/officeDocument/2006/relationships/slideLayout" Target="../slideLayouts/slideLayout9.xml"/></Relationships>
</file>

<file path=ppt/slides/_rels/slide124.xml.rels><?xml version="1.0" encoding="UTF-8" standalone="yes"?>
<Relationships xmlns="http://schemas.openxmlformats.org/package/2006/relationships"><Relationship Id="rId2" Type="http://schemas.openxmlformats.org/officeDocument/2006/relationships/hyperlink" Target="https://aws.amazon.com/about-aws/whats-new/2021/06/aws-resource-access-manager-enables-granular-access-control-additional-managed-permissions/" TargetMode="External"/><Relationship Id="rId1" Type="http://schemas.openxmlformats.org/officeDocument/2006/relationships/slideLayout" Target="../slideLayouts/slideLayout9.xml"/></Relationships>
</file>

<file path=ppt/slides/_rels/slide125.xml.rels><?xml version="1.0" encoding="UTF-8" standalone="yes"?>
<Relationships xmlns="http://schemas.openxmlformats.org/package/2006/relationships"><Relationship Id="rId2" Type="http://schemas.openxmlformats.org/officeDocument/2006/relationships/hyperlink" Target="https://aws.amazon.com/about-aws/whats-new/2021/06/introducing-aws-elemental-link-uhd-device-to-send-live-uhd-video-to-aws/" TargetMode="External"/><Relationship Id="rId1" Type="http://schemas.openxmlformats.org/officeDocument/2006/relationships/slideLayout" Target="../slideLayouts/slideLayout9.xml"/></Relationships>
</file>

<file path=ppt/slides/_rels/slide126.xml.rels><?xml version="1.0" encoding="UTF-8" standalone="yes"?>
<Relationships xmlns="http://schemas.openxmlformats.org/package/2006/relationships"><Relationship Id="rId2" Type="http://schemas.openxmlformats.org/officeDocument/2006/relationships/hyperlink" Target="https://aws.amazon.com/about-aws/whats-new/2021/06/amazon-polly-launches-a-new-german-neural-text-to-speech-voice/" TargetMode="External"/><Relationship Id="rId1" Type="http://schemas.openxmlformats.org/officeDocument/2006/relationships/slideLayout" Target="../slideLayouts/slideLayout9.xml"/></Relationships>
</file>

<file path=ppt/slides/_rels/slide127.xml.rels><?xml version="1.0" encoding="UTF-8" standalone="yes"?>
<Relationships xmlns="http://schemas.openxmlformats.org/package/2006/relationships"><Relationship Id="rId2" Type="http://schemas.openxmlformats.org/officeDocument/2006/relationships/hyperlink" Target="https://aws.amazon.com/about-aws/whats-new/2021/06/announcing-aws-app-mesh-controller-for-kubernetes-with-ingress-enhancements/" TargetMode="External"/><Relationship Id="rId1" Type="http://schemas.openxmlformats.org/officeDocument/2006/relationships/slideLayout" Target="../slideLayouts/slideLayout9.xml"/></Relationships>
</file>

<file path=ppt/slides/_rels/slide128.xml.rels><?xml version="1.0" encoding="UTF-8" standalone="yes"?>
<Relationships xmlns="http://schemas.openxmlformats.org/package/2006/relationships"><Relationship Id="rId2" Type="http://schemas.openxmlformats.org/officeDocument/2006/relationships/hyperlink" Target="https://aws.amazon.com/about-aws/whats-new/2021/06/internet-group-management-protocol-multicast-support-transit-gateway-multicast-available-aws-govcloud-regions/" TargetMode="External"/><Relationship Id="rId1" Type="http://schemas.openxmlformats.org/officeDocument/2006/relationships/slideLayout" Target="../slideLayouts/slideLayout9.xml"/></Relationships>
</file>

<file path=ppt/slides/_rels/slide129.xml.rels><?xml version="1.0" encoding="UTF-8" standalone="yes"?>
<Relationships xmlns="http://schemas.openxmlformats.org/package/2006/relationships"><Relationship Id="rId2" Type="http://schemas.openxmlformats.org/officeDocument/2006/relationships/hyperlink" Target="https://aws.amazon.com/about-aws/whats-new/2021/06/announcing-support-for-custom-partioning-in-aws-iot-analytics-data-stores/" TargetMode="External"/><Relationship Id="rId1" Type="http://schemas.openxmlformats.org/officeDocument/2006/relationships/slideLayout" Target="../slideLayouts/slideLayout9.xml"/></Relationships>
</file>

<file path=ppt/slides/_rels/slide130.xml.rels><?xml version="1.0" encoding="UTF-8" standalone="yes"?>
<Relationships xmlns="http://schemas.openxmlformats.org/package/2006/relationships"><Relationship Id="rId2" Type="http://schemas.openxmlformats.org/officeDocument/2006/relationships/hyperlink" Target="https://aws.amazon.com/about-aws/whats-new/2021/06/announcing-per-second-billing-for-ec2-windows-server-and-sql-server-instances/" TargetMode="External"/><Relationship Id="rId1" Type="http://schemas.openxmlformats.org/officeDocument/2006/relationships/slideLayout" Target="../slideLayouts/slideLayout9.xml"/></Relationships>
</file>

<file path=ppt/slides/_rels/slide131.xml.rels><?xml version="1.0" encoding="UTF-8" standalone="yes"?>
<Relationships xmlns="http://schemas.openxmlformats.org/package/2006/relationships"><Relationship Id="rId2" Type="http://schemas.openxmlformats.org/officeDocument/2006/relationships/hyperlink" Target="https://aws.amazon.com/about-aws/whats-new/2021/06/amazon-lex-increases-limits-for-intents-and-slot-types/" TargetMode="External"/><Relationship Id="rId1" Type="http://schemas.openxmlformats.org/officeDocument/2006/relationships/slideLayout" Target="../slideLayouts/slideLayout9.xml"/></Relationships>
</file>

<file path=ppt/slides/_rels/slide132.xml.rels><?xml version="1.0" encoding="UTF-8" standalone="yes"?>
<Relationships xmlns="http://schemas.openxmlformats.org/package/2006/relationships"><Relationship Id="rId2" Type="http://schemas.openxmlformats.org/officeDocument/2006/relationships/hyperlink" Target="https://aws.amazon.com/about-aws/whats-new/2021/06/aws-directory-service-now-supports-active-directory-authentication-with-aws-transfer-family/" TargetMode="External"/><Relationship Id="rId1" Type="http://schemas.openxmlformats.org/officeDocument/2006/relationships/slideLayout" Target="../slideLayouts/slideLayout9.xml"/></Relationships>
</file>

<file path=ppt/slides/_rels/slide133.xml.rels><?xml version="1.0" encoding="UTF-8" standalone="yes"?>
<Relationships xmlns="http://schemas.openxmlformats.org/package/2006/relationships"><Relationship Id="rId2" Type="http://schemas.openxmlformats.org/officeDocument/2006/relationships/hyperlink" Target="https://aws.amazon.com/about-aws/whats-new/2021/06/aws-client-vpn-launches-in-aws-govcloud-us-regions/" TargetMode="External"/><Relationship Id="rId1" Type="http://schemas.openxmlformats.org/officeDocument/2006/relationships/slideLayout" Target="../slideLayouts/slideLayout9.xml"/></Relationships>
</file>

<file path=ppt/slides/_rels/slide134.xml.rels><?xml version="1.0" encoding="UTF-8" standalone="yes"?>
<Relationships xmlns="http://schemas.openxmlformats.org/package/2006/relationships"><Relationship Id="rId2" Type="http://schemas.openxmlformats.org/officeDocument/2006/relationships/hyperlink" Target="https://aws.amazon.com/about-aws/whats-new/2021/06/read-multiple-records-simultaneously-amazon-sagemaker-feature-store-using-batchgetrecord-api/" TargetMode="External"/><Relationship Id="rId1" Type="http://schemas.openxmlformats.org/officeDocument/2006/relationships/slideLayout" Target="../slideLayouts/slideLayout9.xml"/></Relationships>
</file>

<file path=ppt/slides/_rels/slide135.xml.rels><?xml version="1.0" encoding="UTF-8" standalone="yes"?>
<Relationships xmlns="http://schemas.openxmlformats.org/package/2006/relationships"><Relationship Id="rId2" Type="http://schemas.openxmlformats.org/officeDocument/2006/relationships/hyperlink" Target="https://aws.amazon.com/about-aws/whats-new/2021/06/aws-elemental-mediaconnect-adds-support-for-input-source-selection-priority/" TargetMode="External"/><Relationship Id="rId1" Type="http://schemas.openxmlformats.org/officeDocument/2006/relationships/slideLayout" Target="../slideLayouts/slideLayout9.xml"/></Relationships>
</file>

<file path=ppt/slides/_rels/slide136.xml.rels><?xml version="1.0" encoding="UTF-8" standalone="yes"?>
<Relationships xmlns="http://schemas.openxmlformats.org/package/2006/relationships"><Relationship Id="rId2" Type="http://schemas.openxmlformats.org/officeDocument/2006/relationships/hyperlink" Target="https://aws.amazon.com/about-aws/whats-new/2021/06/amazon-sagemaker-pipelines-now-supports-callback-capability/" TargetMode="External"/><Relationship Id="rId1" Type="http://schemas.openxmlformats.org/officeDocument/2006/relationships/slideLayout" Target="../slideLayouts/slideLayout9.xml"/></Relationships>
</file>

<file path=ppt/slides/_rels/slide137.xml.rels><?xml version="1.0" encoding="UTF-8" standalone="yes"?>
<Relationships xmlns="http://schemas.openxmlformats.org/package/2006/relationships"><Relationship Id="rId2" Type="http://schemas.openxmlformats.org/officeDocument/2006/relationships/hyperlink" Target="https://aws.amazon.com/about-aws/whats-new/2021/06/amazon-cognito-now-supports-targeted-sign-out-through-refresh-token-revocation/" TargetMode="External"/><Relationship Id="rId1" Type="http://schemas.openxmlformats.org/officeDocument/2006/relationships/slideLayout" Target="../slideLayouts/slideLayout9.xml"/></Relationships>
</file>

<file path=ppt/slides/_rels/slide138.xml.rels><?xml version="1.0" encoding="UTF-8" standalone="yes"?>
<Relationships xmlns="http://schemas.openxmlformats.org/package/2006/relationships"><Relationship Id="rId2" Type="http://schemas.openxmlformats.org/officeDocument/2006/relationships/hyperlink" Target="https://aws.amazon.com/about-aws/whats-new/2021/06/amazon-athena-engine-version-2-is-generally-available-in-all-aws-commercial-govcloud-regions/" TargetMode="External"/><Relationship Id="rId1" Type="http://schemas.openxmlformats.org/officeDocument/2006/relationships/slideLayout" Target="../slideLayouts/slideLayout9.xml"/></Relationships>
</file>

<file path=ppt/slides/_rels/slide139.xml.rels><?xml version="1.0" encoding="UTF-8" standalone="yes"?>
<Relationships xmlns="http://schemas.openxmlformats.org/package/2006/relationships"><Relationship Id="rId2" Type="http://schemas.openxmlformats.org/officeDocument/2006/relationships/hyperlink" Target="https://aws.amazon.com/about-aws/whats-new/2021/06/aws-transit-gateway-adds-internet-group-management-protocol-igmp-multicast-support-in-additional-aws-regions/" TargetMode="External"/><Relationship Id="rId1" Type="http://schemas.openxmlformats.org/officeDocument/2006/relationships/slideLayout" Target="../slideLayouts/slideLayout9.xml"/></Relationships>
</file>

<file path=ppt/slides/_rels/slide140.xml.rels><?xml version="1.0" encoding="UTF-8" standalone="yes"?>
<Relationships xmlns="http://schemas.openxmlformats.org/package/2006/relationships"><Relationship Id="rId2" Type="http://schemas.openxmlformats.org/officeDocument/2006/relationships/hyperlink" Target="https://aws.amazon.com/about-aws/whats-new/2021/06/amazon-managed-blockchain-now-supports-customer-managed-customer-master-keys/" TargetMode="External"/><Relationship Id="rId1" Type="http://schemas.openxmlformats.org/officeDocument/2006/relationships/slideLayout" Target="../slideLayouts/slideLayout9.xml"/></Relationships>
</file>

<file path=ppt/slides/_rels/slide141.xml.rels><?xml version="1.0" encoding="UTF-8" standalone="yes"?>
<Relationships xmlns="http://schemas.openxmlformats.org/package/2006/relationships"><Relationship Id="rId2" Type="http://schemas.openxmlformats.org/officeDocument/2006/relationships/hyperlink" Target="https://aws.amazon.com/about-aws/whats-new/2021/06/amazon-appflow-now-supports-documents-with-veeva/" TargetMode="External"/><Relationship Id="rId1" Type="http://schemas.openxmlformats.org/officeDocument/2006/relationships/slideLayout" Target="../slideLayouts/slideLayout9.xml"/></Relationships>
</file>

<file path=ppt/slides/_rels/slide142.xml.rels><?xml version="1.0" encoding="UTF-8" standalone="yes"?>
<Relationships xmlns="http://schemas.openxmlformats.org/package/2006/relationships"><Relationship Id="rId2" Type="http://schemas.openxmlformats.org/officeDocument/2006/relationships/hyperlink" Target="https://aws.amazon.com/about-aws/whats-new/2021/06/amazon-cognito-is-now-available-in-the-middle-east-region/" TargetMode="External"/><Relationship Id="rId1" Type="http://schemas.openxmlformats.org/officeDocument/2006/relationships/slideLayout" Target="../slideLayouts/slideLayout9.xml"/></Relationships>
</file>

<file path=ppt/slides/_rels/slide143.xml.rels><?xml version="1.0" encoding="UTF-8" standalone="yes"?>
<Relationships xmlns="http://schemas.openxmlformats.org/package/2006/relationships"><Relationship Id="rId2" Type="http://schemas.openxmlformats.org/officeDocument/2006/relationships/hyperlink" Target="https://aws.amazon.com/about-aws/whats-new/2021/06/easily-install-and-manage-amazon-efs-utilities-on-your-instances-with-quick-setup/" TargetMode="External"/><Relationship Id="rId1" Type="http://schemas.openxmlformats.org/officeDocument/2006/relationships/slideLayout" Target="../slideLayouts/slideLayout9.xml"/></Relationships>
</file>

<file path=ppt/slides/_rels/slide144.xml.rels><?xml version="1.0" encoding="UTF-8" standalone="yes"?>
<Relationships xmlns="http://schemas.openxmlformats.org/package/2006/relationships"><Relationship Id="rId2" Type="http://schemas.openxmlformats.org/officeDocument/2006/relationships/hyperlink" Target="https://aws.amazon.com/about-aws/whats-new/2021/06/amazon-fsx-for-windows-file-server-now-supports-file-access-auditing/" TargetMode="External"/><Relationship Id="rId1" Type="http://schemas.openxmlformats.org/officeDocument/2006/relationships/slideLayout" Target="../slideLayouts/slideLayout9.xml"/></Relationships>
</file>

<file path=ppt/slides/_rels/slide145.xml.rels><?xml version="1.0" encoding="UTF-8" standalone="yes"?>
<Relationships xmlns="http://schemas.openxmlformats.org/package/2006/relationships"><Relationship Id="rId2" Type="http://schemas.openxmlformats.org/officeDocument/2006/relationships/hyperlink" Target="https://aws.amazon.com/about-aws/whats-new/2021/06/amazon-aurora-r6g-instance-types-powered-awsgraviton2-processors-available-aws-govcloud-us-regions/" TargetMode="External"/><Relationship Id="rId1" Type="http://schemas.openxmlformats.org/officeDocument/2006/relationships/slideLayout" Target="../slideLayouts/slideLayout9.xml"/></Relationships>
</file>

<file path=ppt/slides/_rels/slide146.xml.rels><?xml version="1.0" encoding="UTF-8" standalone="yes"?>
<Relationships xmlns="http://schemas.openxmlformats.org/package/2006/relationships"><Relationship Id="rId2" Type="http://schemas.openxmlformats.org/officeDocument/2006/relationships/hyperlink" Target="https://aws.amazon.com/about-aws/whats-new/2021/06/aws-systems-manager-is-now-fedramp-high-compliant/" TargetMode="External"/><Relationship Id="rId1" Type="http://schemas.openxmlformats.org/officeDocument/2006/relationships/slideLayout" Target="../slideLayouts/slideLayout9.xml"/></Relationships>
</file>

<file path=ppt/slides/_rels/slide147.xml.rels><?xml version="1.0" encoding="UTF-8" standalone="yes"?>
<Relationships xmlns="http://schemas.openxmlformats.org/package/2006/relationships"><Relationship Id="rId2" Type="http://schemas.openxmlformats.org/officeDocument/2006/relationships/hyperlink" Target="https://aws.amazon.com/about-aws/whats-new/2021/06/amazon-mq-now-supports-activemq/" TargetMode="External"/><Relationship Id="rId1" Type="http://schemas.openxmlformats.org/officeDocument/2006/relationships/slideLayout" Target="../slideLayouts/slideLayout9.xml"/></Relationships>
</file>

<file path=ppt/slides/_rels/slide148.xml.rels><?xml version="1.0" encoding="UTF-8" standalone="yes"?>
<Relationships xmlns="http://schemas.openxmlformats.org/package/2006/relationships"><Relationship Id="rId2" Type="http://schemas.openxmlformats.org/officeDocument/2006/relationships/hyperlink" Target="https://aws.amazon.com/about-aws/whats-new/2021/06/amazon-rds-m6g-and-r6g-instances-now-available-for-mysql-mariadb-and-postogresql-in-aws-govcloud-asia-pacific-and-europe-regions/" TargetMode="External"/><Relationship Id="rId1" Type="http://schemas.openxmlformats.org/officeDocument/2006/relationships/slideLayout" Target="../slideLayouts/slideLayout9.xml"/></Relationships>
</file>

<file path=ppt/slides/_rels/slide149.xml.rels><?xml version="1.0" encoding="UTF-8" standalone="yes"?>
<Relationships xmlns="http://schemas.openxmlformats.org/package/2006/relationships"><Relationship Id="rId2" Type="http://schemas.openxmlformats.org/officeDocument/2006/relationships/hyperlink" Target="https://aws.amazon.com/about-aws/whats-new/2021/06/new-aws-solutions-consulting-offer-financial-security-and-compliance-framework/" TargetMode="External"/><Relationship Id="rId1" Type="http://schemas.openxmlformats.org/officeDocument/2006/relationships/slideLayout" Target="../slideLayouts/slideLayout9.xml"/></Relationships>
</file>

<file path=ppt/slides/_rels/slide150.xml.rels><?xml version="1.0" encoding="UTF-8" standalone="yes"?>
<Relationships xmlns="http://schemas.openxmlformats.org/package/2006/relationships"><Relationship Id="rId2" Type="http://schemas.openxmlformats.org/officeDocument/2006/relationships/hyperlink" Target="https://aws.amazon.com/about-aws/whats-new/2021/06/announcing-new-postgresql-13-2-13-1-and-12-6-support-amazon-rds-on-aws-outposts/" TargetMode="External"/><Relationship Id="rId1" Type="http://schemas.openxmlformats.org/officeDocument/2006/relationships/slideLayout" Target="../slideLayouts/slideLayout9.xml"/></Relationships>
</file>

<file path=ppt/slides/_rels/slide151.xml.rels><?xml version="1.0" encoding="UTF-8" standalone="yes"?>
<Relationships xmlns="http://schemas.openxmlformats.org/package/2006/relationships"><Relationship Id="rId2" Type="http://schemas.openxmlformats.org/officeDocument/2006/relationships/hyperlink" Target="https://aws.amazon.com/about-aws/whats-new/2021/06/aws-china-beijing-region-adds-the-third-availability-zone/" TargetMode="External"/><Relationship Id="rId1" Type="http://schemas.openxmlformats.org/officeDocument/2006/relationships/slideLayout" Target="../slideLayouts/slideLayout9.xml"/></Relationships>
</file>

<file path=ppt/slides/_rels/slide152.xml.rels><?xml version="1.0" encoding="UTF-8" standalone="yes"?>
<Relationships xmlns="http://schemas.openxmlformats.org/package/2006/relationships"><Relationship Id="rId2" Type="http://schemas.openxmlformats.org/officeDocument/2006/relationships/hyperlink" Target="https://aws.amazon.com/about-aws/whats-new/2021/06/aws-audit-manager--is-now-available-in-asia-pacific-mumbai-and-canada-central-regions/" TargetMode="External"/><Relationship Id="rId1" Type="http://schemas.openxmlformats.org/officeDocument/2006/relationships/slideLayout" Target="../slideLayouts/slideLayout9.xml"/></Relationships>
</file>

<file path=ppt/slides/_rels/slide153.xml.rels><?xml version="1.0" encoding="UTF-8" standalone="yes"?>
<Relationships xmlns="http://schemas.openxmlformats.org/package/2006/relationships"><Relationship Id="rId2" Type="http://schemas.openxmlformats.org/officeDocument/2006/relationships/hyperlink" Target="https://aws.amazon.com/about-aws/whats-new/2021/06/amazon-rds-sql-server-supports-business-intelligence-suite-in-aws-govcloud-us-regions/" TargetMode="External"/><Relationship Id="rId1" Type="http://schemas.openxmlformats.org/officeDocument/2006/relationships/slideLayout" Target="../slideLayouts/slideLayout9.xml"/></Relationships>
</file>

<file path=ppt/slides/_rels/slide154.xml.rels><?xml version="1.0" encoding="UTF-8" standalone="yes"?>
<Relationships xmlns="http://schemas.openxmlformats.org/package/2006/relationships"><Relationship Id="rId2" Type="http://schemas.openxmlformats.org/officeDocument/2006/relationships/hyperlink" Target="https://aws.amazon.com/about-aws/whats-new/2021/06/amazon-cloudwatch-releases-a-c-client-library-for-embedded-metric-format/" TargetMode="External"/><Relationship Id="rId1" Type="http://schemas.openxmlformats.org/officeDocument/2006/relationships/slideLayout" Target="../slideLayouts/slideLayout9.xml"/></Relationships>
</file>

<file path=ppt/slides/_rels/slide155.xml.rels><?xml version="1.0" encoding="UTF-8" standalone="yes"?>
<Relationships xmlns="http://schemas.openxmlformats.org/package/2006/relationships"><Relationship Id="rId2" Type="http://schemas.openxmlformats.org/officeDocument/2006/relationships/hyperlink" Target="https://aws.amazon.com/about-aws/whats-new/2021/06/aws-backint-agent-version-1-04-now-available/" TargetMode="External"/><Relationship Id="rId1" Type="http://schemas.openxmlformats.org/officeDocument/2006/relationships/slideLayout" Target="../slideLayouts/slideLayout9.xml"/></Relationships>
</file>

<file path=ppt/slides/_rels/slide156.xml.rels><?xml version="1.0" encoding="UTF-8" standalone="yes"?>
<Relationships xmlns="http://schemas.openxmlformats.org/package/2006/relationships"><Relationship Id="rId2" Type="http://schemas.openxmlformats.org/officeDocument/2006/relationships/hyperlink" Target="https://aws.amazon.com/about-aws/whats-new/2021/06/amazon-neptune-simplifies-in-console-experience-to-help-customers-get-started-faster/" TargetMode="External"/><Relationship Id="rId1" Type="http://schemas.openxmlformats.org/officeDocument/2006/relationships/slideLayout" Target="../slideLayouts/slideLayout9.xml"/></Relationships>
</file>

<file path=ppt/slides/_rels/slide157.xml.rels><?xml version="1.0" encoding="UTF-8" standalone="yes"?>
<Relationships xmlns="http://schemas.openxmlformats.org/package/2006/relationships"><Relationship Id="rId2" Type="http://schemas.openxmlformats.org/officeDocument/2006/relationships/hyperlink" Target="https://aws.amazon.com/about-aws/whats-new/2021/05/amazon-sagemaker-model-registry-now-supports-rollback-of-deployed-models/" TargetMode="External"/><Relationship Id="rId1" Type="http://schemas.openxmlformats.org/officeDocument/2006/relationships/slideLayout" Target="../slideLayouts/slideLayout9.xml"/></Relationships>
</file>

<file path=ppt/slides/_rels/slide158.xml.rels><?xml version="1.0" encoding="UTF-8" standalone="yes"?>
<Relationships xmlns="http://schemas.openxmlformats.org/package/2006/relationships"><Relationship Id="rId2" Type="http://schemas.openxmlformats.org/officeDocument/2006/relationships/hyperlink" Target="https://aws.amazon.com/about-aws/whats-new/2021/05/amazon-emr-studio-is-now-available-in-13-regions/" TargetMode="External"/><Relationship Id="rId1" Type="http://schemas.openxmlformats.org/officeDocument/2006/relationships/slideLayout" Target="../slideLayouts/slideLayout9.xml"/></Relationships>
</file>

<file path=ppt/slides/_rels/slide159.xml.rels><?xml version="1.0" encoding="UTF-8" standalone="yes"?>
<Relationships xmlns="http://schemas.openxmlformats.org/package/2006/relationships"><Relationship Id="rId2" Type="http://schemas.openxmlformats.org/officeDocument/2006/relationships/hyperlink" Target="https://aws.amazon.com/about-aws/whats-new/2021/06/aws-systems-manager-session-manager-plugin-for-the-aws-cli-is-now-opensource/" TargetMode="External"/><Relationship Id="rId1" Type="http://schemas.openxmlformats.org/officeDocument/2006/relationships/slideLayout" Target="../slideLayouts/slideLayout9.xml"/></Relationships>
</file>

<file path=ppt/slides/_rels/slide160.xml.rels><?xml version="1.0" encoding="UTF-8" standalone="yes"?>
<Relationships xmlns="http://schemas.openxmlformats.org/package/2006/relationships"><Relationship Id="rId2" Type="http://schemas.openxmlformats.org/officeDocument/2006/relationships/hyperlink" Target="https://aws.amazon.com/about-aws/whats-new/2021/06/new-lorawan-gateway-management-features-generally-available-for-aws-iot-core-for-lorawan/" TargetMode="External"/><Relationship Id="rId1" Type="http://schemas.openxmlformats.org/officeDocument/2006/relationships/slideLayout" Target="../slideLayouts/slideLayout9.xml"/></Relationships>
</file>

<file path=ppt/slides/_rels/slide161.xml.rels><?xml version="1.0" encoding="UTF-8" standalone="yes"?>
<Relationships xmlns="http://schemas.openxmlformats.org/package/2006/relationships"><Relationship Id="rId2" Type="http://schemas.openxmlformats.org/officeDocument/2006/relationships/hyperlink" Target="https://aws.amazon.com/about-aws/whats-new/2021/06/amazon-rekognition-custom-labels-adds-support-for-deploying-models-via-the-console/" TargetMode="External"/><Relationship Id="rId1" Type="http://schemas.openxmlformats.org/officeDocument/2006/relationships/slideLayout" Target="../slideLayouts/slideLayout9.xml"/></Relationships>
</file>

<file path=ppt/slides/_rels/slide162.xml.rels><?xml version="1.0" encoding="UTF-8" standalone="yes"?>
<Relationships xmlns="http://schemas.openxmlformats.org/package/2006/relationships"><Relationship Id="rId2" Type="http://schemas.openxmlformats.org/officeDocument/2006/relationships/hyperlink" Target="https://aws.amazon.com/about-aws/whats-new/2021/06/aws-transit-gateway-updates-service-level-agreement/" TargetMode="External"/><Relationship Id="rId1" Type="http://schemas.openxmlformats.org/officeDocument/2006/relationships/slideLayout" Target="../slideLayouts/slideLayout9.xml"/></Relationships>
</file>

<file path=ppt/slides/_rels/slide163.xml.rels><?xml version="1.0" encoding="UTF-8" standalone="yes"?>
<Relationships xmlns="http://schemas.openxmlformats.org/package/2006/relationships"><Relationship Id="rId2" Type="http://schemas.openxmlformats.org/officeDocument/2006/relationships/hyperlink" Target="https://aws.amazon.com/about-aws/whats-new/2021/06/aws-solutions-implementation-aws-mlops-framework-adds-multi-account-support-to-help-improve-governance-and-security-of-ml-workloads/" TargetMode="External"/><Relationship Id="rId1" Type="http://schemas.openxmlformats.org/officeDocument/2006/relationships/slideLayout" Target="../slideLayouts/slideLayout9.xml"/></Relationships>
</file>

<file path=ppt/slides/_rels/slide164.xml.rels><?xml version="1.0" encoding="UTF-8" standalone="yes"?>
<Relationships xmlns="http://schemas.openxmlformats.org/package/2006/relationships"><Relationship Id="rId2" Type="http://schemas.openxmlformats.org/officeDocument/2006/relationships/hyperlink" Target="https://aws.amazon.com/about-aws/whats-new/2021/06/amazon-gamelift-adds-sdk-support-and-updates-for-unreal/" TargetMode="External"/><Relationship Id="rId1" Type="http://schemas.openxmlformats.org/officeDocument/2006/relationships/slideLayout" Target="../slideLayouts/slideLayout9.xml"/></Relationships>
</file>

<file path=ppt/slides/_rels/slide165.xml.rels><?xml version="1.0" encoding="UTF-8" standalone="yes"?>
<Relationships xmlns="http://schemas.openxmlformats.org/package/2006/relationships"><Relationship Id="rId2" Type="http://schemas.openxmlformats.org/officeDocument/2006/relationships/hyperlink" Target="https://aws.amazon.com/about-aws/whats-new/2021/06/amazon-keyspaces-is-now-in-scope-for-aws-soc-reports-to-help-you/" TargetMode="External"/><Relationship Id="rId1" Type="http://schemas.openxmlformats.org/officeDocument/2006/relationships/slideLayout" Target="../slideLayouts/slideLayout9.xml"/></Relationships>
</file>

<file path=ppt/slides/_rels/slide166.xml.rels><?xml version="1.0" encoding="UTF-8" standalone="yes"?>
<Relationships xmlns="http://schemas.openxmlformats.org/package/2006/relationships"><Relationship Id="rId2" Type="http://schemas.openxmlformats.org/officeDocument/2006/relationships/hyperlink" Target="https://aws.amazon.com/about-aws/whats-new/2021/06/new-digital-course-improve-code-quality-with-amazon-codeguru-reviewer/" TargetMode="External"/><Relationship Id="rId1" Type="http://schemas.openxmlformats.org/officeDocument/2006/relationships/slideLayout" Target="../slideLayouts/slideLayout9.xml"/></Relationships>
</file>

<file path=ppt/slides/_rels/slide167.xml.rels><?xml version="1.0" encoding="UTF-8" standalone="yes"?>
<Relationships xmlns="http://schemas.openxmlformats.org/package/2006/relationships"><Relationship Id="rId2" Type="http://schemas.openxmlformats.org/officeDocument/2006/relationships/hyperlink" Target="https://aws.amazon.com/about-aws/whats-new/2021/06/amazon-workspaces-cost-optimizer-v2-3-adds-support-for-existing-vpcs-improves-billing-accuracy-reporting/" TargetMode="External"/><Relationship Id="rId1" Type="http://schemas.openxmlformats.org/officeDocument/2006/relationships/slideLayout" Target="../slideLayouts/slideLayout9.xml"/></Relationships>
</file>

<file path=ppt/slides/_rels/slide168.xml.rels><?xml version="1.0" encoding="UTF-8" standalone="yes"?>
<Relationships xmlns="http://schemas.openxmlformats.org/package/2006/relationships"><Relationship Id="rId2" Type="http://schemas.openxmlformats.org/officeDocument/2006/relationships/hyperlink" Target="https://aws.amazon.com/about-aws/whats-new/2021/06/amazon-rds-for-postgresql-supports-new-minor-versions-in-aws-govcloud-us-regions/" TargetMode="External"/><Relationship Id="rId1" Type="http://schemas.openxmlformats.org/officeDocument/2006/relationships/slideLayout" Target="../slideLayouts/slideLayout9.xml"/></Relationships>
</file>

<file path=ppt/slides/_rels/slide169.xml.rels><?xml version="1.0" encoding="UTF-8" standalone="yes"?>
<Relationships xmlns="http://schemas.openxmlformats.org/package/2006/relationships"><Relationship Id="rId2" Type="http://schemas.openxmlformats.org/officeDocument/2006/relationships/hyperlink" Target="https://aws.amazon.com/about-aws/whats-new/2021/06/amazon-cognito-now-supports-sms-sandbox-from-amazon-sns/" TargetMode="External"/><Relationship Id="rId1" Type="http://schemas.openxmlformats.org/officeDocument/2006/relationships/slideLayout" Target="../slideLayouts/slideLayout9.xml"/></Relationships>
</file>

<file path=ppt/slides/_rels/slide170.xml.rels><?xml version="1.0" encoding="UTF-8" standalone="yes"?>
<Relationships xmlns="http://schemas.openxmlformats.org/package/2006/relationships"><Relationship Id="rId2" Type="http://schemas.openxmlformats.org/officeDocument/2006/relationships/hyperlink" Target="https://aws.amazon.com/about-aws/whats-new/2021/06/new-aws-solutions-implementation--disaster-recovery-for-aws-iot/" TargetMode="External"/><Relationship Id="rId1" Type="http://schemas.openxmlformats.org/officeDocument/2006/relationships/slideLayout" Target="../slideLayouts/slideLayout9.xml"/></Relationships>
</file>

<file path=ppt/slides/_rels/slide171.xml.rels><?xml version="1.0" encoding="UTF-8" standalone="yes"?>
<Relationships xmlns="http://schemas.openxmlformats.org/package/2006/relationships"><Relationship Id="rId2" Type="http://schemas.openxmlformats.org/officeDocument/2006/relationships/hyperlink" Target="https://aws.amazon.com/about-aws/whats-new/2021/06/amazon-polly-launches-a-new-canadian-french-neural-text-to-speech-voice/" TargetMode="External"/><Relationship Id="rId1" Type="http://schemas.openxmlformats.org/officeDocument/2006/relationships/slideLayout" Target="../slideLayouts/slideLayout9.xml"/></Relationships>
</file>

<file path=ppt/slides/_rels/slide172.xml.rels><?xml version="1.0" encoding="UTF-8" standalone="yes"?>
<Relationships xmlns="http://schemas.openxmlformats.org/package/2006/relationships"><Relationship Id="rId2" Type="http://schemas.openxmlformats.org/officeDocument/2006/relationships/hyperlink" Target="https://aws.amazon.com/about-aws/whats-new/2021/06/nice-dcv-releases-web-client-sdk-1-0-1/" TargetMode="External"/><Relationship Id="rId1" Type="http://schemas.openxmlformats.org/officeDocument/2006/relationships/slideLayout" Target="../slideLayouts/slideLayout9.xml"/></Relationships>
</file>

<file path=ppt/slides/_rels/slide173.xml.rels><?xml version="1.0" encoding="UTF-8" standalone="yes"?>
<Relationships xmlns="http://schemas.openxmlformats.org/package/2006/relationships"><Relationship Id="rId2" Type="http://schemas.openxmlformats.org/officeDocument/2006/relationships/hyperlink" Target="https://aws.amazon.com/about-aws/whats-new/2021/06/nice-dcv-releases-version-2021-1-with-accurate-audio-video-synchronization/" TargetMode="External"/><Relationship Id="rId1" Type="http://schemas.openxmlformats.org/officeDocument/2006/relationships/slideLayout" Target="../slideLayouts/slideLayout9.xml"/></Relationships>
</file>

<file path=ppt/slides/_rels/slide174.xml.rels><?xml version="1.0" encoding="UTF-8" standalone="yes"?>
<Relationships xmlns="http://schemas.openxmlformats.org/package/2006/relationships"><Relationship Id="rId2" Type="http://schemas.openxmlformats.org/officeDocument/2006/relationships/hyperlink" Target="https://aws.amazon.com/about-aws/whats-new/2021/06/aws-waf-and-aws-shield-advanced-are-available-in-asia-pacific-osaka/" TargetMode="External"/><Relationship Id="rId1" Type="http://schemas.openxmlformats.org/officeDocument/2006/relationships/slideLayout" Target="../slideLayouts/slideLayout9.xml"/></Relationships>
</file>

<file path=ppt/slides/_rels/slide175.xml.rels><?xml version="1.0" encoding="UTF-8" standalone="yes"?>
<Relationships xmlns="http://schemas.openxmlformats.org/package/2006/relationships"><Relationship Id="rId2" Type="http://schemas.openxmlformats.org/officeDocument/2006/relationships/hyperlink" Target="https://aws.amazon.com/about-aws/whats-new/2021/06/amazon-sns-now-supports-sms-sandbox-and-displays-available-origination-ids-in-your-account/" TargetMode="External"/><Relationship Id="rId1" Type="http://schemas.openxmlformats.org/officeDocument/2006/relationships/slideLayout" Target="../slideLayouts/slideLayout9.xml"/></Relationships>
</file>

<file path=ppt/slides/_rels/slide176.xml.rels><?xml version="1.0" encoding="UTF-8" standalone="yes"?>
<Relationships xmlns="http://schemas.openxmlformats.org/package/2006/relationships"><Relationship Id="rId2" Type="http://schemas.openxmlformats.org/officeDocument/2006/relationships/hyperlink" Target="https://aws.amazon.com/about-aws/whats-new/2021/06/amazon-qldb-supports-iam-based-access-policy-for-partiql-queries-and-ledger-tables/" TargetMode="External"/><Relationship Id="rId1" Type="http://schemas.openxmlformats.org/officeDocument/2006/relationships/slideLayout" Target="../slideLayouts/slideLayout9.xml"/></Relationships>
</file>

<file path=ppt/slides/_rels/slide177.xml.rels><?xml version="1.0" encoding="UTF-8" standalone="yes"?>
<Relationships xmlns="http://schemas.openxmlformats.org/package/2006/relationships"><Relationship Id="rId2" Type="http://schemas.openxmlformats.org/officeDocument/2006/relationships/hyperlink" Target="https://aws.amazon.com/about-aws/whats-new/2021/05/amazon-api-gateway-now-supports-synchronous-invocations-of-express-workflows-using-rest-apis/" TargetMode="External"/><Relationship Id="rId1" Type="http://schemas.openxmlformats.org/officeDocument/2006/relationships/slideLayout" Target="../slideLayouts/slideLayout9.xml"/></Relationships>
</file>

<file path=ppt/slides/_rels/slide178.xml.rels><?xml version="1.0" encoding="UTF-8" standalone="yes"?>
<Relationships xmlns="http://schemas.openxmlformats.org/package/2006/relationships"><Relationship Id="rId2" Type="http://schemas.openxmlformats.org/officeDocument/2006/relationships/hyperlink" Target="https://aws.amazon.com/about-aws/whats-new/2021/05/amazon-cloudwatch-adds-control-plane-api-usage-metrics-across-aws-services/" TargetMode="External"/><Relationship Id="rId1" Type="http://schemas.openxmlformats.org/officeDocument/2006/relationships/slideLayout" Target="../slideLayouts/slideLayout9.xml"/></Relationships>
</file>

<file path=ppt/slides/_rels/slide179.xml.rels><?xml version="1.0" encoding="UTF-8" standalone="yes"?>
<Relationships xmlns="http://schemas.openxmlformats.org/package/2006/relationships"><Relationship Id="rId2" Type="http://schemas.openxmlformats.org/officeDocument/2006/relationships/hyperlink" Target="https://aws.amazon.com/about-aws/whats-new/2021/05/amazon-rds-for-oracle-supports-april-2021-patch-set-update-for-oracle-database-12-1/" TargetMode="External"/><Relationship Id="rId1" Type="http://schemas.openxmlformats.org/officeDocument/2006/relationships/slideLayout" Target="../slideLayouts/slideLayout9.xml"/></Relationships>
</file>

<file path=ppt/slides/_rels/slide180.xml.rels><?xml version="1.0" encoding="UTF-8" standalone="yes"?>
<Relationships xmlns="http://schemas.openxmlformats.org/package/2006/relationships"><Relationship Id="rId2" Type="http://schemas.openxmlformats.org/officeDocument/2006/relationships/hyperlink" Target="https://aws.amazon.com/about-aws/whats-new/2021/05/announcing-amazon-cloudwatch-resource-health/" TargetMode="External"/><Relationship Id="rId1" Type="http://schemas.openxmlformats.org/officeDocument/2006/relationships/slideLayout" Target="../slideLayouts/slideLayout9.xml"/></Relationships>
</file>

<file path=ppt/slides/_rels/slide181.xml.rels><?xml version="1.0" encoding="UTF-8" standalone="yes"?>
<Relationships xmlns="http://schemas.openxmlformats.org/package/2006/relationships"><Relationship Id="rId2" Type="http://schemas.openxmlformats.org/officeDocument/2006/relationships/hyperlink" Target="https://aws.amazon.com/about-aws/whats-new/2021/05/amazon-cloudwatch-logs-announces-dimension-support-for-metric-filters/" TargetMode="External"/><Relationship Id="rId1" Type="http://schemas.openxmlformats.org/officeDocument/2006/relationships/slideLayout" Target="../slideLayouts/slideLayout9.xml"/></Relationships>
</file>

<file path=ppt/slides/_rels/slide182.xml.rels><?xml version="1.0" encoding="UTF-8" standalone="yes"?>
<Relationships xmlns="http://schemas.openxmlformats.org/package/2006/relationships"><Relationship Id="rId2" Type="http://schemas.openxmlformats.org/officeDocument/2006/relationships/hyperlink" Target="https://aws.amazon.com/about-aws/whats-new/2021/05/amazon-sagemaker-autopilot-adds-automatic-cross-validation-to-im/" TargetMode="External"/><Relationship Id="rId1" Type="http://schemas.openxmlformats.org/officeDocument/2006/relationships/slideLayout" Target="../slideLayouts/slideLayout9.xml"/></Relationships>
</file>

<file path=ppt/slides/_rels/slide183.xml.rels><?xml version="1.0" encoding="UTF-8" standalone="yes"?>
<Relationships xmlns="http://schemas.openxmlformats.org/package/2006/relationships"><Relationship Id="rId2" Type="http://schemas.openxmlformats.org/officeDocument/2006/relationships/hyperlink" Target="https://aws.amazon.com/about-aws/whats-new/2021/05/aws-launch-wizard-adds-support-for-sql-server-always-on-failover-cluster-instances-deployed-on-amazon-fsx-for-windows-file-server/" TargetMode="External"/><Relationship Id="rId1" Type="http://schemas.openxmlformats.org/officeDocument/2006/relationships/slideLayout" Target="../slideLayouts/slideLayout9.xml"/></Relationships>
</file>

<file path=ppt/slides/_rels/slide184.xml.rels><?xml version="1.0" encoding="UTF-8" standalone="yes"?>
<Relationships xmlns="http://schemas.openxmlformats.org/package/2006/relationships"><Relationship Id="rId2" Type="http://schemas.openxmlformats.org/officeDocument/2006/relationships/hyperlink" Target="https://aws.amazon.com/about-aws/whats-new/2021/05/introducing-aws-app-runner-integration-in-the-aws-toolkit-for-jetbrains-ides/" TargetMode="External"/><Relationship Id="rId1" Type="http://schemas.openxmlformats.org/officeDocument/2006/relationships/slideLayout" Target="../slideLayouts/slideLayout9.xml"/></Relationships>
</file>

<file path=ppt/slides/_rels/slide185.xml.rels><?xml version="1.0" encoding="UTF-8" standalone="yes"?>
<Relationships xmlns="http://schemas.openxmlformats.org/package/2006/relationships"><Relationship Id="rId2" Type="http://schemas.openxmlformats.org/officeDocument/2006/relationships/hyperlink" Target="https://aws.amazon.com/about-aws/whats-new/2021/05/aws-announces-general-availability-of-amazon-redshift-ml/" TargetMode="External"/><Relationship Id="rId1" Type="http://schemas.openxmlformats.org/officeDocument/2006/relationships/slideLayout" Target="../slideLayouts/slideLayout9.xml"/></Relationships>
</file>

<file path=ppt/slides/_rels/slide186.xml.rels><?xml version="1.0" encoding="UTF-8" standalone="yes"?>
<Relationships xmlns="http://schemas.openxmlformats.org/package/2006/relationships"><Relationship Id="rId2" Type="http://schemas.openxmlformats.org/officeDocument/2006/relationships/hyperlink" Target="https://aws.amazon.com/about-aws/whats-new/2021/05/amazon-kinesis-data-analytics-studio-query-data-streams-develop-stream-processing-applications/" TargetMode="External"/><Relationship Id="rId1" Type="http://schemas.openxmlformats.org/officeDocument/2006/relationships/slideLayout" Target="../slideLayouts/slideLayout9.xml"/></Relationships>
</file>

<file path=ppt/slides/_rels/slide187.xml.rels><?xml version="1.0" encoding="UTF-8" standalone="yes"?>
<Relationships xmlns="http://schemas.openxmlformats.org/package/2006/relationships"><Relationship Id="rId2" Type="http://schemas.openxmlformats.org/officeDocument/2006/relationships/hyperlink" Target="https://aws.amazon.com/about-aws/whats-new/2021/05/aws-glue-databrew-adds-new-nest-and-unnest-transformations/" TargetMode="External"/><Relationship Id="rId1" Type="http://schemas.openxmlformats.org/officeDocument/2006/relationships/slideLayout" Target="../slideLayouts/slideLayout9.xml"/></Relationships>
</file>

<file path=ppt/slides/_rels/slide188.xml.rels><?xml version="1.0" encoding="UTF-8" standalone="yes"?>
<Relationships xmlns="http://schemas.openxmlformats.org/package/2006/relationships"><Relationship Id="rId2" Type="http://schemas.openxmlformats.org/officeDocument/2006/relationships/hyperlink" Target="https://aws.amazon.com/about-aws/whats-new/2021/05/aws-wavelength-is-now-system-and-organization-controls-soc-compliant/" TargetMode="External"/><Relationship Id="rId1" Type="http://schemas.openxmlformats.org/officeDocument/2006/relationships/slideLayout" Target="../slideLayouts/slideLayout9.xml"/></Relationships>
</file>

<file path=ppt/slides/_rels/slide189.xml.rels><?xml version="1.0" encoding="UTF-8" standalone="yes"?>
<Relationships xmlns="http://schemas.openxmlformats.org/package/2006/relationships"><Relationship Id="rId2" Type="http://schemas.openxmlformats.org/officeDocument/2006/relationships/hyperlink" Target="https://aws.amazon.com/about-aws/whats-new/2021/05/amazon-fsx-for-lustre-now-supports-data-compression/" TargetMode="External"/><Relationship Id="rId1" Type="http://schemas.openxmlformats.org/officeDocument/2006/relationships/slideLayout" Target="../slideLayouts/slideLayout9.xml"/></Relationships>
</file>

<file path=ppt/slides/_rels/slide190.xml.rels><?xml version="1.0" encoding="UTF-8" standalone="yes"?>
<Relationships xmlns="http://schemas.openxmlformats.org/package/2006/relationships"><Relationship Id="rId2" Type="http://schemas.openxmlformats.org/officeDocument/2006/relationships/hyperlink" Target="https://aws.amazon.com/about-aws/whats-new/2021/05/amazon-kendra-releases-query-suggestions/" TargetMode="External"/><Relationship Id="rId1" Type="http://schemas.openxmlformats.org/officeDocument/2006/relationships/slideLayout" Target="../slideLayouts/slideLayout9.xml"/></Relationships>
</file>

<file path=ppt/slides/_rels/slide191.xml.rels><?xml version="1.0" encoding="UTF-8" standalone="yes"?>
<Relationships xmlns="http://schemas.openxmlformats.org/package/2006/relationships"><Relationship Id="rId2" Type="http://schemas.openxmlformats.org/officeDocument/2006/relationships/hyperlink" Target="https://aws.amazon.com/about-aws/whats-new/2021/05/amazon-elastic-container-service-anywhere-is-now-generally-available/" TargetMode="External"/><Relationship Id="rId1" Type="http://schemas.openxmlformats.org/officeDocument/2006/relationships/slideLayout" Target="../slideLayouts/slideLayout9.xml"/></Relationships>
</file>

<file path=ppt/slides/_rels/slide192.xml.rels><?xml version="1.0" encoding="UTF-8" standalone="yes"?>
<Relationships xmlns="http://schemas.openxmlformats.org/package/2006/relationships"><Relationship Id="rId2" Type="http://schemas.openxmlformats.org/officeDocument/2006/relationships/hyperlink" Target="https://aws.amazon.com/about-aws/whats-new/2021/05/amazon-api-gateway-rest-apis-integrates-with-step-funtions-synchronous-express-workflows/" TargetMode="External"/><Relationship Id="rId1" Type="http://schemas.openxmlformats.org/officeDocument/2006/relationships/slideLayout" Target="../slideLayouts/slideLayout9.xml"/></Relationships>
</file>

<file path=ppt/slides/_rels/slide193.xml.rels><?xml version="1.0" encoding="UTF-8" standalone="yes"?>
<Relationships xmlns="http://schemas.openxmlformats.org/package/2006/relationships"><Relationship Id="rId2" Type="http://schemas.openxmlformats.org/officeDocument/2006/relationships/hyperlink" Target="https://aws.amazon.com/about-aws/whats-new/2021/05/amazon-polly-launches-a-new-korean-neural-text-to-speech-voice/" TargetMode="External"/><Relationship Id="rId1" Type="http://schemas.openxmlformats.org/officeDocument/2006/relationships/slideLayout" Target="../slideLayouts/slideLayout9.xml"/></Relationships>
</file>

<file path=ppt/slides/_rels/slide194.xml.rels><?xml version="1.0" encoding="UTF-8" standalone="yes"?>
<Relationships xmlns="http://schemas.openxmlformats.org/package/2006/relationships"><Relationship Id="rId2" Type="http://schemas.openxmlformats.org/officeDocument/2006/relationships/hyperlink" Target="https://aws.amazon.com/about-aws/whats-new/2021/05/amazon-lightsail-dns-supports-pointing-root-domains-lightsail-container-services/" TargetMode="External"/><Relationship Id="rId1" Type="http://schemas.openxmlformats.org/officeDocument/2006/relationships/slideLayout" Target="../slideLayouts/slideLayout9.xml"/></Relationships>
</file>

<file path=ppt/slides/_rels/slide195.xml.rels><?xml version="1.0" encoding="UTF-8" standalone="yes"?>
<Relationships xmlns="http://schemas.openxmlformats.org/package/2006/relationships"><Relationship Id="rId2" Type="http://schemas.openxmlformats.org/officeDocument/2006/relationships/hyperlink" Target="https://aws.amazon.com/about-aws/whats-new/2021/05/alarms-feature-now-generally-available-for-aws-iot-sitewise-and-aws-iot-events/" TargetMode="External"/><Relationship Id="rId1" Type="http://schemas.openxmlformats.org/officeDocument/2006/relationships/slideLayout" Target="../slideLayouts/slideLayout9.xml"/></Relationships>
</file>

<file path=ppt/slides/_rels/slide196.xml.rels><?xml version="1.0" encoding="UTF-8" standalone="yes"?>
<Relationships xmlns="http://schemas.openxmlformats.org/package/2006/relationships"><Relationship Id="rId2" Type="http://schemas.openxmlformats.org/officeDocument/2006/relationships/hyperlink" Target="https://aws.amazon.com/about-aws/whats-new/2021/05/amazon-cloudwatch-synthetics-is-now-available-in-the-aws-asia-pacific-osaka-region/" TargetMode="External"/><Relationship Id="rId1" Type="http://schemas.openxmlformats.org/officeDocument/2006/relationships/slideLayout" Target="../slideLayouts/slideLayout9.xml"/></Relationships>
</file>

<file path=ppt/slides/_rels/slide197.xml.rels><?xml version="1.0" encoding="UTF-8" standalone="yes"?>
<Relationships xmlns="http://schemas.openxmlformats.org/package/2006/relationships"><Relationship Id="rId2" Type="http://schemas.openxmlformats.org/officeDocument/2006/relationships/hyperlink" Target="https://aws.amazon.com/about-aws/whats-new/2021/05/new-self-paced-courses-for-cloud-procurement-NET-and-amazon-codeguru-available/" TargetMode="External"/><Relationship Id="rId1" Type="http://schemas.openxmlformats.org/officeDocument/2006/relationships/slideLayout" Target="../slideLayouts/slideLayout9.xml"/></Relationships>
</file>

<file path=ppt/slides/_rels/slide198.xml.rels><?xml version="1.0" encoding="UTF-8" standalone="yes"?>
<Relationships xmlns="http://schemas.openxmlformats.org/package/2006/relationships"><Relationship Id="rId2" Type="http://schemas.openxmlformats.org/officeDocument/2006/relationships/hyperlink" Target="https://aws.amazon.com/about-aws/whats-new/2021/05/aws-certificate-manager-private-certificate-authority-supports-storing-crls-in-private-s3-buckets/" TargetMode="External"/><Relationship Id="rId1" Type="http://schemas.openxmlformats.org/officeDocument/2006/relationships/slideLayout" Target="../slideLayouts/slideLayout9.xml"/></Relationships>
</file>

<file path=ppt/slides/_rels/slide199.xml.rels><?xml version="1.0" encoding="UTF-8" standalone="yes"?>
<Relationships xmlns="http://schemas.openxmlformats.org/package/2006/relationships"><Relationship Id="rId2" Type="http://schemas.openxmlformats.org/officeDocument/2006/relationships/hyperlink" Target="https://aws.amazon.com/about-aws/whats-new/2021/05/ec2-high-memory-instances-to-12tb-memory-available-additional-regions-with-on-demand-savings-plan-purchase-options/" TargetMode="External"/><Relationship Id="rId1" Type="http://schemas.openxmlformats.org/officeDocument/2006/relationships/slideLayout" Target="../slideLayouts/slideLayout9.xml"/></Relationships>
</file>

<file path=ppt/slides/_rels/slide200.xml.rels><?xml version="1.0" encoding="UTF-8" standalone="yes"?>
<Relationships xmlns="http://schemas.openxmlformats.org/package/2006/relationships"><Relationship Id="rId2" Type="http://schemas.openxmlformats.org/officeDocument/2006/relationships/hyperlink" Target="https://aws.amazon.com/about-aws/whats-new/2021/05/amazon-aurora-mysql-compatibility-supports-t3-large-instances/" TargetMode="External"/><Relationship Id="rId1" Type="http://schemas.openxmlformats.org/officeDocument/2006/relationships/slideLayout" Target="../slideLayouts/slideLayout9.xml"/></Relationships>
</file>

<file path=ppt/slides/_rels/slide201.xml.rels><?xml version="1.0" encoding="UTF-8" standalone="yes"?>
<Relationships xmlns="http://schemas.openxmlformats.org/package/2006/relationships"><Relationship Id="rId2" Type="http://schemas.openxmlformats.org/officeDocument/2006/relationships/hyperlink" Target="https://aws.amazon.com/about-aws/whats-new/2021/05/amazon-keyspaces--for-apache-cassandra--is-now-hipaa-eligible-to/" TargetMode="External"/><Relationship Id="rId1" Type="http://schemas.openxmlformats.org/officeDocument/2006/relationships/slideLayout" Target="../slideLayouts/slideLayout9.xml"/></Relationships>
</file>

<file path=ppt/slides/_rels/slide202.xml.rels><?xml version="1.0" encoding="UTF-8" standalone="yes"?>
<Relationships xmlns="http://schemas.openxmlformats.org/package/2006/relationships"><Relationship Id="rId2" Type="http://schemas.openxmlformats.org/officeDocument/2006/relationships/hyperlink" Target="https://aws.amazon.com/about-aws/whats-new/2021/05/aws-security-hub-supports-bidirectional-integration-with-atlassian-jira-service-management/" TargetMode="External"/><Relationship Id="rId1" Type="http://schemas.openxmlformats.org/officeDocument/2006/relationships/slideLayout" Target="../slideLayouts/slideLayout9.xml"/></Relationships>
</file>

<file path=ppt/slides/_rels/slide203.xml.rels><?xml version="1.0" encoding="UTF-8" standalone="yes"?>
<Relationships xmlns="http://schemas.openxmlformats.org/package/2006/relationships"><Relationship Id="rId2" Type="http://schemas.openxmlformats.org/officeDocument/2006/relationships/hyperlink" Target="https://aws.amazon.com/about-aws/whats-new/2021/05/amazon-mq-for-rabbitmq-is-now-available-in-amazon-web-services-china-regions/" TargetMode="External"/><Relationship Id="rId1" Type="http://schemas.openxmlformats.org/officeDocument/2006/relationships/slideLayout" Target="../slideLayouts/slideLayout9.xml"/></Relationships>
</file>

<file path=ppt/slides/_rels/slide204.xml.rels><?xml version="1.0" encoding="UTF-8" standalone="yes"?>
<Relationships xmlns="http://schemas.openxmlformats.org/package/2006/relationships"><Relationship Id="rId2" Type="http://schemas.openxmlformats.org/officeDocument/2006/relationships/hyperlink" Target="https://aws.amazon.com/about-aws/whats-new/2021/05/fleet-hub-monitor-interact-iot-device-fleets-now-generally-available/" TargetMode="External"/><Relationship Id="rId1" Type="http://schemas.openxmlformats.org/officeDocument/2006/relationships/slideLayout" Target="../slideLayouts/slideLayout9.xml"/></Relationships>
</file>

<file path=ppt/slides/_rels/slide205.xml.rels><?xml version="1.0" encoding="UTF-8" standalone="yes"?>
<Relationships xmlns="http://schemas.openxmlformats.org/package/2006/relationships"><Relationship Id="rId2" Type="http://schemas.openxmlformats.org/officeDocument/2006/relationships/hyperlink" Target="https://aws.amazon.com/about-aws/whats-new/2021/05/aws-transit-gateway-network-manager-available-aws-govcloud-us-regions/" TargetMode="External"/><Relationship Id="rId1" Type="http://schemas.openxmlformats.org/officeDocument/2006/relationships/slideLayout" Target="../slideLayouts/slideLayout9.xml"/></Relationships>
</file>

<file path=ppt/slides/_rels/slide206.xml.rels><?xml version="1.0" encoding="UTF-8" standalone="yes"?>
<Relationships xmlns="http://schemas.openxmlformats.org/package/2006/relationships"><Relationship Id="rId2" Type="http://schemas.openxmlformats.org/officeDocument/2006/relationships/hyperlink" Target="https://aws.amazon.com/about-aws/whats-new/2021/05/amazon-sagemaker-pipelines-now-integrated-amazon-sagemaker-experiments/" TargetMode="External"/><Relationship Id="rId1" Type="http://schemas.openxmlformats.org/officeDocument/2006/relationships/slideLayout" Target="../slideLayouts/slideLayout9.xml"/></Relationships>
</file>

<file path=ppt/slides/_rels/slide207.xml.rels><?xml version="1.0" encoding="UTF-8" standalone="yes"?>
<Relationships xmlns="http://schemas.openxmlformats.org/package/2006/relationships"><Relationship Id="rId2" Type="http://schemas.openxmlformats.org/officeDocument/2006/relationships/hyperlink" Target="https://aws.amazon.com/about-aws/whats-new/2021/05/updated-classroom-course-migrating-to-aws/" TargetMode="External"/><Relationship Id="rId1" Type="http://schemas.openxmlformats.org/officeDocument/2006/relationships/slideLayout" Target="../slideLayouts/slideLayout9.xml"/></Relationships>
</file>

<file path=ppt/slides/_rels/slide208.xml.rels><?xml version="1.0" encoding="UTF-8" standalone="yes"?>
<Relationships xmlns="http://schemas.openxmlformats.org/package/2006/relationships"><Relationship Id="rId2" Type="http://schemas.openxmlformats.org/officeDocument/2006/relationships/hyperlink" Target="https://aws.amazon.com/about-aws/whats-new/2021/05/amazon-appflow-now-expands-its-features-with-marketo/" TargetMode="External"/><Relationship Id="rId1" Type="http://schemas.openxmlformats.org/officeDocument/2006/relationships/slideLayout" Target="../slideLayouts/slideLayout9.xml"/></Relationships>
</file>

<file path=ppt/slides/_rels/slide209.xml.rels><?xml version="1.0" encoding="UTF-8" standalone="yes"?>
<Relationships xmlns="http://schemas.openxmlformats.org/package/2006/relationships"><Relationship Id="rId2" Type="http://schemas.openxmlformats.org/officeDocument/2006/relationships/hyperlink" Target="https://aws.amazon.com/about-aws/whats-new/2021/05/aws-iot-device-management-launches-job-templates-in-preview/" TargetMode="External"/><Relationship Id="rId1" Type="http://schemas.openxmlformats.org/officeDocument/2006/relationships/slideLayout" Target="../slideLayouts/slideLayout9.xml"/></Relationships>
</file>

<file path=ppt/slides/_rels/slide210.xml.rels><?xml version="1.0" encoding="UTF-8" standalone="yes"?>
<Relationships xmlns="http://schemas.openxmlformats.org/package/2006/relationships"><Relationship Id="rId2" Type="http://schemas.openxmlformats.org/officeDocument/2006/relationships/hyperlink" Target="https://aws.amazon.com/about-aws/whats-new/2021/05/aws-transfer-family-now-supports-microsoft-active-directory/" TargetMode="External"/><Relationship Id="rId1" Type="http://schemas.openxmlformats.org/officeDocument/2006/relationships/slideLayout" Target="../slideLayouts/slideLayout9.xml"/></Relationships>
</file>

<file path=ppt/slides/_rels/slide211.xml.rels><?xml version="1.0" encoding="UTF-8" standalone="yes"?>
<Relationships xmlns="http://schemas.openxmlformats.org/package/2006/relationships"><Relationship Id="rId2" Type="http://schemas.openxmlformats.org/officeDocument/2006/relationships/hyperlink" Target="https://aws.amazon.com/about-aws/whats-new/2021/05/amazon-msk-adds-support-for-apache-kafka-version-2-7-1/" TargetMode="External"/><Relationship Id="rId1" Type="http://schemas.openxmlformats.org/officeDocument/2006/relationships/slideLayout" Target="../slideLayouts/slideLayout9.xml"/></Relationships>
</file>

<file path=ppt/slides/_rels/slide212.xml.rels><?xml version="1.0" encoding="UTF-8" standalone="yes"?>
<Relationships xmlns="http://schemas.openxmlformats.org/package/2006/relationships"><Relationship Id="rId2" Type="http://schemas.openxmlformats.org/officeDocument/2006/relationships/hyperlink" Target="https://aws.amazon.com/about-aws/whats-new/2021/05/amazon-braket-introduces-quantum-circuit-noise-simulator-dm1/" TargetMode="External"/><Relationship Id="rId1" Type="http://schemas.openxmlformats.org/officeDocument/2006/relationships/slideLayout" Target="../slideLayouts/slideLayout9.xml"/></Relationships>
</file>

<file path=ppt/slides/_rels/slide213.xml.rels><?xml version="1.0" encoding="UTF-8" standalone="yes"?>
<Relationships xmlns="http://schemas.openxmlformats.org/package/2006/relationships"><Relationship Id="rId2" Type="http://schemas.openxmlformats.org/officeDocument/2006/relationships/hyperlink" Target="https://aws.amazon.com/about-aws/whats-new/2021/05/aws-database-migration-service-now-supports-postgresql-version-13-in-preview-mode/" TargetMode="External"/><Relationship Id="rId1" Type="http://schemas.openxmlformats.org/officeDocument/2006/relationships/slideLayout" Target="../slideLayouts/slideLayout9.xml"/></Relationships>
</file>

<file path=ppt/slides/_rels/slide214.xml.rels><?xml version="1.0" encoding="UTF-8" standalone="yes"?>
<Relationships xmlns="http://schemas.openxmlformats.org/package/2006/relationships"><Relationship Id="rId2" Type="http://schemas.openxmlformats.org/officeDocument/2006/relationships/hyperlink" Target="https://aws.amazon.com/about-aws/whats-new/2021/05/aws-data-exchange-now-supports-custom-payment-schedules-for-private-offers/" TargetMode="External"/><Relationship Id="rId1" Type="http://schemas.openxmlformats.org/officeDocument/2006/relationships/slideLayout" Target="../slideLayouts/slideLayout9.xml"/></Relationships>
</file>

<file path=ppt/slides/_rels/slide215.xml.rels><?xml version="1.0" encoding="UTF-8" standalone="yes"?>
<Relationships xmlns="http://schemas.openxmlformats.org/package/2006/relationships"><Relationship Id="rId2" Type="http://schemas.openxmlformats.org/officeDocument/2006/relationships/hyperlink" Target="https://aws.amazon.com/about-aws/whats-new/2021/05/amazon-rds-oracle-supports-multitenant-container-database/" TargetMode="External"/><Relationship Id="rId1" Type="http://schemas.openxmlformats.org/officeDocument/2006/relationships/slideLayout" Target="../slideLayouts/slideLayout9.xml"/></Relationships>
</file>

<file path=ppt/slides/_rels/slide216.xml.rels><?xml version="1.0" encoding="UTF-8" standalone="yes"?>
<Relationships xmlns="http://schemas.openxmlformats.org/package/2006/relationships"><Relationship Id="rId2" Type="http://schemas.openxmlformats.org/officeDocument/2006/relationships/hyperlink" Target="https://aws.amazon.com/about-aws/whats-new/2021/05/amazon-ec2-m5zn-instances-high-frequency-processors-100-gbps-networking-are-available-in-asia-pacific-seoul/" TargetMode="External"/><Relationship Id="rId1" Type="http://schemas.openxmlformats.org/officeDocument/2006/relationships/slideLayout" Target="../slideLayouts/slideLayout9.xml"/></Relationships>
</file>

<file path=ppt/slides/_rels/slide217.xml.rels><?xml version="1.0" encoding="UTF-8" standalone="yes"?>
<Relationships xmlns="http://schemas.openxmlformats.org/package/2006/relationships"><Relationship Id="rId2" Type="http://schemas.openxmlformats.org/officeDocument/2006/relationships/hyperlink" Target="https://aws.amazon.com/about-aws/whats-new/2021/05/aws-compute-optimizer-enhances-ec2-instance-type-recommendations/" TargetMode="External"/><Relationship Id="rId1" Type="http://schemas.openxmlformats.org/officeDocument/2006/relationships/slideLayout" Target="../slideLayouts/slideLayout9.xml"/></Relationships>
</file>

<file path=ppt/slides/_rels/slide218.xml.rels><?xml version="1.0" encoding="UTF-8" standalone="yes"?>
<Relationships xmlns="http://schemas.openxmlformats.org/package/2006/relationships"><Relationship Id="rId2" Type="http://schemas.openxmlformats.org/officeDocument/2006/relationships/hyperlink" Target="https://aws.amazon.com/about-aws/whats-new/2021/05/aws-outposts-launches-support-for-ec2-capacity-reservations/" TargetMode="External"/><Relationship Id="rId1" Type="http://schemas.openxmlformats.org/officeDocument/2006/relationships/slideLayout" Target="../slideLayouts/slideLayout9.xml"/></Relationships>
</file>

<file path=ppt/slides/_rels/slide219.xml.rels><?xml version="1.0" encoding="UTF-8" standalone="yes"?>
<Relationships xmlns="http://schemas.openxmlformats.org/package/2006/relationships"><Relationship Id="rId2" Type="http://schemas.openxmlformats.org/officeDocument/2006/relationships/hyperlink" Target="https://aws.amazon.com/about-aws/whats-new/2021/05/amazon-lumberyard-beta-1-28-is-now-available/" TargetMode="External"/><Relationship Id="rId1" Type="http://schemas.openxmlformats.org/officeDocument/2006/relationships/slideLayout" Target="../slideLayouts/slideLayout9.xml"/></Relationships>
</file>

<file path=ppt/slides/_rels/slide220.xml.rels><?xml version="1.0" encoding="UTF-8" standalone="yes"?>
<Relationships xmlns="http://schemas.openxmlformats.org/package/2006/relationships"><Relationship Id="rId2" Type="http://schemas.openxmlformats.org/officeDocument/2006/relationships/hyperlink" Target="https://aws.amazon.com/about-aws/whats-new/2021/05/amazon-emr-now-supports-amazon-ec2-on-demand-capacity-reservations/" TargetMode="External"/><Relationship Id="rId1" Type="http://schemas.openxmlformats.org/officeDocument/2006/relationships/slideLayout" Target="../slideLayouts/slideLayout9.xml"/></Relationships>
</file>

<file path=ppt/slides/_rels/slide221.xml.rels><?xml version="1.0" encoding="UTF-8" standalone="yes"?>
<Relationships xmlns="http://schemas.openxmlformats.org/package/2006/relationships"><Relationship Id="rId2" Type="http://schemas.openxmlformats.org/officeDocument/2006/relationships/hyperlink" Target="https://aws.amazon.com/about-aws/whats-new/2021/05/manage-amazon-keyspaces--for-apache-cassandra--service-quotas-th/" TargetMode="External"/><Relationship Id="rId1" Type="http://schemas.openxmlformats.org/officeDocument/2006/relationships/slideLayout" Target="../slideLayouts/slideLayout9.xml"/></Relationships>
</file>

<file path=ppt/slides/_rels/slide222.xml.rels><?xml version="1.0" encoding="UTF-8" standalone="yes"?>
<Relationships xmlns="http://schemas.openxmlformats.org/package/2006/relationships"><Relationship Id="rId2" Type="http://schemas.openxmlformats.org/officeDocument/2006/relationships/hyperlink" Target="https://aws.amazon.com/about-aws/whats-new/2021/05/amazon-elastic-file-system-supports-longer-resource-identifiers/" TargetMode="External"/><Relationship Id="rId1" Type="http://schemas.openxmlformats.org/officeDocument/2006/relationships/slideLayout" Target="../slideLayouts/slideLayout9.xml"/></Relationships>
</file>

<file path=ppt/slides/_rels/slide223.xml.rels><?xml version="1.0" encoding="UTF-8" standalone="yes"?>
<Relationships xmlns="http://schemas.openxmlformats.org/package/2006/relationships"><Relationship Id="rId2" Type="http://schemas.openxmlformats.org/officeDocument/2006/relationships/hyperlink" Target="https://aws.amazon.com/about-aws/whats-new/2021/05/enhancements-to-amazon-rekognition-text-detection-support-for-more-words-higher-accuracy-lower-latency/" TargetMode="External"/><Relationship Id="rId1" Type="http://schemas.openxmlformats.org/officeDocument/2006/relationships/slideLayout" Target="../slideLayouts/slideLayout9.xml"/></Relationships>
</file>

<file path=ppt/slides/_rels/slide224.xml.rels><?xml version="1.0" encoding="UTF-8" standalone="yes"?>
<Relationships xmlns="http://schemas.openxmlformats.org/package/2006/relationships"><Relationship Id="rId2" Type="http://schemas.openxmlformats.org/officeDocument/2006/relationships/hyperlink" Target="https://aws.amazon.com/about-aws/whats-new/2021/05/aws-app2container-supports-deployment-of-containerized-applications-to-aws-app-runner/" TargetMode="External"/><Relationship Id="rId1" Type="http://schemas.openxmlformats.org/officeDocument/2006/relationships/slideLayout" Target="../slideLayouts/slideLayout9.xml"/></Relationships>
</file>

<file path=ppt/slides/_rels/slide225.xml.rels><?xml version="1.0" encoding="UTF-8" standalone="yes"?>
<Relationships xmlns="http://schemas.openxmlformats.org/package/2006/relationships"><Relationship Id="rId2" Type="http://schemas.openxmlformats.org/officeDocument/2006/relationships/hyperlink" Target="https://aws.amazon.com/about-aws/whats-new/2021/05/amazon-forecast-now-supports-generating-predictions-for-more-items-using-more-historic-data-points/" TargetMode="External"/><Relationship Id="rId1" Type="http://schemas.openxmlformats.org/officeDocument/2006/relationships/slideLayout" Target="../slideLayouts/slideLayout9.xml"/></Relationships>
</file>

<file path=ppt/slides/_rels/slide226.xml.rels><?xml version="1.0" encoding="UTF-8" standalone="yes"?>
<Relationships xmlns="http://schemas.openxmlformats.org/package/2006/relationships"><Relationship Id="rId2" Type="http://schemas.openxmlformats.org/officeDocument/2006/relationships/hyperlink" Target="https://aws.amazon.com/about-aws/whats-new/2021/05/amazon-rds-for-oracle-now-supports-april-2021-release-updates-ru/" TargetMode="External"/><Relationship Id="rId1" Type="http://schemas.openxmlformats.org/officeDocument/2006/relationships/slideLayout" Target="../slideLayouts/slideLayout9.xml"/></Relationships>
</file>

<file path=ppt/slides/_rels/slide227.xml.rels><?xml version="1.0" encoding="UTF-8" standalone="yes"?>
<Relationships xmlns="http://schemas.openxmlformats.org/package/2006/relationships"><Relationship Id="rId2" Type="http://schemas.openxmlformats.org/officeDocument/2006/relationships/hyperlink" Target="https://aws.amazon.com/about-aws/whats-new/2021/05/amazon-emr-eks-available-sao-paulo-region/" TargetMode="External"/><Relationship Id="rId1" Type="http://schemas.openxmlformats.org/officeDocument/2006/relationships/slideLayout" Target="../slideLayouts/slideLayout9.xml"/></Relationships>
</file>

<file path=ppt/slides/_rels/slide228.xml.rels><?xml version="1.0" encoding="UTF-8" standalone="yes"?>
<Relationships xmlns="http://schemas.openxmlformats.org/package/2006/relationships"><Relationship Id="rId2" Type="http://schemas.openxmlformats.org/officeDocument/2006/relationships/hyperlink" Target="https://aws.amazon.com/about-aws/whats-new/2021/05/aws-customers-now-self-opt-in-aws-wavelength-zones/" TargetMode="External"/><Relationship Id="rId1" Type="http://schemas.openxmlformats.org/officeDocument/2006/relationships/slideLayout" Target="../slideLayouts/slideLayout9.xml"/></Relationships>
</file>

<file path=ppt/slides/_rels/slide229.xml.rels><?xml version="1.0" encoding="UTF-8" standalone="yes"?>
<Relationships xmlns="http://schemas.openxmlformats.org/package/2006/relationships"><Relationship Id="rId2" Type="http://schemas.openxmlformats.org/officeDocument/2006/relationships/hyperlink" Target="https://aws.amazon.com/about-aws/whats-new/2021/05/amazon-sagemaker-offers-new-flexibility-configuring-model-building-pipelines/" TargetMode="External"/><Relationship Id="rId1" Type="http://schemas.openxmlformats.org/officeDocument/2006/relationships/slideLayout" Target="../slideLayouts/slideLayout9.xml"/></Relationships>
</file>

<file path=ppt/slides/_rels/slide230.xml.rels><?xml version="1.0" encoding="UTF-8" standalone="yes"?>
<Relationships xmlns="http://schemas.openxmlformats.org/package/2006/relationships"><Relationship Id="rId2" Type="http://schemas.openxmlformats.org/officeDocument/2006/relationships/hyperlink" Target="https://aws.amazon.com/about-aws/whats-new/2021/05/eks-add-ons-now-support-coredns-kube-proxy/" TargetMode="External"/><Relationship Id="rId1" Type="http://schemas.openxmlformats.org/officeDocument/2006/relationships/slideLayout" Target="../slideLayouts/slideLayout9.xml"/></Relationships>
</file>

<file path=ppt/slides/_rels/slide231.xml.rels><?xml version="1.0" encoding="UTF-8" standalone="yes"?>
<Relationships xmlns="http://schemas.openxmlformats.org/package/2006/relationships"><Relationship Id="rId2" Type="http://schemas.openxmlformats.org/officeDocument/2006/relationships/hyperlink" Target="https://aws.amazon.com/about-aws/whats-new/2021/05/aws-toolkit-visual-studio-code-adds-java-go-support/" TargetMode="External"/><Relationship Id="rId1" Type="http://schemas.openxmlformats.org/officeDocument/2006/relationships/slideLayout" Target="../slideLayouts/slideLayout9.xml"/></Relationships>
</file>

<file path=ppt/slides/_rels/slide232.xml.rels><?xml version="1.0" encoding="UTF-8" standalone="yes"?>
<Relationships xmlns="http://schemas.openxmlformats.org/package/2006/relationships"><Relationship Id="rId2" Type="http://schemas.openxmlformats.org/officeDocument/2006/relationships/hyperlink" Target="https://aws.amazon.com/about-aws/whats-new/2021/05/amazon-lightsail-is-now-available-in-aws-europe-stockholm-region/" TargetMode="External"/><Relationship Id="rId1" Type="http://schemas.openxmlformats.org/officeDocument/2006/relationships/slideLayout" Target="../slideLayouts/slideLayout9.xml"/></Relationships>
</file>

<file path=ppt/slides/_rels/slide233.xml.rels><?xml version="1.0" encoding="UTF-8" standalone="yes"?>
<Relationships xmlns="http://schemas.openxmlformats.org/package/2006/relationships"><Relationship Id="rId2" Type="http://schemas.openxmlformats.org/officeDocument/2006/relationships/hyperlink" Target="https://aws.amazon.com/about-aws/whats-new/2021/05/wkwebview-now-supported-with-amazon-chime-sdk-for-javascript/" TargetMode="External"/><Relationship Id="rId1" Type="http://schemas.openxmlformats.org/officeDocument/2006/relationships/slideLayout" Target="../slideLayouts/slideLayout9.xml"/></Relationships>
</file>

<file path=ppt/slides/_rels/slide234.xml.rels><?xml version="1.0" encoding="UTF-8" standalone="yes"?>
<Relationships xmlns="http://schemas.openxmlformats.org/package/2006/relationships"><Relationship Id="rId2" Type="http://schemas.openxmlformats.org/officeDocument/2006/relationships/hyperlink" Target="https://aws.amazon.com/about-aws/whats-new/2021/05/amazon-lex-now-supports-resource-based-policies-for-bots-and-aliases/" TargetMode="External"/><Relationship Id="rId1" Type="http://schemas.openxmlformats.org/officeDocument/2006/relationships/slideLayout" Target="../slideLayouts/slideLayout9.xml"/></Relationships>
</file>

<file path=ppt/slides/_rels/slide235.xml.rels><?xml version="1.0" encoding="UTF-8" standalone="yes"?>
<Relationships xmlns="http://schemas.openxmlformats.org/package/2006/relationships"><Relationship Id="rId2" Type="http://schemas.openxmlformats.org/officeDocument/2006/relationships/hyperlink" Target="https://aws.amazon.com/about-aws/whats-new/2021/05/announcing-amazon-forecast-weather-index-for-south-america/" TargetMode="External"/><Relationship Id="rId1" Type="http://schemas.openxmlformats.org/officeDocument/2006/relationships/slideLayout" Target="../slideLayouts/slideLayout9.xml"/></Relationships>
</file>

<file path=ppt/slides/_rels/slide236.xml.rels><?xml version="1.0" encoding="UTF-8" standalone="yes"?>
<Relationships xmlns="http://schemas.openxmlformats.org/package/2006/relationships"><Relationship Id="rId2" Type="http://schemas.openxmlformats.org/officeDocument/2006/relationships/hyperlink" Target="https://aws.amazon.com/about-aws/whats-new/2021/05/customizations-for-aws-control-tower-adds-more-scaling-optimizations-and-improves-compatiblity-with-aws-codebuild/" TargetMode="External"/><Relationship Id="rId1" Type="http://schemas.openxmlformats.org/officeDocument/2006/relationships/slideLayout" Target="../slideLayouts/slideLayout9.xml"/></Relationships>
</file>

<file path=ppt/slides/_rels/slide237.xml.rels><?xml version="1.0" encoding="UTF-8" standalone="yes"?>
<Relationships xmlns="http://schemas.openxmlformats.org/package/2006/relationships"><Relationship Id="rId2" Type="http://schemas.openxmlformats.org/officeDocument/2006/relationships/hyperlink" Target="https://aws.amazon.com/about-aws/whats-new/2021/05/aws-load-balancer-controller-version-2-2-available-support-nlb-instance/" TargetMode="External"/><Relationship Id="rId1" Type="http://schemas.openxmlformats.org/officeDocument/2006/relationships/slideLayout" Target="../slideLayouts/slideLayout9.xml"/></Relationships>
</file>

<file path=ppt/slides/_rels/slide238.xml.rels><?xml version="1.0" encoding="UTF-8" standalone="yes"?>
<Relationships xmlns="http://schemas.openxmlformats.org/package/2006/relationships"><Relationship Id="rId2" Type="http://schemas.openxmlformats.org/officeDocument/2006/relationships/hyperlink" Target="https://aws.amazon.com/about-aws/whats-new/2021/05/amazon-route-53-resolver-endpoints-for-hybrid-cloud-now-available-in-asia-pacific-osaka-region/" TargetMode="External"/><Relationship Id="rId1" Type="http://schemas.openxmlformats.org/officeDocument/2006/relationships/slideLayout" Target="../slideLayouts/slideLayout9.xml"/></Relationships>
</file>

<file path=ppt/slides/_rels/slide239.xml.rels><?xml version="1.0" encoding="UTF-8" standalone="yes"?>
<Relationships xmlns="http://schemas.openxmlformats.org/package/2006/relationships"><Relationship Id="rId2" Type="http://schemas.openxmlformats.org/officeDocument/2006/relationships/hyperlink" Target="https://aws.amazon.com/about-aws/whats-new/2021/05/aws-data-streaming-solution-for-amazon-msk-adds-support-for-apache-kafka-versions-2-8-0-and-2-6-2/" TargetMode="External"/><Relationship Id="rId1" Type="http://schemas.openxmlformats.org/officeDocument/2006/relationships/slideLayout" Target="../slideLayouts/slideLayout9.xml"/></Relationships>
</file>

<file path=ppt/slides/_rels/slide240.xml.rels><?xml version="1.0" encoding="UTF-8" standalone="yes"?>
<Relationships xmlns="http://schemas.openxmlformats.org/package/2006/relationships"><Relationship Id="rId2" Type="http://schemas.openxmlformats.org/officeDocument/2006/relationships/hyperlink" Target="https://aws.amazon.com/about-aws/whats-new/2021/05/aws-solutions-implementations-serverless-bot-framework-adds-new-integrations-for-customers-to-expand-the-use-of-their-amazon-lex-chatbots/" TargetMode="External"/><Relationship Id="rId1" Type="http://schemas.openxmlformats.org/officeDocument/2006/relationships/slideLayout" Target="../slideLayouts/slideLayout9.xml"/></Relationships>
</file>

<file path=ppt/slides/_rels/slide241.xml.rels><?xml version="1.0" encoding="UTF-8" standalone="yes"?>
<Relationships xmlns="http://schemas.openxmlformats.org/package/2006/relationships"><Relationship Id="rId2" Type="http://schemas.openxmlformats.org/officeDocument/2006/relationships/hyperlink" Target="https://aws.amazon.com/about-aws/whats-new/2021/05/aws-application-cost-profiler/" TargetMode="External"/><Relationship Id="rId1" Type="http://schemas.openxmlformats.org/officeDocument/2006/relationships/slideLayout" Target="../slideLayouts/slideLayout9.xml"/></Relationships>
</file>

<file path=ppt/slides/_rels/slide242.xml.rels><?xml version="1.0" encoding="UTF-8" standalone="yes"?>
<Relationships xmlns="http://schemas.openxmlformats.org/package/2006/relationships"><Relationship Id="rId2" Type="http://schemas.openxmlformats.org/officeDocument/2006/relationships/hyperlink" Target="https://aws.amazon.com/about-aws/whats-new/2021/05/amazon-sagemaker-autopilot-adds-automatic-deployment-support-for-the-best-trained-model/" TargetMode="External"/><Relationship Id="rId1" Type="http://schemas.openxmlformats.org/officeDocument/2006/relationships/slideLayout" Target="../slideLayouts/slideLayout9.xml"/></Relationships>
</file>

<file path=ppt/slides/_rels/slide243.xml.rels><?xml version="1.0" encoding="UTF-8" standalone="yes"?>
<Relationships xmlns="http://schemas.openxmlformats.org/package/2006/relationships"><Relationship Id="rId2" Type="http://schemas.openxmlformats.org/officeDocument/2006/relationships/hyperlink" Target="https://aws.amazon.com/about-aws/whats-new/2021/05/aws-license-manager-now-provides-historical-license-usage-reporting/" TargetMode="External"/><Relationship Id="rId1" Type="http://schemas.openxmlformats.org/officeDocument/2006/relationships/slideLayout" Target="../slideLayouts/slideLayout9.xml"/></Relationships>
</file>

<file path=ppt/slides/_rels/slide244.xml.rels><?xml version="1.0" encoding="UTF-8" standalone="yes"?>
<Relationships xmlns="http://schemas.openxmlformats.org/package/2006/relationships"><Relationship Id="rId2" Type="http://schemas.openxmlformats.org/officeDocument/2006/relationships/hyperlink" Target="https://aws.amazon.com/about-aws/whats-new/2021/05/aws-compute-optimizer-supports-exporting-amazon-ebs-aws-lambda-recommendations-amazon-s3/" TargetMode="External"/><Relationship Id="rId1" Type="http://schemas.openxmlformats.org/officeDocument/2006/relationships/slideLayout" Target="../slideLayouts/slideLayout9.xml"/></Relationships>
</file>

<file path=ppt/slides/_rels/slide245.xml.rels><?xml version="1.0" encoding="UTF-8" standalone="yes"?>
<Relationships xmlns="http://schemas.openxmlformats.org/package/2006/relationships"><Relationship Id="rId2" Type="http://schemas.openxmlformats.org/officeDocument/2006/relationships/hyperlink" Target="https://aws.amazon.com/about-aws/whats-new/2021/05/announcing-general-availability-aws-iot-core-device-advisor/" TargetMode="External"/><Relationship Id="rId1" Type="http://schemas.openxmlformats.org/officeDocument/2006/relationships/slideLayout" Target="../slideLayouts/slideLayout9.xml"/></Relationships>
</file>

<file path=ppt/slides/_rels/slide246.xml.rels><?xml version="1.0" encoding="UTF-8" standalone="yes"?>
<Relationships xmlns="http://schemas.openxmlformats.org/package/2006/relationships"><Relationship Id="rId2" Type="http://schemas.openxmlformats.org/officeDocument/2006/relationships/hyperlink" Target="https://aws.amazon.com/about-aws/whats-new/2021/05/amazon-eks-eks-distro-supports-kubernetes-version-1-20/" TargetMode="External"/><Relationship Id="rId1" Type="http://schemas.openxmlformats.org/officeDocument/2006/relationships/slideLayout" Target="../slideLayouts/slideLayout9.xml"/></Relationships>
</file>

<file path=ppt/slides/_rels/slide247.xml.rels><?xml version="1.0" encoding="UTF-8" standalone="yes"?>
<Relationships xmlns="http://schemas.openxmlformats.org/package/2006/relationships"><Relationship Id="rId2" Type="http://schemas.openxmlformats.org/officeDocument/2006/relationships/hyperlink" Target="https://aws.amazon.com/about-aws/whats-new/2021/05/aws-database-migration-service-supports-apache-kafka-tls-authentication/" TargetMode="External"/><Relationship Id="rId1" Type="http://schemas.openxmlformats.org/officeDocument/2006/relationships/slideLayout" Target="../slideLayouts/slideLayout9.xml"/></Relationships>
</file>

<file path=ppt/slides/_rels/slide248.xml.rels><?xml version="1.0" encoding="UTF-8" standalone="yes"?>
<Relationships xmlns="http://schemas.openxmlformats.org/package/2006/relationships"><Relationship Id="rId2" Type="http://schemas.openxmlformats.org/officeDocument/2006/relationships/hyperlink" Target="https://aws.amazon.com/about-aws/whats-new/2021/05/aws-amplify-hosting-announces-server-side-rendering-support-for-next-js-web-apps/" TargetMode="External"/><Relationship Id="rId1" Type="http://schemas.openxmlformats.org/officeDocument/2006/relationships/slideLayout" Target="../slideLayouts/slideLayout9.xml"/></Relationships>
</file>

<file path=ppt/slides/_rels/slide249.xml.rels><?xml version="1.0" encoding="UTF-8" standalone="yes"?>
<Relationships xmlns="http://schemas.openxmlformats.org/package/2006/relationships"><Relationship Id="rId2" Type="http://schemas.openxmlformats.org/officeDocument/2006/relationships/hyperlink" Target="https://aws.amazon.com/about-aws/whats-new/2021/05/announcing-general-availability-of-aws-application-migration-service/" TargetMode="External"/><Relationship Id="rId1" Type="http://schemas.openxmlformats.org/officeDocument/2006/relationships/slideLayout" Target="../slideLayouts/slideLayout9.xml"/></Relationships>
</file>

<file path=ppt/slides/_rels/slide250.xml.rels><?xml version="1.0" encoding="UTF-8" standalone="yes"?>
<Relationships xmlns="http://schemas.openxmlformats.org/package/2006/relationships"><Relationship Id="rId2" Type="http://schemas.openxmlformats.org/officeDocument/2006/relationships/hyperlink" Target="https://aws.amazon.com/about-aws/whats-new/2021/05/aws-elemental-mediaconnect-adds-cdi-and-jpeg-xs-support/" TargetMode="External"/><Relationship Id="rId1" Type="http://schemas.openxmlformats.org/officeDocument/2006/relationships/slideLayout" Target="../slideLayouts/slideLayout9.xml"/></Relationships>
</file>

<file path=ppt/slides/_rels/slide251.xml.rels><?xml version="1.0" encoding="UTF-8" standalone="yes"?>
<Relationships xmlns="http://schemas.openxmlformats.org/package/2006/relationships"><Relationship Id="rId2" Type="http://schemas.openxmlformats.org/officeDocument/2006/relationships/hyperlink" Target="https://aws.amazon.com/about-aws/whats-new/2021/05/new-aws-solutions-consulting-offer-enterprise-cloud-foundation-accelerator/" TargetMode="External"/><Relationship Id="rId1" Type="http://schemas.openxmlformats.org/officeDocument/2006/relationships/slideLayout" Target="../slideLayouts/slideLayout9.xml"/></Relationships>
</file>

<file path=ppt/slides/_rels/slide252.xml.rels><?xml version="1.0" encoding="UTF-8" standalone="yes"?>
<Relationships xmlns="http://schemas.openxmlformats.org/package/2006/relationships"><Relationship Id="rId2" Type="http://schemas.openxmlformats.org/officeDocument/2006/relationships/hyperlink" Target="https://aws.amazon.com/about-aws/whats-new/2021/05/amazon-macie-supports-criteria-based-bucket-selection-sensitive-data-discovery-jobs/" TargetMode="External"/><Relationship Id="rId1" Type="http://schemas.openxmlformats.org/officeDocument/2006/relationships/slideLayout" Target="../slideLayouts/slideLayout9.xml"/></Relationships>
</file>

<file path=ppt/slides/_rels/slide253.xml.rels><?xml version="1.0" encoding="UTF-8" standalone="yes"?>
<Relationships xmlns="http://schemas.openxmlformats.org/package/2006/relationships"><Relationship Id="rId2" Type="http://schemas.openxmlformats.org/officeDocument/2006/relationships/hyperlink" Target="https://aws.amazon.com/about-aws/whats-new/2021/05/aws-transit-gateway-connect-is-now-available-in-aws-govcloud-us-regions/" TargetMode="External"/><Relationship Id="rId1" Type="http://schemas.openxmlformats.org/officeDocument/2006/relationships/slideLayout" Target="../slideLayouts/slideLayout9.xml"/></Relationships>
</file>

<file path=ppt/slides/_rels/slide254.xml.rels><?xml version="1.0" encoding="UTF-8" standalone="yes"?>
<Relationships xmlns="http://schemas.openxmlformats.org/package/2006/relationships"><Relationship Id="rId2" Type="http://schemas.openxmlformats.org/officeDocument/2006/relationships/hyperlink" Target="https://aws.amazon.com/about-aws/whats-new/2021/05/amazon-lex-available-aws-canada-central-region/" TargetMode="External"/><Relationship Id="rId1" Type="http://schemas.openxmlformats.org/officeDocument/2006/relationships/slideLayout" Target="../slideLayouts/slideLayout9.xml"/></Relationships>
</file>

<file path=ppt/slides/_rels/slide255.xml.rels><?xml version="1.0" encoding="UTF-8" standalone="yes"?>
<Relationships xmlns="http://schemas.openxmlformats.org/package/2006/relationships"><Relationship Id="rId2" Type="http://schemas.openxmlformats.org/officeDocument/2006/relationships/hyperlink" Target="https://aws.amazon.com/about-aws/whats-new/2021/05/amazon-workdocs-adds-filtering-activity-feed-ios-android/" TargetMode="External"/><Relationship Id="rId1" Type="http://schemas.openxmlformats.org/officeDocument/2006/relationships/slideLayout" Target="../slideLayouts/slideLayout9.xml"/></Relationships>
</file>

<file path=ppt/slides/_rels/slide256.xml.rels><?xml version="1.0" encoding="UTF-8" standalone="yes"?>
<Relationships xmlns="http://schemas.openxmlformats.org/package/2006/relationships"><Relationship Id="rId2" Type="http://schemas.openxmlformats.org/officeDocument/2006/relationships/hyperlink" Target="https://aws.amazon.com/about-aws/whats-new/2021/05/amazon-transcribe-medical-provides-automatic-protected-health-information-identification-batch-processing/" TargetMode="External"/><Relationship Id="rId1" Type="http://schemas.openxmlformats.org/officeDocument/2006/relationships/slideLayout" Target="../slideLayouts/slideLayout9.xml"/></Relationships>
</file>

<file path=ppt/slides/_rels/slide257.xml.rels><?xml version="1.0" encoding="UTF-8" standalone="yes"?>
<Relationships xmlns="http://schemas.openxmlformats.org/package/2006/relationships"><Relationship Id="rId2" Type="http://schemas.openxmlformats.org/officeDocument/2006/relationships/hyperlink" Target="https://aws.amazon.com/about-aws/whats-new/2021/05/aws-premium-support-launches-support-automation-workflow-runbooks-for-self-service-diagnosis-remediation/" TargetMode="External"/><Relationship Id="rId1" Type="http://schemas.openxmlformats.org/officeDocument/2006/relationships/slideLayout" Target="../slideLayouts/slideLayout9.xml"/></Relationships>
</file>

<file path=ppt/slides/_rels/slide258.xml.rels><?xml version="1.0" encoding="UTF-8" standalone="yes"?>
<Relationships xmlns="http://schemas.openxmlformats.org/package/2006/relationships"><Relationship Id="rId2" Type="http://schemas.openxmlformats.org/officeDocument/2006/relationships/hyperlink" Target="https://aws.amazon.com/about-aws/whats-new/2021/05/amazon-elasticsearch-service-announces-a-new-lower-cost-storage-tier/" TargetMode="External"/><Relationship Id="rId1" Type="http://schemas.openxmlformats.org/officeDocument/2006/relationships/slideLayout" Target="../slideLayouts/slideLayout9.xml"/></Relationships>
</file>

<file path=ppt/slides/_rels/slide259.xml.rels><?xml version="1.0" encoding="UTF-8" standalone="yes"?>
<Relationships xmlns="http://schemas.openxmlformats.org/package/2006/relationships"><Relationship Id="rId2" Type="http://schemas.openxmlformats.org/officeDocument/2006/relationships/hyperlink" Target="https://aws.amazon.com/about-aws/whats-new/2021/05/amazon-rds-data-api-now-supports-fips-140-2-validated-endpoints/" TargetMode="External"/><Relationship Id="rId1" Type="http://schemas.openxmlformats.org/officeDocument/2006/relationships/slideLayout" Target="../slideLayouts/slideLayout9.xml"/></Relationships>
</file>

<file path=ppt/slides/_rels/slide260.xml.rels><?xml version="1.0" encoding="UTF-8" standalone="yes"?>
<Relationships xmlns="http://schemas.openxmlformats.org/package/2006/relationships"><Relationship Id="rId2" Type="http://schemas.openxmlformats.org/officeDocument/2006/relationships/hyperlink" Target="https://aws.amazon.com/about-aws/whats-new/2021/05/announcing-postgresql-12-5-support-for-amazon-rds-on-aws-outposts/" TargetMode="External"/><Relationship Id="rId1" Type="http://schemas.openxmlformats.org/officeDocument/2006/relationships/slideLayout" Target="../slideLayouts/slideLayout9.xml"/></Relationships>
</file>

<file path=ppt/slides/_rels/slide261.xml.rels><?xml version="1.0" encoding="UTF-8" standalone="yes"?>
<Relationships xmlns="http://schemas.openxmlformats.org/package/2006/relationships"><Relationship Id="rId2" Type="http://schemas.openxmlformats.org/officeDocument/2006/relationships/hyperlink" Target="https://aws.amazon.com/about-aws/whats-new/2021/05/amazon-kendra-now-available-in-asia-pacific-singapore-aws-region/" TargetMode="External"/><Relationship Id="rId1" Type="http://schemas.openxmlformats.org/officeDocument/2006/relationships/slideLayout" Target="../slideLayouts/slideLayout9.xml"/></Relationships>
</file>

<file path=ppt/slides/_rels/slide262.xml.rels><?xml version="1.0" encoding="UTF-8" standalone="yes"?>
<Relationships xmlns="http://schemas.openxmlformats.org/package/2006/relationships"><Relationship Id="rId2" Type="http://schemas.openxmlformats.org/officeDocument/2006/relationships/hyperlink" Target="https://aws.amazon.com/about-aws/whats-new/2021/05/amazon-emr-6-3-now-supports-apache-ranger-for-fine-grained-data-access-control/" TargetMode="External"/><Relationship Id="rId1" Type="http://schemas.openxmlformats.org/officeDocument/2006/relationships/slideLayout" Target="../slideLayouts/slideLayout9.xml"/></Relationships>
</file>

<file path=ppt/slides/_rels/slide263.xml.rels><?xml version="1.0" encoding="UTF-8" standalone="yes"?>
<Relationships xmlns="http://schemas.openxmlformats.org/package/2006/relationships"><Relationship Id="rId2" Type="http://schemas.openxmlformats.org/officeDocument/2006/relationships/hyperlink" Target="https://aws.amazon.com/about-aws/whats-new/2021/05/aws-waf-adds-support-for-log-filtering/" TargetMode="External"/><Relationship Id="rId1" Type="http://schemas.openxmlformats.org/officeDocument/2006/relationships/slideLayout" Target="../slideLayouts/slideLayout9.xml"/></Relationships>
</file>

<file path=ppt/slides/_rels/slide264.xml.rels><?xml version="1.0" encoding="UTF-8" standalone="yes"?>
<Relationships xmlns="http://schemas.openxmlformats.org/package/2006/relationships"><Relationship Id="rId2" Type="http://schemas.openxmlformats.org/officeDocument/2006/relationships/hyperlink" Target="https://aws.amazon.com/about-aws/whats-new/2021/05/amazon-connect-adds-near-real-time-insights-into-voice-call-chat-and-task-activity/" TargetMode="External"/><Relationship Id="rId1" Type="http://schemas.openxmlformats.org/officeDocument/2006/relationships/slideLayout" Target="../slideLayouts/slideLayout9.xml"/></Relationships>
</file>

<file path=ppt/slides/_rels/slide265.xml.rels><?xml version="1.0" encoding="UTF-8" standalone="yes"?>
<Relationships xmlns="http://schemas.openxmlformats.org/package/2006/relationships"><Relationship Id="rId2" Type="http://schemas.openxmlformats.org/officeDocument/2006/relationships/hyperlink" Target="https://aws.amazon.com/about-aws/whats-new/2021/05/amazon-athena-adds-built-in-support-for-cross-account-aws-glue-data-catalogs/" TargetMode="External"/><Relationship Id="rId1" Type="http://schemas.openxmlformats.org/officeDocument/2006/relationships/slideLayout" Target="../slideLayouts/slideLayout9.xml"/></Relationships>
</file>

<file path=ppt/slides/_rels/slide266.xml.rels><?xml version="1.0" encoding="UTF-8" standalone="yes"?>
<Relationships xmlns="http://schemas.openxmlformats.org/package/2006/relationships"><Relationship Id="rId2" Type="http://schemas.openxmlformats.org/officeDocument/2006/relationships/hyperlink" Target="https://aws.amazon.com/about-aws/whats-new/2021/05/learn-how-to-develop-applications-with-amazon-dynamodb/" TargetMode="External"/><Relationship Id="rId1" Type="http://schemas.openxmlformats.org/officeDocument/2006/relationships/slideLayout" Target="../slideLayouts/slideLayout9.xml"/></Relationships>
</file>

<file path=ppt/slides/_rels/slide267.xml.rels><?xml version="1.0" encoding="UTF-8" standalone="yes"?>
<Relationships xmlns="http://schemas.openxmlformats.org/package/2006/relationships"><Relationship Id="rId2" Type="http://schemas.openxmlformats.org/officeDocument/2006/relationships/hyperlink" Target="https://aws.amazon.com/about-aws/whats-new/2021/05/all-aws-federal-information-processing-standard-endpoints-only-accept-minimum-transport-layer-security-1-2-connections/" TargetMode="External"/><Relationship Id="rId1" Type="http://schemas.openxmlformats.org/officeDocument/2006/relationships/slideLayout" Target="../slideLayouts/slideLayout9.xml"/></Relationships>
</file>

<file path=ppt/slides/_rels/slide268.xml.rels><?xml version="1.0" encoding="UTF-8" standalone="yes"?>
<Relationships xmlns="http://schemas.openxmlformats.org/package/2006/relationships"><Relationship Id="rId2" Type="http://schemas.openxmlformats.org/officeDocument/2006/relationships/hyperlink" Target="https://aws.amazon.com/about-aws/whats-new/2021/05/new-patch-releases-for-amazon-aurora-postgresql-are-now-available/" TargetMode="External"/><Relationship Id="rId1" Type="http://schemas.openxmlformats.org/officeDocument/2006/relationships/slideLayout" Target="../slideLayouts/slideLayout9.xml"/></Relationships>
</file>

<file path=ppt/slides/_rels/slide269.xml.rels><?xml version="1.0" encoding="UTF-8" standalone="yes"?>
<Relationships xmlns="http://schemas.openxmlformats.org/package/2006/relationships"><Relationship Id="rId2" Type="http://schemas.openxmlformats.org/officeDocument/2006/relationships/hyperlink" Target="https://aws.amazon.com/about-aws/whats-new/2021/05/aws-solutions-implementation-forecast-accuracy-machine-learning-solution-adds-contextual-featurizations-visualization-functionalities/" TargetMode="External"/><Relationship Id="rId1" Type="http://schemas.openxmlformats.org/officeDocument/2006/relationships/slideLayout" Target="../slideLayouts/slideLayout9.xml"/></Relationships>
</file>

<file path=ppt/slides/_rels/slide270.xml.rels><?xml version="1.0" encoding="UTF-8" standalone="yes"?>
<Relationships xmlns="http://schemas.openxmlformats.org/package/2006/relationships"><Relationship Id="rId2" Type="http://schemas.openxmlformats.org/officeDocument/2006/relationships/hyperlink" Target="https://aws.amazon.com/about-aws/whats-new/2021/05/introducing-distributed-load-testing-v1-3/" TargetMode="External"/><Relationship Id="rId1" Type="http://schemas.openxmlformats.org/officeDocument/2006/relationships/slideLayout" Target="../slideLayouts/slideLayout9.xml"/></Relationships>
</file>

<file path=ppt/slides/_rels/slide271.xml.rels><?xml version="1.0" encoding="UTF-8" standalone="yes"?>
<Relationships xmlns="http://schemas.openxmlformats.org/package/2006/relationships"><Relationship Id="rId2" Type="http://schemas.openxmlformats.org/officeDocument/2006/relationships/hyperlink" Target="https://aws.amazon.com/about-aws/whats-new/2021/05/four-ec2-high-memory-instances-with-up-to-12tb-memory-available-with-on-demand-and-savings-plan-purchase-options/" TargetMode="External"/><Relationship Id="rId1" Type="http://schemas.openxmlformats.org/officeDocument/2006/relationships/slideLayout" Target="../slideLayouts/slideLayout9.xml"/></Relationships>
</file>

<file path=ppt/slides/_rels/slide272.xml.rels><?xml version="1.0" encoding="UTF-8" standalone="yes"?>
<Relationships xmlns="http://schemas.openxmlformats.org/package/2006/relationships"><Relationship Id="rId2" Type="http://schemas.openxmlformats.org/officeDocument/2006/relationships/hyperlink" Target="https://aws.amazon.com/about-aws/whats-new/2021/05/amazon-cloudwatch-now-supports-composite-alarms-in-aws-govcloud-us-regions/" TargetMode="External"/><Relationship Id="rId1" Type="http://schemas.openxmlformats.org/officeDocument/2006/relationships/slideLayout" Target="../slideLayouts/slideLayout9.xml"/></Relationships>
</file>

<file path=ppt/slides/_rels/slide273.xml.rels><?xml version="1.0" encoding="UTF-8" standalone="yes"?>
<Relationships xmlns="http://schemas.openxmlformats.org/package/2006/relationships"><Relationship Id="rId2" Type="http://schemas.openxmlformats.org/officeDocument/2006/relationships/hyperlink" Target="https://aws.amazon.com/about-aws/whats-new/2021/05/aws-saas-boost-released-as-an-open-source-project/" TargetMode="External"/><Relationship Id="rId1" Type="http://schemas.openxmlformats.org/officeDocument/2006/relationships/slideLayout" Target="../slideLayouts/slideLayout9.xml"/></Relationships>
</file>

<file path=ppt/slides/_rels/slide274.xml.rels><?xml version="1.0" encoding="UTF-8" standalone="yes"?>
<Relationships xmlns="http://schemas.openxmlformats.org/package/2006/relationships"><Relationship Id="rId2" Type="http://schemas.openxmlformats.org/officeDocument/2006/relationships/hyperlink" Target="https://aws.amazon.com/about-aws/whats-new/2021/05/now-use-aws-systems-manager-change-calendar-to-prevent-desired-state-updates-during-critical-events/" TargetMode="External"/><Relationship Id="rId1" Type="http://schemas.openxmlformats.org/officeDocument/2006/relationships/slideLayout" Target="../slideLayouts/slideLayout9.xml"/></Relationships>
</file>

<file path=ppt/slides/_rels/slide275.xml.rels><?xml version="1.0" encoding="UTF-8" standalone="yes"?>
<Relationships xmlns="http://schemas.openxmlformats.org/package/2006/relationships"><Relationship Id="rId2" Type="http://schemas.openxmlformats.org/officeDocument/2006/relationships/hyperlink" Target="https://aws.amazon.com/about-aws/whats-new/2021/05/introducing-the-new-machine-downtime-monitor-on-aws-solution/" TargetMode="External"/><Relationship Id="rId1" Type="http://schemas.openxmlformats.org/officeDocument/2006/relationships/slideLayout" Target="../slideLayouts/slideLayout9.xml"/></Relationships>
</file>

<file path=ppt/slides/_rels/slide276.xml.rels><?xml version="1.0" encoding="UTF-8" standalone="yes"?>
<Relationships xmlns="http://schemas.openxmlformats.org/package/2006/relationships"><Relationship Id="rId2" Type="http://schemas.openxmlformats.org/officeDocument/2006/relationships/hyperlink" Target="https://aws.amazon.com/about-aws/whats-new/2021/05/amazon-ec2-p4d-instances-now-available-in-europe-frankfurt-and-asia-pacific-seoul-regions/" TargetMode="External"/><Relationship Id="rId1" Type="http://schemas.openxmlformats.org/officeDocument/2006/relationships/slideLayout" Target="../slideLayouts/slideLayout9.xml"/></Relationships>
</file>

<file path=ppt/slides/_rels/slide277.xml.rels><?xml version="1.0" encoding="UTF-8" standalone="yes"?>
<Relationships xmlns="http://schemas.openxmlformats.org/package/2006/relationships"><Relationship Id="rId2" Type="http://schemas.openxmlformats.org/officeDocument/2006/relationships/hyperlink" Target="https://aws.amazon.com/about-aws/whats-new/2021/05/amazon-eks-managed-node-groups-adds-support-kubernetes-node-taints/" TargetMode="External"/><Relationship Id="rId1" Type="http://schemas.openxmlformats.org/officeDocument/2006/relationships/slideLayout" Target="../slideLayouts/slideLayout9.xml"/></Relationships>
</file>

<file path=ppt/slides/_rels/slide278.xml.rels><?xml version="1.0" encoding="UTF-8" standalone="yes"?>
<Relationships xmlns="http://schemas.openxmlformats.org/package/2006/relationships"><Relationship Id="rId2" Type="http://schemas.openxmlformats.org/officeDocument/2006/relationships/hyperlink" Target="https://aws.amazon.com/about-aws/whats-new/2021/05/amazon-emr-on-eks-is-now-available-in-the-eu-paris-and-stockholm-region/" TargetMode="External"/><Relationship Id="rId1" Type="http://schemas.openxmlformats.org/officeDocument/2006/relationships/slideLayout" Target="../slideLayouts/slideLayout9.xml"/></Relationships>
</file>

<file path=ppt/slides/_rels/slide279.xml.rels><?xml version="1.0" encoding="UTF-8" standalone="yes"?>
<Relationships xmlns="http://schemas.openxmlformats.org/package/2006/relationships"><Relationship Id="rId2" Type="http://schemas.openxmlformats.org/officeDocument/2006/relationships/hyperlink" Target="https://aws.amazon.com/about-aws/whats-new/2021/05/amazon-transcribe-improves-live-subtitling-partial-results-stabilization/" TargetMode="External"/><Relationship Id="rId1" Type="http://schemas.openxmlformats.org/officeDocument/2006/relationships/slideLayout" Target="../slideLayouts/slideLayout9.xml"/></Relationships>
</file>

<file path=ppt/slides/_rels/slide280.xml.rels><?xml version="1.0" encoding="UTF-8" standalone="yes"?>
<Relationships xmlns="http://schemas.openxmlformats.org/package/2006/relationships"><Relationship Id="rId2" Type="http://schemas.openxmlformats.org/officeDocument/2006/relationships/hyperlink" Target="https://aws.amazon.com/about-aws/whats-new/2021/05/announcing-general-availability-aws-local-zones-boston-houston-miami/" TargetMode="External"/><Relationship Id="rId1" Type="http://schemas.openxmlformats.org/officeDocument/2006/relationships/slideLayout" Target="../slideLayouts/slideLayout9.xml"/></Relationships>
</file>

<file path=ppt/slides/_rels/slide281.xml.rels><?xml version="1.0" encoding="UTF-8" standalone="yes"?>
<Relationships xmlns="http://schemas.openxmlformats.org/package/2006/relationships"><Relationship Id="rId2" Type="http://schemas.openxmlformats.org/officeDocument/2006/relationships/hyperlink" Target="https://aws.amazon.com/about-aws/whats-new/2021/05/new-digital-training-and-aws-certification-guide-for-aws-end-user-computing/" TargetMode="External"/><Relationship Id="rId1" Type="http://schemas.openxmlformats.org/officeDocument/2006/relationships/slideLayout" Target="../slideLayouts/slideLayout9.xml"/></Relationships>
</file>

<file path=ppt/slides/_rels/slide282.xml.rels><?xml version="1.0" encoding="UTF-8" standalone="yes"?>
<Relationships xmlns="http://schemas.openxmlformats.org/package/2006/relationships"><Relationship Id="rId2" Type="http://schemas.openxmlformats.org/officeDocument/2006/relationships/hyperlink" Target="https://aws.amazon.com/about-aws/whats-new/2021/05/amazon-fraud-detector-supports-aws-cloudformation/" TargetMode="External"/><Relationship Id="rId1" Type="http://schemas.openxmlformats.org/officeDocument/2006/relationships/slideLayout" Target="../slideLayouts/slideLayout9.xml"/></Relationships>
</file>

<file path=ppt/slides/_rels/slide283.xml.rels><?xml version="1.0" encoding="UTF-8" standalone="yes"?>
<Relationships xmlns="http://schemas.openxmlformats.org/package/2006/relationships"><Relationship Id="rId2" Type="http://schemas.openxmlformats.org/officeDocument/2006/relationships/hyperlink" Target="https://aws.amazon.com/about-aws/whats-new/2021/05/aws-certificate-manager-private-certificate-authority-is-now-available-in-the-asia-pacific-osaka-region/" TargetMode="External"/><Relationship Id="rId1" Type="http://schemas.openxmlformats.org/officeDocument/2006/relationships/slideLayout" Target="../slideLayouts/slideLayout9.xml"/></Relationships>
</file>

<file path=ppt/slides/_rels/slide284.xml.rels><?xml version="1.0" encoding="UTF-8" standalone="yes"?>
<Relationships xmlns="http://schemas.openxmlformats.org/package/2006/relationships"><Relationship Id="rId2" Type="http://schemas.openxmlformats.org/officeDocument/2006/relationships/hyperlink" Target="https://aws.amazon.com/about-aws/whats-new/2021/05/announcing-amazon-rds-for-sql-server-on-aws-outposts/" TargetMode="External"/><Relationship Id="rId1" Type="http://schemas.openxmlformats.org/officeDocument/2006/relationships/slideLayout" Target="../slideLayouts/slideLayout9.xml"/></Relationships>
</file>

<file path=ppt/slides/_rels/slide285.xml.rels><?xml version="1.0" encoding="UTF-8" standalone="yes"?>
<Relationships xmlns="http://schemas.openxmlformats.org/package/2006/relationships"><Relationship Id="rId2" Type="http://schemas.openxmlformats.org/officeDocument/2006/relationships/hyperlink" Target="https://aws.amazon.com/about-aws/whats-new/2021/05/amazon-kinesis-data-analytics-supports-rollbackapplication-listapplicationversions-describeapplicationversion-apis/" TargetMode="External"/><Relationship Id="rId1" Type="http://schemas.openxmlformats.org/officeDocument/2006/relationships/slideLayout" Target="../slideLayouts/slideLayout9.xml"/></Relationships>
</file>

<file path=ppt/slides/_rels/slide286.xml.rels><?xml version="1.0" encoding="UTF-8" standalone="yes"?>
<Relationships xmlns="http://schemas.openxmlformats.org/package/2006/relationships"><Relationship Id="rId2" Type="http://schemas.openxmlformats.org/officeDocument/2006/relationships/hyperlink" Target="https://aws.amazon.com/about-aws/whats-new/2021/05/aws-lake-formation-now-supports-tag-based-access-control/" TargetMode="External"/><Relationship Id="rId1" Type="http://schemas.openxmlformats.org/officeDocument/2006/relationships/slideLayout" Target="../slideLayouts/slideLayout9.xml"/></Relationships>
</file>

<file path=ppt/slides/_rels/slide287.xml.rels><?xml version="1.0" encoding="UTF-8" standalone="yes"?>
<Relationships xmlns="http://schemas.openxmlformats.org/package/2006/relationships"><Relationship Id="rId2" Type="http://schemas.openxmlformats.org/officeDocument/2006/relationships/hyperlink" Target="https://aws.amazon.com/about-aws/whats-new/2021/05/support-kantar-watermarking-available-aws-elemental-mediaconvert/" TargetMode="External"/><Relationship Id="rId1" Type="http://schemas.openxmlformats.org/officeDocument/2006/relationships/slideLayout" Target="../slideLayouts/slideLayout9.xml"/></Relationships>
</file>

<file path=ppt/slides/_rels/slide288.xml.rels><?xml version="1.0" encoding="UTF-8" standalone="yes"?>
<Relationships xmlns="http://schemas.openxmlformats.org/package/2006/relationships"><Relationship Id="rId2" Type="http://schemas.openxmlformats.org/officeDocument/2006/relationships/hyperlink" Target="https://aws.amazon.com/about-aws/whats-new/2021/05/introducing-incident-manager-aws-systems-manager/" TargetMode="External"/><Relationship Id="rId1" Type="http://schemas.openxmlformats.org/officeDocument/2006/relationships/slideLayout" Target="../slideLayouts/slideLayout9.xml"/></Relationships>
</file>

<file path=ppt/slides/_rels/slide289.xml.rels><?xml version="1.0" encoding="UTF-8" standalone="yes"?>
<Relationships xmlns="http://schemas.openxmlformats.org/package/2006/relationships"><Relationship Id="rId2" Type="http://schemas.openxmlformats.org/officeDocument/2006/relationships/hyperlink" Target="https://aws.amazon.com/about-aws/whats-new/2021/05/amazon-sagemaker-supports-elastic-fabric-adapter-distributed-training/" TargetMode="External"/><Relationship Id="rId1" Type="http://schemas.openxmlformats.org/officeDocument/2006/relationships/slideLayout" Target="../slideLayouts/slideLayout9.xml"/></Relationships>
</file>

<file path=ppt/slides/_rels/slide290.xml.rels><?xml version="1.0" encoding="UTF-8" standalone="yes"?>
<Relationships xmlns="http://schemas.openxmlformats.org/package/2006/relationships"><Relationship Id="rId2" Type="http://schemas.openxmlformats.org/officeDocument/2006/relationships/hyperlink" Target="https://aws.amazon.com/about-aws/whats-new/2021/05/migration-evaluator-announces-faster-way-project-aws-cloud-costs-quick-insights/" TargetMode="External"/><Relationship Id="rId1" Type="http://schemas.openxmlformats.org/officeDocument/2006/relationships/slideLayout" Target="../slideLayouts/slideLayout9.xml"/></Relationships>
</file>

<file path=ppt/slides/_rels/slide291.xml.rels><?xml version="1.0" encoding="UTF-8" standalone="yes"?>
<Relationships xmlns="http://schemas.openxmlformats.org/package/2006/relationships"><Relationship Id="rId2" Type="http://schemas.openxmlformats.org/officeDocument/2006/relationships/hyperlink" Target="https://aws.amazon.com/about-aws/whats-new/2021/05/amazon-rds-for-sql-server-supports-managed-disaster-recovery-with-amazon-rds-cross-region-automated-backups/" TargetMode="External"/><Relationship Id="rId1" Type="http://schemas.openxmlformats.org/officeDocument/2006/relationships/slideLayout" Target="../slideLayouts/slideLayout9.xml"/></Relationships>
</file>

<file path=ppt/slides/_rels/slide292.xml.rels><?xml version="1.0" encoding="UTF-8" standalone="yes"?>
<Relationships xmlns="http://schemas.openxmlformats.org/package/2006/relationships"><Relationship Id="rId2" Type="http://schemas.openxmlformats.org/officeDocument/2006/relationships/hyperlink" Target="https://aws.amazon.com/about-aws/whats-new/2021/05/amazon-athena-drivers-now-support-azure-ad-and-pingfederate-authentication/" TargetMode="External"/><Relationship Id="rId1" Type="http://schemas.openxmlformats.org/officeDocument/2006/relationships/slideLayout" Target="../slideLayouts/slideLayout9.xml"/></Relationships>
</file>

<file path=ppt/slides/_rels/slide293.xml.rels><?xml version="1.0" encoding="UTF-8" standalone="yes"?>
<Relationships xmlns="http://schemas.openxmlformats.org/package/2006/relationships"><Relationship Id="rId2" Type="http://schemas.openxmlformats.org/officeDocument/2006/relationships/hyperlink" Target="https://aws.amazon.com/about-aws/whats-new/2021/05/use-kubernetes-pod-templates-emr-eks-simplify-running-spark-workloads-control-costs/" TargetMode="External"/><Relationship Id="rId1" Type="http://schemas.openxmlformats.org/officeDocument/2006/relationships/slideLayout" Target="../slideLayouts/slideLayout9.xml"/></Relationships>
</file>

<file path=ppt/slides/_rels/slide294.xml.rels><?xml version="1.0" encoding="UTF-8" standalone="yes"?>
<Relationships xmlns="http://schemas.openxmlformats.org/package/2006/relationships"><Relationship Id="rId2" Type="http://schemas.openxmlformats.org/officeDocument/2006/relationships/hyperlink" Target="https://aws.amazon.com/about-aws/whats-new/2021/05/amazon-mq-supports-activemq-version-5-15-15/" TargetMode="External"/><Relationship Id="rId1" Type="http://schemas.openxmlformats.org/officeDocument/2006/relationships/slideLayout" Target="../slideLayouts/slideLayout9.xml"/></Relationships>
</file>

<file path=ppt/slides/_rels/slide295.xml.rels><?xml version="1.0" encoding="UTF-8" standalone="yes"?>
<Relationships xmlns="http://schemas.openxmlformats.org/package/2006/relationships"><Relationship Id="rId2" Type="http://schemas.openxmlformats.org/officeDocument/2006/relationships/hyperlink" Target="https://aws.amazon.com/about-aws/whats-new/2021/05/prepare-data-machine-learning-faster-easier-amazon-sagemaker-data-wrangler-support-more-data-sources-distributed-jobs/" TargetMode="External"/><Relationship Id="rId1" Type="http://schemas.openxmlformats.org/officeDocument/2006/relationships/slideLayout" Target="../slideLayouts/slideLayout9.xml"/></Relationships>
</file>

<file path=ppt/slides/_rels/slide296.xml.rels><?xml version="1.0" encoding="UTF-8" standalone="yes"?>
<Relationships xmlns="http://schemas.openxmlformats.org/package/2006/relationships"><Relationship Id="rId2" Type="http://schemas.openxmlformats.org/officeDocument/2006/relationships/hyperlink" Target="https://aws.amazon.com/about-aws/whats-new/2021/05/aws-organizations-launches-new-console-experience/" TargetMode="External"/><Relationship Id="rId1" Type="http://schemas.openxmlformats.org/officeDocument/2006/relationships/slideLayout" Target="../slideLayouts/slideLayout9.xml"/></Relationships>
</file>

<file path=ppt/slides/_rels/slide297.xml.rels><?xml version="1.0" encoding="UTF-8" standalone="yes"?>
<Relationships xmlns="http://schemas.openxmlformats.org/package/2006/relationships"><Relationship Id="rId2" Type="http://schemas.openxmlformats.org/officeDocument/2006/relationships/hyperlink" Target="https://aws.amazon.com/about-aws/whats-new/2021/05/amazon-ebs-container-storage-interface-driver-is-now-generally-available/" TargetMode="External"/><Relationship Id="rId1" Type="http://schemas.openxmlformats.org/officeDocument/2006/relationships/slideLayout" Target="../slideLayouts/slideLayout9.xml"/></Relationships>
</file>

<file path=ppt/slides/_rels/slide298.xml.rels><?xml version="1.0" encoding="UTF-8" standalone="yes"?>
<Relationships xmlns="http://schemas.openxmlformats.org/package/2006/relationships"><Relationship Id="rId2" Type="http://schemas.openxmlformats.org/officeDocument/2006/relationships/hyperlink" Target="https://aws.amazon.com/about-aws/whats-new/2021/05/amazon-sagemaker-automatic-model-tuning-supports-up-to-10x-faster-tuning-and-exploring-up-to-20x-more-models/" TargetMode="External"/><Relationship Id="rId1" Type="http://schemas.openxmlformats.org/officeDocument/2006/relationships/slideLayout" Target="../slideLayouts/slideLayout9.xml"/></Relationships>
</file>

<file path=ppt/slides/_rels/slide299.xml.rels><?xml version="1.0" encoding="UTF-8" standalone="yes"?>
<Relationships xmlns="http://schemas.openxmlformats.org/package/2006/relationships"><Relationship Id="rId2" Type="http://schemas.openxmlformats.org/officeDocument/2006/relationships/hyperlink" Target="https://aws.amazon.com/about-aws/whats-new/2021/05/amazon-cloudwatch-synthetics-supports-cron-expression-for-scheduling/" TargetMode="External"/><Relationship Id="rId1" Type="http://schemas.openxmlformats.org/officeDocument/2006/relationships/slideLayout" Target="../slideLayouts/slideLayout9.xml"/></Relationships>
</file>

<file path=ppt/slides/_rels/slide300.xml.rels><?xml version="1.0" encoding="UTF-8" standalone="yes"?>
<Relationships xmlns="http://schemas.openxmlformats.org/package/2006/relationships"><Relationship Id="rId2" Type="http://schemas.openxmlformats.org/officeDocument/2006/relationships/hyperlink" Target="https://aws.amazon.com/about-aws/whats-new/2021/05/introducing-iam-access-control-amazon-msk/" TargetMode="External"/><Relationship Id="rId1" Type="http://schemas.openxmlformats.org/officeDocument/2006/relationships/slideLayout" Target="../slideLayouts/slideLayout9.xml"/></Relationships>
</file>

<file path=ppt/slides/_rels/slide301.xml.rels><?xml version="1.0" encoding="UTF-8" standalone="yes"?>
<Relationships xmlns="http://schemas.openxmlformats.org/package/2006/relationships"><Relationship Id="rId2" Type="http://schemas.openxmlformats.org/officeDocument/2006/relationships/hyperlink" Target="https://aws.amazon.com/about-aws/whats-new/2021/05/cloudfront-price-cut-india-apac/" TargetMode="External"/><Relationship Id="rId1" Type="http://schemas.openxmlformats.org/officeDocument/2006/relationships/slideLayout" Target="../slideLayouts/slideLayout9.xml"/></Relationships>
</file>

<file path=ppt/slides/_rels/slide302.xml.rels><?xml version="1.0" encoding="UTF-8" standalone="yes"?>
<Relationships xmlns="http://schemas.openxmlformats.org/package/2006/relationships"><Relationship Id="rId2" Type="http://schemas.openxmlformats.org/officeDocument/2006/relationships/hyperlink" Target="https://aws.amazon.com/about-aws/whats-new/2021/05/aws-transit-gateway-connect-is-now-available-in-additional-aws-regions/" TargetMode="External"/><Relationship Id="rId1" Type="http://schemas.openxmlformats.org/officeDocument/2006/relationships/slideLayout" Target="../slideLayouts/slideLayout9.xml"/></Relationships>
</file>

<file path=ppt/slides/_rels/slide303.xml.rels><?xml version="1.0" encoding="UTF-8" standalone="yes"?>
<Relationships xmlns="http://schemas.openxmlformats.org/package/2006/relationships"><Relationship Id="rId2" Type="http://schemas.openxmlformats.org/officeDocument/2006/relationships/hyperlink" Target="https://aws.amazon.com/about-aws/whats-new/2021/05/updated-aws-Iot-device-tester-for-aws-Iot-greengrass-is-now-available/" TargetMode="External"/><Relationship Id="rId1" Type="http://schemas.openxmlformats.org/officeDocument/2006/relationships/slideLayout" Target="../slideLayouts/slideLayout9.xml"/></Relationships>
</file>

<file path=ppt/slides/_rels/slide304.xml.rels><?xml version="1.0" encoding="UTF-8" standalone="yes"?>
<Relationships xmlns="http://schemas.openxmlformats.org/package/2006/relationships"><Relationship Id="rId2" Type="http://schemas.openxmlformats.org/officeDocument/2006/relationships/hyperlink" Target="https://aws.amazon.com/about-aws/whats-new/2021/05/aws-audit-manager-now-offers-three-new-frameworks/" TargetMode="External"/><Relationship Id="rId1" Type="http://schemas.openxmlformats.org/officeDocument/2006/relationships/slideLayout" Target="../slideLayouts/slideLayout9.xml"/></Relationships>
</file>

<file path=ppt/slides/_rels/slide305.xml.rels><?xml version="1.0" encoding="UTF-8" standalone="yes"?>
<Relationships xmlns="http://schemas.openxmlformats.org/package/2006/relationships"><Relationship Id="rId2" Type="http://schemas.openxmlformats.org/officeDocument/2006/relationships/hyperlink" Target="https://aws.amazon.com/about-aws/whats-new/2021/05/aws-data-provider-sap-version-4-0-now-available/" TargetMode="External"/><Relationship Id="rId1" Type="http://schemas.openxmlformats.org/officeDocument/2006/relationships/slideLayout" Target="../slideLayouts/slideLayout9.xml"/></Relationships>
</file>

<file path=ppt/slides/_rels/slide306.xml.rels><?xml version="1.0" encoding="UTF-8" standalone="yes"?>
<Relationships xmlns="http://schemas.openxmlformats.org/package/2006/relationships"><Relationship Id="rId2" Type="http://schemas.openxmlformats.org/officeDocument/2006/relationships/hyperlink" Target="https://aws.amazon.com/about-aws/whats-new/2021/05/aws-nitro-enclaves-available-aws-govcloud-us-regions/" TargetMode="External"/><Relationship Id="rId1" Type="http://schemas.openxmlformats.org/officeDocument/2006/relationships/slideLayout" Target="../slideLayouts/slideLayout9.xml"/></Relationships>
</file>

<file path=ppt/slides/_rels/slide307.xml.rels><?xml version="1.0" encoding="UTF-8" standalone="yes"?>
<Relationships xmlns="http://schemas.openxmlformats.org/package/2006/relationships"><Relationship Id="rId2" Type="http://schemas.openxmlformats.org/officeDocument/2006/relationships/hyperlink" Target="https://aws.amazon.com/about-aws/whats-new/2021/05/aws-ground-station-available-asia-pacific-seoul-region/" TargetMode="External"/><Relationship Id="rId1" Type="http://schemas.openxmlformats.org/officeDocument/2006/relationships/slideLayout" Target="../slideLayouts/slideLayout9.xml"/></Relationships>
</file>

<file path=ppt/slides/_rels/slide308.xml.rels><?xml version="1.0" encoding="UTF-8" standalone="yes"?>
<Relationships xmlns="http://schemas.openxmlformats.org/package/2006/relationships"><Relationship Id="rId2" Type="http://schemas.openxmlformats.org/officeDocument/2006/relationships/hyperlink" Target="https://aws.amazon.com/about-aws/whats-new/2021/05/new-aws-solutions-consulting-offer-devops-automation-springboard/" TargetMode="External"/><Relationship Id="rId1" Type="http://schemas.openxmlformats.org/officeDocument/2006/relationships/slideLayout" Target="../slideLayouts/slideLayout9.xml"/></Relationships>
</file>

<file path=ppt/slides/_rels/slide309.xml.rels><?xml version="1.0" encoding="UTF-8" standalone="yes"?>
<Relationships xmlns="http://schemas.openxmlformats.org/package/2006/relationships"><Relationship Id="rId2" Type="http://schemas.openxmlformats.org/officeDocument/2006/relationships/hyperlink" Target="https://aws.amazon.com/about-aws/whats-new/2021/05/amazon-pinpoint-announces-journey-pause-resume/" TargetMode="External"/><Relationship Id="rId1" Type="http://schemas.openxmlformats.org/officeDocument/2006/relationships/slideLayout" Target="../slideLayouts/slideLayout9.xml"/></Relationships>
</file>

<file path=ppt/slides/_rels/slide310.xml.rels><?xml version="1.0" encoding="UTF-8" standalone="yes"?>
<Relationships xmlns="http://schemas.openxmlformats.org/package/2006/relationships"><Relationship Id="rId2" Type="http://schemas.openxmlformats.org/officeDocument/2006/relationships/hyperlink" Target="https://aws.amazon.com/about-aws/whats-new/2021/05/announcing-availability-aws-outposts-colombia-macao-puerto-rico/" TargetMode="External"/><Relationship Id="rId1" Type="http://schemas.openxmlformats.org/officeDocument/2006/relationships/slideLayout" Target="../slideLayouts/slideLayout9.xml"/></Relationships>
</file>

<file path=ppt/slides/_rels/slide311.xml.rels><?xml version="1.0" encoding="UTF-8" standalone="yes"?>
<Relationships xmlns="http://schemas.openxmlformats.org/package/2006/relationships"><Relationship Id="rId2" Type="http://schemas.openxmlformats.org/officeDocument/2006/relationships/hyperlink" Target="https://aws.amazon.com/about-aws/whats-new/2021/05/host-resource-groups-for-ec2-dedicated-hosts-now-support-aws-cloudformation/" TargetMode="External"/><Relationship Id="rId1" Type="http://schemas.openxmlformats.org/officeDocument/2006/relationships/slideLayout" Target="../slideLayouts/slideLayout9.xml"/></Relationships>
</file>

<file path=ppt/slides/_rels/slide312.xml.rels><?xml version="1.0" encoding="UTF-8" standalone="yes"?>
<Relationships xmlns="http://schemas.openxmlformats.org/package/2006/relationships"><Relationship Id="rId2" Type="http://schemas.openxmlformats.org/officeDocument/2006/relationships/hyperlink" Target="https://aws.amazon.com/about-aws/whats-new/2021/05/amazon-vpc-announces-pricing-change-for-vpc-peering/" TargetMode="External"/><Relationship Id="rId1" Type="http://schemas.openxmlformats.org/officeDocument/2006/relationships/slideLayout" Target="../slideLayouts/slideLayout9.xml"/></Relationships>
</file>

<file path=ppt/slides/_rels/slide313.xml.rels><?xml version="1.0" encoding="UTF-8" standalone="yes"?>
<Relationships xmlns="http://schemas.openxmlformats.org/package/2006/relationships"><Relationship Id="rId2" Type="http://schemas.openxmlformats.org/officeDocument/2006/relationships/hyperlink" Target="https://aws.amazon.com/about-aws/whats-new/2021/05/amazon-codeguru-reviewer-now-supports-customer-managed-customer-master-keys/" TargetMode="External"/><Relationship Id="rId1" Type="http://schemas.openxmlformats.org/officeDocument/2006/relationships/slideLayout" Target="../slideLayouts/slideLayout9.xml"/></Relationships>
</file>

<file path=ppt/slides/_rels/slide314.xml.rels><?xml version="1.0" encoding="UTF-8" standalone="yes"?>
<Relationships xmlns="http://schemas.openxmlformats.org/package/2006/relationships"><Relationship Id="rId2" Type="http://schemas.openxmlformats.org/officeDocument/2006/relationships/hyperlink" Target="https://aws.amazon.com/about-aws/whats-new/2021/05/amazon-translate-increases-the-concurrent-api-limit-for-batch-translation-to-1000/" TargetMode="External"/><Relationship Id="rId1" Type="http://schemas.openxmlformats.org/officeDocument/2006/relationships/slideLayout" Target="../slideLayouts/slideLayout9.xml"/></Relationships>
</file>

<file path=ppt/slides/_rels/slide315.xml.rels><?xml version="1.0" encoding="UTF-8" standalone="yes"?>
<Relationships xmlns="http://schemas.openxmlformats.org/package/2006/relationships"><Relationship Id="rId2" Type="http://schemas.openxmlformats.org/officeDocument/2006/relationships/hyperlink" Target="https://aws.amazon.com/about-aws/whats-new/2021/05/amazon-elasticsearch-service-offers-aws-graviton2-m6g-c6g-r6g-r6gd-instances/" TargetMode="External"/><Relationship Id="rId1" Type="http://schemas.openxmlformats.org/officeDocument/2006/relationships/slideLayout" Target="../slideLayouts/slideLayout9.xml"/></Relationships>
</file>

<file path=ppt/slides/_rels/slide316.xml.rels><?xml version="1.0" encoding="UTF-8" standalone="yes"?>
<Relationships xmlns="http://schemas.openxmlformats.org/package/2006/relationships"><Relationship Id="rId2" Type="http://schemas.openxmlformats.org/officeDocument/2006/relationships/hyperlink" Target="https://aws.amazon.com/about-aws/whats-new/2021/05/porting-assistant-net-available-visual-studio-ide-extension/" TargetMode="External"/><Relationship Id="rId1" Type="http://schemas.openxmlformats.org/officeDocument/2006/relationships/slideLayout" Target="../slideLayouts/slideLayout9.xml"/></Relationships>
</file>

<file path=ppt/slides/_rels/slide317.xml.rels><?xml version="1.0" encoding="UTF-8" standalone="yes"?>
<Relationships xmlns="http://schemas.openxmlformats.org/package/2006/relationships"><Relationship Id="rId2" Type="http://schemas.openxmlformats.org/officeDocument/2006/relationships/hyperlink" Target="https://aws.amazon.com/about-aws/whats-new/2021/05/now-clone-runbooks-with-aws-systems-manager/" TargetMode="External"/><Relationship Id="rId1" Type="http://schemas.openxmlformats.org/officeDocument/2006/relationships/slideLayout" Target="../slideLayouts/slideLayout9.xml"/></Relationships>
</file>

<file path=ppt/slides/_rels/slide318.xml.rels><?xml version="1.0" encoding="UTF-8" standalone="yes"?>
<Relationships xmlns="http://schemas.openxmlformats.org/package/2006/relationships"><Relationship Id="rId2" Type="http://schemas.openxmlformats.org/officeDocument/2006/relationships/hyperlink" Target="https://aws.amazon.com/about-aws/whats-new/2021/05/amazon-personalize-now-supports-exporting-data/" TargetMode="External"/><Relationship Id="rId1" Type="http://schemas.openxmlformats.org/officeDocument/2006/relationships/slideLayout" Target="../slideLayouts/slideLayout9.xml"/></Relationships>
</file>

<file path=ppt/slides/_rels/slide319.xml.rels><?xml version="1.0" encoding="UTF-8" standalone="yes"?>
<Relationships xmlns="http://schemas.openxmlformats.org/package/2006/relationships"><Relationship Id="rId2" Type="http://schemas.openxmlformats.org/officeDocument/2006/relationships/hyperlink" Target="https://aws.amazon.com/about-aws/whats-new/2021/05/aws-identity-and-access-management-now-makes-it-easier-for-you-to-manage-permissions-for-aws-services-accessing-your-resources/" TargetMode="External"/><Relationship Id="rId1" Type="http://schemas.openxmlformats.org/officeDocument/2006/relationships/slideLayout" Target="../slideLayouts/slideLayout9.xml"/></Relationships>
</file>

<file path=ppt/slides/_rels/slide320.xml.rels><?xml version="1.0" encoding="UTF-8" standalone="yes"?>
<Relationships xmlns="http://schemas.openxmlformats.org/package/2006/relationships"><Relationship Id="rId2" Type="http://schemas.openxmlformats.org/officeDocument/2006/relationships/hyperlink" Target="https://aws.amazon.com/about-aws/whats-new/2021/05/amazon-quicksight-launches-threshold-alerts/" TargetMode="External"/><Relationship Id="rId1" Type="http://schemas.openxmlformats.org/officeDocument/2006/relationships/slideLayout" Target="../slideLayouts/slideLayout9.xml"/></Relationships>
</file>

<file path=ppt/slides/_rels/slide321.xml.rels><?xml version="1.0" encoding="UTF-8" standalone="yes"?>
<Relationships xmlns="http://schemas.openxmlformats.org/package/2006/relationships"><Relationship Id="rId2" Type="http://schemas.openxmlformats.org/officeDocument/2006/relationships/hyperlink" Target="https://aws.amazon.com/about-aws/whats-new/2021/05/amazon-devops-guru-now-generally-available-with-additional-capabilities/" TargetMode="External"/><Relationship Id="rId1" Type="http://schemas.openxmlformats.org/officeDocument/2006/relationships/slideLayout" Target="../slideLayouts/slideLayout9.xml"/></Relationships>
</file>

<file path=ppt/slides/_rels/slide322.xml.rels><?xml version="1.0" encoding="UTF-8" standalone="yes"?>
<Relationships xmlns="http://schemas.openxmlformats.org/package/2006/relationships"><Relationship Id="rId2" Type="http://schemas.openxmlformats.org/officeDocument/2006/relationships/hyperlink" Target="https://aws.amazon.com/about-aws/whats-new/2021/05/aws-opsworks-for-configuration-management-now-supports-puppet-enterprise-lts-version-2019-8-5/" TargetMode="External"/><Relationship Id="rId1" Type="http://schemas.openxmlformats.org/officeDocument/2006/relationships/slideLayout" Target="../slideLayouts/slideLayout9.xml"/></Relationships>
</file>

<file path=ppt/slides/_rels/slide323.xml.rels><?xml version="1.0" encoding="UTF-8" standalone="yes"?>
<Relationships xmlns="http://schemas.openxmlformats.org/package/2006/relationships"><Relationship Id="rId2" Type="http://schemas.openxmlformats.org/officeDocument/2006/relationships/hyperlink" Target="https://aws.amazon.com/about-aws/whats-new/2021/05/freertos-202104-00-includes-new-managed-ota-and-mqtt-capabilities-for-iot-applications/" TargetMode="External"/><Relationship Id="rId1" Type="http://schemas.openxmlformats.org/officeDocument/2006/relationships/slideLayout" Target="../slideLayouts/slideLayout9.xml"/></Relationships>
</file>

<file path=ppt/slides/_rels/slide324.xml.rels><?xml version="1.0" encoding="UTF-8" standalone="yes"?>
<Relationships xmlns="http://schemas.openxmlformats.org/package/2006/relationships"><Relationship Id="rId2" Type="http://schemas.openxmlformats.org/officeDocument/2006/relationships/hyperlink" Target="https://aws.amazon.com/about-aws/whats-new/2021/05/easily-clean-up-unused-resources-in-amazon-forecast-using-hierarchical-deletion/" TargetMode="External"/><Relationship Id="rId1" Type="http://schemas.openxmlformats.org/officeDocument/2006/relationships/slideLayout" Target="../slideLayouts/slideLayout9.xml"/></Relationships>
</file>

<file path=ppt/slides/_rels/slide325.xml.rels><?xml version="1.0" encoding="UTF-8" standalone="yes"?>
<Relationships xmlns="http://schemas.openxmlformats.org/package/2006/relationships"><Relationship Id="rId2" Type="http://schemas.openxmlformats.org/officeDocument/2006/relationships/hyperlink" Target="https://aws.amazon.com/about-aws/whats-new/2021/05/amazon-rds-for-oracle-and-amazon-rds-for-postgresql-now-support-amazon-rds-encrypted-cross-region-automated-backups/" TargetMode="External"/><Relationship Id="rId1" Type="http://schemas.openxmlformats.org/officeDocument/2006/relationships/slideLayout" Target="../slideLayouts/slideLayout9.xml"/></Relationships>
</file>

<file path=ppt/slides/_rels/slide326.xml.rels><?xml version="1.0" encoding="UTF-8" standalone="yes"?>
<Relationships xmlns="http://schemas.openxmlformats.org/package/2006/relationships"><Relationship Id="rId2" Type="http://schemas.openxmlformats.org/officeDocument/2006/relationships/hyperlink" Target="https://aws.amazon.com/about-aws/whats-new/2021/05/s3-object-lambda-available-aws-govcloud-us-regions/" TargetMode="External"/><Relationship Id="rId1" Type="http://schemas.openxmlformats.org/officeDocument/2006/relationships/slideLayout" Target="../slideLayouts/slideLayout9.xml"/></Relationships>
</file>

<file path=ppt/slides/_rels/slide327.xml.rels><?xml version="1.0" encoding="UTF-8" standalone="yes"?>
<Relationships xmlns="http://schemas.openxmlformats.org/package/2006/relationships"><Relationship Id="rId2" Type="http://schemas.openxmlformats.org/officeDocument/2006/relationships/hyperlink" Target="https://aws.amazon.com/about-aws/whats-new/2021/05/aws-transit-gateway-network-manager-now-available-aws-asia-pacific-osaka-region/" TargetMode="External"/><Relationship Id="rId1" Type="http://schemas.openxmlformats.org/officeDocument/2006/relationships/slideLayout" Target="../slideLayouts/slideLayout9.xml"/></Relationships>
</file>

<file path=ppt/slides/_rels/slide328.xml.rels><?xml version="1.0" encoding="UTF-8" standalone="yes"?>
<Relationships xmlns="http://schemas.openxmlformats.org/package/2006/relationships"><Relationship Id="rId2" Type="http://schemas.openxmlformats.org/officeDocument/2006/relationships/hyperlink" Target="https://aws.amazon.com/about-aws/whats-new/2021/05/amazon-connect-customer-profiles-launches-identity-resolution-in-preview-to-detect-and-merge-duplicate-customer-profiles/" TargetMode="External"/><Relationship Id="rId1" Type="http://schemas.openxmlformats.org/officeDocument/2006/relationships/slideLayout" Target="../slideLayouts/slideLayout9.xml"/></Relationships>
</file>

<file path=ppt/slides/_rels/slide329.xml.rels><?xml version="1.0" encoding="UTF-8" standalone="yes"?>
<Relationships xmlns="http://schemas.openxmlformats.org/package/2006/relationships"><Relationship Id="rId2" Type="http://schemas.openxmlformats.org/officeDocument/2006/relationships/hyperlink" Target="https://aws.amazon.com/about-aws/whats-new/2021/05/amazon-connect-cti-adapter-for-salesforce-adds-programmable-buttons-with-cti-actions/" TargetMode="External"/><Relationship Id="rId1" Type="http://schemas.openxmlformats.org/officeDocument/2006/relationships/slideLayout" Target="../slideLayouts/slideLayout9.xml"/></Relationships>
</file>

<file path=ppt/slides/_rels/slide330.xml.rels><?xml version="1.0" encoding="UTF-8" standalone="yes"?>
<Relationships xmlns="http://schemas.openxmlformats.org/package/2006/relationships"><Relationship Id="rId2" Type="http://schemas.openxmlformats.org/officeDocument/2006/relationships/hyperlink" Target="https://aws.amazon.com/about-aws/whats-new/2021/05/amazon-dynamodb-local-now-supports-the-aws-sdk-for-java-2-x/" TargetMode="External"/><Relationship Id="rId1" Type="http://schemas.openxmlformats.org/officeDocument/2006/relationships/slideLayout" Target="../slideLayouts/slideLayout9.xml"/></Relationships>
</file>

<file path=ppt/slides/_rels/slide331.xml.rels><?xml version="1.0" encoding="UTF-8" standalone="yes"?>
<Relationships xmlns="http://schemas.openxmlformats.org/package/2006/relationships"><Relationship Id="rId2" Type="http://schemas.openxmlformats.org/officeDocument/2006/relationships/hyperlink" Target="https://aws.amazon.com/about-aws/whats-new/2021/05/new-aws-solutions-consulting-offer-cloud-assessment-design/" TargetMode="External"/><Relationship Id="rId1" Type="http://schemas.openxmlformats.org/officeDocument/2006/relationships/slideLayout" Target="../slideLayouts/slideLayout9.xml"/></Relationships>
</file>

<file path=ppt/slides/_rels/slide332.xml.rels><?xml version="1.0" encoding="UTF-8" standalone="yes"?>
<Relationships xmlns="http://schemas.openxmlformats.org/package/2006/relationships"><Relationship Id="rId2" Type="http://schemas.openxmlformats.org/officeDocument/2006/relationships/hyperlink" Target="https://aws.amazon.com/about-aws/whats-new/2021/04/amazon-redshift-announces-preview-of-cross-account-data-sharing/" TargetMode="External"/><Relationship Id="rId1" Type="http://schemas.openxmlformats.org/officeDocument/2006/relationships/slideLayout" Target="../slideLayouts/slideLayout9.xml"/></Relationships>
</file>

<file path=ppt/slides/_rels/slide333.xml.rels><?xml version="1.0" encoding="UTF-8" standalone="yes"?>
<Relationships xmlns="http://schemas.openxmlformats.org/package/2006/relationships"><Relationship Id="rId2" Type="http://schemas.openxmlformats.org/officeDocument/2006/relationships/hyperlink" Target="https://aws.amazon.com/about-aws/whats-new/2021/04/new-aws-solutions-implementation-aws-blueprints/" TargetMode="External"/><Relationship Id="rId1" Type="http://schemas.openxmlformats.org/officeDocument/2006/relationships/slideLayout" Target="../slideLayouts/slideLayout9.xml"/></Relationships>
</file>

<file path=ppt/slides/_rels/slide334.xml.rels><?xml version="1.0" encoding="UTF-8" standalone="yes"?>
<Relationships xmlns="http://schemas.openxmlformats.org/package/2006/relationships"><Relationship Id="rId2" Type="http://schemas.openxmlformats.org/officeDocument/2006/relationships/hyperlink" Target="https://aws.amazon.com/about-aws/whats-new/2021/04/amazon-kinesis-data-analytics-for-apache-flink-introduces-custom-maintenance-windows-in-preview/" TargetMode="External"/><Relationship Id="rId1" Type="http://schemas.openxmlformats.org/officeDocument/2006/relationships/slideLayout" Target="../slideLayouts/slideLayout9.xml"/></Relationships>
</file>

<file path=ppt/slides/_rels/slide335.xml.rels><?xml version="1.0" encoding="UTF-8" standalone="yes"?>
<Relationships xmlns="http://schemas.openxmlformats.org/package/2006/relationships"><Relationship Id="rId2" Type="http://schemas.openxmlformats.org/officeDocument/2006/relationships/hyperlink" Target="https://aws.amazon.com/about-aws/whats-new/2021/04/amazon-monitron-service-is-now-available-in-the-europe-ireland-region/" TargetMode="External"/><Relationship Id="rId1" Type="http://schemas.openxmlformats.org/officeDocument/2006/relationships/slideLayout" Target="../slideLayouts/slideLayout9.xml"/></Relationships>
</file>

<file path=ppt/slides/_rels/slide336.xml.rels><?xml version="1.0" encoding="UTF-8" standalone="yes"?>
<Relationships xmlns="http://schemas.openxmlformats.org/package/2006/relationships"><Relationship Id="rId2" Type="http://schemas.openxmlformats.org/officeDocument/2006/relationships/hyperlink" Target="https://aws.amazon.com/about-aws/whats-new/2021/04/announcing-support-interpolation-aws-iot-sitewise/" TargetMode="External"/><Relationship Id="rId1" Type="http://schemas.openxmlformats.org/officeDocument/2006/relationships/slideLayout" Target="../slideLayouts/slideLayout9.xml"/></Relationships>
</file>

<file path=ppt/slides/_rels/slide337.xml.rels><?xml version="1.0" encoding="UTF-8" standalone="yes"?>
<Relationships xmlns="http://schemas.openxmlformats.org/package/2006/relationships"><Relationship Id="rId2" Type="http://schemas.openxmlformats.org/officeDocument/2006/relationships/hyperlink" Target="https://aws.amazon.com/about-aws/whats-new/2021/04/amazon-chime-sdk-now-supports-video-prioritization-policies/" TargetMode="External"/><Relationship Id="rId1" Type="http://schemas.openxmlformats.org/officeDocument/2006/relationships/slideLayout" Target="../slideLayouts/slideLayout9.xml"/></Relationships>
</file>

<file path=ppt/slides/_rels/slide338.xml.rels><?xml version="1.0" encoding="UTF-8" standalone="yes"?>
<Relationships xmlns="http://schemas.openxmlformats.org/package/2006/relationships"><Relationship Id="rId2" Type="http://schemas.openxmlformats.org/officeDocument/2006/relationships/hyperlink" Target="https://aws.amazon.com/about-aws/whats-new/2021/04/aws-robomaker-announces-support-for-robot-operating-system-ros-2-foxy-and-gazebo-11/" TargetMode="External"/><Relationship Id="rId1" Type="http://schemas.openxmlformats.org/officeDocument/2006/relationships/slideLayout" Target="../slideLayouts/slideLayout9.xml"/></Relationships>
</file>

<file path=ppt/slides/_rels/slide339.xml.rels><?xml version="1.0" encoding="UTF-8" standalone="yes"?>
<Relationships xmlns="http://schemas.openxmlformats.org/package/2006/relationships"><Relationship Id="rId2" Type="http://schemas.openxmlformats.org/officeDocument/2006/relationships/hyperlink" Target="https://aws.amazon.com/about-aws/whats-new/2021/04/new-developer-desktop-feature-in-aws-robomaker-integrated-development-environment-ide/" TargetMode="External"/><Relationship Id="rId1" Type="http://schemas.openxmlformats.org/officeDocument/2006/relationships/slideLayout" Target="../slideLayouts/slideLayout9.xml"/></Relationships>
</file>

<file path=ppt/slides/_rels/slide340.xml.rels><?xml version="1.0" encoding="UTF-8" standalone="yes"?>
<Relationships xmlns="http://schemas.openxmlformats.org/package/2006/relationships"><Relationship Id="rId2" Type="http://schemas.openxmlformats.org/officeDocument/2006/relationships/hyperlink" Target="https://aws.amazon.com/about-aws/whats-new/2021/04/aws-launch-wizard-supports-sap-deployments-suse-linux-enterprise-server-15-sp2-rhel-8-2/" TargetMode="External"/><Relationship Id="rId1" Type="http://schemas.openxmlformats.org/officeDocument/2006/relationships/slideLayout" Target="../slideLayouts/slideLayout9.xml"/></Relationships>
</file>

<file path=ppt/slides/_rels/slide341.xml.rels><?xml version="1.0" encoding="UTF-8" standalone="yes"?>
<Relationships xmlns="http://schemas.openxmlformats.org/package/2006/relationships"><Relationship Id="rId2" Type="http://schemas.openxmlformats.org/officeDocument/2006/relationships/hyperlink" Target="https://aws.amazon.com/about-aws/whats-new/2021/04/aws-systems-manager-fleet-manager-available-aws-govcloud-us-regions/" TargetMode="External"/><Relationship Id="rId1" Type="http://schemas.openxmlformats.org/officeDocument/2006/relationships/slideLayout" Target="../slideLayouts/slideLayout9.xml"/></Relationships>
</file>

<file path=ppt/slides/_rels/slide342.xml.rels><?xml version="1.0" encoding="UTF-8" standalone="yes"?>
<Relationships xmlns="http://schemas.openxmlformats.org/package/2006/relationships"><Relationship Id="rId2" Type="http://schemas.openxmlformats.org/officeDocument/2006/relationships/hyperlink" Target="https://aws.amazon.com/about-aws/whats-new/2021/04/amazon-connect-reduces-26-rates-latin-america/" TargetMode="External"/><Relationship Id="rId1" Type="http://schemas.openxmlformats.org/officeDocument/2006/relationships/slideLayout" Target="../slideLayouts/slideLayout9.xml"/></Relationships>
</file>

<file path=ppt/slides/_rels/slide343.xml.rels><?xml version="1.0" encoding="UTF-8" standalone="yes"?>
<Relationships xmlns="http://schemas.openxmlformats.org/package/2006/relationships"><Relationship Id="rId2" Type="http://schemas.openxmlformats.org/officeDocument/2006/relationships/hyperlink" Target="https://aws.amazon.com/about-aws/whats-new/2021/04/ec2-image-builder-supports-auto-scaling-launch-template/" TargetMode="External"/><Relationship Id="rId1" Type="http://schemas.openxmlformats.org/officeDocument/2006/relationships/slideLayout" Target="../slideLayouts/slideLayout9.xml"/></Relationships>
</file>

<file path=ppt/slides/_rels/slide344.xml.rels><?xml version="1.0" encoding="UTF-8" standalone="yes"?>
<Relationships xmlns="http://schemas.openxmlformats.org/package/2006/relationships"><Relationship Id="rId2" Type="http://schemas.openxmlformats.org/officeDocument/2006/relationships/hyperlink" Target="https://aws.amazon.com/about-aws/whats-new/2021/04/lambda-edge-support-node14/" TargetMode="External"/><Relationship Id="rId1" Type="http://schemas.openxmlformats.org/officeDocument/2006/relationships/slideLayout" Target="../slideLayouts/slideLayout9.xml"/></Relationships>
</file>

<file path=ppt/slides/_rels/slide345.xml.rels><?xml version="1.0" encoding="UTF-8" standalone="yes"?>
<Relationships xmlns="http://schemas.openxmlformats.org/package/2006/relationships"><Relationship Id="rId2" Type="http://schemas.openxmlformats.org/officeDocument/2006/relationships/hyperlink" Target="https://aws.amazon.com/about-aws/whats-new/2021/04/aws-sam-cli-supports-aws-sdk-applications-public-preview/" TargetMode="External"/><Relationship Id="rId1" Type="http://schemas.openxmlformats.org/officeDocument/2006/relationships/slideLayout" Target="../slideLayouts/slideLayout9.xml"/></Relationships>
</file>

<file path=ppt/slides/_rels/slide346.xml.rels><?xml version="1.0" encoding="UTF-8" standalone="yes"?>
<Relationships xmlns="http://schemas.openxmlformats.org/package/2006/relationships"><Relationship Id="rId2" Type="http://schemas.openxmlformats.org/officeDocument/2006/relationships/hyperlink" Target="https://aws.amazon.com/about-aws/whats-new/2021/04/aws-network-firewall-is-now-available-in-more-regions/" TargetMode="External"/><Relationship Id="rId1" Type="http://schemas.openxmlformats.org/officeDocument/2006/relationships/slideLayout" Target="../slideLayouts/slideLayout9.xml"/></Relationships>
</file>

<file path=ppt/slides/_rels/slide347.xml.rels><?xml version="1.0" encoding="UTF-8" standalone="yes"?>
<Relationships xmlns="http://schemas.openxmlformats.org/package/2006/relationships"><Relationship Id="rId2" Type="http://schemas.openxmlformats.org/officeDocument/2006/relationships/hyperlink" Target="https://aws.amazon.com/about-aws/whats-new/2021/04/amazon-rds-for-sql-server-now-supports-high-availability-in-aws-asia-pacific-osaka-region/" TargetMode="External"/><Relationship Id="rId1" Type="http://schemas.openxmlformats.org/officeDocument/2006/relationships/slideLayout" Target="../slideLayouts/slideLayout9.xml"/></Relationships>
</file>

<file path=ppt/slides/_rels/slide348.xml.rels><?xml version="1.0" encoding="UTF-8" standalone="yes"?>
<Relationships xmlns="http://schemas.openxmlformats.org/package/2006/relationships"><Relationship Id="rId2" Type="http://schemas.openxmlformats.org/officeDocument/2006/relationships/hyperlink" Target="https://aws.amazon.com/about-aws/whats-new/2021/04/amazon-redshift-announces-support-for-hierarchical-data-queries-with-recursive-cte/" TargetMode="External"/><Relationship Id="rId1" Type="http://schemas.openxmlformats.org/officeDocument/2006/relationships/slideLayout" Target="../slideLayouts/slideLayout9.xml"/></Relationships>
</file>

<file path=ppt/slides/_rels/slide349.xml.rels><?xml version="1.0" encoding="UTF-8" standalone="yes"?>
<Relationships xmlns="http://schemas.openxmlformats.org/package/2006/relationships"><Relationship Id="rId2" Type="http://schemas.openxmlformats.org/officeDocument/2006/relationships/hyperlink" Target="https://aws.amazon.com/about-aws/whats-new/2021/04/amazon-cloudwatch-monitoring-framework-for-apache-is-generally-available/" TargetMode="External"/><Relationship Id="rId1" Type="http://schemas.openxmlformats.org/officeDocument/2006/relationships/slideLayout" Target="../slideLayouts/slideLayout9.xml"/></Relationships>
</file>

<file path=ppt/slides/_rels/slide350.xml.rels><?xml version="1.0" encoding="UTF-8" standalone="yes"?>
<Relationships xmlns="http://schemas.openxmlformats.org/package/2006/relationships"><Relationship Id="rId2" Type="http://schemas.openxmlformats.org/officeDocument/2006/relationships/hyperlink" Target="https://aws.amazon.com/about-aws/whats-new/2021/04/new-digital-course-amazon-elastic-block-store-primer/" TargetMode="External"/><Relationship Id="rId1" Type="http://schemas.openxmlformats.org/officeDocument/2006/relationships/slideLayout" Target="../slideLayouts/slideLayout9.xml"/></Relationships>
</file>

<file path=ppt/slides/_rels/slide351.xml.rels><?xml version="1.0" encoding="UTF-8" standalone="yes"?>
<Relationships xmlns="http://schemas.openxmlformats.org/package/2006/relationships"><Relationship Id="rId2" Type="http://schemas.openxmlformats.org/officeDocument/2006/relationships/hyperlink" Target="https://aws.amazon.com/about-aws/whats-new/2021/04/aws-glue-databrew-announces-native-console-integration-with-amazon-appflow-to-connect-to-data-from-saas-applications-and-aws-services-in-preview/" TargetMode="External"/><Relationship Id="rId1" Type="http://schemas.openxmlformats.org/officeDocument/2006/relationships/slideLayout" Target="../slideLayouts/slideLayout9.xml"/></Relationships>
</file>

<file path=ppt/slides/_rels/slide352.xml.rels><?xml version="1.0" encoding="UTF-8" standalone="yes"?>
<Relationships xmlns="http://schemas.openxmlformats.org/package/2006/relationships"><Relationship Id="rId2" Type="http://schemas.openxmlformats.org/officeDocument/2006/relationships/hyperlink" Target="https://aws.amazon.com/about-aws/whats-new/2021/04/amazon-sns-now-supports-setting-attributes-required-for-india-dlt-requirements-when-sending-sms-using-local-routes-in-india/" TargetMode="External"/><Relationship Id="rId1" Type="http://schemas.openxmlformats.org/officeDocument/2006/relationships/slideLayout" Target="../slideLayouts/slideLayout9.xml"/></Relationships>
</file>

<file path=ppt/slides/_rels/slide353.xml.rels><?xml version="1.0" encoding="UTF-8" standalone="yes"?>
<Relationships xmlns="http://schemas.openxmlformats.org/package/2006/relationships"><Relationship Id="rId2" Type="http://schemas.openxmlformats.org/officeDocument/2006/relationships/hyperlink" Target="https://aws.amazon.com/about-aws/whats-new/2021/04/aws-managed-services-ams-offers-new-feature-enabling-customers-to-purchase-ams-separate-from-infrastructure-services-through-their-preferred-solution-provider/" TargetMode="External"/><Relationship Id="rId1" Type="http://schemas.openxmlformats.org/officeDocument/2006/relationships/slideLayout" Target="../slideLayouts/slideLayout9.xml"/></Relationships>
</file>

<file path=ppt/slides/_rels/slide354.xml.rels><?xml version="1.0" encoding="UTF-8" standalone="yes"?>
<Relationships xmlns="http://schemas.openxmlformats.org/package/2006/relationships"><Relationship Id="rId2" Type="http://schemas.openxmlformats.org/officeDocument/2006/relationships/hyperlink" Target="https://aws.amazon.com/about-aws/whats-new/2021/04/aws-snow-family-enables-order-track-manage-long-term-pricing-snow-jobs/" TargetMode="External"/><Relationship Id="rId1" Type="http://schemas.openxmlformats.org/officeDocument/2006/relationships/slideLayout" Target="../slideLayouts/slideLayout9.xml"/></Relationships>
</file>

<file path=ppt/slides/_rels/slide355.xml.rels><?xml version="1.0" encoding="UTF-8" standalone="yes"?>
<Relationships xmlns="http://schemas.openxmlformats.org/package/2006/relationships"><Relationship Id="rId2" Type="http://schemas.openxmlformats.org/officeDocument/2006/relationships/hyperlink" Target="https://aws.amazon.com/about-aws/whats-new/2021/04/aws-instance-scheduler-adds-support-for-multiple-stack-deployments-and-govcloud-us-regions/" TargetMode="External"/><Relationship Id="rId1" Type="http://schemas.openxmlformats.org/officeDocument/2006/relationships/slideLayout" Target="../slideLayouts/slideLayout9.xml"/></Relationships>
</file>

<file path=ppt/slides/_rels/slide356.xml.rels><?xml version="1.0" encoding="UTF-8" standalone="yes"?>
<Relationships xmlns="http://schemas.openxmlformats.org/package/2006/relationships"><Relationship Id="rId2" Type="http://schemas.openxmlformats.org/officeDocument/2006/relationships/hyperlink" Target="https://aws.amazon.com/about-aws/whats-new/2021/04/amazon-connect-reduces-telephony-rates-cyprus-belgium-portugal/" TargetMode="External"/><Relationship Id="rId1" Type="http://schemas.openxmlformats.org/officeDocument/2006/relationships/slideLayout" Target="../slideLayouts/slideLayout9.xml"/></Relationships>
</file>

<file path=ppt/slides/_rels/slide357.xml.rels><?xml version="1.0" encoding="UTF-8" standalone="yes"?>
<Relationships xmlns="http://schemas.openxmlformats.org/package/2006/relationships"><Relationship Id="rId2" Type="http://schemas.openxmlformats.org/officeDocument/2006/relationships/hyperlink" Target="https://aws.amazon.com/about-aws/whats-new/2021/04/amazon-msk-adds-support-for-apache-kafka-version-2-6-2/" TargetMode="External"/><Relationship Id="rId1" Type="http://schemas.openxmlformats.org/officeDocument/2006/relationships/slideLayout" Target="../slideLayouts/slideLayout9.xml"/></Relationships>
</file>

<file path=ppt/slides/_rels/slide358.xml.rels><?xml version="1.0" encoding="UTF-8" standalone="yes"?>
<Relationships xmlns="http://schemas.openxmlformats.org/package/2006/relationships"><Relationship Id="rId2" Type="http://schemas.openxmlformats.org/officeDocument/2006/relationships/hyperlink" Target="https://aws.amazon.com/about-aws/whats-new/2021/04/announcing-general-availability-of-amazon-redshift-native-json-and-semi-structured-data-support/" TargetMode="External"/><Relationship Id="rId1" Type="http://schemas.openxmlformats.org/officeDocument/2006/relationships/slideLayout" Target="../slideLayouts/slideLayout9.xml"/></Relationships>
</file>

<file path=ppt/slides/_rels/slide359.xml.rels><?xml version="1.0" encoding="UTF-8" standalone="yes"?>
<Relationships xmlns="http://schemas.openxmlformats.org/package/2006/relationships"><Relationship Id="rId2" Type="http://schemas.openxmlformats.org/officeDocument/2006/relationships/hyperlink" Target="https://aws.amazon.com/about-aws/whats-new/2021/04/new-digital-course-aws-network-connectivity-options/" TargetMode="External"/><Relationship Id="rId1" Type="http://schemas.openxmlformats.org/officeDocument/2006/relationships/slideLayout" Target="../slideLayouts/slideLayout9.xml"/></Relationships>
</file>

<file path=ppt/slides/_rels/slide360.xml.rels><?xml version="1.0" encoding="UTF-8" standalone="yes"?>
<Relationships xmlns="http://schemas.openxmlformats.org/package/2006/relationships"><Relationship Id="rId2" Type="http://schemas.openxmlformats.org/officeDocument/2006/relationships/hyperlink" Target="https://aws.amazon.com/about-aws/whats-new/2021/04/database-activity-streams-now-available-for-amazon-aurora-in-asia-pacific-osaka-region/" TargetMode="External"/><Relationship Id="rId1" Type="http://schemas.openxmlformats.org/officeDocument/2006/relationships/slideLayout" Target="../slideLayouts/slideLayout9.xml"/></Relationships>
</file>

<file path=ppt/slides/_rels/slide361.xml.rels><?xml version="1.0" encoding="UTF-8" standalone="yes"?>
<Relationships xmlns="http://schemas.openxmlformats.org/package/2006/relationships"><Relationship Id="rId2" Type="http://schemas.openxmlformats.org/officeDocument/2006/relationships/hyperlink" Target="https://aws.amazon.com/about-aws/whats-new/2021/04/amazon-msk-adds-support-apache-kafka-version-2-8-0/" TargetMode="External"/><Relationship Id="rId1" Type="http://schemas.openxmlformats.org/officeDocument/2006/relationships/slideLayout" Target="../slideLayouts/slideLayout9.xml"/></Relationships>
</file>

<file path=ppt/slides/_rels/slide362.xml.rels><?xml version="1.0" encoding="UTF-8" standalone="yes"?>
<Relationships xmlns="http://schemas.openxmlformats.org/package/2006/relationships"><Relationship Id="rId2" Type="http://schemas.openxmlformats.org/officeDocument/2006/relationships/hyperlink" Target="https://aws.amazon.com/about-aws/whats-new/2021/04/aws-snowcone-is-now-available-in-the-aws-canada-central-region/" TargetMode="External"/><Relationship Id="rId1" Type="http://schemas.openxmlformats.org/officeDocument/2006/relationships/slideLayout" Target="../slideLayouts/slideLayout9.xml"/></Relationships>
</file>

<file path=ppt/slides/_rels/slide363.xml.rels><?xml version="1.0" encoding="UTF-8" standalone="yes"?>
<Relationships xmlns="http://schemas.openxmlformats.org/package/2006/relationships"><Relationship Id="rId2" Type="http://schemas.openxmlformats.org/officeDocument/2006/relationships/hyperlink" Target="https://aws.amazon.com/about-aws/whats-new/2021/04/aws-glue-now-supports-client-authentication-for-apache-kafka-streams/" TargetMode="External"/><Relationship Id="rId1" Type="http://schemas.openxmlformats.org/officeDocument/2006/relationships/slideLayout" Target="../slideLayouts/slideLayout9.xml"/></Relationships>
</file>

<file path=ppt/slides/_rels/slide364.xml.rels><?xml version="1.0" encoding="UTF-8" standalone="yes"?>
<Relationships xmlns="http://schemas.openxmlformats.org/package/2006/relationships"><Relationship Id="rId2" Type="http://schemas.openxmlformats.org/officeDocument/2006/relationships/hyperlink" Target="https://aws.amazon.com/about-aws/whats-new/2021/04/aws-audit-manager-offers-new-standard-framework-gxp-eu-annex-11/" TargetMode="External"/><Relationship Id="rId1" Type="http://schemas.openxmlformats.org/officeDocument/2006/relationships/slideLayout" Target="../slideLayouts/slideLayout9.xml"/></Relationships>
</file>

<file path=ppt/slides/_rels/slide365.xml.rels><?xml version="1.0" encoding="UTF-8" standalone="yes"?>
<Relationships xmlns="http://schemas.openxmlformats.org/package/2006/relationships"><Relationship Id="rId2" Type="http://schemas.openxmlformats.org/officeDocument/2006/relationships/hyperlink" Target="https://aws.amazon.com/about-aws/whats-new/2021/04/aws-announces-general-availability-amazon-nimble-studio/" TargetMode="External"/><Relationship Id="rId1" Type="http://schemas.openxmlformats.org/officeDocument/2006/relationships/slideLayout" Target="../slideLayouts/slideLayout9.xml"/></Relationships>
</file>

<file path=ppt/slides/_rels/slide366.xml.rels><?xml version="1.0" encoding="UTF-8" standalone="yes"?>
<Relationships xmlns="http://schemas.openxmlformats.org/package/2006/relationships"><Relationship Id="rId2" Type="http://schemas.openxmlformats.org/officeDocument/2006/relationships/hyperlink" Target="https://aws.amazon.com/about-aws/whats-new/2021/04/introducing-aws-for-media-and-entertainment/" TargetMode="External"/><Relationship Id="rId1" Type="http://schemas.openxmlformats.org/officeDocument/2006/relationships/slideLayout" Target="../slideLayouts/slideLayout9.xml"/></Relationships>
</file>

<file path=ppt/slides/_rels/slide367.xml.rels><?xml version="1.0" encoding="UTF-8" standalone="yes"?>
<Relationships xmlns="http://schemas.openxmlformats.org/package/2006/relationships"><Relationship Id="rId2" Type="http://schemas.openxmlformats.org/officeDocument/2006/relationships/hyperlink" Target="https://aws.amazon.com/about-aws/whats-new/2021/04/amazon-fsx-file-gateway-delivers-faster-more-efficient-on-premises-access/" TargetMode="External"/><Relationship Id="rId1" Type="http://schemas.openxmlformats.org/officeDocument/2006/relationships/slideLayout" Target="../slideLayouts/slideLayout9.xml"/></Relationships>
</file>

<file path=ppt/slides/_rels/slide368.xml.rels><?xml version="1.0" encoding="UTF-8" standalone="yes"?>
<Relationships xmlns="http://schemas.openxmlformats.org/package/2006/relationships"><Relationship Id="rId2" Type="http://schemas.openxmlformats.org/officeDocument/2006/relationships/hyperlink" Target="https://aws.amazon.com/about-aws/whats-new/2021/04/announcing-open-source-robotics-projects-aws-deepracer/" TargetMode="External"/><Relationship Id="rId1" Type="http://schemas.openxmlformats.org/officeDocument/2006/relationships/slideLayout" Target="../slideLayouts/slideLayout9.xml"/></Relationships>
</file>

<file path=ppt/slides/_rels/slide369.xml.rels><?xml version="1.0" encoding="UTF-8" standalone="yes"?>
<Relationships xmlns="http://schemas.openxmlformats.org/package/2006/relationships"><Relationship Id="rId2" Type="http://schemas.openxmlformats.org/officeDocument/2006/relationships/hyperlink" Target="https://aws.amazon.com/about-aws/whats-new/2021/04/aws-proton-adds-an-api-to-cancel-deployments/" TargetMode="External"/><Relationship Id="rId1" Type="http://schemas.openxmlformats.org/officeDocument/2006/relationships/slideLayout" Target="../slideLayouts/slideLayout9.xml"/></Relationships>
</file>

<file path=ppt/slides/_rels/slide370.xml.rels><?xml version="1.0" encoding="UTF-8" standalone="yes"?>
<Relationships xmlns="http://schemas.openxmlformats.org/package/2006/relationships"><Relationship Id="rId2" Type="http://schemas.openxmlformats.org/officeDocument/2006/relationships/hyperlink" Target="https://aws.amazon.com/about-aws/whats-new/2021/04/aws-nitro-enclaves-supports-windows-operating-system/" TargetMode="External"/><Relationship Id="rId1" Type="http://schemas.openxmlformats.org/officeDocument/2006/relationships/slideLayout" Target="../slideLayouts/slideLayout9.xml"/></Relationships>
</file>

<file path=ppt/slides/_rels/slide371.xml.rels><?xml version="1.0" encoding="UTF-8" standalone="yes"?>
<Relationships xmlns="http://schemas.openxmlformats.org/package/2006/relationships"><Relationship Id="rId2" Type="http://schemas.openxmlformats.org/officeDocument/2006/relationships/hyperlink" Target="https://aws.amazon.com/about-aws/whats-new/2021/04/aws-proton-introduces-customer-managed-environments/" TargetMode="External"/><Relationship Id="rId1" Type="http://schemas.openxmlformats.org/officeDocument/2006/relationships/slideLayout" Target="../slideLayouts/slideLayout9.xml"/></Relationships>
</file>

<file path=ppt/slides/_rels/slide372.xml.rels><?xml version="1.0" encoding="UTF-8" standalone="yes"?>
<Relationships xmlns="http://schemas.openxmlformats.org/package/2006/relationships"><Relationship Id="rId2" Type="http://schemas.openxmlformats.org/officeDocument/2006/relationships/hyperlink" Target="https://aws.amazon.com/about-aws/whats-new/2021/04/achieve-faster-database-failover-with-amazon-web-services-jdbc-driver-for-postgresql-now-in-preview/" TargetMode="External"/><Relationship Id="rId1" Type="http://schemas.openxmlformats.org/officeDocument/2006/relationships/slideLayout" Target="../slideLayouts/slideLayout9.xml"/></Relationships>
</file>

<file path=ppt/slides/_rels/slide373.xml.rels><?xml version="1.0" encoding="UTF-8" standalone="yes"?>
<Relationships xmlns="http://schemas.openxmlformats.org/package/2006/relationships"><Relationship Id="rId2" Type="http://schemas.openxmlformats.org/officeDocument/2006/relationships/hyperlink" Target="https://aws.amazon.com/about-aws/whats-new/2021/04/aws-systems-manager-opscenter-explorer-integrate-aws-security-hub-diagnosis-remediation-security-findings/" TargetMode="External"/><Relationship Id="rId1" Type="http://schemas.openxmlformats.org/officeDocument/2006/relationships/slideLayout" Target="../slideLayouts/slideLayout9.xml"/></Relationships>
</file>

<file path=ppt/slides/_rels/slide374.xml.rels><?xml version="1.0" encoding="UTF-8" standalone="yes"?>
<Relationships xmlns="http://schemas.openxmlformats.org/package/2006/relationships"><Relationship Id="rId2" Type="http://schemas.openxmlformats.org/officeDocument/2006/relationships/hyperlink" Target="https://aws.amazon.com/about-aws/whats-new/2021/04/announcing-availability-red-hat-enterprise-linux-high-availability-amazon-ec2/" TargetMode="External"/><Relationship Id="rId1" Type="http://schemas.openxmlformats.org/officeDocument/2006/relationships/slideLayout" Target="../slideLayouts/slideLayout9.xml"/></Relationships>
</file>

<file path=ppt/slides/_rels/slide375.xml.rels><?xml version="1.0" encoding="UTF-8" standalone="yes"?>
<Relationships xmlns="http://schemas.openxmlformats.org/package/2006/relationships"><Relationship Id="rId2" Type="http://schemas.openxmlformats.org/officeDocument/2006/relationships/hyperlink" Target="https://aws.amazon.com/about-aws/whats-new/2021/04/introducing-performance-dashboard-aws/" TargetMode="External"/><Relationship Id="rId1" Type="http://schemas.openxmlformats.org/officeDocument/2006/relationships/slideLayout" Target="../slideLayouts/slideLayout9.xml"/></Relationships>
</file>

<file path=ppt/slides/_rels/slide376.xml.rels><?xml version="1.0" encoding="UTF-8" standalone="yes"?>
<Relationships xmlns="http://schemas.openxmlformats.org/package/2006/relationships"><Relationship Id="rId2" Type="http://schemas.openxmlformats.org/officeDocument/2006/relationships/hyperlink" Target="https://aws.amazon.com/about-aws/whats-new/2021/04/alexa-for-business-now-available-on-zoom-rooms-appliances/" TargetMode="External"/><Relationship Id="rId1" Type="http://schemas.openxmlformats.org/officeDocument/2006/relationships/slideLayout" Target="../slideLayouts/slideLayout9.xml"/></Relationships>
</file>

<file path=ppt/slides/_rels/slide377.xml.rels><?xml version="1.0" encoding="UTF-8" standalone="yes"?>
<Relationships xmlns="http://schemas.openxmlformats.org/package/2006/relationships"><Relationship Id="rId2" Type="http://schemas.openxmlformats.org/officeDocument/2006/relationships/hyperlink" Target="https://aws.amazon.com/about-aws/whats-new/2021/04/announcing-moving-graphs-for-cloudwatch-dashboards/" TargetMode="External"/><Relationship Id="rId1" Type="http://schemas.openxmlformats.org/officeDocument/2006/relationships/slideLayout" Target="../slideLayouts/slideLayout9.xml"/></Relationships>
</file>

<file path=ppt/slides/_rels/slide378.xml.rels><?xml version="1.0" encoding="UTF-8" standalone="yes"?>
<Relationships xmlns="http://schemas.openxmlformats.org/package/2006/relationships"><Relationship Id="rId2" Type="http://schemas.openxmlformats.org/officeDocument/2006/relationships/hyperlink" Target="https://aws.amazon.com/about-aws/whats-new/2021/04/aws-proton-allows-adding-and-removing-instances-from-an-existing-service/" TargetMode="External"/><Relationship Id="rId1" Type="http://schemas.openxmlformats.org/officeDocument/2006/relationships/slideLayout" Target="../slideLayouts/slideLayout9.xml"/></Relationships>
</file>

<file path=ppt/slides/_rels/slide379.xml.rels><?xml version="1.0" encoding="UTF-8" standalone="yes"?>
<Relationships xmlns="http://schemas.openxmlformats.org/package/2006/relationships"><Relationship Id="rId2" Type="http://schemas.openxmlformats.org/officeDocument/2006/relationships/hyperlink" Target="https://aws.amazon.com/about-aws/whats-new/2021/04/amazon-kendra-launches-dynamic-relevance-tuning/" TargetMode="External"/><Relationship Id="rId1" Type="http://schemas.openxmlformats.org/officeDocument/2006/relationships/slideLayout" Target="../slideLayouts/slideLayout9.xml"/></Relationships>
</file>

<file path=ppt/slides/_rels/slide380.xml.rels><?xml version="1.0" encoding="UTF-8" standalone="yes"?>
<Relationships xmlns="http://schemas.openxmlformats.org/package/2006/relationships"><Relationship Id="rId2" Type="http://schemas.openxmlformats.org/officeDocument/2006/relationships/hyperlink" Target="https://aws.amazon.com/about-aws/whats-new/2021/04/amazon-rds-now-supports-postgresql-13-aws-govcloud-regions/" TargetMode="External"/><Relationship Id="rId1" Type="http://schemas.openxmlformats.org/officeDocument/2006/relationships/slideLayout" Target="../slideLayouts/slideLayout9.xml"/></Relationships>
</file>

<file path=ppt/slides/_rels/slide381.xml.rels><?xml version="1.0" encoding="UTF-8" standalone="yes"?>
<Relationships xmlns="http://schemas.openxmlformats.org/package/2006/relationships"><Relationship Id="rId2" Type="http://schemas.openxmlformats.org/officeDocument/2006/relationships/hyperlink" Target="https://aws.amazon.com/about-aws/whats-new/2021/04/amazon-sns-grows-the-set-of-message-filtering-operators/" TargetMode="External"/><Relationship Id="rId1" Type="http://schemas.openxmlformats.org/officeDocument/2006/relationships/slideLayout" Target="../slideLayouts/slideLayout9.xml"/></Relationships>
</file>

<file path=ppt/slides/_rels/slide382.xml.rels><?xml version="1.0" encoding="UTF-8" standalone="yes"?>
<Relationships xmlns="http://schemas.openxmlformats.org/package/2006/relationships"><Relationship Id="rId2" Type="http://schemas.openxmlformats.org/officeDocument/2006/relationships/hyperlink" Target="https://aws.amazon.com/about-aws/whats-new/2021/04/aws-announces-data-sink-capability-for-the-glue-connectors/" TargetMode="External"/><Relationship Id="rId1" Type="http://schemas.openxmlformats.org/officeDocument/2006/relationships/slideLayout" Target="../slideLayouts/slideLayout9.xml"/></Relationships>
</file>

<file path=ppt/slides/_rels/slide383.xml.rels><?xml version="1.0" encoding="UTF-8" standalone="yes"?>
<Relationships xmlns="http://schemas.openxmlformats.org/package/2006/relationships"><Relationship Id="rId2" Type="http://schemas.openxmlformats.org/officeDocument/2006/relationships/hyperlink" Target="https://aws.amazon.com/about-aws/whats-new/2021/04/third-party-software-built-aws-control-tower-available-aws-control-tower-console-powered-aws-marketplace/" TargetMode="External"/><Relationship Id="rId1" Type="http://schemas.openxmlformats.org/officeDocument/2006/relationships/slideLayout" Target="../slideLayouts/slideLayout9.xml"/></Relationships>
</file>

<file path=ppt/slides/_rels/slide384.xml.rels><?xml version="1.0" encoding="UTF-8" standalone="yes"?>
<Relationships xmlns="http://schemas.openxmlformats.org/package/2006/relationships"><Relationship Id="rId2" Type="http://schemas.openxmlformats.org/officeDocument/2006/relationships/hyperlink" Target="https://aws.amazon.com/about-aws/whats-new/2021/04/amazon-rekognition-custom-labels-is-now-available-in-the-europe-frankfurt-europe-london-and-asia-pacific-mumbai-aws-regions/" TargetMode="External"/><Relationship Id="rId1" Type="http://schemas.openxmlformats.org/officeDocument/2006/relationships/slideLayout" Target="../slideLayouts/slideLayout9.xml"/></Relationships>
</file>

<file path=ppt/slides/_rels/slide385.xml.rels><?xml version="1.0" encoding="UTF-8" standalone="yes"?>
<Relationships xmlns="http://schemas.openxmlformats.org/package/2006/relationships"><Relationship Id="rId2" Type="http://schemas.openxmlformats.org/officeDocument/2006/relationships/hyperlink" Target="https://aws.amazon.com/about-aws/whats-new/2021/04/aws-transit-gateway-available-aws-asia-pacific-osaka-region/" TargetMode="External"/><Relationship Id="rId1" Type="http://schemas.openxmlformats.org/officeDocument/2006/relationships/slideLayout" Target="../slideLayouts/slideLayout9.xml"/></Relationships>
</file>

<file path=ppt/slides/_rels/slide386.xml.rels><?xml version="1.0" encoding="UTF-8" standalone="yes"?>
<Relationships xmlns="http://schemas.openxmlformats.org/package/2006/relationships"><Relationship Id="rId2" Type="http://schemas.openxmlformats.org/officeDocument/2006/relationships/hyperlink" Target="https://aws.amazon.com/about-aws/whats-new/2021/04/amazon-aurora-postgresql-new-patches-available/" TargetMode="External"/><Relationship Id="rId1" Type="http://schemas.openxmlformats.org/officeDocument/2006/relationships/slideLayout" Target="../slideLayouts/slideLayout9.xml"/></Relationships>
</file>

<file path=ppt/slides/_rels/slide387.xml.rels><?xml version="1.0" encoding="UTF-8" standalone="yes"?>
<Relationships xmlns="http://schemas.openxmlformats.org/package/2006/relationships"><Relationship Id="rId2" Type="http://schemas.openxmlformats.org/officeDocument/2006/relationships/hyperlink" Target="https://aws.amazon.com/about-aws/whats-new/2021/04/aws-secrets-manager-delivers-provider-kubernetes-secrets-store-csi-driver/" TargetMode="External"/><Relationship Id="rId1" Type="http://schemas.openxmlformats.org/officeDocument/2006/relationships/slideLayout" Target="../slideLayouts/slideLayout9.xml"/></Relationships>
</file>

<file path=ppt/slides/_rels/slide388.xml.rels><?xml version="1.0" encoding="UTF-8" standalone="yes"?>
<Relationships xmlns="http://schemas.openxmlformats.org/package/2006/relationships"><Relationship Id="rId2" Type="http://schemas.openxmlformats.org/officeDocument/2006/relationships/hyperlink" Target="https://aws.amazon.com/about-aws/whats-new/2021/04/amazon-translate-increases-the-size-limit-of-parallel-datafrom-1gb-to-5gb/" TargetMode="External"/><Relationship Id="rId1" Type="http://schemas.openxmlformats.org/officeDocument/2006/relationships/slideLayout" Target="../slideLayouts/slideLayout9.xml"/></Relationships>
</file>

<file path=ppt/slides/_rels/slide389.xml.rels><?xml version="1.0" encoding="UTF-8" standalone="yes"?>
<Relationships xmlns="http://schemas.openxmlformats.org/package/2006/relationships"><Relationship Id="rId2" Type="http://schemas.openxmlformats.org/officeDocument/2006/relationships/hyperlink" Target="https://aws.amazon.com/about-aws/whats-new/2021/04/aws-service-catalog-launches-a-console-experience-for-appregistry/" TargetMode="External"/><Relationship Id="rId1" Type="http://schemas.openxmlformats.org/officeDocument/2006/relationships/slideLayout" Target="../slideLayouts/slideLayout9.xml"/></Relationships>
</file>

<file path=ppt/slides/_rels/slide390.xml.rels><?xml version="1.0" encoding="UTF-8" standalone="yes"?>
<Relationships xmlns="http://schemas.openxmlformats.org/package/2006/relationships"><Relationship Id="rId2" Type="http://schemas.openxmlformats.org/officeDocument/2006/relationships/hyperlink" Target="https://aws.amazon.com/about-aws/whats-new/2021/04/amazon-timestream-is-now-available-in-europe-frankfurt-region/" TargetMode="External"/><Relationship Id="rId1" Type="http://schemas.openxmlformats.org/officeDocument/2006/relationships/slideLayout" Target="../slideLayouts/slideLayout9.xml"/></Relationships>
</file>

<file path=ppt/slides/_rels/slide391.xml.rels><?xml version="1.0" encoding="UTF-8" standalone="yes"?>
<Relationships xmlns="http://schemas.openxmlformats.org/package/2006/relationships"><Relationship Id="rId2" Type="http://schemas.openxmlformats.org/officeDocument/2006/relationships/hyperlink" Target="https://aws.amazon.com/about-aws/whats-new/2021/04/aws-codedeploy-improves-support-ec2-deployments-auto-scaling-groups/" TargetMode="External"/><Relationship Id="rId1" Type="http://schemas.openxmlformats.org/officeDocument/2006/relationships/slideLayout" Target="../slideLayouts/slideLayout9.xml"/></Relationships>
</file>

<file path=ppt/slides/_rels/slide392.xml.rels><?xml version="1.0" encoding="UTF-8" standalone="yes"?>
<Relationships xmlns="http://schemas.openxmlformats.org/package/2006/relationships"><Relationship Id="rId2" Type="http://schemas.openxmlformats.org/officeDocument/2006/relationships/hyperlink" Target="https://aws.amazon.com/about-aws/whats-new/2021/04/aws-cost-categories-introduces-details-page/" TargetMode="External"/><Relationship Id="rId1" Type="http://schemas.openxmlformats.org/officeDocument/2006/relationships/slideLayout" Target="../slideLayouts/slideLayout9.xml"/></Relationships>
</file>

<file path=ppt/slides/_rels/slide393.xml.rels><?xml version="1.0" encoding="UTF-8" standalone="yes"?>
<Relationships xmlns="http://schemas.openxmlformats.org/package/2006/relationships"><Relationship Id="rId2" Type="http://schemas.openxmlformats.org/officeDocument/2006/relationships/hyperlink" Target="https://aws.amazon.com/about-aws/whats-new/2021/04/aws-resource-access-manager-available-osaka-region/" TargetMode="External"/><Relationship Id="rId1" Type="http://schemas.openxmlformats.org/officeDocument/2006/relationships/slideLayout" Target="../slideLayouts/slideLayout9.xml"/></Relationships>
</file>

<file path=ppt/slides/_rels/slide394.xml.rels><?xml version="1.0" encoding="UTF-8" standalone="yes"?>
<Relationships xmlns="http://schemas.openxmlformats.org/package/2006/relationships"><Relationship Id="rId2" Type="http://schemas.openxmlformats.org/officeDocument/2006/relationships/hyperlink" Target="https://aws.amazon.com/about-aws/whats-new/2021/04/ec2-enables-replacing-root-volumes-for-quick-restoration-and-troubleshooting/" TargetMode="External"/><Relationship Id="rId1" Type="http://schemas.openxmlformats.org/officeDocument/2006/relationships/slideLayout" Target="../slideLayouts/slideLayout9.xml"/></Relationships>
</file>

<file path=ppt/slides/_rels/slide395.xml.rels><?xml version="1.0" encoding="UTF-8" standalone="yes"?>
<Relationships xmlns="http://schemas.openxmlformats.org/package/2006/relationships"><Relationship Id="rId2" Type="http://schemas.openxmlformats.org/officeDocument/2006/relationships/hyperlink" Target="https://aws.amazon.com/about-aws/whats-new/2021/04/aws-control-tower-releases-new-partner-program-built-control-tower/" TargetMode="External"/><Relationship Id="rId1" Type="http://schemas.openxmlformats.org/officeDocument/2006/relationships/slideLayout" Target="../slideLayouts/slideLayout9.xml"/></Relationships>
</file>

<file path=ppt/slides/_rels/slide396.xml.rels><?xml version="1.0" encoding="UTF-8" standalone="yes"?>
<Relationships xmlns="http://schemas.openxmlformats.org/package/2006/relationships"><Relationship Id="rId2" Type="http://schemas.openxmlformats.org/officeDocument/2006/relationships/hyperlink" Target="https://aws.amazon.com/about-aws/whats-new/2021/04/new-digital-course-amazon-s3-performance-optimization/" TargetMode="External"/><Relationship Id="rId1" Type="http://schemas.openxmlformats.org/officeDocument/2006/relationships/slideLayout" Target="../slideLayouts/slideLayout9.xml"/></Relationships>
</file>

<file path=ppt/slides/_rels/slide397.xml.rels><?xml version="1.0" encoding="UTF-8" standalone="yes"?>
<Relationships xmlns="http://schemas.openxmlformats.org/package/2006/relationships"><Relationship Id="rId2" Type="http://schemas.openxmlformats.org/officeDocument/2006/relationships/hyperlink" Target="https://aws.amazon.com/about-aws/whats-new/2021/04/get-estimated-run-time-for-forecast-creation-jobs-while-using-amazon-forecast/" TargetMode="External"/><Relationship Id="rId1" Type="http://schemas.openxmlformats.org/officeDocument/2006/relationships/slideLayout" Target="../slideLayouts/slideLayout9.xml"/></Relationships>
</file>

<file path=ppt/slides/_rels/slide398.xml.rels><?xml version="1.0" encoding="UTF-8" standalone="yes"?>
<Relationships xmlns="http://schemas.openxmlformats.org/package/2006/relationships"><Relationship Id="rId2" Type="http://schemas.openxmlformats.org/officeDocument/2006/relationships/hyperlink" Target="https://aws.amazon.com/about-aws/whats-new/2021/04/amazon-elasticache-now-supports-publishing-redis-logs-to-amazon-cloudwatch-logs-and-kinesis-data-firehose/" TargetMode="External"/><Relationship Id="rId1" Type="http://schemas.openxmlformats.org/officeDocument/2006/relationships/slideLayout" Target="../slideLayouts/slideLayout9.xml"/></Relationships>
</file>

<file path=ppt/slides/_rels/slide399.xml.rels><?xml version="1.0" encoding="UTF-8" standalone="yes"?>
<Relationships xmlns="http://schemas.openxmlformats.org/package/2006/relationships"><Relationship Id="rId2" Type="http://schemas.openxmlformats.org/officeDocument/2006/relationships/hyperlink" Target="https://aws.amazon.com/about-aws/whats-new/2021/04/aws-service-catalog-is-now-available-in-osaka/" TargetMode="External"/><Relationship Id="rId1" Type="http://schemas.openxmlformats.org/officeDocument/2006/relationships/slideLayout" Target="../slideLayouts/slideLayout9.xml"/></Relationships>
</file>

<file path=ppt/slides/_rels/slide400.xml.rels><?xml version="1.0" encoding="UTF-8" standalone="yes"?>
<Relationships xmlns="http://schemas.openxmlformats.org/package/2006/relationships"><Relationship Id="rId2" Type="http://schemas.openxmlformats.org/officeDocument/2006/relationships/hyperlink" Target="https://aws.amazon.com/about-aws/whats-new/2021/04/nosql-workbench-for-amazon-dynamodb-now-supports-aws-cloudformat/" TargetMode="External"/><Relationship Id="rId1" Type="http://schemas.openxmlformats.org/officeDocument/2006/relationships/slideLayout" Target="../slideLayouts/slideLayout9.xml"/></Relationships>
</file>

<file path=ppt/slides/_rels/slide401.xml.rels><?xml version="1.0" encoding="UTF-8" standalone="yes"?>
<Relationships xmlns="http://schemas.openxmlformats.org/package/2006/relationships"><Relationship Id="rId2" Type="http://schemas.openxmlformats.org/officeDocument/2006/relationships/hyperlink" Target="https://aws.amazon.com/about-aws/whats-new/2021/04/amazon-interactive-video-service-launches-edge-locations-in-india/" TargetMode="External"/><Relationship Id="rId1" Type="http://schemas.openxmlformats.org/officeDocument/2006/relationships/slideLayout" Target="../slideLayouts/slideLayout9.xml"/></Relationships>
</file>

<file path=ppt/slides/_rels/slide402.xml.rels><?xml version="1.0" encoding="UTF-8" standalone="yes"?>
<Relationships xmlns="http://schemas.openxmlformats.org/package/2006/relationships"><Relationship Id="rId2" Type="http://schemas.openxmlformats.org/officeDocument/2006/relationships/hyperlink" Target="https://aws.amazon.com/about-aws/whats-new/2021/04/aws-ground-station-now-supports-data-delivery-to-amazon-s3/" TargetMode="External"/><Relationship Id="rId1" Type="http://schemas.openxmlformats.org/officeDocument/2006/relationships/slideLayout" Target="../slideLayouts/slideLayout9.xml"/></Relationships>
</file>

<file path=ppt/slides/_rels/slide403.xml.rels><?xml version="1.0" encoding="UTF-8" standalone="yes"?>
<Relationships xmlns="http://schemas.openxmlformats.org/package/2006/relationships"><Relationship Id="rId2" Type="http://schemas.openxmlformats.org/officeDocument/2006/relationships/hyperlink" Target="https://aws.amazon.com/about-aws/whats-new/2021/04/amazon-elasticsearch-service-announces-support-for-elasticsearch-version-7-10/" TargetMode="External"/><Relationship Id="rId1" Type="http://schemas.openxmlformats.org/officeDocument/2006/relationships/slideLayout" Target="../slideLayouts/slideLayout9.xml"/></Relationships>
</file>

<file path=ppt/slides/_rels/slide404.xml.rels><?xml version="1.0" encoding="UTF-8" standalone="yes"?>
<Relationships xmlns="http://schemas.openxmlformats.org/package/2006/relationships"><Relationship Id="rId2" Type="http://schemas.openxmlformats.org/officeDocument/2006/relationships/hyperlink" Target="https://aws.amazon.com/about-aws/whats-new/2021/04/amazon-rds-vmware-networking-simplified-secure/" TargetMode="External"/><Relationship Id="rId1" Type="http://schemas.openxmlformats.org/officeDocument/2006/relationships/slideLayout" Target="../slideLayouts/slideLayout9.xml"/></Relationships>
</file>

<file path=ppt/slides/_rels/slide405.xml.rels><?xml version="1.0" encoding="UTF-8" standalone="yes"?>
<Relationships xmlns="http://schemas.openxmlformats.org/package/2006/relationships"><Relationship Id="rId2" Type="http://schemas.openxmlformats.org/officeDocument/2006/relationships/hyperlink" Target="https://aws.amazon.com/about-aws/whats-new/2021/04/announcing-general-availability-of-amazon-redshift-native-console-integration-with-partners/" TargetMode="External"/><Relationship Id="rId1" Type="http://schemas.openxmlformats.org/officeDocument/2006/relationships/slideLayout" Target="../slideLayouts/slideLayout9.xml"/></Relationships>
</file>

<file path=ppt/slides/_rels/slide406.xml.rels><?xml version="1.0" encoding="UTF-8" standalone="yes"?>
<Relationships xmlns="http://schemas.openxmlformats.org/package/2006/relationships"><Relationship Id="rId2" Type="http://schemas.openxmlformats.org/officeDocument/2006/relationships/hyperlink" Target="https://aws.amazon.com/about-aws/whats-new/2021/04/announcing-availability-of-aws-outposts-in-the-philippines-and-brunei/" TargetMode="External"/><Relationship Id="rId1" Type="http://schemas.openxmlformats.org/officeDocument/2006/relationships/slideLayout" Target="../slideLayouts/slideLayout9.xml"/></Relationships>
</file>

<file path=ppt/slides/_rels/slide407.xml.rels><?xml version="1.0" encoding="UTF-8" standalone="yes"?>
<Relationships xmlns="http://schemas.openxmlformats.org/package/2006/relationships"><Relationship Id="rId2" Type="http://schemas.openxmlformats.org/officeDocument/2006/relationships/hyperlink" Target="https://aws.amazon.com/about-aws/whats-new/2021/04/amazon-elasticsearch-service-announces-support-asynchronous-support/" TargetMode="External"/><Relationship Id="rId1" Type="http://schemas.openxmlformats.org/officeDocument/2006/relationships/slideLayout" Target="../slideLayouts/slideLayout9.xml"/></Relationships>
</file>

<file path=ppt/slides/_rels/slide408.xml.rels><?xml version="1.0" encoding="UTF-8" standalone="yes"?>
<Relationships xmlns="http://schemas.openxmlformats.org/package/2006/relationships"><Relationship Id="rId2" Type="http://schemas.openxmlformats.org/officeDocument/2006/relationships/hyperlink" Target="https://aws.amazon.com/about-aws/whats-new/2021/04/now-available-credential-profile-support-aws-sso-assume-role-mfa-aws-toolkit-visual-studio/" TargetMode="External"/><Relationship Id="rId1" Type="http://schemas.openxmlformats.org/officeDocument/2006/relationships/slideLayout" Target="../slideLayouts/slideLayout9.xml"/></Relationships>
</file>

<file path=ppt/slides/_rels/slide409.xml.rels><?xml version="1.0" encoding="UTF-8" standalone="yes"?>
<Relationships xmlns="http://schemas.openxmlformats.org/package/2006/relationships"><Relationship Id="rId2" Type="http://schemas.openxmlformats.org/officeDocument/2006/relationships/hyperlink" Target="https://aws.amazon.com/about-aws/whats-new/2021/04/aws-cloud9-now-supports-amazon-linux-2-environments/" TargetMode="External"/><Relationship Id="rId1" Type="http://schemas.openxmlformats.org/officeDocument/2006/relationships/slideLayout" Target="../slideLayouts/slideLayout9.xml"/></Relationships>
</file>

<file path=ppt/slides/_rels/slide410.xml.rels><?xml version="1.0" encoding="UTF-8" standalone="yes"?>
<Relationships xmlns="http://schemas.openxmlformats.org/package/2006/relationships"><Relationship Id="rId2" Type="http://schemas.openxmlformats.org/officeDocument/2006/relationships/hyperlink" Target="https://aws.amazon.com/about-aws/whats-new/2021/04/amazon-rekognition-launches-tagging-support-for-collections-stream-processors-and-custom-labels/" TargetMode="External"/><Relationship Id="rId1" Type="http://schemas.openxmlformats.org/officeDocument/2006/relationships/slideLayout" Target="../slideLayouts/slideLayout9.xml"/></Relationships>
</file>

<file path=ppt/slides/_rels/slide411.xml.rels><?xml version="1.0" encoding="UTF-8" standalone="yes"?>
<Relationships xmlns="http://schemas.openxmlformats.org/package/2006/relationships"><Relationship Id="rId2" Type="http://schemas.openxmlformats.org/officeDocument/2006/relationships/hyperlink" Target="https://aws.amazon.com/about-aws/whats-new/2021/04/amazon-emr-release-5-33-now-supports-new-instance-types/" TargetMode="External"/><Relationship Id="rId1" Type="http://schemas.openxmlformats.org/officeDocument/2006/relationships/slideLayout" Target="../slideLayouts/slideLayout9.xml"/></Relationships>
</file>

<file path=ppt/slides/_rels/slide412.xml.rels><?xml version="1.0" encoding="UTF-8" standalone="yes"?>
<Relationships xmlns="http://schemas.openxmlformats.org/package/2006/relationships"><Relationship Id="rId2" Type="http://schemas.openxmlformats.org/officeDocument/2006/relationships/hyperlink" Target="https://aws.amazon.com/about-aws/whats-new/2021/04/amazon-sagemaker-announces-a-price-reduction-in-instances-and-sagemaker-savings-plan/" TargetMode="External"/><Relationship Id="rId1" Type="http://schemas.openxmlformats.org/officeDocument/2006/relationships/slideLayout" Target="../slideLayouts/slideLayout9.xml"/></Relationships>
</file>

<file path=ppt/slides/_rels/slide413.xml.rels><?xml version="1.0" encoding="UTF-8" standalone="yes"?>
<Relationships xmlns="http://schemas.openxmlformats.org/package/2006/relationships"><Relationship Id="rId2" Type="http://schemas.openxmlformats.org/officeDocument/2006/relationships/hyperlink" Target="https://aws.amazon.com/about-aws/whats-new/2021/04/amazon-s3-on-outposts-events-now-available-in-amazon-cloudwatch/" TargetMode="External"/><Relationship Id="rId1" Type="http://schemas.openxmlformats.org/officeDocument/2006/relationships/slideLayout" Target="../slideLayouts/slideLayout9.xml"/></Relationships>
</file>

<file path=ppt/slides/_rels/slide414.xml.rels><?xml version="1.0" encoding="UTF-8" standalone="yes"?>
<Relationships xmlns="http://schemas.openxmlformats.org/package/2006/relationships"><Relationship Id="rId2" Type="http://schemas.openxmlformats.org/officeDocument/2006/relationships/hyperlink" Target="https://aws.amazon.com/about-aws/whats-new/2021/04/amazon-textract-achieves-fedramp-compliance/" TargetMode="External"/><Relationship Id="rId1" Type="http://schemas.openxmlformats.org/officeDocument/2006/relationships/slideLayout" Target="../slideLayouts/slideLayout9.xml"/></Relationships>
</file>

<file path=ppt/slides/_rels/slide415.xml.rels><?xml version="1.0" encoding="UTF-8" standalone="yes"?>
<Relationships xmlns="http://schemas.openxmlformats.org/package/2006/relationships"><Relationship Id="rId2" Type="http://schemas.openxmlformats.org/officeDocument/2006/relationships/hyperlink" Target="https://aws.amazon.com/about-aws/whats-new/2021/04/aws-chatbot-now-expands-coverage-of-aws-services-monitored-through-amazon-eventbridge/" TargetMode="External"/><Relationship Id="rId1" Type="http://schemas.openxmlformats.org/officeDocument/2006/relationships/slideLayout" Target="../slideLayouts/slideLayout9.xml"/></Relationships>
</file>

<file path=ppt/slides/_rels/slide416.xml.rels><?xml version="1.0" encoding="UTF-8" standalone="yes"?>
<Relationships xmlns="http://schemas.openxmlformats.org/package/2006/relationships"><Relationship Id="rId2" Type="http://schemas.openxmlformats.org/officeDocument/2006/relationships/hyperlink" Target="https://aws.amazon.com/about-aws/whats-new/2021/04/aws-glue-studio-now-available-aws-africa-cape-town-region/" TargetMode="External"/><Relationship Id="rId1" Type="http://schemas.openxmlformats.org/officeDocument/2006/relationships/slideLayout" Target="../slideLayouts/slideLayout9.xml"/></Relationships>
</file>

<file path=ppt/slides/_rels/slide417.xml.rels><?xml version="1.0" encoding="UTF-8" standalone="yes"?>
<Relationships xmlns="http://schemas.openxmlformats.org/package/2006/relationships"><Relationship Id="rId2" Type="http://schemas.openxmlformats.org/officeDocument/2006/relationships/hyperlink" Target="https://aws.amazon.com/about-aws/whats-new/2021/04/you-now-can-use-aws-cloudtrail-to-log-amazon-dynamodb-streams-da/" TargetMode="External"/><Relationship Id="rId1" Type="http://schemas.openxmlformats.org/officeDocument/2006/relationships/slideLayout" Target="../slideLayouts/slideLayout9.xml"/></Relationships>
</file>

<file path=ppt/slides/_rels/slide418.xml.rels><?xml version="1.0" encoding="UTF-8" standalone="yes"?>
<Relationships xmlns="http://schemas.openxmlformats.org/package/2006/relationships"><Relationship Id="rId2" Type="http://schemas.openxmlformats.org/officeDocument/2006/relationships/hyperlink" Target="https://aws.amazon.com/about-aws/whats-new/2021/04/announcing-general-availability-of-amazon-athena-ml-powered-by-amazon-sagemaker/" TargetMode="External"/><Relationship Id="rId1" Type="http://schemas.openxmlformats.org/officeDocument/2006/relationships/slideLayout" Target="../slideLayouts/slideLayout9.xml"/></Relationships>
</file>

<file path=ppt/slides/_rels/slide419.xml.rels><?xml version="1.0" encoding="UTF-8" standalone="yes"?>
<Relationships xmlns="http://schemas.openxmlformats.org/package/2006/relationships"><Relationship Id="rId2" Type="http://schemas.openxmlformats.org/officeDocument/2006/relationships/hyperlink" Target="https://aws.amazon.com/about-aws/whats-new/2021/04/new-aws-solutions-consulting-offer-iot-resource-monitoring-framework/" TargetMode="External"/><Relationship Id="rId1" Type="http://schemas.openxmlformats.org/officeDocument/2006/relationships/slideLayout" Target="../slideLayouts/slideLayout9.xml"/></Relationships>
</file>

<file path=ppt/slides/_rels/slide420.xml.rels><?xml version="1.0" encoding="UTF-8" standalone="yes"?>
<Relationships xmlns="http://schemas.openxmlformats.org/package/2006/relationships"><Relationship Id="rId2" Type="http://schemas.openxmlformats.org/officeDocument/2006/relationships/hyperlink" Target="https://aws.amazon.com/about-aws/whats-new/2021/04/introducing-machine-to-cloud-connectivity-framework-v-2-2/" TargetMode="External"/><Relationship Id="rId1" Type="http://schemas.openxmlformats.org/officeDocument/2006/relationships/slideLayout" Target="../slideLayouts/slideLayout9.xml"/></Relationships>
</file>

<file path=ppt/slides/_rels/slide421.xml.rels><?xml version="1.0" encoding="UTF-8" standalone="yes"?>
<Relationships xmlns="http://schemas.openxmlformats.org/package/2006/relationships"><Relationship Id="rId2" Type="http://schemas.openxmlformats.org/officeDocument/2006/relationships/hyperlink" Target="https://aws.amazon.com/about-aws/whats-new/2021/04/aws-amplify-orchestrates-multiple-amazon-dynamodb-gsi-updates-single-deployment/" TargetMode="External"/><Relationship Id="rId1" Type="http://schemas.openxmlformats.org/officeDocument/2006/relationships/slideLayout" Target="../slideLayouts/slideLayout9.xml"/></Relationships>
</file>

<file path=ppt/slides/_rels/slide422.xml.rels><?xml version="1.0" encoding="UTF-8" standalone="yes"?>
<Relationships xmlns="http://schemas.openxmlformats.org/package/2006/relationships"><Relationship Id="rId2" Type="http://schemas.openxmlformats.org/officeDocument/2006/relationships/hyperlink" Target="https://aws.amazon.com/about-aws/whats-new/2021/04/aws-control-tower-now-provides-configurable-naming-during-landing-zone-setup/" TargetMode="External"/><Relationship Id="rId1" Type="http://schemas.openxmlformats.org/officeDocument/2006/relationships/slideLayout" Target="../slideLayouts/slideLayout9.xml"/></Relationships>
</file>

<file path=ppt/slides/_rels/slide423.xml.rels><?xml version="1.0" encoding="UTF-8" standalone="yes"?>
<Relationships xmlns="http://schemas.openxmlformats.org/package/2006/relationships"><Relationship Id="rId2" Type="http://schemas.openxmlformats.org/officeDocument/2006/relationships/hyperlink" Target="https://aws.amazon.com/about-aws/whats-new/2021/04/user-defined-functions-udf-are-now-generally-available-for-amazon-athena/" TargetMode="External"/><Relationship Id="rId1" Type="http://schemas.openxmlformats.org/officeDocument/2006/relationships/slideLayout" Target="../slideLayouts/slideLayout9.xml"/></Relationships>
</file>

<file path=ppt/slides/_rels/slide424.xml.rels><?xml version="1.0" encoding="UTF-8" standalone="yes"?>
<Relationships xmlns="http://schemas.openxmlformats.org/package/2006/relationships"><Relationship Id="rId2" Type="http://schemas.openxmlformats.org/officeDocument/2006/relationships/hyperlink" Target="https://aws.amazon.com/about-aws/whats-new/2021/04/aws-backup-extends-centralized-backup-management-support-for-amazon-fsx-to-additional-aws-regions/" TargetMode="External"/><Relationship Id="rId1" Type="http://schemas.openxmlformats.org/officeDocument/2006/relationships/slideLayout" Target="../slideLayouts/slideLayout9.xml"/></Relationships>
</file>

<file path=ppt/slides/_rels/slide425.xml.rels><?xml version="1.0" encoding="UTF-8" standalone="yes"?>
<Relationships xmlns="http://schemas.openxmlformats.org/package/2006/relationships"><Relationship Id="rId2" Type="http://schemas.openxmlformats.org/officeDocument/2006/relationships/hyperlink" Target="https://aws.amazon.com/about-aws/whats-new/2021/04/amazon-pinpoint-is-now-fedramp-high-compliant/" TargetMode="External"/><Relationship Id="rId1" Type="http://schemas.openxmlformats.org/officeDocument/2006/relationships/slideLayout" Target="../slideLayouts/slideLayout9.xml"/></Relationships>
</file>

<file path=ppt/slides/_rels/slide426.xml.rels><?xml version="1.0" encoding="UTF-8" standalone="yes"?>
<Relationships xmlns="http://schemas.openxmlformats.org/package/2006/relationships"><Relationship Id="rId2" Type="http://schemas.openxmlformats.org/officeDocument/2006/relationships/hyperlink" Target="https://aws.amazon.com/about-aws/whats-new/2021/04/you-can-now-use-macros-and-transforms-in-cloudformation-templates-to-create-aws-cloudformation-stacksets/" TargetMode="External"/><Relationship Id="rId1" Type="http://schemas.openxmlformats.org/officeDocument/2006/relationships/slideLayout" Target="../slideLayouts/slideLayout9.xml"/></Relationships>
</file>

<file path=ppt/slides/_rels/slide427.xml.rels><?xml version="1.0" encoding="UTF-8" standalone="yes"?>
<Relationships xmlns="http://schemas.openxmlformats.org/package/2006/relationships"><Relationship Id="rId2" Type="http://schemas.openxmlformats.org/officeDocument/2006/relationships/hyperlink" Target="https://aws.amazon.com/about-aws/whats-new/2021/04/amazon-managed-service-for-grafana-now-supports-grafana-enterprise-upgrade-grafana-version-7-5-open-distro-for-elasticsearch-integration-and-aws-billing-reports/" TargetMode="External"/><Relationship Id="rId1" Type="http://schemas.openxmlformats.org/officeDocument/2006/relationships/slideLayout" Target="../slideLayouts/slideLayout9.xml"/></Relationships>
</file>

<file path=ppt/slides/_rels/slide428.xml.rels><?xml version="1.0" encoding="UTF-8" standalone="yes"?>
<Relationships xmlns="http://schemas.openxmlformats.org/package/2006/relationships"><Relationship Id="rId2" Type="http://schemas.openxmlformats.org/officeDocument/2006/relationships/hyperlink" Target="https://aws.amazon.com/about-aws/whats-new/2021/04/new-free-ml-training-for-business-and-technical-leaders/" TargetMode="External"/><Relationship Id="rId1" Type="http://schemas.openxmlformats.org/officeDocument/2006/relationships/slideLayout" Target="../slideLayouts/slideLayout9.xml"/></Relationships>
</file>

<file path=ppt/slides/_rels/slide429.xml.rels><?xml version="1.0" encoding="UTF-8" standalone="yes"?>
<Relationships xmlns="http://schemas.openxmlformats.org/package/2006/relationships"><Relationship Id="rId2" Type="http://schemas.openxmlformats.org/officeDocument/2006/relationships/hyperlink" Target="https://aws.amazon.com/about-aws/whats-new/2021/04/new-datasets-available-in-the-registry-of-open-data-on-aws/" TargetMode="External"/><Relationship Id="rId1" Type="http://schemas.openxmlformats.org/officeDocument/2006/relationships/slideLayout" Target="../slideLayouts/slideLayout9.xml"/></Relationships>
</file>

<file path=ppt/slides/_rels/slide430.xml.rels><?xml version="1.0" encoding="UTF-8" standalone="yes"?>
<Relationships xmlns="http://schemas.openxmlformats.org/package/2006/relationships"><Relationship Id="rId2" Type="http://schemas.openxmlformats.org/officeDocument/2006/relationships/hyperlink" Target="https://aws.amazon.com/about-aws/whats-new/2021/04/amazon-mq-for-active-mq-now-available-aws-china-regions/" TargetMode="External"/><Relationship Id="rId1" Type="http://schemas.openxmlformats.org/officeDocument/2006/relationships/slideLayout" Target="../slideLayouts/slideLayout9.xml"/></Relationships>
</file>

<file path=ppt/slides/_rels/slide431.xml.rels><?xml version="1.0" encoding="UTF-8" standalone="yes"?>
<Relationships xmlns="http://schemas.openxmlformats.org/package/2006/relationships"><Relationship Id="rId2" Type="http://schemas.openxmlformats.org/officeDocument/2006/relationships/hyperlink" Target="https://aws.amazon.com/about-aws/whats-new/2021/04/aws-security-hub-automated-response-remediation-solution-support-aws-foundational-security-best-practices-standard/" TargetMode="External"/><Relationship Id="rId1" Type="http://schemas.openxmlformats.org/officeDocument/2006/relationships/slideLayout" Target="../slideLayouts/slideLayout9.xml"/></Relationships>
</file>

<file path=ppt/slides/_rels/slide432.xml.rels><?xml version="1.0" encoding="UTF-8" standalone="yes"?>
<Relationships xmlns="http://schemas.openxmlformats.org/package/2006/relationships"><Relationship Id="rId2" Type="http://schemas.openxmlformats.org/officeDocument/2006/relationships/hyperlink" Target="https://aws.amazon.com/about-aws/whats-new/2021/04/amazon-macie-adds-cloudwatch-logging-for-job-status-and-health-monitoring-of-sensitive-data-discovery-jobs/" TargetMode="External"/><Relationship Id="rId1" Type="http://schemas.openxmlformats.org/officeDocument/2006/relationships/slideLayout" Target="../slideLayouts/slideLayout9.xml"/></Relationships>
</file>

<file path=ppt/slides/_rels/slide433.xml.rels><?xml version="1.0" encoding="UTF-8" standalone="yes"?>
<Relationships xmlns="http://schemas.openxmlformats.org/package/2006/relationships"><Relationship Id="rId2" Type="http://schemas.openxmlformats.org/officeDocument/2006/relationships/hyperlink" Target="https://aws.amazon.com/about-aws/whats-new/2021/04/now-reference-latest-aws-systems-manager-parameter-values-in-aws-cloudformation-templates-without-specifying-parameter-versions/" TargetMode="External"/><Relationship Id="rId1" Type="http://schemas.openxmlformats.org/officeDocument/2006/relationships/slideLayout" Target="../slideLayouts/slideLayout9.xml"/></Relationships>
</file>

<file path=ppt/slides/_rels/slide434.xml.rels><?xml version="1.0" encoding="UTF-8" standalone="yes"?>
<Relationships xmlns="http://schemas.openxmlformats.org/package/2006/relationships"><Relationship Id="rId2" Type="http://schemas.openxmlformats.org/officeDocument/2006/relationships/hyperlink" Target="https://aws.amazon.com/about-aws/whats-new/2021/04/aws-ground-station-is-now-available-in-us-east-n-virginia-and-eu-frankfurt-regions/" TargetMode="External"/><Relationship Id="rId1" Type="http://schemas.openxmlformats.org/officeDocument/2006/relationships/slideLayout" Target="../slideLayouts/slideLayout9.xml"/></Relationships>
</file>

<file path=ppt/slides/_rels/slide435.xml.rels><?xml version="1.0" encoding="UTF-8" standalone="yes"?>
<Relationships xmlns="http://schemas.openxmlformats.org/package/2006/relationships"><Relationship Id="rId2" Type="http://schemas.openxmlformats.org/officeDocument/2006/relationships/hyperlink" Target="https://aws.amazon.com/about-aws/whats-new/2021/04/aws-data-exchange-launches-post-subscription-wizard-to-configure-revision-exports-to-amazon-s3/" TargetMode="External"/><Relationship Id="rId1" Type="http://schemas.openxmlformats.org/officeDocument/2006/relationships/slideLayout" Target="../slideLayouts/slideLayout9.xml"/></Relationships>
</file>

<file path=ppt/slides/_rels/slide436.xml.rels><?xml version="1.0" encoding="UTF-8" standalone="yes"?>
<Relationships xmlns="http://schemas.openxmlformats.org/package/2006/relationships"><Relationship Id="rId2" Type="http://schemas.openxmlformats.org/officeDocument/2006/relationships/hyperlink" Target="https://aws.amazon.com/about-aws/whats-new/2021/04/amazon-elasticsearch-service-now-supports-integration-with-microsoft-power-bi/" TargetMode="External"/><Relationship Id="rId1" Type="http://schemas.openxmlformats.org/officeDocument/2006/relationships/slideLayout" Target="../slideLayouts/slideLayout9.xml"/></Relationships>
</file>

<file path=ppt/slides/_rels/slide437.xml.rels><?xml version="1.0" encoding="UTF-8" standalone="yes"?>
<Relationships xmlns="http://schemas.openxmlformats.org/package/2006/relationships"><Relationship Id="rId2" Type="http://schemas.openxmlformats.org/officeDocument/2006/relationships/hyperlink" Target="https://aws.amazon.com/about-aws/whats-new/2021/04/amazon-rds-for-postgresql-supports-pg-bigm-extension-for-faster-full-text-search/" TargetMode="External"/><Relationship Id="rId1" Type="http://schemas.openxmlformats.org/officeDocument/2006/relationships/slideLayout" Target="../slideLayouts/slideLayout9.xml"/></Relationships>
</file>

<file path=ppt/slides/_rels/slide438.xml.rels><?xml version="1.0" encoding="UTF-8" standalone="yes"?>
<Relationships xmlns="http://schemas.openxmlformats.org/package/2006/relationships"><Relationship Id="rId2" Type="http://schemas.openxmlformats.org/officeDocument/2006/relationships/hyperlink" Target="https://aws.amazon.com/about-aws/whats-new/2021/04/aws-network-firewall-is-now-available-in-asia-pacific-mumbai-asia-pacific-singapore-and-eu-london/" TargetMode="External"/><Relationship Id="rId1" Type="http://schemas.openxmlformats.org/officeDocument/2006/relationships/slideLayout" Target="../slideLayouts/slideLayout9.xml"/></Relationships>
</file>

<file path=ppt/slides/_rels/slide439.xml.rels><?xml version="1.0" encoding="UTF-8" standalone="yes"?>
<Relationships xmlns="http://schemas.openxmlformats.org/package/2006/relationships"><Relationship Id="rId2" Type="http://schemas.openxmlformats.org/officeDocument/2006/relationships/hyperlink" Target="https://aws.amazon.com/about-aws/whats-new/2021/04/amazon-connect-manage-agent-settings-custom-contact-control-panel/" TargetMode="External"/><Relationship Id="rId1" Type="http://schemas.openxmlformats.org/officeDocument/2006/relationships/slideLayout" Target="../slideLayouts/slideLayout9.xml"/></Relationships>
</file>

<file path=ppt/slides/_rels/slide440.xml.rels><?xml version="1.0" encoding="UTF-8" standalone="yes"?>
<Relationships xmlns="http://schemas.openxmlformats.org/package/2006/relationships"><Relationship Id="rId2" Type="http://schemas.openxmlformats.org/officeDocument/2006/relationships/hyperlink" Target="https://aws.amazon.com/about-aws/whats-new/2021/04/amazon-connect-launches-audio-device-setting-custom-contact-control-panels/" TargetMode="External"/><Relationship Id="rId1" Type="http://schemas.openxmlformats.org/officeDocument/2006/relationships/slideLayout" Target="../slideLayouts/slideLayout9.xml"/></Relationships>
</file>

<file path=ppt/slides/_rels/slide441.xml.rels><?xml version="1.0" encoding="UTF-8" standalone="yes"?>
<Relationships xmlns="http://schemas.openxmlformats.org/package/2006/relationships"><Relationship Id="rId2" Type="http://schemas.openxmlformats.org/officeDocument/2006/relationships/hyperlink" Target="https://aws.amazon.com/about-aws/whats-new/2021/04/aws-storage-gateway-achieves-fedramp-moderate-compliance/" TargetMode="External"/><Relationship Id="rId1" Type="http://schemas.openxmlformats.org/officeDocument/2006/relationships/slideLayout" Target="../slideLayouts/slideLayout9.xml"/></Relationships>
</file>

<file path=ppt/slides/_rels/slide442.xml.rels><?xml version="1.0" encoding="UTF-8" standalone="yes"?>
<Relationships xmlns="http://schemas.openxmlformats.org/package/2006/relationships"><Relationship Id="rId2" Type="http://schemas.openxmlformats.org/officeDocument/2006/relationships/hyperlink" Target="https://aws.amazon.com/about-aws/whats-new/2021/04/aws-announces-general-availability-of-aqua-for-amazon-redshift/" TargetMode="External"/><Relationship Id="rId1" Type="http://schemas.openxmlformats.org/officeDocument/2006/relationships/slideLayout" Target="../slideLayouts/slideLayout9.xml"/></Relationships>
</file>

<file path=ppt/slides/_rels/slide443.xml.rels><?xml version="1.0" encoding="UTF-8" standalone="yes"?>
<Relationships xmlns="http://schemas.openxmlformats.org/package/2006/relationships"><Relationship Id="rId2" Type="http://schemas.openxmlformats.org/officeDocument/2006/relationships/hyperlink" Target="https://aws.amazon.com/about-aws/whats-new/2021/04/aws-cloudshell-is-now-available-in-the-asia-pacific-mumbai-asia-pacific-sydney-and-europe-frankfurt-regions/" TargetMode="External"/><Relationship Id="rId1" Type="http://schemas.openxmlformats.org/officeDocument/2006/relationships/slideLayout" Target="../slideLayouts/slideLayout9.xml"/></Relationships>
</file>

<file path=ppt/slides/_rels/slide444.xml.rels><?xml version="1.0" encoding="UTF-8" standalone="yes"?>
<Relationships xmlns="http://schemas.openxmlformats.org/package/2006/relationships"><Relationship Id="rId2" Type="http://schemas.openxmlformats.org/officeDocument/2006/relationships/hyperlink" Target="https://aws.amazon.com/about-aws/whats-new/2021/04/now-use-tags-track-allocate-amazon-sagemaker-studio-notebooks-costs/" TargetMode="External"/><Relationship Id="rId1" Type="http://schemas.openxmlformats.org/officeDocument/2006/relationships/slideLayout" Target="../slideLayouts/slideLayout9.xml"/></Relationships>
</file>

<file path=ppt/slides/_rels/slide445.xml.rels><?xml version="1.0" encoding="UTF-8" standalone="yes"?>
<Relationships xmlns="http://schemas.openxmlformats.org/package/2006/relationships"><Relationship Id="rId2" Type="http://schemas.openxmlformats.org/officeDocument/2006/relationships/hyperlink" Target="https://aws.amazon.com/about-aws/whats-new/2021/04/aws-codeartifact-is-now-available-in-paris-london-and-milan/" TargetMode="External"/><Relationship Id="rId1" Type="http://schemas.openxmlformats.org/officeDocument/2006/relationships/slideLayout" Target="../slideLayouts/slideLayout9.xml"/></Relationships>
</file>

<file path=ppt/slides/_rels/slide446.xml.rels><?xml version="1.0" encoding="UTF-8" standalone="yes"?>
<Relationships xmlns="http://schemas.openxmlformats.org/package/2006/relationships"><Relationship Id="rId2" Type="http://schemas.openxmlformats.org/officeDocument/2006/relationships/hyperlink" Target="https://aws.amazon.com/about-aws/whats-new/2021/04/aws-codecommit-now-available-asia-pacific-osaka-region/" TargetMode="External"/><Relationship Id="rId1" Type="http://schemas.openxmlformats.org/officeDocument/2006/relationships/slideLayout" Target="../slideLayouts/slideLayout9.xml"/></Relationships>
</file>

<file path=ppt/slides/_rels/slide447.xml.rels><?xml version="1.0" encoding="UTF-8" standalone="yes"?>
<Relationships xmlns="http://schemas.openxmlformats.org/package/2006/relationships"><Relationship Id="rId2" Type="http://schemas.openxmlformats.org/officeDocument/2006/relationships/hyperlink" Target="https://aws.amazon.com/about-aws/whats-new/2021/04/amazon-rds-postgresql-integrates-aws-lambda/" TargetMode="External"/><Relationship Id="rId1" Type="http://schemas.openxmlformats.org/officeDocument/2006/relationships/slideLayout" Target="../slideLayouts/slideLayout9.xml"/></Relationships>
</file>

<file path=ppt/slides/_rels/slide448.xml.rels><?xml version="1.0" encoding="UTF-8" standalone="yes"?>
<Relationships xmlns="http://schemas.openxmlformats.org/package/2006/relationships"><Relationship Id="rId2" Type="http://schemas.openxmlformats.org/officeDocument/2006/relationships/hyperlink" Target="https://aws.amazon.com/about-aws/whats-new/2021/04/new-digital-course-getting-started-with-data-analytics-on-aws/" TargetMode="External"/><Relationship Id="rId1" Type="http://schemas.openxmlformats.org/officeDocument/2006/relationships/slideLayout" Target="../slideLayouts/slideLayout9.xml"/></Relationships>
</file>

<file path=ppt/slides/_rels/slide449.xml.rels><?xml version="1.0" encoding="UTF-8" standalone="yes"?>
<Relationships xmlns="http://schemas.openxmlformats.org/package/2006/relationships"><Relationship Id="rId2" Type="http://schemas.openxmlformats.org/officeDocument/2006/relationships/hyperlink" Target="https://aws.amazon.com/about-aws/whats-new/2021/04/aws-cloudformation-modules-provides-yaml-delimiter-support/" TargetMode="External"/><Relationship Id="rId1" Type="http://schemas.openxmlformats.org/officeDocument/2006/relationships/slideLayout" Target="../slideLayouts/slideLayout9.xml"/></Relationships>
</file>

<file path=ppt/slides/_rels/slide450.xml.rels><?xml version="1.0" encoding="UTF-8" standalone="yes"?>
<Relationships xmlns="http://schemas.openxmlformats.org/package/2006/relationships"><Relationship Id="rId2" Type="http://schemas.openxmlformats.org/officeDocument/2006/relationships/hyperlink" Target="https://aws.amazon.com/about-aws/whats-new/2021/04/amazon-rds-for-postgresql-supports-new-minor-versions/" TargetMode="External"/><Relationship Id="rId1" Type="http://schemas.openxmlformats.org/officeDocument/2006/relationships/slideLayout" Target="../slideLayouts/slideLayout9.xml"/></Relationships>
</file>

<file path=ppt/slides/_rels/slide451.xml.rels><?xml version="1.0" encoding="UTF-8" standalone="yes"?>
<Relationships xmlns="http://schemas.openxmlformats.org/package/2006/relationships"><Relationship Id="rId2" Type="http://schemas.openxmlformats.org/officeDocument/2006/relationships/hyperlink" Target="https://aws.amazon.com/about-aws/whats-new/2021/04/updated-classroom-course-systems-operations-on-aws/" TargetMode="External"/><Relationship Id="rId1" Type="http://schemas.openxmlformats.org/officeDocument/2006/relationships/slideLayout" Target="../slideLayouts/slideLayout9.xml"/></Relationships>
</file>

<file path=ppt/slides/_rels/slide452.xml.rels><?xml version="1.0" encoding="UTF-8" standalone="yes"?>
<Relationships xmlns="http://schemas.openxmlformats.org/package/2006/relationships"><Relationship Id="rId2" Type="http://schemas.openxmlformats.org/officeDocument/2006/relationships/hyperlink" Target="https://aws.amazon.com/about-aws/whats-new/2021/04/aws-batch-increases-job-scheduling-and-ec2-instance-scaling-performance/" TargetMode="External"/><Relationship Id="rId1" Type="http://schemas.openxmlformats.org/officeDocument/2006/relationships/slideLayout" Target="../slideLayouts/slideLayout9.xml"/></Relationships>
</file>

<file path=ppt/slides/_rels/slide453.xml.rels><?xml version="1.0" encoding="UTF-8" standalone="yes"?>
<Relationships xmlns="http://schemas.openxmlformats.org/package/2006/relationships"><Relationship Id="rId2" Type="http://schemas.openxmlformats.org/officeDocument/2006/relationships/hyperlink" Target="https://aws.amazon.com/about-aws/whats-new/2021/04/aws-identity-and-access-management-now-makes-it-easier-to-relate-a-users-iam-role-activity-to-their-corporate-identity/" TargetMode="External"/><Relationship Id="rId1" Type="http://schemas.openxmlformats.org/officeDocument/2006/relationships/slideLayout" Target="../slideLayouts/slideLayout9.xml"/></Relationships>
</file>

<file path=ppt/slides/_rels/slide454.xml.rels><?xml version="1.0" encoding="UTF-8" standalone="yes"?>
<Relationships xmlns="http://schemas.openxmlformats.org/package/2006/relationships"><Relationship Id="rId2" Type="http://schemas.openxmlformats.org/officeDocument/2006/relationships/hyperlink" Target="https://aws.amazon.com/about-aws/whats-new/2021/04/amazon-interactive-video-service-adds-new-cloudwatch-metrics/" TargetMode="External"/><Relationship Id="rId1" Type="http://schemas.openxmlformats.org/officeDocument/2006/relationships/slideLayout" Target="../slideLayouts/slideLayout9.xml"/></Relationships>
</file>

<file path=ppt/slides/_rels/slide455.xml.rels><?xml version="1.0" encoding="UTF-8" standalone="yes"?>
<Relationships xmlns="http://schemas.openxmlformats.org/package/2006/relationships"><Relationship Id="rId2" Type="http://schemas.openxmlformats.org/officeDocument/2006/relationships/hyperlink" Target="https://aws.amazon.com/about-aws/whats-new/2021/04/aws-console-mobile-application-adds-support-for-asia-pacific-osaka-region/" TargetMode="External"/><Relationship Id="rId1" Type="http://schemas.openxmlformats.org/officeDocument/2006/relationships/slideLayout" Target="../slideLayouts/slideLayout9.xml"/></Relationships>
</file>

<file path=ppt/slides/_rels/slide456.xml.rels><?xml version="1.0" encoding="UTF-8" standalone="yes"?>
<Relationships xmlns="http://schemas.openxmlformats.org/package/2006/relationships"><Relationship Id="rId2" Type="http://schemas.openxmlformats.org/officeDocument/2006/relationships/hyperlink" Target="https://aws.amazon.com/about-aws/whats-new/2021/04/amazon-redshift-supports-data-sharing-producer-clusters-paused/" TargetMode="External"/><Relationship Id="rId1" Type="http://schemas.openxmlformats.org/officeDocument/2006/relationships/slideLayout" Target="../slideLayouts/slideLayout9.xml"/></Relationships>
</file>

<file path=ppt/slides/_rels/slide457.xml.rels><?xml version="1.0" encoding="UTF-8" standalone="yes"?>
<Relationships xmlns="http://schemas.openxmlformats.org/package/2006/relationships"><Relationship Id="rId2" Type="http://schemas.openxmlformats.org/officeDocument/2006/relationships/hyperlink" Target="https://aws.amazon.com/about-aws/whats-new/2021/04/new-digital-rewards-racer-profile-personalization-features-aws-deepracer-console/" TargetMode="External"/><Relationship Id="rId1" Type="http://schemas.openxmlformats.org/officeDocument/2006/relationships/slideLayout" Target="../slideLayouts/slideLayout9.xml"/></Relationships>
</file>

<file path=ppt/slides/_rels/slide458.xml.rels><?xml version="1.0" encoding="UTF-8" standalone="yes"?>
<Relationships xmlns="http://schemas.openxmlformats.org/package/2006/relationships"><Relationship Id="rId2" Type="http://schemas.openxmlformats.org/officeDocument/2006/relationships/hyperlink" Target="https://aws.amazon.com/about-aws/whats-new/2021/04/amazon-rds-for-mysql-m6g-and-r6g-instances-now-available-in-n-california-canada-sao-paulo-and-london-regions/" TargetMode="External"/><Relationship Id="rId1" Type="http://schemas.openxmlformats.org/officeDocument/2006/relationships/slideLayout" Target="../slideLayouts/slideLayout9.xml"/></Relationships>
</file>

<file path=ppt/slides/_rels/slide459.xml.rels><?xml version="1.0" encoding="UTF-8" standalone="yes"?>
<Relationships xmlns="http://schemas.openxmlformats.org/package/2006/relationships"><Relationship Id="rId2" Type="http://schemas.openxmlformats.org/officeDocument/2006/relationships/hyperlink" Target="https://aws.amazon.com/about-aws/whats-new/2021/04/nice-dcv-releases-version-2021-0-webcam-redirection-printer-redirection/" TargetMode="External"/><Relationship Id="rId1" Type="http://schemas.openxmlformats.org/officeDocument/2006/relationships/slideLayout" Target="../slideLayouts/slideLayout9.xml"/></Relationships>
</file>

<file path=ppt/slides/_rels/slide460.xml.rels><?xml version="1.0" encoding="UTF-8" standalone="yes"?>
<Relationships xmlns="http://schemas.openxmlformats.org/package/2006/relationships"><Relationship Id="rId2" Type="http://schemas.openxmlformats.org/officeDocument/2006/relationships/hyperlink" Target="https://aws.amazon.com/about-aws/whats-new/2021/04/amazon-fsx-aws-backup-announce-support-copying-file-system-backups-across-regions-accounts/" TargetMode="External"/><Relationship Id="rId1" Type="http://schemas.openxmlformats.org/officeDocument/2006/relationships/slideLayout" Target="../slideLayouts/slideLayout9.xml"/></Relationships>
</file>

<file path=ppt/slides/_rels/slide461.xml.rels><?xml version="1.0" encoding="UTF-8" standalone="yes"?>
<Relationships xmlns="http://schemas.openxmlformats.org/package/2006/relationships"><Relationship Id="rId2" Type="http://schemas.openxmlformats.org/officeDocument/2006/relationships/hyperlink" Target="https://aws.amazon.com/about-aws/whats-new/2021/04/amazon-rsd-data-api-now-available-in-asia-pacific-seoul-and-canada-central-aws-regions/" TargetMode="External"/><Relationship Id="rId1" Type="http://schemas.openxmlformats.org/officeDocument/2006/relationships/slideLayout" Target="../slideLayouts/slideLayout9.xml"/></Relationships>
</file>

<file path=ppt/slides/_rels/slide462.xml.rels><?xml version="1.0" encoding="UTF-8" standalone="yes"?>
<Relationships xmlns="http://schemas.openxmlformats.org/package/2006/relationships"><Relationship Id="rId2" Type="http://schemas.openxmlformats.org/officeDocument/2006/relationships/hyperlink" Target="https://aws.amazon.com/about-aws/whats-new/2021/04/aws-transit-gateway-connect-available-additional-aws-regions/" TargetMode="External"/><Relationship Id="rId1" Type="http://schemas.openxmlformats.org/officeDocument/2006/relationships/slideLayout" Target="../slideLayouts/slideLayout9.xml"/></Relationships>
</file>

<file path=ppt/slides/_rels/slide463.xml.rels><?xml version="1.0" encoding="UTF-8" standalone="yes"?>
<Relationships xmlns="http://schemas.openxmlformats.org/package/2006/relationships"><Relationship Id="rId2" Type="http://schemas.openxmlformats.org/officeDocument/2006/relationships/hyperlink" Target="https://aws.amazon.com/about-aws/whats-new/2021/04/new-aws-solutions-implementation-amazon-s3-glacier-re-freezer/" TargetMode="External"/><Relationship Id="rId1" Type="http://schemas.openxmlformats.org/officeDocument/2006/relationships/slideLayout" Target="../slideLayouts/slideLayout9.xml"/></Relationships>
</file>

<file path=ppt/slides/_rels/slide464.xml.rels><?xml version="1.0" encoding="UTF-8" standalone="yes"?>
<Relationships xmlns="http://schemas.openxmlformats.org/package/2006/relationships"><Relationship Id="rId2" Type="http://schemas.openxmlformats.org/officeDocument/2006/relationships/hyperlink" Target="https://aws.amazon.com/about-aws/whats-new/2021/04/amazon-appstream-2-0-adds-support-fully-managed-image-updates/" TargetMode="External"/><Relationship Id="rId1" Type="http://schemas.openxmlformats.org/officeDocument/2006/relationships/slideLayout" Target="../slideLayouts/slideLayout9.xml"/></Relationships>
</file>

<file path=ppt/slides/_rels/slide465.xml.rels><?xml version="1.0" encoding="UTF-8" standalone="yes"?>
<Relationships xmlns="http://schemas.openxmlformats.org/package/2006/relationships"><Relationship Id="rId2" Type="http://schemas.openxmlformats.org/officeDocument/2006/relationships/hyperlink" Target="https://aws.amazon.com/about-aws/whats-new/2021/04/service-quotas-available-aws-govcloud-us-regions/" TargetMode="External"/><Relationship Id="rId1" Type="http://schemas.openxmlformats.org/officeDocument/2006/relationships/slideLayout" Target="../slideLayouts/slideLayout9.xml"/></Relationships>
</file>

<file path=ppt/slides/_rels/slide466.xml.rels><?xml version="1.0" encoding="UTF-8" standalone="yes"?>
<Relationships xmlns="http://schemas.openxmlformats.org/package/2006/relationships"><Relationship Id="rId2" Type="http://schemas.openxmlformats.org/officeDocument/2006/relationships/hyperlink" Target="https://aws.amazon.com/about-aws/whats-new/2021/04/internet-group-management-protocol-igmp-multicast-on-aws-transit-gateway-is-now-available-in-major-aws-regions-worldwide/" TargetMode="External"/><Relationship Id="rId1" Type="http://schemas.openxmlformats.org/officeDocument/2006/relationships/slideLayout" Target="../slideLayouts/slideLayout9.xml"/></Relationships>
</file>

<file path=ppt/slides/_rels/slide467.xml.rels><?xml version="1.0" encoding="UTF-8" standalone="yes"?>
<Relationships xmlns="http://schemas.openxmlformats.org/package/2006/relationships"><Relationship Id="rId2" Type="http://schemas.openxmlformats.org/officeDocument/2006/relationships/hyperlink" Target="https://aws.amazon.com/about-aws/whats-new/2021/04/aws-firewall-manager-available-aws-govcloud-regions/" TargetMode="External"/><Relationship Id="rId1" Type="http://schemas.openxmlformats.org/officeDocument/2006/relationships/slideLayout" Target="../slideLayouts/slideLayout9.xml"/></Relationships>
</file>

<file path=ppt/slides/_rels/slide468.xml.rels><?xml version="1.0" encoding="UTF-8" standalone="yes"?>
<Relationships xmlns="http://schemas.openxmlformats.org/package/2006/relationships"><Relationship Id="rId2" Type="http://schemas.openxmlformats.org/officeDocument/2006/relationships/hyperlink" Target="https://aws.amazon.com/about-aws/whats-new/2021/04/aws-cloudformation-command-line-interface-now-supports-typescript/" TargetMode="External"/><Relationship Id="rId1" Type="http://schemas.openxmlformats.org/officeDocument/2006/relationships/slideLayout" Target="../slideLayouts/slideLayout9.xml"/></Relationships>
</file>

<file path=ppt/slides/_rels/slide469.xml.rels><?xml version="1.0" encoding="UTF-8" standalone="yes"?>
<Relationships xmlns="http://schemas.openxmlformats.org/package/2006/relationships"><Relationship Id="rId2" Type="http://schemas.openxmlformats.org/officeDocument/2006/relationships/hyperlink" Target="https://aws.amazon.com/about-aws/whats-new/2021/04/amazon-rds-sql-server-supports-extended-events/" TargetMode="External"/><Relationship Id="rId1" Type="http://schemas.openxmlformats.org/officeDocument/2006/relationships/slideLayout" Target="../slideLayouts/slideLayout9.xml"/></Relationships>
</file>

<file path=ppt/slides/_rels/slide470.xml.rels><?xml version="1.0" encoding="UTF-8" standalone="yes"?>
<Relationships xmlns="http://schemas.openxmlformats.org/package/2006/relationships"><Relationship Id="rId2" Type="http://schemas.openxmlformats.org/officeDocument/2006/relationships/hyperlink" Target="https://aws.amazon.com/about-aws/whats-new/2021/04/amazon-athena-now-presents-query-execution-plans-to-aid-tuning/" TargetMode="External"/><Relationship Id="rId1" Type="http://schemas.openxmlformats.org/officeDocument/2006/relationships/slideLayout" Target="../slideLayouts/slideLayout9.xml"/></Relationships>
</file>

<file path=ppt/slides/_rels/slide471.xml.rels><?xml version="1.0" encoding="UTF-8" standalone="yes"?>
<Relationships xmlns="http://schemas.openxmlformats.org/package/2006/relationships"><Relationship Id="rId2" Type="http://schemas.openxmlformats.org/officeDocument/2006/relationships/hyperlink" Target="https://aws.amazon.com/about-aws/whats-new/2021/04/updated-classroom-course-aws-cloud-practitioner-essentials/" TargetMode="External"/><Relationship Id="rId1" Type="http://schemas.openxmlformats.org/officeDocument/2006/relationships/slideLayout" Target="../slideLayouts/slideLayout9.xml"/></Relationships>
</file>

<file path=ppt/slides/_rels/slide472.xml.rels><?xml version="1.0" encoding="UTF-8" standalone="yes"?>
<Relationships xmlns="http://schemas.openxmlformats.org/package/2006/relationships"><Relationship Id="rId2" Type="http://schemas.openxmlformats.org/officeDocument/2006/relationships/hyperlink" Target="https://aws.amazon.com/about-aws/whats-new/2021/04/amazon-customer-profiles-includes-support-aws-cloudformation/" TargetMode="External"/><Relationship Id="rId1" Type="http://schemas.openxmlformats.org/officeDocument/2006/relationships/slideLayout" Target="../slideLayouts/slideLayout9.xml"/></Relationships>
</file>

<file path=ppt/slides/_rels/slide473.xml.rels><?xml version="1.0" encoding="UTF-8" standalone="yes"?>
<Relationships xmlns="http://schemas.openxmlformats.org/package/2006/relationships"><Relationship Id="rId2" Type="http://schemas.openxmlformats.org/officeDocument/2006/relationships/hyperlink" Target="https://aws.amazon.com/about-aws/whats-new/2021/04/amazon-customer-profiles-includes-support-aws-privatelink/" TargetMode="External"/><Relationship Id="rId1" Type="http://schemas.openxmlformats.org/officeDocument/2006/relationships/slideLayout" Target="../slideLayouts/slideLayout9.xml"/></Relationships>
</file>

<file path=ppt/slides/_rels/slide474.xml.rels><?xml version="1.0" encoding="UTF-8" standalone="yes"?>
<Relationships xmlns="http://schemas.openxmlformats.org/package/2006/relationships"><Relationship Id="rId2" Type="http://schemas.openxmlformats.org/officeDocument/2006/relationships/hyperlink" Target="https://aws.amazon.com/about-aws/whats-new/2021/04/detect-abnormal-equipment-behavior-amazon-lookout-equipment-generally-available/" TargetMode="External"/><Relationship Id="rId1" Type="http://schemas.openxmlformats.org/officeDocument/2006/relationships/slideLayout" Target="../slideLayouts/slideLayout9.xml"/></Relationships>
</file>

<file path=ppt/slides/_rels/slide475.xml.rels><?xml version="1.0" encoding="UTF-8" standalone="yes"?>
<Relationships xmlns="http://schemas.openxmlformats.org/package/2006/relationships"><Relationship Id="rId2" Type="http://schemas.openxmlformats.org/officeDocument/2006/relationships/hyperlink" Target="https://aws.amazon.com/about-aws/whats-new/2021/04/eksctl-supports-creating-node-groups-resource-specifications-dry-run-mode/" TargetMode="External"/><Relationship Id="rId1" Type="http://schemas.openxmlformats.org/officeDocument/2006/relationships/slideLayout" Target="../slideLayouts/slideLayout9.xml"/></Relationships>
</file>

<file path=ppt/slides/_rels/slide476.xml.rels><?xml version="1.0" encoding="UTF-8" standalone="yes"?>
<Relationships xmlns="http://schemas.openxmlformats.org/package/2006/relationships"><Relationship Id="rId2" Type="http://schemas.openxmlformats.org/officeDocument/2006/relationships/hyperlink" Target="https://aws.amazon.com/about-aws/whats-new/2021/04/new-aws-solutions-consulting-offer-application-modernization-migration-aws/" TargetMode="External"/><Relationship Id="rId1" Type="http://schemas.openxmlformats.org/officeDocument/2006/relationships/slideLayout" Target="../slideLayouts/slideLayout9.xml"/></Relationships>
</file>

<file path=ppt/slides/_rels/slide477.xml.rels><?xml version="1.0" encoding="UTF-8" standalone="yes"?>
<Relationships xmlns="http://schemas.openxmlformats.org/package/2006/relationships"><Relationship Id="rId2" Type="http://schemas.openxmlformats.org/officeDocument/2006/relationships/hyperlink" Target="https://aws.amazon.com/about-aws/whats-new/2021/04/amazon-ec2-instances-featuring-amd-epyc-processors-are-now-available-in-additional-regions/" TargetMode="External"/><Relationship Id="rId1" Type="http://schemas.openxmlformats.org/officeDocument/2006/relationships/slideLayout" Target="../slideLayouts/slideLayout9.xml"/></Relationships>
</file>

<file path=ppt/slides/_rels/slide478.xml.rels><?xml version="1.0" encoding="UTF-8" standalone="yes"?>
<Relationships xmlns="http://schemas.openxmlformats.org/package/2006/relationships"><Relationship Id="rId2" Type="http://schemas.openxmlformats.org/officeDocument/2006/relationships/hyperlink" Target="https://aws.amazon.com/about-aws/whats-new/2021/04/aws-iot-analytics-adds-schema-inference-support-for-apache-parquet-based-data-stores/" TargetMode="External"/><Relationship Id="rId1" Type="http://schemas.openxmlformats.org/officeDocument/2006/relationships/slideLayout" Target="../slideLayouts/slideLayout9.xml"/></Relationships>
</file>

<file path=ppt/slides/_rels/slide479.xml.rels><?xml version="1.0" encoding="UTF-8" standalone="yes"?>
<Relationships xmlns="http://schemas.openxmlformats.org/package/2006/relationships"><Relationship Id="rId2" Type="http://schemas.openxmlformats.org/officeDocument/2006/relationships/hyperlink" Target="https://aws.amazon.com/about-aws/whats-new/2021/04/customers-can-now-use-servicenow-to-track-operational-items-related-to-aws-resources/" TargetMode="External"/><Relationship Id="rId1" Type="http://schemas.openxmlformats.org/officeDocument/2006/relationships/slideLayout" Target="../slideLayouts/slideLayout9.xml"/></Relationships>
</file>

<file path=ppt/slides/_rels/slide480.xml.rels><?xml version="1.0" encoding="UTF-8" standalone="yes"?>
<Relationships xmlns="http://schemas.openxmlformats.org/package/2006/relationships"><Relationship Id="rId2" Type="http://schemas.openxmlformats.org/officeDocument/2006/relationships/hyperlink" Target="https://aws.amazon.com/about-aws/whats-new/2021/04/aws-control-tower-introduces-changes-to-preventive-s3-guardrails-and-updates-to-s3-bucket-encryption-protocols/" TargetMode="External"/><Relationship Id="rId1" Type="http://schemas.openxmlformats.org/officeDocument/2006/relationships/slideLayout" Target="../slideLayouts/slideLayout9.xml"/></Relationships>
</file>

<file path=ppt/slides/_rels/slide481.xml.rels><?xml version="1.0" encoding="UTF-8" standalone="yes"?>
<Relationships xmlns="http://schemas.openxmlformats.org/package/2006/relationships"><Relationship Id="rId2" Type="http://schemas.openxmlformats.org/officeDocument/2006/relationships/hyperlink" Target="https://aws.amazon.com/about-aws/whats-new/2021/04/new-aws-solutions-consulting-offer-regcloud-controllerview-on-aws/" TargetMode="External"/><Relationship Id="rId1" Type="http://schemas.openxmlformats.org/officeDocument/2006/relationships/slideLayout" Target="../slideLayouts/slideLayout9.xml"/></Relationships>
</file>

<file path=ppt/slides/_rels/slide482.xml.rels><?xml version="1.0" encoding="UTF-8" standalone="yes"?>
<Relationships xmlns="http://schemas.openxmlformats.org/package/2006/relationships"><Relationship Id="rId2" Type="http://schemas.openxmlformats.org/officeDocument/2006/relationships/hyperlink" Target="https://aws.amazon.com/about-aws/whats-new/2021/04/aws-robomaker-now-supports-the-ability-to-configure-tools-for-simulation-jobs/" TargetMode="External"/><Relationship Id="rId1" Type="http://schemas.openxmlformats.org/officeDocument/2006/relationships/slideLayout" Target="../slideLayouts/slideLayout9.xml"/></Relationships>
</file>

<file path=ppt/slides/_rels/slide483.xml.rels><?xml version="1.0" encoding="UTF-8" standalone="yes"?>
<Relationships xmlns="http://schemas.openxmlformats.org/package/2006/relationships"><Relationship Id="rId2" Type="http://schemas.openxmlformats.org/officeDocument/2006/relationships/hyperlink" Target="https://aws.amazon.com/about-aws/whats-new/2021/04/aws-step-functions-adds-new-data-flow-simulator-for-modelling-input-and-output-processing/" TargetMode="External"/><Relationship Id="rId1" Type="http://schemas.openxmlformats.org/officeDocument/2006/relationships/slideLayout" Target="../slideLayouts/slideLayout9.xml"/></Relationships>
</file>

<file path=ppt/slides/_rels/slide484.xml.rels><?xml version="1.0" encoding="UTF-8" standalone="yes"?>
<Relationships xmlns="http://schemas.openxmlformats.org/package/2006/relationships"><Relationship Id="rId2" Type="http://schemas.openxmlformats.org/officeDocument/2006/relationships/hyperlink" Target="https://aws.amazon.com/about-aws/whats-new/2021/04/amazon-guardduty-now-available-in-aws-asia-pacific-osaka-region/" TargetMode="External"/><Relationship Id="rId1" Type="http://schemas.openxmlformats.org/officeDocument/2006/relationships/slideLayout" Target="../slideLayouts/slideLayout9.xml"/></Relationships>
</file>

<file path=ppt/slides/_rels/slide485.xml.rels><?xml version="1.0" encoding="UTF-8" standalone="yes"?>
<Relationships xmlns="http://schemas.openxmlformats.org/package/2006/relationships"><Relationship Id="rId2" Type="http://schemas.openxmlformats.org/officeDocument/2006/relationships/hyperlink" Target="https://aws.amazon.com/about-aws/whats-new/2021/04/amazon-keyspaces-for-apache-cassandra-now-offers-fips-140-2-compliant-endpoints/" TargetMode="External"/><Relationship Id="rId1" Type="http://schemas.openxmlformats.org/officeDocument/2006/relationships/slideLayout" Target="../slideLayouts/slideLayout9.xml"/></Relationships>
</file>

<file path=ppt/slides/_rels/slide486.xml.rels><?xml version="1.0" encoding="UTF-8" standalone="yes"?>
<Relationships xmlns="http://schemas.openxmlformats.org/package/2006/relationships"><Relationship Id="rId2" Type="http://schemas.openxmlformats.org/officeDocument/2006/relationships/hyperlink" Target="https://aws.amazon.com/about-aws/whats-new/2021/04/deploy-cloudformation-stacks-concurrently-across-multiple-aws-regions-using-aws-cloudformation-stacksets/" TargetMode="External"/><Relationship Id="rId1" Type="http://schemas.openxmlformats.org/officeDocument/2006/relationships/slideLayout" Target="../slideLayouts/slideLayout9.xml"/></Relationships>
</file>

<file path=ppt/slides/_rels/slide487.xml.rels><?xml version="1.0" encoding="UTF-8" standalone="yes"?>
<Relationships xmlns="http://schemas.openxmlformats.org/package/2006/relationships"><Relationship Id="rId2" Type="http://schemas.openxmlformats.org/officeDocument/2006/relationships/hyperlink" Target="https://aws.amazon.com/about-aws/whats-new/2021/04/aws-control-tower-now-available-in-mumbai-seoul-and-tokyo-aws-regions/" TargetMode="External"/><Relationship Id="rId1" Type="http://schemas.openxmlformats.org/officeDocument/2006/relationships/slideLayout" Target="../slideLayouts/slideLayout9.xml"/></Relationships>
</file>

<file path=ppt/slides/_rels/slide488.xml.rels><?xml version="1.0" encoding="UTF-8" standalone="yes"?>
<Relationships xmlns="http://schemas.openxmlformats.org/package/2006/relationships"><Relationship Id="rId2" Type="http://schemas.openxmlformats.org/officeDocument/2006/relationships/hyperlink" Target="https://aws.amazon.com/about-aws/whats-new/2021/04/amazon-fraud-detector-automates-sampling-for-imbalanced-model-training-datasets/" TargetMode="External"/><Relationship Id="rId1" Type="http://schemas.openxmlformats.org/officeDocument/2006/relationships/slideLayout" Target="../slideLayouts/slideLayout9.xml"/></Relationships>
</file>

<file path=ppt/slides/_rels/slide489.xml.rels><?xml version="1.0" encoding="UTF-8" standalone="yes"?>
<Relationships xmlns="http://schemas.openxmlformats.org/package/2006/relationships"><Relationship Id="rId2" Type="http://schemas.openxmlformats.org/officeDocument/2006/relationships/hyperlink" Target="https://aws.amazon.com/about-aws/whats-new/2021/04/aws-glue-now-supports-missing-value-imputation-based-on-machine-learning/" TargetMode="External"/><Relationship Id="rId1" Type="http://schemas.openxmlformats.org/officeDocument/2006/relationships/slideLayout" Target="../slideLayouts/slideLayout9.xml"/></Relationships>
</file>

<file path=ppt/slides/_rels/slide490.xml.rels><?xml version="1.0" encoding="UTF-8" standalone="yes"?>
<Relationships xmlns="http://schemas.openxmlformats.org/package/2006/relationships"><Relationship Id="rId2" Type="http://schemas.openxmlformats.org/officeDocument/2006/relationships/hyperlink" Target="https://aws.amazon.com/about-aws/whats-new/2021/04/amazon-mq-now-supports-rabbitmq-version-3-8-11/" TargetMode="External"/><Relationship Id="rId1" Type="http://schemas.openxmlformats.org/officeDocument/2006/relationships/slideLayout" Target="../slideLayouts/slideLayout9.xml"/></Relationships>
</file>

<file path=ppt/slides/_rels/slide491.xml.rels><?xml version="1.0" encoding="UTF-8" standalone="yes"?>
<Relationships xmlns="http://schemas.openxmlformats.org/package/2006/relationships"><Relationship Id="rId2" Type="http://schemas.openxmlformats.org/officeDocument/2006/relationships/hyperlink" Target="https://aws.amazon.com/about-aws/whats-new/2021/04/amazon-elasticache-supports-tag-based-access-control/" TargetMode="External"/><Relationship Id="rId1" Type="http://schemas.openxmlformats.org/officeDocument/2006/relationships/slideLayout" Target="../slideLayouts/slideLayout9.xml"/></Relationships>
</file>

<file path=ppt/slides/_rels/slide492.xml.rels><?xml version="1.0" encoding="UTF-8" standalone="yes"?>
<Relationships xmlns="http://schemas.openxmlformats.org/package/2006/relationships"><Relationship Id="rId2" Type="http://schemas.openxmlformats.org/officeDocument/2006/relationships/hyperlink" Target="https://aws.amazon.com/about-aws/whats-new/2021/04/aws-backup-now-supports-cost-allocation-tags-for-amazon-efs-backups/" TargetMode="External"/><Relationship Id="rId1" Type="http://schemas.openxmlformats.org/officeDocument/2006/relationships/slideLayout" Target="../slideLayouts/slideLayout9.xml"/></Relationships>
</file>

<file path=ppt/slides/_rels/slide493.xml.rels><?xml version="1.0" encoding="UTF-8" standalone="yes"?>
<Relationships xmlns="http://schemas.openxmlformats.org/package/2006/relationships"><Relationship Id="rId2" Type="http://schemas.openxmlformats.org/officeDocument/2006/relationships/hyperlink" Target="https://aws.amazon.com/about-aws/whats-new/2021/04/amplify-ios-now-available-via-swift-package-manager-spm/" TargetMode="External"/><Relationship Id="rId1" Type="http://schemas.openxmlformats.org/officeDocument/2006/relationships/slideLayout" Target="../slideLayouts/slideLayout9.xml"/></Relationships>
</file>

<file path=ppt/slides/_rels/slide494.xml.rels><?xml version="1.0" encoding="UTF-8" standalone="yes"?>
<Relationships xmlns="http://schemas.openxmlformats.org/package/2006/relationships"><Relationship Id="rId2" Type="http://schemas.openxmlformats.org/officeDocument/2006/relationships/hyperlink" Target="https://aws.amazon.com/about-aws/whats-new/2021/04/multi-attach-for-provisioned-iops-io2-now-available-in-additional-regions/" TargetMode="External"/><Relationship Id="rId1" Type="http://schemas.openxmlformats.org/officeDocument/2006/relationships/slideLayout" Target="../slideLayouts/slideLayout9.xml"/></Relationships>
</file>

<file path=ppt/slides/_rels/slide495.xml.rels><?xml version="1.0" encoding="UTF-8" standalone="yes"?>
<Relationships xmlns="http://schemas.openxmlformats.org/package/2006/relationships"><Relationship Id="rId2" Type="http://schemas.openxmlformats.org/officeDocument/2006/relationships/hyperlink" Target="https://aws.amazon.com/about-aws/whats-new/2021/04/amazon-interactive-video-service-adds-support-recording-live-streams-amazon-s3/" TargetMode="External"/><Relationship Id="rId1" Type="http://schemas.openxmlformats.org/officeDocument/2006/relationships/slideLayout" Target="../slideLayouts/slideLayout9.xml"/></Relationships>
</file>

<file path=ppt/slides/_rels/slide496.xml.rels><?xml version="1.0" encoding="UTF-8" standalone="yes"?>
<Relationships xmlns="http://schemas.openxmlformats.org/package/2006/relationships"><Relationship Id="rId2" Type="http://schemas.openxmlformats.org/officeDocument/2006/relationships/hyperlink" Target="https://aws.amazon.com/about-aws/whats-new/2021/04/new-instructor-led-course-developing-serverless-solutions-on-aws/" TargetMode="External"/><Relationship Id="rId1" Type="http://schemas.openxmlformats.org/officeDocument/2006/relationships/slideLayout" Target="../slideLayouts/slideLayout9.xml"/></Relationships>
</file>

<file path=ppt/slides/_rels/slide497.xml.rels><?xml version="1.0" encoding="UTF-8" standalone="yes"?>
<Relationships xmlns="http://schemas.openxmlformats.org/package/2006/relationships"><Relationship Id="rId2" Type="http://schemas.openxmlformats.org/officeDocument/2006/relationships/hyperlink" Target="https://aws.amazon.com/about-aws/whats-new/2021/04/aws-systems-manager-parameter-store-now-supports-removal-of-parameter-labels/" TargetMode="External"/><Relationship Id="rId1" Type="http://schemas.openxmlformats.org/officeDocument/2006/relationships/slideLayout" Target="../slideLayouts/slideLayout9.xml"/></Relationships>
</file>

<file path=ppt/slides/_rels/slide498.xml.rels><?xml version="1.0" encoding="UTF-8" standalone="yes"?>
<Relationships xmlns="http://schemas.openxmlformats.org/package/2006/relationships"><Relationship Id="rId2" Type="http://schemas.openxmlformats.org/officeDocument/2006/relationships/hyperlink" Target="https://aws.amazon.com/about-aws/whats-new/2021/04/amazon-ec2-g4ad-instances-available-in-additional-regions/" TargetMode="External"/><Relationship Id="rId1" Type="http://schemas.openxmlformats.org/officeDocument/2006/relationships/slideLayout" Target="../slideLayouts/slideLayout9.xml"/></Relationships>
</file>

<file path=ppt/slides/_rels/slide499.xml.rels><?xml version="1.0" encoding="UTF-8" standalone="yes"?>
<Relationships xmlns="http://schemas.openxmlformats.org/package/2006/relationships"><Relationship Id="rId2" Type="http://schemas.openxmlformats.org/officeDocument/2006/relationships/hyperlink" Target="https://aws.amazon.com/about-aws/whats-new/2021/04/amazon-ec2-allows-copy-amazon-machine-images-across-aws-govcloud-aws-china-other-regions/" TargetMode="External"/><Relationship Id="rId1" Type="http://schemas.openxmlformats.org/officeDocument/2006/relationships/slideLayout" Target="../slideLayouts/slideLayout9.xml"/></Relationships>
</file>

<file path=ppt/slides/_rels/slide500.xml.rels><?xml version="1.0" encoding="UTF-8" standalone="yes"?>
<Relationships xmlns="http://schemas.openxmlformats.org/package/2006/relationships"><Relationship Id="rId2" Type="http://schemas.openxmlformats.org/officeDocument/2006/relationships/hyperlink" Target="https://aws.amazon.com/about-aws/whats-new/2021/04/amazon-codeguru-announces-new-lower-predictable-pricing-model-codeguru-reviewer/" TargetMode="External"/><Relationship Id="rId1" Type="http://schemas.openxmlformats.org/officeDocument/2006/relationships/slideLayout" Target="../slideLayouts/slideLayout9.xml"/></Relationships>
</file>

<file path=ppt/slides/_rels/slide501.xml.rels><?xml version="1.0" encoding="UTF-8" standalone="yes"?>
<Relationships xmlns="http://schemas.openxmlformats.org/package/2006/relationships"><Relationship Id="rId2" Type="http://schemas.openxmlformats.org/officeDocument/2006/relationships/hyperlink" Target="https://aws.amazon.com/about-aws/whats-new/2021/04/python-support-amazon-codeguru-reviewer-now-generally-available/" TargetMode="External"/><Relationship Id="rId1" Type="http://schemas.openxmlformats.org/officeDocument/2006/relationships/slideLayout" Target="../slideLayouts/slideLayout9.xml"/></Relationships>
</file>

<file path=ppt/slides/_rels/slide502.xml.rels><?xml version="1.0" encoding="UTF-8" standalone="yes"?>
<Relationships xmlns="http://schemas.openxmlformats.org/package/2006/relationships"><Relationship Id="rId2" Type="http://schemas.openxmlformats.org/officeDocument/2006/relationships/hyperlink" Target="https://aws.amazon.com/about-aws/whats-new/2021/04/aws-batch-simplifies-permissions-introducing-service-linked-roles/" TargetMode="External"/><Relationship Id="rId1" Type="http://schemas.openxmlformats.org/officeDocument/2006/relationships/slideLayout" Target="../slideLayouts/slideLayout9.xml"/></Relationships>
</file>

<file path=ppt/slides/_rels/slide503.xml.rels><?xml version="1.0" encoding="UTF-8" standalone="yes"?>
<Relationships xmlns="http://schemas.openxmlformats.org/package/2006/relationships"><Relationship Id="rId2" Type="http://schemas.openxmlformats.org/officeDocument/2006/relationships/hyperlink" Target="https://aws.amazon.com/about-aws/whats-new/2021/04/data-management-is-now-generally-available-in-the-aws-amplify-admin-ui/" TargetMode="External"/><Relationship Id="rId1" Type="http://schemas.openxmlformats.org/officeDocument/2006/relationships/slideLayout" Target="../slideLayouts/slideLayout9.xml"/></Relationships>
</file>

<file path=ppt/slides/_rels/slide504.xml.rels><?xml version="1.0" encoding="UTF-8" standalone="yes"?>
<Relationships xmlns="http://schemas.openxmlformats.org/package/2006/relationships"><Relationship Id="rId2" Type="http://schemas.openxmlformats.org/officeDocument/2006/relationships/hyperlink" Target="https://aws.amazon.com/about-aws/whats-new/2021/04/aws-elemental-medialive-now-supports-html-5-motion-graphics-overlay/" TargetMode="External"/><Relationship Id="rId1" Type="http://schemas.openxmlformats.org/officeDocument/2006/relationships/slideLayout" Target="../slideLayouts/slideLayout9.xml"/></Relationships>
</file>

<file path=ppt/slides/_rels/slide505.xml.rels><?xml version="1.0" encoding="UTF-8" standalone="yes"?>
<Relationships xmlns="http://schemas.openxmlformats.org/package/2006/relationships"><Relationship Id="rId2" Type="http://schemas.openxmlformats.org/officeDocument/2006/relationships/hyperlink" Target="https://aws.amazon.com/about-aws/whats-new/2021/04/aws-systems-manager-run-command-now-displays-more-logs-enables-log-downloads-from-console/" TargetMode="External"/><Relationship Id="rId1" Type="http://schemas.openxmlformats.org/officeDocument/2006/relationships/slideLayout" Target="../slideLayouts/slideLayout9.xml"/></Relationships>
</file>

<file path=ppt/slides/_rels/slide506.xml.rels><?xml version="1.0" encoding="UTF-8" standalone="yes"?>
<Relationships xmlns="http://schemas.openxmlformats.org/package/2006/relationships"><Relationship Id="rId2" Type="http://schemas.openxmlformats.org/officeDocument/2006/relationships/hyperlink" Target="https://aws.amazon.com/about-aws/whats-new/2021/04/amazon-workspaces-webcam-support-generally-available/" TargetMode="External"/><Relationship Id="rId1" Type="http://schemas.openxmlformats.org/officeDocument/2006/relationships/slideLayout" Target="../slideLayouts/slideLayout9.xml"/></Relationships>
</file>

<file path=ppt/slides/_rels/slide507.xml.rels><?xml version="1.0" encoding="UTF-8" standalone="yes"?>
<Relationships xmlns="http://schemas.openxmlformats.org/package/2006/relationships"><Relationship Id="rId2" Type="http://schemas.openxmlformats.org/officeDocument/2006/relationships/hyperlink" Target="https://aws.amazon.com/about-aws/whats-new/2021/04/new-options-trigger-amazon-sagemaker-pipeline-executions/" TargetMode="External"/><Relationship Id="rId1" Type="http://schemas.openxmlformats.org/officeDocument/2006/relationships/slideLayout" Target="../slideLayouts/slideLayout9.xml"/></Relationships>
</file>

<file path=ppt/slides/_rels/slide508.xml.rels><?xml version="1.0" encoding="UTF-8" standalone="yes"?>
<Relationships xmlns="http://schemas.openxmlformats.org/package/2006/relationships"><Relationship Id="rId2" Type="http://schemas.openxmlformats.org/officeDocument/2006/relationships/hyperlink" Target="https://aws.amazon.com/about-aws/whats-new/2021/04/amazon-mq-available-japan-osaka-region/" TargetMode="External"/><Relationship Id="rId1" Type="http://schemas.openxmlformats.org/officeDocument/2006/relationships/slideLayout" Target="../slideLayouts/slideLayout9.xml"/></Relationships>
</file>

<file path=ppt/slides/_rels/slide509.xml.rels><?xml version="1.0" encoding="UTF-8" standalone="yes"?>
<Relationships xmlns="http://schemas.openxmlformats.org/package/2006/relationships"><Relationship Id="rId2" Type="http://schemas.openxmlformats.org/officeDocument/2006/relationships/hyperlink" Target="https://aws.amazon.com/about-aws/whats-new/2021/04/new-aws-solutions-consulting-offer-design-build-applications-speed-dapx/" TargetMode="External"/><Relationship Id="rId1" Type="http://schemas.openxmlformats.org/officeDocument/2006/relationships/slideLayout" Target="../slideLayouts/slideLayout9.xml"/></Relationships>
</file>

<file path=ppt/slides/_rels/slide510.xml.rels><?xml version="1.0" encoding="UTF-8" standalone="yes"?>
<Relationships xmlns="http://schemas.openxmlformats.org/package/2006/relationships"><Relationship Id="rId2" Type="http://schemas.openxmlformats.org/officeDocument/2006/relationships/hyperlink" Target="https://aws.amazon.com/about-aws/whats-new/2021/04/amazon-workspaces-now-supports-smart-cards-with-the-workspaces-macos-client-application/" TargetMode="External"/><Relationship Id="rId1" Type="http://schemas.openxmlformats.org/officeDocument/2006/relationships/slideLayout" Target="../slideLayouts/slideLayout9.xml"/></Relationships>
</file>

<file path=ppt/slides/_rels/slide511.xml.rels><?xml version="1.0" encoding="UTF-8" standalone="yes"?>
<Relationships xmlns="http://schemas.openxmlformats.org/package/2006/relationships"><Relationship Id="rId2" Type="http://schemas.openxmlformats.org/officeDocument/2006/relationships/hyperlink" Target="https://aws.amazon.com/about-aws/whats-new/2021/04/amazon-macie-now-available-in-aws-asia-pacific-osaka-region/" TargetMode="External"/><Relationship Id="rId1" Type="http://schemas.openxmlformats.org/officeDocument/2006/relationships/slideLayout" Target="../slideLayouts/slideLayout9.xml"/></Relationships>
</file>

<file path=ppt/slides/_rels/slide512.xml.rels><?xml version="1.0" encoding="UTF-8" standalone="yes"?>
<Relationships xmlns="http://schemas.openxmlformats.org/package/2006/relationships"><Relationship Id="rId2" Type="http://schemas.openxmlformats.org/officeDocument/2006/relationships/hyperlink" Target="https://aws.amazon.com/about-aws/whats-new/2021/04/amazon-aurora-postgresql-patches-now-available/" TargetMode="External"/><Relationship Id="rId1" Type="http://schemas.openxmlformats.org/officeDocument/2006/relationships/slideLayout" Target="../slideLayouts/slideLayout9.xml"/></Relationships>
</file>

<file path=ppt/slides/_rels/slide513.xml.rels><?xml version="1.0" encoding="UTF-8" standalone="yes"?>
<Relationships xmlns="http://schemas.openxmlformats.org/package/2006/relationships"><Relationship Id="rId2" Type="http://schemas.openxmlformats.org/officeDocument/2006/relationships/hyperlink" Target="https://aws.amazon.com/about-aws/whats-new/2021/04/aws-budgets-announces-cloudformation-support-for-budget-actions/" TargetMode="External"/><Relationship Id="rId1" Type="http://schemas.openxmlformats.org/officeDocument/2006/relationships/slideLayout" Target="../slideLayouts/slideLayout9.xml"/></Relationships>
</file>

<file path=ppt/slides/_rels/slide514.xml.rels><?xml version="1.0" encoding="UTF-8" standalone="yes"?>
<Relationships xmlns="http://schemas.openxmlformats.org/package/2006/relationships"><Relationship Id="rId2" Type="http://schemas.openxmlformats.org/officeDocument/2006/relationships/hyperlink" Target="https://aws.amazon.com/about-aws/whats-new/2021/04/announcing-support-iam-condition-keys-cmk-custom-models-amazon-comprehend/" TargetMode="External"/><Relationship Id="rId1" Type="http://schemas.openxmlformats.org/officeDocument/2006/relationships/slideLayout" Target="../slideLayouts/slideLayout9.xml"/></Relationships>
</file>

<file path=ppt/slides/_rels/slide515.xml.rels><?xml version="1.0" encoding="UTF-8" standalone="yes"?>
<Relationships xmlns="http://schemas.openxmlformats.org/package/2006/relationships"><Relationship Id="rId2" Type="http://schemas.openxmlformats.org/officeDocument/2006/relationships/hyperlink" Target="https://aws.amazon.com/about-aws/whats-new/2021/04/aws-waf-supports-labels-to-improve-rule-customiazation-and-reporting/" TargetMode="External"/><Relationship Id="rId1" Type="http://schemas.openxmlformats.org/officeDocument/2006/relationships/slideLayout" Target="../slideLayouts/slideLayout9.xml"/></Relationships>
</file>

<file path=ppt/slides/_rels/slide516.xml.rels><?xml version="1.0" encoding="UTF-8" standalone="yes"?>
<Relationships xmlns="http://schemas.openxmlformats.org/package/2006/relationships"><Relationship Id="rId2" Type="http://schemas.openxmlformats.org/officeDocument/2006/relationships/hyperlink" Target="https://aws.amazon.com/about-aws/whats-new/2021/04/prepare-data-from-amazon-redshift-other-databases-in-aws-glue-databrew/" TargetMode="External"/><Relationship Id="rId1" Type="http://schemas.openxmlformats.org/officeDocument/2006/relationships/slideLayout" Target="../slideLayouts/slideLayout9.xml"/></Relationships>
</file>

<file path=ppt/slides/_rels/slide517.xml.rels><?xml version="1.0" encoding="UTF-8" standalone="yes"?>
<Relationships xmlns="http://schemas.openxmlformats.org/package/2006/relationships"><Relationship Id="rId2" Type="http://schemas.openxmlformats.org/officeDocument/2006/relationships/hyperlink" Target="https://aws.amazon.com/about-aws/whats-new/2021/04/amazon-vpc-flow-logs-announces-out-of-box-integration-with-amazon-athena/" TargetMode="External"/><Relationship Id="rId1" Type="http://schemas.openxmlformats.org/officeDocument/2006/relationships/slideLayout" Target="../slideLayouts/slideLayout9.xml"/></Relationships>
</file>

<file path=ppt/slides/_rels/slide518.xml.rels><?xml version="1.0" encoding="UTF-8" standalone="yes"?>
<Relationships xmlns="http://schemas.openxmlformats.org/package/2006/relationships"><Relationship Id="rId2" Type="http://schemas.openxmlformats.org/officeDocument/2006/relationships/hyperlink" Target="https://aws.amazon.com/about-aws/whats-new/2021/04/bring-your-own-ip-amazon-virtual-private-cloud-available-additional-regions/" TargetMode="External"/><Relationship Id="rId1" Type="http://schemas.openxmlformats.org/officeDocument/2006/relationships/slideLayout" Target="../slideLayouts/slideLayout9.xml"/></Relationships>
</file>

<file path=ppt/slides/_rels/slide519.xml.rels><?xml version="1.0" encoding="UTF-8" standalone="yes"?>
<Relationships xmlns="http://schemas.openxmlformats.org/package/2006/relationships"><Relationship Id="rId2" Type="http://schemas.openxmlformats.org/officeDocument/2006/relationships/hyperlink" Target="https://aws.amazon.com/about-aws/whats-new/2021/04/amazon-eks-is-now-fedramp-high-compliant/" TargetMode="External"/><Relationship Id="rId1" Type="http://schemas.openxmlformats.org/officeDocument/2006/relationships/slideLayout" Target="../slideLayouts/slideLayout9.xml"/></Relationships>
</file>

<file path=ppt/slides/_rels/slide520.xml.rels><?xml version="1.0" encoding="UTF-8" standalone="yes"?>
<Relationships xmlns="http://schemas.openxmlformats.org/package/2006/relationships"><Relationship Id="rId2" Type="http://schemas.openxmlformats.org/officeDocument/2006/relationships/hyperlink" Target="https://aws.amazon.com/about-aws/whats-new/2021/04/aws-firewall-manager-supports-centralized-deployment-new-aws-waf-bot-control/" TargetMode="External"/><Relationship Id="rId1" Type="http://schemas.openxmlformats.org/officeDocument/2006/relationships/slideLayout" Target="../slideLayouts/slideLayout9.xml"/></Relationships>
</file>

<file path=ppt/slides/_rels/slide521.xml.rels><?xml version="1.0" encoding="UTF-8" standalone="yes"?>
<Relationships xmlns="http://schemas.openxmlformats.org/package/2006/relationships"><Relationship Id="rId2" Type="http://schemas.openxmlformats.org/officeDocument/2006/relationships/hyperlink" Target="https://aws.amazon.com/about-aws/whats-new/2021/04/aws-batch-supports-efs-volumes-job-level/" TargetMode="External"/><Relationship Id="rId1" Type="http://schemas.openxmlformats.org/officeDocument/2006/relationships/slideLayout" Target="../slideLayouts/slideLayout9.xml"/></Relationships>
</file>

<file path=ppt/slides/_rels/slide522.xml.rels><?xml version="1.0" encoding="UTF-8" standalone="yes"?>
<Relationships xmlns="http://schemas.openxmlformats.org/package/2006/relationships"><Relationship Id="rId2" Type="http://schemas.openxmlformats.org/officeDocument/2006/relationships/hyperlink" Target="https://aws.amazon.com/about-aws/whats-new/2021/04/announcing-cross-vpc-support-for-amazon-redshift-powered-by-aws-privatelink/" TargetMode="External"/><Relationship Id="rId1" Type="http://schemas.openxmlformats.org/officeDocument/2006/relationships/slideLayout" Target="../slideLayouts/slideLayout9.xml"/></Relationships>
</file>

<file path=ppt/slides/_rels/slide523.xml.rels><?xml version="1.0" encoding="UTF-8" standalone="yes"?>
<Relationships xmlns="http://schemas.openxmlformats.org/package/2006/relationships"><Relationship Id="rId2" Type="http://schemas.openxmlformats.org/officeDocument/2006/relationships/hyperlink" Target="https://aws.amazon.com/about-aws/whats-new/2021/04/amazon-lightsail-expands-blueprint-selection-with-support-for-prestashop-and-centos/" TargetMode="External"/><Relationship Id="rId1" Type="http://schemas.openxmlformats.org/officeDocument/2006/relationships/slideLayout" Target="../slideLayouts/slideLayout9.xml"/></Relationships>
</file>

<file path=ppt/slides/_rels/slide524.xml.rels><?xml version="1.0" encoding="UTF-8" standalone="yes"?>
<Relationships xmlns="http://schemas.openxmlformats.org/package/2006/relationships"><Relationship Id="rId2" Type="http://schemas.openxmlformats.org/officeDocument/2006/relationships/hyperlink" Target="https://aws.amazon.com/about-aws/whats-new/2021/04/announcing-amazon-forecast-weather-index-canada/" TargetMode="External"/><Relationship Id="rId1" Type="http://schemas.openxmlformats.org/officeDocument/2006/relationships/slideLayout" Target="../slideLayouts/slideLayout9.xml"/></Relationships>
</file>

<file path=ppt/slides/_rels/slide525.xml.rels><?xml version="1.0" encoding="UTF-8" standalone="yes"?>
<Relationships xmlns="http://schemas.openxmlformats.org/package/2006/relationships"><Relationship Id="rId2" Type="http://schemas.openxmlformats.org/officeDocument/2006/relationships/hyperlink" Target="https://aws.amazon.com/about-aws/whats-new/2021/04/amazon-emr-supported-on-amazon-ec2-graviton-2-based-instances-in-govcloud-regions/" TargetMode="External"/><Relationship Id="rId1" Type="http://schemas.openxmlformats.org/officeDocument/2006/relationships/slideLayout" Target="../slideLayouts/slideLayout9.xml"/></Relationships>
</file>

<file path=ppt/slides/_rels/slide526.xml.rels><?xml version="1.0" encoding="UTF-8" standalone="yes"?>
<Relationships xmlns="http://schemas.openxmlformats.org/package/2006/relationships"><Relationship Id="rId2" Type="http://schemas.openxmlformats.org/officeDocument/2006/relationships/hyperlink" Target="https://aws.amazon.com/about-aws/whats-new/2021/04/aws-systems-manager-parameter-store-supports-easier-public-parameter-discoverability/" TargetMode="External"/><Relationship Id="rId1" Type="http://schemas.openxmlformats.org/officeDocument/2006/relationships/slideLayout" Target="../slideLayouts/slideLayout9.xml"/></Relationships>
</file>

<file path=ppt/slides/_rels/slide527.xml.rels><?xml version="1.0" encoding="UTF-8" standalone="yes"?>
<Relationships xmlns="http://schemas.openxmlformats.org/package/2006/relationships"><Relationship Id="rId2" Type="http://schemas.openxmlformats.org/officeDocument/2006/relationships/hyperlink" Target="https://aws.amazon.com/about-aws/whats-new/2021/04/aws-glue-schema-registry-available-additional-aws-regions/" TargetMode="External"/><Relationship Id="rId1" Type="http://schemas.openxmlformats.org/officeDocument/2006/relationships/slideLayout" Target="../slideLayouts/slideLayout9.xml"/></Relationships>
</file>

<file path=ppt/slides/_rels/slide528.xml.rels><?xml version="1.0" encoding="UTF-8" standalone="yes"?>
<Relationships xmlns="http://schemas.openxmlformats.org/package/2006/relationships"><Relationship Id="rId2" Type="http://schemas.openxmlformats.org/officeDocument/2006/relationships/hyperlink" Target="https://aws.amazon.com/about-aws/whats-new/2021/04/aws-security-hub-achieves-fedramp-high-authorization-to-enable-security-posture-management-for-high-impact-workloads/" TargetMode="External"/><Relationship Id="rId1" Type="http://schemas.openxmlformats.org/officeDocument/2006/relationships/slideLayout" Target="../slideLayouts/slideLayout9.xml"/></Relationships>
</file>

<file path=ppt/slides/_rels/slide529.xml.rels><?xml version="1.0" encoding="UTF-8" standalone="yes"?>
<Relationships xmlns="http://schemas.openxmlformats.org/package/2006/relationships"><Relationship Id="rId2" Type="http://schemas.openxmlformats.org/officeDocument/2006/relationships/hyperlink" Target="https://aws.amazon.com/about-aws/whats-new/2021/04/aws-backint-agent-version-1-03-now-available/" TargetMode="External"/><Relationship Id="rId1" Type="http://schemas.openxmlformats.org/officeDocument/2006/relationships/slideLayout" Target="../slideLayouts/slideLayout9.xml"/></Relationships>
</file>

<file path=ppt/slides/_rels/slide530.xml.rels><?xml version="1.0" encoding="UTF-8" standalone="yes"?>
<Relationships xmlns="http://schemas.openxmlformats.org/package/2006/relationships"><Relationship Id="rId2" Type="http://schemas.openxmlformats.org/officeDocument/2006/relationships/hyperlink" Target="https://aws.amazon.com/about-aws/whats-new/2021/04/amazon-lex-launches-support-japanese/" TargetMode="External"/><Relationship Id="rId1" Type="http://schemas.openxmlformats.org/officeDocument/2006/relationships/slideLayout" Target="../slideLayouts/slideLayout9.xml"/></Relationships>
</file>

<file path=ppt/slides/_rels/slide531.xml.rels><?xml version="1.0" encoding="UTF-8" standalone="yes"?>
<Relationships xmlns="http://schemas.openxmlformats.org/package/2006/relationships"><Relationship Id="rId2" Type="http://schemas.openxmlformats.org/officeDocument/2006/relationships/hyperlink" Target="https://aws.amazon.com/about-aws/whats-new/2021/04/hls-inputes-available-aws-elemental-mediaconvert/" TargetMode="External"/><Relationship Id="rId1" Type="http://schemas.openxmlformats.org/officeDocument/2006/relationships/slideLayout" Target="../slideLayouts/slideLayout9.xml"/></Relationships>
</file>

<file path=ppt/slides/_rels/slide532.xml.rels><?xml version="1.0" encoding="UTF-8" standalone="yes"?>
<Relationships xmlns="http://schemas.openxmlformats.org/package/2006/relationships"><Relationship Id="rId2" Type="http://schemas.openxmlformats.org/officeDocument/2006/relationships/hyperlink" Target="https://aws.amazon.com/about-aws/whats-new/2021/04/announcing-aws-waf-bot-control/" TargetMode="External"/><Relationship Id="rId1" Type="http://schemas.openxmlformats.org/officeDocument/2006/relationships/slideLayout" Target="../slideLayouts/slideLayout9.xml"/></Relationships>
</file>

<file path=ppt/slides/_rels/slide533.xml.rels><?xml version="1.0" encoding="UTF-8" standalone="yes"?>
<Relationships xmlns="http://schemas.openxmlformats.org/package/2006/relationships"><Relationship Id="rId2" Type="http://schemas.openxmlformats.org/officeDocument/2006/relationships/hyperlink" Target="https://aws.amazon.com/about-aws/whats-new/2021/03/aws-snowball-edge-compute-optimized-available-singapore/" TargetMode="External"/><Relationship Id="rId1" Type="http://schemas.openxmlformats.org/officeDocument/2006/relationships/slideLayout" Target="../slideLayouts/slideLayout9.xml"/></Relationships>
</file>

<file path=ppt/slides/_rels/slide534.xml.rels><?xml version="1.0" encoding="UTF-8" standalone="yes"?>
<Relationships xmlns="http://schemas.openxmlformats.org/package/2006/relationships"><Relationship Id="rId2" Type="http://schemas.openxmlformats.org/officeDocument/2006/relationships/hyperlink" Target="https://aws.amazon.com/about-aws/whats-new/2021/03/seven-popular-classroom-courses-now-with-aws-jam-options/" TargetMode="External"/><Relationship Id="rId1" Type="http://schemas.openxmlformats.org/officeDocument/2006/relationships/slideLayout" Target="../slideLayouts/slideLayout9.xml"/></Relationships>
</file>

<file path=ppt/slides/_rels/slide535.xml.rels><?xml version="1.0" encoding="UTF-8" standalone="yes"?>
<Relationships xmlns="http://schemas.openxmlformats.org/package/2006/relationships"><Relationship Id="rId2" Type="http://schemas.openxmlformats.org/officeDocument/2006/relationships/hyperlink" Target="https://aws.amazon.com/about-aws/whats-new/2021/03/new-aws-storage-gateway-management-console-simplifies-gateway-creation-management/" TargetMode="External"/><Relationship Id="rId1" Type="http://schemas.openxmlformats.org/officeDocument/2006/relationships/slideLayout" Target="../slideLayouts/slideLayout9.xml"/></Relationships>
</file>

<file path=ppt/slides/_rels/slide536.xml.rels><?xml version="1.0" encoding="UTF-8" standalone="yes"?>
<Relationships xmlns="http://schemas.openxmlformats.org/package/2006/relationships"><Relationship Id="rId2" Type="http://schemas.openxmlformats.org/officeDocument/2006/relationships/hyperlink" Target="https://aws.amazon.com/about-aws/whats-new/2021/03/aws-gateway-load-balancer-available-additional-regions/" TargetMode="External"/><Relationship Id="rId1" Type="http://schemas.openxmlformats.org/officeDocument/2006/relationships/slideLayout" Target="../slideLayouts/slideLayout9.xml"/></Relationships>
</file>

<file path=ppt/slides/_rels/slide537.xml.rels><?xml version="1.0" encoding="UTF-8" standalone="yes"?>
<Relationships xmlns="http://schemas.openxmlformats.org/package/2006/relationships"><Relationship Id="rId2" Type="http://schemas.openxmlformats.org/officeDocument/2006/relationships/hyperlink" Target="https://aws.amazon.com/about-aws/whats-new/2021/03/amazon-rds-mysql-supports-new-minor-versions/" TargetMode="External"/><Relationship Id="rId1" Type="http://schemas.openxmlformats.org/officeDocument/2006/relationships/slideLayout" Target="../slideLayouts/slideLayout9.xml"/></Relationships>
</file>

<file path=ppt/slides/_rels/slide538.xml.rels><?xml version="1.0" encoding="UTF-8" standalone="yes"?>
<Relationships xmlns="http://schemas.openxmlformats.org/package/2006/relationships"><Relationship Id="rId2" Type="http://schemas.openxmlformats.org/officeDocument/2006/relationships/hyperlink" Target="https://aws.amazon.com/about-aws/whats-new/2021/03/amazon-transcribe-custom-language-models-now-supports-australian-english-british-english-hindi-and-us-spanish/" TargetMode="External"/><Relationship Id="rId1" Type="http://schemas.openxmlformats.org/officeDocument/2006/relationships/slideLayout" Target="../slideLayouts/slideLayout9.xml"/></Relationships>
</file>

<file path=ppt/slides/_rels/slide539.xml.rels><?xml version="1.0" encoding="UTF-8" standalone="yes"?>
<Relationships xmlns="http://schemas.openxmlformats.org/package/2006/relationships"><Relationship Id="rId2" Type="http://schemas.openxmlformats.org/officeDocument/2006/relationships/hyperlink" Target="https://aws.amazon.com/about-aws/whats-new/2021/03/introducing-amazon-route-53-resolver-dns-firewall/" TargetMode="External"/><Relationship Id="rId1" Type="http://schemas.openxmlformats.org/officeDocument/2006/relationships/slideLayout" Target="../slideLayouts/slideLayout9.xml"/></Relationships>
</file>

<file path=ppt/slides/_rels/slide540.xml.rels><?xml version="1.0" encoding="UTF-8" standalone="yes"?>
<Relationships xmlns="http://schemas.openxmlformats.org/package/2006/relationships"><Relationship Id="rId2" Type="http://schemas.openxmlformats.org/officeDocument/2006/relationships/hyperlink" Target="https://aws.amazon.com/about-aws/whats-new/2021/03/amazon-connect-is-now-available-in-the-canada-central-aws-region/" TargetMode="External"/><Relationship Id="rId1" Type="http://schemas.openxmlformats.org/officeDocument/2006/relationships/slideLayout" Target="../slideLayouts/slideLayout9.xml"/></Relationships>
</file>

<file path=ppt/slides/_rels/slide541.xml.rels><?xml version="1.0" encoding="UTF-8" standalone="yes"?>
<Relationships xmlns="http://schemas.openxmlformats.org/package/2006/relationships"><Relationship Id="rId2" Type="http://schemas.openxmlformats.org/officeDocument/2006/relationships/hyperlink" Target="https://aws.amazon.com/about-aws/whats-new/2021/03/amazon-simple-email-service-is-now-available-in-the-eu-milano-and-africa-cape-town-regions/" TargetMode="External"/><Relationship Id="rId1" Type="http://schemas.openxmlformats.org/officeDocument/2006/relationships/slideLayout" Target="../slideLayouts/slideLayout9.xml"/></Relationships>
</file>

<file path=ppt/slides/_rels/slide542.xml.rels><?xml version="1.0" encoding="UTF-8" standalone="yes"?>
<Relationships xmlns="http://schemas.openxmlformats.org/package/2006/relationships"><Relationship Id="rId2" Type="http://schemas.openxmlformats.org/officeDocument/2006/relationships/hyperlink" Target="https://aws.amazon.com/about-aws/whats-new/2021/03/aws-direct-connect-announces-macsec-encryption-for-dedicated-10gbps-and-100gbps-connections-at-select-locations/" TargetMode="External"/><Relationship Id="rId1" Type="http://schemas.openxmlformats.org/officeDocument/2006/relationships/slideLayout" Target="../slideLayouts/slideLayout9.xml"/></Relationships>
</file>

<file path=ppt/slides/_rels/slide543.xml.rels><?xml version="1.0" encoding="UTF-8" standalone="yes"?>
<Relationships xmlns="http://schemas.openxmlformats.org/package/2006/relationships"><Relationship Id="rId2" Type="http://schemas.openxmlformats.org/officeDocument/2006/relationships/hyperlink" Target="https://aws.amazon.com/about-aws/whats-new/2021/03/the-amazon-redshift-query-editor-is-now-available-in-the-aws-govcloud-us-regions/" TargetMode="External"/><Relationship Id="rId1" Type="http://schemas.openxmlformats.org/officeDocument/2006/relationships/slideLayout" Target="../slideLayouts/slideLayout9.xml"/></Relationships>
</file>

<file path=ppt/slides/_rels/slide544.xml.rels><?xml version="1.0" encoding="UTF-8" standalone="yes"?>
<Relationships xmlns="http://schemas.openxmlformats.org/package/2006/relationships"><Relationship Id="rId2" Type="http://schemas.openxmlformats.org/officeDocument/2006/relationships/hyperlink" Target="https://aws.amazon.com/about-aws/whats-new/2021/03/cloudfront-lambda-at-edge-billing-granularity/" TargetMode="External"/><Relationship Id="rId1" Type="http://schemas.openxmlformats.org/officeDocument/2006/relationships/slideLayout" Target="../slideLayouts/slideLayout9.xml"/></Relationships>
</file>

<file path=ppt/slides/_rels/slide545.xml.rels><?xml version="1.0" encoding="UTF-8" standalone="yes"?>
<Relationships xmlns="http://schemas.openxmlformats.org/package/2006/relationships"><Relationship Id="rId2" Type="http://schemas.openxmlformats.org/officeDocument/2006/relationships/hyperlink" Target="https://aws.amazon.com/about-aws/whats-new/2021/03/introducing-ec2-serial-console/" TargetMode="External"/><Relationship Id="rId1" Type="http://schemas.openxmlformats.org/officeDocument/2006/relationships/slideLayout" Target="../slideLayouts/slideLayout9.xml"/></Relationships>
</file>

<file path=ppt/slides/_rels/slide546.xml.rels><?xml version="1.0" encoding="UTF-8" standalone="yes"?>
<Relationships xmlns="http://schemas.openxmlformats.org/package/2006/relationships"><Relationship Id="rId2" Type="http://schemas.openxmlformats.org/officeDocument/2006/relationships/hyperlink" Target="https://aws.amazon.com/about-aws/whats-new/2021/03/amazon-redshift-data-api-available-aws-govcloud-regions/" TargetMode="External"/><Relationship Id="rId1" Type="http://schemas.openxmlformats.org/officeDocument/2006/relationships/slideLayout" Target="../slideLayouts/slideLayout9.xml"/></Relationships>
</file>

<file path=ppt/slides/_rels/slide547.xml.rels><?xml version="1.0" encoding="UTF-8" standalone="yes"?>
<Relationships xmlns="http://schemas.openxmlformats.org/package/2006/relationships"><Relationship Id="rId2" Type="http://schemas.openxmlformats.org/officeDocument/2006/relationships/hyperlink" Target="https://aws.amazon.com/about-aws/whats-new/2021/03/aws-announces-preview-aws-glue-custom-blueprints/" TargetMode="External"/><Relationship Id="rId1" Type="http://schemas.openxmlformats.org/officeDocument/2006/relationships/slideLayout" Target="../slideLayouts/slideLayout9.xml"/></Relationships>
</file>

<file path=ppt/slides/_rels/slide548.xml.rels><?xml version="1.0" encoding="UTF-8" standalone="yes"?>
<Relationships xmlns="http://schemas.openxmlformats.org/package/2006/relationships"><Relationship Id="rId2" Type="http://schemas.openxmlformats.org/officeDocument/2006/relationships/hyperlink" Target="https://aws.amazon.com/about-aws/whats-new/2021/03/aws-glue-databrew-supports-time-based-pattern-based-customizable-parameters-create-dynamic-datasets/" TargetMode="External"/><Relationship Id="rId1" Type="http://schemas.openxmlformats.org/officeDocument/2006/relationships/slideLayout" Target="../slideLayouts/slideLayout9.xml"/></Relationships>
</file>

<file path=ppt/slides/_rels/slide549.xml.rels><?xml version="1.0" encoding="UTF-8" standalone="yes"?>
<Relationships xmlns="http://schemas.openxmlformats.org/package/2006/relationships"><Relationship Id="rId2" Type="http://schemas.openxmlformats.org/officeDocument/2006/relationships/hyperlink" Target="https://aws.amazon.com/about-aws/whats-new/2021/03/detect-outliers-use-dedicated-transforms-handle-outliers-aws-glue-databrew/" TargetMode="External"/><Relationship Id="rId1" Type="http://schemas.openxmlformats.org/officeDocument/2006/relationships/slideLayout" Target="../slideLayouts/slideLayout9.xml"/></Relationships>
</file>

<file path=ppt/slides/_rels/slide550.xml.rels><?xml version="1.0" encoding="UTF-8" standalone="yes"?>
<Relationships xmlns="http://schemas.openxmlformats.org/package/2006/relationships"><Relationship Id="rId2" Type="http://schemas.openxmlformats.org/officeDocument/2006/relationships/hyperlink" Target="https://aws.amazon.com/about-aws/whats-new/2021/03/aws-config-launches-ability-to-track-visualize-compliance-change-history-of-conformance-packs/" TargetMode="External"/><Relationship Id="rId1" Type="http://schemas.openxmlformats.org/officeDocument/2006/relationships/slideLayout" Target="../slideLayouts/slideLayout9.xml"/></Relationships>
</file>

<file path=ppt/slides/_rels/slide551.xml.rels><?xml version="1.0" encoding="UTF-8" standalone="yes"?>
<Relationships xmlns="http://schemas.openxmlformats.org/package/2006/relationships"><Relationship Id="rId2" Type="http://schemas.openxmlformats.org/officeDocument/2006/relationships/hyperlink" Target="https://aws.amazon.com/about-aws/whats-new/2021/03/announcing-new-training-for-building-data-lakes-on-AWS/" TargetMode="External"/><Relationship Id="rId1" Type="http://schemas.openxmlformats.org/officeDocument/2006/relationships/slideLayout" Target="../slideLayouts/slideLayout9.xml"/></Relationships>
</file>

<file path=ppt/slides/_rels/slide552.xml.rels><?xml version="1.0" encoding="UTF-8" standalone="yes"?>
<Relationships xmlns="http://schemas.openxmlformats.org/package/2006/relationships"><Relationship Id="rId2" Type="http://schemas.openxmlformats.org/officeDocument/2006/relationships/hyperlink" Target="https://aws.amazon.com/about-aws/whats-new/2021/03/aws-data-exchange-providers-can-copy-product-metadata-from-existing-products-to-new-products/" TargetMode="External"/><Relationship Id="rId1" Type="http://schemas.openxmlformats.org/officeDocument/2006/relationships/slideLayout" Target="../slideLayouts/slideLayout9.xml"/></Relationships>
</file>

<file path=ppt/slides/_rels/slide553.xml.rels><?xml version="1.0" encoding="UTF-8" standalone="yes"?>
<Relationships xmlns="http://schemas.openxmlformats.org/package/2006/relationships"><Relationship Id="rId2" Type="http://schemas.openxmlformats.org/officeDocument/2006/relationships/hyperlink" Target="https://aws.amazon.com/about-aws/whats-new/2021/03/amazon-api-gateway-custom-domain-names-support-multi-level-base-path-mappings/" TargetMode="External"/><Relationship Id="rId1" Type="http://schemas.openxmlformats.org/officeDocument/2006/relationships/slideLayout" Target="../slideLayouts/slideLayout9.xml"/></Relationships>
</file>

<file path=ppt/slides/_rels/slide554.xml.rels><?xml version="1.0" encoding="UTF-8" standalone="yes"?>
<Relationships xmlns="http://schemas.openxmlformats.org/package/2006/relationships"><Relationship Id="rId2" Type="http://schemas.openxmlformats.org/officeDocument/2006/relationships/hyperlink" Target="https://aws.amazon.com/about-aws/whats-new/2021/03/aws-announces-general-availability-of-amazon-gamelift-queue-notifications/" TargetMode="External"/><Relationship Id="rId1" Type="http://schemas.openxmlformats.org/officeDocument/2006/relationships/slideLayout" Target="../slideLayouts/slideLayout9.xml"/></Relationships>
</file>

<file path=ppt/slides/_rels/slide555.xml.rels><?xml version="1.0" encoding="UTF-8" standalone="yes"?>
<Relationships xmlns="http://schemas.openxmlformats.org/package/2006/relationships"><Relationship Id="rId2" Type="http://schemas.openxmlformats.org/officeDocument/2006/relationships/hyperlink" Target="https://aws.amazon.com/about-aws/whats-new/2021/03/amazon-fraud-detector-now-supports-batch-fraud-predictions/" TargetMode="External"/><Relationship Id="rId1" Type="http://schemas.openxmlformats.org/officeDocument/2006/relationships/slideLayout" Target="../slideLayouts/slideLayout9.xml"/></Relationships>
</file>

<file path=ppt/slides/_rels/slide556.xml.rels><?xml version="1.0" encoding="UTF-8" standalone="yes"?>
<Relationships xmlns="http://schemas.openxmlformats.org/package/2006/relationships"><Relationship Id="rId2" Type="http://schemas.openxmlformats.org/officeDocument/2006/relationships/hyperlink" Target="https://aws.amazon.com/about-aws/whats-new/2021/03/aws-site-to-site-vpn-increases-service-quotas-for-route-limits/" TargetMode="External"/><Relationship Id="rId1" Type="http://schemas.openxmlformats.org/officeDocument/2006/relationships/slideLayout" Target="../slideLayouts/slideLayout9.xml"/></Relationships>
</file>

<file path=ppt/slides/_rels/slide557.xml.rels><?xml version="1.0" encoding="UTF-8" standalone="yes"?>
<Relationships xmlns="http://schemas.openxmlformats.org/package/2006/relationships"><Relationship Id="rId2" Type="http://schemas.openxmlformats.org/officeDocument/2006/relationships/hyperlink" Target="https://aws.amazon.com/about-aws/whats-new/2021/03/amazon-pinpoint-announces-improved-journey-controls/" TargetMode="External"/><Relationship Id="rId1" Type="http://schemas.openxmlformats.org/officeDocument/2006/relationships/slideLayout" Target="../slideLayouts/slideLayout9.xml"/></Relationships>
</file>

<file path=ppt/slides/_rels/slide558.xml.rels><?xml version="1.0" encoding="UTF-8" standalone="yes"?>
<Relationships xmlns="http://schemas.openxmlformats.org/package/2006/relationships"><Relationship Id="rId2" Type="http://schemas.openxmlformats.org/officeDocument/2006/relationships/hyperlink" Target="https://aws.amazon.com/about-aws/whats-new/2021/03/amazon-emr-now-supports-amazon-ec2-instance-metadata-service-v2/" TargetMode="External"/><Relationship Id="rId1" Type="http://schemas.openxmlformats.org/officeDocument/2006/relationships/slideLayout" Target="../slideLayouts/slideLayout9.xml"/></Relationships>
</file>

<file path=ppt/slides/_rels/slide559.xml.rels><?xml version="1.0" encoding="UTF-8" standalone="yes"?>
<Relationships xmlns="http://schemas.openxmlformats.org/package/2006/relationships"><Relationship Id="rId2" Type="http://schemas.openxmlformats.org/officeDocument/2006/relationships/hyperlink" Target="https://aws.amazon.com/about-aws/whats-new/2021/03/aws-transit-gateway-connect-increases-service-quotas-for-route-limits/" TargetMode="External"/><Relationship Id="rId1" Type="http://schemas.openxmlformats.org/officeDocument/2006/relationships/slideLayout" Target="../slideLayouts/slideLayout9.xml"/></Relationships>
</file>

<file path=ppt/slides/_rels/slide560.xml.rels><?xml version="1.0" encoding="UTF-8" standalone="yes"?>
<Relationships xmlns="http://schemas.openxmlformats.org/package/2006/relationships"><Relationship Id="rId2" Type="http://schemas.openxmlformats.org/officeDocument/2006/relationships/hyperlink" Target="https://aws.amazon.com/about-aws/whats-new/2021/03/new-aws-solutions-consulting-offer-ami-factory/" TargetMode="External"/><Relationship Id="rId1" Type="http://schemas.openxmlformats.org/officeDocument/2006/relationships/slideLayout" Target="../slideLayouts/slideLayout9.xml"/></Relationships>
</file>

<file path=ppt/slides/_rels/slide561.xml.rels><?xml version="1.0" encoding="UTF-8" standalone="yes"?>
<Relationships xmlns="http://schemas.openxmlformats.org/package/2006/relationships"><Relationship Id="rId2" Type="http://schemas.openxmlformats.org/officeDocument/2006/relationships/hyperlink" Target="https://aws.amazon.com/about-aws/whats-new/2021/03/aws-global-accelerator-launches-a-new-edge-location-in-indonesia/" TargetMode="External"/><Relationship Id="rId1" Type="http://schemas.openxmlformats.org/officeDocument/2006/relationships/slideLayout" Target="../slideLayouts/slideLayout9.xml"/></Relationships>
</file>

<file path=ppt/slides/_rels/slide562.xml.rels><?xml version="1.0" encoding="UTF-8" standalone="yes"?>
<Relationships xmlns="http://schemas.openxmlformats.org/package/2006/relationships"><Relationship Id="rId2" Type="http://schemas.openxmlformats.org/officeDocument/2006/relationships/hyperlink" Target="https://aws.amazon.com/about-aws/whats-new/2021/03/amazon-sagemaker-autopilot-adds-model-explainability/" TargetMode="External"/><Relationship Id="rId1" Type="http://schemas.openxmlformats.org/officeDocument/2006/relationships/slideLayout" Target="../slideLayouts/slideLayout9.xml"/></Relationships>
</file>

<file path=ppt/slides/_rels/slide563.xml.rels><?xml version="1.0" encoding="UTF-8" standalone="yes"?>
<Relationships xmlns="http://schemas.openxmlformats.org/package/2006/relationships"><Relationship Id="rId2" Type="http://schemas.openxmlformats.org/officeDocument/2006/relationships/hyperlink" Target="https://aws.amazon.com/about-aws/whats-new/2021/03/aws-config-adds-pagination-support-for-advanced-queries/" TargetMode="External"/><Relationship Id="rId1" Type="http://schemas.openxmlformats.org/officeDocument/2006/relationships/slideLayout" Target="../slideLayouts/slideLayout9.xml"/></Relationships>
</file>

<file path=ppt/slides/_rels/slide564.xml.rels><?xml version="1.0" encoding="UTF-8" standalone="yes"?>
<Relationships xmlns="http://schemas.openxmlformats.org/package/2006/relationships"><Relationship Id="rId2" Type="http://schemas.openxmlformats.org/officeDocument/2006/relationships/hyperlink" Target="https://aws.amazon.com/about-aws/whats-new/2021/03/aws-security-hub-now-available-in-aws-asia-pacific-osaka-region/" TargetMode="External"/><Relationship Id="rId1" Type="http://schemas.openxmlformats.org/officeDocument/2006/relationships/slideLayout" Target="../slideLayouts/slideLayout9.xml"/></Relationships>
</file>

<file path=ppt/slides/_rels/slide565.xml.rels><?xml version="1.0" encoding="UTF-8" standalone="yes"?>
<Relationships xmlns="http://schemas.openxmlformats.org/package/2006/relationships"><Relationship Id="rId2" Type="http://schemas.openxmlformats.org/officeDocument/2006/relationships/hyperlink" Target="https://aws.amazon.com/about-aws/whats-new/2021/03/aws-waf-adds-support-request-header-insertion/" TargetMode="External"/><Relationship Id="rId1" Type="http://schemas.openxmlformats.org/officeDocument/2006/relationships/slideLayout" Target="../slideLayouts/slideLayout9.xml"/></Relationships>
</file>

<file path=ppt/slides/_rels/slide566.xml.rels><?xml version="1.0" encoding="UTF-8" standalone="yes"?>
<Relationships xmlns="http://schemas.openxmlformats.org/package/2006/relationships"><Relationship Id="rId2" Type="http://schemas.openxmlformats.org/officeDocument/2006/relationships/hyperlink" Target="https://aws.amazon.com/about-aws/whats-new/2021/03/aws-waf-adds-support-custom-responses/" TargetMode="External"/><Relationship Id="rId1" Type="http://schemas.openxmlformats.org/officeDocument/2006/relationships/slideLayout" Target="../slideLayouts/slideLayout9.xml"/></Relationships>
</file>

<file path=ppt/slides/_rels/slide567.xml.rels><?xml version="1.0" encoding="UTF-8" standalone="yes"?>
<Relationships xmlns="http://schemas.openxmlformats.org/package/2006/relationships"><Relationship Id="rId2" Type="http://schemas.openxmlformats.org/officeDocument/2006/relationships/hyperlink" Target="https://aws.amazon.com/about-aws/whats-new/2021/03/new-aws-solutions-consulting-offer-pipeline-factory/" TargetMode="External"/><Relationship Id="rId1" Type="http://schemas.openxmlformats.org/officeDocument/2006/relationships/slideLayout" Target="../slideLayouts/slideLayout9.xml"/></Relationships>
</file>

<file path=ppt/slides/_rels/slide568.xml.rels><?xml version="1.0" encoding="UTF-8" standalone="yes"?>
<Relationships xmlns="http://schemas.openxmlformats.org/package/2006/relationships"><Relationship Id="rId2" Type="http://schemas.openxmlformats.org/officeDocument/2006/relationships/hyperlink" Target="https://aws.amazon.com/about-aws/whats-new/2021/03/amazon-documentdb-with-mongodb-compatibility-now-supports-event-subscriptions/" TargetMode="External"/><Relationship Id="rId1" Type="http://schemas.openxmlformats.org/officeDocument/2006/relationships/slideLayout" Target="../slideLayouts/slideLayout9.xml"/></Relationships>
</file>

<file path=ppt/slides/_rels/slide569.xml.rels><?xml version="1.0" encoding="UTF-8" standalone="yes"?>
<Relationships xmlns="http://schemas.openxmlformats.org/package/2006/relationships"><Relationship Id="rId2" Type="http://schemas.openxmlformats.org/officeDocument/2006/relationships/hyperlink" Target="https://aws.amazon.com/about-aws/whats-new/2021/03/cloudwatch-container-insights-amazon-ecs-available-aws-africa-cape-town-region/" TargetMode="External"/><Relationship Id="rId1" Type="http://schemas.openxmlformats.org/officeDocument/2006/relationships/slideLayout" Target="../slideLayouts/slideLayout9.xml"/></Relationships>
</file>

<file path=ppt/slides/_rels/slide570.xml.rels><?xml version="1.0" encoding="UTF-8" standalone="yes"?>
<Relationships xmlns="http://schemas.openxmlformats.org/package/2006/relationships"><Relationship Id="rId2" Type="http://schemas.openxmlformats.org/officeDocument/2006/relationships/hyperlink" Target="https://aws.amazon.com/about-aws/whats-new/2021/03/amazon-forecast-enables-aws-resource-groups/" TargetMode="External"/><Relationship Id="rId1" Type="http://schemas.openxmlformats.org/officeDocument/2006/relationships/slideLayout" Target="../slideLayouts/slideLayout9.xml"/></Relationships>
</file>

<file path=ppt/slides/_rels/slide571.xml.rels><?xml version="1.0" encoding="UTF-8" standalone="yes"?>
<Relationships xmlns="http://schemas.openxmlformats.org/package/2006/relationships"><Relationship Id="rId2" Type="http://schemas.openxmlformats.org/officeDocument/2006/relationships/hyperlink" Target="https://aws.amazon.com/about-aws/whats-new/2021/03/aws-devops-monitoring-dashboard-solution-is-generally-available/" TargetMode="External"/><Relationship Id="rId1" Type="http://schemas.openxmlformats.org/officeDocument/2006/relationships/slideLayout" Target="../slideLayouts/slideLayout9.xml"/></Relationships>
</file>

<file path=ppt/slides/_rels/slide572.xml.rels><?xml version="1.0" encoding="UTF-8" standalone="yes"?>
<Relationships xmlns="http://schemas.openxmlformats.org/package/2006/relationships"><Relationship Id="rId2" Type="http://schemas.openxmlformats.org/officeDocument/2006/relationships/hyperlink" Target="https://aws.amazon.com/about-aws/whats-new/2021/03/amazon-sagemaker-now-supports-private-docker-registry-authentication/" TargetMode="External"/><Relationship Id="rId1" Type="http://schemas.openxmlformats.org/officeDocument/2006/relationships/slideLayout" Target="../slideLayouts/slideLayout9.xml"/></Relationships>
</file>

<file path=ppt/slides/_rels/slide573.xml.rels><?xml version="1.0" encoding="UTF-8" standalone="yes"?>
<Relationships xmlns="http://schemas.openxmlformats.org/package/2006/relationships"><Relationship Id="rId2" Type="http://schemas.openxmlformats.org/officeDocument/2006/relationships/hyperlink" Target="https://aws.amazon.com/about-aws/whats-new/2021/03/new-aws-solutions-consulting-offer-workspaces-manager-for-amazon-workspaces/" TargetMode="External"/><Relationship Id="rId1" Type="http://schemas.openxmlformats.org/officeDocument/2006/relationships/slideLayout" Target="../slideLayouts/slideLayout9.xml"/></Relationships>
</file>

<file path=ppt/slides/_rels/slide574.xml.rels><?xml version="1.0" encoding="UTF-8" standalone="yes"?>
<Relationships xmlns="http://schemas.openxmlformats.org/package/2006/relationships"><Relationship Id="rId2" Type="http://schemas.openxmlformats.org/officeDocument/2006/relationships/hyperlink" Target="https://aws.amazon.com/about-aws/whats-new/2021/03/amazon-workdocs-additional-sharing-controls-throughout-android-app/" TargetMode="External"/><Relationship Id="rId1" Type="http://schemas.openxmlformats.org/officeDocument/2006/relationships/slideLayout" Target="../slideLayouts/slideLayout9.xml"/></Relationships>
</file>

<file path=ppt/slides/_rels/slide575.xml.rels><?xml version="1.0" encoding="UTF-8" standalone="yes"?>
<Relationships xmlns="http://schemas.openxmlformats.org/package/2006/relationships"><Relationship Id="rId2" Type="http://schemas.openxmlformats.org/officeDocument/2006/relationships/hyperlink" Target="https://aws.amazon.com/about-aws/whats-new/2021/03/amazon-eks-supports-p4d-instances/" TargetMode="External"/><Relationship Id="rId1" Type="http://schemas.openxmlformats.org/officeDocument/2006/relationships/slideLayout" Target="../slideLayouts/slideLayout9.xml"/></Relationships>
</file>

<file path=ppt/slides/_rels/slide576.xml.rels><?xml version="1.0" encoding="UTF-8" standalone="yes"?>
<Relationships xmlns="http://schemas.openxmlformats.org/package/2006/relationships"><Relationship Id="rId2" Type="http://schemas.openxmlformats.org/officeDocument/2006/relationships/hyperlink" Target="https://aws.amazon.com/about-aws/whats-new/2021/03/amazon-api-gateway-provides-iam-condition-keys-governing-endpoint-authorization-logging-configurations/" TargetMode="External"/><Relationship Id="rId1" Type="http://schemas.openxmlformats.org/officeDocument/2006/relationships/slideLayout" Target="../slideLayouts/slideLayout9.xml"/></Relationships>
</file>

<file path=ppt/slides/_rels/slide577.xml.rels><?xml version="1.0" encoding="UTF-8" standalone="yes"?>
<Relationships xmlns="http://schemas.openxmlformats.org/package/2006/relationships"><Relationship Id="rId2" Type="http://schemas.openxmlformats.org/officeDocument/2006/relationships/hyperlink" Target="https://aws.amazon.com/about-aws/whats-new/2021/03/amazon-eks-supports-elastic-fabric-adapter/" TargetMode="External"/><Relationship Id="rId1" Type="http://schemas.openxmlformats.org/officeDocument/2006/relationships/slideLayout" Target="../slideLayouts/slideLayout9.xml"/></Relationships>
</file>

<file path=ppt/slides/_rels/slide578.xml.rels><?xml version="1.0" encoding="UTF-8" standalone="yes"?>
<Relationships xmlns="http://schemas.openxmlformats.org/package/2006/relationships"><Relationship Id="rId2" Type="http://schemas.openxmlformats.org/officeDocument/2006/relationships/hyperlink" Target="https://aws.amazon.com/about-aws/whats-new/2021/03/amazon-elasticache-for-redis-supports-highly-available-clusters-aws-local-zones/" TargetMode="External"/><Relationship Id="rId1" Type="http://schemas.openxmlformats.org/officeDocument/2006/relationships/slideLayout" Target="../slideLayouts/slideLayout9.xml"/></Relationships>
</file>

<file path=ppt/slides/_rels/slide579.xml.rels><?xml version="1.0" encoding="UTF-8" standalone="yes"?>
<Relationships xmlns="http://schemas.openxmlformats.org/package/2006/relationships"><Relationship Id="rId2" Type="http://schemas.openxmlformats.org/officeDocument/2006/relationships/hyperlink" Target="https://aws.amazon.com/about-aws/whats-new/2021/03/aws-security-hub-integrates-amazon-macie-automatically-ingest-sensitive-data-findings/" TargetMode="External"/><Relationship Id="rId1" Type="http://schemas.openxmlformats.org/officeDocument/2006/relationships/slideLayout" Target="../slideLayouts/slideLayout9.xml"/></Relationships>
</file>

<file path=ppt/slides/_rels/slide580.xml.rels><?xml version="1.0" encoding="UTF-8" standalone="yes"?>
<Relationships xmlns="http://schemas.openxmlformats.org/package/2006/relationships"><Relationship Id="rId2" Type="http://schemas.openxmlformats.org/officeDocument/2006/relationships/hyperlink" Target="https://aws.amazon.com/about-aws/whats-new/2021/03/aws-backup-available-osaka/" TargetMode="External"/><Relationship Id="rId1" Type="http://schemas.openxmlformats.org/officeDocument/2006/relationships/slideLayout" Target="../slideLayouts/slideLayout9.xml"/></Relationships>
</file>

<file path=ppt/slides/_rels/slide581.xml.rels><?xml version="1.0" encoding="UTF-8" standalone="yes"?>
<Relationships xmlns="http://schemas.openxmlformats.org/package/2006/relationships"><Relationship Id="rId2" Type="http://schemas.openxmlformats.org/officeDocument/2006/relationships/hyperlink" Target="https://aws.amazon.com/about-aws/whats-new/2021/03/amazon-polly-ntts-voices-available-canada-seoul/" TargetMode="External"/><Relationship Id="rId1" Type="http://schemas.openxmlformats.org/officeDocument/2006/relationships/slideLayout" Target="../slideLayouts/slideLayout9.xml"/></Relationships>
</file>

<file path=ppt/slides/_rels/slide582.xml.rels><?xml version="1.0" encoding="UTF-8" standalone="yes"?>
<Relationships xmlns="http://schemas.openxmlformats.org/package/2006/relationships"><Relationship Id="rId2" Type="http://schemas.openxmlformats.org/officeDocument/2006/relationships/hyperlink" Target="https://aws.amazon.com/about-aws/whats-new/2021/03/aws-license-manager-adds-ability-to-set-up-exclusion-rules-automated-discovery/" TargetMode="External"/><Relationship Id="rId1" Type="http://schemas.openxmlformats.org/officeDocument/2006/relationships/slideLayout" Target="../slideLayouts/slideLayout9.xml"/></Relationships>
</file>

<file path=ppt/slides/_rels/slide583.xml.rels><?xml version="1.0" encoding="UTF-8" standalone="yes"?>
<Relationships xmlns="http://schemas.openxmlformats.org/package/2006/relationships"><Relationship Id="rId2" Type="http://schemas.openxmlformats.org/officeDocument/2006/relationships/hyperlink" Target="https://aws.amazon.com/about-aws/whats-new/2021/03/lower-cost-storage-classes-for-amazon-elastic-file-system-are-now-available-in-asia-osaka-region/" TargetMode="External"/><Relationship Id="rId1" Type="http://schemas.openxmlformats.org/officeDocument/2006/relationships/slideLayout" Target="../slideLayouts/slideLayout9.xml"/></Relationships>
</file>

<file path=ppt/slides/_rels/slide584.xml.rels><?xml version="1.0" encoding="UTF-8" standalone="yes"?>
<Relationships xmlns="http://schemas.openxmlformats.org/package/2006/relationships"><Relationship Id="rId2" Type="http://schemas.openxmlformats.org/officeDocument/2006/relationships/hyperlink" Target="https://aws.amazon.com/about-aws/whats-new/2021/03/amazon-kinesis-data-analytics-now-supports-python-with-apache-flink-v1-11/" TargetMode="External"/><Relationship Id="rId1" Type="http://schemas.openxmlformats.org/officeDocument/2006/relationships/slideLayout" Target="../slideLayouts/slideLayout9.xml"/></Relationships>
</file>

<file path=ppt/slides/_rels/slide585.xml.rels><?xml version="1.0" encoding="UTF-8" standalone="yes"?>
<Relationships xmlns="http://schemas.openxmlformats.org/package/2006/relationships"><Relationship Id="rId2" Type="http://schemas.openxmlformats.org/officeDocument/2006/relationships/hyperlink" Target="https://aws.amazon.com/about-aws/whats-new/2021/03/configurable-endpoints-with-custom-domains-now-generally-available/" TargetMode="External"/><Relationship Id="rId1" Type="http://schemas.openxmlformats.org/officeDocument/2006/relationships/slideLayout" Target="../slideLayouts/slideLayout9.xml"/></Relationships>
</file>

<file path=ppt/slides/_rels/slide586.xml.rels><?xml version="1.0" encoding="UTF-8" standalone="yes"?>
<Relationships xmlns="http://schemas.openxmlformats.org/package/2006/relationships"><Relationship Id="rId2" Type="http://schemas.openxmlformats.org/officeDocument/2006/relationships/hyperlink" Target="https://aws.amazon.com/about-aws/whats-new/2021/03/amazon-kendra-adds-new-partner-search-connectors-from-perficient/" TargetMode="External"/><Relationship Id="rId1" Type="http://schemas.openxmlformats.org/officeDocument/2006/relationships/slideLayout" Target="../slideLayouts/slideLayout9.xml"/></Relationships>
</file>

<file path=ppt/slides/_rels/slide587.xml.rels><?xml version="1.0" encoding="UTF-8" standalone="yes"?>
<Relationships xmlns="http://schemas.openxmlformats.org/package/2006/relationships"><Relationship Id="rId2" Type="http://schemas.openxmlformats.org/officeDocument/2006/relationships/hyperlink" Target="https://aws.amazon.com/about-aws/whats-new/2021/03/updated-classroom-course-advanced-architecting-on-aws/" TargetMode="External"/><Relationship Id="rId1" Type="http://schemas.openxmlformats.org/officeDocument/2006/relationships/slideLayout" Target="../slideLayouts/slideLayout9.xml"/></Relationships>
</file>

<file path=ppt/slides/_rels/slide588.xml.rels><?xml version="1.0" encoding="UTF-8" standalone="yes"?>
<Relationships xmlns="http://schemas.openxmlformats.org/package/2006/relationships"><Relationship Id="rId2" Type="http://schemas.openxmlformats.org/officeDocument/2006/relationships/hyperlink" Target="https://aws.amazon.com/about-aws/whats-new/2021/03/aws-snowcone-available-sydney-region/" TargetMode="External"/><Relationship Id="rId1" Type="http://schemas.openxmlformats.org/officeDocument/2006/relationships/slideLayout" Target="../slideLayouts/slideLayout9.xml"/></Relationships>
</file>

<file path=ppt/slides/_rels/slide589.xml.rels><?xml version="1.0" encoding="UTF-8" standalone="yes"?>
<Relationships xmlns="http://schemas.openxmlformats.org/package/2006/relationships"><Relationship Id="rId2" Type="http://schemas.openxmlformats.org/officeDocument/2006/relationships/hyperlink" Target="https://aws.amazon.com/about-aws/whats-new/2021/03/nice-dcv-releases-web-client-sdk-for-building-customized-web-applications/" TargetMode="External"/><Relationship Id="rId1" Type="http://schemas.openxmlformats.org/officeDocument/2006/relationships/slideLayout" Target="../slideLayouts/slideLayout9.xml"/></Relationships>
</file>

<file path=ppt/slides/_rels/slide590.xml.rels><?xml version="1.0" encoding="UTF-8" standalone="yes"?>
<Relationships xmlns="http://schemas.openxmlformats.org/package/2006/relationships"><Relationship Id="rId2" Type="http://schemas.openxmlformats.org/officeDocument/2006/relationships/hyperlink" Target="https://aws.amazon.com/about-aws/whats-new/2021/03/amazon-and-red-hat-announce-general-availability-rosa/" TargetMode="External"/><Relationship Id="rId1" Type="http://schemas.openxmlformats.org/officeDocument/2006/relationships/slideLayout" Target="../slideLayouts/slideLayout9.xml"/></Relationships>
</file>

<file path=ppt/slides/_rels/slide591.xml.rels><?xml version="1.0" encoding="UTF-8" standalone="yes"?>
<Relationships xmlns="http://schemas.openxmlformats.org/package/2006/relationships"><Relationship Id="rId2" Type="http://schemas.openxmlformats.org/officeDocument/2006/relationships/hyperlink" Target="https://aws.amazon.com/about-aws/whats-new/2021/03/amazon-appflow-supports-zendesk-as-destination/" TargetMode="External"/><Relationship Id="rId1" Type="http://schemas.openxmlformats.org/officeDocument/2006/relationships/slideLayout" Target="../slideLayouts/slideLayout9.xml"/></Relationships>
</file>

<file path=ppt/slides/_rels/slide592.xml.rels><?xml version="1.0" encoding="UTF-8" standalone="yes"?>
<Relationships xmlns="http://schemas.openxmlformats.org/package/2006/relationships"><Relationship Id="rId2" Type="http://schemas.openxmlformats.org/officeDocument/2006/relationships/hyperlink" Target="https://aws.amazon.com/about-aws/whats-new/2021/03/aws-elemental-mediatailor-supports-enhanced-debug-logs-other-enhacements/" TargetMode="External"/><Relationship Id="rId1" Type="http://schemas.openxmlformats.org/officeDocument/2006/relationships/slideLayout" Target="../slideLayouts/slideLayout9.xml"/></Relationships>
</file>

<file path=ppt/slides/_rels/slide593.xml.rels><?xml version="1.0" encoding="UTF-8" standalone="yes"?>
<Relationships xmlns="http://schemas.openxmlformats.org/package/2006/relationships"><Relationship Id="rId2" Type="http://schemas.openxmlformats.org/officeDocument/2006/relationships/hyperlink" Target="https://aws.amazon.com/about-aws/whats-new/2021/03/now-available-aws-sso-credential-profile-support-aws-toolkit-vs-code/" TargetMode="External"/><Relationship Id="rId1" Type="http://schemas.openxmlformats.org/officeDocument/2006/relationships/slideLayout" Target="../slideLayouts/slideLayout9.xml"/></Relationships>
</file>

<file path=ppt/slides/_rels/slide594.xml.rels><?xml version="1.0" encoding="UTF-8" standalone="yes"?>
<Relationships xmlns="http://schemas.openxmlformats.org/package/2006/relationships"><Relationship Id="rId2" Type="http://schemas.openxmlformats.org/officeDocument/2006/relationships/hyperlink" Target="https://aws.amazon.com/about-aws/whats-new/2021/03/amazon-timestream-now-supports-amazon-vpc-endpoints/" TargetMode="External"/><Relationship Id="rId1" Type="http://schemas.openxmlformats.org/officeDocument/2006/relationships/slideLayout" Target="../slideLayouts/slideLayout9.xml"/></Relationships>
</file>

<file path=ppt/slides/_rels/slide595.xml.rels><?xml version="1.0" encoding="UTF-8" standalone="yes"?>
<Relationships xmlns="http://schemas.openxmlformats.org/package/2006/relationships"><Relationship Id="rId2" Type="http://schemas.openxmlformats.org/officeDocument/2006/relationships/hyperlink" Target="https://aws.amazon.com/about-aws/whats-new/2021/03/aws-cloud-map-now-supports-api-only-services-in-namespaces-configured-with-dns-resolution/" TargetMode="External"/><Relationship Id="rId1" Type="http://schemas.openxmlformats.org/officeDocument/2006/relationships/slideLayout" Target="../slideLayouts/slideLayout9.xml"/></Relationships>
</file>

<file path=ppt/slides/_rels/slide596.xml.rels><?xml version="1.0" encoding="UTF-8" standalone="yes"?>
<Relationships xmlns="http://schemas.openxmlformats.org/package/2006/relationships"><Relationship Id="rId2" Type="http://schemas.openxmlformats.org/officeDocument/2006/relationships/hyperlink" Target="https://aws.amazon.com/about-aws/whats-new/2021/03/amazon-detective-launches-in-aws-govcloud-us-regions/" TargetMode="External"/><Relationship Id="rId1" Type="http://schemas.openxmlformats.org/officeDocument/2006/relationships/slideLayout" Target="../slideLayouts/slideLayout9.xml"/></Relationships>
</file>

<file path=ppt/slides/_rels/slide597.xml.rels><?xml version="1.0" encoding="UTF-8" standalone="yes"?>
<Relationships xmlns="http://schemas.openxmlformats.org/package/2006/relationships"><Relationship Id="rId2" Type="http://schemas.openxmlformats.org/officeDocument/2006/relationships/hyperlink" Target="https://aws.amazon.com/about-aws/whats-new/2021/03/announcing-general-availability-of-aws-iot-device-defender-ml-detect/" TargetMode="External"/><Relationship Id="rId1" Type="http://schemas.openxmlformats.org/officeDocument/2006/relationships/slideLayout" Target="../slideLayouts/slideLayout9.xml"/></Relationships>
</file>

<file path=ppt/slides/_rels/slide598.xml.rels><?xml version="1.0" encoding="UTF-8" standalone="yes"?>
<Relationships xmlns="http://schemas.openxmlformats.org/package/2006/relationships"><Relationship Id="rId2" Type="http://schemas.openxmlformats.org/officeDocument/2006/relationships/hyperlink" Target="https://aws.amazon.com/about-aws/whats-new/2021/03/aws-backup-adds-support-for-bulk-deletion-of-recovery-points/" TargetMode="External"/><Relationship Id="rId1" Type="http://schemas.openxmlformats.org/officeDocument/2006/relationships/slideLayout" Target="../slideLayouts/slideLayout9.xml"/></Relationships>
</file>

<file path=ppt/slides/_rels/slide599.xml.rels><?xml version="1.0" encoding="UTF-8" standalone="yes"?>
<Relationships xmlns="http://schemas.openxmlformats.org/package/2006/relationships"><Relationship Id="rId2" Type="http://schemas.openxmlformats.org/officeDocument/2006/relationships/hyperlink" Target="https://aws.amazon.com/about-aws/whats-new/2021/03/create-forecasting-systems-faster-with-automated-workflows-and-notifications-in-amazon-forecast/" TargetMode="External"/><Relationship Id="rId1" Type="http://schemas.openxmlformats.org/officeDocument/2006/relationships/slideLayout" Target="../slideLayouts/slideLayout9.xml"/></Relationships>
</file>

<file path=ppt/slides/_rels/slide600.xml.rels><?xml version="1.0" encoding="UTF-8" standalone="yes"?>
<Relationships xmlns="http://schemas.openxmlformats.org/package/2006/relationships"><Relationship Id="rId2" Type="http://schemas.openxmlformats.org/officeDocument/2006/relationships/hyperlink" Target="https://aws.amazon.com/about-aws/whats-new/2021/03/amazon-elasticsearch-service-announces-auto-tune-feature-improved-performance-application-availability/" TargetMode="External"/><Relationship Id="rId1" Type="http://schemas.openxmlformats.org/officeDocument/2006/relationships/slideLayout" Target="../slideLayouts/slideLayout9.xml"/></Relationships>
</file>

<file path=ppt/slides/_rels/slide601.xml.rels><?xml version="1.0" encoding="UTF-8" standalone="yes"?>
<Relationships xmlns="http://schemas.openxmlformats.org/package/2006/relationships"><Relationship Id="rId2" Type="http://schemas.openxmlformats.org/officeDocument/2006/relationships/hyperlink" Target="https://aws.amazon.com/about-aws/whats-new/2021/03/now-you-can-use-aws-cloudtrail-to-log-data-plane-api-activity-in-your-amazon-dynamodb-tables/" TargetMode="Externa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normAutofit fontScale="77500" lnSpcReduction="20000"/>
          </a:bodyPr>
          <a:lstStyle/>
          <a:p>
            <a:r>
              <a:rPr lang="en-US" dirty="0"/>
              <a:t>Stan Guillory</a:t>
            </a:r>
          </a:p>
          <a:p>
            <a:r>
              <a:rPr lang="en-US" dirty="0"/>
              <a:t>Senior Solutions Architect</a:t>
            </a:r>
          </a:p>
          <a:p>
            <a:r>
              <a:rPr lang="en-US" dirty="0"/>
              <a:t>6/28/2021</a:t>
            </a:r>
          </a:p>
        </p:txBody>
      </p:sp>
      <p:sp>
        <p:nvSpPr>
          <p:cNvPr id="4" name="Text Placeholder 3"/>
          <p:cNvSpPr>
            <a:spLocks noGrp="1"/>
          </p:cNvSpPr>
          <p:nvPr>
            <p:ph type="body" sz="quarter" idx="12"/>
          </p:nvPr>
        </p:nvSpPr>
        <p:spPr/>
        <p:txBody>
          <a:bodyPr/>
          <a:lstStyle/>
          <a:p>
            <a:r>
              <a:rPr lang="en-US" dirty="0"/>
              <a:t>What’s New at AWS</a:t>
            </a:r>
          </a:p>
        </p:txBody>
      </p:sp>
      <p:sp>
        <p:nvSpPr>
          <p:cNvPr id="8" name="Text Placeholder 7">
            <a:extLst>
              <a:ext uri="{FF2B5EF4-FFF2-40B4-BE49-F238E27FC236}">
                <a16:creationId xmlns:a16="http://schemas.microsoft.com/office/drawing/2014/main" id="{74CEB05D-0914-CF46-9930-3938AF512487}"/>
              </a:ext>
            </a:extLst>
          </p:cNvPr>
          <p:cNvSpPr>
            <a:spLocks noGrp="1"/>
          </p:cNvSpPr>
          <p:nvPr>
            <p:ph type="body" sz="quarter" idx="13"/>
          </p:nvPr>
        </p:nvSpPr>
        <p:spPr/>
        <p:txBody>
          <a:bodyPr/>
          <a:lstStyle/>
          <a:p>
            <a:endParaRPr lang="en-US" dirty="0"/>
          </a:p>
        </p:txBody>
      </p:sp>
    </p:spTree>
    <p:extLst>
      <p:ext uri="{BB962C8B-B14F-4D97-AF65-F5344CB8AC3E}">
        <p14:creationId xmlns:p14="http://schemas.microsoft.com/office/powerpoint/2010/main" val="33034442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E702E280-D2CF-5D46-A064-FE55F672979B}"/>
              </a:ext>
            </a:extLst>
          </p:cNvPr>
          <p:cNvSpPr txBox="1"/>
          <p:nvPr/>
        </p:nvSpPr>
        <p:spPr>
          <a:xfrm>
            <a:off x="102938" y="7224100"/>
            <a:ext cx="5336556" cy="1126462"/>
          </a:xfrm>
          <a:prstGeom prst="rect">
            <a:avLst/>
          </a:prstGeom>
          <a:noFill/>
        </p:spPr>
        <p:txBody>
          <a:bodyPr wrap="square" rtlCol="0" anchor="ctr">
            <a:spAutoFit/>
          </a:bodyPr>
          <a:lstStyle/>
          <a:p>
            <a:pPr defTabSz="1097280"/>
            <a:r>
              <a:rPr lang="en-US" sz="6720" b="1" dirty="0">
                <a:solidFill>
                  <a:prstClr val="white">
                    <a:lumMod val="85000"/>
                  </a:prstClr>
                </a:solidFill>
                <a:latin typeface="Calibri" panose="020F0502020204030204" pitchFamily="34" charset="0"/>
                <a:ea typeface="Arial Black" charset="0"/>
                <a:cs typeface="Calibri" panose="020F0502020204030204" pitchFamily="34" charset="0"/>
                <a:sym typeface="Helvetica"/>
              </a:rPr>
              <a:t>Account Team</a:t>
            </a:r>
          </a:p>
        </p:txBody>
      </p:sp>
      <p:pic>
        <p:nvPicPr>
          <p:cNvPr id="16" name="Picture 15">
            <a:extLst>
              <a:ext uri="{FF2B5EF4-FFF2-40B4-BE49-F238E27FC236}">
                <a16:creationId xmlns:a16="http://schemas.microsoft.com/office/drawing/2014/main" id="{6361B181-52BE-AE48-8C0B-B0E03C5137FD}"/>
              </a:ext>
            </a:extLst>
          </p:cNvPr>
          <p:cNvPicPr>
            <a:picLocks noChangeAspect="1"/>
          </p:cNvPicPr>
          <p:nvPr/>
        </p:nvPicPr>
        <p:blipFill>
          <a:blip r:embed="rId3"/>
          <a:stretch>
            <a:fillRect/>
          </a:stretch>
        </p:blipFill>
        <p:spPr>
          <a:xfrm>
            <a:off x="5447035" y="7477492"/>
            <a:ext cx="1721321" cy="619675"/>
          </a:xfrm>
          <a:prstGeom prst="rect">
            <a:avLst/>
          </a:prstGeom>
        </p:spPr>
      </p:pic>
      <p:grpSp>
        <p:nvGrpSpPr>
          <p:cNvPr id="43" name="Group 42"/>
          <p:cNvGrpSpPr/>
          <p:nvPr/>
        </p:nvGrpSpPr>
        <p:grpSpPr>
          <a:xfrm>
            <a:off x="248088" y="959749"/>
            <a:ext cx="1798903" cy="2894162"/>
            <a:chOff x="206740" y="350211"/>
            <a:chExt cx="1499086" cy="2411802"/>
          </a:xfrm>
        </p:grpSpPr>
        <p:sp>
          <p:nvSpPr>
            <p:cNvPr id="20" name="TextBox 19">
              <a:extLst>
                <a:ext uri="{FF2B5EF4-FFF2-40B4-BE49-F238E27FC236}">
                  <a16:creationId xmlns:a16="http://schemas.microsoft.com/office/drawing/2014/main" id="{5D7D0791-62D6-2946-A2C2-544B0067DC54}"/>
                </a:ext>
              </a:extLst>
            </p:cNvPr>
            <p:cNvSpPr txBox="1"/>
            <p:nvPr/>
          </p:nvSpPr>
          <p:spPr>
            <a:xfrm>
              <a:off x="206741" y="660650"/>
              <a:ext cx="1303273" cy="215443"/>
            </a:xfrm>
            <a:prstGeom prst="rect">
              <a:avLst/>
            </a:prstGeom>
            <a:noFill/>
          </p:spPr>
          <p:txBody>
            <a:bodyPr wrap="square" rtlCol="0">
              <a:spAutoFit/>
            </a:bodyPr>
            <a:lstStyle/>
            <a:p>
              <a:pPr defTabSz="822919">
                <a:defRPr/>
              </a:pPr>
              <a:r>
                <a:rPr lang="en-US" sz="1080" dirty="0">
                  <a:solidFill>
                    <a:prstClr val="white">
                      <a:lumMod val="50000"/>
                    </a:prstClr>
                  </a:solidFill>
                  <a:latin typeface="Calibri" panose="020F0502020204030204" pitchFamily="34" charset="0"/>
                  <a:cs typeface="Calibri" panose="020F0502020204030204" pitchFamily="34" charset="0"/>
                  <a:sym typeface="Helvetica"/>
                </a:rPr>
                <a:t>Strategy and direction.</a:t>
              </a:r>
            </a:p>
          </p:txBody>
        </p:sp>
        <p:sp>
          <p:nvSpPr>
            <p:cNvPr id="19" name="Rounded Rectangle 4">
              <a:extLst>
                <a:ext uri="{FF2B5EF4-FFF2-40B4-BE49-F238E27FC236}">
                  <a16:creationId xmlns:a16="http://schemas.microsoft.com/office/drawing/2014/main" id="{2E9372C6-DE8D-E84F-8D34-21F18EC8EBB4}"/>
                </a:ext>
              </a:extLst>
            </p:cNvPr>
            <p:cNvSpPr/>
            <p:nvPr/>
          </p:nvSpPr>
          <p:spPr>
            <a:xfrm>
              <a:off x="206740" y="350211"/>
              <a:ext cx="1499086" cy="32854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4864" tIns="54864" rIns="54864" bIns="54864" numCol="1" spcCol="1270" anchor="ctr" anchorCtr="0">
              <a:noAutofit/>
            </a:bodyPr>
            <a:lstStyle/>
            <a:p>
              <a:pPr defTabSz="960048">
                <a:lnSpc>
                  <a:spcPct val="90000"/>
                </a:lnSpc>
                <a:spcBef>
                  <a:spcPct val="0"/>
                </a:spcBef>
                <a:spcAft>
                  <a:spcPct val="35000"/>
                </a:spcAft>
              </a:pPr>
              <a:r>
                <a:rPr lang="en-US" sz="1200" b="1" dirty="0">
                  <a:solidFill>
                    <a:prstClr val="white">
                      <a:lumMod val="50000"/>
                    </a:prstClr>
                  </a:solidFill>
                  <a:latin typeface="Calibri" panose="020F0502020204030204" pitchFamily="34" charset="0"/>
                  <a:cs typeface="Calibri" panose="020F0502020204030204" pitchFamily="34" charset="0"/>
                  <a:sym typeface="Helvetica"/>
                </a:rPr>
                <a:t>Executive Sponsor</a:t>
              </a:r>
            </a:p>
          </p:txBody>
        </p:sp>
        <p:pic>
          <p:nvPicPr>
            <p:cNvPr id="34" name="Picture 33">
              <a:extLst>
                <a:ext uri="{FF2B5EF4-FFF2-40B4-BE49-F238E27FC236}">
                  <a16:creationId xmlns:a16="http://schemas.microsoft.com/office/drawing/2014/main" id="{7AD3C699-7647-E146-99BD-2AA995718FA8}"/>
                </a:ext>
              </a:extLst>
            </p:cNvPr>
            <p:cNvPicPr>
              <a:picLocks noChangeAspect="1"/>
            </p:cNvPicPr>
            <p:nvPr/>
          </p:nvPicPr>
          <p:blipFill>
            <a:blip r:embed="rId4"/>
            <a:stretch>
              <a:fillRect/>
            </a:stretch>
          </p:blipFill>
          <p:spPr>
            <a:xfrm>
              <a:off x="275322" y="1025182"/>
              <a:ext cx="582799" cy="1269508"/>
            </a:xfrm>
            <a:prstGeom prst="rect">
              <a:avLst/>
            </a:prstGeom>
          </p:spPr>
        </p:pic>
        <p:sp>
          <p:nvSpPr>
            <p:cNvPr id="35" name="TextBox 34">
              <a:extLst>
                <a:ext uri="{FF2B5EF4-FFF2-40B4-BE49-F238E27FC236}">
                  <a16:creationId xmlns:a16="http://schemas.microsoft.com/office/drawing/2014/main" id="{B7A65602-49C1-7E4B-9A34-88652642700C}"/>
                </a:ext>
              </a:extLst>
            </p:cNvPr>
            <p:cNvSpPr txBox="1"/>
            <p:nvPr/>
          </p:nvSpPr>
          <p:spPr>
            <a:xfrm>
              <a:off x="224299" y="2315737"/>
              <a:ext cx="980580" cy="446276"/>
            </a:xfrm>
            <a:prstGeom prst="rect">
              <a:avLst/>
            </a:prstGeom>
            <a:noFill/>
          </p:spPr>
          <p:txBody>
            <a:bodyPr wrap="square" rtlCol="0">
              <a:spAutoFit/>
            </a:bodyPr>
            <a:lstStyle/>
            <a:p>
              <a:pPr defTabSz="1097280"/>
              <a:r>
                <a:rPr lang="en-US" sz="960" dirty="0">
                  <a:solidFill>
                    <a:prstClr val="black"/>
                  </a:solidFill>
                  <a:latin typeface="Calibri" panose="020F0502020204030204"/>
                  <a:sym typeface="Helvetica"/>
                </a:rPr>
                <a:t>awssteve@</a:t>
              </a:r>
              <a:br>
                <a:rPr lang="en-US" sz="960" dirty="0">
                  <a:solidFill>
                    <a:prstClr val="black"/>
                  </a:solidFill>
                  <a:latin typeface="Calibri" panose="020F0502020204030204"/>
                  <a:sym typeface="Helvetica"/>
                </a:rPr>
              </a:br>
              <a:r>
                <a:rPr lang="en-US" sz="960" dirty="0">
                  <a:solidFill>
                    <a:prstClr val="black"/>
                  </a:solidFill>
                  <a:latin typeface="Calibri" panose="020F0502020204030204"/>
                  <a:sym typeface="Helvetica"/>
                </a:rPr>
                <a:t>Chief Information  Security Officer</a:t>
              </a:r>
              <a:endParaRPr lang="en-US" sz="1440" dirty="0">
                <a:solidFill>
                  <a:prstClr val="black"/>
                </a:solidFill>
                <a:latin typeface="Calibri" panose="020F0502020204030204"/>
                <a:sym typeface="Helvetica"/>
              </a:endParaRPr>
            </a:p>
          </p:txBody>
        </p:sp>
      </p:grpSp>
      <p:sp>
        <p:nvSpPr>
          <p:cNvPr id="96" name="Shape 272">
            <a:extLst>
              <a:ext uri="{FF2B5EF4-FFF2-40B4-BE49-F238E27FC236}">
                <a16:creationId xmlns:a16="http://schemas.microsoft.com/office/drawing/2014/main" id="{74AD4591-BC09-D842-802F-A98F885EA534}"/>
              </a:ext>
            </a:extLst>
          </p:cNvPr>
          <p:cNvSpPr txBox="1">
            <a:spLocks/>
          </p:cNvSpPr>
          <p:nvPr/>
        </p:nvSpPr>
        <p:spPr>
          <a:xfrm>
            <a:off x="13156760" y="505066"/>
            <a:ext cx="208578" cy="320040"/>
          </a:xfrm>
          <a:prstGeom prst="rect">
            <a:avLst/>
          </a:prstGeom>
          <a:extLst>
            <a:ext uri="{C572A759-6A51-4108-AA02-DFA0A04FC94B}">
              <ma14:wrappingTextBoxFlag xmlns="" xmlns:ma14="http://schemas.microsoft.com/office/mac/drawingml/2011/main" val="1"/>
            </a:ext>
          </a:extLst>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914400" rtl="0" fontAlgn="auto" latinLnBrk="0" hangingPunct="0">
              <a:lnSpc>
                <a:spcPct val="100000"/>
              </a:lnSpc>
              <a:spcBef>
                <a:spcPts val="0"/>
              </a:spcBef>
              <a:spcAft>
                <a:spcPts val="0"/>
              </a:spcAft>
              <a:buClrTx/>
              <a:buSzTx/>
              <a:buFontTx/>
              <a:buNone/>
              <a:tabLst/>
              <a:defRPr kumimoji="0" sz="8800" b="0" i="0" u="none" strike="noStrike" cap="none" spc="0" normalizeH="0" baseline="0">
                <a:ln>
                  <a:noFill/>
                </a:ln>
                <a:solidFill>
                  <a:srgbClr val="33B1DD"/>
                </a:solidFill>
                <a:effectLst/>
                <a:uFillTx/>
                <a:latin typeface="+mn-lt"/>
                <a:ea typeface="+mn-ea"/>
                <a:cs typeface="+mn-cs"/>
                <a:sym typeface="Helvetica"/>
              </a:defRPr>
            </a:lvl1pPr>
            <a:lvl2pPr marL="0" marR="0" indent="457200" algn="ctr" defTabSz="914400" rtl="0" fontAlgn="auto" latinLnBrk="0" hangingPunct="0">
              <a:lnSpc>
                <a:spcPct val="100000"/>
              </a:lnSpc>
              <a:spcBef>
                <a:spcPts val="0"/>
              </a:spcBef>
              <a:spcAft>
                <a:spcPts val="0"/>
              </a:spcAft>
              <a:buClrTx/>
              <a:buSzTx/>
              <a:buFontTx/>
              <a:buNone/>
              <a:tabLst/>
              <a:defRPr kumimoji="0" sz="8800" b="0" i="0" u="none" strike="noStrike" cap="none" spc="0" normalizeH="0" baseline="0">
                <a:ln>
                  <a:noFill/>
                </a:ln>
                <a:solidFill>
                  <a:srgbClr val="33B1DD"/>
                </a:solidFill>
                <a:effectLst/>
                <a:uFillTx/>
                <a:latin typeface="+mn-lt"/>
                <a:ea typeface="+mn-ea"/>
                <a:cs typeface="+mn-cs"/>
                <a:sym typeface="Helvetica"/>
              </a:defRPr>
            </a:lvl2pPr>
            <a:lvl3pPr marL="0" marR="0" indent="914400" algn="ctr" defTabSz="914400" rtl="0" fontAlgn="auto" latinLnBrk="0" hangingPunct="0">
              <a:lnSpc>
                <a:spcPct val="100000"/>
              </a:lnSpc>
              <a:spcBef>
                <a:spcPts val="0"/>
              </a:spcBef>
              <a:spcAft>
                <a:spcPts val="0"/>
              </a:spcAft>
              <a:buClrTx/>
              <a:buSzTx/>
              <a:buFontTx/>
              <a:buNone/>
              <a:tabLst/>
              <a:defRPr kumimoji="0" sz="8800" b="0" i="0" u="none" strike="noStrike" cap="none" spc="0" normalizeH="0" baseline="0">
                <a:ln>
                  <a:noFill/>
                </a:ln>
                <a:solidFill>
                  <a:srgbClr val="33B1DD"/>
                </a:solidFill>
                <a:effectLst/>
                <a:uFillTx/>
                <a:latin typeface="+mn-lt"/>
                <a:ea typeface="+mn-ea"/>
                <a:cs typeface="+mn-cs"/>
                <a:sym typeface="Helvetica"/>
              </a:defRPr>
            </a:lvl3pPr>
            <a:lvl4pPr marL="0" marR="0" indent="1371600" algn="ctr" defTabSz="914400" rtl="0" fontAlgn="auto" latinLnBrk="0" hangingPunct="0">
              <a:lnSpc>
                <a:spcPct val="100000"/>
              </a:lnSpc>
              <a:spcBef>
                <a:spcPts val="0"/>
              </a:spcBef>
              <a:spcAft>
                <a:spcPts val="0"/>
              </a:spcAft>
              <a:buClrTx/>
              <a:buSzTx/>
              <a:buFontTx/>
              <a:buNone/>
              <a:tabLst/>
              <a:defRPr kumimoji="0" sz="8800" b="0" i="0" u="none" strike="noStrike" cap="none" spc="0" normalizeH="0" baseline="0">
                <a:ln>
                  <a:noFill/>
                </a:ln>
                <a:solidFill>
                  <a:srgbClr val="33B1DD"/>
                </a:solidFill>
                <a:effectLst/>
                <a:uFillTx/>
                <a:latin typeface="+mn-lt"/>
                <a:ea typeface="+mn-ea"/>
                <a:cs typeface="+mn-cs"/>
                <a:sym typeface="Helvetica"/>
              </a:defRPr>
            </a:lvl4pPr>
            <a:lvl5pPr marL="0" marR="0" indent="1828800" algn="ctr" defTabSz="914400" rtl="0" fontAlgn="auto" latinLnBrk="0" hangingPunct="0">
              <a:lnSpc>
                <a:spcPct val="100000"/>
              </a:lnSpc>
              <a:spcBef>
                <a:spcPts val="0"/>
              </a:spcBef>
              <a:spcAft>
                <a:spcPts val="0"/>
              </a:spcAft>
              <a:buClrTx/>
              <a:buSzTx/>
              <a:buFontTx/>
              <a:buNone/>
              <a:tabLst/>
              <a:defRPr kumimoji="0" sz="8800" b="0" i="0" u="none" strike="noStrike" cap="none" spc="0" normalizeH="0" baseline="0">
                <a:ln>
                  <a:noFill/>
                </a:ln>
                <a:solidFill>
                  <a:srgbClr val="33B1DD"/>
                </a:solidFill>
                <a:effectLst/>
                <a:uFillTx/>
                <a:latin typeface="+mn-lt"/>
                <a:ea typeface="+mn-ea"/>
                <a:cs typeface="+mn-cs"/>
                <a:sym typeface="Helvetica"/>
              </a:defRPr>
            </a:lvl5pPr>
            <a:lvl6pPr marL="0" marR="0" indent="2286000" algn="ctr" defTabSz="914400" rtl="0" fontAlgn="auto" latinLnBrk="0" hangingPunct="0">
              <a:lnSpc>
                <a:spcPct val="100000"/>
              </a:lnSpc>
              <a:spcBef>
                <a:spcPts val="0"/>
              </a:spcBef>
              <a:spcAft>
                <a:spcPts val="0"/>
              </a:spcAft>
              <a:buClrTx/>
              <a:buSzTx/>
              <a:buFontTx/>
              <a:buNone/>
              <a:tabLst/>
              <a:defRPr kumimoji="0" sz="8800" b="0" i="0" u="none" strike="noStrike" cap="none" spc="0" normalizeH="0" baseline="0">
                <a:ln>
                  <a:noFill/>
                </a:ln>
                <a:solidFill>
                  <a:srgbClr val="33B1DD"/>
                </a:solidFill>
                <a:effectLst/>
                <a:uFillTx/>
                <a:latin typeface="+mn-lt"/>
                <a:ea typeface="+mn-ea"/>
                <a:cs typeface="+mn-cs"/>
                <a:sym typeface="Helvetica"/>
              </a:defRPr>
            </a:lvl6pPr>
            <a:lvl7pPr marL="0" marR="0" indent="2743200" algn="ctr" defTabSz="914400" rtl="0" fontAlgn="auto" latinLnBrk="0" hangingPunct="0">
              <a:lnSpc>
                <a:spcPct val="100000"/>
              </a:lnSpc>
              <a:spcBef>
                <a:spcPts val="0"/>
              </a:spcBef>
              <a:spcAft>
                <a:spcPts val="0"/>
              </a:spcAft>
              <a:buClrTx/>
              <a:buSzTx/>
              <a:buFontTx/>
              <a:buNone/>
              <a:tabLst/>
              <a:defRPr kumimoji="0" sz="8800" b="0" i="0" u="none" strike="noStrike" cap="none" spc="0" normalizeH="0" baseline="0">
                <a:ln>
                  <a:noFill/>
                </a:ln>
                <a:solidFill>
                  <a:srgbClr val="33B1DD"/>
                </a:solidFill>
                <a:effectLst/>
                <a:uFillTx/>
                <a:latin typeface="+mn-lt"/>
                <a:ea typeface="+mn-ea"/>
                <a:cs typeface="+mn-cs"/>
                <a:sym typeface="Helvetica"/>
              </a:defRPr>
            </a:lvl7pPr>
            <a:lvl8pPr marL="0" marR="0" indent="3200400" algn="ctr" defTabSz="914400" rtl="0" fontAlgn="auto" latinLnBrk="0" hangingPunct="0">
              <a:lnSpc>
                <a:spcPct val="100000"/>
              </a:lnSpc>
              <a:spcBef>
                <a:spcPts val="0"/>
              </a:spcBef>
              <a:spcAft>
                <a:spcPts val="0"/>
              </a:spcAft>
              <a:buClrTx/>
              <a:buSzTx/>
              <a:buFontTx/>
              <a:buNone/>
              <a:tabLst/>
              <a:defRPr kumimoji="0" sz="8800" b="0" i="0" u="none" strike="noStrike" cap="none" spc="0" normalizeH="0" baseline="0">
                <a:ln>
                  <a:noFill/>
                </a:ln>
                <a:solidFill>
                  <a:srgbClr val="33B1DD"/>
                </a:solidFill>
                <a:effectLst/>
                <a:uFillTx/>
                <a:latin typeface="+mn-lt"/>
                <a:ea typeface="+mn-ea"/>
                <a:cs typeface="+mn-cs"/>
                <a:sym typeface="Helvetica"/>
              </a:defRPr>
            </a:lvl8pPr>
            <a:lvl9pPr marL="0" marR="0" indent="3657600" algn="ctr" defTabSz="914400" rtl="0" fontAlgn="auto" latinLnBrk="0" hangingPunct="0">
              <a:lnSpc>
                <a:spcPct val="100000"/>
              </a:lnSpc>
              <a:spcBef>
                <a:spcPts val="0"/>
              </a:spcBef>
              <a:spcAft>
                <a:spcPts val="0"/>
              </a:spcAft>
              <a:buClrTx/>
              <a:buSzTx/>
              <a:buFontTx/>
              <a:buNone/>
              <a:tabLst/>
              <a:defRPr kumimoji="0" sz="8800" b="0" i="0" u="none" strike="noStrike" cap="none" spc="0" normalizeH="0" baseline="0">
                <a:ln>
                  <a:noFill/>
                </a:ln>
                <a:solidFill>
                  <a:srgbClr val="33B1DD"/>
                </a:solidFill>
                <a:effectLst/>
                <a:uFillTx/>
                <a:latin typeface="+mn-lt"/>
                <a:ea typeface="+mn-ea"/>
                <a:cs typeface="+mn-cs"/>
                <a:sym typeface="Helvetica"/>
              </a:defRPr>
            </a:lvl9pPr>
          </a:lstStyle>
          <a:p>
            <a:pPr defTabSz="1097280"/>
            <a:fld id="{86CB4B4D-7CA3-9044-876B-883B54F8677D}" type="slidenum">
              <a:rPr lang="en-US" sz="1680" b="1">
                <a:solidFill>
                  <a:prstClr val="white"/>
                </a:solidFill>
                <a:latin typeface="Calibri" panose="020F0502020204030204"/>
              </a:rPr>
              <a:pPr defTabSz="1097280"/>
              <a:t>2</a:t>
            </a:fld>
            <a:endParaRPr lang="en-US" sz="1680" b="1" dirty="0">
              <a:solidFill>
                <a:prstClr val="white"/>
              </a:solidFill>
              <a:latin typeface="Calibri" panose="020F0502020204030204"/>
            </a:endParaRPr>
          </a:p>
        </p:txBody>
      </p:sp>
      <p:sp>
        <p:nvSpPr>
          <p:cNvPr id="100" name="Shape 272">
            <a:extLst>
              <a:ext uri="{FF2B5EF4-FFF2-40B4-BE49-F238E27FC236}">
                <a16:creationId xmlns:a16="http://schemas.microsoft.com/office/drawing/2014/main" id="{BC3F5968-B495-4B40-88E8-DB0E89B9D60F}"/>
              </a:ext>
            </a:extLst>
          </p:cNvPr>
          <p:cNvSpPr>
            <a:spLocks noGrp="1"/>
          </p:cNvSpPr>
          <p:nvPr>
            <p:ph type="sldNum" sz="quarter" idx="2"/>
          </p:nvPr>
        </p:nvSpPr>
        <p:spPr>
          <a:xfrm>
            <a:off x="13971283" y="354330"/>
            <a:ext cx="208578" cy="320040"/>
          </a:xfrm>
          <a:prstGeom prst="rect">
            <a:avLst/>
          </a:prstGeom>
          <a:extLst>
            <a:ext uri="{C572A759-6A51-4108-AA02-DFA0A04FC94B}">
              <ma14:wrappingTextBoxFlag xmlns:ma14="http://schemas.microsoft.com/office/mac/drawingml/2011/main" xmlns="" val="1"/>
            </a:ext>
          </a:extLst>
        </p:spPr>
        <p:txBody>
          <a:bodyPr/>
          <a:lstStyle/>
          <a:p>
            <a:pPr defTabSz="1097280"/>
            <a:fld id="{86CB4B4D-7CA3-9044-876B-883B54F8677D}" type="slidenum">
              <a:rPr>
                <a:solidFill>
                  <a:prstClr val="black">
                    <a:tint val="75000"/>
                  </a:prstClr>
                </a:solidFill>
                <a:latin typeface="Calibri" panose="020F0502020204030204"/>
                <a:sym typeface="Helvetica"/>
              </a:rPr>
              <a:pPr defTabSz="1097280"/>
              <a:t>2</a:t>
            </a:fld>
            <a:endParaRPr dirty="0">
              <a:solidFill>
                <a:prstClr val="black">
                  <a:tint val="75000"/>
                </a:prstClr>
              </a:solidFill>
              <a:latin typeface="Calibri" panose="020F0502020204030204"/>
              <a:sym typeface="Helvetica"/>
            </a:endParaRPr>
          </a:p>
        </p:txBody>
      </p:sp>
      <p:sp>
        <p:nvSpPr>
          <p:cNvPr id="3" name="Rectangle 2"/>
          <p:cNvSpPr/>
          <p:nvPr/>
        </p:nvSpPr>
        <p:spPr>
          <a:xfrm>
            <a:off x="8283730" y="7542770"/>
            <a:ext cx="2430415" cy="276999"/>
          </a:xfrm>
          <a:prstGeom prst="rect">
            <a:avLst/>
          </a:prstGeom>
          <a:ln>
            <a:solidFill>
              <a:schemeClr val="accent1"/>
            </a:solidFill>
          </a:ln>
        </p:spPr>
        <p:txBody>
          <a:bodyPr wrap="square">
            <a:spAutoFit/>
          </a:bodyPr>
          <a:lstStyle/>
          <a:p>
            <a:pPr defTabSz="1097280"/>
            <a:r>
              <a:rPr lang="en-US" sz="1200" dirty="0">
                <a:solidFill>
                  <a:prstClr val="black"/>
                </a:solidFill>
                <a:latin typeface="Calibri" panose="020F0502020204030204" pitchFamily="34" charset="0"/>
                <a:cs typeface="Calibri" panose="020F0502020204030204" pitchFamily="34" charset="0"/>
                <a:sym typeface="Helvetica"/>
              </a:rPr>
              <a:t>Email addresses @amazon.com</a:t>
            </a:r>
          </a:p>
        </p:txBody>
      </p:sp>
      <p:pic>
        <p:nvPicPr>
          <p:cNvPr id="91" name="Picture 90">
            <a:extLst>
              <a:ext uri="{FF2B5EF4-FFF2-40B4-BE49-F238E27FC236}">
                <a16:creationId xmlns:a16="http://schemas.microsoft.com/office/drawing/2014/main" id="{30229C60-74A5-F840-A0CF-9C34A276B8E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258825" y="42747"/>
            <a:ext cx="1794104" cy="941905"/>
          </a:xfrm>
          <a:prstGeom prst="rect">
            <a:avLst/>
          </a:prstGeom>
        </p:spPr>
      </p:pic>
      <p:grpSp>
        <p:nvGrpSpPr>
          <p:cNvPr id="52" name="Group 51"/>
          <p:cNvGrpSpPr/>
          <p:nvPr/>
        </p:nvGrpSpPr>
        <p:grpSpPr>
          <a:xfrm>
            <a:off x="6066576" y="4142121"/>
            <a:ext cx="6380940" cy="3031119"/>
            <a:chOff x="4464930" y="3451768"/>
            <a:chExt cx="5317450" cy="2525933"/>
          </a:xfrm>
        </p:grpSpPr>
        <p:pic>
          <p:nvPicPr>
            <p:cNvPr id="21" name="Picture 20"/>
            <p:cNvPicPr>
              <a:picLocks noChangeAspect="1"/>
            </p:cNvPicPr>
            <p:nvPr/>
          </p:nvPicPr>
          <p:blipFill>
            <a:blip r:embed="rId6"/>
            <a:stretch>
              <a:fillRect/>
            </a:stretch>
          </p:blipFill>
          <p:spPr>
            <a:xfrm>
              <a:off x="8535734" y="4157291"/>
              <a:ext cx="575226" cy="1238956"/>
            </a:xfrm>
            <a:prstGeom prst="rect">
              <a:avLst/>
            </a:prstGeom>
          </p:spPr>
        </p:pic>
        <p:grpSp>
          <p:nvGrpSpPr>
            <p:cNvPr id="24" name="Group 23"/>
            <p:cNvGrpSpPr/>
            <p:nvPr/>
          </p:nvGrpSpPr>
          <p:grpSpPr>
            <a:xfrm>
              <a:off x="4464930" y="3451768"/>
              <a:ext cx="5317450" cy="2525933"/>
              <a:chOff x="4464930" y="3451768"/>
              <a:chExt cx="5317450" cy="2525933"/>
            </a:xfrm>
          </p:grpSpPr>
          <p:sp>
            <p:nvSpPr>
              <p:cNvPr id="12" name="Rounded Rectangle 4">
                <a:extLst>
                  <a:ext uri="{FF2B5EF4-FFF2-40B4-BE49-F238E27FC236}">
                    <a16:creationId xmlns:a16="http://schemas.microsoft.com/office/drawing/2014/main" id="{CB062CEA-8278-D444-B15E-03541C4B458D}"/>
                  </a:ext>
                </a:extLst>
              </p:cNvPr>
              <p:cNvSpPr/>
              <p:nvPr/>
            </p:nvSpPr>
            <p:spPr>
              <a:xfrm>
                <a:off x="4464930" y="3451768"/>
                <a:ext cx="2147198" cy="253054"/>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4864" tIns="54864" rIns="54864" bIns="54864" numCol="1" spcCol="1270" anchor="ctr" anchorCtr="0">
                <a:noAutofit/>
              </a:bodyP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defTabSz="960048">
                  <a:lnSpc>
                    <a:spcPct val="90000"/>
                  </a:lnSpc>
                  <a:spcBef>
                    <a:spcPct val="0"/>
                  </a:spcBef>
                  <a:spcAft>
                    <a:spcPct val="35000"/>
                  </a:spcAft>
                </a:pPr>
                <a:r>
                  <a:rPr lang="en-US" sz="1200" b="1" dirty="0">
                    <a:solidFill>
                      <a:prstClr val="white">
                        <a:lumMod val="50000"/>
                      </a:prstClr>
                    </a:solidFill>
                    <a:latin typeface="Calibri" panose="020F0502020204030204" pitchFamily="34" charset="0"/>
                    <a:cs typeface="Calibri" panose="020F0502020204030204" pitchFamily="34" charset="0"/>
                    <a:sym typeface="Helvetica"/>
                  </a:rPr>
                  <a:t>Technical Account Manager (TAM)</a:t>
                </a:r>
              </a:p>
            </p:txBody>
          </p:sp>
          <p:sp>
            <p:nvSpPr>
              <p:cNvPr id="13" name="TextBox 12">
                <a:extLst>
                  <a:ext uri="{FF2B5EF4-FFF2-40B4-BE49-F238E27FC236}">
                    <a16:creationId xmlns:a16="http://schemas.microsoft.com/office/drawing/2014/main" id="{DC3B9369-7720-2A4F-BC02-6A4AF17DADB5}"/>
                  </a:ext>
                </a:extLst>
              </p:cNvPr>
              <p:cNvSpPr txBox="1"/>
              <p:nvPr/>
            </p:nvSpPr>
            <p:spPr>
              <a:xfrm>
                <a:off x="4464930" y="3759254"/>
                <a:ext cx="5123451" cy="215443"/>
              </a:xfrm>
              <a:prstGeom prst="rect">
                <a:avLst/>
              </a:prstGeom>
              <a:noFill/>
            </p:spPr>
            <p:style>
              <a:lnRef idx="0">
                <a:scrgbClr r="0" g="0" b="0"/>
              </a:lnRef>
              <a:fillRef idx="0">
                <a:scrgbClr r="0" g="0" b="0"/>
              </a:fillRef>
              <a:effectRef idx="0">
                <a:scrgbClr r="0" g="0" b="0"/>
              </a:effectRef>
              <a:fontRef idx="major"/>
            </p:style>
            <p:txBody>
              <a:bodyPr wrap="square" rtlCol="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defTabSz="822919"/>
                <a:r>
                  <a:rPr lang="en-US" sz="1080" dirty="0">
                    <a:solidFill>
                      <a:prstClr val="white">
                        <a:lumMod val="50000"/>
                      </a:prstClr>
                    </a:solidFill>
                    <a:latin typeface="Calibri" panose="020F0502020204030204" pitchFamily="34" charset="0"/>
                    <a:cs typeface="Calibri" panose="020F0502020204030204" pitchFamily="34" charset="0"/>
                    <a:sym typeface="Helvetica"/>
                  </a:rPr>
                  <a:t>Technical support &amp; escalations, and customer advocate.</a:t>
                </a:r>
              </a:p>
            </p:txBody>
          </p:sp>
          <p:pic>
            <p:nvPicPr>
              <p:cNvPr id="63" name="Picture 62">
                <a:extLst>
                  <a:ext uri="{FF2B5EF4-FFF2-40B4-BE49-F238E27FC236}">
                    <a16:creationId xmlns:a16="http://schemas.microsoft.com/office/drawing/2014/main" id="{3BE87BD7-D646-974B-9A2D-E8769A786126}"/>
                  </a:ext>
                </a:extLst>
              </p:cNvPr>
              <p:cNvPicPr>
                <a:picLocks noChangeAspect="1"/>
              </p:cNvPicPr>
              <p:nvPr/>
            </p:nvPicPr>
            <p:blipFill>
              <a:blip r:embed="rId7"/>
              <a:stretch>
                <a:fillRect/>
              </a:stretch>
            </p:blipFill>
            <p:spPr>
              <a:xfrm>
                <a:off x="4464931" y="4141342"/>
                <a:ext cx="596080" cy="1254905"/>
              </a:xfrm>
              <a:prstGeom prst="rect">
                <a:avLst/>
              </a:prstGeom>
            </p:spPr>
          </p:pic>
          <p:pic>
            <p:nvPicPr>
              <p:cNvPr id="65" name="Picture 64">
                <a:extLst>
                  <a:ext uri="{FF2B5EF4-FFF2-40B4-BE49-F238E27FC236}">
                    <a16:creationId xmlns:a16="http://schemas.microsoft.com/office/drawing/2014/main" id="{E62447A7-919E-2B45-95C4-AFE620959724}"/>
                  </a:ext>
                </a:extLst>
              </p:cNvPr>
              <p:cNvPicPr>
                <a:picLocks noChangeAspect="1"/>
              </p:cNvPicPr>
              <p:nvPr/>
            </p:nvPicPr>
            <p:blipFill>
              <a:blip r:embed="rId8"/>
              <a:stretch>
                <a:fillRect/>
              </a:stretch>
            </p:blipFill>
            <p:spPr>
              <a:xfrm>
                <a:off x="5647694" y="4141342"/>
                <a:ext cx="571624" cy="1254905"/>
              </a:xfrm>
              <a:prstGeom prst="rect">
                <a:avLst/>
              </a:prstGeom>
            </p:spPr>
          </p:pic>
          <p:pic>
            <p:nvPicPr>
              <p:cNvPr id="66" name="Picture 65">
                <a:extLst>
                  <a:ext uri="{FF2B5EF4-FFF2-40B4-BE49-F238E27FC236}">
                    <a16:creationId xmlns:a16="http://schemas.microsoft.com/office/drawing/2014/main" id="{2279B60B-0069-CB47-A409-E7F3D1A3D15F}"/>
                  </a:ext>
                </a:extLst>
              </p:cNvPr>
              <p:cNvPicPr>
                <a:picLocks noChangeAspect="1"/>
              </p:cNvPicPr>
              <p:nvPr/>
            </p:nvPicPr>
            <p:blipFill>
              <a:blip r:embed="rId9"/>
              <a:stretch>
                <a:fillRect/>
              </a:stretch>
            </p:blipFill>
            <p:spPr>
              <a:xfrm>
                <a:off x="6217179" y="4141342"/>
                <a:ext cx="578500" cy="1254905"/>
              </a:xfrm>
              <a:prstGeom prst="rect">
                <a:avLst/>
              </a:prstGeom>
            </p:spPr>
          </p:pic>
          <p:pic>
            <p:nvPicPr>
              <p:cNvPr id="68" name="Picture 67">
                <a:extLst>
                  <a:ext uri="{FF2B5EF4-FFF2-40B4-BE49-F238E27FC236}">
                    <a16:creationId xmlns:a16="http://schemas.microsoft.com/office/drawing/2014/main" id="{6FE9E163-E45E-E040-8938-145780CFB80C}"/>
                  </a:ext>
                </a:extLst>
              </p:cNvPr>
              <p:cNvPicPr>
                <a:picLocks noChangeAspect="1"/>
              </p:cNvPicPr>
              <p:nvPr/>
            </p:nvPicPr>
            <p:blipFill>
              <a:blip r:embed="rId10"/>
              <a:stretch>
                <a:fillRect/>
              </a:stretch>
            </p:blipFill>
            <p:spPr>
              <a:xfrm>
                <a:off x="7379630" y="4148112"/>
                <a:ext cx="581876" cy="1248135"/>
              </a:xfrm>
              <a:prstGeom prst="rect">
                <a:avLst/>
              </a:prstGeom>
            </p:spPr>
          </p:pic>
          <p:pic>
            <p:nvPicPr>
              <p:cNvPr id="70" name="Picture 69">
                <a:extLst>
                  <a:ext uri="{FF2B5EF4-FFF2-40B4-BE49-F238E27FC236}">
                    <a16:creationId xmlns:a16="http://schemas.microsoft.com/office/drawing/2014/main" id="{CE21B7B9-4994-1B47-B93F-468F60173F4D}"/>
                  </a:ext>
                </a:extLst>
              </p:cNvPr>
              <p:cNvPicPr>
                <a:picLocks noChangeAspect="1"/>
              </p:cNvPicPr>
              <p:nvPr/>
            </p:nvPicPr>
            <p:blipFill>
              <a:blip r:embed="rId11"/>
              <a:stretch>
                <a:fillRect/>
              </a:stretch>
            </p:blipFill>
            <p:spPr>
              <a:xfrm>
                <a:off x="7956583" y="4157291"/>
                <a:ext cx="585930" cy="1238956"/>
              </a:xfrm>
              <a:prstGeom prst="rect">
                <a:avLst/>
              </a:prstGeom>
            </p:spPr>
          </p:pic>
          <p:pic>
            <p:nvPicPr>
              <p:cNvPr id="82" name="Picture 81">
                <a:extLst>
                  <a:ext uri="{FF2B5EF4-FFF2-40B4-BE49-F238E27FC236}">
                    <a16:creationId xmlns:a16="http://schemas.microsoft.com/office/drawing/2014/main" id="{DA9CC63C-3604-284F-AD97-6E8C39633683}"/>
                  </a:ext>
                </a:extLst>
              </p:cNvPr>
              <p:cNvPicPr>
                <a:picLocks noChangeAspect="1"/>
              </p:cNvPicPr>
              <p:nvPr/>
            </p:nvPicPr>
            <p:blipFill>
              <a:blip r:embed="rId12"/>
              <a:stretch>
                <a:fillRect/>
              </a:stretch>
            </p:blipFill>
            <p:spPr>
              <a:xfrm>
                <a:off x="6798763" y="4152930"/>
                <a:ext cx="572464" cy="1243317"/>
              </a:xfrm>
              <a:prstGeom prst="rect">
                <a:avLst/>
              </a:prstGeom>
            </p:spPr>
          </p:pic>
          <p:sp>
            <p:nvSpPr>
              <p:cNvPr id="53" name="TextBox 52">
                <a:extLst>
                  <a:ext uri="{FF2B5EF4-FFF2-40B4-BE49-F238E27FC236}">
                    <a16:creationId xmlns:a16="http://schemas.microsoft.com/office/drawing/2014/main" id="{CA6038A9-90E7-A043-93BD-E51720A56CF0}"/>
                  </a:ext>
                </a:extLst>
              </p:cNvPr>
              <p:cNvSpPr txBox="1"/>
              <p:nvPr/>
            </p:nvSpPr>
            <p:spPr>
              <a:xfrm>
                <a:off x="4481252" y="5393129"/>
                <a:ext cx="653968" cy="323165"/>
              </a:xfrm>
              <a:prstGeom prst="rect">
                <a:avLst/>
              </a:prstGeom>
              <a:noFill/>
            </p:spPr>
            <p:txBody>
              <a:bodyPr wrap="square" rtlCol="0">
                <a:spAutoFit/>
              </a:bodyPr>
              <a:lstStyle/>
              <a:p>
                <a:pPr defTabSz="1097280"/>
                <a:r>
                  <a:rPr lang="en-US" sz="960" dirty="0">
                    <a:solidFill>
                      <a:prstClr val="black"/>
                    </a:solidFill>
                    <a:latin typeface="Calibri" panose="020F0502020204030204"/>
                    <a:sym typeface="Helvetica"/>
                  </a:rPr>
                  <a:t>robbu@</a:t>
                </a:r>
                <a:br>
                  <a:rPr lang="en-US" sz="960" dirty="0">
                    <a:solidFill>
                      <a:prstClr val="black"/>
                    </a:solidFill>
                    <a:latin typeface="Calibri" panose="020F0502020204030204"/>
                    <a:sym typeface="Helvetica"/>
                  </a:rPr>
                </a:br>
                <a:r>
                  <a:rPr lang="en-US" sz="960" dirty="0">
                    <a:solidFill>
                      <a:prstClr val="black"/>
                    </a:solidFill>
                    <a:latin typeface="Calibri" panose="020F0502020204030204"/>
                    <a:sym typeface="Helvetica"/>
                  </a:rPr>
                  <a:t>Manager</a:t>
                </a:r>
                <a:endParaRPr lang="en-US" sz="1440" dirty="0">
                  <a:solidFill>
                    <a:prstClr val="black"/>
                  </a:solidFill>
                  <a:latin typeface="Calibri" panose="020F0502020204030204"/>
                  <a:sym typeface="Helvetica"/>
                </a:endParaRPr>
              </a:p>
            </p:txBody>
          </p:sp>
          <p:sp>
            <p:nvSpPr>
              <p:cNvPr id="54" name="TextBox 53">
                <a:extLst>
                  <a:ext uri="{FF2B5EF4-FFF2-40B4-BE49-F238E27FC236}">
                    <a16:creationId xmlns:a16="http://schemas.microsoft.com/office/drawing/2014/main" id="{A407B360-5F3C-314D-A1E9-9DF7F3A6D9E2}"/>
                  </a:ext>
                </a:extLst>
              </p:cNvPr>
              <p:cNvSpPr txBox="1"/>
              <p:nvPr/>
            </p:nvSpPr>
            <p:spPr>
              <a:xfrm>
                <a:off x="5069540" y="5393129"/>
                <a:ext cx="668924" cy="569387"/>
              </a:xfrm>
              <a:prstGeom prst="rect">
                <a:avLst/>
              </a:prstGeom>
              <a:noFill/>
            </p:spPr>
            <p:txBody>
              <a:bodyPr wrap="square" rtlCol="0">
                <a:spAutoFit/>
              </a:bodyPr>
              <a:lstStyle/>
              <a:p>
                <a:pPr defTabSz="1097280"/>
                <a:r>
                  <a:rPr lang="en-US" sz="960" dirty="0">
                    <a:solidFill>
                      <a:prstClr val="black"/>
                    </a:solidFill>
                    <a:latin typeface="Calibri" panose="020F0502020204030204"/>
                    <a:sym typeface="Helvetica"/>
                  </a:rPr>
                  <a:t>muratore@</a:t>
                </a:r>
                <a:br>
                  <a:rPr lang="en-US" sz="960" dirty="0">
                    <a:solidFill>
                      <a:prstClr val="black"/>
                    </a:solidFill>
                    <a:latin typeface="Calibri" panose="020F0502020204030204"/>
                    <a:sym typeface="Helvetica"/>
                  </a:rPr>
                </a:br>
                <a:r>
                  <a:rPr lang="en-US" sz="960" dirty="0">
                    <a:solidFill>
                      <a:prstClr val="black"/>
                    </a:solidFill>
                    <a:latin typeface="Calibri" panose="020F0502020204030204"/>
                    <a:sym typeface="Helvetica"/>
                  </a:rPr>
                  <a:t>Sr. TAM</a:t>
                </a:r>
                <a:br>
                  <a:rPr lang="en-US" sz="960" dirty="0">
                    <a:solidFill>
                      <a:prstClr val="black"/>
                    </a:solidFill>
                    <a:latin typeface="Calibri" panose="020F0502020204030204"/>
                    <a:sym typeface="Helvetica"/>
                  </a:rPr>
                </a:br>
                <a:r>
                  <a:rPr lang="en-US" sz="960" dirty="0">
                    <a:solidFill>
                      <a:prstClr val="black"/>
                    </a:solidFill>
                    <a:latin typeface="Calibri" panose="020F0502020204030204"/>
                    <a:sym typeface="Helvetica"/>
                  </a:rPr>
                  <a:t>Cyber, PowerUP</a:t>
                </a:r>
                <a:endParaRPr lang="en-US" sz="1440" dirty="0">
                  <a:solidFill>
                    <a:prstClr val="black"/>
                  </a:solidFill>
                  <a:latin typeface="Calibri" panose="020F0502020204030204"/>
                  <a:sym typeface="Helvetica"/>
                </a:endParaRPr>
              </a:p>
            </p:txBody>
          </p:sp>
          <p:sp>
            <p:nvSpPr>
              <p:cNvPr id="55" name="TextBox 54">
                <a:extLst>
                  <a:ext uri="{FF2B5EF4-FFF2-40B4-BE49-F238E27FC236}">
                    <a16:creationId xmlns:a16="http://schemas.microsoft.com/office/drawing/2014/main" id="{97E6F346-0F28-174A-808A-9612DAC07F2C}"/>
                  </a:ext>
                </a:extLst>
              </p:cNvPr>
              <p:cNvSpPr txBox="1"/>
              <p:nvPr/>
            </p:nvSpPr>
            <p:spPr>
              <a:xfrm>
                <a:off x="5642106" y="5393129"/>
                <a:ext cx="697206" cy="446276"/>
              </a:xfrm>
              <a:prstGeom prst="rect">
                <a:avLst/>
              </a:prstGeom>
              <a:noFill/>
            </p:spPr>
            <p:txBody>
              <a:bodyPr wrap="square" rtlCol="0">
                <a:spAutoFit/>
              </a:bodyPr>
              <a:lstStyle/>
              <a:p>
                <a:pPr defTabSz="1097280"/>
                <a:r>
                  <a:rPr lang="en-US" sz="960" dirty="0">
                    <a:solidFill>
                      <a:prstClr val="black"/>
                    </a:solidFill>
                    <a:latin typeface="Calibri" panose="020F0502020204030204"/>
                    <a:sym typeface="Helvetica"/>
                  </a:rPr>
                  <a:t>pietes@</a:t>
                </a:r>
                <a:br>
                  <a:rPr lang="en-US" sz="960" dirty="0">
                    <a:solidFill>
                      <a:prstClr val="black"/>
                    </a:solidFill>
                    <a:latin typeface="Calibri" panose="020F0502020204030204"/>
                    <a:sym typeface="Helvetica"/>
                  </a:rPr>
                </a:br>
                <a:r>
                  <a:rPr lang="en-US" sz="960" dirty="0">
                    <a:solidFill>
                      <a:prstClr val="black"/>
                    </a:solidFill>
                    <a:latin typeface="Calibri" panose="020F0502020204030204"/>
                    <a:sym typeface="Helvetica"/>
                  </a:rPr>
                  <a:t>Sr. TAM</a:t>
                </a:r>
                <a:br>
                  <a:rPr lang="en-US" sz="960" dirty="0">
                    <a:solidFill>
                      <a:prstClr val="black"/>
                    </a:solidFill>
                    <a:latin typeface="Calibri" panose="020F0502020204030204"/>
                    <a:sym typeface="Helvetica"/>
                  </a:rPr>
                </a:br>
                <a:r>
                  <a:rPr lang="en-US" sz="960" dirty="0">
                    <a:solidFill>
                      <a:prstClr val="black"/>
                    </a:solidFill>
                    <a:latin typeface="Calibri" panose="020F0502020204030204"/>
                    <a:sym typeface="Helvetica"/>
                  </a:rPr>
                  <a:t>EP2T</a:t>
                </a:r>
                <a:endParaRPr lang="en-US" sz="1440" dirty="0">
                  <a:solidFill>
                    <a:prstClr val="black"/>
                  </a:solidFill>
                  <a:latin typeface="Calibri" panose="020F0502020204030204"/>
                  <a:sym typeface="Helvetica"/>
                </a:endParaRPr>
              </a:p>
            </p:txBody>
          </p:sp>
          <p:sp>
            <p:nvSpPr>
              <p:cNvPr id="56" name="TextBox 55">
                <a:extLst>
                  <a:ext uri="{FF2B5EF4-FFF2-40B4-BE49-F238E27FC236}">
                    <a16:creationId xmlns:a16="http://schemas.microsoft.com/office/drawing/2014/main" id="{DB48E4EA-871B-834F-AE7E-756EF7EC108C}"/>
                  </a:ext>
                </a:extLst>
              </p:cNvPr>
              <p:cNvSpPr txBox="1"/>
              <p:nvPr/>
            </p:nvSpPr>
            <p:spPr>
              <a:xfrm>
                <a:off x="6222951" y="5393129"/>
                <a:ext cx="700594" cy="569387"/>
              </a:xfrm>
              <a:prstGeom prst="rect">
                <a:avLst/>
              </a:prstGeom>
              <a:noFill/>
            </p:spPr>
            <p:txBody>
              <a:bodyPr wrap="square" rtlCol="0">
                <a:spAutoFit/>
              </a:bodyPr>
              <a:lstStyle/>
              <a:p>
                <a:pPr defTabSz="1097280"/>
                <a:r>
                  <a:rPr lang="en-US" sz="960" dirty="0">
                    <a:solidFill>
                      <a:prstClr val="black"/>
                    </a:solidFill>
                    <a:latin typeface="Calibri" panose="020F0502020204030204"/>
                    <a:sym typeface="Helvetica"/>
                  </a:rPr>
                  <a:t>pankagni@</a:t>
                </a:r>
                <a:br>
                  <a:rPr lang="en-US" sz="960" dirty="0">
                    <a:solidFill>
                      <a:prstClr val="black"/>
                    </a:solidFill>
                    <a:latin typeface="Calibri" panose="020F0502020204030204"/>
                    <a:sym typeface="Helvetica"/>
                  </a:rPr>
                </a:br>
                <a:r>
                  <a:rPr lang="en-US" sz="960" dirty="0">
                    <a:solidFill>
                      <a:prstClr val="black"/>
                    </a:solidFill>
                    <a:latin typeface="Calibri" panose="020F0502020204030204"/>
                    <a:sym typeface="Helvetica"/>
                  </a:rPr>
                  <a:t>Sr. TAM</a:t>
                </a:r>
                <a:br>
                  <a:rPr lang="en-US" sz="960" dirty="0">
                    <a:solidFill>
                      <a:prstClr val="black"/>
                    </a:solidFill>
                    <a:latin typeface="Calibri" panose="020F0502020204030204"/>
                    <a:sym typeface="Helvetica"/>
                  </a:rPr>
                </a:br>
                <a:r>
                  <a:rPr lang="en-US" sz="960" dirty="0">
                    <a:solidFill>
                      <a:prstClr val="black"/>
                    </a:solidFill>
                    <a:latin typeface="Calibri" panose="020F0502020204030204"/>
                    <a:sym typeface="Helvetica"/>
                  </a:rPr>
                  <a:t>FS, Retail, Commercial</a:t>
                </a:r>
                <a:endParaRPr lang="en-US" sz="1440" dirty="0">
                  <a:solidFill>
                    <a:prstClr val="black"/>
                  </a:solidFill>
                  <a:latin typeface="Calibri" panose="020F0502020204030204"/>
                  <a:sym typeface="Helvetica"/>
                </a:endParaRPr>
              </a:p>
            </p:txBody>
          </p:sp>
          <p:sp>
            <p:nvSpPr>
              <p:cNvPr id="57" name="TextBox 56">
                <a:extLst>
                  <a:ext uri="{FF2B5EF4-FFF2-40B4-BE49-F238E27FC236}">
                    <a16:creationId xmlns:a16="http://schemas.microsoft.com/office/drawing/2014/main" id="{8104B6D9-5852-4445-8353-531BE0F15089}"/>
                  </a:ext>
                </a:extLst>
              </p:cNvPr>
              <p:cNvSpPr txBox="1"/>
              <p:nvPr/>
            </p:nvSpPr>
            <p:spPr>
              <a:xfrm>
                <a:off x="7387560" y="5393129"/>
                <a:ext cx="731210" cy="446276"/>
              </a:xfrm>
              <a:prstGeom prst="rect">
                <a:avLst/>
              </a:prstGeom>
              <a:noFill/>
            </p:spPr>
            <p:txBody>
              <a:bodyPr wrap="square" rtlCol="0">
                <a:spAutoFit/>
              </a:bodyPr>
              <a:lstStyle/>
              <a:p>
                <a:pPr defTabSz="1097280"/>
                <a:r>
                  <a:rPr lang="en-US" sz="960" dirty="0">
                    <a:solidFill>
                      <a:prstClr val="black"/>
                    </a:solidFill>
                    <a:latin typeface="Calibri" panose="020F0502020204030204"/>
                    <a:ea typeface="Helvetica Neue"/>
                    <a:cs typeface="Helvetica Neue"/>
                    <a:sym typeface="Helvetica Neue"/>
                  </a:rPr>
                  <a:t>porchri@</a:t>
                </a:r>
                <a:br>
                  <a:rPr lang="en-US" sz="960" dirty="0">
                    <a:solidFill>
                      <a:prstClr val="black"/>
                    </a:solidFill>
                    <a:latin typeface="Calibri" panose="020F0502020204030204"/>
                    <a:ea typeface="Helvetica Neue"/>
                    <a:cs typeface="Helvetica Neue"/>
                    <a:sym typeface="Helvetica Neue"/>
                  </a:rPr>
                </a:br>
                <a:r>
                  <a:rPr lang="en-US" sz="960" dirty="0">
                    <a:solidFill>
                      <a:prstClr val="black"/>
                    </a:solidFill>
                    <a:latin typeface="Calibri" panose="020F0502020204030204"/>
                    <a:sym typeface="Helvetica"/>
                  </a:rPr>
                  <a:t>TAM</a:t>
                </a:r>
                <a:br>
                  <a:rPr lang="en-US" sz="960" dirty="0">
                    <a:solidFill>
                      <a:prstClr val="black"/>
                    </a:solidFill>
                    <a:latin typeface="Calibri" panose="020F0502020204030204"/>
                    <a:sym typeface="Helvetica"/>
                  </a:rPr>
                </a:br>
                <a:r>
                  <a:rPr lang="en-US" sz="960" dirty="0">
                    <a:solidFill>
                      <a:prstClr val="black"/>
                    </a:solidFill>
                    <a:latin typeface="Calibri" panose="020F0502020204030204"/>
                    <a:sym typeface="Helvetica"/>
                  </a:rPr>
                  <a:t>TOC</a:t>
                </a:r>
                <a:endParaRPr lang="en-US" sz="1440" dirty="0">
                  <a:solidFill>
                    <a:prstClr val="black"/>
                  </a:solidFill>
                  <a:latin typeface="Calibri" panose="020F0502020204030204"/>
                  <a:sym typeface="Helvetica"/>
                </a:endParaRPr>
              </a:p>
            </p:txBody>
          </p:sp>
          <p:sp>
            <p:nvSpPr>
              <p:cNvPr id="60" name="TextBox 59">
                <a:extLst>
                  <a:ext uri="{FF2B5EF4-FFF2-40B4-BE49-F238E27FC236}">
                    <a16:creationId xmlns:a16="http://schemas.microsoft.com/office/drawing/2014/main" id="{267ABDC6-C838-EC46-8A3F-B9CC1F685135}"/>
                  </a:ext>
                </a:extLst>
              </p:cNvPr>
              <p:cNvSpPr txBox="1"/>
              <p:nvPr/>
            </p:nvSpPr>
            <p:spPr>
              <a:xfrm>
                <a:off x="7956533" y="5408314"/>
                <a:ext cx="731210" cy="569387"/>
              </a:xfrm>
              <a:prstGeom prst="rect">
                <a:avLst/>
              </a:prstGeom>
              <a:noFill/>
            </p:spPr>
            <p:txBody>
              <a:bodyPr wrap="square" rtlCol="0">
                <a:spAutoFit/>
              </a:bodyPr>
              <a:lstStyle/>
              <a:p>
                <a:pPr defTabSz="1097280"/>
                <a:r>
                  <a:rPr lang="en-US" sz="960" dirty="0">
                    <a:solidFill>
                      <a:prstClr val="black"/>
                    </a:solidFill>
                    <a:latin typeface="Calibri" panose="020F0502020204030204"/>
                    <a:sym typeface="Helvetica"/>
                  </a:rPr>
                  <a:t>chappy@</a:t>
                </a:r>
                <a:br>
                  <a:rPr lang="en-US" sz="960" dirty="0">
                    <a:solidFill>
                      <a:prstClr val="black"/>
                    </a:solidFill>
                    <a:latin typeface="Calibri" panose="020F0502020204030204"/>
                    <a:sym typeface="Helvetica"/>
                  </a:rPr>
                </a:br>
                <a:r>
                  <a:rPr lang="en-US" sz="960" dirty="0">
                    <a:solidFill>
                      <a:prstClr val="black"/>
                    </a:solidFill>
                    <a:latin typeface="Calibri" panose="020F0502020204030204"/>
                    <a:sym typeface="Helvetica"/>
                  </a:rPr>
                  <a:t>Sr. TAM</a:t>
                </a:r>
                <a:br>
                  <a:rPr lang="en-US" sz="960" dirty="0">
                    <a:solidFill>
                      <a:prstClr val="black"/>
                    </a:solidFill>
                    <a:latin typeface="Calibri" panose="020F0502020204030204"/>
                    <a:sym typeface="Helvetica"/>
                  </a:rPr>
                </a:br>
                <a:r>
                  <a:rPr lang="en-US" sz="960" dirty="0">
                    <a:solidFill>
                      <a:prstClr val="black"/>
                    </a:solidFill>
                    <a:latin typeface="Calibri" panose="020F0502020204030204"/>
                    <a:sym typeface="Helvetica"/>
                  </a:rPr>
                  <a:t>Contact Centers</a:t>
                </a:r>
                <a:endParaRPr lang="en-US" sz="1440" dirty="0">
                  <a:solidFill>
                    <a:prstClr val="black"/>
                  </a:solidFill>
                  <a:latin typeface="Calibri" panose="020F0502020204030204"/>
                  <a:sym typeface="Helvetica"/>
                </a:endParaRPr>
              </a:p>
            </p:txBody>
          </p:sp>
          <p:sp>
            <p:nvSpPr>
              <p:cNvPr id="62" name="TextBox 61">
                <a:extLst>
                  <a:ext uri="{FF2B5EF4-FFF2-40B4-BE49-F238E27FC236}">
                    <a16:creationId xmlns:a16="http://schemas.microsoft.com/office/drawing/2014/main" id="{66D14C51-AB07-2942-85F7-D5BDF76D2AF4}"/>
                  </a:ext>
                </a:extLst>
              </p:cNvPr>
              <p:cNvSpPr txBox="1"/>
              <p:nvPr/>
            </p:nvSpPr>
            <p:spPr>
              <a:xfrm>
                <a:off x="6813286" y="5401592"/>
                <a:ext cx="731210" cy="446276"/>
              </a:xfrm>
              <a:prstGeom prst="rect">
                <a:avLst/>
              </a:prstGeom>
              <a:noFill/>
            </p:spPr>
            <p:txBody>
              <a:bodyPr wrap="square" rtlCol="0">
                <a:spAutoFit/>
              </a:bodyPr>
              <a:lstStyle/>
              <a:p>
                <a:pPr defTabSz="1097280"/>
                <a:r>
                  <a:rPr lang="en-US" sz="960" dirty="0">
                    <a:solidFill>
                      <a:prstClr val="black"/>
                    </a:solidFill>
                    <a:latin typeface="Calibri" panose="020F0502020204030204"/>
                    <a:sym typeface="Helvetica"/>
                  </a:rPr>
                  <a:t>fenchell@</a:t>
                </a:r>
                <a:br>
                  <a:rPr lang="en-US" sz="960" dirty="0">
                    <a:solidFill>
                      <a:prstClr val="black"/>
                    </a:solidFill>
                    <a:latin typeface="Calibri" panose="020F0502020204030204"/>
                    <a:sym typeface="Helvetica"/>
                  </a:rPr>
                </a:br>
                <a:r>
                  <a:rPr lang="en-US" sz="960" dirty="0">
                    <a:solidFill>
                      <a:prstClr val="black"/>
                    </a:solidFill>
                    <a:latin typeface="Calibri" panose="020F0502020204030204"/>
                    <a:sym typeface="Helvetica"/>
                  </a:rPr>
                  <a:t>TAM</a:t>
                </a:r>
                <a:br>
                  <a:rPr lang="en-US" sz="960" dirty="0">
                    <a:solidFill>
                      <a:prstClr val="black"/>
                    </a:solidFill>
                    <a:latin typeface="Calibri" panose="020F0502020204030204"/>
                    <a:sym typeface="Helvetica"/>
                  </a:rPr>
                </a:br>
                <a:r>
                  <a:rPr lang="en-US" sz="960" dirty="0">
                    <a:solidFill>
                      <a:prstClr val="black"/>
                    </a:solidFill>
                    <a:latin typeface="Calibri" panose="020F0502020204030204"/>
                    <a:sym typeface="Helvetica"/>
                  </a:rPr>
                  <a:t>TOC</a:t>
                </a:r>
                <a:endParaRPr lang="en-US" sz="1440" dirty="0">
                  <a:solidFill>
                    <a:prstClr val="black"/>
                  </a:solidFill>
                  <a:latin typeface="Calibri" panose="020F0502020204030204"/>
                  <a:sym typeface="Helvetica"/>
                </a:endParaRPr>
              </a:p>
            </p:txBody>
          </p:sp>
          <p:sp>
            <p:nvSpPr>
              <p:cNvPr id="109" name="TextBox 108">
                <a:extLst>
                  <a:ext uri="{FF2B5EF4-FFF2-40B4-BE49-F238E27FC236}">
                    <a16:creationId xmlns:a16="http://schemas.microsoft.com/office/drawing/2014/main" id="{267ABDC6-C838-EC46-8A3F-B9CC1F685135}"/>
                  </a:ext>
                </a:extLst>
              </p:cNvPr>
              <p:cNvSpPr txBox="1"/>
              <p:nvPr/>
            </p:nvSpPr>
            <p:spPr>
              <a:xfrm>
                <a:off x="9124454" y="5417541"/>
                <a:ext cx="657926" cy="446276"/>
              </a:xfrm>
              <a:prstGeom prst="rect">
                <a:avLst/>
              </a:prstGeom>
              <a:noFill/>
            </p:spPr>
            <p:txBody>
              <a:bodyPr wrap="square" rtlCol="0">
                <a:spAutoFit/>
              </a:bodyPr>
              <a:lstStyle/>
              <a:p>
                <a:pPr defTabSz="1097280"/>
                <a:r>
                  <a:rPr lang="en-US" sz="960" dirty="0">
                    <a:solidFill>
                      <a:prstClr val="black"/>
                    </a:solidFill>
                    <a:latin typeface="Calibri" panose="020F0502020204030204"/>
                    <a:sym typeface="Helvetica"/>
                  </a:rPr>
                  <a:t>billcan@</a:t>
                </a:r>
                <a:br>
                  <a:rPr lang="en-US" sz="960" dirty="0">
                    <a:solidFill>
                      <a:prstClr val="black"/>
                    </a:solidFill>
                    <a:latin typeface="Calibri" panose="020F0502020204030204"/>
                    <a:sym typeface="Helvetica"/>
                  </a:rPr>
                </a:br>
                <a:r>
                  <a:rPr lang="en-US" sz="960" dirty="0">
                    <a:solidFill>
                      <a:prstClr val="black"/>
                    </a:solidFill>
                    <a:latin typeface="Calibri" panose="020F0502020204030204"/>
                    <a:sym typeface="Helvetica"/>
                  </a:rPr>
                  <a:t>Sr. TAM</a:t>
                </a:r>
                <a:br>
                  <a:rPr lang="en-US" sz="960" dirty="0">
                    <a:solidFill>
                      <a:prstClr val="black"/>
                    </a:solidFill>
                    <a:latin typeface="Calibri" panose="020F0502020204030204"/>
                    <a:sym typeface="Helvetica"/>
                  </a:rPr>
                </a:br>
                <a:r>
                  <a:rPr lang="en-US" sz="960" dirty="0">
                    <a:solidFill>
                      <a:prstClr val="black"/>
                    </a:solidFill>
                    <a:latin typeface="Calibri" panose="020F0502020204030204"/>
                    <a:sym typeface="Helvetica"/>
                  </a:rPr>
                  <a:t>UK</a:t>
                </a:r>
                <a:endParaRPr lang="en-US" sz="1440" dirty="0">
                  <a:solidFill>
                    <a:prstClr val="black"/>
                  </a:solidFill>
                  <a:latin typeface="Calibri" panose="020F0502020204030204"/>
                  <a:sym typeface="Helvetica"/>
                </a:endParaRPr>
              </a:p>
            </p:txBody>
          </p:sp>
          <p:pic>
            <p:nvPicPr>
              <p:cNvPr id="141" name="Picture 140"/>
              <p:cNvPicPr>
                <a:picLocks noChangeAspect="1"/>
              </p:cNvPicPr>
              <p:nvPr/>
            </p:nvPicPr>
            <p:blipFill>
              <a:blip r:embed="rId13"/>
              <a:stretch>
                <a:fillRect/>
              </a:stretch>
            </p:blipFill>
            <p:spPr>
              <a:xfrm>
                <a:off x="5056659" y="4148112"/>
                <a:ext cx="581563" cy="1248135"/>
              </a:xfrm>
              <a:prstGeom prst="rect">
                <a:avLst/>
              </a:prstGeom>
            </p:spPr>
          </p:pic>
          <p:sp>
            <p:nvSpPr>
              <p:cNvPr id="97" name="TextBox 96">
                <a:extLst>
                  <a:ext uri="{FF2B5EF4-FFF2-40B4-BE49-F238E27FC236}">
                    <a16:creationId xmlns:a16="http://schemas.microsoft.com/office/drawing/2014/main" id="{267ABDC6-C838-EC46-8A3F-B9CC1F685135}"/>
                  </a:ext>
                </a:extLst>
              </p:cNvPr>
              <p:cNvSpPr txBox="1"/>
              <p:nvPr/>
            </p:nvSpPr>
            <p:spPr>
              <a:xfrm>
                <a:off x="8544685" y="5417295"/>
                <a:ext cx="701614" cy="446276"/>
              </a:xfrm>
              <a:prstGeom prst="rect">
                <a:avLst/>
              </a:prstGeom>
              <a:noFill/>
            </p:spPr>
            <p:txBody>
              <a:bodyPr wrap="square" rtlCol="0">
                <a:spAutoFit/>
              </a:bodyPr>
              <a:lstStyle/>
              <a:p>
                <a:pPr defTabSz="1097280"/>
                <a:r>
                  <a:rPr lang="en-US" sz="960" dirty="0">
                    <a:solidFill>
                      <a:prstClr val="black"/>
                    </a:solidFill>
                    <a:latin typeface="Calibri" panose="020F0502020204030204"/>
                    <a:sym typeface="Helvetica"/>
                  </a:rPr>
                  <a:t>dmernst@</a:t>
                </a:r>
                <a:br>
                  <a:rPr lang="en-US" sz="960" dirty="0">
                    <a:solidFill>
                      <a:prstClr val="black"/>
                    </a:solidFill>
                    <a:latin typeface="Calibri" panose="020F0502020204030204"/>
                    <a:sym typeface="Helvetica"/>
                  </a:rPr>
                </a:br>
                <a:r>
                  <a:rPr lang="en-US" sz="960" dirty="0">
                    <a:solidFill>
                      <a:prstClr val="black"/>
                    </a:solidFill>
                    <a:latin typeface="Calibri" panose="020F0502020204030204"/>
                    <a:sym typeface="Helvetica"/>
                  </a:rPr>
                  <a:t>Sr. TAM</a:t>
                </a:r>
                <a:br>
                  <a:rPr lang="en-US" sz="960" dirty="0">
                    <a:solidFill>
                      <a:prstClr val="black"/>
                    </a:solidFill>
                    <a:latin typeface="Calibri" panose="020F0502020204030204"/>
                    <a:sym typeface="Helvetica"/>
                  </a:rPr>
                </a:br>
                <a:r>
                  <a:rPr lang="en-US" sz="960" dirty="0">
                    <a:solidFill>
                      <a:prstClr val="black"/>
                    </a:solidFill>
                    <a:latin typeface="Calibri" panose="020F0502020204030204"/>
                    <a:sym typeface="Helvetica"/>
                  </a:rPr>
                  <a:t>Card</a:t>
                </a:r>
                <a:endParaRPr lang="en-US" sz="1440" dirty="0">
                  <a:solidFill>
                    <a:prstClr val="black"/>
                  </a:solidFill>
                  <a:latin typeface="Calibri" panose="020F0502020204030204"/>
                  <a:sym typeface="Helvetica"/>
                </a:endParaRPr>
              </a:p>
            </p:txBody>
          </p:sp>
          <p:pic>
            <p:nvPicPr>
              <p:cNvPr id="4" name="Picture 3"/>
              <p:cNvPicPr>
                <a:picLocks noChangeAspect="1"/>
              </p:cNvPicPr>
              <p:nvPr/>
            </p:nvPicPr>
            <p:blipFill>
              <a:blip r:embed="rId14"/>
              <a:stretch>
                <a:fillRect/>
              </a:stretch>
            </p:blipFill>
            <p:spPr>
              <a:xfrm>
                <a:off x="9110598" y="4169231"/>
                <a:ext cx="563697" cy="1219874"/>
              </a:xfrm>
              <a:prstGeom prst="rect">
                <a:avLst/>
              </a:prstGeom>
            </p:spPr>
          </p:pic>
        </p:grpSp>
      </p:grpSp>
      <p:grpSp>
        <p:nvGrpSpPr>
          <p:cNvPr id="41" name="Group 40"/>
          <p:cNvGrpSpPr/>
          <p:nvPr/>
        </p:nvGrpSpPr>
        <p:grpSpPr>
          <a:xfrm>
            <a:off x="8961770" y="901005"/>
            <a:ext cx="2441460" cy="2981982"/>
            <a:chOff x="10296624" y="3363796"/>
            <a:chExt cx="2034550" cy="2484985"/>
          </a:xfrm>
        </p:grpSpPr>
        <p:sp>
          <p:nvSpPr>
            <p:cNvPr id="9" name="Rounded Rectangle 4">
              <a:extLst>
                <a:ext uri="{FF2B5EF4-FFF2-40B4-BE49-F238E27FC236}">
                  <a16:creationId xmlns:a16="http://schemas.microsoft.com/office/drawing/2014/main" id="{1E8244EE-BB2E-3C44-8B26-3CF507960FD6}"/>
                </a:ext>
              </a:extLst>
            </p:cNvPr>
            <p:cNvSpPr/>
            <p:nvPr/>
          </p:nvSpPr>
          <p:spPr>
            <a:xfrm>
              <a:off x="10320043" y="3363796"/>
              <a:ext cx="2011131" cy="22562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4864" tIns="54864" rIns="54864" bIns="54864" numCol="1" spcCol="1270" anchor="ctr" anchorCtr="0">
              <a:noAutofit/>
            </a:bodyPr>
            <a:lstStyle/>
            <a:p>
              <a:pPr defTabSz="960048">
                <a:lnSpc>
                  <a:spcPct val="90000"/>
                </a:lnSpc>
                <a:spcBef>
                  <a:spcPct val="0"/>
                </a:spcBef>
                <a:spcAft>
                  <a:spcPct val="35000"/>
                </a:spcAft>
              </a:pPr>
              <a:r>
                <a:rPr lang="en-US" sz="1200" b="1" dirty="0">
                  <a:solidFill>
                    <a:prstClr val="white">
                      <a:lumMod val="50000"/>
                    </a:prstClr>
                  </a:solidFill>
                  <a:latin typeface="Calibri" panose="020F0502020204030204" pitchFamily="34" charset="0"/>
                  <a:cs typeface="Calibri" panose="020F0502020204030204" pitchFamily="34" charset="0"/>
                  <a:sym typeface="Helvetica"/>
                </a:rPr>
                <a:t>Professional Services (ProServ)</a:t>
              </a:r>
            </a:p>
          </p:txBody>
        </p:sp>
        <p:sp>
          <p:nvSpPr>
            <p:cNvPr id="18" name="TextBox 17">
              <a:extLst>
                <a:ext uri="{FF2B5EF4-FFF2-40B4-BE49-F238E27FC236}">
                  <a16:creationId xmlns:a16="http://schemas.microsoft.com/office/drawing/2014/main" id="{38B48B5E-6F24-EA44-8856-2FBF87B00B29}"/>
                </a:ext>
              </a:extLst>
            </p:cNvPr>
            <p:cNvSpPr txBox="1"/>
            <p:nvPr/>
          </p:nvSpPr>
          <p:spPr>
            <a:xfrm>
              <a:off x="10296624" y="3605289"/>
              <a:ext cx="1973993" cy="353943"/>
            </a:xfrm>
            <a:prstGeom prst="rect">
              <a:avLst/>
            </a:prstGeom>
            <a:noFill/>
          </p:spPr>
          <p:txBody>
            <a:bodyPr wrap="square" rtlCol="0">
              <a:spAutoFit/>
            </a:bodyPr>
            <a:lstStyle/>
            <a:p>
              <a:pPr defTabSz="822919">
                <a:defRPr/>
              </a:pPr>
              <a:r>
                <a:rPr lang="en-US" sz="1080" dirty="0">
                  <a:solidFill>
                    <a:prstClr val="white">
                      <a:lumMod val="50000"/>
                    </a:prstClr>
                  </a:solidFill>
                  <a:latin typeface="Calibri" panose="020F0502020204030204" pitchFamily="34" charset="0"/>
                  <a:cs typeface="Calibri" panose="020F0502020204030204" pitchFamily="34" charset="0"/>
                  <a:sym typeface="Helvetica"/>
                </a:rPr>
                <a:t>Partners with SA and customers to design and deploy solutions.</a:t>
              </a:r>
            </a:p>
          </p:txBody>
        </p:sp>
        <p:pic>
          <p:nvPicPr>
            <p:cNvPr id="49" name="Picture 48">
              <a:extLst>
                <a:ext uri="{FF2B5EF4-FFF2-40B4-BE49-F238E27FC236}">
                  <a16:creationId xmlns:a16="http://schemas.microsoft.com/office/drawing/2014/main" id="{77B1FA5D-00BD-CC4D-89B2-D342FF2DFF69}"/>
                </a:ext>
              </a:extLst>
            </p:cNvPr>
            <p:cNvPicPr>
              <a:picLocks noChangeAspect="1"/>
            </p:cNvPicPr>
            <p:nvPr/>
          </p:nvPicPr>
          <p:blipFill>
            <a:blip r:embed="rId15"/>
            <a:stretch>
              <a:fillRect/>
            </a:stretch>
          </p:blipFill>
          <p:spPr>
            <a:xfrm>
              <a:off x="10296624" y="4110361"/>
              <a:ext cx="598207" cy="1287756"/>
            </a:xfrm>
            <a:prstGeom prst="rect">
              <a:avLst/>
            </a:prstGeom>
          </p:spPr>
        </p:pic>
        <p:sp>
          <p:nvSpPr>
            <p:cNvPr id="47" name="TextBox 46">
              <a:extLst>
                <a:ext uri="{FF2B5EF4-FFF2-40B4-BE49-F238E27FC236}">
                  <a16:creationId xmlns:a16="http://schemas.microsoft.com/office/drawing/2014/main" id="{88F144D1-582F-084F-8051-26346873C82F}"/>
                </a:ext>
              </a:extLst>
            </p:cNvPr>
            <p:cNvSpPr txBox="1"/>
            <p:nvPr/>
          </p:nvSpPr>
          <p:spPr>
            <a:xfrm>
              <a:off x="10320044" y="5416384"/>
              <a:ext cx="731210" cy="323165"/>
            </a:xfrm>
            <a:prstGeom prst="rect">
              <a:avLst/>
            </a:prstGeom>
            <a:noFill/>
          </p:spPr>
          <p:txBody>
            <a:bodyPr wrap="square" rtlCol="0">
              <a:spAutoFit/>
            </a:bodyPr>
            <a:lstStyle/>
            <a:p>
              <a:pPr defTabSz="1097280"/>
              <a:r>
                <a:rPr lang="en-US" sz="960" dirty="0">
                  <a:solidFill>
                    <a:prstClr val="black"/>
                  </a:solidFill>
                  <a:latin typeface="Calibri" panose="020F0502020204030204"/>
                  <a:sym typeface="Helvetica"/>
                </a:rPr>
                <a:t>mitckemp@</a:t>
              </a:r>
              <a:br>
                <a:rPr lang="en-US" sz="960" dirty="0">
                  <a:solidFill>
                    <a:prstClr val="black"/>
                  </a:solidFill>
                  <a:latin typeface="Calibri" panose="020F0502020204030204"/>
                  <a:sym typeface="Helvetica"/>
                </a:rPr>
              </a:br>
              <a:r>
                <a:rPr lang="en-US" sz="960" dirty="0">
                  <a:solidFill>
                    <a:prstClr val="black"/>
                  </a:solidFill>
                  <a:latin typeface="Calibri" panose="020F0502020204030204"/>
                  <a:sym typeface="Helvetica"/>
                </a:rPr>
                <a:t>Manager</a:t>
              </a:r>
              <a:endParaRPr lang="en-US" sz="1440" dirty="0">
                <a:solidFill>
                  <a:prstClr val="black"/>
                </a:solidFill>
                <a:latin typeface="Calibri" panose="020F0502020204030204"/>
                <a:sym typeface="Helvetica"/>
              </a:endParaRPr>
            </a:p>
          </p:txBody>
        </p:sp>
        <p:pic>
          <p:nvPicPr>
            <p:cNvPr id="106" name="Picture 105">
              <a:extLst>
                <a:ext uri="{FF2B5EF4-FFF2-40B4-BE49-F238E27FC236}">
                  <a16:creationId xmlns:a16="http://schemas.microsoft.com/office/drawing/2014/main" id="{C67775BF-A4B6-8843-B2B8-523A8C6FC625}"/>
                </a:ext>
              </a:extLst>
            </p:cNvPr>
            <p:cNvPicPr>
              <a:picLocks noChangeAspect="1"/>
            </p:cNvPicPr>
            <p:nvPr/>
          </p:nvPicPr>
          <p:blipFill>
            <a:blip r:embed="rId16"/>
            <a:stretch>
              <a:fillRect/>
            </a:stretch>
          </p:blipFill>
          <p:spPr>
            <a:xfrm>
              <a:off x="10891071" y="4110361"/>
              <a:ext cx="607080" cy="1287756"/>
            </a:xfrm>
            <a:prstGeom prst="rect">
              <a:avLst/>
            </a:prstGeom>
          </p:spPr>
        </p:pic>
        <p:sp>
          <p:nvSpPr>
            <p:cNvPr id="107" name="TextBox 106">
              <a:extLst>
                <a:ext uri="{FF2B5EF4-FFF2-40B4-BE49-F238E27FC236}">
                  <a16:creationId xmlns:a16="http://schemas.microsoft.com/office/drawing/2014/main" id="{E8F360FC-FB08-B043-9254-89911D631D69}"/>
                </a:ext>
              </a:extLst>
            </p:cNvPr>
            <p:cNvSpPr txBox="1"/>
            <p:nvPr/>
          </p:nvSpPr>
          <p:spPr>
            <a:xfrm>
              <a:off x="10913075" y="5401659"/>
              <a:ext cx="731210" cy="446276"/>
            </a:xfrm>
            <a:prstGeom prst="rect">
              <a:avLst/>
            </a:prstGeom>
            <a:noFill/>
          </p:spPr>
          <p:txBody>
            <a:bodyPr wrap="square" rtlCol="0">
              <a:spAutoFit/>
            </a:bodyPr>
            <a:lstStyle/>
            <a:p>
              <a:pPr defTabSz="1097280"/>
              <a:r>
                <a:rPr lang="en-US" sz="960" dirty="0">
                  <a:solidFill>
                    <a:prstClr val="black"/>
                  </a:solidFill>
                  <a:latin typeface="Calibri" panose="020F0502020204030204"/>
                  <a:sym typeface="Helvetica"/>
                </a:rPr>
                <a:t>panten@</a:t>
              </a:r>
              <a:br>
                <a:rPr lang="en-US" sz="960" dirty="0">
                  <a:solidFill>
                    <a:prstClr val="black"/>
                  </a:solidFill>
                  <a:latin typeface="Calibri" panose="020F0502020204030204"/>
                  <a:sym typeface="Helvetica"/>
                </a:rPr>
              </a:br>
              <a:r>
                <a:rPr lang="en-US" sz="960" dirty="0">
                  <a:solidFill>
                    <a:prstClr val="black"/>
                  </a:solidFill>
                  <a:latin typeface="Calibri" panose="020F0502020204030204"/>
                  <a:sym typeface="Helvetica"/>
                </a:rPr>
                <a:t>Services Manager</a:t>
              </a:r>
              <a:endParaRPr lang="en-US" sz="1440" dirty="0">
                <a:solidFill>
                  <a:prstClr val="black"/>
                </a:solidFill>
                <a:latin typeface="Calibri" panose="020F0502020204030204"/>
                <a:sym typeface="Helvetica"/>
              </a:endParaRPr>
            </a:p>
          </p:txBody>
        </p:sp>
        <p:pic>
          <p:nvPicPr>
            <p:cNvPr id="37" name="Picture 36"/>
            <p:cNvPicPr>
              <a:picLocks noChangeAspect="1"/>
            </p:cNvPicPr>
            <p:nvPr/>
          </p:nvPicPr>
          <p:blipFill>
            <a:blip r:embed="rId17"/>
            <a:stretch>
              <a:fillRect/>
            </a:stretch>
          </p:blipFill>
          <p:spPr>
            <a:xfrm>
              <a:off x="11489530" y="4129406"/>
              <a:ext cx="598120" cy="1279058"/>
            </a:xfrm>
            <a:prstGeom prst="rect">
              <a:avLst/>
            </a:prstGeom>
          </p:spPr>
        </p:pic>
        <p:sp>
          <p:nvSpPr>
            <p:cNvPr id="103" name="TextBox 102">
              <a:extLst>
                <a:ext uri="{FF2B5EF4-FFF2-40B4-BE49-F238E27FC236}">
                  <a16:creationId xmlns:a16="http://schemas.microsoft.com/office/drawing/2014/main" id="{88F144D1-582F-084F-8051-26346873C82F}"/>
                </a:ext>
              </a:extLst>
            </p:cNvPr>
            <p:cNvSpPr txBox="1"/>
            <p:nvPr/>
          </p:nvSpPr>
          <p:spPr>
            <a:xfrm>
              <a:off x="11513281" y="5402505"/>
              <a:ext cx="731210" cy="446276"/>
            </a:xfrm>
            <a:prstGeom prst="rect">
              <a:avLst/>
            </a:prstGeom>
            <a:noFill/>
          </p:spPr>
          <p:txBody>
            <a:bodyPr wrap="square" rtlCol="0">
              <a:spAutoFit/>
            </a:bodyPr>
            <a:lstStyle/>
            <a:p>
              <a:pPr defTabSz="1097280"/>
              <a:r>
                <a:rPr lang="en-US" sz="960" dirty="0">
                  <a:solidFill>
                    <a:prstClr val="black"/>
                  </a:solidFill>
                  <a:latin typeface="Calibri" panose="020F0502020204030204"/>
                  <a:sym typeface="Helvetica"/>
                </a:rPr>
                <a:t>ssemple@</a:t>
              </a:r>
              <a:br>
                <a:rPr lang="en-US" sz="960" dirty="0">
                  <a:solidFill>
                    <a:prstClr val="black"/>
                  </a:solidFill>
                  <a:latin typeface="Calibri" panose="020F0502020204030204"/>
                  <a:sym typeface="Helvetica"/>
                </a:rPr>
              </a:br>
              <a:r>
                <a:rPr lang="en-US" sz="960" dirty="0">
                  <a:solidFill>
                    <a:prstClr val="black"/>
                  </a:solidFill>
                  <a:latin typeface="Calibri" panose="020F0502020204030204"/>
                  <a:sym typeface="Helvetica"/>
                </a:rPr>
                <a:t>Sr. Program Manager</a:t>
              </a:r>
              <a:endParaRPr lang="en-US" sz="1440" dirty="0">
                <a:solidFill>
                  <a:prstClr val="black"/>
                </a:solidFill>
                <a:latin typeface="Calibri" panose="020F0502020204030204"/>
                <a:sym typeface="Helvetica"/>
              </a:endParaRPr>
            </a:p>
          </p:txBody>
        </p:sp>
      </p:grpSp>
      <p:grpSp>
        <p:nvGrpSpPr>
          <p:cNvPr id="30" name="Group 29"/>
          <p:cNvGrpSpPr/>
          <p:nvPr/>
        </p:nvGrpSpPr>
        <p:grpSpPr>
          <a:xfrm>
            <a:off x="6271768" y="850004"/>
            <a:ext cx="2813634" cy="2898694"/>
            <a:chOff x="8077923" y="3322080"/>
            <a:chExt cx="2344695" cy="2415579"/>
          </a:xfrm>
        </p:grpSpPr>
        <p:sp>
          <p:nvSpPr>
            <p:cNvPr id="14" name="Rounded Rectangle 4">
              <a:extLst>
                <a:ext uri="{FF2B5EF4-FFF2-40B4-BE49-F238E27FC236}">
                  <a16:creationId xmlns:a16="http://schemas.microsoft.com/office/drawing/2014/main" id="{62D2D091-CB07-834D-A32F-6E23273BBB0E}"/>
                </a:ext>
              </a:extLst>
            </p:cNvPr>
            <p:cNvSpPr/>
            <p:nvPr/>
          </p:nvSpPr>
          <p:spPr>
            <a:xfrm>
              <a:off x="8077923" y="3322080"/>
              <a:ext cx="2344695" cy="30498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4864" tIns="54864" rIns="54864" bIns="54864" numCol="1" spcCol="1270" anchor="ctr" anchorCtr="0">
              <a:noAutofit/>
            </a:bodyPr>
            <a:lstStyle/>
            <a:p>
              <a:pPr defTabSz="960048">
                <a:lnSpc>
                  <a:spcPct val="90000"/>
                </a:lnSpc>
                <a:spcBef>
                  <a:spcPct val="0"/>
                </a:spcBef>
                <a:spcAft>
                  <a:spcPct val="35000"/>
                </a:spcAft>
              </a:pPr>
              <a:r>
                <a:rPr lang="en-US" sz="1200" b="1" dirty="0">
                  <a:solidFill>
                    <a:prstClr val="white">
                      <a:lumMod val="50000"/>
                    </a:prstClr>
                  </a:solidFill>
                  <a:latin typeface="Calibri" panose="020F0502020204030204" pitchFamily="34" charset="0"/>
                  <a:cs typeface="Calibri" panose="020F0502020204030204" pitchFamily="34" charset="0"/>
                  <a:sym typeface="Helvetica"/>
                </a:rPr>
                <a:t>Customer Solutions Manager (CSM)</a:t>
              </a:r>
            </a:p>
          </p:txBody>
        </p:sp>
        <p:sp>
          <p:nvSpPr>
            <p:cNvPr id="17" name="TextBox 16">
              <a:extLst>
                <a:ext uri="{FF2B5EF4-FFF2-40B4-BE49-F238E27FC236}">
                  <a16:creationId xmlns:a16="http://schemas.microsoft.com/office/drawing/2014/main" id="{4EC76E36-BD09-F74F-9CD0-92FD52B10674}"/>
                </a:ext>
              </a:extLst>
            </p:cNvPr>
            <p:cNvSpPr txBox="1"/>
            <p:nvPr/>
          </p:nvSpPr>
          <p:spPr>
            <a:xfrm>
              <a:off x="8077923" y="3605289"/>
              <a:ext cx="1974127" cy="492443"/>
            </a:xfrm>
            <a:prstGeom prst="rect">
              <a:avLst/>
            </a:prstGeom>
            <a:noFill/>
          </p:spPr>
          <p:txBody>
            <a:bodyPr wrap="square" rtlCol="0">
              <a:spAutoFit/>
            </a:bodyPr>
            <a:lstStyle/>
            <a:p>
              <a:pPr defTabSz="822919"/>
              <a:r>
                <a:rPr lang="en-US" sz="1080" dirty="0">
                  <a:solidFill>
                    <a:prstClr val="white">
                      <a:lumMod val="50000"/>
                    </a:prstClr>
                  </a:solidFill>
                  <a:latin typeface="Calibri" panose="020F0502020204030204" pitchFamily="34" charset="0"/>
                  <a:cs typeface="Calibri" panose="020F0502020204030204" pitchFamily="34" charset="0"/>
                  <a:sym typeface="Helvetica"/>
                </a:rPr>
                <a:t>Drives service adoption, program execution, customer education, PFRs, and Reference/Analyst. </a:t>
              </a:r>
            </a:p>
          </p:txBody>
        </p:sp>
        <p:sp>
          <p:nvSpPr>
            <p:cNvPr id="38" name="TextBox 37">
              <a:extLst>
                <a:ext uri="{FF2B5EF4-FFF2-40B4-BE49-F238E27FC236}">
                  <a16:creationId xmlns:a16="http://schemas.microsoft.com/office/drawing/2014/main" id="{4908D521-9046-E747-8398-F7BD08719952}"/>
                </a:ext>
              </a:extLst>
            </p:cNvPr>
            <p:cNvSpPr txBox="1"/>
            <p:nvPr/>
          </p:nvSpPr>
          <p:spPr>
            <a:xfrm>
              <a:off x="8180003" y="5410035"/>
              <a:ext cx="731210" cy="323165"/>
            </a:xfrm>
            <a:prstGeom prst="rect">
              <a:avLst/>
            </a:prstGeom>
            <a:noFill/>
          </p:spPr>
          <p:txBody>
            <a:bodyPr wrap="square" rtlCol="0">
              <a:spAutoFit/>
            </a:bodyPr>
            <a:lstStyle/>
            <a:p>
              <a:pPr defTabSz="1097280"/>
              <a:r>
                <a:rPr lang="en-US" sz="960" dirty="0">
                  <a:solidFill>
                    <a:prstClr val="black"/>
                  </a:solidFill>
                  <a:latin typeface="Calibri" panose="020F0502020204030204"/>
                  <a:sym typeface="Helvetica"/>
                </a:rPr>
                <a:t>rreffner@</a:t>
              </a:r>
              <a:br>
                <a:rPr lang="en-US" sz="960" dirty="0">
                  <a:solidFill>
                    <a:prstClr val="black"/>
                  </a:solidFill>
                  <a:latin typeface="Calibri" panose="020F0502020204030204"/>
                  <a:sym typeface="Helvetica"/>
                </a:rPr>
              </a:br>
              <a:r>
                <a:rPr lang="en-US" sz="960" dirty="0">
                  <a:solidFill>
                    <a:prstClr val="black"/>
                  </a:solidFill>
                  <a:latin typeface="Calibri" panose="020F0502020204030204"/>
                  <a:sym typeface="Helvetica"/>
                </a:rPr>
                <a:t>Sr. Manager</a:t>
              </a:r>
              <a:endParaRPr lang="en-US" sz="1440" dirty="0">
                <a:solidFill>
                  <a:prstClr val="black"/>
                </a:solidFill>
                <a:latin typeface="Calibri" panose="020F0502020204030204"/>
                <a:sym typeface="Helvetica"/>
              </a:endParaRPr>
            </a:p>
          </p:txBody>
        </p:sp>
        <p:sp>
          <p:nvSpPr>
            <p:cNvPr id="40" name="TextBox 39">
              <a:extLst>
                <a:ext uri="{FF2B5EF4-FFF2-40B4-BE49-F238E27FC236}">
                  <a16:creationId xmlns:a16="http://schemas.microsoft.com/office/drawing/2014/main" id="{0C7AF4D9-F65C-1B49-85A3-D74FA2645022}"/>
                </a:ext>
              </a:extLst>
            </p:cNvPr>
            <p:cNvSpPr txBox="1"/>
            <p:nvPr/>
          </p:nvSpPr>
          <p:spPr>
            <a:xfrm>
              <a:off x="9368061" y="5410034"/>
              <a:ext cx="731210" cy="323165"/>
            </a:xfrm>
            <a:prstGeom prst="rect">
              <a:avLst/>
            </a:prstGeom>
            <a:noFill/>
          </p:spPr>
          <p:txBody>
            <a:bodyPr wrap="square" rtlCol="0">
              <a:spAutoFit/>
            </a:bodyPr>
            <a:lstStyle/>
            <a:p>
              <a:pPr defTabSz="1097280"/>
              <a:r>
                <a:rPr lang="en-US" sz="960" dirty="0">
                  <a:solidFill>
                    <a:prstClr val="black"/>
                  </a:solidFill>
                  <a:latin typeface="Calibri" panose="020F0502020204030204"/>
                  <a:sym typeface="Helvetica"/>
                </a:rPr>
                <a:t>dueling@</a:t>
              </a:r>
              <a:br>
                <a:rPr lang="en-US" sz="960" dirty="0">
                  <a:solidFill>
                    <a:prstClr val="black"/>
                  </a:solidFill>
                  <a:latin typeface="Calibri" panose="020F0502020204030204"/>
                  <a:sym typeface="Helvetica"/>
                </a:rPr>
              </a:br>
              <a:r>
                <a:rPr lang="en-US" sz="960" dirty="0">
                  <a:solidFill>
                    <a:prstClr val="black"/>
                  </a:solidFill>
                  <a:latin typeface="Calibri" panose="020F0502020204030204"/>
                  <a:sym typeface="Helvetica"/>
                </a:rPr>
                <a:t>CSM</a:t>
              </a:r>
              <a:endParaRPr lang="en-US" sz="1440" dirty="0">
                <a:solidFill>
                  <a:prstClr val="black"/>
                </a:solidFill>
                <a:latin typeface="Calibri" panose="020F0502020204030204"/>
                <a:sym typeface="Helvetica"/>
              </a:endParaRPr>
            </a:p>
          </p:txBody>
        </p:sp>
        <p:pic>
          <p:nvPicPr>
            <p:cNvPr id="22" name="Picture 21"/>
            <p:cNvPicPr>
              <a:picLocks noChangeAspect="1"/>
            </p:cNvPicPr>
            <p:nvPr/>
          </p:nvPicPr>
          <p:blipFill>
            <a:blip r:embed="rId18"/>
            <a:stretch>
              <a:fillRect/>
            </a:stretch>
          </p:blipFill>
          <p:spPr>
            <a:xfrm>
              <a:off x="8756913" y="4122052"/>
              <a:ext cx="603094" cy="1294332"/>
            </a:xfrm>
            <a:prstGeom prst="rect">
              <a:avLst/>
            </a:prstGeom>
          </p:spPr>
        </p:pic>
        <p:sp>
          <p:nvSpPr>
            <p:cNvPr id="99" name="TextBox 98">
              <a:extLst>
                <a:ext uri="{FF2B5EF4-FFF2-40B4-BE49-F238E27FC236}">
                  <a16:creationId xmlns:a16="http://schemas.microsoft.com/office/drawing/2014/main" id="{4908D521-9046-E747-8398-F7BD08719952}"/>
                </a:ext>
              </a:extLst>
            </p:cNvPr>
            <p:cNvSpPr txBox="1"/>
            <p:nvPr/>
          </p:nvSpPr>
          <p:spPr>
            <a:xfrm>
              <a:off x="8762606" y="5414494"/>
              <a:ext cx="731210" cy="323165"/>
            </a:xfrm>
            <a:prstGeom prst="rect">
              <a:avLst/>
            </a:prstGeom>
            <a:noFill/>
          </p:spPr>
          <p:txBody>
            <a:bodyPr wrap="square" rtlCol="0">
              <a:spAutoFit/>
            </a:bodyPr>
            <a:lstStyle/>
            <a:p>
              <a:pPr defTabSz="1097280"/>
              <a:r>
                <a:rPr lang="en-US" sz="960" dirty="0">
                  <a:solidFill>
                    <a:prstClr val="black"/>
                  </a:solidFill>
                  <a:latin typeface="Calibri" panose="020F0502020204030204"/>
                  <a:sym typeface="Helvetica"/>
                </a:rPr>
                <a:t>sunwaa@</a:t>
              </a:r>
              <a:br>
                <a:rPr lang="en-US" sz="960" dirty="0">
                  <a:solidFill>
                    <a:prstClr val="black"/>
                  </a:solidFill>
                  <a:latin typeface="Calibri" panose="020F0502020204030204"/>
                  <a:sym typeface="Helvetica"/>
                </a:rPr>
              </a:br>
              <a:r>
                <a:rPr lang="en-US" sz="960" dirty="0">
                  <a:solidFill>
                    <a:prstClr val="black"/>
                  </a:solidFill>
                  <a:latin typeface="Calibri" panose="020F0502020204030204"/>
                  <a:sym typeface="Helvetica"/>
                </a:rPr>
                <a:t>Lead CSM</a:t>
              </a:r>
              <a:endParaRPr lang="en-US" sz="1440" dirty="0">
                <a:solidFill>
                  <a:prstClr val="black"/>
                </a:solidFill>
                <a:latin typeface="Calibri" panose="020F0502020204030204"/>
                <a:sym typeface="Helvetica"/>
              </a:endParaRPr>
            </a:p>
          </p:txBody>
        </p:sp>
        <p:pic>
          <p:nvPicPr>
            <p:cNvPr id="36" name="Picture 35"/>
            <p:cNvPicPr>
              <a:picLocks noChangeAspect="1"/>
            </p:cNvPicPr>
            <p:nvPr/>
          </p:nvPicPr>
          <p:blipFill>
            <a:blip r:embed="rId19"/>
            <a:stretch>
              <a:fillRect/>
            </a:stretch>
          </p:blipFill>
          <p:spPr>
            <a:xfrm>
              <a:off x="8163769" y="4122052"/>
              <a:ext cx="590181" cy="1286411"/>
            </a:xfrm>
            <a:prstGeom prst="rect">
              <a:avLst/>
            </a:prstGeom>
          </p:spPr>
        </p:pic>
        <p:pic>
          <p:nvPicPr>
            <p:cNvPr id="25" name="Picture 24"/>
            <p:cNvPicPr>
              <a:picLocks noChangeAspect="1"/>
            </p:cNvPicPr>
            <p:nvPr/>
          </p:nvPicPr>
          <p:blipFill>
            <a:blip r:embed="rId20"/>
            <a:stretch>
              <a:fillRect/>
            </a:stretch>
          </p:blipFill>
          <p:spPr>
            <a:xfrm>
              <a:off x="9363076" y="4133220"/>
              <a:ext cx="580350" cy="1275243"/>
            </a:xfrm>
            <a:prstGeom prst="rect">
              <a:avLst/>
            </a:prstGeom>
          </p:spPr>
        </p:pic>
      </p:grpSp>
      <p:grpSp>
        <p:nvGrpSpPr>
          <p:cNvPr id="69" name="Group 68"/>
          <p:cNvGrpSpPr/>
          <p:nvPr/>
        </p:nvGrpSpPr>
        <p:grpSpPr>
          <a:xfrm>
            <a:off x="2122668" y="959750"/>
            <a:ext cx="3996516" cy="3303706"/>
            <a:chOff x="1418370" y="799791"/>
            <a:chExt cx="3330430" cy="2753088"/>
          </a:xfrm>
        </p:grpSpPr>
        <p:pic>
          <p:nvPicPr>
            <p:cNvPr id="135" name="Picture 134"/>
            <p:cNvPicPr>
              <a:picLocks noChangeAspect="1"/>
            </p:cNvPicPr>
            <p:nvPr/>
          </p:nvPicPr>
          <p:blipFill>
            <a:blip r:embed="rId21"/>
            <a:stretch>
              <a:fillRect/>
            </a:stretch>
          </p:blipFill>
          <p:spPr>
            <a:xfrm>
              <a:off x="2083894" y="1474763"/>
              <a:ext cx="593655" cy="1269508"/>
            </a:xfrm>
            <a:prstGeom prst="rect">
              <a:avLst/>
            </a:prstGeom>
          </p:spPr>
        </p:pic>
        <p:grpSp>
          <p:nvGrpSpPr>
            <p:cNvPr id="67" name="Group 66"/>
            <p:cNvGrpSpPr/>
            <p:nvPr/>
          </p:nvGrpSpPr>
          <p:grpSpPr>
            <a:xfrm>
              <a:off x="1418370" y="799791"/>
              <a:ext cx="3330430" cy="2753088"/>
              <a:chOff x="1418370" y="799791"/>
              <a:chExt cx="3330430" cy="2753088"/>
            </a:xfrm>
          </p:grpSpPr>
          <p:sp>
            <p:nvSpPr>
              <p:cNvPr id="5" name="TextBox 4">
                <a:extLst>
                  <a:ext uri="{FF2B5EF4-FFF2-40B4-BE49-F238E27FC236}">
                    <a16:creationId xmlns:a16="http://schemas.microsoft.com/office/drawing/2014/main" id="{8A0F92D9-3CEB-494C-A99F-2AB8F523E70E}"/>
                  </a:ext>
                </a:extLst>
              </p:cNvPr>
              <p:cNvSpPr txBox="1"/>
              <p:nvPr/>
            </p:nvSpPr>
            <p:spPr>
              <a:xfrm>
                <a:off x="1418372" y="1107797"/>
                <a:ext cx="2988506" cy="353943"/>
              </a:xfrm>
              <a:prstGeom prst="rect">
                <a:avLst/>
              </a:prstGeom>
              <a:noFill/>
            </p:spPr>
            <p:txBody>
              <a:bodyPr wrap="square" rtlCol="0">
                <a:spAutoFit/>
              </a:bodyPr>
              <a:lstStyle/>
              <a:p>
                <a:pPr defTabSz="822919">
                  <a:defRPr/>
                </a:pPr>
                <a:r>
                  <a:rPr lang="en-US" sz="1080" dirty="0">
                    <a:solidFill>
                      <a:prstClr val="white">
                        <a:lumMod val="50000"/>
                      </a:prstClr>
                    </a:solidFill>
                    <a:latin typeface="Calibri" panose="020F0502020204030204" pitchFamily="34" charset="0"/>
                    <a:cs typeface="Calibri" panose="020F0502020204030204" pitchFamily="34" charset="0"/>
                    <a:sym typeface="Helvetica"/>
                  </a:rPr>
                  <a:t>Steward of the relationship &amp; partnership between Capital One and Amazon.</a:t>
                </a:r>
              </a:p>
            </p:txBody>
          </p:sp>
          <p:sp>
            <p:nvSpPr>
              <p:cNvPr id="6" name="Rounded Rectangle 4">
                <a:extLst>
                  <a:ext uri="{FF2B5EF4-FFF2-40B4-BE49-F238E27FC236}">
                    <a16:creationId xmlns:a16="http://schemas.microsoft.com/office/drawing/2014/main" id="{7F2A2E91-0A83-7347-9F70-FF0822B99C44}"/>
                  </a:ext>
                </a:extLst>
              </p:cNvPr>
              <p:cNvSpPr/>
              <p:nvPr/>
            </p:nvSpPr>
            <p:spPr>
              <a:xfrm>
                <a:off x="1418370" y="799791"/>
                <a:ext cx="1776878" cy="32854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4864" tIns="54864" rIns="54864" bIns="54864" numCol="1" spcCol="1270" anchor="ctr" anchorCtr="0">
                <a:noAutofit/>
              </a:bodyPr>
              <a:lstStyle/>
              <a:p>
                <a:pPr defTabSz="960048">
                  <a:lnSpc>
                    <a:spcPct val="90000"/>
                  </a:lnSpc>
                  <a:spcBef>
                    <a:spcPct val="0"/>
                  </a:spcBef>
                  <a:spcAft>
                    <a:spcPct val="35000"/>
                  </a:spcAft>
                </a:pPr>
                <a:r>
                  <a:rPr lang="en-US" sz="1200" b="1" dirty="0">
                    <a:solidFill>
                      <a:prstClr val="white">
                        <a:lumMod val="50000"/>
                      </a:prstClr>
                    </a:solidFill>
                    <a:latin typeface="Calibri" panose="020F0502020204030204" pitchFamily="34" charset="0"/>
                    <a:cs typeface="Calibri" panose="020F0502020204030204" pitchFamily="34" charset="0"/>
                    <a:sym typeface="Helvetica"/>
                  </a:rPr>
                  <a:t>Account Manager (AM)</a:t>
                </a:r>
              </a:p>
            </p:txBody>
          </p:sp>
          <p:pic>
            <p:nvPicPr>
              <p:cNvPr id="29" name="Picture 28">
                <a:extLst>
                  <a:ext uri="{FF2B5EF4-FFF2-40B4-BE49-F238E27FC236}">
                    <a16:creationId xmlns:a16="http://schemas.microsoft.com/office/drawing/2014/main" id="{766C65E8-DDC4-824C-A1BB-624AC2745BA5}"/>
                  </a:ext>
                </a:extLst>
              </p:cNvPr>
              <p:cNvPicPr>
                <a:picLocks noChangeAspect="1"/>
              </p:cNvPicPr>
              <p:nvPr/>
            </p:nvPicPr>
            <p:blipFill>
              <a:blip r:embed="rId22"/>
              <a:stretch>
                <a:fillRect/>
              </a:stretch>
            </p:blipFill>
            <p:spPr>
              <a:xfrm>
                <a:off x="1500232" y="1464770"/>
                <a:ext cx="587386" cy="1279500"/>
              </a:xfrm>
              <a:prstGeom prst="rect">
                <a:avLst/>
              </a:prstGeom>
            </p:spPr>
          </p:pic>
          <p:pic>
            <p:nvPicPr>
              <p:cNvPr id="32" name="Picture 31">
                <a:extLst>
                  <a:ext uri="{FF2B5EF4-FFF2-40B4-BE49-F238E27FC236}">
                    <a16:creationId xmlns:a16="http://schemas.microsoft.com/office/drawing/2014/main" id="{7DB32F22-5BB8-9043-917A-2D7A28F90572}"/>
                  </a:ext>
                </a:extLst>
              </p:cNvPr>
              <p:cNvPicPr>
                <a:picLocks noChangeAspect="1"/>
              </p:cNvPicPr>
              <p:nvPr/>
            </p:nvPicPr>
            <p:blipFill>
              <a:blip r:embed="rId23"/>
              <a:stretch>
                <a:fillRect/>
              </a:stretch>
            </p:blipFill>
            <p:spPr>
              <a:xfrm>
                <a:off x="3258906" y="1483821"/>
                <a:ext cx="594213" cy="1260450"/>
              </a:xfrm>
              <a:prstGeom prst="rect">
                <a:avLst/>
              </a:prstGeom>
            </p:spPr>
          </p:pic>
          <p:sp>
            <p:nvSpPr>
              <p:cNvPr id="23" name="TextBox 22">
                <a:extLst>
                  <a:ext uri="{FF2B5EF4-FFF2-40B4-BE49-F238E27FC236}">
                    <a16:creationId xmlns:a16="http://schemas.microsoft.com/office/drawing/2014/main" id="{33E7896B-B261-5F47-85F2-28045D979D11}"/>
                  </a:ext>
                </a:extLst>
              </p:cNvPr>
              <p:cNvSpPr txBox="1"/>
              <p:nvPr/>
            </p:nvSpPr>
            <p:spPr>
              <a:xfrm>
                <a:off x="1495367" y="2737272"/>
                <a:ext cx="695684" cy="569387"/>
              </a:xfrm>
              <a:prstGeom prst="rect">
                <a:avLst/>
              </a:prstGeom>
              <a:noFill/>
            </p:spPr>
            <p:txBody>
              <a:bodyPr wrap="square" rtlCol="0">
                <a:spAutoFit/>
              </a:bodyPr>
              <a:lstStyle/>
              <a:p>
                <a:pPr defTabSz="1097280"/>
                <a:r>
                  <a:rPr lang="en-US" sz="960" dirty="0">
                    <a:solidFill>
                      <a:prstClr val="black"/>
                    </a:solidFill>
                    <a:latin typeface="Calibri" panose="020F0502020204030204"/>
                    <a:sym typeface="Helvetica"/>
                  </a:rPr>
                  <a:t>bentzen@</a:t>
                </a:r>
                <a:br>
                  <a:rPr lang="en-US" sz="960" dirty="0">
                    <a:solidFill>
                      <a:prstClr val="black"/>
                    </a:solidFill>
                    <a:latin typeface="Calibri" panose="020F0502020204030204"/>
                    <a:sym typeface="Helvetica"/>
                  </a:rPr>
                </a:br>
                <a:r>
                  <a:rPr lang="en-US" sz="960" dirty="0">
                    <a:solidFill>
                      <a:prstClr val="black"/>
                    </a:solidFill>
                    <a:latin typeface="Calibri" panose="020F0502020204030204"/>
                    <a:sym typeface="Helvetica"/>
                  </a:rPr>
                  <a:t>Client Director  Sr. Manager </a:t>
                </a:r>
                <a:endParaRPr lang="en-US" sz="1440" dirty="0">
                  <a:solidFill>
                    <a:prstClr val="black"/>
                  </a:solidFill>
                  <a:latin typeface="Calibri" panose="020F0502020204030204"/>
                  <a:sym typeface="Helvetica"/>
                </a:endParaRPr>
              </a:p>
            </p:txBody>
          </p:sp>
          <p:sp>
            <p:nvSpPr>
              <p:cNvPr id="26" name="TextBox 25">
                <a:extLst>
                  <a:ext uri="{FF2B5EF4-FFF2-40B4-BE49-F238E27FC236}">
                    <a16:creationId xmlns:a16="http://schemas.microsoft.com/office/drawing/2014/main" id="{193EDD8E-8552-2F4A-B751-27917B96994E}"/>
                  </a:ext>
                </a:extLst>
              </p:cNvPr>
              <p:cNvSpPr txBox="1"/>
              <p:nvPr/>
            </p:nvSpPr>
            <p:spPr>
              <a:xfrm>
                <a:off x="2091640" y="2737272"/>
                <a:ext cx="629409" cy="815607"/>
              </a:xfrm>
              <a:prstGeom prst="rect">
                <a:avLst/>
              </a:prstGeom>
              <a:noFill/>
            </p:spPr>
            <p:txBody>
              <a:bodyPr wrap="square" rtlCol="0">
                <a:spAutoFit/>
              </a:bodyPr>
              <a:lstStyle/>
              <a:p>
                <a:pPr defTabSz="1097280"/>
                <a:r>
                  <a:rPr lang="en-US" sz="960" dirty="0">
                    <a:solidFill>
                      <a:prstClr val="black"/>
                    </a:solidFill>
                    <a:latin typeface="Calibri" panose="020F0502020204030204"/>
                    <a:sym typeface="Helvetica"/>
                  </a:rPr>
                  <a:t>jasonkid@</a:t>
                </a:r>
                <a:br>
                  <a:rPr lang="en-US" sz="960" dirty="0">
                    <a:solidFill>
                      <a:prstClr val="black"/>
                    </a:solidFill>
                    <a:latin typeface="Calibri" panose="020F0502020204030204"/>
                    <a:sym typeface="Helvetica"/>
                  </a:rPr>
                </a:br>
                <a:r>
                  <a:rPr lang="en-US" sz="960" dirty="0">
                    <a:solidFill>
                      <a:prstClr val="black"/>
                    </a:solidFill>
                    <a:latin typeface="Calibri" panose="020F0502020204030204"/>
                    <a:sym typeface="Helvetica"/>
                  </a:rPr>
                  <a:t>Account Manager PowerUP, Cyber</a:t>
                </a:r>
                <a:endParaRPr lang="en-US" sz="1440" dirty="0">
                  <a:solidFill>
                    <a:prstClr val="black"/>
                  </a:solidFill>
                  <a:latin typeface="Calibri" panose="020F0502020204030204"/>
                  <a:sym typeface="Helvetica"/>
                </a:endParaRPr>
              </a:p>
              <a:p>
                <a:pPr defTabSz="1097280"/>
                <a:endParaRPr lang="en-US" sz="960" dirty="0">
                  <a:solidFill>
                    <a:prstClr val="black"/>
                  </a:solidFill>
                  <a:latin typeface="Calibri" panose="020F0502020204030204"/>
                  <a:sym typeface="Helvetica"/>
                </a:endParaRPr>
              </a:p>
            </p:txBody>
          </p:sp>
          <p:sp>
            <p:nvSpPr>
              <p:cNvPr id="27" name="TextBox 26">
                <a:extLst>
                  <a:ext uri="{FF2B5EF4-FFF2-40B4-BE49-F238E27FC236}">
                    <a16:creationId xmlns:a16="http://schemas.microsoft.com/office/drawing/2014/main" id="{6EBAA5CC-760A-474C-8764-3A5A169C57B8}"/>
                  </a:ext>
                </a:extLst>
              </p:cNvPr>
              <p:cNvSpPr txBox="1"/>
              <p:nvPr/>
            </p:nvSpPr>
            <p:spPr>
              <a:xfrm>
                <a:off x="3268472" y="2743622"/>
                <a:ext cx="765886" cy="569387"/>
              </a:xfrm>
              <a:prstGeom prst="rect">
                <a:avLst/>
              </a:prstGeom>
              <a:noFill/>
            </p:spPr>
            <p:txBody>
              <a:bodyPr wrap="square" rtlCol="0">
                <a:spAutoFit/>
              </a:bodyPr>
              <a:lstStyle/>
              <a:p>
                <a:pPr defTabSz="1097280"/>
                <a:r>
                  <a:rPr lang="en-US" sz="960" dirty="0">
                    <a:solidFill>
                      <a:prstClr val="black"/>
                    </a:solidFill>
                    <a:latin typeface="Calibri" panose="020F0502020204030204"/>
                    <a:sym typeface="Helvetica"/>
                  </a:rPr>
                  <a:t>karsco@</a:t>
                </a:r>
                <a:br>
                  <a:rPr lang="en-US" sz="960" dirty="0">
                    <a:solidFill>
                      <a:prstClr val="black"/>
                    </a:solidFill>
                    <a:latin typeface="Calibri" panose="020F0502020204030204"/>
                    <a:sym typeface="Helvetica"/>
                  </a:rPr>
                </a:br>
                <a:r>
                  <a:rPr lang="en-US" sz="960" dirty="0">
                    <a:solidFill>
                      <a:prstClr val="black"/>
                    </a:solidFill>
                    <a:latin typeface="Calibri" panose="020F0502020204030204"/>
                    <a:sym typeface="Helvetica"/>
                  </a:rPr>
                  <a:t>Account Manager</a:t>
                </a:r>
                <a:br>
                  <a:rPr lang="en-US" sz="960" dirty="0">
                    <a:solidFill>
                      <a:prstClr val="black"/>
                    </a:solidFill>
                    <a:latin typeface="Calibri" panose="020F0502020204030204"/>
                    <a:sym typeface="Helvetica"/>
                  </a:rPr>
                </a:br>
                <a:r>
                  <a:rPr lang="en-US" sz="960" dirty="0">
                    <a:solidFill>
                      <a:prstClr val="black"/>
                    </a:solidFill>
                    <a:latin typeface="Calibri" panose="020F0502020204030204"/>
                    <a:sym typeface="Helvetica"/>
                  </a:rPr>
                  <a:t>Commercial </a:t>
                </a:r>
                <a:endParaRPr lang="en-US" sz="1440" dirty="0">
                  <a:solidFill>
                    <a:prstClr val="black"/>
                  </a:solidFill>
                  <a:latin typeface="Calibri" panose="020F0502020204030204"/>
                  <a:sym typeface="Helvetica"/>
                </a:endParaRPr>
              </a:p>
            </p:txBody>
          </p:sp>
          <p:pic>
            <p:nvPicPr>
              <p:cNvPr id="28" name="Picture 27"/>
              <p:cNvPicPr>
                <a:picLocks noChangeAspect="1"/>
              </p:cNvPicPr>
              <p:nvPr/>
            </p:nvPicPr>
            <p:blipFill>
              <a:blip r:embed="rId24"/>
              <a:stretch>
                <a:fillRect/>
              </a:stretch>
            </p:blipFill>
            <p:spPr>
              <a:xfrm>
                <a:off x="2689105" y="1483147"/>
                <a:ext cx="583222" cy="1261123"/>
              </a:xfrm>
              <a:prstGeom prst="rect">
                <a:avLst/>
              </a:prstGeom>
            </p:spPr>
          </p:pic>
          <p:sp>
            <p:nvSpPr>
              <p:cNvPr id="101" name="TextBox 100">
                <a:extLst>
                  <a:ext uri="{FF2B5EF4-FFF2-40B4-BE49-F238E27FC236}">
                    <a16:creationId xmlns:a16="http://schemas.microsoft.com/office/drawing/2014/main" id="{193EDD8E-8552-2F4A-B751-27917B96994E}"/>
                  </a:ext>
                </a:extLst>
              </p:cNvPr>
              <p:cNvSpPr txBox="1"/>
              <p:nvPr/>
            </p:nvSpPr>
            <p:spPr>
              <a:xfrm>
                <a:off x="2694555" y="2749972"/>
                <a:ext cx="676994" cy="569387"/>
              </a:xfrm>
              <a:prstGeom prst="rect">
                <a:avLst/>
              </a:prstGeom>
              <a:noFill/>
            </p:spPr>
            <p:txBody>
              <a:bodyPr wrap="square" rtlCol="0">
                <a:spAutoFit/>
              </a:bodyPr>
              <a:lstStyle/>
              <a:p>
                <a:pPr defTabSz="1097280"/>
                <a:r>
                  <a:rPr lang="en-US" sz="960" dirty="0">
                    <a:solidFill>
                      <a:prstClr val="black"/>
                    </a:solidFill>
                    <a:latin typeface="Calibri" panose="020F0502020204030204"/>
                    <a:sym typeface="Helvetica"/>
                  </a:rPr>
                  <a:t>sidnaz@</a:t>
                </a:r>
                <a:br>
                  <a:rPr lang="en-US" sz="960" dirty="0">
                    <a:solidFill>
                      <a:prstClr val="black"/>
                    </a:solidFill>
                    <a:latin typeface="Calibri" panose="020F0502020204030204"/>
                    <a:sym typeface="Helvetica"/>
                  </a:rPr>
                </a:br>
                <a:r>
                  <a:rPr lang="en-US" sz="960" dirty="0">
                    <a:solidFill>
                      <a:prstClr val="black"/>
                    </a:solidFill>
                    <a:latin typeface="Calibri" panose="020F0502020204030204"/>
                    <a:sym typeface="Helvetica"/>
                  </a:rPr>
                  <a:t>Account Manager</a:t>
                </a:r>
                <a:br>
                  <a:rPr lang="en-US" sz="960" dirty="0">
                    <a:solidFill>
                      <a:prstClr val="black"/>
                    </a:solidFill>
                    <a:latin typeface="Calibri" panose="020F0502020204030204"/>
                    <a:sym typeface="Helvetica"/>
                  </a:rPr>
                </a:br>
                <a:r>
                  <a:rPr lang="en-US" sz="960" dirty="0">
                    <a:solidFill>
                      <a:prstClr val="black"/>
                    </a:solidFill>
                    <a:latin typeface="Calibri" panose="020F0502020204030204"/>
                    <a:sym typeface="Helvetica"/>
                  </a:rPr>
                  <a:t>Card</a:t>
                </a:r>
              </a:p>
            </p:txBody>
          </p:sp>
          <p:pic>
            <p:nvPicPr>
              <p:cNvPr id="39" name="Picture 38"/>
              <p:cNvPicPr>
                <a:picLocks noChangeAspect="1"/>
              </p:cNvPicPr>
              <p:nvPr/>
            </p:nvPicPr>
            <p:blipFill>
              <a:blip r:embed="rId25"/>
              <a:stretch>
                <a:fillRect/>
              </a:stretch>
            </p:blipFill>
            <p:spPr>
              <a:xfrm>
                <a:off x="3851357" y="1492617"/>
                <a:ext cx="581693" cy="1253453"/>
              </a:xfrm>
              <a:prstGeom prst="rect">
                <a:avLst/>
              </a:prstGeom>
            </p:spPr>
          </p:pic>
          <p:sp>
            <p:nvSpPr>
              <p:cNvPr id="102" name="TextBox 101">
                <a:extLst>
                  <a:ext uri="{FF2B5EF4-FFF2-40B4-BE49-F238E27FC236}">
                    <a16:creationId xmlns:a16="http://schemas.microsoft.com/office/drawing/2014/main" id="{6EBAA5CC-760A-474C-8764-3A5A169C57B8}"/>
                  </a:ext>
                </a:extLst>
              </p:cNvPr>
              <p:cNvSpPr txBox="1"/>
              <p:nvPr/>
            </p:nvSpPr>
            <p:spPr>
              <a:xfrm>
                <a:off x="3850217" y="2749972"/>
                <a:ext cx="898583" cy="446276"/>
              </a:xfrm>
              <a:prstGeom prst="rect">
                <a:avLst/>
              </a:prstGeom>
              <a:noFill/>
            </p:spPr>
            <p:txBody>
              <a:bodyPr wrap="square" rtlCol="0">
                <a:spAutoFit/>
              </a:bodyPr>
              <a:lstStyle/>
              <a:p>
                <a:pPr defTabSz="1097280"/>
                <a:r>
                  <a:rPr lang="en-US" sz="960" dirty="0">
                    <a:solidFill>
                      <a:prstClr val="black"/>
                    </a:solidFill>
                    <a:latin typeface="Calibri" panose="020F0502020204030204"/>
                    <a:sym typeface="Helvetica"/>
                  </a:rPr>
                  <a:t>mbrouwnkf@</a:t>
                </a:r>
                <a:br>
                  <a:rPr lang="en-US" sz="960" dirty="0">
                    <a:solidFill>
                      <a:prstClr val="black"/>
                    </a:solidFill>
                    <a:latin typeface="Calibri" panose="020F0502020204030204"/>
                    <a:sym typeface="Helvetica"/>
                  </a:rPr>
                </a:br>
                <a:r>
                  <a:rPr lang="en-US" sz="960" dirty="0">
                    <a:solidFill>
                      <a:prstClr val="black"/>
                    </a:solidFill>
                    <a:latin typeface="Calibri" panose="020F0502020204030204"/>
                    <a:sym typeface="Helvetica"/>
                  </a:rPr>
                  <a:t>Account Manager UK</a:t>
                </a:r>
                <a:endParaRPr lang="en-US" sz="1440" dirty="0">
                  <a:solidFill>
                    <a:prstClr val="black"/>
                  </a:solidFill>
                  <a:latin typeface="Calibri" panose="020F0502020204030204"/>
                  <a:sym typeface="Helvetica"/>
                </a:endParaRPr>
              </a:p>
            </p:txBody>
          </p:sp>
        </p:grpSp>
      </p:grpSp>
      <p:grpSp>
        <p:nvGrpSpPr>
          <p:cNvPr id="51" name="Group 50"/>
          <p:cNvGrpSpPr/>
          <p:nvPr/>
        </p:nvGrpSpPr>
        <p:grpSpPr>
          <a:xfrm>
            <a:off x="11522396" y="852749"/>
            <a:ext cx="3159246" cy="3122862"/>
            <a:chOff x="9791408" y="3363796"/>
            <a:chExt cx="2632705" cy="2602385"/>
          </a:xfrm>
        </p:grpSpPr>
        <p:pic>
          <p:nvPicPr>
            <p:cNvPr id="80" name="Picture 79">
              <a:extLst>
                <a:ext uri="{FF2B5EF4-FFF2-40B4-BE49-F238E27FC236}">
                  <a16:creationId xmlns:a16="http://schemas.microsoft.com/office/drawing/2014/main" id="{8D23C444-C99C-564C-BEC9-DD2115F20993}"/>
                </a:ext>
              </a:extLst>
            </p:cNvPr>
            <p:cNvPicPr>
              <a:picLocks noChangeAspect="1"/>
            </p:cNvPicPr>
            <p:nvPr/>
          </p:nvPicPr>
          <p:blipFill>
            <a:blip r:embed="rId26"/>
            <a:stretch>
              <a:fillRect/>
            </a:stretch>
          </p:blipFill>
          <p:spPr>
            <a:xfrm>
              <a:off x="9791760" y="4145195"/>
              <a:ext cx="579895" cy="1253463"/>
            </a:xfrm>
            <a:prstGeom prst="rect">
              <a:avLst/>
            </a:prstGeom>
          </p:spPr>
        </p:pic>
        <p:grpSp>
          <p:nvGrpSpPr>
            <p:cNvPr id="50" name="Group 49"/>
            <p:cNvGrpSpPr/>
            <p:nvPr/>
          </p:nvGrpSpPr>
          <p:grpSpPr>
            <a:xfrm>
              <a:off x="9791408" y="3363796"/>
              <a:ext cx="2632705" cy="2602385"/>
              <a:chOff x="9791408" y="3363796"/>
              <a:chExt cx="2632705" cy="2602385"/>
            </a:xfrm>
          </p:grpSpPr>
          <p:sp>
            <p:nvSpPr>
              <p:cNvPr id="10" name="Rounded Rectangle 4">
                <a:extLst>
                  <a:ext uri="{FF2B5EF4-FFF2-40B4-BE49-F238E27FC236}">
                    <a16:creationId xmlns:a16="http://schemas.microsoft.com/office/drawing/2014/main" id="{FB137ED5-C818-6544-8C55-DCB66E4A5E64}"/>
                  </a:ext>
                </a:extLst>
              </p:cNvPr>
              <p:cNvSpPr/>
              <p:nvPr/>
            </p:nvSpPr>
            <p:spPr>
              <a:xfrm>
                <a:off x="9791408" y="3363796"/>
                <a:ext cx="2530109" cy="24149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4864" tIns="54864" rIns="54864" bIns="54864" numCol="1" spcCol="1270" anchor="ctr" anchorCtr="0">
                <a:noAutofit/>
              </a:bodyPr>
              <a:lstStyle/>
              <a:p>
                <a:pPr defTabSz="960048">
                  <a:lnSpc>
                    <a:spcPct val="90000"/>
                  </a:lnSpc>
                  <a:spcBef>
                    <a:spcPct val="0"/>
                  </a:spcBef>
                  <a:spcAft>
                    <a:spcPct val="35000"/>
                  </a:spcAft>
                </a:pPr>
                <a:r>
                  <a:rPr lang="en-US" sz="1200" b="1" dirty="0">
                    <a:solidFill>
                      <a:prstClr val="white">
                        <a:lumMod val="50000"/>
                      </a:prstClr>
                    </a:solidFill>
                    <a:latin typeface="Calibri" panose="020F0502020204030204" pitchFamily="34" charset="0"/>
                    <a:cs typeface="Calibri" panose="020F0502020204030204" pitchFamily="34" charset="0"/>
                    <a:sym typeface="Helvetica"/>
                  </a:rPr>
                  <a:t>Billing Support &amp; Concierge (CS)</a:t>
                </a:r>
              </a:p>
            </p:txBody>
          </p:sp>
          <p:sp>
            <p:nvSpPr>
              <p:cNvPr id="11" name="TextBox 10">
                <a:extLst>
                  <a:ext uri="{FF2B5EF4-FFF2-40B4-BE49-F238E27FC236}">
                    <a16:creationId xmlns:a16="http://schemas.microsoft.com/office/drawing/2014/main" id="{97B9FBD5-2BB4-0840-800A-17E8D7A3D1F2}"/>
                  </a:ext>
                </a:extLst>
              </p:cNvPr>
              <p:cNvSpPr txBox="1"/>
              <p:nvPr/>
            </p:nvSpPr>
            <p:spPr>
              <a:xfrm>
                <a:off x="9804662" y="3613401"/>
                <a:ext cx="2619451" cy="353943"/>
              </a:xfrm>
              <a:prstGeom prst="rect">
                <a:avLst/>
              </a:prstGeom>
              <a:noFill/>
            </p:spPr>
            <p:txBody>
              <a:bodyPr wrap="square" rtlCol="0">
                <a:spAutoFit/>
              </a:bodyPr>
              <a:lstStyle/>
              <a:p>
                <a:pPr defTabSz="822919"/>
                <a:r>
                  <a:rPr lang="en-US" sz="1080" dirty="0">
                    <a:solidFill>
                      <a:prstClr val="white">
                        <a:lumMod val="50000"/>
                      </a:prstClr>
                    </a:solidFill>
                    <a:latin typeface="Calibri" panose="020F0502020204030204" pitchFamily="34" charset="0"/>
                    <a:cs typeface="Calibri" panose="020F0502020204030204" pitchFamily="34" charset="0"/>
                    <a:sym typeface="Helvetica"/>
                  </a:rPr>
                  <a:t>Provides support, analysis, and execution for purchasing &amp; billing.</a:t>
                </a:r>
              </a:p>
            </p:txBody>
          </p:sp>
          <p:pic>
            <p:nvPicPr>
              <p:cNvPr id="79" name="Picture 78">
                <a:extLst>
                  <a:ext uri="{FF2B5EF4-FFF2-40B4-BE49-F238E27FC236}">
                    <a16:creationId xmlns:a16="http://schemas.microsoft.com/office/drawing/2014/main" id="{0A6B1CC1-CE3D-9840-8EA2-104F5A25A8BD}"/>
                  </a:ext>
                </a:extLst>
              </p:cNvPr>
              <p:cNvPicPr>
                <a:picLocks noChangeAspect="1"/>
              </p:cNvPicPr>
              <p:nvPr/>
            </p:nvPicPr>
            <p:blipFill>
              <a:blip r:embed="rId27"/>
              <a:stretch>
                <a:fillRect/>
              </a:stretch>
            </p:blipFill>
            <p:spPr>
              <a:xfrm>
                <a:off x="11519480" y="4153497"/>
                <a:ext cx="575469" cy="1244620"/>
              </a:xfrm>
              <a:prstGeom prst="rect">
                <a:avLst/>
              </a:prstGeom>
            </p:spPr>
          </p:pic>
          <p:sp>
            <p:nvSpPr>
              <p:cNvPr id="75" name="TextBox 74">
                <a:extLst>
                  <a:ext uri="{FF2B5EF4-FFF2-40B4-BE49-F238E27FC236}">
                    <a16:creationId xmlns:a16="http://schemas.microsoft.com/office/drawing/2014/main" id="{0C1A8762-A162-564C-AB96-5D6DDCA0EA6C}"/>
                  </a:ext>
                </a:extLst>
              </p:cNvPr>
              <p:cNvSpPr txBox="1"/>
              <p:nvPr/>
            </p:nvSpPr>
            <p:spPr>
              <a:xfrm>
                <a:off x="9804390" y="5393618"/>
                <a:ext cx="731210" cy="446276"/>
              </a:xfrm>
              <a:prstGeom prst="rect">
                <a:avLst/>
              </a:prstGeom>
              <a:noFill/>
            </p:spPr>
            <p:txBody>
              <a:bodyPr wrap="square" rtlCol="0">
                <a:spAutoFit/>
              </a:bodyPr>
              <a:lstStyle/>
              <a:p>
                <a:pPr defTabSz="1097280"/>
                <a:r>
                  <a:rPr lang="en-US" sz="960" dirty="0">
                    <a:solidFill>
                      <a:prstClr val="black"/>
                    </a:solidFill>
                    <a:latin typeface="Calibri" panose="020F0502020204030204"/>
                    <a:sym typeface="Helvetica"/>
                  </a:rPr>
                  <a:t>maybry@</a:t>
                </a:r>
                <a:br>
                  <a:rPr lang="en-US" sz="960" dirty="0">
                    <a:solidFill>
                      <a:prstClr val="black"/>
                    </a:solidFill>
                    <a:latin typeface="Calibri" panose="020F0502020204030204"/>
                    <a:sym typeface="Helvetica"/>
                  </a:rPr>
                </a:br>
                <a:r>
                  <a:rPr lang="en-US" sz="960" dirty="0">
                    <a:solidFill>
                      <a:prstClr val="black"/>
                    </a:solidFill>
                    <a:latin typeface="Calibri" panose="020F0502020204030204"/>
                    <a:sym typeface="Helvetica"/>
                  </a:rPr>
                  <a:t>Reserved Instances</a:t>
                </a:r>
                <a:endParaRPr lang="en-US" sz="1440" dirty="0">
                  <a:solidFill>
                    <a:prstClr val="black"/>
                  </a:solidFill>
                  <a:latin typeface="Calibri" panose="020F0502020204030204"/>
                  <a:sym typeface="Helvetica"/>
                </a:endParaRPr>
              </a:p>
            </p:txBody>
          </p:sp>
          <p:sp>
            <p:nvSpPr>
              <p:cNvPr id="77" name="TextBox 76">
                <a:extLst>
                  <a:ext uri="{FF2B5EF4-FFF2-40B4-BE49-F238E27FC236}">
                    <a16:creationId xmlns:a16="http://schemas.microsoft.com/office/drawing/2014/main" id="{CF89599C-FB94-7748-AAFB-EF5CA615422B}"/>
                  </a:ext>
                </a:extLst>
              </p:cNvPr>
              <p:cNvSpPr txBox="1"/>
              <p:nvPr/>
            </p:nvSpPr>
            <p:spPr>
              <a:xfrm>
                <a:off x="10375288" y="5396796"/>
                <a:ext cx="731210" cy="323165"/>
              </a:xfrm>
              <a:prstGeom prst="rect">
                <a:avLst/>
              </a:prstGeom>
              <a:noFill/>
            </p:spPr>
            <p:txBody>
              <a:bodyPr wrap="square" rtlCol="0">
                <a:spAutoFit/>
              </a:bodyPr>
              <a:lstStyle/>
              <a:p>
                <a:pPr defTabSz="1097280"/>
                <a:r>
                  <a:rPr lang="en-US" sz="960" dirty="0">
                    <a:solidFill>
                      <a:prstClr val="black"/>
                    </a:solidFill>
                    <a:latin typeface="Calibri" panose="020F0502020204030204"/>
                    <a:ea typeface="Helvetica Neue"/>
                    <a:cs typeface="Helvetica Neue"/>
                    <a:sym typeface="Helvetica Neue"/>
                  </a:rPr>
                  <a:t>iiiati@</a:t>
                </a:r>
                <a:br>
                  <a:rPr lang="en-US" sz="960" dirty="0">
                    <a:solidFill>
                      <a:prstClr val="black"/>
                    </a:solidFill>
                    <a:latin typeface="Calibri" panose="020F0502020204030204"/>
                    <a:ea typeface="Helvetica Neue"/>
                    <a:cs typeface="Helvetica Neue"/>
                    <a:sym typeface="Helvetica Neue"/>
                  </a:rPr>
                </a:br>
                <a:r>
                  <a:rPr lang="en-US" sz="960" dirty="0">
                    <a:solidFill>
                      <a:prstClr val="black"/>
                    </a:solidFill>
                    <a:latin typeface="Calibri" panose="020F0502020204030204"/>
                    <a:sym typeface="Helvetica"/>
                  </a:rPr>
                  <a:t>Sr. Concierge</a:t>
                </a:r>
                <a:endParaRPr lang="en-US" sz="1440" dirty="0">
                  <a:solidFill>
                    <a:prstClr val="black"/>
                  </a:solidFill>
                  <a:latin typeface="Calibri" panose="020F0502020204030204"/>
                  <a:sym typeface="Helvetica"/>
                </a:endParaRPr>
              </a:p>
            </p:txBody>
          </p:sp>
          <p:sp>
            <p:nvSpPr>
              <p:cNvPr id="78" name="TextBox 77">
                <a:extLst>
                  <a:ext uri="{FF2B5EF4-FFF2-40B4-BE49-F238E27FC236}">
                    <a16:creationId xmlns:a16="http://schemas.microsoft.com/office/drawing/2014/main" id="{423ABB6C-0B7C-EF45-9813-02C74AA1516A}"/>
                  </a:ext>
                </a:extLst>
              </p:cNvPr>
              <p:cNvSpPr txBox="1"/>
              <p:nvPr/>
            </p:nvSpPr>
            <p:spPr>
              <a:xfrm>
                <a:off x="10946562" y="5396794"/>
                <a:ext cx="696173" cy="569387"/>
              </a:xfrm>
              <a:prstGeom prst="rect">
                <a:avLst/>
              </a:prstGeom>
              <a:noFill/>
            </p:spPr>
            <p:txBody>
              <a:bodyPr wrap="square" rtlCol="0">
                <a:spAutoFit/>
              </a:bodyPr>
              <a:lstStyle/>
              <a:p>
                <a:pPr defTabSz="1097280"/>
                <a:r>
                  <a:rPr lang="en-US" sz="960" dirty="0">
                    <a:solidFill>
                      <a:prstClr val="black"/>
                    </a:solidFill>
                    <a:latin typeface="Calibri" panose="020F0502020204030204"/>
                    <a:sym typeface="Helvetica"/>
                  </a:rPr>
                  <a:t>thalem@</a:t>
                </a:r>
                <a:br>
                  <a:rPr lang="en-US" sz="960" dirty="0">
                    <a:solidFill>
                      <a:prstClr val="black"/>
                    </a:solidFill>
                    <a:latin typeface="Calibri" panose="020F0502020204030204"/>
                    <a:sym typeface="Helvetica"/>
                  </a:rPr>
                </a:br>
                <a:r>
                  <a:rPr lang="en-US" sz="960" dirty="0">
                    <a:solidFill>
                      <a:prstClr val="black"/>
                    </a:solidFill>
                    <a:latin typeface="Calibri" panose="020F0502020204030204"/>
                    <a:sym typeface="Helvetica"/>
                  </a:rPr>
                  <a:t>Custom Billing Analyst</a:t>
                </a:r>
                <a:endParaRPr lang="en-US" sz="1440" dirty="0">
                  <a:solidFill>
                    <a:prstClr val="black"/>
                  </a:solidFill>
                  <a:latin typeface="Calibri" panose="020F0502020204030204"/>
                  <a:sym typeface="Helvetica"/>
                </a:endParaRPr>
              </a:p>
            </p:txBody>
          </p:sp>
          <p:pic>
            <p:nvPicPr>
              <p:cNvPr id="2" name="Picture 1"/>
              <p:cNvPicPr>
                <a:picLocks noChangeAspect="1"/>
              </p:cNvPicPr>
              <p:nvPr/>
            </p:nvPicPr>
            <p:blipFill>
              <a:blip r:embed="rId28"/>
              <a:stretch>
                <a:fillRect/>
              </a:stretch>
            </p:blipFill>
            <p:spPr>
              <a:xfrm>
                <a:off x="10935633" y="4145385"/>
                <a:ext cx="583963" cy="1253273"/>
              </a:xfrm>
              <a:prstGeom prst="rect">
                <a:avLst/>
              </a:prstGeom>
            </p:spPr>
          </p:pic>
          <p:sp>
            <p:nvSpPr>
              <p:cNvPr id="83" name="TextBox 82">
                <a:extLst>
                  <a:ext uri="{FF2B5EF4-FFF2-40B4-BE49-F238E27FC236}">
                    <a16:creationId xmlns:a16="http://schemas.microsoft.com/office/drawing/2014/main" id="{423ABB6C-0B7C-EF45-9813-02C74AA1516A}"/>
                  </a:ext>
                </a:extLst>
              </p:cNvPr>
              <p:cNvSpPr txBox="1"/>
              <p:nvPr/>
            </p:nvSpPr>
            <p:spPr>
              <a:xfrm>
                <a:off x="11530896" y="5394717"/>
                <a:ext cx="731210" cy="446276"/>
              </a:xfrm>
              <a:prstGeom prst="rect">
                <a:avLst/>
              </a:prstGeom>
              <a:noFill/>
            </p:spPr>
            <p:txBody>
              <a:bodyPr wrap="square" rtlCol="0">
                <a:spAutoFit/>
              </a:bodyPr>
              <a:lstStyle/>
              <a:p>
                <a:pPr defTabSz="1097280"/>
                <a:r>
                  <a:rPr lang="en-US" sz="960" dirty="0">
                    <a:solidFill>
                      <a:prstClr val="black"/>
                    </a:solidFill>
                    <a:latin typeface="Calibri" panose="020F0502020204030204"/>
                    <a:sym typeface="Helvetica"/>
                  </a:rPr>
                  <a:t>weaky@</a:t>
                </a:r>
                <a:br>
                  <a:rPr lang="en-US" sz="960" dirty="0">
                    <a:solidFill>
                      <a:prstClr val="black"/>
                    </a:solidFill>
                    <a:latin typeface="Calibri" panose="020F0502020204030204"/>
                    <a:sym typeface="Helvetica"/>
                  </a:rPr>
                </a:br>
                <a:r>
                  <a:rPr lang="en-US" sz="960" dirty="0">
                    <a:solidFill>
                      <a:prstClr val="black"/>
                    </a:solidFill>
                    <a:latin typeface="Calibri" panose="020F0502020204030204"/>
                    <a:sym typeface="Helvetica"/>
                  </a:rPr>
                  <a:t>Demand Generation</a:t>
                </a:r>
                <a:endParaRPr lang="en-US" sz="1440" dirty="0">
                  <a:solidFill>
                    <a:prstClr val="black"/>
                  </a:solidFill>
                  <a:latin typeface="Calibri" panose="020F0502020204030204"/>
                  <a:sym typeface="Helvetica"/>
                </a:endParaRPr>
              </a:p>
            </p:txBody>
          </p:sp>
          <p:pic>
            <p:nvPicPr>
              <p:cNvPr id="48" name="Picture 47"/>
              <p:cNvPicPr>
                <a:picLocks noChangeAspect="1"/>
              </p:cNvPicPr>
              <p:nvPr/>
            </p:nvPicPr>
            <p:blipFill>
              <a:blip r:embed="rId29"/>
              <a:stretch>
                <a:fillRect/>
              </a:stretch>
            </p:blipFill>
            <p:spPr>
              <a:xfrm>
                <a:off x="10369306" y="4157290"/>
                <a:ext cx="565806" cy="1235839"/>
              </a:xfrm>
              <a:prstGeom prst="rect">
                <a:avLst/>
              </a:prstGeom>
            </p:spPr>
          </p:pic>
        </p:grpSp>
      </p:grpSp>
      <p:grpSp>
        <p:nvGrpSpPr>
          <p:cNvPr id="61" name="Group 60"/>
          <p:cNvGrpSpPr/>
          <p:nvPr/>
        </p:nvGrpSpPr>
        <p:grpSpPr>
          <a:xfrm>
            <a:off x="317292" y="4036554"/>
            <a:ext cx="5154008" cy="3421132"/>
            <a:chOff x="197734" y="3363795"/>
            <a:chExt cx="4295007" cy="2850943"/>
          </a:xfrm>
        </p:grpSpPr>
        <p:pic>
          <p:nvPicPr>
            <p:cNvPr id="98" name="Picture 97"/>
            <p:cNvPicPr>
              <a:picLocks noChangeAspect="1"/>
            </p:cNvPicPr>
            <p:nvPr/>
          </p:nvPicPr>
          <p:blipFill>
            <a:blip r:embed="rId30"/>
            <a:stretch>
              <a:fillRect/>
            </a:stretch>
          </p:blipFill>
          <p:spPr>
            <a:xfrm>
              <a:off x="275191" y="4143737"/>
              <a:ext cx="577771" cy="1264726"/>
            </a:xfrm>
            <a:prstGeom prst="rect">
              <a:avLst/>
            </a:prstGeom>
          </p:spPr>
        </p:pic>
        <p:grpSp>
          <p:nvGrpSpPr>
            <p:cNvPr id="59" name="Group 58"/>
            <p:cNvGrpSpPr/>
            <p:nvPr/>
          </p:nvGrpSpPr>
          <p:grpSpPr>
            <a:xfrm>
              <a:off x="197734" y="3363795"/>
              <a:ext cx="4295007" cy="2850943"/>
              <a:chOff x="197734" y="3363795"/>
              <a:chExt cx="4295007" cy="2850943"/>
            </a:xfrm>
          </p:grpSpPr>
          <p:pic>
            <p:nvPicPr>
              <p:cNvPr id="94" name="Picture 93">
                <a:extLst>
                  <a:ext uri="{FF2B5EF4-FFF2-40B4-BE49-F238E27FC236}">
                    <a16:creationId xmlns:a16="http://schemas.microsoft.com/office/drawing/2014/main" id="{62940BB3-10D4-9C43-A4F5-FF988ADE5575}"/>
                  </a:ext>
                </a:extLst>
              </p:cNvPr>
              <p:cNvPicPr>
                <a:picLocks noChangeAspect="1"/>
              </p:cNvPicPr>
              <p:nvPr/>
            </p:nvPicPr>
            <p:blipFill>
              <a:blip r:embed="rId31"/>
              <a:stretch>
                <a:fillRect/>
              </a:stretch>
            </p:blipFill>
            <p:spPr>
              <a:xfrm>
                <a:off x="2007613" y="4145932"/>
                <a:ext cx="581310" cy="1262531"/>
              </a:xfrm>
              <a:prstGeom prst="rect">
                <a:avLst/>
              </a:prstGeom>
            </p:spPr>
          </p:pic>
          <p:sp>
            <p:nvSpPr>
              <p:cNvPr id="7" name="TextBox 6">
                <a:extLst>
                  <a:ext uri="{FF2B5EF4-FFF2-40B4-BE49-F238E27FC236}">
                    <a16:creationId xmlns:a16="http://schemas.microsoft.com/office/drawing/2014/main" id="{96E33D09-CDC0-1244-B162-517BA75DEF29}"/>
                  </a:ext>
                </a:extLst>
              </p:cNvPr>
              <p:cNvSpPr txBox="1"/>
              <p:nvPr/>
            </p:nvSpPr>
            <p:spPr>
              <a:xfrm>
                <a:off x="235636" y="3605289"/>
                <a:ext cx="3285335" cy="353943"/>
              </a:xfrm>
              <a:prstGeom prst="rect">
                <a:avLst/>
              </a:prstGeom>
              <a:noFill/>
            </p:spPr>
            <p:txBody>
              <a:bodyPr wrap="square" rtlCol="0">
                <a:spAutoFit/>
              </a:bodyPr>
              <a:lstStyle/>
              <a:p>
                <a:pPr defTabSz="617190">
                  <a:defRPr/>
                </a:pPr>
                <a:r>
                  <a:rPr lang="en-US" sz="1080" dirty="0">
                    <a:solidFill>
                      <a:prstClr val="white">
                        <a:lumMod val="50000"/>
                      </a:prstClr>
                    </a:solidFill>
                    <a:latin typeface="Calibri" panose="020F0502020204030204" pitchFamily="34" charset="0"/>
                    <a:cs typeface="Calibri" panose="020F0502020204030204" pitchFamily="34" charset="0"/>
                    <a:sym typeface="Helvetica"/>
                  </a:rPr>
                  <a:t>Provide customers with technical direction, architectural guidance, and well-architected solutions.</a:t>
                </a:r>
              </a:p>
            </p:txBody>
          </p:sp>
          <p:sp>
            <p:nvSpPr>
              <p:cNvPr id="8" name="Rounded Rectangle 4">
                <a:extLst>
                  <a:ext uri="{FF2B5EF4-FFF2-40B4-BE49-F238E27FC236}">
                    <a16:creationId xmlns:a16="http://schemas.microsoft.com/office/drawing/2014/main" id="{158368F0-D940-0040-ADB8-BCEF8DC4984B}"/>
                  </a:ext>
                </a:extLst>
              </p:cNvPr>
              <p:cNvSpPr/>
              <p:nvPr/>
            </p:nvSpPr>
            <p:spPr>
              <a:xfrm>
                <a:off x="238230" y="3363795"/>
                <a:ext cx="2472167" cy="22155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4864" tIns="54864" rIns="54864" bIns="54864" numCol="1" spcCol="1270" anchor="ctr" anchorCtr="0">
                <a:noAutofit/>
              </a:bodyPr>
              <a:lstStyle/>
              <a:p>
                <a:pPr defTabSz="960048">
                  <a:lnSpc>
                    <a:spcPct val="90000"/>
                  </a:lnSpc>
                  <a:spcBef>
                    <a:spcPct val="0"/>
                  </a:spcBef>
                  <a:spcAft>
                    <a:spcPct val="35000"/>
                  </a:spcAft>
                </a:pPr>
                <a:r>
                  <a:rPr lang="en-US" sz="1200" b="1" dirty="0">
                    <a:solidFill>
                      <a:prstClr val="white">
                        <a:lumMod val="50000"/>
                      </a:prstClr>
                    </a:solidFill>
                    <a:latin typeface="Calibri" panose="020F0502020204030204" pitchFamily="34" charset="0"/>
                    <a:cs typeface="Calibri" panose="020F0502020204030204" pitchFamily="34" charset="0"/>
                    <a:sym typeface="Helvetica"/>
                  </a:rPr>
                  <a:t>Solutions Architect (SA)</a:t>
                </a:r>
              </a:p>
            </p:txBody>
          </p:sp>
          <p:pic>
            <p:nvPicPr>
              <p:cNvPr id="92" name="Picture 91">
                <a:extLst>
                  <a:ext uri="{FF2B5EF4-FFF2-40B4-BE49-F238E27FC236}">
                    <a16:creationId xmlns:a16="http://schemas.microsoft.com/office/drawing/2014/main" id="{94898629-D9C9-4D4D-898F-E6C847BF80B3}"/>
                  </a:ext>
                </a:extLst>
              </p:cNvPr>
              <p:cNvPicPr>
                <a:picLocks noChangeAspect="1"/>
              </p:cNvPicPr>
              <p:nvPr/>
            </p:nvPicPr>
            <p:blipFill>
              <a:blip r:embed="rId32"/>
              <a:stretch>
                <a:fillRect/>
              </a:stretch>
            </p:blipFill>
            <p:spPr>
              <a:xfrm>
                <a:off x="1433965" y="4137982"/>
                <a:ext cx="590189" cy="1270481"/>
              </a:xfrm>
              <a:prstGeom prst="rect">
                <a:avLst/>
              </a:prstGeom>
            </p:spPr>
          </p:pic>
          <p:pic>
            <p:nvPicPr>
              <p:cNvPr id="93" name="Picture 92">
                <a:extLst>
                  <a:ext uri="{FF2B5EF4-FFF2-40B4-BE49-F238E27FC236}">
                    <a16:creationId xmlns:a16="http://schemas.microsoft.com/office/drawing/2014/main" id="{6F63563D-B7E5-2443-8171-1E9A241B7DCB}"/>
                  </a:ext>
                </a:extLst>
              </p:cNvPr>
              <p:cNvPicPr>
                <a:picLocks noChangeAspect="1"/>
              </p:cNvPicPr>
              <p:nvPr/>
            </p:nvPicPr>
            <p:blipFill>
              <a:blip r:embed="rId33"/>
              <a:stretch>
                <a:fillRect/>
              </a:stretch>
            </p:blipFill>
            <p:spPr>
              <a:xfrm>
                <a:off x="852069" y="4137982"/>
                <a:ext cx="582873" cy="1270481"/>
              </a:xfrm>
              <a:prstGeom prst="rect">
                <a:avLst/>
              </a:prstGeom>
            </p:spPr>
          </p:pic>
          <p:sp>
            <p:nvSpPr>
              <p:cNvPr id="86" name="TextBox 85">
                <a:extLst>
                  <a:ext uri="{FF2B5EF4-FFF2-40B4-BE49-F238E27FC236}">
                    <a16:creationId xmlns:a16="http://schemas.microsoft.com/office/drawing/2014/main" id="{DD65F559-51D0-CE42-AFBD-6C42A824760A}"/>
                  </a:ext>
                </a:extLst>
              </p:cNvPr>
              <p:cNvSpPr txBox="1"/>
              <p:nvPr/>
            </p:nvSpPr>
            <p:spPr>
              <a:xfrm>
                <a:off x="197734" y="5399132"/>
                <a:ext cx="731210" cy="323165"/>
              </a:xfrm>
              <a:prstGeom prst="rect">
                <a:avLst/>
              </a:prstGeom>
              <a:noFill/>
            </p:spPr>
            <p:txBody>
              <a:bodyPr wrap="square" rtlCol="0">
                <a:spAutoFit/>
              </a:bodyPr>
              <a:lstStyle/>
              <a:p>
                <a:pPr defTabSz="1097280"/>
                <a:r>
                  <a:rPr lang="en-US" sz="960" dirty="0">
                    <a:solidFill>
                      <a:prstClr val="black"/>
                    </a:solidFill>
                    <a:latin typeface="Calibri" panose="020F0502020204030204"/>
                    <a:sym typeface="Helvetica"/>
                  </a:rPr>
                  <a:t>eribecky@</a:t>
                </a:r>
                <a:br>
                  <a:rPr lang="en-US" sz="960" dirty="0">
                    <a:solidFill>
                      <a:prstClr val="black"/>
                    </a:solidFill>
                    <a:latin typeface="Calibri" panose="020F0502020204030204"/>
                    <a:sym typeface="Helvetica"/>
                  </a:rPr>
                </a:br>
                <a:r>
                  <a:rPr lang="en-US" sz="960" dirty="0">
                    <a:solidFill>
                      <a:prstClr val="black"/>
                    </a:solidFill>
                    <a:latin typeface="Calibri" panose="020F0502020204030204"/>
                    <a:sym typeface="Helvetica"/>
                  </a:rPr>
                  <a:t>Sr. Manager</a:t>
                </a:r>
                <a:endParaRPr lang="en-US" sz="1440" dirty="0">
                  <a:solidFill>
                    <a:prstClr val="black"/>
                  </a:solidFill>
                  <a:latin typeface="Calibri" panose="020F0502020204030204"/>
                  <a:sym typeface="Helvetica"/>
                </a:endParaRPr>
              </a:p>
            </p:txBody>
          </p:sp>
          <p:sp>
            <p:nvSpPr>
              <p:cNvPr id="87" name="TextBox 86">
                <a:extLst>
                  <a:ext uri="{FF2B5EF4-FFF2-40B4-BE49-F238E27FC236}">
                    <a16:creationId xmlns:a16="http://schemas.microsoft.com/office/drawing/2014/main" id="{AE8903BC-8C4F-3646-A61C-97FCF100754A}"/>
                  </a:ext>
                </a:extLst>
              </p:cNvPr>
              <p:cNvSpPr txBox="1"/>
              <p:nvPr/>
            </p:nvSpPr>
            <p:spPr>
              <a:xfrm>
                <a:off x="1451625" y="5399131"/>
                <a:ext cx="653541" cy="815607"/>
              </a:xfrm>
              <a:prstGeom prst="rect">
                <a:avLst/>
              </a:prstGeom>
              <a:noFill/>
            </p:spPr>
            <p:txBody>
              <a:bodyPr wrap="square" rtlCol="0">
                <a:spAutoFit/>
              </a:bodyPr>
              <a:lstStyle/>
              <a:p>
                <a:pPr defTabSz="1097280"/>
                <a:r>
                  <a:rPr lang="en-US" sz="960" dirty="0">
                    <a:solidFill>
                      <a:prstClr val="black"/>
                    </a:solidFill>
                    <a:latin typeface="Calibri" panose="020F0502020204030204"/>
                    <a:sym typeface="Helvetica"/>
                  </a:rPr>
                  <a:t>donbarb@</a:t>
                </a:r>
                <a:br>
                  <a:rPr lang="en-US" sz="960" dirty="0">
                    <a:solidFill>
                      <a:prstClr val="black"/>
                    </a:solidFill>
                    <a:latin typeface="Calibri" panose="020F0502020204030204"/>
                    <a:sym typeface="Helvetica"/>
                  </a:rPr>
                </a:br>
                <a:r>
                  <a:rPr lang="en-US" sz="960" dirty="0">
                    <a:solidFill>
                      <a:prstClr val="black"/>
                    </a:solidFill>
                    <a:latin typeface="Calibri" panose="020F0502020204030204"/>
                    <a:sym typeface="Helvetica"/>
                  </a:rPr>
                  <a:t>Principal Solutions Architect</a:t>
                </a:r>
              </a:p>
              <a:p>
                <a:pPr defTabSz="1097280"/>
                <a:r>
                  <a:rPr lang="en-US" sz="960" dirty="0" err="1">
                    <a:solidFill>
                      <a:prstClr val="black"/>
                    </a:solidFill>
                    <a:latin typeface="Calibri" panose="020F0502020204030204"/>
                    <a:sym typeface="Helvetica"/>
                  </a:rPr>
                  <a:t>PowerUP</a:t>
                </a:r>
                <a:r>
                  <a:rPr lang="en-US" sz="960" dirty="0">
                    <a:solidFill>
                      <a:prstClr val="black"/>
                    </a:solidFill>
                    <a:latin typeface="Calibri" panose="020F0502020204030204"/>
                    <a:sym typeface="Helvetica"/>
                  </a:rPr>
                  <a:t>, EP2T</a:t>
                </a:r>
                <a:endParaRPr lang="en-US" sz="1440" dirty="0">
                  <a:solidFill>
                    <a:prstClr val="black"/>
                  </a:solidFill>
                  <a:latin typeface="Calibri" panose="020F0502020204030204"/>
                  <a:sym typeface="Helvetica"/>
                </a:endParaRPr>
              </a:p>
            </p:txBody>
          </p:sp>
          <p:sp>
            <p:nvSpPr>
              <p:cNvPr id="88" name="TextBox 87">
                <a:extLst>
                  <a:ext uri="{FF2B5EF4-FFF2-40B4-BE49-F238E27FC236}">
                    <a16:creationId xmlns:a16="http://schemas.microsoft.com/office/drawing/2014/main" id="{08B282AB-099D-EF41-9940-6C22F030E233}"/>
                  </a:ext>
                </a:extLst>
              </p:cNvPr>
              <p:cNvSpPr txBox="1"/>
              <p:nvPr/>
            </p:nvSpPr>
            <p:spPr>
              <a:xfrm>
                <a:off x="859019" y="5399131"/>
                <a:ext cx="731210" cy="446276"/>
              </a:xfrm>
              <a:prstGeom prst="rect">
                <a:avLst/>
              </a:prstGeom>
              <a:noFill/>
            </p:spPr>
            <p:txBody>
              <a:bodyPr wrap="square" rtlCol="0">
                <a:spAutoFit/>
              </a:bodyPr>
              <a:lstStyle/>
              <a:p>
                <a:pPr defTabSz="1097280"/>
                <a:r>
                  <a:rPr lang="en-US" sz="960" dirty="0">
                    <a:solidFill>
                      <a:prstClr val="black"/>
                    </a:solidFill>
                    <a:latin typeface="Calibri" panose="020F0502020204030204"/>
                    <a:sym typeface="Helvetica"/>
                  </a:rPr>
                  <a:t>mhaken@</a:t>
                </a:r>
                <a:br>
                  <a:rPr lang="en-US" sz="960" dirty="0">
                    <a:solidFill>
                      <a:prstClr val="black"/>
                    </a:solidFill>
                    <a:latin typeface="Calibri" panose="020F0502020204030204"/>
                    <a:sym typeface="Helvetica"/>
                  </a:rPr>
                </a:br>
                <a:r>
                  <a:rPr lang="en-US" sz="960" dirty="0">
                    <a:solidFill>
                      <a:prstClr val="black"/>
                    </a:solidFill>
                    <a:latin typeface="Calibri" panose="020F0502020204030204"/>
                    <a:sym typeface="Helvetica"/>
                  </a:rPr>
                  <a:t>Principal Technologist</a:t>
                </a:r>
                <a:endParaRPr lang="en-US" sz="1440" dirty="0">
                  <a:solidFill>
                    <a:prstClr val="black"/>
                  </a:solidFill>
                  <a:latin typeface="Calibri" panose="020F0502020204030204"/>
                  <a:sym typeface="Helvetica"/>
                </a:endParaRPr>
              </a:p>
            </p:txBody>
          </p:sp>
          <p:sp>
            <p:nvSpPr>
              <p:cNvPr id="89" name="TextBox 88">
                <a:extLst>
                  <a:ext uri="{FF2B5EF4-FFF2-40B4-BE49-F238E27FC236}">
                    <a16:creationId xmlns:a16="http://schemas.microsoft.com/office/drawing/2014/main" id="{59CCC3A3-6708-AF45-BCEB-B05DC05CB9A5}"/>
                  </a:ext>
                </a:extLst>
              </p:cNvPr>
              <p:cNvSpPr txBox="1"/>
              <p:nvPr/>
            </p:nvSpPr>
            <p:spPr>
              <a:xfrm>
                <a:off x="2026710" y="5399131"/>
                <a:ext cx="731210" cy="569387"/>
              </a:xfrm>
              <a:prstGeom prst="rect">
                <a:avLst/>
              </a:prstGeom>
              <a:noFill/>
            </p:spPr>
            <p:txBody>
              <a:bodyPr wrap="square" rtlCol="0">
                <a:spAutoFit/>
              </a:bodyPr>
              <a:lstStyle/>
              <a:p>
                <a:pPr defTabSz="1097280"/>
                <a:r>
                  <a:rPr lang="en-US" sz="960" dirty="0">
                    <a:solidFill>
                      <a:prstClr val="black"/>
                    </a:solidFill>
                    <a:latin typeface="Calibri" panose="020F0502020204030204"/>
                    <a:sym typeface="Helvetica"/>
                  </a:rPr>
                  <a:t>stanaws@</a:t>
                </a:r>
                <a:br>
                  <a:rPr lang="en-US" sz="960" dirty="0">
                    <a:solidFill>
                      <a:prstClr val="black"/>
                    </a:solidFill>
                    <a:latin typeface="Calibri" panose="020F0502020204030204"/>
                    <a:sym typeface="Helvetica"/>
                  </a:rPr>
                </a:br>
                <a:r>
                  <a:rPr lang="en-US" sz="960" dirty="0">
                    <a:solidFill>
                      <a:prstClr val="black"/>
                    </a:solidFill>
                    <a:latin typeface="Calibri" panose="020F0502020204030204"/>
                    <a:sym typeface="Helvetica"/>
                  </a:rPr>
                  <a:t>Sr. Solutions Architect</a:t>
                </a:r>
              </a:p>
              <a:p>
                <a:pPr defTabSz="1097280"/>
                <a:r>
                  <a:rPr lang="en-US" sz="960" dirty="0">
                    <a:solidFill>
                      <a:prstClr val="black"/>
                    </a:solidFill>
                    <a:latin typeface="Calibri" panose="020F0502020204030204"/>
                    <a:sym typeface="Helvetica"/>
                  </a:rPr>
                  <a:t>FS, Retail</a:t>
                </a:r>
                <a:endParaRPr lang="en-US" sz="1440" dirty="0">
                  <a:solidFill>
                    <a:prstClr val="black"/>
                  </a:solidFill>
                  <a:latin typeface="Calibri" panose="020F0502020204030204"/>
                  <a:sym typeface="Helvetica"/>
                </a:endParaRPr>
              </a:p>
            </p:txBody>
          </p:sp>
          <p:sp>
            <p:nvSpPr>
              <p:cNvPr id="90" name="TextBox 89">
                <a:extLst>
                  <a:ext uri="{FF2B5EF4-FFF2-40B4-BE49-F238E27FC236}">
                    <a16:creationId xmlns:a16="http://schemas.microsoft.com/office/drawing/2014/main" id="{84C3653F-C084-4C42-9FEF-B35FDA7E35A9}"/>
                  </a:ext>
                </a:extLst>
              </p:cNvPr>
              <p:cNvSpPr txBox="1"/>
              <p:nvPr/>
            </p:nvSpPr>
            <p:spPr>
              <a:xfrm>
                <a:off x="3761531" y="5399131"/>
                <a:ext cx="731210" cy="446276"/>
              </a:xfrm>
              <a:prstGeom prst="rect">
                <a:avLst/>
              </a:prstGeom>
              <a:noFill/>
            </p:spPr>
            <p:txBody>
              <a:bodyPr wrap="square" rtlCol="0">
                <a:spAutoFit/>
              </a:bodyPr>
              <a:lstStyle/>
              <a:p>
                <a:pPr defTabSz="1097280"/>
                <a:r>
                  <a:rPr lang="en-US" sz="960" dirty="0">
                    <a:solidFill>
                      <a:prstClr val="black"/>
                    </a:solidFill>
                    <a:latin typeface="Calibri" panose="020F0502020204030204"/>
                  </a:rPr>
                  <a:t>amirnyc</a:t>
                </a:r>
                <a:r>
                  <a:rPr lang="en-US" sz="960" dirty="0">
                    <a:solidFill>
                      <a:prstClr val="black"/>
                    </a:solidFill>
                    <a:latin typeface="Calibri" panose="020F0502020204030204"/>
                    <a:sym typeface="Helvetica"/>
                  </a:rPr>
                  <a:t>@</a:t>
                </a:r>
                <a:br>
                  <a:rPr lang="en-US" sz="960" dirty="0">
                    <a:solidFill>
                      <a:prstClr val="black"/>
                    </a:solidFill>
                    <a:latin typeface="Calibri" panose="020F0502020204030204"/>
                    <a:sym typeface="Helvetica"/>
                  </a:rPr>
                </a:br>
                <a:r>
                  <a:rPr lang="en-US" sz="960" dirty="0">
                    <a:solidFill>
                      <a:prstClr val="black"/>
                    </a:solidFill>
                    <a:latin typeface="Calibri" panose="020F0502020204030204"/>
                    <a:sym typeface="Helvetica"/>
                  </a:rPr>
                  <a:t>Sr. Solutions Architect</a:t>
                </a:r>
                <a:endParaRPr lang="en-US" sz="1440" dirty="0">
                  <a:solidFill>
                    <a:prstClr val="black"/>
                  </a:solidFill>
                  <a:latin typeface="Calibri" panose="020F0502020204030204"/>
                  <a:sym typeface="Helvetica"/>
                </a:endParaRPr>
              </a:p>
            </p:txBody>
          </p:sp>
          <p:pic>
            <p:nvPicPr>
              <p:cNvPr id="111" name="Picture 110"/>
              <p:cNvPicPr>
                <a:picLocks noChangeAspect="1"/>
              </p:cNvPicPr>
              <p:nvPr/>
            </p:nvPicPr>
            <p:blipFill>
              <a:blip r:embed="rId34"/>
              <a:stretch>
                <a:fillRect/>
              </a:stretch>
            </p:blipFill>
            <p:spPr>
              <a:xfrm>
                <a:off x="2588488" y="4144472"/>
                <a:ext cx="588957" cy="1263991"/>
              </a:xfrm>
              <a:prstGeom prst="rect">
                <a:avLst/>
              </a:prstGeom>
            </p:spPr>
          </p:pic>
          <p:sp>
            <p:nvSpPr>
              <p:cNvPr id="112" name="TextBox 111">
                <a:extLst>
                  <a:ext uri="{FF2B5EF4-FFF2-40B4-BE49-F238E27FC236}">
                    <a16:creationId xmlns:a16="http://schemas.microsoft.com/office/drawing/2014/main" id="{59CCC3A3-6708-AF45-BCEB-B05DC05CB9A5}"/>
                  </a:ext>
                </a:extLst>
              </p:cNvPr>
              <p:cNvSpPr txBox="1"/>
              <p:nvPr/>
            </p:nvSpPr>
            <p:spPr>
              <a:xfrm>
                <a:off x="2605893" y="5399131"/>
                <a:ext cx="731210" cy="569387"/>
              </a:xfrm>
              <a:prstGeom prst="rect">
                <a:avLst/>
              </a:prstGeom>
              <a:noFill/>
            </p:spPr>
            <p:txBody>
              <a:bodyPr wrap="square" rtlCol="0">
                <a:spAutoFit/>
              </a:bodyPr>
              <a:lstStyle/>
              <a:p>
                <a:pPr defTabSz="1097280"/>
                <a:r>
                  <a:rPr lang="en-US" sz="960" dirty="0">
                    <a:solidFill>
                      <a:prstClr val="black"/>
                    </a:solidFill>
                    <a:latin typeface="Calibri" panose="020F0502020204030204"/>
                    <a:sym typeface="Helvetica"/>
                  </a:rPr>
                  <a:t>castelha@</a:t>
                </a:r>
                <a:br>
                  <a:rPr lang="en-US" sz="960" dirty="0">
                    <a:solidFill>
                      <a:prstClr val="black"/>
                    </a:solidFill>
                    <a:latin typeface="Calibri" panose="020F0502020204030204"/>
                    <a:sym typeface="Helvetica"/>
                  </a:rPr>
                </a:br>
                <a:r>
                  <a:rPr lang="en-US" sz="960" dirty="0">
                    <a:solidFill>
                      <a:prstClr val="black"/>
                    </a:solidFill>
                    <a:latin typeface="Calibri" panose="020F0502020204030204"/>
                    <a:sym typeface="Helvetica"/>
                  </a:rPr>
                  <a:t>Sr. Solutions Architect</a:t>
                </a:r>
              </a:p>
              <a:p>
                <a:pPr defTabSz="1097280"/>
                <a:r>
                  <a:rPr lang="en-US" sz="960" dirty="0">
                    <a:solidFill>
                      <a:prstClr val="black"/>
                    </a:solidFill>
                    <a:latin typeface="Calibri" panose="020F0502020204030204"/>
                    <a:sym typeface="Helvetica"/>
                  </a:rPr>
                  <a:t>Card, Cyber</a:t>
                </a:r>
                <a:endParaRPr lang="en-US" sz="1440" dirty="0">
                  <a:solidFill>
                    <a:prstClr val="black"/>
                  </a:solidFill>
                  <a:latin typeface="Calibri" panose="020F0502020204030204"/>
                  <a:sym typeface="Helvetica"/>
                </a:endParaRPr>
              </a:p>
            </p:txBody>
          </p:sp>
          <p:pic>
            <p:nvPicPr>
              <p:cNvPr id="58" name="Picture 57"/>
              <p:cNvPicPr>
                <a:picLocks noChangeAspect="1"/>
              </p:cNvPicPr>
              <p:nvPr/>
            </p:nvPicPr>
            <p:blipFill>
              <a:blip r:embed="rId35"/>
              <a:stretch>
                <a:fillRect/>
              </a:stretch>
            </p:blipFill>
            <p:spPr>
              <a:xfrm>
                <a:off x="3171792" y="4150324"/>
                <a:ext cx="576265" cy="1257990"/>
              </a:xfrm>
              <a:prstGeom prst="rect">
                <a:avLst/>
              </a:prstGeom>
            </p:spPr>
          </p:pic>
          <p:sp>
            <p:nvSpPr>
              <p:cNvPr id="116" name="TextBox 115">
                <a:extLst>
                  <a:ext uri="{FF2B5EF4-FFF2-40B4-BE49-F238E27FC236}">
                    <a16:creationId xmlns:a16="http://schemas.microsoft.com/office/drawing/2014/main" id="{59CCC3A3-6708-AF45-BCEB-B05DC05CB9A5}"/>
                  </a:ext>
                </a:extLst>
              </p:cNvPr>
              <p:cNvSpPr txBox="1"/>
              <p:nvPr/>
            </p:nvSpPr>
            <p:spPr>
              <a:xfrm>
                <a:off x="3177404" y="5403884"/>
                <a:ext cx="731210" cy="569387"/>
              </a:xfrm>
              <a:prstGeom prst="rect">
                <a:avLst/>
              </a:prstGeom>
              <a:noFill/>
            </p:spPr>
            <p:txBody>
              <a:bodyPr wrap="square" rtlCol="0">
                <a:spAutoFit/>
              </a:bodyPr>
              <a:lstStyle/>
              <a:p>
                <a:pPr defTabSz="1097280"/>
                <a:r>
                  <a:rPr lang="en-US" sz="960" dirty="0">
                    <a:solidFill>
                      <a:prstClr val="black"/>
                    </a:solidFill>
                    <a:latin typeface="Calibri" panose="020F0502020204030204"/>
                    <a:sym typeface="Helvetica"/>
                  </a:rPr>
                  <a:t>baananth@</a:t>
                </a:r>
                <a:br>
                  <a:rPr lang="en-US" sz="960" dirty="0">
                    <a:solidFill>
                      <a:prstClr val="black"/>
                    </a:solidFill>
                    <a:latin typeface="Calibri" panose="020F0502020204030204"/>
                    <a:sym typeface="Helvetica"/>
                  </a:rPr>
                </a:br>
                <a:r>
                  <a:rPr lang="en-US" sz="960" dirty="0">
                    <a:solidFill>
                      <a:prstClr val="black"/>
                    </a:solidFill>
                    <a:latin typeface="Calibri" panose="020F0502020204030204"/>
                    <a:sym typeface="Helvetica"/>
                  </a:rPr>
                  <a:t>Sr. Solutions Architect</a:t>
                </a:r>
              </a:p>
              <a:p>
                <a:pPr defTabSz="1097280"/>
                <a:r>
                  <a:rPr lang="en-US" sz="960" dirty="0">
                    <a:solidFill>
                      <a:prstClr val="black"/>
                    </a:solidFill>
                    <a:latin typeface="Calibri" panose="020F0502020204030204"/>
                    <a:sym typeface="Helvetica"/>
                  </a:rPr>
                  <a:t>UK</a:t>
                </a:r>
                <a:endParaRPr lang="en-US" sz="1440" dirty="0">
                  <a:solidFill>
                    <a:prstClr val="black"/>
                  </a:solidFill>
                  <a:latin typeface="Calibri" panose="020F0502020204030204"/>
                  <a:sym typeface="Helvetica"/>
                </a:endParaRPr>
              </a:p>
            </p:txBody>
          </p:sp>
        </p:grpSp>
      </p:grpSp>
      <p:grpSp>
        <p:nvGrpSpPr>
          <p:cNvPr id="42" name="Group 41"/>
          <p:cNvGrpSpPr/>
          <p:nvPr/>
        </p:nvGrpSpPr>
        <p:grpSpPr>
          <a:xfrm>
            <a:off x="12895765" y="4142122"/>
            <a:ext cx="1853483" cy="2894459"/>
            <a:chOff x="10251170" y="3451768"/>
            <a:chExt cx="1544569" cy="2412049"/>
          </a:xfrm>
        </p:grpSpPr>
        <p:sp>
          <p:nvSpPr>
            <p:cNvPr id="104" name="Rounded Rectangle 4">
              <a:extLst>
                <a:ext uri="{FF2B5EF4-FFF2-40B4-BE49-F238E27FC236}">
                  <a16:creationId xmlns:a16="http://schemas.microsoft.com/office/drawing/2014/main" id="{FB137ED5-C818-6544-8C55-DCB66E4A5E64}"/>
                </a:ext>
              </a:extLst>
            </p:cNvPr>
            <p:cNvSpPr/>
            <p:nvPr/>
          </p:nvSpPr>
          <p:spPr>
            <a:xfrm>
              <a:off x="10306066" y="3451768"/>
              <a:ext cx="1166539" cy="24149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4864" tIns="54864" rIns="54864" bIns="54864" numCol="1" spcCol="1270" anchor="ctr" anchorCtr="0">
              <a:noAutofit/>
            </a:bodyPr>
            <a:lstStyle/>
            <a:p>
              <a:pPr defTabSz="960048">
                <a:lnSpc>
                  <a:spcPct val="90000"/>
                </a:lnSpc>
                <a:spcBef>
                  <a:spcPct val="0"/>
                </a:spcBef>
                <a:spcAft>
                  <a:spcPct val="35000"/>
                </a:spcAft>
              </a:pPr>
              <a:r>
                <a:rPr lang="en-US" sz="1200" b="1" dirty="0">
                  <a:solidFill>
                    <a:prstClr val="white">
                      <a:lumMod val="50000"/>
                    </a:prstClr>
                  </a:solidFill>
                  <a:latin typeface="Calibri" panose="020F0502020204030204" pitchFamily="34" charset="0"/>
                  <a:cs typeface="Calibri" panose="020F0502020204030204" pitchFamily="34" charset="0"/>
                  <a:sym typeface="Helvetica"/>
                </a:rPr>
                <a:t>Partner Success Manager (PSM)</a:t>
              </a:r>
            </a:p>
          </p:txBody>
        </p:sp>
        <p:sp>
          <p:nvSpPr>
            <p:cNvPr id="105" name="TextBox 104">
              <a:extLst>
                <a:ext uri="{FF2B5EF4-FFF2-40B4-BE49-F238E27FC236}">
                  <a16:creationId xmlns:a16="http://schemas.microsoft.com/office/drawing/2014/main" id="{97B9FBD5-2BB4-0840-800A-17E8D7A3D1F2}"/>
                </a:ext>
              </a:extLst>
            </p:cNvPr>
            <p:cNvSpPr txBox="1"/>
            <p:nvPr/>
          </p:nvSpPr>
          <p:spPr>
            <a:xfrm>
              <a:off x="10251170" y="3759254"/>
              <a:ext cx="1544569" cy="353943"/>
            </a:xfrm>
            <a:prstGeom prst="rect">
              <a:avLst/>
            </a:prstGeom>
            <a:noFill/>
          </p:spPr>
          <p:txBody>
            <a:bodyPr wrap="square" rtlCol="0">
              <a:spAutoFit/>
            </a:bodyPr>
            <a:lstStyle/>
            <a:p>
              <a:pPr defTabSz="822919"/>
              <a:r>
                <a:rPr lang="en-US" sz="1080" dirty="0">
                  <a:solidFill>
                    <a:prstClr val="white">
                      <a:lumMod val="50000"/>
                    </a:prstClr>
                  </a:solidFill>
                  <a:latin typeface="Calibri" panose="020F0502020204030204" pitchFamily="34" charset="0"/>
                  <a:cs typeface="Calibri" panose="020F0502020204030204" pitchFamily="34" charset="0"/>
                  <a:sym typeface="Helvetica"/>
                </a:rPr>
                <a:t>Managing consulting and technical partners.</a:t>
              </a:r>
            </a:p>
          </p:txBody>
        </p:sp>
        <p:pic>
          <p:nvPicPr>
            <p:cNvPr id="46" name="Picture 45"/>
            <p:cNvPicPr>
              <a:picLocks noChangeAspect="1"/>
            </p:cNvPicPr>
            <p:nvPr/>
          </p:nvPicPr>
          <p:blipFill>
            <a:blip r:embed="rId36"/>
            <a:stretch>
              <a:fillRect/>
            </a:stretch>
          </p:blipFill>
          <p:spPr>
            <a:xfrm>
              <a:off x="10331060" y="4153451"/>
              <a:ext cx="570019" cy="1235654"/>
            </a:xfrm>
            <a:prstGeom prst="rect">
              <a:avLst/>
            </a:prstGeom>
          </p:spPr>
        </p:pic>
        <p:sp>
          <p:nvSpPr>
            <p:cNvPr id="117" name="TextBox 116">
              <a:extLst>
                <a:ext uri="{FF2B5EF4-FFF2-40B4-BE49-F238E27FC236}">
                  <a16:creationId xmlns:a16="http://schemas.microsoft.com/office/drawing/2014/main" id="{88F144D1-582F-084F-8051-26346873C82F}"/>
                </a:ext>
              </a:extLst>
            </p:cNvPr>
            <p:cNvSpPr txBox="1"/>
            <p:nvPr/>
          </p:nvSpPr>
          <p:spPr>
            <a:xfrm>
              <a:off x="10355544" y="5417541"/>
              <a:ext cx="731210" cy="446276"/>
            </a:xfrm>
            <a:prstGeom prst="rect">
              <a:avLst/>
            </a:prstGeom>
            <a:noFill/>
          </p:spPr>
          <p:txBody>
            <a:bodyPr wrap="square" rtlCol="0">
              <a:spAutoFit/>
            </a:bodyPr>
            <a:lstStyle/>
            <a:p>
              <a:pPr defTabSz="1097280"/>
              <a:r>
                <a:rPr lang="en-US" sz="960">
                  <a:solidFill>
                    <a:prstClr val="black"/>
                  </a:solidFill>
                  <a:latin typeface="Calibri" panose="020F0502020204030204"/>
                  <a:sym typeface="Helvetica"/>
                </a:rPr>
                <a:t>rhoweave@</a:t>
              </a:r>
              <a:br>
                <a:rPr lang="en-US" sz="960" dirty="0">
                  <a:solidFill>
                    <a:prstClr val="black"/>
                  </a:solidFill>
                  <a:latin typeface="Calibri" panose="020F0502020204030204"/>
                  <a:sym typeface="Helvetica"/>
                </a:rPr>
              </a:br>
              <a:r>
                <a:rPr lang="en-US" sz="960" dirty="0">
                  <a:solidFill>
                    <a:prstClr val="black"/>
                  </a:solidFill>
                  <a:latin typeface="Calibri" panose="020F0502020204030204"/>
                  <a:sym typeface="Helvetica"/>
                </a:rPr>
                <a:t>Sr. Program Manager</a:t>
              </a:r>
              <a:endParaRPr lang="en-US" sz="1440" dirty="0">
                <a:solidFill>
                  <a:prstClr val="black"/>
                </a:solidFill>
                <a:latin typeface="Calibri" panose="020F0502020204030204"/>
                <a:sym typeface="Helvetica"/>
              </a:endParaRPr>
            </a:p>
          </p:txBody>
        </p:sp>
      </p:grpSp>
      <p:pic>
        <p:nvPicPr>
          <p:cNvPr id="64" name="Picture 63"/>
          <p:cNvPicPr>
            <a:picLocks noChangeAspect="1"/>
          </p:cNvPicPr>
          <p:nvPr/>
        </p:nvPicPr>
        <p:blipFill>
          <a:blip r:embed="rId37"/>
          <a:stretch>
            <a:fillRect/>
          </a:stretch>
        </p:blipFill>
        <p:spPr>
          <a:xfrm>
            <a:off x="4587195" y="4983517"/>
            <a:ext cx="696640" cy="1501145"/>
          </a:xfrm>
          <a:prstGeom prst="rect">
            <a:avLst/>
          </a:prstGeom>
        </p:spPr>
      </p:pic>
    </p:spTree>
    <p:extLst>
      <p:ext uri="{BB962C8B-B14F-4D97-AF65-F5344CB8AC3E}">
        <p14:creationId xmlns:p14="http://schemas.microsoft.com/office/powerpoint/2010/main" val="658373512"/>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2F6D91-10F3-314B-9C62-316FFC780B9E}"/>
              </a:ext>
            </a:extLst>
          </p:cNvPr>
          <p:cNvSpPr>
            <a:spLocks noGrp="1"/>
          </p:cNvSpPr>
          <p:nvPr>
            <p:ph type="title"/>
          </p:nvPr>
        </p:nvSpPr>
        <p:spPr/>
        <p:txBody>
          <a:bodyPr/>
          <a:lstStyle/>
          <a:p>
            <a:r>
              <a:rPr lang="en-US" dirty="0"/>
              <a:t>Since Last PI</a:t>
            </a:r>
          </a:p>
        </p:txBody>
      </p:sp>
      <p:sp>
        <p:nvSpPr>
          <p:cNvPr id="3" name="Text Placeholder 2">
            <a:extLst>
              <a:ext uri="{FF2B5EF4-FFF2-40B4-BE49-F238E27FC236}">
                <a16:creationId xmlns:a16="http://schemas.microsoft.com/office/drawing/2014/main" id="{70AEB07B-DC11-EB4F-A241-081BFF9346A7}"/>
              </a:ext>
            </a:extLst>
          </p:cNvPr>
          <p:cNvSpPr>
            <a:spLocks noGrp="1"/>
          </p:cNvSpPr>
          <p:nvPr>
            <p:ph type="body" sz="quarter" idx="10"/>
          </p:nvPr>
        </p:nvSpPr>
        <p:spPr/>
        <p:txBody>
          <a:bodyPr/>
          <a:lstStyle/>
          <a:p>
            <a:r>
              <a:rPr lang="en-US" dirty="0"/>
              <a:t>Last PI was March 24</a:t>
            </a:r>
          </a:p>
          <a:p>
            <a:r>
              <a:rPr lang="en-US" dirty="0"/>
              <a:t>602 What’s New Announcements</a:t>
            </a:r>
          </a:p>
          <a:p>
            <a:r>
              <a:rPr lang="en-US" dirty="0"/>
              <a:t>We’ll quickly review 33 of them</a:t>
            </a:r>
          </a:p>
          <a:p>
            <a:endParaRPr lang="en-US" dirty="0"/>
          </a:p>
          <a:p>
            <a:r>
              <a:rPr lang="en-US" dirty="0"/>
              <a:t>Talk more? </a:t>
            </a:r>
            <a:r>
              <a:rPr lang="en-US" dirty="0" err="1"/>
              <a:t>stanaws@amazon.com</a:t>
            </a:r>
            <a:endParaRPr lang="en-US" dirty="0"/>
          </a:p>
          <a:p>
            <a:endParaRPr lang="en-US" dirty="0"/>
          </a:p>
        </p:txBody>
      </p:sp>
    </p:spTree>
    <p:extLst>
      <p:ext uri="{BB962C8B-B14F-4D97-AF65-F5344CB8AC3E}">
        <p14:creationId xmlns:p14="http://schemas.microsoft.com/office/powerpoint/2010/main" val="4272622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Important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EC2 Auto Scaling introduces Warm Pools to accelerate scale out while saving money</a:t>
            </a:r>
          </a:p>
        </p:txBody>
      </p:sp>
      <p:sp>
        <p:nvSpPr>
          <p:cNvPr id="3" name="Content Placeholder 2"/>
          <p:cNvSpPr>
            <a:spLocks noGrp="1"/>
          </p:cNvSpPr>
          <p:nvPr>
            <p:ph sz="half" idx="1"/>
          </p:nvPr>
        </p:nvSpPr>
        <p:spPr/>
        <p:txBody>
          <a:bodyPr/>
          <a:lstStyle/>
          <a:p>
            <a:r>
              <a:t>08 Apr</a:t>
            </a:r>
          </a:p>
          <a:p>
            <a:endParaRPr/>
          </a:p>
          <a:p>
            <a:r>
              <a:t>Amazon EC2 Auto Scaling Warm Pools help applications scale out faster and save money by requiring fewer continuously running instances. With Warm Pools, customers can improve the elasticity of their applications by creating a pool of pre-initialized EC2 instances that are ready to quickly serve application traffic. Additionally, Warm Pools offer a way to save compute costs by placing pre-initialized instances in a stopped state.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EC2 Auto Scaling Introduces Predictive Scaling as a Native Scaling Policy</a:t>
            </a:r>
          </a:p>
        </p:txBody>
      </p:sp>
      <p:sp>
        <p:nvSpPr>
          <p:cNvPr id="3" name="Content Placeholder 2"/>
          <p:cNvSpPr>
            <a:spLocks noGrp="1"/>
          </p:cNvSpPr>
          <p:nvPr>
            <p:ph sz="half" idx="1"/>
          </p:nvPr>
        </p:nvSpPr>
        <p:spPr/>
        <p:txBody>
          <a:bodyPr/>
          <a:lstStyle/>
          <a:p>
            <a:r>
              <a:t>19 May</a:t>
            </a:r>
          </a:p>
          <a:p>
            <a:endParaRPr/>
          </a:p>
          <a:p>
            <a:r>
              <a:t>Amazon EC2 Auto Scaling now natively supports Predictive Scaling so you can proactively scale out your Auto Scaling group to be ready for upcoming demand. Predictive Scaling can help you avoid the need to over-provision capacity, resulting in lower EC2 cost, while ensuring your application’s responsiveness. (Previously, Predictive Scaling was only available via AWS Auto Scaling Plans.)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3"/>
              </a:rPr>
              <a:t>Amazon EC2 adds new AMI property to flag outdated AMIs</a:t>
            </a:r>
          </a:p>
        </p:txBody>
      </p:sp>
      <p:sp>
        <p:nvSpPr>
          <p:cNvPr id="3" name="Content Placeholder 2"/>
          <p:cNvSpPr>
            <a:spLocks noGrp="1"/>
          </p:cNvSpPr>
          <p:nvPr>
            <p:ph sz="half" idx="1"/>
          </p:nvPr>
        </p:nvSpPr>
        <p:spPr/>
        <p:txBody>
          <a:bodyPr/>
          <a:lstStyle/>
          <a:p>
            <a:r>
              <a:t>11 Jun</a:t>
            </a:r>
          </a:p>
          <a:p>
            <a:endParaRPr/>
          </a:p>
          <a:p>
            <a:r>
              <a:t>You can now specify a new property called ‘DeprecationTime’ on your Amazon Machine Images (AMIs)  to indicate when the AMI will become outdated.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ECS on AWS Fargate now allows you to configure the size of ephemeral storage for your Tasks</a:t>
            </a:r>
          </a:p>
        </p:txBody>
      </p:sp>
      <p:sp>
        <p:nvSpPr>
          <p:cNvPr id="3" name="Content Placeholder 2"/>
          <p:cNvSpPr>
            <a:spLocks noGrp="1"/>
          </p:cNvSpPr>
          <p:nvPr>
            <p:ph sz="half" idx="1"/>
          </p:nvPr>
        </p:nvSpPr>
        <p:spPr/>
        <p:txBody>
          <a:bodyPr/>
          <a:lstStyle/>
          <a:p>
            <a:r>
              <a:t>30 Apr</a:t>
            </a:r>
          </a:p>
          <a:p>
            <a:endParaRPr/>
          </a:p>
          <a:p>
            <a:r>
              <a:t>Amazon Elastic Container Service (Amazon ECS) on AWS Fargate now lets you configure the size of ephemeral storage for your Tasks up to a maximum of 200GiB. All ephemeral storage on AWS Fargate continues to be encrypted by default with service owned keys.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Announces AWS App Runner</a:t>
            </a:r>
          </a:p>
        </p:txBody>
      </p:sp>
      <p:sp>
        <p:nvSpPr>
          <p:cNvPr id="3" name="Content Placeholder 2"/>
          <p:cNvSpPr>
            <a:spLocks noGrp="1"/>
          </p:cNvSpPr>
          <p:nvPr>
            <p:ph sz="half" idx="1"/>
          </p:nvPr>
        </p:nvSpPr>
        <p:spPr/>
        <p:txBody>
          <a:bodyPr/>
          <a:lstStyle/>
          <a:p>
            <a:r>
              <a:t>18 May</a:t>
            </a:r>
          </a:p>
          <a:p>
            <a:endParaRPr/>
          </a:p>
          <a:p>
            <a:r>
              <a:t>Amazon Web Services, Inc. (AWS), an Amazon.com  (NASDAQ: AMZN) company, announces the general availability of AWS App Runner, a fully managed container application service that makes it easy for customers without any prior containers or infrastructure experience to build, deploy, and run containerized web applications and APIs in just a few clicks. Customers simply provide source code, a container image, or deployment pipeline, and App Runner automatically builds and deploys the web application, load balances traffic, scales on demand, and monitors application health.</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CloudFront announces CloudFront Functions, a lightweight edge compute capability</a:t>
            </a:r>
          </a:p>
        </p:txBody>
      </p:sp>
      <p:sp>
        <p:nvSpPr>
          <p:cNvPr id="3" name="Content Placeholder 2"/>
          <p:cNvSpPr>
            <a:spLocks noGrp="1"/>
          </p:cNvSpPr>
          <p:nvPr>
            <p:ph sz="half" idx="1"/>
          </p:nvPr>
        </p:nvSpPr>
        <p:spPr/>
        <p:txBody>
          <a:bodyPr/>
          <a:lstStyle/>
          <a:p>
            <a:r>
              <a:t>03 May</a:t>
            </a:r>
          </a:p>
          <a:p>
            <a:endParaRPr/>
          </a:p>
          <a:p>
            <a:r>
              <a:t>Amazon CloudFront announces the general availability of CloudFront Functions, a new serverless edge compute capability. You can use this new CloudFront feature to run JavaScript functions across 225+ CloudFront edge locations in 90 cities across 47 countries. CloudFront Functions is built for lightweight HTTP(S) transformations and manipulations, allowing you to deliver richer, more personalized content with low latency to your customers.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Lambda Extensions are now Generally Available</a:t>
            </a:r>
          </a:p>
        </p:txBody>
      </p:sp>
      <p:sp>
        <p:nvSpPr>
          <p:cNvPr id="3" name="Content Placeholder 2"/>
          <p:cNvSpPr>
            <a:spLocks noGrp="1"/>
          </p:cNvSpPr>
          <p:nvPr>
            <p:ph sz="half" idx="1"/>
          </p:nvPr>
        </p:nvSpPr>
        <p:spPr/>
        <p:txBody>
          <a:bodyPr/>
          <a:lstStyle/>
          <a:p>
            <a:r>
              <a:t>24 May</a:t>
            </a:r>
          </a:p>
          <a:p>
            <a:endParaRPr/>
          </a:p>
          <a:p>
            <a:r>
              <a:t>AWS Lambda Extensions are a new way to integrate your favorite operational tools for monitoring, observability, security, and governance with AWS Lambda. Starting today, extensions are generally available with new performance improvements and an expanded set of partners including Imperva, Instana, Sentry, Site24x7, and the AWS Distro for OpenTelemetry.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Distro for OpenTelemetry adds support for AWS managed Lambda Layer and other features</a:t>
            </a:r>
          </a:p>
        </p:txBody>
      </p:sp>
      <p:sp>
        <p:nvSpPr>
          <p:cNvPr id="3" name="Content Placeholder 2"/>
          <p:cNvSpPr>
            <a:spLocks noGrp="1"/>
          </p:cNvSpPr>
          <p:nvPr>
            <p:ph sz="half" idx="1"/>
          </p:nvPr>
        </p:nvSpPr>
        <p:spPr/>
        <p:txBody>
          <a:bodyPr/>
          <a:lstStyle/>
          <a:p>
            <a:r>
              <a:t>29 Apr</a:t>
            </a:r>
          </a:p>
          <a:p>
            <a:endParaRPr/>
          </a:p>
          <a:p>
            <a:r>
              <a:t>Today, AWS Distro for OpenTelemetry (ADOT) adds support for an AWS managed Lambda layer in Java, node.js, and Python, providing a simple getting started experience for customers to add the OpenTelemetry SDK and Collector into their AWS Lambda functions for collecting trace data. In addition, ADOT has added support for AWS Systems Manager agent, enabling customers to update, manage, and configure ADOT Collector on an EC2 instance, an on-premises server, or a virtual machine (VM). As part of this release, Zipkin and Jaeger receivers are also integrated in the ADOT collector.</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EventBridge introduces support for cross-Region event bus targets</a:t>
            </a:r>
          </a:p>
        </p:txBody>
      </p:sp>
      <p:sp>
        <p:nvSpPr>
          <p:cNvPr id="3" name="Content Placeholder 2"/>
          <p:cNvSpPr>
            <a:spLocks noGrp="1"/>
          </p:cNvSpPr>
          <p:nvPr>
            <p:ph sz="half" idx="1"/>
          </p:nvPr>
        </p:nvSpPr>
        <p:spPr/>
        <p:txBody>
          <a:bodyPr/>
          <a:lstStyle/>
          <a:p>
            <a:r>
              <a:t>15 Apr</a:t>
            </a:r>
          </a:p>
          <a:p>
            <a:endParaRPr/>
          </a:p>
          <a:p>
            <a:r>
              <a:t>Amazon EventBridge now supports cross-Region event bus as a target, allowing customers to aggregate events in a central Region. Customers can now have all their event information in one place. This makes it easier for developers to find those events and write code that reacts to them, manage permissions for access to sensitive events, and generate insights that stem from events generated across the entire organization. Customers can also reduce operational burden by removing the need to manage duplicate infrastructure in multiple Regions.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Step Functions now supports custom events to Amazon EventBridge</a:t>
            </a:r>
          </a:p>
        </p:txBody>
      </p:sp>
      <p:sp>
        <p:nvSpPr>
          <p:cNvPr id="3" name="Content Placeholder 2"/>
          <p:cNvSpPr>
            <a:spLocks noGrp="1"/>
          </p:cNvSpPr>
          <p:nvPr>
            <p:ph sz="half" idx="1"/>
          </p:nvPr>
        </p:nvSpPr>
        <p:spPr/>
        <p:txBody>
          <a:bodyPr/>
          <a:lstStyle/>
          <a:p>
            <a:r>
              <a:t>14 May</a:t>
            </a:r>
          </a:p>
          <a:p>
            <a:endParaRPr/>
          </a:p>
          <a:p>
            <a:r>
              <a:t>AWS Step Functions now supports a service integration with Amazon EventBridge, enabling you to send custom events from your Step Functions workflows to an EventBridge event bus without writing custom code. You can now emit custom events from your workflows that allow loosely-coupled applications to react to steps in your business logic, orchestrated by Step Functions. You can also use this integration to send events to applications in a different region or a different account by using EventBridge’s cross-account and cross-region capabilites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SQS Now Supports a High Throughput Mode for FIFO Queues</a:t>
            </a:r>
          </a:p>
        </p:txBody>
      </p:sp>
      <p:sp>
        <p:nvSpPr>
          <p:cNvPr id="3" name="Content Placeholder 2"/>
          <p:cNvSpPr>
            <a:spLocks noGrp="1"/>
          </p:cNvSpPr>
          <p:nvPr>
            <p:ph sz="half" idx="1"/>
          </p:nvPr>
        </p:nvSpPr>
        <p:spPr/>
        <p:txBody>
          <a:bodyPr/>
          <a:lstStyle/>
          <a:p>
            <a:r>
              <a:t>27 May</a:t>
            </a:r>
          </a:p>
          <a:p>
            <a:endParaRPr/>
          </a:p>
          <a:p>
            <a:r>
              <a:t>On Dec 17, 2020, Amazon Simple Queue Service supported a preview of high throughput mode for FIFO queues. Today, Amazon SQS announces the general availability of high throughput mode for FIFO queues, allowing you to process up to 3000 messages per second per API action. This is a tenfold increase compared to current SQS FIFO queue throughput quota.</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Announcing Global Clusters for Amazon DocumentDB (with MongoDB compatibility)</a:t>
            </a:r>
          </a:p>
        </p:txBody>
      </p:sp>
      <p:sp>
        <p:nvSpPr>
          <p:cNvPr id="3" name="Content Placeholder 2"/>
          <p:cNvSpPr>
            <a:spLocks noGrp="1"/>
          </p:cNvSpPr>
          <p:nvPr>
            <p:ph sz="half" idx="1"/>
          </p:nvPr>
        </p:nvSpPr>
        <p:spPr/>
        <p:txBody>
          <a:bodyPr/>
          <a:lstStyle/>
          <a:p>
            <a:r>
              <a:t>02 Jun</a:t>
            </a:r>
          </a:p>
          <a:p>
            <a:endParaRPr/>
          </a:p>
          <a:p>
            <a:r>
              <a:t>Amazon DocumentDB (with MongoDB compatibility) is a fast, scalable, highly available, and fully managed document database service that supports MongoDB workloads. As a document database, Amazon DocumentDB makes it easy to store, query, and index JSON data at scale.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Keyspaces now supports customer managed customer master keys (CMKs) for encryption of data at rest to help you meet your compliance and regulatory requirements</a:t>
            </a:r>
          </a:p>
        </p:txBody>
      </p:sp>
      <p:sp>
        <p:nvSpPr>
          <p:cNvPr id="3" name="Content Placeholder 2"/>
          <p:cNvSpPr>
            <a:spLocks noGrp="1"/>
          </p:cNvSpPr>
          <p:nvPr>
            <p:ph sz="half" idx="1"/>
          </p:nvPr>
        </p:nvSpPr>
        <p:spPr/>
        <p:txBody>
          <a:bodyPr/>
          <a:lstStyle/>
          <a:p>
            <a:r>
              <a:t>01 Jun</a:t>
            </a:r>
          </a:p>
          <a:p>
            <a:endParaRPr/>
          </a:p>
          <a:p>
            <a:r>
              <a:t>Amazon Keyspaces (for Apache Cassandra), a scalable, highly available, and fully managed Cassandra-compatible database service, now supports customer managed customer master keys (CMKs) for encryption of data at rest to help you meet your compliance and regulatory requirements.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Aurora MySQL Improves Availability of Read Replicas</a:t>
            </a:r>
          </a:p>
        </p:txBody>
      </p:sp>
      <p:sp>
        <p:nvSpPr>
          <p:cNvPr id="3" name="Content Placeholder 2"/>
          <p:cNvSpPr>
            <a:spLocks noGrp="1"/>
          </p:cNvSpPr>
          <p:nvPr>
            <p:ph sz="half" idx="1"/>
          </p:nvPr>
        </p:nvSpPr>
        <p:spPr/>
        <p:txBody>
          <a:bodyPr/>
          <a:lstStyle/>
          <a:p>
            <a:r>
              <a:t>26 May</a:t>
            </a:r>
          </a:p>
          <a:p>
            <a:endParaRPr/>
          </a:p>
          <a:p>
            <a:r>
              <a:t>Amazon Aurora MySQL-Compatible Edition now maintains read availability through writer node restarts. Previously, when a writer node restarted, all nodes in an Aurora MySQL cluster restarted as well. With today’s launch, reader nodes will continue to serve read requests during a writer node restart, improving read availability in the cluster.  </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hlinkClick r:id="rId2"/>
              </a:rPr>
              <a:t>Amazon DynamoDB Accelerator (DAX) now supports encryption in transit of data between your applications and DAX clusters, and between the nodes within a DAX cluster</a:t>
            </a:r>
          </a:p>
        </p:txBody>
      </p:sp>
      <p:sp>
        <p:nvSpPr>
          <p:cNvPr id="3" name="Content Placeholder 2"/>
          <p:cNvSpPr>
            <a:spLocks noGrp="1"/>
          </p:cNvSpPr>
          <p:nvPr>
            <p:ph sz="half" idx="1"/>
          </p:nvPr>
        </p:nvSpPr>
        <p:spPr/>
        <p:txBody>
          <a:bodyPr/>
          <a:lstStyle/>
          <a:p>
            <a:r>
              <a:t>24 Jun</a:t>
            </a:r>
          </a:p>
          <a:p>
            <a:endParaRPr/>
          </a:p>
          <a:p>
            <a:r>
              <a:t>You now can further enhance the security of your applications by encrypting data in transit between your applications and your Amazon DynamoDB Accelerator (DAX) clusters, and between the nodes within a DAX cluster. To use this new feature, enable encryption in transit when creating a DAX cluster and use the latest version of any of the DAX clients. If you enable encryption in transit for a DAX cluster, all requests and responses between your applications and clusters are encrypted by Transport Layer Security (TLS), and connections to the cluster can be authenticated by verification of a cluster X.509 certificate. In addition, the data in transit between the nodes within a cluster also is encrypted. You can enable encryption in transit in the DynamoDB console, AWS CLI, AWS SDKs, and AWS CloudFormation.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announces the general availability of AWS Proton</a:t>
            </a:r>
          </a:p>
        </p:txBody>
      </p:sp>
      <p:sp>
        <p:nvSpPr>
          <p:cNvPr id="3" name="Content Placeholder 2"/>
          <p:cNvSpPr>
            <a:spLocks noGrp="1"/>
          </p:cNvSpPr>
          <p:nvPr>
            <p:ph sz="half" idx="1"/>
          </p:nvPr>
        </p:nvSpPr>
        <p:spPr/>
        <p:txBody>
          <a:bodyPr/>
          <a:lstStyle/>
          <a:p>
            <a:r>
              <a:t>09 Jun</a:t>
            </a:r>
          </a:p>
          <a:p>
            <a:endParaRPr/>
          </a:p>
          <a:p>
            <a:r>
              <a:t>Today, AWS announces the general availability of AWS Proton, the first fully managed delivery service for container and serverless applications. It is designed to provide platform teams the management tools, governance, and visibility needed to provide consistent standards and best practices when managing deployments, while helping to increase developer productivity and innovation.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Cloud Development Kit (AWS CDK) v2 and Go CDK is now available for Developer Preview</a:t>
            </a:r>
          </a:p>
        </p:txBody>
      </p:sp>
      <p:sp>
        <p:nvSpPr>
          <p:cNvPr id="3" name="Content Placeholder 2"/>
          <p:cNvSpPr>
            <a:spLocks noGrp="1"/>
          </p:cNvSpPr>
          <p:nvPr>
            <p:ph sz="half" idx="1"/>
          </p:nvPr>
        </p:nvSpPr>
        <p:spPr/>
        <p:txBody>
          <a:bodyPr/>
          <a:lstStyle/>
          <a:p>
            <a:r>
              <a:t>30 Apr</a:t>
            </a:r>
          </a:p>
          <a:p>
            <a:endParaRPr/>
          </a:p>
          <a:p>
            <a:r>
              <a:t>The AWS Cloud Development Kit (AWS CDK) v2 is now available for Developer Preview, and offers two new capabilities for CDK users. The first is all CDK versions now support Go, expanding the number of programming languages developers can use to define infrastructure-as-code, and provision through AWS CloudFormation. The second is that all stable constructs from the AWS Construct Library  are now available in a single, separate package, making it easier for you to use the CDK and stay up-to-date with new versions as we evolve it going forwards.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Route 53 Resolver DNS Firewall Generally Available</a:t>
            </a:r>
          </a:p>
        </p:txBody>
      </p:sp>
      <p:sp>
        <p:nvSpPr>
          <p:cNvPr id="3" name="Content Placeholder 2"/>
          <p:cNvSpPr>
            <a:spLocks noGrp="1"/>
          </p:cNvSpPr>
          <p:nvPr>
            <p:ph sz="half" idx="1"/>
          </p:nvPr>
        </p:nvSpPr>
        <p:spPr/>
        <p:txBody>
          <a:bodyPr/>
          <a:lstStyle/>
          <a:p>
            <a:r>
              <a:t>07 Apr</a:t>
            </a:r>
          </a:p>
          <a:p>
            <a:endParaRPr/>
          </a:p>
          <a:p>
            <a:r>
              <a:t>Last week, AWS announced the Amazon Route 53 Resolver DNS Firewall, a managed firewall that enables customers to block DNS queries made for known malicious domains and to allow queries for trusted domains. DNS Firewall provides more granular control over the DNS querying behavior of resources within your Amazon Virtual Private Clouds (VPCs).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Firewall Manager now supports centralized management of Amazon Route 53 Resolver DNS Firewall</a:t>
            </a:r>
          </a:p>
        </p:txBody>
      </p:sp>
      <p:sp>
        <p:nvSpPr>
          <p:cNvPr id="3" name="Content Placeholder 2"/>
          <p:cNvSpPr>
            <a:spLocks noGrp="1"/>
          </p:cNvSpPr>
          <p:nvPr>
            <p:ph sz="half" idx="1"/>
          </p:nvPr>
        </p:nvSpPr>
        <p:spPr/>
        <p:txBody>
          <a:bodyPr/>
          <a:lstStyle/>
          <a:p>
            <a:r>
              <a:t>01 Apr</a:t>
            </a:r>
          </a:p>
          <a:p>
            <a:endParaRPr/>
          </a:p>
          <a:p>
            <a:r>
              <a:t>AWS Firewall Manager now supports Amazon Route 53 Resolver DNS Firewall, making it easy for security administrators to identify the set of DNS Firewall rules they wish to use and deploy across their organization, from a central place. AWS recently launched Amazon Route 53 Resolver DNS Firewall, a managed firewall feature that enables customers to block DNS queries made for known malicious domains and to allow queries for trusted domains. DNS Firewall provides more granular control over the DNS querying behavior of resources within your Amazon Virtual Private Clouds (VPCs). Now that Firewall Manager supports DNS Firewall, you can identify the set of DNS Firewall rules you wish to use and deploy them across multiple accounts, organizational units (OUs), and VPCs, all from a single central security administrator account.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Customize and Package Dependencies With Your Apache Spark Applications on Amazon EMR on Amazon EKS</a:t>
            </a:r>
          </a:p>
        </p:txBody>
      </p:sp>
      <p:sp>
        <p:nvSpPr>
          <p:cNvPr id="3" name="Content Placeholder 2"/>
          <p:cNvSpPr>
            <a:spLocks noGrp="1"/>
          </p:cNvSpPr>
          <p:nvPr>
            <p:ph sz="half" idx="1"/>
          </p:nvPr>
        </p:nvSpPr>
        <p:spPr/>
        <p:txBody>
          <a:bodyPr/>
          <a:lstStyle/>
          <a:p>
            <a:r>
              <a:t>24 Jun</a:t>
            </a:r>
          </a:p>
          <a:p>
            <a:endParaRPr/>
          </a:p>
          <a:p>
            <a:r>
              <a:t>Amazon EMR on Amazon EKS announced support for Custom Images, a new capability that enables customers to customize the Docker container images used for running Apache Spark applications on Amazon EMR on EKS. Custom images enables you to install and configure packages specific to your workload that are not available in the public distribution of EMR’s Spark runtime into a single immutable container. An immutable container promotes portability and simplifies dependency management for each workload and enables you to integrate developing applications for EMR on EKS with your own continuous integration (CI) pipeline.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Announcing AWS Step Functions’ integration with Amazon EMR on EKS</a:t>
            </a:r>
          </a:p>
        </p:txBody>
      </p:sp>
      <p:sp>
        <p:nvSpPr>
          <p:cNvPr id="3" name="Content Placeholder 2"/>
          <p:cNvSpPr>
            <a:spLocks noGrp="1"/>
          </p:cNvSpPr>
          <p:nvPr>
            <p:ph sz="half" idx="1"/>
          </p:nvPr>
        </p:nvSpPr>
        <p:spPr/>
        <p:txBody>
          <a:bodyPr/>
          <a:lstStyle/>
          <a:p>
            <a:r>
              <a:t>29 Mar</a:t>
            </a:r>
          </a:p>
          <a:p>
            <a:endParaRPr/>
          </a:p>
          <a:p>
            <a:r>
              <a:t>AWS Step Functions is now integrated with Amazon EMR on Amazon Elastic Kubernetes Service (Amazon EKS), making it easier to integrate Apache Spark based jobs into your analytics pipeline. You can now build workflows including steps to manage EMR on EKS virtual clusters and submit jobs without writing code to manage the state of the job.</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3"/>
              </a:rPr>
              <a:t>Amazon EMR Studio is now generally available</a:t>
            </a:r>
          </a:p>
        </p:txBody>
      </p:sp>
      <p:sp>
        <p:nvSpPr>
          <p:cNvPr id="3" name="Content Placeholder 2"/>
          <p:cNvSpPr>
            <a:spLocks noGrp="1"/>
          </p:cNvSpPr>
          <p:nvPr>
            <p:ph sz="half" idx="1"/>
          </p:nvPr>
        </p:nvSpPr>
        <p:spPr/>
        <p:txBody>
          <a:bodyPr/>
          <a:lstStyle/>
          <a:p>
            <a:r>
              <a:t>20 Apr</a:t>
            </a:r>
          </a:p>
          <a:p>
            <a:endParaRPr/>
          </a:p>
          <a:p>
            <a:r>
              <a:t>Today we are excited to announce the general availability of EMR Studio, an integrated development environment (IDE) that makes it easy for data scientists and data engineers to develop, visualize, and debug big data and analytics applications written in R, Python, Scala, and PySpark. EMR Studio provides fully managed Jupyter Notebooks, and tools like Spark UI  and YARN Timeline Service  to simplify debugging. EMR Studio uses AWS Single Sign-On and allows you to log in directly with your corporate credentials without logging into the AWS console.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hlinkClick r:id="rId2"/>
              </a:rPr>
              <a:t>AWS Glue Studio now includes a code editor for customizing your job scripts</a:t>
            </a:r>
          </a:p>
        </p:txBody>
      </p:sp>
      <p:sp>
        <p:nvSpPr>
          <p:cNvPr id="3" name="Content Placeholder 2"/>
          <p:cNvSpPr>
            <a:spLocks noGrp="1"/>
          </p:cNvSpPr>
          <p:nvPr>
            <p:ph sz="half" idx="1"/>
          </p:nvPr>
        </p:nvSpPr>
        <p:spPr/>
        <p:txBody>
          <a:bodyPr/>
          <a:lstStyle/>
          <a:p>
            <a:r>
              <a:rPr dirty="0"/>
              <a:t>07 Jun</a:t>
            </a:r>
          </a:p>
          <a:p>
            <a:endParaRPr dirty="0"/>
          </a:p>
          <a:p>
            <a:r>
              <a:rPr dirty="0"/>
              <a:t>AWS Glue Studio now includes a code editor for customizing the extract-transform-and-load (ETL) code it generates from your input in its visual ETL job editor. Previously, you needed to download and modify scripts themselves if you needed to customize the code. Now, you can use AWS Glue Studio’s visual editor to get started quickly and then write code only for the unique components of your ETL job.</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hlinkClick r:id="rId2"/>
              </a:rPr>
              <a:t>AWS Glue now supports cross-account reads from Amazon Kinesis Data Streams</a:t>
            </a:r>
          </a:p>
        </p:txBody>
      </p:sp>
      <p:sp>
        <p:nvSpPr>
          <p:cNvPr id="3" name="Content Placeholder 2"/>
          <p:cNvSpPr>
            <a:spLocks noGrp="1"/>
          </p:cNvSpPr>
          <p:nvPr>
            <p:ph sz="half" idx="1"/>
          </p:nvPr>
        </p:nvSpPr>
        <p:spPr/>
        <p:txBody>
          <a:bodyPr/>
          <a:lstStyle/>
          <a:p>
            <a:r>
              <a:rPr dirty="0"/>
              <a:t>06 Apr</a:t>
            </a:r>
          </a:p>
          <a:p>
            <a:endParaRPr dirty="0"/>
          </a:p>
          <a:p>
            <a:r>
              <a:rPr dirty="0"/>
              <a:t>Streaming ETL jobs in AWS Glue can now read from Amazon Kinesis Data Streams in a different AWS account than the one running the AWS Glue job. This feature allows you to run your ETL jobs from the consumer account rather than the data producer account, keeping all ETL activity in one location and simplifying data-integration management.</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Managed Workflows for Apache Airflow (MWAA) now supports Apache Airflow version 2.0</a:t>
            </a:r>
          </a:p>
        </p:txBody>
      </p:sp>
      <p:sp>
        <p:nvSpPr>
          <p:cNvPr id="3" name="Content Placeholder 2"/>
          <p:cNvSpPr>
            <a:spLocks noGrp="1"/>
          </p:cNvSpPr>
          <p:nvPr>
            <p:ph sz="half" idx="1"/>
          </p:nvPr>
        </p:nvSpPr>
        <p:spPr/>
        <p:txBody>
          <a:bodyPr/>
          <a:lstStyle/>
          <a:p>
            <a:r>
              <a:t>26 May</a:t>
            </a:r>
          </a:p>
          <a:p>
            <a:endParaRPr/>
          </a:p>
          <a:p>
            <a:r>
              <a:t>You can now launch Apache Airflow 2.0 environments on Amazon Managed Workflows for Apache Airflow (MWAA). Apache Airflow 2.0 is the latest version of the popular open-source tool that helps customers author, schedule, and monitor workflows.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Textract announces quality updates to its forms extraction feature</a:t>
            </a:r>
          </a:p>
        </p:txBody>
      </p:sp>
      <p:sp>
        <p:nvSpPr>
          <p:cNvPr id="3" name="Content Placeholder 2"/>
          <p:cNvSpPr>
            <a:spLocks noGrp="1"/>
          </p:cNvSpPr>
          <p:nvPr>
            <p:ph sz="half" idx="1"/>
          </p:nvPr>
        </p:nvSpPr>
        <p:spPr/>
        <p:txBody>
          <a:bodyPr/>
          <a:lstStyle/>
          <a:p>
            <a:r>
              <a:t>23 Jun</a:t>
            </a:r>
          </a:p>
          <a:p>
            <a:endParaRPr/>
          </a:p>
          <a:p>
            <a:r>
              <a:t>Amazon Textract is a machine learning service that automatically extracts text, handwriting and data from scanned documents that goes beyond simple optical character recognition (OCR) to identify, understand, and extract data from forms and tables. We continuously improve the underlying machine learning models based on customer feedback to provide even better accuracy. Today, we are pleased to announce an accuracy enhancement update to our forms extraction feature. Starting today, Textract more accurately detects the checkboxes and key-value pairs within documents and images. The accuracy is especially improved for invoices and receipts, but customers will see improvements across many documents in finance, healthcare, legal, public sector, and more.</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Textract announces quality updates to its tables extraction feature</a:t>
            </a:r>
          </a:p>
        </p:txBody>
      </p:sp>
      <p:sp>
        <p:nvSpPr>
          <p:cNvPr id="3" name="Content Placeholder 2"/>
          <p:cNvSpPr>
            <a:spLocks noGrp="1"/>
          </p:cNvSpPr>
          <p:nvPr>
            <p:ph sz="half" idx="1"/>
          </p:nvPr>
        </p:nvSpPr>
        <p:spPr/>
        <p:txBody>
          <a:bodyPr/>
          <a:lstStyle/>
          <a:p>
            <a:r>
              <a:t>08 Apr</a:t>
            </a:r>
          </a:p>
          <a:p>
            <a:endParaRPr/>
          </a:p>
          <a:p>
            <a:r>
              <a:t>Amazon Textract is a machine learning service that makes it easy to extract text and data from virtually any document. We continuously improve the underlying machine learning models based on customer feedback to provide even better accuracy. Today, we are pleased to announce a quality enhancement to our table recognition feature. Starting today, Textract more accurately detects the outer boundaries, row and column boundaries, and content of tables. The accuracy is especially improved for the tables in receipts and invoices, but you will see improvements across many documents in finance, healthcare, legal, and public sector.</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Detect anomalies in your metrics, and diagnose issues quickly with Amazon Lookout for Metrics – now generally available</a:t>
            </a:r>
          </a:p>
        </p:txBody>
      </p:sp>
      <p:sp>
        <p:nvSpPr>
          <p:cNvPr id="3" name="Content Placeholder 2"/>
          <p:cNvSpPr>
            <a:spLocks noGrp="1"/>
          </p:cNvSpPr>
          <p:nvPr>
            <p:ph sz="half" idx="1"/>
          </p:nvPr>
        </p:nvSpPr>
        <p:spPr/>
        <p:txBody>
          <a:bodyPr/>
          <a:lstStyle/>
          <a:p>
            <a:r>
              <a:t>25 Mar</a:t>
            </a:r>
          </a:p>
          <a:p>
            <a:endParaRPr/>
          </a:p>
          <a:p>
            <a:r>
              <a:t>Today Amazon Lookout for Metrics is generally available to all AWS customers. Lookout for Metrics is a machine learning (ML) service that detects anomalies or unexpected changes in your metrics, helping you proactively monitor the health of your business, diagnose issues and find opportunities quickly – with no ML experience required.</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Connect to your Amazon CloudWatch data to detect anomalies and diagnose their root causes using Amazon Lookout for Metrics</a:t>
            </a:r>
          </a:p>
        </p:txBody>
      </p:sp>
      <p:sp>
        <p:nvSpPr>
          <p:cNvPr id="3" name="Content Placeholder 2"/>
          <p:cNvSpPr>
            <a:spLocks noGrp="1"/>
          </p:cNvSpPr>
          <p:nvPr>
            <p:ph sz="half" idx="1"/>
          </p:nvPr>
        </p:nvSpPr>
        <p:spPr/>
        <p:txBody>
          <a:bodyPr/>
          <a:lstStyle/>
          <a:p>
            <a:r>
              <a:t>23 Jun</a:t>
            </a:r>
          </a:p>
          <a:p>
            <a:endParaRPr/>
          </a:p>
          <a:p>
            <a:r>
              <a:t>We are excited to announce that Amazon Lookout for Metrics now allows you to detect anomalies on your Amazon CloudWatch data. Amazon Lookout for Metrics uses machine learning (ML) to automatically detect and diagnose anomalies (outliers from the norm) without requiring any prior ML experience. Amazon CloudWatch provides you with actionable insights to monitor your applications, respond to system-wide performance changes, optimize resource utilization, and get a unified view of operational health.</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SageMaker Data Wrangler now supports Snowflake as a data source</a:t>
            </a:r>
          </a:p>
        </p:txBody>
      </p:sp>
      <p:sp>
        <p:nvSpPr>
          <p:cNvPr id="3" name="Content Placeholder 2"/>
          <p:cNvSpPr>
            <a:spLocks noGrp="1"/>
          </p:cNvSpPr>
          <p:nvPr>
            <p:ph sz="half" idx="1"/>
          </p:nvPr>
        </p:nvSpPr>
        <p:spPr/>
        <p:txBody>
          <a:bodyPr/>
          <a:lstStyle/>
          <a:p>
            <a:r>
              <a:t>08 Jun</a:t>
            </a:r>
          </a:p>
          <a:p>
            <a:endParaRPr/>
          </a:p>
          <a:p>
            <a:r>
              <a:t>Amazon SageMaker Data Wrangler reduces the time it takes to aggregate and prepare data for machine learning (ML) from weeks to minutes. With SageMaker Data Wrangler, you can simplify the process of data preparation and feature engineering, and complete each step of the data preparation workflow, including data selection, cleansing, exploration, and visualization from a single visual interface. Starting today, you can now use Snowflake as a data source in Amazon SageMaker Data Wrangler to easily prepare data in Snowflake for machine learning.</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KMS Multi-Region Keys</a:t>
            </a:r>
          </a:p>
        </p:txBody>
      </p:sp>
      <p:sp>
        <p:nvSpPr>
          <p:cNvPr id="3" name="Content Placeholder 2"/>
          <p:cNvSpPr>
            <a:spLocks noGrp="1"/>
          </p:cNvSpPr>
          <p:nvPr>
            <p:ph sz="half" idx="1"/>
          </p:nvPr>
        </p:nvSpPr>
        <p:spPr/>
        <p:txBody>
          <a:bodyPr/>
          <a:lstStyle/>
          <a:p>
            <a:r>
              <a:rPr dirty="0"/>
              <a:t>16 Jun</a:t>
            </a:r>
          </a:p>
          <a:p>
            <a:endParaRPr dirty="0"/>
          </a:p>
          <a:p>
            <a:r>
              <a:rPr dirty="0"/>
              <a:t>AWS Key Management Service (AWS KMS) is introducing multi-Region keys, a new capability that lets you replicate keys from one AWS Region into another. With multi-Region keys, you can more easily move encrypted data between Regions without having to decrypt and re-encrypt with different keys in each Region. Multi-Region keys are supported for client-side encryption in the AWS Encryption SDK, AWS S3 Encryption Client, and AWS DynamoDB Encryption Client. They simplify any process that copies protected data into multiple Regions, such as disaster recovery/backup, DynamoDB global tables, or for digital signature applications that require the same signing key in multiple Regions.</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IAM Access Analyzer makes it easier to implement least privilege permissions by generating IAM policies based on access activity</a:t>
            </a:r>
          </a:p>
        </p:txBody>
      </p:sp>
      <p:sp>
        <p:nvSpPr>
          <p:cNvPr id="3" name="Content Placeholder 2"/>
          <p:cNvSpPr>
            <a:spLocks noGrp="1"/>
          </p:cNvSpPr>
          <p:nvPr>
            <p:ph sz="half" idx="1"/>
          </p:nvPr>
        </p:nvSpPr>
        <p:spPr/>
        <p:txBody>
          <a:bodyPr/>
          <a:lstStyle/>
          <a:p>
            <a:r>
              <a:t>07 Apr</a:t>
            </a:r>
          </a:p>
          <a:p>
            <a:endParaRPr/>
          </a:p>
          <a:p>
            <a:r>
              <a:t>When we launched IAM Access Analyzer, we started by helping you remove unintended public and cross account access by analyzing your existing permissions. Recently, IAM Access Analyzer added policy validation to help you set secure and functional permissions during policy authoring. Now, we are taking that a step further and generating policies for you. You can now use IAM Access Analyzer to generate fine-grained policies based on your access activity found in your CloudTrail. When you request a policy, IAM Access Analyzer gets to work and generates a policy by analyzing your CloudTrail logs to identify your activity. The generated policy makes it easier to grant only the required permissions for your workloads.</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Audit Manager now offers a new standard framework for NIST 800-53 (Rev. 5) Low-Moderate-High</a:t>
            </a:r>
          </a:p>
        </p:txBody>
      </p:sp>
      <p:sp>
        <p:nvSpPr>
          <p:cNvPr id="3" name="Content Placeholder 2"/>
          <p:cNvSpPr>
            <a:spLocks noGrp="1"/>
          </p:cNvSpPr>
          <p:nvPr>
            <p:ph sz="half" idx="1"/>
          </p:nvPr>
        </p:nvSpPr>
        <p:spPr/>
        <p:txBody>
          <a:bodyPr/>
          <a:lstStyle/>
          <a:p>
            <a:r>
              <a:t>07 Apr</a:t>
            </a:r>
          </a:p>
          <a:p>
            <a:endParaRPr/>
          </a:p>
          <a:p>
            <a:r>
              <a:t>AWS Audit Manager now offers a new prebuilt standard framework for NIST 800-53 (Rev. 5) Low-Moderate-High. This framework adds to the existing prebuilt frameworks  provided in Audit Manager. With this release, you can launch an assessment from this framework with just a few clicks. Audit Manager will map your AWS resources to the requirements in NIST 800-53 (Rev. 5) Low-Moderate-High and start gathering evidence automatically to help you scale your audit capability in the cloud as your business grows.</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Thank you!</a:t>
            </a:r>
          </a:p>
        </p:txBody>
      </p:sp>
    </p:spTree>
    <p:extLst>
      <p:ext uri="{BB962C8B-B14F-4D97-AF65-F5344CB8AC3E}">
        <p14:creationId xmlns:p14="http://schemas.microsoft.com/office/powerpoint/2010/main" val="73279256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Good to know</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Security Hub adds 16 new controls to its Foundational Security Best Practices standard for enhanced cloud security posture monitoring</a:t>
            </a:r>
          </a:p>
        </p:txBody>
      </p:sp>
      <p:sp>
        <p:nvSpPr>
          <p:cNvPr id="3" name="Content Placeholder 2"/>
          <p:cNvSpPr>
            <a:spLocks noGrp="1"/>
          </p:cNvSpPr>
          <p:nvPr>
            <p:ph sz="half" idx="1"/>
          </p:nvPr>
        </p:nvSpPr>
        <p:spPr/>
        <p:txBody>
          <a:bodyPr/>
          <a:lstStyle/>
          <a:p>
            <a:r>
              <a:t>04 Jun</a:t>
            </a:r>
          </a:p>
          <a:p>
            <a:endParaRPr/>
          </a:p>
          <a:p>
            <a:r>
              <a:t>AWS Security Hub has released 16 new controls for its Foundational Security Best Practice standard  to enhance customers’ cloud security posture monitoring. These controls conduct fully automatic checks against security best practices for Amazon API Gateway (APIGateway.2, APIGateway.3), AWS Elastic Beanstalk (ElasticBeanstalk.1, ElasticBeanstalk.2), Amazon RDS (RDS.12, RDS.13, RDS.14), Amazon EC2 (EC2.15, EC2.16), AWS CloudTrail (CloudTrail.4, CloudTrail.5), Amazon Redshift (Redshift.7), AWS Lambda (Lambda.4), AWS Secrets Manager (SecretsManager.3, SecretsManager.4), and AWS Web Application Firewall (WAF.1). If you have Security Hub set to automatically enable new controls and are already using AWS Foundational Security Best Practices, these controls are enabled by default. Security Hub now supports 131 security controls to automatically check your security posture in AWS.</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hlinkClick r:id="rId2"/>
              </a:rPr>
              <a:t>AWS Glue Studio now allows you to specify streaming ETL job settings</a:t>
            </a:r>
          </a:p>
        </p:txBody>
      </p:sp>
      <p:sp>
        <p:nvSpPr>
          <p:cNvPr id="3" name="Content Placeholder 2"/>
          <p:cNvSpPr>
            <a:spLocks noGrp="1"/>
          </p:cNvSpPr>
          <p:nvPr>
            <p:ph sz="half" idx="1"/>
          </p:nvPr>
        </p:nvSpPr>
        <p:spPr/>
        <p:txBody>
          <a:bodyPr/>
          <a:lstStyle/>
          <a:p>
            <a:r>
              <a:t>04 Jun</a:t>
            </a:r>
          </a:p>
          <a:p>
            <a:endParaRPr/>
          </a:p>
          <a:p>
            <a:r>
              <a:t>AWS Glue Studio now allows you to specify the settings for your streaming extract-transform-and-load (ETL) job in the visual job editor. This feature allows you to optimize your AWS Glue streaming ETL jobs for your use case. You can choose the window size for reading data from the data stream, whether to detect the schema of each record or use the schema from the AWS Glue Data Catalog, and connection settings that fine-tune how the AWS Glue job reads from the stream.</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EMR 6.3 release version now supports Apache Spark 3.1.1</a:t>
            </a:r>
          </a:p>
        </p:txBody>
      </p:sp>
      <p:sp>
        <p:nvSpPr>
          <p:cNvPr id="3" name="Content Placeholder 2"/>
          <p:cNvSpPr>
            <a:spLocks noGrp="1"/>
          </p:cNvSpPr>
          <p:nvPr>
            <p:ph sz="half" idx="1"/>
          </p:nvPr>
        </p:nvSpPr>
        <p:spPr/>
        <p:txBody>
          <a:bodyPr/>
          <a:lstStyle/>
          <a:p>
            <a:r>
              <a:t>26 May</a:t>
            </a:r>
          </a:p>
          <a:p>
            <a:endParaRPr/>
          </a:p>
          <a:p>
            <a:r>
              <a:t>Amazon EMR 6.3 release version now supports Apache Spark 3.1.1 and provides runtime performance improvements with EMR Runtime for Spark.</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DocumentDB (with MongoDB compatibility) adds support for renameCollection, $natural, $indexOfArray, $reverseArray, $zip and indexing improvements</a:t>
            </a:r>
          </a:p>
        </p:txBody>
      </p:sp>
      <p:sp>
        <p:nvSpPr>
          <p:cNvPr id="3" name="Content Placeholder 2"/>
          <p:cNvSpPr>
            <a:spLocks noGrp="1"/>
          </p:cNvSpPr>
          <p:nvPr>
            <p:ph sz="half" idx="1"/>
          </p:nvPr>
        </p:nvSpPr>
        <p:spPr/>
        <p:txBody>
          <a:bodyPr/>
          <a:lstStyle/>
          <a:p>
            <a:r>
              <a:t>04 May</a:t>
            </a:r>
          </a:p>
          <a:p>
            <a:endParaRPr/>
          </a:p>
          <a:p>
            <a:r>
              <a:t>Amazon DocumentDB (with MongoDB compatibility) is a fast, scalable, highly available, and fully managed document database service that supports MongoDB workloads. As a document database, Amazon DocumentDB makes it easy to store, query, and index JSON data at scale.</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Aurora Supports PostgreSQL 12.6, 11.11, 10.16, and 9.6.21</a:t>
            </a:r>
          </a:p>
        </p:txBody>
      </p:sp>
      <p:sp>
        <p:nvSpPr>
          <p:cNvPr id="3" name="Content Placeholder 2"/>
          <p:cNvSpPr>
            <a:spLocks noGrp="1"/>
          </p:cNvSpPr>
          <p:nvPr>
            <p:ph sz="half" idx="1"/>
          </p:nvPr>
        </p:nvSpPr>
        <p:spPr/>
        <p:txBody>
          <a:bodyPr/>
          <a:lstStyle/>
          <a:p>
            <a:r>
              <a:t>17 Jun</a:t>
            </a:r>
          </a:p>
          <a:p>
            <a:endParaRPr/>
          </a:p>
          <a:p>
            <a:r>
              <a:t>Following the announcement of updates to the PostgreSQL database  by the open source community, we have updated Amazon Aurora PostgreSQL-Compatible Edition to support PostgreSQL versions 12.6, 11.11, 10.16, and 9.6.21. These releases contain bug fixes and improvements by the PostgreSQL community. As a reminder, Amazon Aurora PostgreSQL 9.6 will reach end of life on January 31, 2022. </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hlinkClick r:id="rId2"/>
              </a:rPr>
              <a:t>AWS CloudTrail Adds Logging of Data Events for Amazon DynamoDB</a:t>
            </a:r>
          </a:p>
        </p:txBody>
      </p:sp>
      <p:sp>
        <p:nvSpPr>
          <p:cNvPr id="3" name="Content Placeholder 2"/>
          <p:cNvSpPr>
            <a:spLocks noGrp="1"/>
          </p:cNvSpPr>
          <p:nvPr>
            <p:ph sz="half" idx="1"/>
          </p:nvPr>
        </p:nvSpPr>
        <p:spPr/>
        <p:txBody>
          <a:bodyPr/>
          <a:lstStyle/>
          <a:p>
            <a:r>
              <a:rPr dirty="0"/>
              <a:t>24 Mar</a:t>
            </a:r>
          </a:p>
          <a:p>
            <a:endParaRPr dirty="0"/>
          </a:p>
          <a:p>
            <a:r>
              <a:rPr dirty="0"/>
              <a:t>AWS CloudTrail now supports logging of data events for Amazon DynamoDB. With this new feature, you can now use CloudTrail to log item-level DynamoDB activity from all your DynamoDB tables or specific tables with read-only and write-only filters. You can also use CloudTrail advanced event selectors for more granular control of which data events you want to log from DynamoDB. All DynamoDB data events are delivered to an Amazon S3 bucket and Amazon CloudWatch Events, which creates an audit log of data access and allows you to respond to events recorded by CloudTrail. Details on when and who made DynamoDB API calls enhances data visibility for security and operations engineering teams. For example, you can quickly determine which DynamoDB items were created, read, updated or deleted and identify the source of the API calls. If you detect unauthorized DynamoDB activity, you can also take immediate action to restrict access.</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Systems Manager now supports Amazon Elastic Container Service clusters</a:t>
            </a:r>
          </a:p>
        </p:txBody>
      </p:sp>
      <p:sp>
        <p:nvSpPr>
          <p:cNvPr id="3" name="Content Placeholder 2"/>
          <p:cNvSpPr>
            <a:spLocks noGrp="1"/>
          </p:cNvSpPr>
          <p:nvPr>
            <p:ph sz="half" idx="1"/>
          </p:nvPr>
        </p:nvSpPr>
        <p:spPr/>
        <p:txBody>
          <a:bodyPr/>
          <a:lstStyle/>
          <a:p>
            <a:r>
              <a:t>22 Apr</a:t>
            </a:r>
          </a:p>
          <a:p>
            <a:endParaRPr/>
          </a:p>
          <a:p>
            <a:r>
              <a:t>Today, AWS announces a new feature of AWS Systems Manager Application Manager that customers can use to manage Amazon Elastic Container Service (Amazon ECS) clusters. This feature provides IT professionals the ability to view operational data, manage compliance, and take remedial actions on their ECS clusters.</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CloudWatch Lambda Insights Now Supports AWS Lambda Container Images (General Availability)</a:t>
            </a:r>
          </a:p>
        </p:txBody>
      </p:sp>
      <p:sp>
        <p:nvSpPr>
          <p:cNvPr id="3" name="Content Placeholder 2"/>
          <p:cNvSpPr>
            <a:spLocks noGrp="1"/>
          </p:cNvSpPr>
          <p:nvPr>
            <p:ph sz="half" idx="1"/>
          </p:nvPr>
        </p:nvSpPr>
        <p:spPr/>
        <p:txBody>
          <a:bodyPr/>
          <a:lstStyle/>
          <a:p>
            <a:r>
              <a:t>09 Apr</a:t>
            </a:r>
          </a:p>
          <a:p>
            <a:endParaRPr/>
          </a:p>
          <a:p>
            <a:r>
              <a:t>You can now use Amazon CloudWatch Lambda Insights to monitor, troubleshoot, and optimize the performance of AWS Lambda functions which are packaged and deployed as container images. With CloudWatch Lambda Insights you have access to automated dashboards summarizing the performance and health of your Lambda functions. </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X-Ray now supports VPC endpoints</a:t>
            </a:r>
          </a:p>
        </p:txBody>
      </p:sp>
      <p:sp>
        <p:nvSpPr>
          <p:cNvPr id="3" name="Content Placeholder 2"/>
          <p:cNvSpPr>
            <a:spLocks noGrp="1"/>
          </p:cNvSpPr>
          <p:nvPr>
            <p:ph sz="half" idx="1"/>
          </p:nvPr>
        </p:nvSpPr>
        <p:spPr/>
        <p:txBody>
          <a:bodyPr/>
          <a:lstStyle/>
          <a:p>
            <a:r>
              <a:t>21 May</a:t>
            </a:r>
          </a:p>
          <a:p>
            <a:endParaRPr/>
          </a:p>
          <a:p>
            <a:r>
              <a:t>AWS X-Ray now supports VPC endpoints. With this feature, you can communicate with X-Ray service from your Virtual Private Cloud (VPC) without exposing that traffic to the public internet. VPC endpoints are powered by AWS PrivateLink, an AWS technology that enables private communication between your VPC and AWS services, like X-Ray, on the private AWS network.</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Introducing Amazon FinSpace, a fully managed service to store, prepare, and analyze data for the financial services industry (FSI)</a:t>
            </a:r>
          </a:p>
        </p:txBody>
      </p:sp>
      <p:sp>
        <p:nvSpPr>
          <p:cNvPr id="3" name="Content Placeholder 2"/>
          <p:cNvSpPr>
            <a:spLocks noGrp="1"/>
          </p:cNvSpPr>
          <p:nvPr>
            <p:ph sz="half" idx="1"/>
          </p:nvPr>
        </p:nvSpPr>
        <p:spPr/>
        <p:txBody>
          <a:bodyPr/>
          <a:lstStyle/>
          <a:p>
            <a:r>
              <a:t>03 May</a:t>
            </a:r>
          </a:p>
          <a:p>
            <a:endParaRPr/>
          </a:p>
          <a:p>
            <a:r>
              <a:t>Amazon FinSpace is a new fully managed data management and analytics service that makes it easy to store, catalog, and prepare financial industry data at scale, reducing the time it takes for financial services industry (FSI) customers to find and access all types of financial data for analysis from months to minutes.  </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Review last accessed information to identify unused EC2, IAM, and Lambda permissions and tighten access for your IAM roles</a:t>
            </a:r>
          </a:p>
        </p:txBody>
      </p:sp>
      <p:sp>
        <p:nvSpPr>
          <p:cNvPr id="3" name="Content Placeholder 2"/>
          <p:cNvSpPr>
            <a:spLocks noGrp="1"/>
          </p:cNvSpPr>
          <p:nvPr>
            <p:ph sz="half" idx="1"/>
          </p:nvPr>
        </p:nvSpPr>
        <p:spPr/>
        <p:txBody>
          <a:bodyPr/>
          <a:lstStyle/>
          <a:p>
            <a:r>
              <a:t>19 Apr</a:t>
            </a:r>
          </a:p>
          <a:p>
            <a:endParaRPr/>
          </a:p>
          <a:p>
            <a:r>
              <a:t>IAM helps customers with capabilities to analyze access and achieve least privilege. When you are working on new permissions for your teams, you can use IAM Access Analyzer policy generation to create a policy based on your access activity and set fine-grained permissions. To analyze and refine existing permissions, you can use last accessed information to identify unused actions in your IAM policies and reduce access. When we launched action last accessed in 2020, we started with S3 management actions to help you restrict access to your critical business data. Now, IAM is increasing visibility into access history by extending last accessed information to Amazon EC2, AWS IAM, and AWS Lambda management actions. This makes it easier for you to analyze access and reduce EC2, IAM, and Lambda permissions by providing the latest timestamp when an IAM user or role accessed an action. Using last accessed information, you can identify unused actions in your IAM policies and tighten permissions confidently.  </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hlinkClick r:id="rId2"/>
              </a:rPr>
              <a:t>Amazon Kinesis Data Streams for Amazon DynamoDB now supports AWS CloudFormation</a:t>
            </a:r>
          </a:p>
        </p:txBody>
      </p:sp>
      <p:sp>
        <p:nvSpPr>
          <p:cNvPr id="3" name="Content Placeholder 2"/>
          <p:cNvSpPr>
            <a:spLocks noGrp="1"/>
          </p:cNvSpPr>
          <p:nvPr>
            <p:ph sz="half" idx="1"/>
          </p:nvPr>
        </p:nvSpPr>
        <p:spPr/>
        <p:txBody>
          <a:bodyPr/>
          <a:lstStyle/>
          <a:p>
            <a:r>
              <a:rPr dirty="0"/>
              <a:t>12 Apr</a:t>
            </a:r>
          </a:p>
          <a:p>
            <a:endParaRPr dirty="0"/>
          </a:p>
          <a:p>
            <a:r>
              <a:rPr dirty="0"/>
              <a:t>Amazon Kinesis Data Streams for Amazon DynamoDB  now supports AWS CloudFormation, which means you can enable streaming to an Amazon Kinesis data stream on your DynamoDB tables with CloudFormation templates. By streaming your DynamoDB data changes to a Kinesis data stream, you can build advanced streaming applications with Amazon Kinesis services. For example, Amazon Kinesis Data Analytics reduces the complexity of building, managing, and integrating with Apache </a:t>
            </a:r>
            <a:r>
              <a:rPr dirty="0" err="1"/>
              <a:t>Flink</a:t>
            </a:r>
            <a:r>
              <a:rPr dirty="0"/>
              <a:t>, and provides built-in functions to filter, aggregate, and transform streaming data for advanced analytics. You also can use Amazon Kinesis Data Firehose to take advantage of managed streaming delivery of DynamoDB table data to other AWS services such as Amazon Elasticsearch Service, Amazon Redshift, and Amazon S3. </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Announcing Amazon CloudWatch Metric Streams</a:t>
            </a:r>
          </a:p>
        </p:txBody>
      </p:sp>
      <p:sp>
        <p:nvSpPr>
          <p:cNvPr id="3" name="Content Placeholder 2"/>
          <p:cNvSpPr>
            <a:spLocks noGrp="1"/>
          </p:cNvSpPr>
          <p:nvPr>
            <p:ph sz="half" idx="1"/>
          </p:nvPr>
        </p:nvSpPr>
        <p:spPr/>
        <p:txBody>
          <a:bodyPr/>
          <a:lstStyle/>
          <a:p>
            <a:r>
              <a:t>31 Mar</a:t>
            </a:r>
          </a:p>
          <a:p>
            <a:endParaRPr/>
          </a:p>
          <a:p>
            <a:r>
              <a:t>Announcing Amazon CloudWatch Metric Streams - a new feature that enables customers to create a continuous, near real-time stream of metrics to a destination of their choice.</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DocumentDB (with MongoDB compatibility) Now Supports r5.8xlarge and r5.16xlarge Instances</a:t>
            </a:r>
          </a:p>
        </p:txBody>
      </p:sp>
      <p:sp>
        <p:nvSpPr>
          <p:cNvPr id="3" name="Content Placeholder 2"/>
          <p:cNvSpPr>
            <a:spLocks noGrp="1"/>
          </p:cNvSpPr>
          <p:nvPr>
            <p:ph sz="half" idx="1"/>
          </p:nvPr>
        </p:nvSpPr>
        <p:spPr/>
        <p:txBody>
          <a:bodyPr/>
          <a:lstStyle/>
          <a:p>
            <a:r>
              <a:t>24 Jun</a:t>
            </a:r>
          </a:p>
          <a:p>
            <a:endParaRPr/>
          </a:p>
          <a:p>
            <a:r>
              <a:t>Amazon DocumentDB (with MongoDB compatibility) is a fast, scalable, highly available, and fully managed document database service that supports MongoDB workloads. Amazon DocumentDB makes it easy and intuitive to store, query, and index JSON data.</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SAM launches machine learning inference templates for AWS Lambda</a:t>
            </a:r>
          </a:p>
        </p:txBody>
      </p:sp>
      <p:sp>
        <p:nvSpPr>
          <p:cNvPr id="3" name="Content Placeholder 2"/>
          <p:cNvSpPr>
            <a:spLocks noGrp="1"/>
          </p:cNvSpPr>
          <p:nvPr>
            <p:ph sz="half" idx="1"/>
          </p:nvPr>
        </p:nvSpPr>
        <p:spPr/>
        <p:txBody>
          <a:bodyPr/>
          <a:lstStyle/>
          <a:p>
            <a:r>
              <a:t>24 Jun</a:t>
            </a:r>
          </a:p>
          <a:p>
            <a:endParaRPr/>
          </a:p>
          <a:p>
            <a:r>
              <a:t>AWS Serverless Application Model (AWS SAM) framework launches four new templates for building machine learning inference-based applications on AWS Lambda. Now, customers can leverage these templates as a starting point to build, test, and deploy their container-based Serverless ML applications.</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Simplify building of serverless applications with AWS-supported container images for continuous integration systems</a:t>
            </a:r>
          </a:p>
        </p:txBody>
      </p:sp>
      <p:sp>
        <p:nvSpPr>
          <p:cNvPr id="3" name="Content Placeholder 2"/>
          <p:cNvSpPr>
            <a:spLocks noGrp="1"/>
          </p:cNvSpPr>
          <p:nvPr>
            <p:ph sz="half" idx="1"/>
          </p:nvPr>
        </p:nvSpPr>
        <p:spPr/>
        <p:txBody>
          <a:bodyPr/>
          <a:lstStyle/>
          <a:p>
            <a:r>
              <a:t>24 Jun</a:t>
            </a:r>
          </a:p>
          <a:p>
            <a:endParaRPr/>
          </a:p>
          <a:p>
            <a:r>
              <a:t>You can now build serverless applications with new AWS-supported container images that simplify continuous integration tasks. Container images work natively with continuous integration systems such as CloudBees CI/Jenkins, GitLab CI/CD, GitHub Actions, CircleCI, and AWS CodeBuild. These make it easier to build and package serverless applications using Serverless Application Model CLI (AWS SAM CLI) – a developer tool that makes it easier to build, locally test, package, and deploy serverless applications.</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CodeGuru Reviewer announces CI/CD Integration with GitHub Actions and new security detectors for Java</a:t>
            </a:r>
          </a:p>
        </p:txBody>
      </p:sp>
      <p:sp>
        <p:nvSpPr>
          <p:cNvPr id="3" name="Content Placeholder 2"/>
          <p:cNvSpPr>
            <a:spLocks noGrp="1"/>
          </p:cNvSpPr>
          <p:nvPr>
            <p:ph sz="half" idx="1"/>
          </p:nvPr>
        </p:nvSpPr>
        <p:spPr/>
        <p:txBody>
          <a:bodyPr/>
          <a:lstStyle/>
          <a:p>
            <a:r>
              <a:t>24 Jun</a:t>
            </a:r>
          </a:p>
          <a:p>
            <a:endParaRPr/>
          </a:p>
          <a:p>
            <a:r>
              <a:t>Amazon CodeGuru Reviewer is a developer tool that leverages automated reasoning and machine learning to detect potential defects that are difficult to find in your code and offers suggestions for improvements. Today, we are announcing a new CI/CD experience for CodeGuru Reviewer that allows you to trigger code quality and security analysis as a step within your CI workflow using GitHub Actions. Additionally, we are also introducing 20+ new detectors for CodeGuru Reviewer to help identify security vulnerabilities and check for security best practices in your Java code.  </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Configure GitHub Actions workflows with a new GitHub Action for building serverless applications</a:t>
            </a:r>
          </a:p>
        </p:txBody>
      </p:sp>
      <p:sp>
        <p:nvSpPr>
          <p:cNvPr id="3" name="Content Placeholder 2"/>
          <p:cNvSpPr>
            <a:spLocks noGrp="1"/>
          </p:cNvSpPr>
          <p:nvPr>
            <p:ph sz="half" idx="1"/>
          </p:nvPr>
        </p:nvSpPr>
        <p:spPr/>
        <p:txBody>
          <a:bodyPr/>
          <a:lstStyle/>
          <a:p>
            <a:r>
              <a:t>24 Jun</a:t>
            </a:r>
          </a:p>
          <a:p>
            <a:endParaRPr/>
          </a:p>
          <a:p>
            <a:r>
              <a:t>You can now simplify the process of configuring GitHub Actions workflows for building serverless applications with a single line. The new AWS-supported setup-sam  GitHub Action makes it easier to keep consistency across GitHub Actions runners, stay up-to-date with AWS Serverless Application Model CLI (AWS SAM CLI) tooling, and select its versions. The AWS SAM CLI is a developer tool that makes it easier to build, locally test, package, and deploy serverless applications. GitHub Actions is a service that helps automate tasks within the software development lifecycle. GitHub Actions runner is the application that runs a job from a GitHub Actions workflow.</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Keyspaces (for Apache Cassandra) now helps you monitor and improve application read/write performance and throughput by using new Amazon CloudWatch metrics</a:t>
            </a:r>
          </a:p>
        </p:txBody>
      </p:sp>
      <p:sp>
        <p:nvSpPr>
          <p:cNvPr id="3" name="Content Placeholder 2"/>
          <p:cNvSpPr>
            <a:spLocks noGrp="1"/>
          </p:cNvSpPr>
          <p:nvPr>
            <p:ph sz="half" idx="1"/>
          </p:nvPr>
        </p:nvSpPr>
        <p:spPr/>
        <p:txBody>
          <a:bodyPr/>
          <a:lstStyle/>
          <a:p>
            <a:r>
              <a:t>21 Jun</a:t>
            </a:r>
          </a:p>
          <a:p>
            <a:endParaRPr/>
          </a:p>
          <a:p>
            <a:r>
              <a:t>Amazon Keyspaces (for Apache Cassandra), a scalable, highly available, and fully managed Apache Cassandra–compatible database service, now helps you monitor and improve application read/write performance and throughput by using new Amazon CloudWatch metrics.</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Announcing Workflow Studio, a new low-code visual workflow designer for AWS Step Functions</a:t>
            </a:r>
          </a:p>
        </p:txBody>
      </p:sp>
      <p:sp>
        <p:nvSpPr>
          <p:cNvPr id="3" name="Content Placeholder 2"/>
          <p:cNvSpPr>
            <a:spLocks noGrp="1"/>
          </p:cNvSpPr>
          <p:nvPr>
            <p:ph sz="half" idx="1"/>
          </p:nvPr>
        </p:nvSpPr>
        <p:spPr/>
        <p:txBody>
          <a:bodyPr/>
          <a:lstStyle/>
          <a:p>
            <a:r>
              <a:t>17 Jun</a:t>
            </a:r>
          </a:p>
          <a:p>
            <a:endParaRPr/>
          </a:p>
          <a:p>
            <a:r>
              <a:t>Workflow Studio is a new visual workflow designer for AWS Step Functions that makes it faster and easier to build workflows using a drag and drop interface in the AWS console.</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Aurora PostgreSQL Supports the pg_proctab Extension to access PostgreSQL system stats</a:t>
            </a:r>
          </a:p>
        </p:txBody>
      </p:sp>
      <p:sp>
        <p:nvSpPr>
          <p:cNvPr id="3" name="Content Placeholder 2"/>
          <p:cNvSpPr>
            <a:spLocks noGrp="1"/>
          </p:cNvSpPr>
          <p:nvPr>
            <p:ph sz="half" idx="1"/>
          </p:nvPr>
        </p:nvSpPr>
        <p:spPr/>
        <p:txBody>
          <a:bodyPr/>
          <a:lstStyle/>
          <a:p>
            <a:r>
              <a:t>17 Jun</a:t>
            </a:r>
          </a:p>
          <a:p>
            <a:endParaRPr/>
          </a:p>
          <a:p>
            <a:r>
              <a:t>Amazon Aurora PostgreSQL-Compatible Edition adds support for the pg_proctab extension. pg_proctab is a collection of stored functions that can access the operating systems process table so that system statistics can be queried through the database. pg_proctab functions make it easier to collect data on your PostgreSQL database including up-to-date information on processor and I/O statistics on SQL queries which makes troubleshooting easier. </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Aurora PostgreSQL supports pg_cron extension for scheduling database jobs</a:t>
            </a:r>
          </a:p>
        </p:txBody>
      </p:sp>
      <p:sp>
        <p:nvSpPr>
          <p:cNvPr id="3" name="Content Placeholder 2"/>
          <p:cNvSpPr>
            <a:spLocks noGrp="1"/>
          </p:cNvSpPr>
          <p:nvPr>
            <p:ph sz="half" idx="1"/>
          </p:nvPr>
        </p:nvSpPr>
        <p:spPr/>
        <p:txBody>
          <a:bodyPr/>
          <a:lstStyle/>
          <a:p>
            <a:r>
              <a:t>17 Jun</a:t>
            </a:r>
          </a:p>
          <a:p>
            <a:endParaRPr/>
          </a:p>
          <a:p>
            <a:r>
              <a:t>Amazon Aurora PostgreSQL-Compatible Edition adds support for the pg_cron extension. pg_cron allows you to use cron syntax to schedule PostgreSQL commands directly within your database. You can use pg_cron to schedule tasks such as periodically rolling up data for analytic reports, refreshing materialized views, and scheduling vacuum jobs to reclaim storage. pg_cron includes an AWS open source contribution  that adds an audit table so that you can query the outcome of each scheduled job.  </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Copilot launches v1.8 with improved support for load balanced web services and VPCs</a:t>
            </a:r>
          </a:p>
        </p:txBody>
      </p:sp>
      <p:sp>
        <p:nvSpPr>
          <p:cNvPr id="3" name="Content Placeholder 2"/>
          <p:cNvSpPr>
            <a:spLocks noGrp="1"/>
          </p:cNvSpPr>
          <p:nvPr>
            <p:ph sz="half" idx="1"/>
          </p:nvPr>
        </p:nvSpPr>
        <p:spPr/>
        <p:txBody>
          <a:bodyPr/>
          <a:lstStyle/>
          <a:p>
            <a:r>
              <a:t>16 Jun</a:t>
            </a:r>
          </a:p>
          <a:p>
            <a:endParaRPr/>
          </a:p>
          <a:p>
            <a:r>
              <a:t>Today, AWS Copilot announced the release of version 1.8. With this release, AWS Copilot now allows you to configure a friendly DNS name for your load balanced web services deployed with Amazon Elastic Container Service (Amazon ECS) Customers can now provide a friendly DNS name, such as api.example.com, directly in the manifest file and Copilot will provision and manage the necessary infrastructure to associate the domain name with the application load balancer.</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Backup now supports crash-consistent backups of Amazon EBS volumes attached to an Amazon EC2 instance</a:t>
            </a:r>
          </a:p>
        </p:txBody>
      </p:sp>
      <p:sp>
        <p:nvSpPr>
          <p:cNvPr id="3" name="Content Placeholder 2"/>
          <p:cNvSpPr>
            <a:spLocks noGrp="1"/>
          </p:cNvSpPr>
          <p:nvPr>
            <p:ph sz="half" idx="1"/>
          </p:nvPr>
        </p:nvSpPr>
        <p:spPr/>
        <p:txBody>
          <a:bodyPr/>
          <a:lstStyle/>
          <a:p>
            <a:r>
              <a:t>14 Jun</a:t>
            </a:r>
          </a:p>
          <a:p>
            <a:endParaRPr/>
          </a:p>
          <a:p>
            <a:r>
              <a:t>AWS Backup, now, by default, creates crash-consistent backups of Amazon EBS volumes that are attached to an Amazon EC2 instance. Customers no longer have to stop their instance, or coordinate between multiple Amazon EBS volumes attached to the same Amazon EC2 instance to ensure crash-consistency of their application state.</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EC2 now allows you to create crash-consistent AMIs from instances with multiple EBS volumes without rebooting instances</a:t>
            </a:r>
          </a:p>
        </p:txBody>
      </p:sp>
      <p:sp>
        <p:nvSpPr>
          <p:cNvPr id="3" name="Content Placeholder 2"/>
          <p:cNvSpPr>
            <a:spLocks noGrp="1"/>
          </p:cNvSpPr>
          <p:nvPr>
            <p:ph sz="half" idx="1"/>
          </p:nvPr>
        </p:nvSpPr>
        <p:spPr/>
        <p:txBody>
          <a:bodyPr/>
          <a:lstStyle/>
          <a:p>
            <a:r>
              <a:t>14 Jun</a:t>
            </a:r>
          </a:p>
          <a:p>
            <a:endParaRPr/>
          </a:p>
          <a:p>
            <a:r>
              <a:t>You will now be able to create crash-consistent Amazon Machine Images (AMIs)  of your Amazon EBS-backed multi-volume instance without requiring a reboot. The AMI created will retain data from all completed I/O operations of each volume attached to the instance. This ensures that you can launch an instance from the AMI and return to the exact state prior to creation of the image.</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App Mesh introduces enhanced ingress traffic management capabilities</a:t>
            </a:r>
          </a:p>
        </p:txBody>
      </p:sp>
      <p:sp>
        <p:nvSpPr>
          <p:cNvPr id="3" name="Content Placeholder 2"/>
          <p:cNvSpPr>
            <a:spLocks noGrp="1"/>
          </p:cNvSpPr>
          <p:nvPr>
            <p:ph sz="half" idx="1"/>
          </p:nvPr>
        </p:nvSpPr>
        <p:spPr/>
        <p:txBody>
          <a:bodyPr/>
          <a:lstStyle/>
          <a:p>
            <a:r>
              <a:t>14 Jun</a:t>
            </a:r>
          </a:p>
          <a:p>
            <a:endParaRPr/>
          </a:p>
          <a:p>
            <a:r>
              <a:t>The AWS App Mesh introduces enhanced ingress traffic management capabilities. Now you can control how App Mesh rewrites external requests, so that they reach the correct destination within your mesh. You also have greater flexibility controlling how the requests are matched to the destinations in the Gateway and Virtual Router Routes. AWS App Mesh is a service mesh that provides application-level networking to standardize how your services communicate, giving you end-to-end visibility and options to tune for high-availability of your applications.</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Removes NAT Gateway’s Dependence on Internet Gateway for Private Communications</a:t>
            </a:r>
          </a:p>
        </p:txBody>
      </p:sp>
      <p:sp>
        <p:nvSpPr>
          <p:cNvPr id="3" name="Content Placeholder 2"/>
          <p:cNvSpPr>
            <a:spLocks noGrp="1"/>
          </p:cNvSpPr>
          <p:nvPr>
            <p:ph sz="half" idx="1"/>
          </p:nvPr>
        </p:nvSpPr>
        <p:spPr/>
        <p:txBody>
          <a:bodyPr/>
          <a:lstStyle/>
          <a:p>
            <a:r>
              <a:t>10 Jun</a:t>
            </a:r>
          </a:p>
          <a:p>
            <a:endParaRPr/>
          </a:p>
          <a:p>
            <a:r>
              <a:t>You can now launch NAT Gateways in your Amazon Virtual Private Cloud (VPC) without associating an internet gateway to your VPC. Internet Gateway is required to provide internet access to the NAT Gateway. However, some customers use their NAT Gateways with Transit Gateway or virtual private gateway to communicate privately with other VPCs or on-premises environments and thus, do not need an internet gateway attached to their VPCs.</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Announcing R5d instances and lookup cache for Amazon Neptune</a:t>
            </a:r>
          </a:p>
        </p:txBody>
      </p:sp>
      <p:sp>
        <p:nvSpPr>
          <p:cNvPr id="3" name="Content Placeholder 2"/>
          <p:cNvSpPr>
            <a:spLocks noGrp="1"/>
          </p:cNvSpPr>
          <p:nvPr>
            <p:ph sz="half" idx="1"/>
          </p:nvPr>
        </p:nvSpPr>
        <p:spPr/>
        <p:txBody>
          <a:bodyPr/>
          <a:lstStyle/>
          <a:p>
            <a:r>
              <a:t>04 Jun</a:t>
            </a:r>
          </a:p>
          <a:p>
            <a:endParaRPr/>
          </a:p>
          <a:p>
            <a:r>
              <a:t>Starting today, you can launch your RDF/SPARQL or Apache TinkerPop graph application using R5d instances on Amazon Neptune. The R5d instance type is based on the Amazon EC2 Nitro System and includes local NVMe-based SSD block level storage. Neptune R5d instances introduce a lookup cache that leverages the low-latency NVMe SSD storage to improve read query performance and reduce data retrievals from storage.</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Identify and Copy existing objects to use S3 Bucket Keys, reducing the costs of Server-Side Encryption with AWS Key Management Service (SSE-KMS)</a:t>
            </a:r>
          </a:p>
        </p:txBody>
      </p:sp>
      <p:sp>
        <p:nvSpPr>
          <p:cNvPr id="3" name="Content Placeholder 2"/>
          <p:cNvSpPr>
            <a:spLocks noGrp="1"/>
          </p:cNvSpPr>
          <p:nvPr>
            <p:ph sz="half" idx="1"/>
          </p:nvPr>
        </p:nvSpPr>
        <p:spPr/>
        <p:txBody>
          <a:bodyPr/>
          <a:lstStyle/>
          <a:p>
            <a:r>
              <a:t>03 Jun</a:t>
            </a:r>
          </a:p>
          <a:p>
            <a:endParaRPr/>
          </a:p>
          <a:p>
            <a:r>
              <a:t>S3 Inventory and S3 Batch Operations add support to identify and copy objects to use S3 Bucket Keys , reducing the costs of Server-Side Encryption (SSE) with AWS Key Management Service (KMS). S3 Bucket Keys reduce the request costs of SSE-KMS by decreasing the request traffic from S3 to KMS. You can configure your bucket to use an S3 Bucket Key for AWS KMS-based encryption on new objects. With this update, you can use S3 Inventory and S3 Batch Operations to configure S3 Bucket Keys while creating encrypted copies of millions or billions of existing objects, reducing the cost of server-side encryption requests with AWS KMS.</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EKS pods running on AWS Fargate now support custom security groups</a:t>
            </a:r>
          </a:p>
        </p:txBody>
      </p:sp>
      <p:sp>
        <p:nvSpPr>
          <p:cNvPr id="3" name="Content Placeholder 2"/>
          <p:cNvSpPr>
            <a:spLocks noGrp="1"/>
          </p:cNvSpPr>
          <p:nvPr>
            <p:ph sz="half" idx="1"/>
          </p:nvPr>
        </p:nvSpPr>
        <p:spPr/>
        <p:txBody>
          <a:bodyPr/>
          <a:lstStyle/>
          <a:p>
            <a:r>
              <a:t>02 Jun</a:t>
            </a:r>
          </a:p>
          <a:p>
            <a:endParaRPr/>
          </a:p>
          <a:p>
            <a:r>
              <a:t>Amazon Elastic Kubernetes Service (EKS) now allows you to specify custom Amazon Elastic Compute Cloud (Amazon EC2) security groups for pods running on AWS Fargate, enabling fine grained control over incoming and outgoing network traffic.</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Location Service is now generally available</a:t>
            </a:r>
          </a:p>
        </p:txBody>
      </p:sp>
      <p:sp>
        <p:nvSpPr>
          <p:cNvPr id="3" name="Content Placeholder 2"/>
          <p:cNvSpPr>
            <a:spLocks noGrp="1"/>
          </p:cNvSpPr>
          <p:nvPr>
            <p:ph sz="half" idx="1"/>
          </p:nvPr>
        </p:nvSpPr>
        <p:spPr/>
        <p:txBody>
          <a:bodyPr/>
          <a:lstStyle/>
          <a:p>
            <a:r>
              <a:t>01 Jun</a:t>
            </a:r>
          </a:p>
          <a:p>
            <a:endParaRPr/>
          </a:p>
          <a:p>
            <a:r>
              <a:t>Today, AWS announces Amazon Location Service, a fully managed service that helps developers easily and securely add maps, points of interest, geocoding, routing, tracking, and geofencing to their applications without compromising on data security, user privacy, or cost. With Amazon Location Service, you retain control of your location data, protecting your privacy and reducing enterprise security risks. Amazon Location Service provides a consistent API across high-quality LBS data providers (Esri and HERE), all managed through one AWS console.</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CloudWatch Logs service limits can now be managed with AWS Service Quotas</a:t>
            </a:r>
          </a:p>
        </p:txBody>
      </p:sp>
      <p:sp>
        <p:nvSpPr>
          <p:cNvPr id="3" name="Content Placeholder 2"/>
          <p:cNvSpPr>
            <a:spLocks noGrp="1"/>
          </p:cNvSpPr>
          <p:nvPr>
            <p:ph sz="half" idx="1"/>
          </p:nvPr>
        </p:nvSpPr>
        <p:spPr/>
        <p:txBody>
          <a:bodyPr/>
          <a:lstStyle/>
          <a:p>
            <a:r>
              <a:t>24 May</a:t>
            </a:r>
          </a:p>
          <a:p>
            <a:endParaRPr/>
          </a:p>
          <a:p>
            <a:r>
              <a:t>You can now view and manage all Amazon CloudWatch Logs transactional API service quotas with Service Quotas. Service Quotas consolidates the default values and your account specific quotas for CloudWatch Logs in one single view with the Service Quotas console. With the CloudWatch Logs and Service Quotas integration you can now easily view and adjust your quotas.</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CloudWatch Application Insights now supports container monitoring</a:t>
            </a:r>
          </a:p>
        </p:txBody>
      </p:sp>
      <p:sp>
        <p:nvSpPr>
          <p:cNvPr id="3" name="Content Placeholder 2"/>
          <p:cNvSpPr>
            <a:spLocks noGrp="1"/>
          </p:cNvSpPr>
          <p:nvPr>
            <p:ph sz="half" idx="1"/>
          </p:nvPr>
        </p:nvSpPr>
        <p:spPr/>
        <p:txBody>
          <a:bodyPr/>
          <a:lstStyle/>
          <a:p>
            <a:r>
              <a:t>20 May</a:t>
            </a:r>
          </a:p>
          <a:p>
            <a:endParaRPr/>
          </a:p>
          <a:p>
            <a:r>
              <a:t>Now you can easily setup monitoring, alarms and dashboards for your applications deployed in Amazon Elastic Container Service (ECS), Amazon Elastic Kubernetes Service (EKS) and Kubernetes on EC2 containers running on AWS with CloudWatch Application Insights. CloudWatch Application Insights is a capability that helps customers monitor and troubleshoot their enterprise applications running on AWS resources. The new feature adds monitoring tier options for capturing the metrics, telemetry and logs for monitoring the health and wellness of applications running in containers on AWS.</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EventBridge now supports sharing events between event buses in the same account and Region</a:t>
            </a:r>
          </a:p>
        </p:txBody>
      </p:sp>
      <p:sp>
        <p:nvSpPr>
          <p:cNvPr id="3" name="Content Placeholder 2"/>
          <p:cNvSpPr>
            <a:spLocks noGrp="1"/>
          </p:cNvSpPr>
          <p:nvPr>
            <p:ph sz="half" idx="1"/>
          </p:nvPr>
        </p:nvSpPr>
        <p:spPr/>
        <p:txBody>
          <a:bodyPr/>
          <a:lstStyle/>
          <a:p>
            <a:r>
              <a:t>19 May</a:t>
            </a:r>
          </a:p>
          <a:p>
            <a:endParaRPr/>
          </a:p>
          <a:p>
            <a:r>
              <a:t>You can now configure EventBridge to send and receive events between event buses in the same AWS account and Region , to aggregate all your events from different event buses into a single event bus. You can also fan out events from a single event bus to other event buses, making it easier to decouple applications and produce more extensible, maintainable event-driven architectures within your organization.</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Introducing AWS Copilot v1.7 with support for AWS App Runner and more</a:t>
            </a:r>
          </a:p>
        </p:txBody>
      </p:sp>
      <p:sp>
        <p:nvSpPr>
          <p:cNvPr id="3" name="Content Placeholder 2"/>
          <p:cNvSpPr>
            <a:spLocks noGrp="1"/>
          </p:cNvSpPr>
          <p:nvPr>
            <p:ph sz="half" idx="1"/>
          </p:nvPr>
        </p:nvSpPr>
        <p:spPr/>
        <p:txBody>
          <a:bodyPr/>
          <a:lstStyle/>
          <a:p>
            <a:r>
              <a:t>19 May</a:t>
            </a:r>
          </a:p>
          <a:p>
            <a:endParaRPr/>
          </a:p>
          <a:p>
            <a:r>
              <a:t>Today, AWS Copilot announced the general availability of version 1.7, which enables you to easily deploy request-driven web services with AWS App Runner in addition to Amazon Elastic Container Service (Amazon ECS). AWS App Runner is a fully managed container application service that makes it easy for customers without any prior containers or infrastructure experience to build, deploy, and run containerized web applications and APIs in just a few clicks.</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CloudFormation Guard 2.0 is now generally available</a:t>
            </a:r>
          </a:p>
        </p:txBody>
      </p:sp>
      <p:sp>
        <p:nvSpPr>
          <p:cNvPr id="3" name="Content Placeholder 2"/>
          <p:cNvSpPr>
            <a:spLocks noGrp="1"/>
          </p:cNvSpPr>
          <p:nvPr>
            <p:ph sz="half" idx="1"/>
          </p:nvPr>
        </p:nvSpPr>
        <p:spPr/>
        <p:txBody>
          <a:bodyPr/>
          <a:lstStyle/>
          <a:p>
            <a:r>
              <a:t>17 May</a:t>
            </a:r>
          </a:p>
          <a:p>
            <a:endParaRPr/>
          </a:p>
          <a:p>
            <a:r>
              <a:t>AWS CloudFormation announces the general availability of AWS CloudFormation Guard 2.0. This release makes Guard a general-purpose policy-as-code evaluation tool. With Guard 2.0, developers can write policy rules for any JSON- and YAML-formatted file such as Kubernetes configurations and Terraform JSON configurations, in addition to already supported CloudFormation templates.</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hlinkClick r:id="rId2"/>
              </a:rPr>
              <a:t>Amazon DynamoDB global tables now support AWS CloudFormation</a:t>
            </a:r>
          </a:p>
        </p:txBody>
      </p:sp>
      <p:sp>
        <p:nvSpPr>
          <p:cNvPr id="3" name="Content Placeholder 2"/>
          <p:cNvSpPr>
            <a:spLocks noGrp="1"/>
          </p:cNvSpPr>
          <p:nvPr>
            <p:ph sz="half" idx="1"/>
          </p:nvPr>
        </p:nvSpPr>
        <p:spPr/>
        <p:txBody>
          <a:bodyPr/>
          <a:lstStyle/>
          <a:p>
            <a:r>
              <a:rPr dirty="0"/>
              <a:t>17 May</a:t>
            </a:r>
          </a:p>
          <a:p>
            <a:endParaRPr dirty="0"/>
          </a:p>
          <a:p>
            <a:r>
              <a:rPr dirty="0"/>
              <a:t>Amazon DynamoDB global tables now support AWS CloudFormation, which means you can create global tables and manage their settings with CloudFormation templates. Global tables build upon the global footprint of DynamoDB to deliver a fully managed, multi-Region, multi-active database. You can use global tables to replicate table updates automatically across the AWS Regions you select, and you can set up global tables at any time with just a few clicks in the AWS Management Console or by using the AWS SDK.</a:t>
            </a:r>
          </a:p>
          <a:p>
            <a:endParaRPr dirty="0"/>
          </a:p>
          <a:p>
            <a:r>
              <a:rPr dirty="0"/>
              <a:t>See Amazon DynamoDB pricing for pricing details and a full list of supported AWS Regions. For more information about global tables, see Global Tables: Multi-Region Replication with DynamoDB , and see What Is AWS CloudFormation?  for more information about working with CloudFormation.</a:t>
            </a:r>
          </a:p>
          <a:p>
            <a:r>
              <a:rPr dirty="0"/>
              <a:t> </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announces a price reduction for Amazon Managed Service for Prometheus (AMP)</a:t>
            </a:r>
          </a:p>
        </p:txBody>
      </p:sp>
      <p:sp>
        <p:nvSpPr>
          <p:cNvPr id="3" name="Content Placeholder 2"/>
          <p:cNvSpPr>
            <a:spLocks noGrp="1"/>
          </p:cNvSpPr>
          <p:nvPr>
            <p:ph sz="half" idx="1"/>
          </p:nvPr>
        </p:nvSpPr>
        <p:spPr/>
        <p:txBody>
          <a:bodyPr/>
          <a:lstStyle/>
          <a:p>
            <a:r>
              <a:t>04 May</a:t>
            </a:r>
          </a:p>
          <a:p>
            <a:endParaRPr/>
          </a:p>
          <a:p>
            <a:r>
              <a:t>Today, we are reducing the price of metric samples ingested by up to 84% for Amazon Managed Service for Prometheus (AMP). Amazon Managed Service for Prometheus (AMP) is a fully managed Prometheus-compatible monitoring service that makes it easy to monitor containerized applications at scale. With AMP, you can use the open source Prometheus Query Language (PromQL) to monitor the performance of containerized workloads on AWS or on-premises. AMP automatically scales the ingestion, storage, and querying of operational metrics (from, for example, your Amazon Kubernetes Service (Amazon EKS) clusters) as workloads grow or shrink, and is integrated with AWS security services such as AWS Identity and Access Management (IAM), AWS PrivateLink, and AWS CloudTrail to enable fast and secure access to data.</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Now visualize and report patch compliance using AWS Systems Manager Patch Manager</a:t>
            </a:r>
          </a:p>
        </p:txBody>
      </p:sp>
      <p:sp>
        <p:nvSpPr>
          <p:cNvPr id="3" name="Content Placeholder 2"/>
          <p:cNvSpPr>
            <a:spLocks noGrp="1"/>
          </p:cNvSpPr>
          <p:nvPr>
            <p:ph sz="half" idx="1"/>
          </p:nvPr>
        </p:nvSpPr>
        <p:spPr/>
        <p:txBody>
          <a:bodyPr/>
          <a:lstStyle/>
          <a:p>
            <a:r>
              <a:t>20 Apr</a:t>
            </a:r>
          </a:p>
          <a:p>
            <a:endParaRPr/>
          </a:p>
          <a:p>
            <a:r>
              <a:t>IT admins and security teams can now view, analyze, and report on the patch compliance of their environment from a single dashboard using Patch Manager. The Patch Manager dashboard provides you with enhanced reporting capabilities and integrates key patching information such as non-compliant instances and instances never scanned for patches into a single pane of glass. It further enables you to troubleshoot issues easily by providing a drilled down view of patch compliance, enabling you to monitor missing patches and analyze execution logs. Using this feature, you can generate patch compliance reports on demand or on a schedule to simplify analysis and sharing of patch compliance information.  </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Less Relevant</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Rekognition Custom Labels adds support for KMS encryption of custom model training data</a:t>
            </a:r>
          </a:p>
        </p:txBody>
      </p:sp>
      <p:sp>
        <p:nvSpPr>
          <p:cNvPr id="3" name="Content Placeholder 2"/>
          <p:cNvSpPr>
            <a:spLocks noGrp="1"/>
          </p:cNvSpPr>
          <p:nvPr>
            <p:ph sz="half" idx="1"/>
          </p:nvPr>
        </p:nvSpPr>
        <p:spPr/>
        <p:txBody>
          <a:bodyPr/>
          <a:lstStyle/>
          <a:p>
            <a:r>
              <a:t>25 Jun</a:t>
            </a:r>
          </a:p>
          <a:p>
            <a:endParaRPr/>
          </a:p>
          <a:p>
            <a:r>
              <a:t>Amazon Rekognition Custom Labels supports the ability to use an AWS Key Management Service (KMS) key, to encrypt the image data delivered to the Rekognition Custom Labels service to train your custom machine learning model. By default, Amazon Rekognition Custom Labels encrypts the image data at rest using server-side encryption. With this release, if you provide Amazon Rekognition Custom Labels with your KMS key or alias ARN, Amazon Rekognition Custom Labels will use that KMS key instead to encrypt your training and test images.</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Connect launches API to configure quick connects programmatically</a:t>
            </a:r>
          </a:p>
        </p:txBody>
      </p:sp>
      <p:sp>
        <p:nvSpPr>
          <p:cNvPr id="3" name="Content Placeholder 2"/>
          <p:cNvSpPr>
            <a:spLocks noGrp="1"/>
          </p:cNvSpPr>
          <p:nvPr>
            <p:ph sz="half" idx="1"/>
          </p:nvPr>
        </p:nvSpPr>
        <p:spPr/>
        <p:txBody>
          <a:bodyPr/>
          <a:lstStyle/>
          <a:p>
            <a:r>
              <a:t>25 Jun</a:t>
            </a:r>
          </a:p>
          <a:p>
            <a:endParaRPr/>
          </a:p>
          <a:p>
            <a:r>
              <a:t>Amazon Connect now provides an API to programmatically create and manage quick connects. Quick connects are a way for you to create preconfigured destinations for common transfers and make them available for agents to use. Using this API, you can programmatically configure thousands of quick connects to agents, queues, and phone numbers. Additionally, you can now delete quick connects that are no longer required using the delete API. To learn more, see the API documentation . The quick connects API also comes with support for AWS CloudFormation. For more information, see Amazon Connect Resource Type Reference  in the AWS CloudFormation User Guide.</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EC2 Inf1 instances - New features, improved performance and lower prices</a:t>
            </a:r>
          </a:p>
        </p:txBody>
      </p:sp>
      <p:sp>
        <p:nvSpPr>
          <p:cNvPr id="3" name="Content Placeholder 2"/>
          <p:cNvSpPr>
            <a:spLocks noGrp="1"/>
          </p:cNvSpPr>
          <p:nvPr>
            <p:ph sz="half" idx="1"/>
          </p:nvPr>
        </p:nvSpPr>
        <p:spPr/>
        <p:txBody>
          <a:bodyPr/>
          <a:lstStyle/>
          <a:p>
            <a:r>
              <a:t>25 Jun</a:t>
            </a:r>
          </a:p>
          <a:p>
            <a:endParaRPr/>
          </a:p>
          <a:p>
            <a:r>
              <a:t>Amazon EC2 Inf1 instances and AWS Neuron now support YOLOv5 and ResNext deep learning models as well as the latest open-source Hugging Face Transformers. We have also optimized the Neuron compiler to enhance performance and you can now achieve an out-of-the box 12X higher throughput than comparable GPU-based instances for pre-trained BERT base models. These enhancements enable you to effectively meet your high-performance inference requirements and deploy state of the art deep learning models at low cost. </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CloudWatch adds 14 new Metric math functions</a:t>
            </a:r>
          </a:p>
        </p:txBody>
      </p:sp>
      <p:sp>
        <p:nvSpPr>
          <p:cNvPr id="3" name="Content Placeholder 2"/>
          <p:cNvSpPr>
            <a:spLocks noGrp="1"/>
          </p:cNvSpPr>
          <p:nvPr>
            <p:ph sz="half" idx="1"/>
          </p:nvPr>
        </p:nvSpPr>
        <p:spPr/>
        <p:txBody>
          <a:bodyPr/>
          <a:lstStyle/>
          <a:p>
            <a:r>
              <a:t>25 Jun</a:t>
            </a:r>
          </a:p>
          <a:p>
            <a:endParaRPr/>
          </a:p>
          <a:p>
            <a:r>
              <a:t>Amazon CloudWatch Metric Math now supports 14 new functions including RUNNING_SUM, TIME_SERIES, and DATAPOINT_COUNT. Two new FILL variants, two logarithmic functions, two functions for calculating the difference between each datapoint, and five time functions are also now supported. With CloudWatch Metric Math, you can aggregate and transform metrics to create custom visualizations of your health and performance metrics. The new functions announced today allow you to view the logarithmic values of your metric, better visualize the change in latency over time, and calculate the cumulative sales of a product.</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Neptune now supports copying DB cluster resources tags to DB snapshots</a:t>
            </a:r>
          </a:p>
        </p:txBody>
      </p:sp>
      <p:sp>
        <p:nvSpPr>
          <p:cNvPr id="3" name="Content Placeholder 2"/>
          <p:cNvSpPr>
            <a:spLocks noGrp="1"/>
          </p:cNvSpPr>
          <p:nvPr>
            <p:ph sz="half" idx="1"/>
          </p:nvPr>
        </p:nvSpPr>
        <p:spPr/>
        <p:txBody>
          <a:bodyPr/>
          <a:lstStyle/>
          <a:p>
            <a:r>
              <a:t>25 Jun</a:t>
            </a:r>
          </a:p>
          <a:p>
            <a:endParaRPr/>
          </a:p>
          <a:p>
            <a:r>
              <a:t>You can use Amazon Neptune resources tags to add metadata and apply access policies to your Amazon Neptune resources. Now, you can allow resource tags set on your Neptune clusters to be automatically copied to any automated or manual database snapshots that are created from your clusters. Tags can be used with AWS Identity and Access Management (IAM) policies to manage access to Neptune resources and control what actions can be applied to those resources.</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DevOps Monitoring Dashboard solution v1.1 adds support for AWS CodeBuild and AWS CodePipeline related metrics</a:t>
            </a:r>
          </a:p>
        </p:txBody>
      </p:sp>
      <p:sp>
        <p:nvSpPr>
          <p:cNvPr id="3" name="Content Placeholder 2"/>
          <p:cNvSpPr>
            <a:spLocks noGrp="1"/>
          </p:cNvSpPr>
          <p:nvPr>
            <p:ph sz="half" idx="1"/>
          </p:nvPr>
        </p:nvSpPr>
        <p:spPr/>
        <p:txBody>
          <a:bodyPr/>
          <a:lstStyle/>
          <a:p>
            <a:r>
              <a:t>24 Jun</a:t>
            </a:r>
          </a:p>
          <a:p>
            <a:endParaRPr/>
          </a:p>
          <a:p>
            <a:r>
              <a:t>We recently updated AWS DevOps Monitoring Dashboard, a reference implementation that automates the setup of DevOps metrics dashboards so that customers developing on AWS can measure development activity and identify areas for continued improvement.</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Managed Database Auditing with Amazon RDS Database Activity Streams for Amazon RDS for Oracle</a:t>
            </a:r>
          </a:p>
        </p:txBody>
      </p:sp>
      <p:sp>
        <p:nvSpPr>
          <p:cNvPr id="3" name="Content Placeholder 2"/>
          <p:cNvSpPr>
            <a:spLocks noGrp="1"/>
          </p:cNvSpPr>
          <p:nvPr>
            <p:ph sz="half" idx="1"/>
          </p:nvPr>
        </p:nvSpPr>
        <p:spPr/>
        <p:txBody>
          <a:bodyPr/>
          <a:lstStyle/>
          <a:p>
            <a:r>
              <a:t>24 Jun</a:t>
            </a:r>
          </a:p>
          <a:p>
            <a:endParaRPr/>
          </a:p>
          <a:p>
            <a:r>
              <a:t>Database Activity Streams (DAS) for Amazon Relational Database Service (Amazon RDS) for Oracle provides a near real-time stream of all audited statements (SELECT, DML, DDL, DCL, TCL) executed in your DB instance. The audit data is collected from the unified database audit, while the storage and processing of database activity is managed outside your database. This prevents database users and administrators from modifying the audit stream.</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QLDB is now available in the Europe (London) region</a:t>
            </a:r>
          </a:p>
        </p:txBody>
      </p:sp>
      <p:sp>
        <p:nvSpPr>
          <p:cNvPr id="3" name="Content Placeholder 2"/>
          <p:cNvSpPr>
            <a:spLocks noGrp="1"/>
          </p:cNvSpPr>
          <p:nvPr>
            <p:ph sz="half" idx="1"/>
          </p:nvPr>
        </p:nvSpPr>
        <p:spPr/>
        <p:txBody>
          <a:bodyPr/>
          <a:lstStyle/>
          <a:p>
            <a:r>
              <a:t>24 Jun</a:t>
            </a:r>
          </a:p>
          <a:p>
            <a:endParaRPr/>
          </a:p>
          <a:p>
            <a:r>
              <a:t>Starting today, Amazon Quantum Ledger Database (QLDB) is available in the Europe (London) region. Amazon QLDB is a fully managed ledger database that provides a transparent, immutable, and cryptographically verifiable transaction log. You can use QLDB to track all application data changes, and maintain a complete and verifiable history of changes to your data over time.</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Purchase Order Management now supports a TRN filter for AWS Europe</a:t>
            </a:r>
          </a:p>
        </p:txBody>
      </p:sp>
      <p:sp>
        <p:nvSpPr>
          <p:cNvPr id="3" name="Content Placeholder 2"/>
          <p:cNvSpPr>
            <a:spLocks noGrp="1"/>
          </p:cNvSpPr>
          <p:nvPr>
            <p:ph sz="half" idx="1"/>
          </p:nvPr>
        </p:nvSpPr>
        <p:spPr/>
        <p:txBody>
          <a:bodyPr/>
          <a:lstStyle/>
          <a:p>
            <a:r>
              <a:t>24 Jun</a:t>
            </a:r>
          </a:p>
          <a:p>
            <a:endParaRPr/>
          </a:p>
          <a:p>
            <a:r>
              <a:t>You can now use Tax Registration Numbers (TRN) as an additional filter for mapping your purchase orders to your invoices with AWS Purchase Order Management. AWS Purchase Order Management allows you to easily manage your purchase orders (POs) in a self-service manner, define PO-invoice association rules, track PO balance and expiration, and receive email alerts for POs approaching expiration or running out of balance.</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Now Allows Customers To Pay For Their Usage in Advance</a:t>
            </a:r>
          </a:p>
        </p:txBody>
      </p:sp>
      <p:sp>
        <p:nvSpPr>
          <p:cNvPr id="3" name="Content Placeholder 2"/>
          <p:cNvSpPr>
            <a:spLocks noGrp="1"/>
          </p:cNvSpPr>
          <p:nvPr>
            <p:ph sz="half" idx="1"/>
          </p:nvPr>
        </p:nvSpPr>
        <p:spPr/>
        <p:txBody>
          <a:bodyPr/>
          <a:lstStyle/>
          <a:p>
            <a:r>
              <a:t>24 Jun</a:t>
            </a:r>
          </a:p>
          <a:p>
            <a:endParaRPr/>
          </a:p>
          <a:p>
            <a:r>
              <a:t>With Advance Pay, you can now pay for your AWS usage in advance, and pay your future invoices automatically. Once you add funds to Advance Pay, AWS will automatically use them to pay for your invoices when they become due for payment. </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Announces AWS BugBust</a:t>
            </a:r>
          </a:p>
        </p:txBody>
      </p:sp>
      <p:sp>
        <p:nvSpPr>
          <p:cNvPr id="3" name="Content Placeholder 2"/>
          <p:cNvSpPr>
            <a:spLocks noGrp="1"/>
          </p:cNvSpPr>
          <p:nvPr>
            <p:ph sz="half" idx="1"/>
          </p:nvPr>
        </p:nvSpPr>
        <p:spPr/>
        <p:txBody>
          <a:bodyPr/>
          <a:lstStyle/>
          <a:p>
            <a:r>
              <a:t>24 Jun</a:t>
            </a:r>
          </a:p>
          <a:p>
            <a:endParaRPr/>
          </a:p>
          <a:p>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EMR now supports up to thirty instance type configurations in Instance Fleets</a:t>
            </a:r>
          </a:p>
        </p:txBody>
      </p:sp>
      <p:sp>
        <p:nvSpPr>
          <p:cNvPr id="3" name="Content Placeholder 2"/>
          <p:cNvSpPr>
            <a:spLocks noGrp="1"/>
          </p:cNvSpPr>
          <p:nvPr>
            <p:ph sz="half" idx="1"/>
          </p:nvPr>
        </p:nvSpPr>
        <p:spPr/>
        <p:txBody>
          <a:bodyPr/>
          <a:lstStyle/>
          <a:p>
            <a:r>
              <a:t>24 Jun</a:t>
            </a:r>
          </a:p>
          <a:p>
            <a:endParaRPr/>
          </a:p>
          <a:p>
            <a:r>
              <a:t>You can now specify up to 30 EC2 instance types for each of your master, core, and task node groups when using EMR Instance Fleets with allocation strategy. Previously, this was limited to 15 for tasks nodes, and only 5 for master and core nodes. This increase allows you to specify a broader range of instance sizes, generations, and families that your workloads can operate across to improve your access to both Spot and On-Demand capacity.</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Network Firewall is now available in AWS GovCloud (US)</a:t>
            </a:r>
          </a:p>
        </p:txBody>
      </p:sp>
      <p:sp>
        <p:nvSpPr>
          <p:cNvPr id="3" name="Content Placeholder 2"/>
          <p:cNvSpPr>
            <a:spLocks noGrp="1"/>
          </p:cNvSpPr>
          <p:nvPr>
            <p:ph sz="half" idx="1"/>
          </p:nvPr>
        </p:nvSpPr>
        <p:spPr/>
        <p:txBody>
          <a:bodyPr/>
          <a:lstStyle/>
          <a:p>
            <a:r>
              <a:t>24 Jun</a:t>
            </a:r>
          </a:p>
          <a:p>
            <a:endParaRPr/>
          </a:p>
          <a:p>
            <a:r>
              <a:t>AWS Network Firewall is now available in AWS GovCloud (US) Regions.</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Redshift now supports case-insensitive collation with column level overrides</a:t>
            </a:r>
          </a:p>
        </p:txBody>
      </p:sp>
      <p:sp>
        <p:nvSpPr>
          <p:cNvPr id="3" name="Content Placeholder 2"/>
          <p:cNvSpPr>
            <a:spLocks noGrp="1"/>
          </p:cNvSpPr>
          <p:nvPr>
            <p:ph sz="half" idx="1"/>
          </p:nvPr>
        </p:nvSpPr>
        <p:spPr/>
        <p:txBody>
          <a:bodyPr/>
          <a:lstStyle/>
          <a:p>
            <a:r>
              <a:t>24 Jun</a:t>
            </a:r>
          </a:p>
          <a:p>
            <a:endParaRPr/>
          </a:p>
          <a:p>
            <a:r>
              <a:t>Amazon Redshift, a fully-managed cloud data warehouse, now supports case-insensitive collation with column and expression level overrides. Starting today, you can use the COLLATE clause within a CREATE DATABASE statement to specify the default collation for all CHAR and VARCHAR columns in the database as case-sensitive or case-insensitive. You can also specify a COLLATE clause in a CREATE TABLE statement to specify collation for columns in that table. In addition, the COLLATE() function allows you to override the collation of a string column or an expression.</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AQUA for Amazon Redshift launches in three additional AWS regions</a:t>
            </a:r>
          </a:p>
        </p:txBody>
      </p:sp>
      <p:sp>
        <p:nvSpPr>
          <p:cNvPr id="3" name="Content Placeholder 2"/>
          <p:cNvSpPr>
            <a:spLocks noGrp="1"/>
          </p:cNvSpPr>
          <p:nvPr>
            <p:ph sz="half" idx="1"/>
          </p:nvPr>
        </p:nvSpPr>
        <p:spPr/>
        <p:txBody>
          <a:bodyPr/>
          <a:lstStyle/>
          <a:p>
            <a:r>
              <a:t>24 Jun</a:t>
            </a:r>
          </a:p>
          <a:p>
            <a:endParaRPr/>
          </a:p>
          <a:p>
            <a:r>
              <a:t>AQUA (Advanced Query Accelerator) for Amazon Redshift is now generally available in three additional AWS regions: Europe (Frankfurt), Asia Pacific (Sydney), and Asia Pacific (Singapore).</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Managed Services (AMS) now offers self-service operational reporting across all your AMS managed accounts</a:t>
            </a:r>
          </a:p>
        </p:txBody>
      </p:sp>
      <p:sp>
        <p:nvSpPr>
          <p:cNvPr id="3" name="Content Placeholder 2"/>
          <p:cNvSpPr>
            <a:spLocks noGrp="1"/>
          </p:cNvSpPr>
          <p:nvPr>
            <p:ph sz="half" idx="1"/>
          </p:nvPr>
        </p:nvSpPr>
        <p:spPr/>
        <p:txBody>
          <a:bodyPr/>
          <a:lstStyle/>
          <a:p>
            <a:r>
              <a:t>23 Jun</a:t>
            </a:r>
          </a:p>
          <a:p>
            <a:endParaRPr/>
          </a:p>
          <a:p>
            <a:r>
              <a:t>AWS Managed Services (AMS) now offers self-service reporting on key operational metrics. AWS Managed Services provides operational reports on your Managed Environment  for both traditional and next generation workloads. You can access the rich set of operational reports in your managed accounts through AWS Managed Services console. You can also access the operational reporting data through a secure S3 bucket that AMS provides for your analytics and business intelligence needs.</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Updated classroom course and new digital course: AWS Technical Essentials</a:t>
            </a:r>
          </a:p>
        </p:txBody>
      </p:sp>
      <p:sp>
        <p:nvSpPr>
          <p:cNvPr id="3" name="Content Placeholder 2"/>
          <p:cNvSpPr>
            <a:spLocks noGrp="1"/>
          </p:cNvSpPr>
          <p:nvPr>
            <p:ph sz="half" idx="1"/>
          </p:nvPr>
        </p:nvSpPr>
        <p:spPr/>
        <p:txBody>
          <a:bodyPr/>
          <a:lstStyle/>
          <a:p>
            <a:r>
              <a:t>23 Jun</a:t>
            </a:r>
          </a:p>
          <a:p>
            <a:endParaRPr/>
          </a:p>
          <a:p>
            <a:r>
              <a:t>AWS Training and Certification is excited to announce the updated one-day classroom course and new digital course, AWS Technical Essentials. These courses are ideal for technical learners who need to understand fundamental AWS Cloud concepts to make informed decisions about IT solutions based on business requirements.  </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Translate now supports XML Localization Interchange File Format - XLIFF documents</a:t>
            </a:r>
          </a:p>
        </p:txBody>
      </p:sp>
      <p:sp>
        <p:nvSpPr>
          <p:cNvPr id="3" name="Content Placeholder 2"/>
          <p:cNvSpPr>
            <a:spLocks noGrp="1"/>
          </p:cNvSpPr>
          <p:nvPr>
            <p:ph sz="half" idx="1"/>
          </p:nvPr>
        </p:nvSpPr>
        <p:spPr/>
        <p:txBody>
          <a:bodyPr/>
          <a:lstStyle/>
          <a:p>
            <a:r>
              <a:t>23 Jun</a:t>
            </a:r>
          </a:p>
          <a:p>
            <a:endParaRPr/>
          </a:p>
          <a:p>
            <a:r>
              <a:t>Amazon Translate – a fully managed neural machine translation service that delivers high-quality, affordable, and customizable language translation in 71 languages and variants –now supports translation of XML Localization Interchange File Format – XLIFF documents. Starting today, customers can submit their XLIFF documents for batch processing by Amazon Translate. Amazon Translate only translates sections where the target segment is empty. If the target section contains non-empty strings or pre-translated strings, Amazon Translate will not modify or overwrite the translation. You only pay for what you translate. This feature allows customers to continue using Translation Memory to translate content prior to machine translation and keep the machine translation costs low.</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RDS for Oracle now supports additional memory configurations of the r5 instance class</a:t>
            </a:r>
          </a:p>
        </p:txBody>
      </p:sp>
      <p:sp>
        <p:nvSpPr>
          <p:cNvPr id="3" name="Content Placeholder 2"/>
          <p:cNvSpPr>
            <a:spLocks noGrp="1"/>
          </p:cNvSpPr>
          <p:nvPr>
            <p:ph sz="half" idx="1"/>
          </p:nvPr>
        </p:nvSpPr>
        <p:spPr/>
        <p:txBody>
          <a:bodyPr/>
          <a:lstStyle/>
          <a:p>
            <a:r>
              <a:t>23 Jun</a:t>
            </a:r>
          </a:p>
          <a:p>
            <a:endParaRPr/>
          </a:p>
          <a:p>
            <a:r>
              <a:t>Starting today, you can launch additional configurations of the R5 instance class when using Amazon Relational Database Service (RDS) for Oracle. Featuring up to 4x the RAM per vCPU of existing R5 instance classes, the new configurations are available in the following AWS Regions:</a:t>
            </a:r>
          </a:p>
          <a:p>
            <a:r>
              <a:t>US East (N. Virginia), US East (Ohio), US West (N. California), US West (Oregon), AWS GovCloud (US East), AWS GovCloud (US</a:t>
            </a:r>
          </a:p>
          <a:p>
            <a:r>
              <a:t>West), Canada (Central)</a:t>
            </a:r>
          </a:p>
          <a:p>
            <a:r>
              <a:t>South America</a:t>
            </a:r>
          </a:p>
          <a:p>
            <a:r>
              <a:t>South America (Sao Paulo)</a:t>
            </a:r>
          </a:p>
          <a:p>
            <a:r>
              <a:t>Europe, Middle East and Africa</a:t>
            </a:r>
          </a:p>
          <a:p>
            <a:r>
              <a:t>EU (Frankfurt), EU (Ireland), EU (London), EU (Milan), EU (Paris), EU (Stockholm), Middle East (Bahrain), Africa (Cape Town)</a:t>
            </a:r>
          </a:p>
          <a:p>
            <a:r>
              <a:t>Asia Pacific</a:t>
            </a:r>
          </a:p>
          <a:p>
            <a:r>
              <a:t>Asia Pacific (Hong Kong), Asia Pacific (Mumbai), Asia Pacific (Osaka), Asia Pacific (Seoul), Asia Pacific (Singapore), Asia Pacific (Sydney), Asia Pacific (Tokyo)</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Client VPN launches desktop client for Linux</a:t>
            </a:r>
          </a:p>
        </p:txBody>
      </p:sp>
      <p:sp>
        <p:nvSpPr>
          <p:cNvPr id="3" name="Content Placeholder 2"/>
          <p:cNvSpPr>
            <a:spLocks noGrp="1"/>
          </p:cNvSpPr>
          <p:nvPr>
            <p:ph sz="half" idx="1"/>
          </p:nvPr>
        </p:nvSpPr>
        <p:spPr/>
        <p:txBody>
          <a:bodyPr/>
          <a:lstStyle/>
          <a:p>
            <a:r>
              <a:t>23 Jun</a:t>
            </a:r>
          </a:p>
          <a:p>
            <a:endParaRPr/>
          </a:p>
          <a:p>
            <a:r>
              <a:t>AWS Client VPN now supports SAML based federated authentication for opening a VPN connection from a Linux Desktop Operating system (Ubuntu 64bit 18.04 and 20.04 LTS). The Linux Desktop client has feature parity with the existing Windows and macOS Desktop clients. AWS Client VPN Desktop Clients are available free of charge, and can be downloaded here.</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Outposts is now supported in AWS Asia Pacific (Osaka) Region</a:t>
            </a:r>
          </a:p>
        </p:txBody>
      </p:sp>
      <p:sp>
        <p:nvSpPr>
          <p:cNvPr id="3" name="Content Placeholder 2"/>
          <p:cNvSpPr>
            <a:spLocks noGrp="1"/>
          </p:cNvSpPr>
          <p:nvPr>
            <p:ph sz="half" idx="1"/>
          </p:nvPr>
        </p:nvSpPr>
        <p:spPr/>
        <p:txBody>
          <a:bodyPr/>
          <a:lstStyle/>
          <a:p>
            <a:r>
              <a:t>23 Jun</a:t>
            </a:r>
          </a:p>
          <a:p>
            <a:endParaRPr/>
          </a:p>
          <a:p>
            <a:r>
              <a:t>AWS Outposts is now supported in AWS Asia Pacific (Osaka) Region. AWS Outposts is a fully managed service that extends AWS infrastructure, AWS services, APIs, and tools to virtually any customer datacenter, co-location space, or on-premises facility. Outposts is ideal for workloads that require low latency access to on-premises systems, local data processing, data residency, and migration of applications with local system interdependencies.</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Lambda support for Amazon Elastic File System now available in Asia Pacific (Osaka) region</a:t>
            </a:r>
          </a:p>
        </p:txBody>
      </p:sp>
      <p:sp>
        <p:nvSpPr>
          <p:cNvPr id="3" name="Content Placeholder 2"/>
          <p:cNvSpPr>
            <a:spLocks noGrp="1"/>
          </p:cNvSpPr>
          <p:nvPr>
            <p:ph sz="half" idx="1"/>
          </p:nvPr>
        </p:nvSpPr>
        <p:spPr/>
        <p:txBody>
          <a:bodyPr/>
          <a:lstStyle/>
          <a:p>
            <a:r>
              <a:t>23 Jun</a:t>
            </a:r>
          </a:p>
          <a:p>
            <a:endParaRPr/>
          </a:p>
          <a:p>
            <a:r>
              <a:t>AWS Lambda customers can now enable functions to access Amazon Elastic File System (Amazon EFS) in the Asia Pacific (Osaka) region. With AWS Lambda support for Amazon EFS, customers can easily share data across function invocations, read large reference data files, and write function output to a persistent and shared data store.</a:t>
            </a: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SageMaker Now Supports ml.G4dn instances for Batch Transform and Processing Jobs</a:t>
            </a:r>
          </a:p>
        </p:txBody>
      </p:sp>
      <p:sp>
        <p:nvSpPr>
          <p:cNvPr id="3" name="Content Placeholder 2"/>
          <p:cNvSpPr>
            <a:spLocks noGrp="1"/>
          </p:cNvSpPr>
          <p:nvPr>
            <p:ph sz="half" idx="1"/>
          </p:nvPr>
        </p:nvSpPr>
        <p:spPr/>
        <p:txBody>
          <a:bodyPr/>
          <a:lstStyle/>
          <a:p>
            <a:r>
              <a:t>23 Jun</a:t>
            </a:r>
          </a:p>
          <a:p>
            <a:endParaRPr/>
          </a:p>
          <a:p>
            <a:r>
              <a:t>Amazon SageMaker customers can now select ml.G4dn instances to run Batch Transform and Processing Jobs. Amazon SageMaker Batch Transform  enables you to run predictions on datasets stored in Amazon S3. It is ideal for scenarios where you are working with large batches of data and don’t need sub-second latency. Amazon SageMaker Processing  enables you to run your pre- or post-processing workloads, such as feature engineering, data validation, model evaluation, and model interpretation with a fully managed experience.</a:t>
            </a: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Control Tower announces accessibility, console and performance improvements</a:t>
            </a:r>
          </a:p>
        </p:txBody>
      </p:sp>
      <p:sp>
        <p:nvSpPr>
          <p:cNvPr id="3" name="Content Placeholder 2"/>
          <p:cNvSpPr>
            <a:spLocks noGrp="1"/>
          </p:cNvSpPr>
          <p:nvPr>
            <p:ph sz="half" idx="1"/>
          </p:nvPr>
        </p:nvSpPr>
        <p:spPr/>
        <p:txBody>
          <a:bodyPr/>
          <a:lstStyle/>
          <a:p>
            <a:r>
              <a:t>23 Jun</a:t>
            </a:r>
          </a:p>
          <a:p>
            <a:endParaRPr/>
          </a:p>
          <a:p>
            <a:r>
              <a:t>AWS Control Tower announces enhancements to accessibility and improvements in both the console and overall performance of the service.</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Sellers, consulting partners, and data providers from Hong Kong and Qatar now available in AWS Marketplace and AWS Data Exchange</a:t>
            </a:r>
          </a:p>
        </p:txBody>
      </p:sp>
      <p:sp>
        <p:nvSpPr>
          <p:cNvPr id="3" name="Content Placeholder 2"/>
          <p:cNvSpPr>
            <a:spLocks noGrp="1"/>
          </p:cNvSpPr>
          <p:nvPr>
            <p:ph sz="half" idx="1"/>
          </p:nvPr>
        </p:nvSpPr>
        <p:spPr/>
        <p:txBody>
          <a:bodyPr/>
          <a:lstStyle/>
          <a:p>
            <a:r>
              <a:t>23 Jun</a:t>
            </a:r>
          </a:p>
          <a:p>
            <a:endParaRPr/>
          </a:p>
          <a:p>
            <a:r>
              <a:t>AWS Marketplace now enables customers to discover and subscribe to software from Hong Kong and Qatar Independent Software Vendors (ISVs), Consulting Partners and Data Providers, adding to the 10,000+ software listings and data products from 1,600+ sellers.</a:t>
            </a: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Connect Customer Profiles launches in Canada(Central) region</a:t>
            </a:r>
          </a:p>
        </p:txBody>
      </p:sp>
      <p:sp>
        <p:nvSpPr>
          <p:cNvPr id="3" name="Content Placeholder 2"/>
          <p:cNvSpPr>
            <a:spLocks noGrp="1"/>
          </p:cNvSpPr>
          <p:nvPr>
            <p:ph sz="half" idx="1"/>
          </p:nvPr>
        </p:nvSpPr>
        <p:spPr/>
        <p:txBody>
          <a:bodyPr/>
          <a:lstStyle/>
          <a:p>
            <a:r>
              <a:t>22 Jun</a:t>
            </a:r>
          </a:p>
          <a:p>
            <a:endParaRPr/>
          </a:p>
          <a:p>
            <a:r>
              <a:t>Amazon Connect now allows you to enable Amazon Connect Customer Profiles in Canada (Central) region, equipping contact center agents with the most up to date information about the incoming contact to provide faster and more personalized customer service. Customer Profiles automatically brings together customer information from multiple applications such as Salesforce, Amazon S3 and ServiceNow into a unified customer profile, delivered to agents at the beginning of the customer interaction. </a:t>
            </a: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Elemental MediaLive now converts image-based subtitles to text-based captions for mobile device playback</a:t>
            </a:r>
          </a:p>
        </p:txBody>
      </p:sp>
      <p:sp>
        <p:nvSpPr>
          <p:cNvPr id="3" name="Content Placeholder 2"/>
          <p:cNvSpPr>
            <a:spLocks noGrp="1"/>
          </p:cNvSpPr>
          <p:nvPr>
            <p:ph sz="half" idx="1"/>
          </p:nvPr>
        </p:nvSpPr>
        <p:spPr/>
        <p:txBody>
          <a:bodyPr/>
          <a:lstStyle/>
          <a:p>
            <a:r>
              <a:t>21 Jun</a:t>
            </a:r>
          </a:p>
          <a:p>
            <a:endParaRPr/>
          </a:p>
          <a:p>
            <a:r>
              <a:t>AWS Elemental MediaLive now supports converting Digital Video Broadcasting (DVB) bitmap and SCTE-27 image-based subtitles to WebVTT captions.</a:t>
            </a: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Aurora Serverless v1 supports fast database cloning</a:t>
            </a:r>
          </a:p>
        </p:txBody>
      </p:sp>
      <p:sp>
        <p:nvSpPr>
          <p:cNvPr id="3" name="Content Placeholder 2"/>
          <p:cNvSpPr>
            <a:spLocks noGrp="1"/>
          </p:cNvSpPr>
          <p:nvPr>
            <p:ph sz="half" idx="1"/>
          </p:nvPr>
        </p:nvSpPr>
        <p:spPr/>
        <p:txBody>
          <a:bodyPr/>
          <a:lstStyle/>
          <a:p>
            <a:r>
              <a:t>21 Jun</a:t>
            </a:r>
          </a:p>
          <a:p>
            <a:endParaRPr/>
          </a:p>
          <a:p>
            <a:r>
              <a:t>Amazon Aurora now allows you to create clones between Aurora Serverless v1 and provisioned Aurora DB clusters to enable quick sharing of data. </a:t>
            </a: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RDS supports MariaDB Audit Plugin for MySQL version 8.0</a:t>
            </a:r>
          </a:p>
        </p:txBody>
      </p:sp>
      <p:sp>
        <p:nvSpPr>
          <p:cNvPr id="3" name="Content Placeholder 2"/>
          <p:cNvSpPr>
            <a:spLocks noGrp="1"/>
          </p:cNvSpPr>
          <p:nvPr>
            <p:ph sz="half" idx="1"/>
          </p:nvPr>
        </p:nvSpPr>
        <p:spPr/>
        <p:txBody>
          <a:bodyPr/>
          <a:lstStyle/>
          <a:p>
            <a:r>
              <a:t>21 Jun</a:t>
            </a:r>
          </a:p>
          <a:p>
            <a:endParaRPr/>
          </a:p>
          <a:p>
            <a:r>
              <a:t>The MariaDB audit plug-in is now available for Amazon Relational Database Service (Amazon RDS) for MySQL instances using MySQL major version 8.0. The MariaDB audit plug-in is also available for instances using MySQL major versions 5.6 and 5.7, and provides event logging for database activity to help customers meet compliance and audit requirements, and troubleshoot application issues. Some of the key details for implementing the plugin are:</a:t>
            </a:r>
          </a:p>
          <a:p>
            <a:r>
              <a:t>Enabling and disabling the audit plug-in – Users can enable audit plug-in by creating an option group, adding MARIADB_AUDIT_PLUGIN option to the group, and attaching the option group to an RDS instance. Audit logging can be disabled by removing the option group from the instance.</a:t>
            </a:r>
          </a:p>
          <a:p>
            <a:r>
              <a:t>SERVER_AUDIT_EVENTS variables – These variables allow users to specify the events they want to include in the logs (CONNECTION: users connecting and disconnecting, QUERY: queries and their result, and TABLE: which tables are affected by the queries).</a:t>
            </a:r>
          </a:p>
          <a:p>
            <a:r>
              <a:t>SERVER_AUDIT_EXCL_USERS and SERVER_AUDIT_INCL_USERS variables – These variables specify which users' activity should be excluded from or included in the audit. SERVER_AUDIT_INCL_USERS has higher priority and all users' activity is recorded by default.</a:t>
            </a: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Announcing a new Public Registry for AWS CloudFormation</a:t>
            </a:r>
          </a:p>
        </p:txBody>
      </p:sp>
      <p:sp>
        <p:nvSpPr>
          <p:cNvPr id="3" name="Content Placeholder 2"/>
          <p:cNvSpPr>
            <a:spLocks noGrp="1"/>
          </p:cNvSpPr>
          <p:nvPr>
            <p:ph sz="half" idx="1"/>
          </p:nvPr>
        </p:nvSpPr>
        <p:spPr/>
        <p:txBody>
          <a:bodyPr/>
          <a:lstStyle/>
          <a:p>
            <a:r>
              <a:t>21 Jun</a:t>
            </a:r>
          </a:p>
          <a:p>
            <a:endParaRPr/>
          </a:p>
          <a:p>
            <a:r>
              <a:t>AWS CloudFormation announces the launch of the CloudFormation Public Registry , a new searchable collection of extensions  that allows you to discover, provision, and manage third-party extensions, which include resource types (provisioning logic) and modules published by AWS Partner Network (APN) Partners and the developer community. You can also create and publish your own extensions on the CloudFormation Public Registry, allowing anyone to use them. Today, you can centrally search and use over 35 extensions published on the Public Registry by APN Partners and AWS Quick Starts. You can view the identity verification for each extension publisher on the Public Registry. APN Partners who collaborated on this launch include MongoDB, Datadog, Atlassian Opsgenie, JFrog, Trend Micro, Splunk, Aqua Security, FireEye, Sysdig, Snyk, Check Point, Spot by NetApp, Gremlin, Stackery, and Iridium.</a:t>
            </a: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EC2 D3 instances with dense local HDD storage now available in AWS GovCloud (US-West) Region</a:t>
            </a:r>
          </a:p>
        </p:txBody>
      </p:sp>
      <p:sp>
        <p:nvSpPr>
          <p:cNvPr id="3" name="Content Placeholder 2"/>
          <p:cNvSpPr>
            <a:spLocks noGrp="1"/>
          </p:cNvSpPr>
          <p:nvPr>
            <p:ph sz="half" idx="1"/>
          </p:nvPr>
        </p:nvSpPr>
        <p:spPr/>
        <p:txBody>
          <a:bodyPr/>
          <a:lstStyle/>
          <a:p>
            <a:r>
              <a:t>17 Jun</a:t>
            </a:r>
          </a:p>
          <a:p>
            <a:endParaRPr/>
          </a:p>
          <a:p>
            <a:r>
              <a:t>Starting today, Amazon EC2 D3 instances, the latest generation of the dense HDD-storage instances, are available in the AWS GovCloud (US-West) Region.</a:t>
            </a: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Gateway Load Balancer is now available in the AWS GovCloud (US) Regions</a:t>
            </a:r>
          </a:p>
        </p:txBody>
      </p:sp>
      <p:sp>
        <p:nvSpPr>
          <p:cNvPr id="3" name="Content Placeholder 2"/>
          <p:cNvSpPr>
            <a:spLocks noGrp="1"/>
          </p:cNvSpPr>
          <p:nvPr>
            <p:ph sz="half" idx="1"/>
          </p:nvPr>
        </p:nvSpPr>
        <p:spPr/>
        <p:txBody>
          <a:bodyPr/>
          <a:lstStyle/>
          <a:p>
            <a:r>
              <a:t>17 Jun</a:t>
            </a:r>
          </a:p>
          <a:p>
            <a:endParaRPr/>
          </a:p>
          <a:p>
            <a:r>
              <a:t>AWS Gateway Load Balancer is now available in both AWS GovCloud (US) Regions. The expansion into the AWS GovCloud (US) Regions enables U.S. government agencies and contractors to move more sensitive workloads into the cloud by helping them to address certain regulatory and compliance requirements. With this launch, AWS Gateway Load Balancer is now available in 25 regions.</a:t>
            </a: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Aurora PostgreSQL supports the pg_partman extension for managing time or serial id based table partitioning</a:t>
            </a:r>
          </a:p>
        </p:txBody>
      </p:sp>
      <p:sp>
        <p:nvSpPr>
          <p:cNvPr id="3" name="Content Placeholder 2"/>
          <p:cNvSpPr>
            <a:spLocks noGrp="1"/>
          </p:cNvSpPr>
          <p:nvPr>
            <p:ph sz="half" idx="1"/>
          </p:nvPr>
        </p:nvSpPr>
        <p:spPr/>
        <p:txBody>
          <a:bodyPr/>
          <a:lstStyle/>
          <a:p>
            <a:r>
              <a:t>17 Jun</a:t>
            </a:r>
          </a:p>
          <a:p>
            <a:endParaRPr/>
          </a:p>
          <a:p>
            <a:r>
              <a:t>Amazon Aurora PostgreSQL-Compatible Edition supports the Partition Manager (pg_partman) extension. pg_partman is a PostgreSQL extension that helps you to manage both time series and serial-based table partition sets, including automatic management of partition creation and runtime maintenance. pg_partman works with PostgreSQL native partitioning so users can benefit from significant performance enhancements.</a:t>
            </a: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Aurora PostgreSQL supports the pg_bigm extension for faster full text search</a:t>
            </a:r>
          </a:p>
        </p:txBody>
      </p:sp>
      <p:sp>
        <p:nvSpPr>
          <p:cNvPr id="3" name="Content Placeholder 2"/>
          <p:cNvSpPr>
            <a:spLocks noGrp="1"/>
          </p:cNvSpPr>
          <p:nvPr>
            <p:ph sz="half" idx="1"/>
          </p:nvPr>
        </p:nvSpPr>
        <p:spPr/>
        <p:txBody>
          <a:bodyPr/>
          <a:lstStyle/>
          <a:p>
            <a:r>
              <a:t>17 Jun</a:t>
            </a:r>
          </a:p>
          <a:p>
            <a:endParaRPr/>
          </a:p>
          <a:p>
            <a:r>
              <a:t>Amazon Aurora PostgreSQL-Compatible Edition adds support for the pg_bigm extension. pg_bigm extension provides full text search capability in PostgreSQL . This extension allows a user to create 2-gram (bigram) index for faster full text search.</a:t>
            </a: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Kendra adds support for new AWS Regions</a:t>
            </a:r>
          </a:p>
        </p:txBody>
      </p:sp>
      <p:sp>
        <p:nvSpPr>
          <p:cNvPr id="3" name="Content Placeholder 2"/>
          <p:cNvSpPr>
            <a:spLocks noGrp="1"/>
          </p:cNvSpPr>
          <p:nvPr>
            <p:ph sz="half" idx="1"/>
          </p:nvPr>
        </p:nvSpPr>
        <p:spPr/>
        <p:txBody>
          <a:bodyPr/>
          <a:lstStyle/>
          <a:p>
            <a:r>
              <a:t>17 Jun</a:t>
            </a:r>
          </a:p>
          <a:p>
            <a:endParaRPr/>
          </a:p>
          <a:p>
            <a:r>
              <a:t>Starting today, AWS customers can use Amazon Kendra to build intelligent search applications in the Canada (Central) and US East (Ohio) AWS Regions.</a:t>
            </a: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MQ is now available in AWS GovCloud (US) Regions</a:t>
            </a:r>
          </a:p>
        </p:txBody>
      </p:sp>
      <p:sp>
        <p:nvSpPr>
          <p:cNvPr id="3" name="Content Placeholder 2"/>
          <p:cNvSpPr>
            <a:spLocks noGrp="1"/>
          </p:cNvSpPr>
          <p:nvPr>
            <p:ph sz="half" idx="1"/>
          </p:nvPr>
        </p:nvSpPr>
        <p:spPr/>
        <p:txBody>
          <a:bodyPr/>
          <a:lstStyle/>
          <a:p>
            <a:r>
              <a:t>16 Jun</a:t>
            </a:r>
          </a:p>
          <a:p>
            <a:endParaRPr/>
          </a:p>
          <a:p>
            <a:r>
              <a:t>Amazon MQ is now available in a total of 24 regions, with the addition of both AWS GovCloud (US) Regions. AWS GovCloud (US) Regions are isolated AWS Regions designed to host sensitive data and regulated workloads in the cloud, assisting customers who have United States federal, state, or local government compliance requirements.</a:t>
            </a: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Announces General Availability of AWS Wavelength in London</a:t>
            </a:r>
          </a:p>
        </p:txBody>
      </p:sp>
      <p:sp>
        <p:nvSpPr>
          <p:cNvPr id="3" name="Content Placeholder 2"/>
          <p:cNvSpPr>
            <a:spLocks noGrp="1"/>
          </p:cNvSpPr>
          <p:nvPr>
            <p:ph sz="half" idx="1"/>
          </p:nvPr>
        </p:nvSpPr>
        <p:spPr/>
        <p:txBody>
          <a:bodyPr/>
          <a:lstStyle/>
          <a:p>
            <a:r>
              <a:t>16 Jun</a:t>
            </a:r>
          </a:p>
          <a:p>
            <a:endParaRPr/>
          </a:p>
          <a:p>
            <a:r>
              <a:t>Today, we are announcing the general availability of AWS Wavelength on the Vodafone 4G/5G network in London. Independent Software Vendors (ISVs), enterprises, and developers can now use the AWS Wavelength Zone in London to build ultra-low latency applications for mobile devices and users in the United Kingdom.</a:t>
            </a: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Personalize now unlocks information in unstructured text for recommendations</a:t>
            </a:r>
          </a:p>
        </p:txBody>
      </p:sp>
      <p:sp>
        <p:nvSpPr>
          <p:cNvPr id="3" name="Content Placeholder 2"/>
          <p:cNvSpPr>
            <a:spLocks noGrp="1"/>
          </p:cNvSpPr>
          <p:nvPr>
            <p:ph sz="half" idx="1"/>
          </p:nvPr>
        </p:nvSpPr>
        <p:spPr/>
        <p:txBody>
          <a:bodyPr/>
          <a:lstStyle/>
          <a:p>
            <a:r>
              <a:t>16 Jun</a:t>
            </a:r>
          </a:p>
          <a:p>
            <a:endParaRPr/>
          </a:p>
          <a:p>
            <a:r>
              <a:t>We are excited to announce that Amazon Personalize now enables customers to unlock the information trapped in their product descriptions, reviews, movie synopses or other unstructured text to generate highly relevant recommendations for users. Product descriptions contain important information and insights about products. The investments made to create these narratives enable the creation of more relevant user recommendations for products, movies, TV shows, news articles and more. Customers provide unstructured text as part of their catalog and, using state-of-the-art natural language processing (NLP) techniques, Amazon Personalize automatically extracts key information about the items in your catalog to use when generating recommendations for your users.</a:t>
            </a: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RDS for PostgreSQL Supports Extension Allowlists</a:t>
            </a:r>
          </a:p>
        </p:txBody>
      </p:sp>
      <p:sp>
        <p:nvSpPr>
          <p:cNvPr id="3" name="Content Placeholder 2"/>
          <p:cNvSpPr>
            <a:spLocks noGrp="1"/>
          </p:cNvSpPr>
          <p:nvPr>
            <p:ph sz="half" idx="1"/>
          </p:nvPr>
        </p:nvSpPr>
        <p:spPr/>
        <p:txBody>
          <a:bodyPr/>
          <a:lstStyle/>
          <a:p>
            <a:r>
              <a:t>16 Jun</a:t>
            </a:r>
          </a:p>
          <a:p>
            <a:endParaRPr/>
          </a:p>
          <a:p>
            <a:r>
              <a:t>Amazon RDS for PostgreSQL adds support for extension allowlists to provide database administrators more control over usage of extensions.</a:t>
            </a: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Amplify announces support for IAM permissions boundaries on Amplify-generated IAM roles</a:t>
            </a:r>
          </a:p>
        </p:txBody>
      </p:sp>
      <p:sp>
        <p:nvSpPr>
          <p:cNvPr id="3" name="Content Placeholder 2"/>
          <p:cNvSpPr>
            <a:spLocks noGrp="1"/>
          </p:cNvSpPr>
          <p:nvPr>
            <p:ph sz="half" idx="1"/>
          </p:nvPr>
        </p:nvSpPr>
        <p:spPr/>
        <p:txBody>
          <a:bodyPr/>
          <a:lstStyle/>
          <a:p>
            <a:r>
              <a:t>16 Jun</a:t>
            </a:r>
          </a:p>
          <a:p>
            <a:endParaRPr/>
          </a:p>
          <a:p>
            <a:r>
              <a:t>AWS Amplify CLI now supports IAM permission boundaries to limit Amplify-generated IAM roles. The AWS Amplify CLI is a command line toolchain that helps frontend developers create app backends in the cloud that include IAM roles controlling access to AWS resources. With IAM permissions boundaries, Amplify-generated IAM roles can perform only the actions that are allowed by both the roles’ policies and permissions boundary.</a:t>
            </a: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announces a new shell for F1 instances with increased FPGA resources and data transfer speeds</a:t>
            </a:r>
          </a:p>
        </p:txBody>
      </p:sp>
      <p:sp>
        <p:nvSpPr>
          <p:cNvPr id="3" name="Content Placeholder 2"/>
          <p:cNvSpPr>
            <a:spLocks noGrp="1"/>
          </p:cNvSpPr>
          <p:nvPr>
            <p:ph sz="half" idx="1"/>
          </p:nvPr>
        </p:nvSpPr>
        <p:spPr/>
        <p:txBody>
          <a:bodyPr/>
          <a:lstStyle/>
          <a:p>
            <a:r>
              <a:t>16 Jun</a:t>
            </a:r>
          </a:p>
          <a:p>
            <a:endParaRPr/>
          </a:p>
          <a:p>
            <a:r>
              <a:t>AWS EC2 F1 instances have been used by customers to accelerate a growing set of applications from genomic processing, data analytics, security, image/video analytics, machine learning and more. Developers have taken advantage of the FPGA developer kit  and current standard F1.X.1.4 shells to easily build and deploy their applications.</a:t>
            </a: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Lex announces support for multi-valued slots</a:t>
            </a:r>
          </a:p>
        </p:txBody>
      </p:sp>
      <p:sp>
        <p:nvSpPr>
          <p:cNvPr id="3" name="Content Placeholder 2"/>
          <p:cNvSpPr>
            <a:spLocks noGrp="1"/>
          </p:cNvSpPr>
          <p:nvPr>
            <p:ph sz="half" idx="1"/>
          </p:nvPr>
        </p:nvSpPr>
        <p:spPr/>
        <p:txBody>
          <a:bodyPr/>
          <a:lstStyle/>
          <a:p>
            <a:r>
              <a:t>16 Jun</a:t>
            </a:r>
          </a:p>
          <a:p>
            <a:endParaRPr/>
          </a:p>
          <a:p>
            <a:r>
              <a:t>Amazon Lex is a service for building conversational interfaces into any application using voice and text. With Amazon Lex, you can quickly and easily build sophisticated, natural language, conversational bots (“chatbots”), virtual agents, and IVR systems. Today, Amazon Lex introduces multi-valued slots. A slot is used to capture user responses as the bot gathers information to fulfill a user request. In some cases, the information can be a list of multiple values. For example, when conversing with an insurance bot, a customer may request quotes for insurance premiums. When the bot requests them to specify which insurance type, the customer may respond with more than one type and say “I need quotes for home, auto, and boat premiums.” With multi-value slots, Amazon Lex can now capture the customer’s response in a single response with no special coding required.</a:t>
            </a: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Certificate Manager Private Certificate Authority now supports more flexibility for CAs shared across accounts</a:t>
            </a:r>
          </a:p>
        </p:txBody>
      </p:sp>
      <p:sp>
        <p:nvSpPr>
          <p:cNvPr id="3" name="Content Placeholder 2"/>
          <p:cNvSpPr>
            <a:spLocks noGrp="1"/>
          </p:cNvSpPr>
          <p:nvPr>
            <p:ph sz="half" idx="1"/>
          </p:nvPr>
        </p:nvSpPr>
        <p:spPr/>
        <p:txBody>
          <a:bodyPr/>
          <a:lstStyle/>
          <a:p>
            <a:r>
              <a:t>15 Jun</a:t>
            </a:r>
          </a:p>
          <a:p>
            <a:endParaRPr/>
          </a:p>
          <a:p>
            <a:r>
              <a:t>AWS Certificate Manager (ACM) Private Certificate Authority (CA) has extended support for sharing CAs via Resource Access Manager (RAM). Customers can now share CAs across accounts to issue certificates defined as client only TLS and server only TLS, as well as fully customizable certificates. Customer’s can also choose to share a CA to allow issuance of CA certificates and provide the revocation function to other accounts.</a:t>
            </a: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Translate is Now Integrated with Amazon CloudWatch Events and Amazon EventBridge</a:t>
            </a:r>
          </a:p>
        </p:txBody>
      </p:sp>
      <p:sp>
        <p:nvSpPr>
          <p:cNvPr id="3" name="Content Placeholder 2"/>
          <p:cNvSpPr>
            <a:spLocks noGrp="1"/>
          </p:cNvSpPr>
          <p:nvPr>
            <p:ph sz="half" idx="1"/>
          </p:nvPr>
        </p:nvSpPr>
        <p:spPr/>
        <p:txBody>
          <a:bodyPr/>
          <a:lstStyle/>
          <a:p>
            <a:r>
              <a:t>15 Jun</a:t>
            </a:r>
          </a:p>
          <a:p>
            <a:endParaRPr/>
          </a:p>
          <a:p>
            <a:r>
              <a:t>Amazon Translate – a fully managed neural machine translation service that delivers high-quality, affordable, and customizable language translation in 71 languages and variants – is now integrated with Amazon CloudWatch Events and Amazon EventBridge. Starting today, you can use CloudWatch events to monitor the progress and completion of your Batch Translation jobs. </a:t>
            </a: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Resource Access Manager enables granular access control with additional managed permissions</a:t>
            </a:r>
          </a:p>
        </p:txBody>
      </p:sp>
      <p:sp>
        <p:nvSpPr>
          <p:cNvPr id="3" name="Content Placeholder 2"/>
          <p:cNvSpPr>
            <a:spLocks noGrp="1"/>
          </p:cNvSpPr>
          <p:nvPr>
            <p:ph sz="half" idx="1"/>
          </p:nvPr>
        </p:nvSpPr>
        <p:spPr/>
        <p:txBody>
          <a:bodyPr/>
          <a:lstStyle/>
          <a:p>
            <a:r>
              <a:t>15 Jun</a:t>
            </a:r>
          </a:p>
          <a:p>
            <a:endParaRPr/>
          </a:p>
          <a:p>
            <a:r>
              <a:t>AWS Resource Access Manager (RAM) helps you securely share your resources across AWS accounts within your organization or organizational units (OUs) in AWS Organizations, and now also with IAM roles and IAM users for supported resource types. Also with this release, AWS RAM now provides additional managed permissions that you can use to define access to shared resources. In addition to the default managed permission defined for each shareable resource type, you now have more flexibility to choose which permissions to grant to whom for resource types that support additional managed permissions.  </a:t>
            </a: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Introducing AWS Elemental Link UHD: a device to send live UHD 4k HDR video to AWS</a:t>
            </a:r>
          </a:p>
        </p:txBody>
      </p:sp>
      <p:sp>
        <p:nvSpPr>
          <p:cNvPr id="3" name="Content Placeholder 2"/>
          <p:cNvSpPr>
            <a:spLocks noGrp="1"/>
          </p:cNvSpPr>
          <p:nvPr>
            <p:ph sz="half" idx="1"/>
          </p:nvPr>
        </p:nvSpPr>
        <p:spPr/>
        <p:txBody>
          <a:bodyPr/>
          <a:lstStyle/>
          <a:p>
            <a:r>
              <a:t>15 Jun</a:t>
            </a:r>
          </a:p>
          <a:p>
            <a:endParaRPr/>
          </a:p>
          <a:p>
            <a:r>
              <a:t>Today we announced the general availability of AWS Elemental Link UHD, a High Efficiency Video Coding (HEVC) encoding device that connects a live ultra-high definition (UHD) video source, like a camera or other video production equipment, to AWS Elemental MediaLive for video processing in the AWS cloud. </a:t>
            </a: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Polly Launches a new German Neural Text-to-Speech voice</a:t>
            </a:r>
          </a:p>
        </p:txBody>
      </p:sp>
      <p:sp>
        <p:nvSpPr>
          <p:cNvPr id="3" name="Content Placeholder 2"/>
          <p:cNvSpPr>
            <a:spLocks noGrp="1"/>
          </p:cNvSpPr>
          <p:nvPr>
            <p:ph sz="half" idx="1"/>
          </p:nvPr>
        </p:nvSpPr>
        <p:spPr/>
        <p:txBody>
          <a:bodyPr/>
          <a:lstStyle/>
          <a:p>
            <a:r>
              <a:t>15 Jun</a:t>
            </a:r>
          </a:p>
          <a:p>
            <a:endParaRPr/>
          </a:p>
          <a:p>
            <a:r>
              <a:t>Amazon Polly is a service that turns text into lifelike speech. Today, we are excited to announce the general availability of the Neural Text-to-Speech (NTTS) version of Vicki, a German Polly voice. Now, Amazon Polly customers can enjoy Vicki either as an NTTS or a Standard German voice.</a:t>
            </a: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Announcing AWS App Mesh Controller for Kubernetes Version 1.4.0 with Ingress Enhancements</a:t>
            </a:r>
          </a:p>
        </p:txBody>
      </p:sp>
      <p:sp>
        <p:nvSpPr>
          <p:cNvPr id="3" name="Content Placeholder 2"/>
          <p:cNvSpPr>
            <a:spLocks noGrp="1"/>
          </p:cNvSpPr>
          <p:nvPr>
            <p:ph sz="half" idx="1"/>
          </p:nvPr>
        </p:nvSpPr>
        <p:spPr/>
        <p:txBody>
          <a:bodyPr/>
          <a:lstStyle/>
          <a:p>
            <a:r>
              <a:t>15 Jun</a:t>
            </a:r>
          </a:p>
          <a:p>
            <a:endParaRPr/>
          </a:p>
          <a:p>
            <a:r>
              <a:t>AWS App Mesh Controller for Kubernetes v1.4.0 is now available and includes support for enhanced ingress traffic management capabilities. The AWS App Mesh Controller for Kubernetes provides a way to configure and manage AWS App Mesh using Kubernetes directly. AWS App Mesh is a service mesh that provides application-level networking to standardize how your services communicate, giving you end-to-end visibility and allowing high availability for your applications.</a:t>
            </a: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Internet Group Management Protocol (IGMP) Multicast support on Transit Gateway multicast is now available in AWS GovCloud (US) Regions</a:t>
            </a:r>
          </a:p>
        </p:txBody>
      </p:sp>
      <p:sp>
        <p:nvSpPr>
          <p:cNvPr id="3" name="Content Placeholder 2"/>
          <p:cNvSpPr>
            <a:spLocks noGrp="1"/>
          </p:cNvSpPr>
          <p:nvPr>
            <p:ph sz="half" idx="1"/>
          </p:nvPr>
        </p:nvSpPr>
        <p:spPr/>
        <p:txBody>
          <a:bodyPr/>
          <a:lstStyle/>
          <a:p>
            <a:r>
              <a:t>14 Jun</a:t>
            </a:r>
          </a:p>
          <a:p>
            <a:endParaRPr/>
          </a:p>
          <a:p>
            <a:r>
              <a:t>Starting today, AWS Transit Gateway supports internet group management protocol (IGMP) multicast in AWS GovCloud (US) Regions.</a:t>
            </a: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Announcing support for custom partitioning in AWS IoT Analytics Data Stores</a:t>
            </a:r>
          </a:p>
        </p:txBody>
      </p:sp>
      <p:sp>
        <p:nvSpPr>
          <p:cNvPr id="3" name="Content Placeholder 2"/>
          <p:cNvSpPr>
            <a:spLocks noGrp="1"/>
          </p:cNvSpPr>
          <p:nvPr>
            <p:ph sz="half" idx="1"/>
          </p:nvPr>
        </p:nvSpPr>
        <p:spPr/>
        <p:txBody>
          <a:bodyPr/>
          <a:lstStyle/>
          <a:p>
            <a:r>
              <a:t>14 Jun</a:t>
            </a:r>
          </a:p>
          <a:p>
            <a:endParaRPr/>
          </a:p>
          <a:p>
            <a:r>
              <a:t>AWS IoT Analytics now supports custom partitioning on AWS IoT Analytics data stores, enabling customers to partition their data stores based on both timestamp and non-timestamp attributes. You can use this feature to create partitioned data stores so that your queries can run more efficiently as they will scan less data and hence run faster. The option to define a custom partition scheme on an AWS IoT Analytics data store will be made available at the time of creation for both customer managed and service managed data stores. Partitions can be created either on top of channel message attributes or data store attributes resulting from pipeline activities.</a:t>
            </a: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Announcing per second billing for EC2 Windows Server and SQL Server Instances</a:t>
            </a:r>
          </a:p>
        </p:txBody>
      </p:sp>
      <p:sp>
        <p:nvSpPr>
          <p:cNvPr id="3" name="Content Placeholder 2"/>
          <p:cNvSpPr>
            <a:spLocks noGrp="1"/>
          </p:cNvSpPr>
          <p:nvPr>
            <p:ph sz="half" idx="1"/>
          </p:nvPr>
        </p:nvSpPr>
        <p:spPr/>
        <p:txBody>
          <a:bodyPr/>
          <a:lstStyle/>
          <a:p>
            <a:r>
              <a:t>14 Jun</a:t>
            </a:r>
          </a:p>
          <a:p>
            <a:endParaRPr/>
          </a:p>
          <a:p>
            <a:r>
              <a:t>Effective Jun 11, 2021, AWS has extended per second billing to Windows Server and SQL Server instances running on Amazon EC2. Customers will only pay for Windows Server and SQL Server instances that are launched in On-Demand, Reserved, and Spot form running on Amazon EC2 in one second increments, with a minimum of 1 minute.</a:t>
            </a: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Lex increases limits for Intents and Slot Types</a:t>
            </a:r>
          </a:p>
        </p:txBody>
      </p:sp>
      <p:sp>
        <p:nvSpPr>
          <p:cNvPr id="3" name="Content Placeholder 2"/>
          <p:cNvSpPr>
            <a:spLocks noGrp="1"/>
          </p:cNvSpPr>
          <p:nvPr>
            <p:ph sz="half" idx="1"/>
          </p:nvPr>
        </p:nvSpPr>
        <p:spPr/>
        <p:txBody>
          <a:bodyPr/>
          <a:lstStyle/>
          <a:p>
            <a:r>
              <a:t>11 Jun</a:t>
            </a:r>
          </a:p>
          <a:p>
            <a:endParaRPr/>
          </a:p>
          <a:p>
            <a:r>
              <a:t>Today, Amazon Lex increased the default service limits for intents and slot types. With the increased limits, you can expand the bot to support additional conversation flows. You can now create up to 1,000 intents and 250 slot types for English locales, an increase from previous limits of 100 each.</a:t>
            </a:r>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Managed Microsoft Active Directory (AD) and AD Connector now support AD authentication with AWS Transfer Family</a:t>
            </a:r>
          </a:p>
        </p:txBody>
      </p:sp>
      <p:sp>
        <p:nvSpPr>
          <p:cNvPr id="3" name="Content Placeholder 2"/>
          <p:cNvSpPr>
            <a:spLocks noGrp="1"/>
          </p:cNvSpPr>
          <p:nvPr>
            <p:ph sz="half" idx="1"/>
          </p:nvPr>
        </p:nvSpPr>
        <p:spPr/>
        <p:txBody>
          <a:bodyPr/>
          <a:lstStyle/>
          <a:p>
            <a:r>
              <a:t>11 Jun</a:t>
            </a:r>
          </a:p>
          <a:p>
            <a:endParaRPr/>
          </a:p>
          <a:p>
            <a:r>
              <a:t>AWS Directory Service for Microsoft Active Directory, also known as AWS Managed Microsoft AD, and AD Connector  now enable you to use AD authentication with AWS Transfer Family, a fully managed service for transferring files over Secure File Transfer Protocol (SFTP), File Transfer Protocol over SSL (FTPS), and File Transfer Protocol (FTP) for Amazon Simple Storage Service (S3) and Amazon Elastic File System (EFS). This makes it easy for you to securely provide permissions for file transfers to users in your AD groups.</a:t>
            </a:r>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Client VPN launches in AWS GovCloud (US) Regions</a:t>
            </a:r>
          </a:p>
        </p:txBody>
      </p:sp>
      <p:sp>
        <p:nvSpPr>
          <p:cNvPr id="3" name="Content Placeholder 2"/>
          <p:cNvSpPr>
            <a:spLocks noGrp="1"/>
          </p:cNvSpPr>
          <p:nvPr>
            <p:ph sz="half" idx="1"/>
          </p:nvPr>
        </p:nvSpPr>
        <p:spPr/>
        <p:txBody>
          <a:bodyPr/>
          <a:lstStyle/>
          <a:p>
            <a:r>
              <a:t>11 Jun</a:t>
            </a:r>
          </a:p>
          <a:p>
            <a:endParaRPr/>
          </a:p>
          <a:p>
            <a:r>
              <a:t>AWS Client VPN is now available in AWS GovCloud (US). You can now provide VPN access to your remote workforce to securely access resources in AWS GovCloud (US) regions. </a:t>
            </a:r>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Read multiple records simultaneously from Amazon SageMaker Feature Store using the new BatchGetRecord API</a:t>
            </a:r>
          </a:p>
        </p:txBody>
      </p:sp>
      <p:sp>
        <p:nvSpPr>
          <p:cNvPr id="3" name="Content Placeholder 2"/>
          <p:cNvSpPr>
            <a:spLocks noGrp="1"/>
          </p:cNvSpPr>
          <p:nvPr>
            <p:ph sz="half" idx="1"/>
          </p:nvPr>
        </p:nvSpPr>
        <p:spPr/>
        <p:txBody>
          <a:bodyPr/>
          <a:lstStyle/>
          <a:p>
            <a:r>
              <a:t>11 Jun</a:t>
            </a:r>
          </a:p>
          <a:p>
            <a:endParaRPr/>
          </a:p>
          <a:p>
            <a:r>
              <a:t>Amazon SageMaker Feature Store is a fully managed, purpose-built repository to store, update, retrieve, and share machine learning (ML) features. Customers can retrieve features from SageMaker Feature Store at low millisecond latencies for real-time use-cases using the GetRecord API. This API allows customers to retrieve features from a single feature group and access one record per API call. Until now, to read multiple records at a time from SageMaker Feature Store, customers needed to call the GetRecord API multiple times and manage parallelization of the API calls to achieve lower latency, which increased operational complexity.</a:t>
            </a: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Elemental MediaConnect adds support for input source selection and priority</a:t>
            </a:r>
          </a:p>
        </p:txBody>
      </p:sp>
      <p:sp>
        <p:nvSpPr>
          <p:cNvPr id="3" name="Content Placeholder 2"/>
          <p:cNvSpPr>
            <a:spLocks noGrp="1"/>
          </p:cNvSpPr>
          <p:nvPr>
            <p:ph sz="half" idx="1"/>
          </p:nvPr>
        </p:nvSpPr>
        <p:spPr/>
        <p:txBody>
          <a:bodyPr/>
          <a:lstStyle/>
          <a:p>
            <a:r>
              <a:t>11 Jun</a:t>
            </a:r>
          </a:p>
          <a:p>
            <a:endParaRPr/>
          </a:p>
          <a:p>
            <a:r>
              <a:t>Today, we are excited to announce increased customer control of AWS Elemental MediaConnect input source selection and failover behavior.</a:t>
            </a: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SageMaker Pipelines now supports callback capability</a:t>
            </a:r>
          </a:p>
        </p:txBody>
      </p:sp>
      <p:sp>
        <p:nvSpPr>
          <p:cNvPr id="3" name="Content Placeholder 2"/>
          <p:cNvSpPr>
            <a:spLocks noGrp="1"/>
          </p:cNvSpPr>
          <p:nvPr>
            <p:ph sz="half" idx="1"/>
          </p:nvPr>
        </p:nvSpPr>
        <p:spPr/>
        <p:txBody>
          <a:bodyPr/>
          <a:lstStyle/>
          <a:p>
            <a:r>
              <a:t>10 Jun</a:t>
            </a:r>
          </a:p>
          <a:p>
            <a:endParaRPr/>
          </a:p>
          <a:p>
            <a:r>
              <a:t>Amazon SageMaker Pipelines, the first purpose-built continuous integration and continuous delivery (CI/CD) service for machine learning (ML), now supports a new callback step that allows customers to integrate any task or job outside Amazon SageMaker as a step in the model building pipeline. When a callback step is invoked, the current execution of a SageMaker model building pipeline will pause and wait for an external task or job to return a task token that was generated by SageMaker at the start of call back step execution. You can use the call back step to include processing jobs external to SageMaker such a Spark job running on an Amazon EMR cluster or an extract-transform-load (ETL) task in AWS Glue as part of the SageMaker model building pipeline.</a:t>
            </a:r>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Cognito now supports targeted sign out through refresh token revocation</a:t>
            </a:r>
          </a:p>
        </p:txBody>
      </p:sp>
      <p:sp>
        <p:nvSpPr>
          <p:cNvPr id="3" name="Content Placeholder 2"/>
          <p:cNvSpPr>
            <a:spLocks noGrp="1"/>
          </p:cNvSpPr>
          <p:nvPr>
            <p:ph sz="half" idx="1"/>
          </p:nvPr>
        </p:nvSpPr>
        <p:spPr/>
        <p:txBody>
          <a:bodyPr/>
          <a:lstStyle/>
          <a:p>
            <a:r>
              <a:t>10 Jun</a:t>
            </a:r>
          </a:p>
          <a:p>
            <a:endParaRPr/>
          </a:p>
          <a:p>
            <a:r>
              <a:t>By default, Amazon Cognito refresh tokens expire 30 days after a user signs in to a user pool. When you create an app, you can set the app's refresh token expiration to any value between 60 minutes and 10 years. Amazon Cognito now enables you to revoke refresh tokens in real time so that those refresh tokens cannot be used to generate additional access tokens.</a:t>
            </a:r>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Athena engine version 2 is generally available in all AWS commercial and GovCloud regions</a:t>
            </a:r>
          </a:p>
        </p:txBody>
      </p:sp>
      <p:sp>
        <p:nvSpPr>
          <p:cNvPr id="3" name="Content Placeholder 2"/>
          <p:cNvSpPr>
            <a:spLocks noGrp="1"/>
          </p:cNvSpPr>
          <p:nvPr>
            <p:ph sz="half" idx="1"/>
          </p:nvPr>
        </p:nvSpPr>
        <p:spPr/>
        <p:txBody>
          <a:bodyPr/>
          <a:lstStyle/>
          <a:p>
            <a:r>
              <a:t>10 Jun</a:t>
            </a:r>
          </a:p>
          <a:p>
            <a:endParaRPr/>
          </a:p>
          <a:p>
            <a:r>
              <a:t>The latest query engine for Amazon Athena is generally available in all 24 AWS Regions where Athena is available. Customers who use Athena engine version 2 benefit from new features and performance enhancements that make analyzing data easier and more cost-effective than before. </a:t>
            </a:r>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Transit Gateway adds Internet Group Management Protocol (IGMP) Multicast support in 4 additional AWS regions</a:t>
            </a:r>
          </a:p>
        </p:txBody>
      </p:sp>
      <p:sp>
        <p:nvSpPr>
          <p:cNvPr id="3" name="Content Placeholder 2"/>
          <p:cNvSpPr>
            <a:spLocks noGrp="1"/>
          </p:cNvSpPr>
          <p:nvPr>
            <p:ph sz="half" idx="1"/>
          </p:nvPr>
        </p:nvSpPr>
        <p:spPr/>
        <p:txBody>
          <a:bodyPr/>
          <a:lstStyle/>
          <a:p>
            <a:r>
              <a:t>10 Jun</a:t>
            </a:r>
          </a:p>
          <a:p>
            <a:endParaRPr/>
          </a:p>
          <a:p>
            <a:r>
              <a:t>Starting today AWS Transit Gateway supports internet group management protocol (IGMP) multicast in the Africa (Cape Town), EU (Milan), Middle East (Bahrain), and Asia Pacific (Hong Kong) AWS Regions.</a:t>
            </a:r>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Managed Blockchain now supports customer-managed customer master keys</a:t>
            </a:r>
          </a:p>
        </p:txBody>
      </p:sp>
      <p:sp>
        <p:nvSpPr>
          <p:cNvPr id="3" name="Content Placeholder 2"/>
          <p:cNvSpPr>
            <a:spLocks noGrp="1"/>
          </p:cNvSpPr>
          <p:nvPr>
            <p:ph sz="half" idx="1"/>
          </p:nvPr>
        </p:nvSpPr>
        <p:spPr/>
        <p:txBody>
          <a:bodyPr/>
          <a:lstStyle/>
          <a:p>
            <a:r>
              <a:t>10 Jun</a:t>
            </a:r>
          </a:p>
          <a:p>
            <a:endParaRPr/>
          </a:p>
          <a:p>
            <a:r>
              <a:t>Amazon Managed Blockchain now supports customer-managed customer master keys (CMKs) for Hyperledger Fabric networks. Customers can encrypt new member-specific resources using their own CMK. These CMKs are declared in AWS Key Management Service (KMS) and used by Amazon Managed Blockchain. Each member can use their own CMK and manage it according to their security policy.</a:t>
            </a:r>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AppFlow now supports documents with Veeva</a:t>
            </a:r>
          </a:p>
        </p:txBody>
      </p:sp>
      <p:sp>
        <p:nvSpPr>
          <p:cNvPr id="3" name="Content Placeholder 2"/>
          <p:cNvSpPr>
            <a:spLocks noGrp="1"/>
          </p:cNvSpPr>
          <p:nvPr>
            <p:ph sz="half" idx="1"/>
          </p:nvPr>
        </p:nvSpPr>
        <p:spPr/>
        <p:txBody>
          <a:bodyPr/>
          <a:lstStyle/>
          <a:p>
            <a:r>
              <a:t>10 Jun</a:t>
            </a:r>
          </a:p>
          <a:p>
            <a:endParaRPr/>
          </a:p>
          <a:p>
            <a:r>
              <a:t>Amazon AppFlow, a fully managed integration service that helps customers securely transfer data between AWS services and cloud applications expands its features with Veeva. Customers can now export documents from Veeva Vault into Amazon Simple Storage Service (Amazon S3). When choosing the document option for the Veeva connector in AppFlow, customers can choose to bring just the latest version (default) or all versions of documents, along with document metadata.</a:t>
            </a:r>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Cognito is now available in the Middle East (Bahrain) Region</a:t>
            </a:r>
          </a:p>
        </p:txBody>
      </p:sp>
      <p:sp>
        <p:nvSpPr>
          <p:cNvPr id="3" name="Content Placeholder 2"/>
          <p:cNvSpPr>
            <a:spLocks noGrp="1"/>
          </p:cNvSpPr>
          <p:nvPr>
            <p:ph sz="half" idx="1"/>
          </p:nvPr>
        </p:nvSpPr>
        <p:spPr/>
        <p:txBody>
          <a:bodyPr/>
          <a:lstStyle/>
          <a:p>
            <a:r>
              <a:t>09 Jun</a:t>
            </a:r>
          </a:p>
          <a:p>
            <a:endParaRPr/>
          </a:p>
          <a:p>
            <a:r>
              <a:t>Amazon Cognito is now available in the Middle East (Bahrain) Region. Amazon Cognito makes it easy to add authentication, authorization, and user management to your web and mobile apps. Amazon Cognito scales to millions of users and supports sign-in with social identity providers such as Apple, Facebook, Google, and Amazon, and enterprise identity providers via standards such as SAML 2.0 and OpenID Connect. </a:t>
            </a:r>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Easily install and manage Amazon EFS utilities on your instances with Quick Setup</a:t>
            </a:r>
          </a:p>
        </p:txBody>
      </p:sp>
      <p:sp>
        <p:nvSpPr>
          <p:cNvPr id="3" name="Content Placeholder 2"/>
          <p:cNvSpPr>
            <a:spLocks noGrp="1"/>
          </p:cNvSpPr>
          <p:nvPr>
            <p:ph sz="half" idx="1"/>
          </p:nvPr>
        </p:nvSpPr>
        <p:spPr/>
        <p:txBody>
          <a:bodyPr/>
          <a:lstStyle/>
          <a:p>
            <a:r>
              <a:t>09 Jun</a:t>
            </a:r>
          </a:p>
          <a:p>
            <a:endParaRPr/>
          </a:p>
          <a:p>
            <a:r>
              <a:t>Today, AWS Systems Manager Quick Setup announces support for Amazon Elastic File System (Amazon EFS), enabling you to set up Amazon EFS client (amazon-efs-utils) across all the Amazon EC2 instances in your organization with a few clicks. In addition to installing and configuring the Amazon EFS client, Quick Setup also supports periodically updating the client to the latest available version.</a:t>
            </a:r>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FSx for Windows File Server now supports file access auditing</a:t>
            </a:r>
          </a:p>
        </p:txBody>
      </p:sp>
      <p:sp>
        <p:nvSpPr>
          <p:cNvPr id="3" name="Content Placeholder 2"/>
          <p:cNvSpPr>
            <a:spLocks noGrp="1"/>
          </p:cNvSpPr>
          <p:nvPr>
            <p:ph sz="half" idx="1"/>
          </p:nvPr>
        </p:nvSpPr>
        <p:spPr/>
        <p:txBody>
          <a:bodyPr/>
          <a:lstStyle/>
          <a:p>
            <a:r>
              <a:rPr dirty="0"/>
              <a:t>08 Jun</a:t>
            </a:r>
          </a:p>
          <a:p>
            <a:endParaRPr dirty="0"/>
          </a:p>
          <a:p>
            <a:r>
              <a:rPr dirty="0"/>
              <a:t>Amazon </a:t>
            </a:r>
            <a:r>
              <a:rPr dirty="0" err="1"/>
              <a:t>FSx</a:t>
            </a:r>
            <a:r>
              <a:rPr dirty="0"/>
              <a:t> for Windows File Server now supports auditing end-user access to files, folders, and file shares. You can publish logs to Amazon CloudWatch Logs or stream logs to Amazon Kinesis Data Firehose, enabling you to query, process, store, and archive logs and trigger actions to further advance your security and compliance goals.</a:t>
            </a:r>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Aurora R6g instance types, powered by AWS Graviton2 processors, now available in AWS GovCloud (US) Regions</a:t>
            </a:r>
          </a:p>
        </p:txBody>
      </p:sp>
      <p:sp>
        <p:nvSpPr>
          <p:cNvPr id="3" name="Content Placeholder 2"/>
          <p:cNvSpPr>
            <a:spLocks noGrp="1"/>
          </p:cNvSpPr>
          <p:nvPr>
            <p:ph sz="half" idx="1"/>
          </p:nvPr>
        </p:nvSpPr>
        <p:spPr/>
        <p:txBody>
          <a:bodyPr/>
          <a:lstStyle/>
          <a:p>
            <a:r>
              <a:t>08 Jun</a:t>
            </a:r>
          </a:p>
          <a:p>
            <a:endParaRPr/>
          </a:p>
          <a:p>
            <a:r>
              <a:t>AWS Graviton2-based database instances are now generally available for Amazon Aurora with PostgreSQL compatibility and Amazon Aurora with MySQL compatibility in GovCloud regions. Graviton2 instances are already generally available for Amazon RDS for MySQL, Amazon RDS for PostgreSQL, and Amazon RDS for MariaDB.</a:t>
            </a:r>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Systems Manager is now FedRAMP-High Compliant</a:t>
            </a:r>
          </a:p>
        </p:txBody>
      </p:sp>
      <p:sp>
        <p:nvSpPr>
          <p:cNvPr id="3" name="Content Placeholder 2"/>
          <p:cNvSpPr>
            <a:spLocks noGrp="1"/>
          </p:cNvSpPr>
          <p:nvPr>
            <p:ph sz="half" idx="1"/>
          </p:nvPr>
        </p:nvSpPr>
        <p:spPr/>
        <p:txBody>
          <a:bodyPr/>
          <a:lstStyle/>
          <a:p>
            <a:r>
              <a:t>08 Jun</a:t>
            </a:r>
          </a:p>
          <a:p>
            <a:endParaRPr/>
          </a:p>
          <a:p>
            <a:r>
              <a:t>AWS Systems Manager is now compliant with the Federal Risk and Authorization Management Program (FedRAMP) High baseline. With FedRAMP-High compliance, you can use AWS Systems Manager to gain operational insights and safely take actions on your workloads in the AWS GovCloud (US) Region’s authorization boundary.</a:t>
            </a:r>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MQ now supports ActiveMQ version 5.16.2</a:t>
            </a:r>
          </a:p>
        </p:txBody>
      </p:sp>
      <p:sp>
        <p:nvSpPr>
          <p:cNvPr id="3" name="Content Placeholder 2"/>
          <p:cNvSpPr>
            <a:spLocks noGrp="1"/>
          </p:cNvSpPr>
          <p:nvPr>
            <p:ph sz="half" idx="1"/>
          </p:nvPr>
        </p:nvSpPr>
        <p:spPr/>
        <p:txBody>
          <a:bodyPr/>
          <a:lstStyle/>
          <a:p>
            <a:r>
              <a:t>08 Jun</a:t>
            </a:r>
          </a:p>
          <a:p>
            <a:endParaRPr/>
          </a:p>
          <a:p>
            <a:r>
              <a:t>You can now launch Apache ActiveMQ 5.16.2 brokers on Amazon MQ. This version update to ActiveMQ contains several fixes, improvements, and new features compared to the previously supported version, ActiveMQ 5.15.15.</a:t>
            </a:r>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RDS M6g and R6g instances now available for MySQL, MariaDB, and PostgreSQL in AWS GovCloud (US), Asia Pacific (Seoul), and Europe (Stockholm) regions</a:t>
            </a:r>
          </a:p>
        </p:txBody>
      </p:sp>
      <p:sp>
        <p:nvSpPr>
          <p:cNvPr id="3" name="Content Placeholder 2"/>
          <p:cNvSpPr>
            <a:spLocks noGrp="1"/>
          </p:cNvSpPr>
          <p:nvPr>
            <p:ph sz="half" idx="1"/>
          </p:nvPr>
        </p:nvSpPr>
        <p:spPr/>
        <p:txBody>
          <a:bodyPr/>
          <a:lstStyle/>
          <a:p>
            <a:r>
              <a:t>08 Jun</a:t>
            </a:r>
          </a:p>
          <a:p>
            <a:endParaRPr/>
          </a:p>
          <a:p>
            <a:r>
              <a:t>Amazon Relational Database Service (Amazon RDS) now supports AWS Graviton2-based database (DB) instances in the regions of AWS GovCloud (US), Asia Pacific (Seoul), and Europe (Stockholm). Depending on DB engine, version, and workload, Graviton2 instances provide up to 35% performance improvement and up to 52% price/performance improvement over comparable current generation x86-based instances for Amazon RDS for MySQL, MariaDB, and PostgreSQL.</a:t>
            </a:r>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New AWS Solutions Consulting Offer - Financial Services Security and Compliance Framework</a:t>
            </a:r>
          </a:p>
        </p:txBody>
      </p:sp>
      <p:sp>
        <p:nvSpPr>
          <p:cNvPr id="3" name="Content Placeholder 2"/>
          <p:cNvSpPr>
            <a:spLocks noGrp="1"/>
          </p:cNvSpPr>
          <p:nvPr>
            <p:ph sz="half" idx="1"/>
          </p:nvPr>
        </p:nvSpPr>
        <p:spPr/>
        <p:txBody>
          <a:bodyPr/>
          <a:lstStyle/>
          <a:p>
            <a:r>
              <a:t>07 Jun</a:t>
            </a:r>
          </a:p>
          <a:p>
            <a:endParaRPr/>
          </a:p>
          <a:p>
            <a:r>
              <a:t>Financial Services Security and Compliance Framework is an AWS Solutions Consulting Offer delivered via a consulting engagement from Airwalk Reply, an AWS Financial Services Competency Partner. Financial Services Security and Compliance Framework helps customers establish continuous compliance through the use of cloud-native tools, market-leading products, and Airwalk Reply's own Continuous Compliance Framework (CCF). Customers that request this consulting offer will participate in an engagement that delivers assessment, control framework implementation, customization, and deployment and operational handover.</a:t>
            </a:r>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Announcing new PostgreSQL 13.2, 13.1, and 12.6 version support for Amazon RDS on AWS Outposts</a:t>
            </a:r>
          </a:p>
        </p:txBody>
      </p:sp>
      <p:sp>
        <p:nvSpPr>
          <p:cNvPr id="3" name="Content Placeholder 2"/>
          <p:cNvSpPr>
            <a:spLocks noGrp="1"/>
          </p:cNvSpPr>
          <p:nvPr>
            <p:ph sz="half" idx="1"/>
          </p:nvPr>
        </p:nvSpPr>
        <p:spPr/>
        <p:txBody>
          <a:bodyPr/>
          <a:lstStyle/>
          <a:p>
            <a:r>
              <a:t>07 Jun</a:t>
            </a:r>
          </a:p>
          <a:p>
            <a:endParaRPr/>
          </a:p>
          <a:p>
            <a:r>
              <a:t>Amazon Relational Database Service (Amazon RDS) on AWS Outposts now supports PostgreSQL 13.2, 13.1, and 12.6 for production deployment. Amazon RDS on Outposts allows you to deploy fully managed database instances in your on-premises environments. AWS Outposts is a fully managed service that extends AWS infrastructure, AWS services, APIs, and tools to virtually any datacenter, co-location space, or on-premises facility for a truly consistent hybrid experience. You can deploy Amazon RDS on Outposts to set up, operate, and scale MySQL, Microsoft SQL Server and PostgreSQL relational databases on-premises, just as you would in the cloud.</a:t>
            </a:r>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China (Beijing) Region Adds the Third Availability Zone</a:t>
            </a:r>
          </a:p>
        </p:txBody>
      </p:sp>
      <p:sp>
        <p:nvSpPr>
          <p:cNvPr id="3" name="Content Placeholder 2"/>
          <p:cNvSpPr>
            <a:spLocks noGrp="1"/>
          </p:cNvSpPr>
          <p:nvPr>
            <p:ph sz="half" idx="1"/>
          </p:nvPr>
        </p:nvSpPr>
        <p:spPr/>
        <p:txBody>
          <a:bodyPr/>
          <a:lstStyle/>
          <a:p>
            <a:r>
              <a:t>07 Jun</a:t>
            </a:r>
          </a:p>
          <a:p>
            <a:endParaRPr/>
          </a:p>
          <a:p>
            <a:r>
              <a:t>Today, AWS China (Beijing) Region* has added a third Availability Zone (AZ) to support the high demand of our growing customer base. An Availability Zone (AZ) is one or more discrete data centers with redundant power, networking, and connectivity in an AWS Region. AZs give customers the ability to operate production applications and databases that are more highly available, fault tolerant, and scalable than would be possible from a single data center.</a:t>
            </a:r>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Audit Manager is now available in the Asia Pacific (Mumbai) and Canada (Central) Regions</a:t>
            </a:r>
          </a:p>
        </p:txBody>
      </p:sp>
      <p:sp>
        <p:nvSpPr>
          <p:cNvPr id="3" name="Content Placeholder 2"/>
          <p:cNvSpPr>
            <a:spLocks noGrp="1"/>
          </p:cNvSpPr>
          <p:nvPr>
            <p:ph sz="half" idx="1"/>
          </p:nvPr>
        </p:nvSpPr>
        <p:spPr/>
        <p:txBody>
          <a:bodyPr/>
          <a:lstStyle/>
          <a:p>
            <a:r>
              <a:t>07 Jun</a:t>
            </a:r>
          </a:p>
          <a:p>
            <a:endParaRPr/>
          </a:p>
          <a:p>
            <a:r>
              <a:t>AWS Audit Manager is now available in the Asia Pacific (Mumbai) and Canada (Central) Regions.</a:t>
            </a:r>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RDS for SQL Server now supports Business Intelligence Suite in the AWS GovCloud (US) Regions</a:t>
            </a:r>
          </a:p>
        </p:txBody>
      </p:sp>
      <p:sp>
        <p:nvSpPr>
          <p:cNvPr id="3" name="Content Placeholder 2"/>
          <p:cNvSpPr>
            <a:spLocks noGrp="1"/>
          </p:cNvSpPr>
          <p:nvPr>
            <p:ph sz="half" idx="1"/>
          </p:nvPr>
        </p:nvSpPr>
        <p:spPr/>
        <p:txBody>
          <a:bodyPr/>
          <a:lstStyle/>
          <a:p>
            <a:r>
              <a:t>04 Jun</a:t>
            </a:r>
          </a:p>
          <a:p>
            <a:endParaRPr/>
          </a:p>
          <a:p>
            <a:r>
              <a:t>Amazon Relational Database Service (Amazon RDS) for SQL Server now supports the Microsoft Business Intelligence suite on SQL Server 2016, 2017, and 2019 in the AWS GovCloud (US) Regions. You can now run SQL Server Integration, Analysis, and Reporting Services on DB instances using the latest major versions.</a:t>
            </a:r>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CloudWatch releases a C# client library for Embedded Metric Format</a:t>
            </a:r>
          </a:p>
        </p:txBody>
      </p:sp>
      <p:sp>
        <p:nvSpPr>
          <p:cNvPr id="3" name="Content Placeholder 2"/>
          <p:cNvSpPr>
            <a:spLocks noGrp="1"/>
          </p:cNvSpPr>
          <p:nvPr>
            <p:ph sz="half" idx="1"/>
          </p:nvPr>
        </p:nvSpPr>
        <p:spPr/>
        <p:txBody>
          <a:bodyPr/>
          <a:lstStyle/>
          <a:p>
            <a:r>
              <a:t>04 Jun</a:t>
            </a:r>
          </a:p>
          <a:p>
            <a:endParaRPr/>
          </a:p>
          <a:p>
            <a:r>
              <a:t>CloudWatch Embedded Metric Format enables you to ingest complex high-cardinality application data in the form of logs and easily generate actionable metrics from them. It has traditionally been hard to generate actionable custom metrics from your ephemeral resources such as Lambda functions, and containers. By sending your logs in the Embedded Metric Format, you can now easily create custom metrics without having to instrument or maintain separate code, while gaining powerful analytical capabilities on your log data.</a:t>
            </a:r>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Backint Agent version 1.04 now available</a:t>
            </a:r>
          </a:p>
        </p:txBody>
      </p:sp>
      <p:sp>
        <p:nvSpPr>
          <p:cNvPr id="3" name="Content Placeholder 2"/>
          <p:cNvSpPr>
            <a:spLocks noGrp="1"/>
          </p:cNvSpPr>
          <p:nvPr>
            <p:ph sz="half" idx="1"/>
          </p:nvPr>
        </p:nvSpPr>
        <p:spPr/>
        <p:txBody>
          <a:bodyPr/>
          <a:lstStyle/>
          <a:p>
            <a:r>
              <a:t>04 Jun</a:t>
            </a:r>
          </a:p>
          <a:p>
            <a:endParaRPr/>
          </a:p>
          <a:p>
            <a:r>
              <a:t>AWS Backint Agent version 1.04 is now available in all commercial regions, including AWS GovCloud (US) Regions.</a:t>
            </a:r>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Neptune simplifies in-console experience to help customers get started faster</a:t>
            </a:r>
          </a:p>
        </p:txBody>
      </p:sp>
      <p:sp>
        <p:nvSpPr>
          <p:cNvPr id="3" name="Content Placeholder 2"/>
          <p:cNvSpPr>
            <a:spLocks noGrp="1"/>
          </p:cNvSpPr>
          <p:nvPr>
            <p:ph sz="half" idx="1"/>
          </p:nvPr>
        </p:nvSpPr>
        <p:spPr/>
        <p:txBody>
          <a:bodyPr/>
          <a:lstStyle/>
          <a:p>
            <a:r>
              <a:t>04 Jun</a:t>
            </a:r>
          </a:p>
          <a:p>
            <a:endParaRPr/>
          </a:p>
          <a:p>
            <a:r>
              <a:t>Amazon Neptune has simplified the console experience for creating Neptune clusters and Neptune notebooks. The new experience allows you to provision a new cluster and a new notebook instance at the same time. Now, customers only need to take one step to get started with Amazon Neptune.</a:t>
            </a:r>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SageMaker model registry now supports rollback of deployed models</a:t>
            </a:r>
          </a:p>
        </p:txBody>
      </p:sp>
      <p:sp>
        <p:nvSpPr>
          <p:cNvPr id="3" name="Content Placeholder 2"/>
          <p:cNvSpPr>
            <a:spLocks noGrp="1"/>
          </p:cNvSpPr>
          <p:nvPr>
            <p:ph sz="half" idx="1"/>
          </p:nvPr>
        </p:nvSpPr>
        <p:spPr/>
        <p:txBody>
          <a:bodyPr/>
          <a:lstStyle/>
          <a:p>
            <a:r>
              <a:t>04 Jun</a:t>
            </a:r>
          </a:p>
          <a:p>
            <a:endParaRPr/>
          </a:p>
          <a:p>
            <a:r>
              <a:t>Amazon SageMaker Pipelines, the first purpose built continuous integration and continuous delivery (CI/CD) service for machine learning (ML), now allows customers to rollback the latest customer approved version of ML models deployed to SageMaker hosted endpoints to a previous customer approved version of the model. Customers can now change the status of the deployed model package version in the model registry from "Approved" to "Rejected". This will trigger the model deployment CI/CD pipeline  to roll back the current version of the model deployed to the SageMaker endpoint to the latest previous version of the model that was approved for deployment.</a:t>
            </a:r>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EMR Studio is now available in 13 regions</a:t>
            </a:r>
          </a:p>
        </p:txBody>
      </p:sp>
      <p:sp>
        <p:nvSpPr>
          <p:cNvPr id="3" name="Content Placeholder 2"/>
          <p:cNvSpPr>
            <a:spLocks noGrp="1"/>
          </p:cNvSpPr>
          <p:nvPr>
            <p:ph sz="half" idx="1"/>
          </p:nvPr>
        </p:nvSpPr>
        <p:spPr/>
        <p:txBody>
          <a:bodyPr/>
          <a:lstStyle/>
          <a:p>
            <a:r>
              <a:t>04 Jun</a:t>
            </a:r>
          </a:p>
          <a:p>
            <a:endParaRPr/>
          </a:p>
          <a:p>
            <a:r>
              <a:t>Starting today, Amazon EMR Studio is available in US East (Ohio, N. Virginia), US West (Oregon), Canada (Central), Europe (Ireland, Frankfurt, London, and Stockholm), and Asia Pacific (Mumbai, Seoul, Singapore, Sydney, and Tokyo) regions.</a:t>
            </a:r>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Systems Manager Session Manager plugin for the AWS CLI is now open source</a:t>
            </a:r>
          </a:p>
        </p:txBody>
      </p:sp>
      <p:sp>
        <p:nvSpPr>
          <p:cNvPr id="3" name="Content Placeholder 2"/>
          <p:cNvSpPr>
            <a:spLocks noGrp="1"/>
          </p:cNvSpPr>
          <p:nvPr>
            <p:ph sz="half" idx="1"/>
          </p:nvPr>
        </p:nvSpPr>
        <p:spPr/>
        <p:txBody>
          <a:bodyPr/>
          <a:lstStyle/>
          <a:p>
            <a:r>
              <a:t>03 Jun</a:t>
            </a:r>
          </a:p>
          <a:p>
            <a:endParaRPr/>
          </a:p>
          <a:p>
            <a:r>
              <a:t>The AWS Systems Manager Session Manager plugin for the AWS Command Line Interface (AWS CLI) is now open source. Customers can access the source code for the Session Manager plugin for the AWS CLI on GitHub, contribute to its development, and use it as a building block to embed Session Manager capabilities into their own applications.</a:t>
            </a:r>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New LoRaWAN gateway management features generally available for AWS IoT Core for LoRaWAN</a:t>
            </a:r>
          </a:p>
        </p:txBody>
      </p:sp>
      <p:sp>
        <p:nvSpPr>
          <p:cNvPr id="3" name="Content Placeholder 2"/>
          <p:cNvSpPr>
            <a:spLocks noGrp="1"/>
          </p:cNvSpPr>
          <p:nvPr>
            <p:ph sz="half" idx="1"/>
          </p:nvPr>
        </p:nvSpPr>
        <p:spPr/>
        <p:txBody>
          <a:bodyPr/>
          <a:lstStyle/>
          <a:p>
            <a:r>
              <a:t>03 Jun</a:t>
            </a:r>
          </a:p>
          <a:p>
            <a:endParaRPr/>
          </a:p>
          <a:p>
            <a:r>
              <a:t>AWS IoT Core for LoRaWAN enables customers to set up a private LoRaWAN network without operating a LoRaWAN Network Server (LNS) by connecting their own LoRaWAN devices and gateways directly to the AWS Cloud. AWS IoT Core for LoRaWAN now supports three new features to help manage LoRaWAN gateways at scale. These new features enable you to query gateway connection status, customize gateway configuration with the desired frequency sub-bands for devices-to-gateway (uplink) communication, and filter messages at the gateway locally to control gateway backhaul connectivity costs.</a:t>
            </a:r>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Rekognition Custom Labels adds support for deploying models via the Console</a:t>
            </a:r>
          </a:p>
        </p:txBody>
      </p:sp>
      <p:sp>
        <p:nvSpPr>
          <p:cNvPr id="3" name="Content Placeholder 2"/>
          <p:cNvSpPr>
            <a:spLocks noGrp="1"/>
          </p:cNvSpPr>
          <p:nvPr>
            <p:ph sz="half" idx="1"/>
          </p:nvPr>
        </p:nvSpPr>
        <p:spPr/>
        <p:txBody>
          <a:bodyPr/>
          <a:lstStyle/>
          <a:p>
            <a:r>
              <a:t>03 Jun</a:t>
            </a:r>
          </a:p>
          <a:p>
            <a:endParaRPr/>
          </a:p>
          <a:p>
            <a:r>
              <a:t>We are excited to announce that Amazon Rekognition Custom Labels now makes it easier and faster to deploy your trained models in Rekognition Custom Labels with a simple button click. Once your model is trained and ready, navigate to the model details page under your project, select the use model tab, and then click the Start button. No coding is required for model hosting.</a:t>
            </a:r>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Transit Gateway Updates Service Level Agreement to 99.99%</a:t>
            </a:r>
          </a:p>
        </p:txBody>
      </p:sp>
      <p:sp>
        <p:nvSpPr>
          <p:cNvPr id="3" name="Content Placeholder 2"/>
          <p:cNvSpPr>
            <a:spLocks noGrp="1"/>
          </p:cNvSpPr>
          <p:nvPr>
            <p:ph sz="half" idx="1"/>
          </p:nvPr>
        </p:nvSpPr>
        <p:spPr/>
        <p:txBody>
          <a:bodyPr/>
          <a:lstStyle/>
          <a:p>
            <a:r>
              <a:t>03 Jun</a:t>
            </a:r>
          </a:p>
          <a:p>
            <a:endParaRPr/>
          </a:p>
          <a:p>
            <a:r>
              <a:t>AWS has updated its service level agreement (SLA) for AWS Transit Gateway  to 99.99%.</a:t>
            </a:r>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Solutions Implementation - AWS MLOps Framework adds multi-account support to help improve governance and security of ML workloads</a:t>
            </a:r>
          </a:p>
        </p:txBody>
      </p:sp>
      <p:sp>
        <p:nvSpPr>
          <p:cNvPr id="3" name="Content Placeholder 2"/>
          <p:cNvSpPr>
            <a:spLocks noGrp="1"/>
          </p:cNvSpPr>
          <p:nvPr>
            <p:ph sz="half" idx="1"/>
          </p:nvPr>
        </p:nvSpPr>
        <p:spPr/>
        <p:txBody>
          <a:bodyPr/>
          <a:lstStyle/>
          <a:p>
            <a:r>
              <a:t>03 Jun</a:t>
            </a:r>
          </a:p>
          <a:p>
            <a:endParaRPr/>
          </a:p>
          <a:p>
            <a:r>
              <a:t>AWS Solutions has updated the AWS MLOps Framework, an AWS Solutions Implementation that streamlines the pipeline deployment process and enforces architecture best practices for machine learning (ML) model productionization. This solution addresses common operational pain points that customers face when adopting multiple ML workflow automation tools.</a:t>
            </a:r>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GameLift Adds SDK Support and Updates for Unreal 4.26</a:t>
            </a:r>
          </a:p>
        </p:txBody>
      </p:sp>
      <p:sp>
        <p:nvSpPr>
          <p:cNvPr id="3" name="Content Placeholder 2"/>
          <p:cNvSpPr>
            <a:spLocks noGrp="1"/>
          </p:cNvSpPr>
          <p:nvPr>
            <p:ph sz="half" idx="1"/>
          </p:nvPr>
        </p:nvSpPr>
        <p:spPr/>
        <p:txBody>
          <a:bodyPr/>
          <a:lstStyle/>
          <a:p>
            <a:r>
              <a:t>03 Jun</a:t>
            </a:r>
          </a:p>
          <a:p>
            <a:endParaRPr/>
          </a:p>
          <a:p>
            <a:r>
              <a:t>We are excited to announce the update to Amazon GameLift Server SDK. An AWS managed service that is trusted by some of the most successful game companies in the world like Wargaming, Ubisoft, and IllFonic, GameLift deploys, operates, and scales dedicated servers in the cloud for multiplayer games. You as a mobile game developer expect to be able to develop iOS and Android games for Realtime-servers (RTS) using IL2CPP, so we have provided that support. This update allows you to expand the audience your games can reach by building RTS clients for the latest mobile devices.</a:t>
            </a:r>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Keyspaces is now in scope for AWS SOC Reports to help you run highly regulated Apache Cassandra workloads more easily</a:t>
            </a:r>
          </a:p>
        </p:txBody>
      </p:sp>
      <p:sp>
        <p:nvSpPr>
          <p:cNvPr id="3" name="Content Placeholder 2"/>
          <p:cNvSpPr>
            <a:spLocks noGrp="1"/>
          </p:cNvSpPr>
          <p:nvPr>
            <p:ph sz="half" idx="1"/>
          </p:nvPr>
        </p:nvSpPr>
        <p:spPr/>
        <p:txBody>
          <a:bodyPr/>
          <a:lstStyle/>
          <a:p>
            <a:r>
              <a:t>02 Jun</a:t>
            </a:r>
          </a:p>
          <a:p>
            <a:endParaRPr/>
          </a:p>
          <a:p>
            <a:r>
              <a:t>Amazon Keyspaces (for Apache Cassandra), a scalable, highly available, and fully managed Apache Cassandra–compatible database service, is now in scope for AWS System and Organization Controls (SOC) Reports to help you run highly regulated Cassandra workloads more easily.</a:t>
            </a:r>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New digital course: Improve Code Quality with Amazon CodeGuru Reviewer</a:t>
            </a:r>
          </a:p>
        </p:txBody>
      </p:sp>
      <p:sp>
        <p:nvSpPr>
          <p:cNvPr id="3" name="Content Placeholder 2"/>
          <p:cNvSpPr>
            <a:spLocks noGrp="1"/>
          </p:cNvSpPr>
          <p:nvPr>
            <p:ph sz="half" idx="1"/>
          </p:nvPr>
        </p:nvSpPr>
        <p:spPr/>
        <p:txBody>
          <a:bodyPr/>
          <a:lstStyle/>
          <a:p>
            <a:r>
              <a:t>02 Jun</a:t>
            </a:r>
          </a:p>
          <a:p>
            <a:endParaRPr/>
          </a:p>
          <a:p>
            <a:r>
              <a:t>Learn how to leverage the power of machine learning to automatically identify critical issues, security vulnerabilities, and hard-to-find bugs during application development with our new digital course, Improve Code Quality with Amazon CodeGuru Reviewer. In this course, you’ll learn how to use Amazon CodeGuru Reviewer to identify recommendations to improve the quality and security of your code.</a:t>
            </a:r>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WorkSpaces Cost Optimizer v2.3 adds support for existing VPCs and improves billing accuracy and reporting</a:t>
            </a:r>
          </a:p>
        </p:txBody>
      </p:sp>
      <p:sp>
        <p:nvSpPr>
          <p:cNvPr id="3" name="Content Placeholder 2"/>
          <p:cNvSpPr>
            <a:spLocks noGrp="1"/>
          </p:cNvSpPr>
          <p:nvPr>
            <p:ph sz="half" idx="1"/>
          </p:nvPr>
        </p:nvSpPr>
        <p:spPr/>
        <p:txBody>
          <a:bodyPr/>
          <a:lstStyle/>
          <a:p>
            <a:r>
              <a:t>02 Jun</a:t>
            </a:r>
          </a:p>
          <a:p>
            <a:endParaRPr/>
          </a:p>
          <a:p>
            <a:r>
              <a:t>We recently updated Amazon WorkSpaces Cost Optimizer, a reference implementation that monitors Amazon WorkSpaces usage patterns and automatically updates the billing mode to the most cost-efficient option (hourly or monthly) depending on usage. The Amazon WorkSpaces Cost Optimizer solution saves customers time and money by autonomously managing Amazon WorkSpaces billing so customers can focus on their core business.</a:t>
            </a:r>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RDS for PostgreSQL Supports New Minor Versions 13.2, 12.6, 11.11, 10.16, 9.6.21, and 9.5.25 in AWS GovCloud (US) Regions</a:t>
            </a:r>
          </a:p>
        </p:txBody>
      </p:sp>
      <p:sp>
        <p:nvSpPr>
          <p:cNvPr id="3" name="Content Placeholder 2"/>
          <p:cNvSpPr>
            <a:spLocks noGrp="1"/>
          </p:cNvSpPr>
          <p:nvPr>
            <p:ph sz="half" idx="1"/>
          </p:nvPr>
        </p:nvSpPr>
        <p:spPr/>
        <p:txBody>
          <a:bodyPr/>
          <a:lstStyle/>
          <a:p>
            <a:r>
              <a:t>02 Jun</a:t>
            </a:r>
          </a:p>
          <a:p>
            <a:endParaRPr/>
          </a:p>
          <a:p>
            <a:r>
              <a:t>Following the announcement of updates to the PostgreSQL database , we have updated Amazon RDS for PostgreSQL to support PostgreSQL minor versions 13.2, 12.6, 11.11, 10.16, 9.6.21, and 9.5.25. This release closes security vulnerabilities in PostgreSQL and contains bug fixes and improvements done by the PostgreSQL community. This also includes the final release of PostgreSQL 9.5 .</a:t>
            </a:r>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Cognito now supports SMS Sandbox from Amazon SNS</a:t>
            </a:r>
          </a:p>
        </p:txBody>
      </p:sp>
      <p:sp>
        <p:nvSpPr>
          <p:cNvPr id="3" name="Content Placeholder 2"/>
          <p:cNvSpPr>
            <a:spLocks noGrp="1"/>
          </p:cNvSpPr>
          <p:nvPr>
            <p:ph sz="half" idx="1"/>
          </p:nvPr>
        </p:nvSpPr>
        <p:spPr/>
        <p:txBody>
          <a:bodyPr/>
          <a:lstStyle/>
          <a:p>
            <a:r>
              <a:t>02 Jun</a:t>
            </a:r>
          </a:p>
          <a:p>
            <a:endParaRPr/>
          </a:p>
          <a:p>
            <a:r>
              <a:t>Amazon Cognito now supports SMS Sandbox in Amazon SNS. Amazon Cognito makes it easy to add authentication, authorization, and user management to your web and mobile apps. Amazon Cognito scales to millions of users and supports sign-in with social identity providers, such as Apple, Facebook, Google, and Amazon, and enterprise identity providers via standards such as SAML 2.0 and OpenID Connect.</a:t>
            </a:r>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New AWS Solutions Implementation: Disaster Recovery for AWS IoT</a:t>
            </a:r>
          </a:p>
        </p:txBody>
      </p:sp>
      <p:sp>
        <p:nvSpPr>
          <p:cNvPr id="3" name="Content Placeholder 2"/>
          <p:cNvSpPr>
            <a:spLocks noGrp="1"/>
          </p:cNvSpPr>
          <p:nvPr>
            <p:ph sz="half" idx="1"/>
          </p:nvPr>
        </p:nvSpPr>
        <p:spPr/>
        <p:txBody>
          <a:bodyPr/>
          <a:lstStyle/>
          <a:p>
            <a:r>
              <a:t>01 Jun</a:t>
            </a:r>
          </a:p>
          <a:p>
            <a:endParaRPr/>
          </a:p>
          <a:p>
            <a:r>
              <a:t>We are delighted to announce the addition of Disaster Recovery for AWS IoT to the AWS Solutions Implementations portfolio. AWS Solutions Implementations help you solve common problems and build faster using the AWS platform.</a:t>
            </a:r>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Polly Launches a new Canadian French Neural Text-to-Speech voice</a:t>
            </a:r>
          </a:p>
        </p:txBody>
      </p:sp>
      <p:sp>
        <p:nvSpPr>
          <p:cNvPr id="3" name="Content Placeholder 2"/>
          <p:cNvSpPr>
            <a:spLocks noGrp="1"/>
          </p:cNvSpPr>
          <p:nvPr>
            <p:ph sz="half" idx="1"/>
          </p:nvPr>
        </p:nvSpPr>
        <p:spPr/>
        <p:txBody>
          <a:bodyPr/>
          <a:lstStyle/>
          <a:p>
            <a:r>
              <a:t>01 Jun</a:t>
            </a:r>
          </a:p>
          <a:p>
            <a:endParaRPr/>
          </a:p>
          <a:p>
            <a:r>
              <a:t>Today, we are excited to announce the general availability of Gabrielle, Amazon Polly’s first Canadian French Neural Text-to-Speech (NTTS) voice. Amazon Polly is a service that turns text into lifelike speech. Customers can now enjoy a selection of two female Canadian French voices: Chantal, a Standard TTS voice and the just launched Gabrielle.</a:t>
            </a:r>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NICE DCV releases web client SDK 1.0.1</a:t>
            </a:r>
          </a:p>
        </p:txBody>
      </p:sp>
      <p:sp>
        <p:nvSpPr>
          <p:cNvPr id="3" name="Content Placeholder 2"/>
          <p:cNvSpPr>
            <a:spLocks noGrp="1"/>
          </p:cNvSpPr>
          <p:nvPr>
            <p:ph sz="half" idx="1"/>
          </p:nvPr>
        </p:nvSpPr>
        <p:spPr/>
        <p:txBody>
          <a:bodyPr/>
          <a:lstStyle/>
          <a:p>
            <a:r>
              <a:t>01 Jun</a:t>
            </a:r>
          </a:p>
          <a:p>
            <a:endParaRPr/>
          </a:p>
          <a:p>
            <a:r>
              <a:t>NICE DCV is a high-performance remote display protocol that helps customers securely access remote desktop or application sessions, including 3D graphics applications hosted on servers with high-performance GPUs.</a:t>
            </a:r>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NICE DCV releases version 2021.1 with accurate audio/video synchronization</a:t>
            </a:r>
          </a:p>
        </p:txBody>
      </p:sp>
      <p:sp>
        <p:nvSpPr>
          <p:cNvPr id="3" name="Content Placeholder 2"/>
          <p:cNvSpPr>
            <a:spLocks noGrp="1"/>
          </p:cNvSpPr>
          <p:nvPr>
            <p:ph sz="half" idx="1"/>
          </p:nvPr>
        </p:nvSpPr>
        <p:spPr/>
        <p:txBody>
          <a:bodyPr/>
          <a:lstStyle/>
          <a:p>
            <a:r>
              <a:t>01 Jun</a:t>
            </a:r>
          </a:p>
          <a:p>
            <a:endParaRPr/>
          </a:p>
          <a:p>
            <a:r>
              <a:t>NICE DCV is a high-performance remote display protocol that helps customers securely access remote desktop or application sessions, including 3D graphics applications hosted on servers with high-performance GPUs.</a:t>
            </a:r>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WAF and AWS Shield Advanced are available in Asia Pacific (Osaka)</a:t>
            </a:r>
          </a:p>
        </p:txBody>
      </p:sp>
      <p:sp>
        <p:nvSpPr>
          <p:cNvPr id="3" name="Content Placeholder 2"/>
          <p:cNvSpPr>
            <a:spLocks noGrp="1"/>
          </p:cNvSpPr>
          <p:nvPr>
            <p:ph sz="half" idx="1"/>
          </p:nvPr>
        </p:nvSpPr>
        <p:spPr/>
        <p:txBody>
          <a:bodyPr/>
          <a:lstStyle/>
          <a:p>
            <a:r>
              <a:t>01 Jun</a:t>
            </a:r>
          </a:p>
          <a:p>
            <a:endParaRPr/>
          </a:p>
          <a:p>
            <a:r>
              <a:t>Starting today, AWS WAF and AWS Shield Advanced are available in Asia Pacific (Osaka).</a:t>
            </a:r>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SNS now supports SMS Sandbox and displays available origination IDs in your account</a:t>
            </a:r>
          </a:p>
        </p:txBody>
      </p:sp>
      <p:sp>
        <p:nvSpPr>
          <p:cNvPr id="3" name="Content Placeholder 2"/>
          <p:cNvSpPr>
            <a:spLocks noGrp="1"/>
          </p:cNvSpPr>
          <p:nvPr>
            <p:ph sz="half" idx="1"/>
          </p:nvPr>
        </p:nvSpPr>
        <p:spPr/>
        <p:txBody>
          <a:bodyPr/>
          <a:lstStyle/>
          <a:p>
            <a:r>
              <a:t>01 Jun</a:t>
            </a:r>
          </a:p>
          <a:p>
            <a:endParaRPr/>
          </a:p>
          <a:p>
            <a:r>
              <a:t>Amazon Simple Notification Service (Amazon SNS) is a fully-managed messaging service that supports application-to-person (A2P) workloads, including mobile text messaging (SMS). Now, when you start using Amazon SNS to send SMS, your SMS workloads start in an isolated testing environment, called the SMS sandbox. </a:t>
            </a:r>
          </a:p>
        </p:txBody>
      </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QLDB supports IAM-based access policy for PartiQL queries and ledger tables</a:t>
            </a:r>
          </a:p>
        </p:txBody>
      </p:sp>
      <p:sp>
        <p:nvSpPr>
          <p:cNvPr id="3" name="Content Placeholder 2"/>
          <p:cNvSpPr>
            <a:spLocks noGrp="1"/>
          </p:cNvSpPr>
          <p:nvPr>
            <p:ph sz="half" idx="1"/>
          </p:nvPr>
        </p:nvSpPr>
        <p:spPr/>
        <p:txBody>
          <a:bodyPr/>
          <a:lstStyle/>
          <a:p>
            <a:r>
              <a:t>01 Jun</a:t>
            </a:r>
          </a:p>
          <a:p>
            <a:endParaRPr/>
          </a:p>
          <a:p>
            <a:r>
              <a:t>Amazon Quantum Ledger Database (Amazon QLDB) now supports enhanced Amazon Identity Access Management (IAM) based permissions for QLDB authentication, query, and data access. This release builds on the existing Amazon QLDB permissions model, adding separation of access by PartiQL command and ledger table. With this feature, QLDB customers will now be able to implement more granular database authorization and access policy that meets strict security requirements.</a:t>
            </a:r>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API Gateway now supports synchronous invocations of Express Workflows using REST APIs</a:t>
            </a:r>
          </a:p>
        </p:txBody>
      </p:sp>
      <p:sp>
        <p:nvSpPr>
          <p:cNvPr id="3" name="Content Placeholder 2"/>
          <p:cNvSpPr>
            <a:spLocks noGrp="1"/>
          </p:cNvSpPr>
          <p:nvPr>
            <p:ph sz="half" idx="1"/>
          </p:nvPr>
        </p:nvSpPr>
        <p:spPr/>
        <p:txBody>
          <a:bodyPr/>
          <a:lstStyle/>
          <a:p>
            <a:r>
              <a:t>01 Jun</a:t>
            </a:r>
          </a:p>
          <a:p>
            <a:endParaRPr/>
          </a:p>
          <a:p>
            <a:r>
              <a:t>Synchronous Express Workflows can now be triggered with Amazon API Gateway’s REST APIs, allowing you to build interactive applications and orchestrate high-volume, short-duration microservices.</a:t>
            </a:r>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CloudWatch adds Control Plane API Usage Metrics across AWS Services</a:t>
            </a:r>
          </a:p>
        </p:txBody>
      </p:sp>
      <p:sp>
        <p:nvSpPr>
          <p:cNvPr id="3" name="Content Placeholder 2"/>
          <p:cNvSpPr>
            <a:spLocks noGrp="1"/>
          </p:cNvSpPr>
          <p:nvPr>
            <p:ph sz="half" idx="1"/>
          </p:nvPr>
        </p:nvSpPr>
        <p:spPr/>
        <p:txBody>
          <a:bodyPr/>
          <a:lstStyle/>
          <a:p>
            <a:r>
              <a:t>01 Jun</a:t>
            </a:r>
          </a:p>
          <a:p>
            <a:endParaRPr/>
          </a:p>
          <a:p>
            <a:r>
              <a:t>Amazon CloudWatch now gives operators and developers visibility and actionable insights into their utilization of control plane APIs across AWS services. You can find API call count metrics organized by AWS service in the CloudWatch console, and search and discover usage metrics from thousands available in the AWS/Usage namespace.</a:t>
            </a:r>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RDS for Oracle now supports April 2021 Patch Set Update (PSU) for Oracle Database 12.1</a:t>
            </a:r>
          </a:p>
        </p:txBody>
      </p:sp>
      <p:sp>
        <p:nvSpPr>
          <p:cNvPr id="3" name="Content Placeholder 2"/>
          <p:cNvSpPr>
            <a:spLocks noGrp="1"/>
          </p:cNvSpPr>
          <p:nvPr>
            <p:ph sz="half" idx="1"/>
          </p:nvPr>
        </p:nvSpPr>
        <p:spPr/>
        <p:txBody>
          <a:bodyPr/>
          <a:lstStyle/>
          <a:p>
            <a:r>
              <a:t>28 May</a:t>
            </a:r>
          </a:p>
          <a:p>
            <a:endParaRPr/>
          </a:p>
          <a:p>
            <a:r>
              <a:t>Amazon RDS for Oracle now supports the April 2021 Patch Set Update (PSU) for Oracle Database 12.1. April 2021 Release Update (RU) for Oracle Database 12.2, 18c, and 19c have already been launched.</a:t>
            </a:r>
          </a:p>
        </p:txBody>
      </p:sp>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Announcing Amazon CloudWatch Resource Health</a:t>
            </a:r>
          </a:p>
        </p:txBody>
      </p:sp>
      <p:sp>
        <p:nvSpPr>
          <p:cNvPr id="3" name="Content Placeholder 2"/>
          <p:cNvSpPr>
            <a:spLocks noGrp="1"/>
          </p:cNvSpPr>
          <p:nvPr>
            <p:ph sz="half" idx="1"/>
          </p:nvPr>
        </p:nvSpPr>
        <p:spPr/>
        <p:txBody>
          <a:bodyPr/>
          <a:lstStyle/>
          <a:p>
            <a:r>
              <a:t>28 May</a:t>
            </a:r>
          </a:p>
          <a:p>
            <a:endParaRPr/>
          </a:p>
          <a:p>
            <a:r>
              <a:t>Amazon CloudWatch Resource Health is a new feature that enables you to automatically discover, manage, and visualize the health and performance of Amazon Elastic Compute Cloud (Amazon EC2) hosts across your applications in a single view. With Resource Health, you can visualize the health of your Amazon EC2 hosts in a map (or list) view by performance dimension such as CPU or Memory, and slice and dice hundreds of hosts using tags and available filters such as instance type, instance state, and status check. This helps in reducing your Mean time to resolution (MTTR) by easily isolating EC2 hosts that are performing sub-optimally.</a:t>
            </a:r>
          </a:p>
        </p:txBody>
      </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CloudWatch Logs announces Dimension support for Metric Filters</a:t>
            </a:r>
          </a:p>
        </p:txBody>
      </p:sp>
      <p:sp>
        <p:nvSpPr>
          <p:cNvPr id="3" name="Content Placeholder 2"/>
          <p:cNvSpPr>
            <a:spLocks noGrp="1"/>
          </p:cNvSpPr>
          <p:nvPr>
            <p:ph sz="half" idx="1"/>
          </p:nvPr>
        </p:nvSpPr>
        <p:spPr/>
        <p:txBody>
          <a:bodyPr/>
          <a:lstStyle/>
          <a:p>
            <a:r>
              <a:t>28 May</a:t>
            </a:r>
          </a:p>
          <a:p>
            <a:endParaRPr/>
          </a:p>
          <a:p>
            <a:r>
              <a:t>Amazon CloudWatch Logs announces Dimension support for Metric Filters. CloudWatch Logs Metric Filters allow you to create filter patterns to search for and match terms, phrases, or values in your CloudWatch Logs log events, and turn these into metrics that you can graph in CloudWatch Metrics or use to create a CloudWatch Alarm. Now with Dimension support for Metric Filters you can create metrics from JSON or space-delimited logs with up to 3 dimensions, where a dimension is a key-value pair that is part of the identity of a metric.</a:t>
            </a:r>
          </a:p>
        </p:txBody>
      </p:sp>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SageMaker Autopilot adds automatic cross validation to improve model quality on smaller datasets by up to 35%</a:t>
            </a:r>
          </a:p>
        </p:txBody>
      </p:sp>
      <p:sp>
        <p:nvSpPr>
          <p:cNvPr id="3" name="Content Placeholder 2"/>
          <p:cNvSpPr>
            <a:spLocks noGrp="1"/>
          </p:cNvSpPr>
          <p:nvPr>
            <p:ph sz="half" idx="1"/>
          </p:nvPr>
        </p:nvSpPr>
        <p:spPr/>
        <p:txBody>
          <a:bodyPr/>
          <a:lstStyle/>
          <a:p>
            <a:r>
              <a:t>28 May</a:t>
            </a:r>
          </a:p>
          <a:p>
            <a:endParaRPr/>
          </a:p>
          <a:p>
            <a:r>
              <a:t>Amazon SageMaker Autopilot automatically builds, trains, and tunes the best machine learning models based on your data, while allowing you to maintain full control and visibility. Starting today, Autopilot performs cross validation on input datasets under 50,000 rows for all problem types - regression, binary classification and multi class classification. With cross validation, you benefit from increased robustness to undesired splits between training and validation data, resulting in improved model quality. Depending on dataset and problem type, you may see improved model quality by up to 35%.</a:t>
            </a:r>
          </a:p>
        </p:txBody>
      </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Launch Wizard adds support for SQL Server Always On Failover Cluster Instances deployed on Amazon FSx for Windows File Server</a:t>
            </a:r>
          </a:p>
        </p:txBody>
      </p:sp>
      <p:sp>
        <p:nvSpPr>
          <p:cNvPr id="3" name="Content Placeholder 2"/>
          <p:cNvSpPr>
            <a:spLocks noGrp="1"/>
          </p:cNvSpPr>
          <p:nvPr>
            <p:ph sz="half" idx="1"/>
          </p:nvPr>
        </p:nvSpPr>
        <p:spPr/>
        <p:txBody>
          <a:bodyPr/>
          <a:lstStyle/>
          <a:p>
            <a:r>
              <a:t>28 May</a:t>
            </a:r>
          </a:p>
          <a:p>
            <a:endParaRPr/>
          </a:p>
          <a:p>
            <a:r>
              <a:t>You can now use AWS Launch Wizard to deploy Microsoft SQL Server Always On Failover Cluster Instances (FCI) using fully- managed, shared storage in Amazon FSx for Windows File Server (Amazon FSx). AWS Launch Wizard provides a simple console-based provisioning experience to deploy a SQL Server FCI high-availability environment without having to manually identify and provision individual AWS resources. The complexity and cost of running your SQL Server Always On deployments are reduced when you use Amazon FSx as shared storage.</a:t>
            </a:r>
          </a:p>
        </p:txBody>
      </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Introducing AWS App Runner Integration in the AWS Toolkit for JetBrains IDEs</a:t>
            </a:r>
          </a:p>
        </p:txBody>
      </p:sp>
      <p:sp>
        <p:nvSpPr>
          <p:cNvPr id="3" name="Content Placeholder 2"/>
          <p:cNvSpPr>
            <a:spLocks noGrp="1"/>
          </p:cNvSpPr>
          <p:nvPr>
            <p:ph sz="half" idx="1"/>
          </p:nvPr>
        </p:nvSpPr>
        <p:spPr/>
        <p:txBody>
          <a:bodyPr/>
          <a:lstStyle/>
          <a:p>
            <a:r>
              <a:t>28 May</a:t>
            </a:r>
          </a:p>
          <a:p>
            <a:endParaRPr/>
          </a:p>
          <a:p>
            <a:r>
              <a:t>The AWS Toolkit for JetBrains  now provides developers with convenient IDE functionality to create and manage deployments from their code or image repositories using AWS AppRunner. AWS App Runner that was recently announced  is a new service that makes it easy for customers without any prior containers or infrastructure experience to build, deploy, and run containerized web applications and APIs in just a few clicks.</a:t>
            </a:r>
          </a:p>
        </p:txBody>
      </p:sp>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announces general availability of Amazon Redshift ML</a:t>
            </a:r>
          </a:p>
        </p:txBody>
      </p:sp>
      <p:sp>
        <p:nvSpPr>
          <p:cNvPr id="3" name="Content Placeholder 2"/>
          <p:cNvSpPr>
            <a:spLocks noGrp="1"/>
          </p:cNvSpPr>
          <p:nvPr>
            <p:ph sz="half" idx="1"/>
          </p:nvPr>
        </p:nvSpPr>
        <p:spPr/>
        <p:txBody>
          <a:bodyPr/>
          <a:lstStyle/>
          <a:p>
            <a:r>
              <a:t>27 May</a:t>
            </a:r>
          </a:p>
          <a:p>
            <a:endParaRPr/>
          </a:p>
          <a:p>
            <a:r>
              <a:t>We're excited to announce that Redshift ML is now generally available. Amazon Redshift ML enables you to create, train, and deploy machine learning (ML) models using familiar SQL commands. With Amazon Redshift ML, you can now leverage Amazon SageMaker, a fully managed machine learning service, without moving your data or learning new skills.</a:t>
            </a:r>
          </a:p>
        </p:txBody>
      </p:sp>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hlinkClick r:id="rId2"/>
              </a:rPr>
              <a:t>Announcing Amazon Kinesis Data Analytics Studio: Interactively query data streams and develop stream processing applications powered by Apache Flink</a:t>
            </a:r>
          </a:p>
        </p:txBody>
      </p:sp>
      <p:sp>
        <p:nvSpPr>
          <p:cNvPr id="3" name="Content Placeholder 2"/>
          <p:cNvSpPr>
            <a:spLocks noGrp="1"/>
          </p:cNvSpPr>
          <p:nvPr>
            <p:ph sz="half" idx="1"/>
          </p:nvPr>
        </p:nvSpPr>
        <p:spPr/>
        <p:txBody>
          <a:bodyPr/>
          <a:lstStyle/>
          <a:p>
            <a:r>
              <a:rPr dirty="0"/>
              <a:t>27 May</a:t>
            </a:r>
          </a:p>
          <a:p>
            <a:endParaRPr dirty="0"/>
          </a:p>
          <a:p>
            <a:r>
              <a:rPr dirty="0"/>
              <a:t>Amazon Kinesis Data Analytics Studio is now available, enabling you to interactively query data streams in real time, and easily build and run stream processing applications using SQL, Python, and Scala. With a few clicks, you can launch a serverless notebook to perform ad hoc querying and live data exploration on data streams, and get results in seconds. From the notebook interface, you can also easily build and deploy your code as a stream processing application with durable state and autoscaling to continuously generate actionable insights in real time with no additional development effort.</a:t>
            </a:r>
          </a:p>
        </p:txBody>
      </p:sp>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Glue DataBrew adds new nest and unnest transformations</a:t>
            </a:r>
          </a:p>
        </p:txBody>
      </p:sp>
      <p:sp>
        <p:nvSpPr>
          <p:cNvPr id="3" name="Content Placeholder 2"/>
          <p:cNvSpPr>
            <a:spLocks noGrp="1"/>
          </p:cNvSpPr>
          <p:nvPr>
            <p:ph sz="half" idx="1"/>
          </p:nvPr>
        </p:nvSpPr>
        <p:spPr/>
        <p:txBody>
          <a:bodyPr/>
          <a:lstStyle/>
          <a:p>
            <a:r>
              <a:t>27 May</a:t>
            </a:r>
          </a:p>
          <a:p>
            <a:endParaRPr/>
          </a:p>
          <a:p>
            <a:r>
              <a:t>AWS Glue DataBrew now supports nest and unnest transformations to help users pack or unpack data into columns to manipulate their datasets. With these transformations, users can now easily extract data from nested json string fields or combine data without writing any code.</a:t>
            </a:r>
          </a:p>
        </p:txBody>
      </p:sp>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Wavelength is now System and Organization Controls (SOC) compliant</a:t>
            </a:r>
          </a:p>
        </p:txBody>
      </p:sp>
      <p:sp>
        <p:nvSpPr>
          <p:cNvPr id="3" name="Content Placeholder 2"/>
          <p:cNvSpPr>
            <a:spLocks noGrp="1"/>
          </p:cNvSpPr>
          <p:nvPr>
            <p:ph sz="half" idx="1"/>
          </p:nvPr>
        </p:nvSpPr>
        <p:spPr/>
        <p:txBody>
          <a:bodyPr/>
          <a:lstStyle/>
          <a:p>
            <a:r>
              <a:t>27 May</a:t>
            </a:r>
          </a:p>
          <a:p>
            <a:endParaRPr/>
          </a:p>
          <a:p>
            <a:r>
              <a:t>All AWS System and Organization Controls (SOC) (1,2,3) compliant services deployed in AWS Wavelength are now in scope. You can download the SOC Report in AWS Artifact. AWS maintains certifications through extensive audits of its controls to ensure that information security risks that affect the confidentiality, integrity, and availability of company and customer information are appropriately managed. </a:t>
            </a:r>
          </a:p>
        </p:txBody>
      </p:sp>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FSx for Lustre now supports data compression</a:t>
            </a:r>
          </a:p>
        </p:txBody>
      </p:sp>
      <p:sp>
        <p:nvSpPr>
          <p:cNvPr id="3" name="Content Placeholder 2"/>
          <p:cNvSpPr>
            <a:spLocks noGrp="1"/>
          </p:cNvSpPr>
          <p:nvPr>
            <p:ph sz="half" idx="1"/>
          </p:nvPr>
        </p:nvSpPr>
        <p:spPr/>
        <p:txBody>
          <a:bodyPr/>
          <a:lstStyle/>
          <a:p>
            <a:r>
              <a:t>27 May</a:t>
            </a:r>
          </a:p>
          <a:p>
            <a:endParaRPr/>
          </a:p>
          <a:p>
            <a:r>
              <a:t>Amazon FSx for Lustre, a service that provides cost-effective, high-performance, scalable file storage for compute workloads, now supports data compression, enabling you to reduce the cost of storage for machine learning, high performance computing (HPC), and analytics data sets.</a:t>
            </a:r>
          </a:p>
        </p:txBody>
      </p:sp>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Kendra releases Query Suggestions</a:t>
            </a:r>
          </a:p>
        </p:txBody>
      </p:sp>
      <p:sp>
        <p:nvSpPr>
          <p:cNvPr id="3" name="Content Placeholder 2"/>
          <p:cNvSpPr>
            <a:spLocks noGrp="1"/>
          </p:cNvSpPr>
          <p:nvPr>
            <p:ph sz="half" idx="1"/>
          </p:nvPr>
        </p:nvSpPr>
        <p:spPr/>
        <p:txBody>
          <a:bodyPr/>
          <a:lstStyle/>
          <a:p>
            <a:r>
              <a:t>27 May</a:t>
            </a:r>
          </a:p>
          <a:p>
            <a:endParaRPr/>
          </a:p>
          <a:p>
            <a:r>
              <a:t>Amazon Kendra is an intelligent search service powered by machine learning, that enables organizations to provide more relevant information to customers and employees, when they need it. Starting today, AWS customers can use Amazon Kendra’s Query Suggestions feature to guide end users towards more commonly asked questions and save them time in their search for the information they need.</a:t>
            </a:r>
          </a:p>
        </p:txBody>
      </p:sp>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Elastic Container Service Anywhere is now generally available</a:t>
            </a:r>
          </a:p>
        </p:txBody>
      </p:sp>
      <p:sp>
        <p:nvSpPr>
          <p:cNvPr id="3" name="Content Placeholder 2"/>
          <p:cNvSpPr>
            <a:spLocks noGrp="1"/>
          </p:cNvSpPr>
          <p:nvPr>
            <p:ph sz="half" idx="1"/>
          </p:nvPr>
        </p:nvSpPr>
        <p:spPr/>
        <p:txBody>
          <a:bodyPr/>
          <a:lstStyle/>
          <a:p>
            <a:r>
              <a:t>27 May</a:t>
            </a:r>
          </a:p>
          <a:p>
            <a:endParaRPr/>
          </a:p>
          <a:p>
            <a:r>
              <a:t>Today, we are excited to announce the general availability of Amazon Elastic Container Service (ECS) Anywhere, a new capability of Amazon ECS. Amazon ECS Anywhere provides a fully managed container orchestration service that enables customers to run and manage containerized applications on-premises using the same APIs, cluster management, workload scheduling, monitoring, and deployment pipelines they use with Amazon ECS today. Customers can use Amazon ECS Anywhere on their own infrastructure by connecting their servers or instances to the managed Amazon ECS control plane. Enterprises who need to keep their data on-premises for latency or regulatory reasons can now use a single and consistent cloud-managed container orchestrator across their hybrid footprint.</a:t>
            </a:r>
          </a:p>
        </p:txBody>
      </p:sp>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API Gateway REST APIs integrates with Step Functions Synchronous Express Workflows</a:t>
            </a:r>
          </a:p>
        </p:txBody>
      </p:sp>
      <p:sp>
        <p:nvSpPr>
          <p:cNvPr id="3" name="Content Placeholder 2"/>
          <p:cNvSpPr>
            <a:spLocks noGrp="1"/>
          </p:cNvSpPr>
          <p:nvPr>
            <p:ph sz="half" idx="1"/>
          </p:nvPr>
        </p:nvSpPr>
        <p:spPr/>
        <p:txBody>
          <a:bodyPr/>
          <a:lstStyle/>
          <a:p>
            <a:r>
              <a:t>27 May</a:t>
            </a:r>
          </a:p>
          <a:p>
            <a:endParaRPr/>
          </a:p>
          <a:p>
            <a:r>
              <a:t>You can now create Amazon API Gateway REST APIs to trigger a Synchronous Express Workflow from AWS Step Functions and respond with the output of that workflow.</a:t>
            </a:r>
          </a:p>
        </p:txBody>
      </p:sp>
    </p:spTree>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Polly Launches a new Korean Neural Text-to-Speech voice</a:t>
            </a:r>
          </a:p>
        </p:txBody>
      </p:sp>
      <p:sp>
        <p:nvSpPr>
          <p:cNvPr id="3" name="Content Placeholder 2"/>
          <p:cNvSpPr>
            <a:spLocks noGrp="1"/>
          </p:cNvSpPr>
          <p:nvPr>
            <p:ph sz="half" idx="1"/>
          </p:nvPr>
        </p:nvSpPr>
        <p:spPr/>
        <p:txBody>
          <a:bodyPr/>
          <a:lstStyle/>
          <a:p>
            <a:r>
              <a:t>27 May</a:t>
            </a:r>
          </a:p>
          <a:p>
            <a:endParaRPr/>
          </a:p>
          <a:p>
            <a:r>
              <a:t>Amazon Polly is a service that turns text into lifelike speech. Today, we are excited to announce the general availability of the Neural Text-to-Speech (NTTS) version of Seoyeon, a Korean Polly voice. Now Amazon Polly customers can enjoy Seoyeon either as an NTTS or Standard Korean voice.</a:t>
            </a:r>
          </a:p>
        </p:txBody>
      </p:sp>
    </p:spTree>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Lightsail DNS now supports pointing root domains to Lightsail Container Services</a:t>
            </a:r>
          </a:p>
        </p:txBody>
      </p:sp>
      <p:sp>
        <p:nvSpPr>
          <p:cNvPr id="3" name="Content Placeholder 2"/>
          <p:cNvSpPr>
            <a:spLocks noGrp="1"/>
          </p:cNvSpPr>
          <p:nvPr>
            <p:ph sz="half" idx="1"/>
          </p:nvPr>
        </p:nvSpPr>
        <p:spPr/>
        <p:txBody>
          <a:bodyPr/>
          <a:lstStyle/>
          <a:p>
            <a:r>
              <a:t>27 May</a:t>
            </a:r>
          </a:p>
          <a:p>
            <a:endParaRPr/>
          </a:p>
          <a:p>
            <a:r>
              <a:t>You can now route traffic from your custom root domains (such as example.com) to your Lightsail container services using Lightsail DNS. Lightsail DNS already supported creating CNAME records mapping to your container services. With this launch, Lightsail DNS supports aliasing your custom root domain to your container service’s default domain which was not possible before. Thus, you can create an A/AAAA record in your Lightsail hosted DNS zone pointing the zone apex to a container service.</a:t>
            </a:r>
          </a:p>
        </p:txBody>
      </p:sp>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Alarms feature now generally available for AWS IoT SiteWise and AWS IoT Events</a:t>
            </a:r>
          </a:p>
        </p:txBody>
      </p:sp>
      <p:sp>
        <p:nvSpPr>
          <p:cNvPr id="3" name="Content Placeholder 2"/>
          <p:cNvSpPr>
            <a:spLocks noGrp="1"/>
          </p:cNvSpPr>
          <p:nvPr>
            <p:ph sz="half" idx="1"/>
          </p:nvPr>
        </p:nvSpPr>
        <p:spPr/>
        <p:txBody>
          <a:bodyPr/>
          <a:lstStyle/>
          <a:p>
            <a:r>
              <a:t>27 May</a:t>
            </a:r>
          </a:p>
          <a:p>
            <a:endParaRPr/>
          </a:p>
          <a:p>
            <a:r>
              <a:t>The Alarms feature in AWS IoT Events allows you to set up, visualize and manage rule-based alerts for devices, equipment, and processes. You can receive alerts via SMS or email in near-real time when equipment data breaches thresholds, allowing operations teams to take timely actions to reduce unplanned equipment downtime.</a:t>
            </a:r>
          </a:p>
        </p:txBody>
      </p:sp>
    </p:spTree>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CloudWatch Synthetics is now available in the AWS Asia Pacific (Osaka) Region</a:t>
            </a:r>
          </a:p>
        </p:txBody>
      </p:sp>
      <p:sp>
        <p:nvSpPr>
          <p:cNvPr id="3" name="Content Placeholder 2"/>
          <p:cNvSpPr>
            <a:spLocks noGrp="1"/>
          </p:cNvSpPr>
          <p:nvPr>
            <p:ph sz="half" idx="1"/>
          </p:nvPr>
        </p:nvSpPr>
        <p:spPr/>
        <p:txBody>
          <a:bodyPr/>
          <a:lstStyle/>
          <a:p>
            <a:r>
              <a:t>27 May</a:t>
            </a:r>
          </a:p>
          <a:p>
            <a:endParaRPr/>
          </a:p>
          <a:p>
            <a:r>
              <a:t>CloudWatch Synthetics, a feature that supports monitoring your REST APIs, URLs, and website content every minute, 24/7, is now available in the AWS Asia Pacific (Osaka) Region. With CloudWatch Synthetics, you can continually verify your customer experience even when there is no customer traffic on your applications. This helps you discover issues before your customers do and react quickly to fix them.</a:t>
            </a:r>
          </a:p>
        </p:txBody>
      </p:sp>
    </p:spTree>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New self-paced courses for cloud procurement, .NET, and Amazon CodeGuru available</a:t>
            </a:r>
          </a:p>
        </p:txBody>
      </p:sp>
      <p:sp>
        <p:nvSpPr>
          <p:cNvPr id="3" name="Content Placeholder 2"/>
          <p:cNvSpPr>
            <a:spLocks noGrp="1"/>
          </p:cNvSpPr>
          <p:nvPr>
            <p:ph sz="half" idx="1"/>
          </p:nvPr>
        </p:nvSpPr>
        <p:spPr/>
        <p:txBody>
          <a:bodyPr/>
          <a:lstStyle/>
          <a:p>
            <a:r>
              <a:t>26 May</a:t>
            </a:r>
          </a:p>
          <a:p>
            <a:endParaRPr/>
          </a:p>
          <a:p>
            <a:r>
              <a:t>AWS Training and Certification has launched four, new self-paced digital courses, Building Modern .NET Applications on AWS, How to Buy Cloud - Strategies for Cloud Procurement, Improve your Java Code using Amazon CodeGuru, and Improve your Python Code using Amazon CodeGuru on Coursera, edX, and Udemy. </a:t>
            </a:r>
          </a:p>
        </p:txBody>
      </p:sp>
    </p:spTree>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Certificate Manager Private Certificate Authority now supports storing CRLs in private S3 buckets</a:t>
            </a:r>
          </a:p>
        </p:txBody>
      </p:sp>
      <p:sp>
        <p:nvSpPr>
          <p:cNvPr id="3" name="Content Placeholder 2"/>
          <p:cNvSpPr>
            <a:spLocks noGrp="1"/>
          </p:cNvSpPr>
          <p:nvPr>
            <p:ph sz="half" idx="1"/>
          </p:nvPr>
        </p:nvSpPr>
        <p:spPr/>
        <p:txBody>
          <a:bodyPr/>
          <a:lstStyle/>
          <a:p>
            <a:r>
              <a:t>26 May</a:t>
            </a:r>
          </a:p>
          <a:p>
            <a:endParaRPr/>
          </a:p>
          <a:p>
            <a:r>
              <a:t>AWS Certificate Manager (ACM) Private Certificate Authority (CA) now supports using S3 Block Public Access when storing certificate revocation links (CRL) in S3 buckets.</a:t>
            </a:r>
          </a:p>
        </p:txBody>
      </p:sp>
    </p:spTree>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EC2 High Memory instances with up to 12TB of memory are now available in two additional regions with On-Demand and Savings Plan purchase options</a:t>
            </a:r>
          </a:p>
        </p:txBody>
      </p:sp>
      <p:sp>
        <p:nvSpPr>
          <p:cNvPr id="3" name="Content Placeholder 2"/>
          <p:cNvSpPr>
            <a:spLocks noGrp="1"/>
          </p:cNvSpPr>
          <p:nvPr>
            <p:ph sz="half" idx="1"/>
          </p:nvPr>
        </p:nvSpPr>
        <p:spPr/>
        <p:txBody>
          <a:bodyPr/>
          <a:lstStyle/>
          <a:p>
            <a:r>
              <a:t>26 May</a:t>
            </a:r>
          </a:p>
          <a:p>
            <a:endParaRPr/>
          </a:p>
          <a:p>
            <a:r>
              <a:t>Starting today, Amazon EC2 High Memory Instances with 6TB, 9TB, and 12TB of memory (u-6tb1.56xlarge, u-6tb1.112xlarge, u-9tb1.112xlarge, and u-12tb1.112xlarge) are available in US West (Oregon) and AWS GovCloud (US-West) regions. The global availability of these new instances now includes US East (N. Virginia), US West (Oregon), AWS GovCloud (US-West), Europe (Ireland, Frankfurt), and Asia Pacific (Singapore) AWS regions. Customers can start using these new High Memory instances with OD and Savings Plan purchase options. For more information, visit the Amazon EC2 High Memory page.</a:t>
            </a:r>
          </a:p>
        </p:txBody>
      </p:sp>
    </p:spTree>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Aurora with MySQL Compatibility Supports T3.large Instances</a:t>
            </a:r>
          </a:p>
        </p:txBody>
      </p:sp>
      <p:sp>
        <p:nvSpPr>
          <p:cNvPr id="3" name="Content Placeholder 2"/>
          <p:cNvSpPr>
            <a:spLocks noGrp="1"/>
          </p:cNvSpPr>
          <p:nvPr>
            <p:ph sz="half" idx="1"/>
          </p:nvPr>
        </p:nvSpPr>
        <p:spPr/>
        <p:txBody>
          <a:bodyPr/>
          <a:lstStyle/>
          <a:p>
            <a:r>
              <a:t>26 May</a:t>
            </a:r>
          </a:p>
          <a:p>
            <a:endParaRPr/>
          </a:p>
          <a:p>
            <a:r>
              <a:t>Amazon Aurora with MySQL compatibility now supports T3.large instances, in addition to the T3.medium, T3.small, and R5 class instances already available. Using T3.large instances with Amazon Aurora MySQL is a cost-effective option for smaller workloads such as test, dev, and QA, while still giving you the option to use larger class instances for production deployments. </a:t>
            </a:r>
          </a:p>
        </p:txBody>
      </p:sp>
    </p:spTree>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Keyspaces (for Apache Cassandra) is now HIPAA eligible to help you run healthcare workloads more easily</a:t>
            </a:r>
          </a:p>
        </p:txBody>
      </p:sp>
      <p:sp>
        <p:nvSpPr>
          <p:cNvPr id="3" name="Content Placeholder 2"/>
          <p:cNvSpPr>
            <a:spLocks noGrp="1"/>
          </p:cNvSpPr>
          <p:nvPr>
            <p:ph sz="half" idx="1"/>
          </p:nvPr>
        </p:nvSpPr>
        <p:spPr/>
        <p:txBody>
          <a:bodyPr/>
          <a:lstStyle/>
          <a:p>
            <a:r>
              <a:t>26 May</a:t>
            </a:r>
          </a:p>
          <a:p>
            <a:endParaRPr/>
          </a:p>
          <a:p>
            <a:r>
              <a:t>Amazon Keyspaces (for Apache Cassandra), a scalable, highly available, and fully managed Apache Cassandra–compatible database service, is now Health Insurance Portability and Accountability Act of 1996 (HIPAA) eligible to help you run healthcare workloads more easily.</a:t>
            </a:r>
          </a:p>
        </p:txBody>
      </p:sp>
    </p:spTree>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Security Hub now supports bidirectional integration with Atlassian Jira Service Management</a:t>
            </a:r>
          </a:p>
        </p:txBody>
      </p:sp>
      <p:sp>
        <p:nvSpPr>
          <p:cNvPr id="3" name="Content Placeholder 2"/>
          <p:cNvSpPr>
            <a:spLocks noGrp="1"/>
          </p:cNvSpPr>
          <p:nvPr>
            <p:ph sz="half" idx="1"/>
          </p:nvPr>
        </p:nvSpPr>
        <p:spPr/>
        <p:txBody>
          <a:bodyPr/>
          <a:lstStyle/>
          <a:p>
            <a:r>
              <a:t>26 May</a:t>
            </a:r>
          </a:p>
          <a:p>
            <a:endParaRPr/>
          </a:p>
          <a:p>
            <a:r>
              <a:t>AWS Security Hub now supports a bidirectional integration with Atlassian Jira Service Management (JSM) .  You can now automatically create and update issues in Atlassian JSM from AWS Security Hub findings. Updates to those issues in Atlassian JSM will be synced with the findings in AWS Security Hub. This integration is available via the AWS Service Management Connector for JSM  app. After downloading the app, you can decide if you want to send all findings, or only certain findings with specific severity levels to JSM. When you make an update to various fields in an issue, such as state or priority, those changes are automatically sent to AWS Security Hub so that AWS Security Hub always has the latest and correct information about that issue.</a:t>
            </a:r>
          </a:p>
        </p:txBody>
      </p:sp>
    </p:spTree>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MQ for RabbitMQ is now available in Amazon Web Services China Regions</a:t>
            </a:r>
          </a:p>
        </p:txBody>
      </p:sp>
      <p:sp>
        <p:nvSpPr>
          <p:cNvPr id="3" name="Content Placeholder 2"/>
          <p:cNvSpPr>
            <a:spLocks noGrp="1"/>
          </p:cNvSpPr>
          <p:nvPr>
            <p:ph sz="half" idx="1"/>
          </p:nvPr>
        </p:nvSpPr>
        <p:spPr/>
        <p:txBody>
          <a:bodyPr/>
          <a:lstStyle/>
          <a:p>
            <a:r>
              <a:t>26 May</a:t>
            </a:r>
          </a:p>
          <a:p>
            <a:endParaRPr/>
          </a:p>
          <a:p>
            <a:r>
              <a:t>Amazon MQ for RabbitMQ  is now available in a total of 22 regions, with the addition of the Amazon Web Services China (Beijing) region, operated by Sinnet and Amazon Web Services China (Ningxia) region, operated by NWCD.</a:t>
            </a:r>
          </a:p>
        </p:txBody>
      </p:sp>
    </p:spTree>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Fleet Hub for AWS IoT Device Management, a new, easy way to monitor &amp; interact with IoT device fleets, is now generally available</a:t>
            </a:r>
          </a:p>
        </p:txBody>
      </p:sp>
      <p:sp>
        <p:nvSpPr>
          <p:cNvPr id="3" name="Content Placeholder 2"/>
          <p:cNvSpPr>
            <a:spLocks noGrp="1"/>
          </p:cNvSpPr>
          <p:nvPr>
            <p:ph sz="half" idx="1"/>
          </p:nvPr>
        </p:nvSpPr>
        <p:spPr/>
        <p:txBody>
          <a:bodyPr/>
          <a:lstStyle/>
          <a:p>
            <a:r>
              <a:t>25 May</a:t>
            </a:r>
          </a:p>
          <a:p>
            <a:endParaRPr/>
          </a:p>
          <a:p>
            <a:r>
              <a:t>Today, AWS IoT is announcing the general availability of Fleet Hub for AWS IoT Device Management. The feature enables customers to easily create a fully managed web application to view and interact with their device fleets to monitor fleet and device health, respond to alarms, take remote actions, and reduce time for troubleshooting.</a:t>
            </a:r>
          </a:p>
        </p:txBody>
      </p:sp>
    </p:spTree>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Transit Gateway Network Manager is now available in AWS GovCloud (US) Regions</a:t>
            </a:r>
          </a:p>
        </p:txBody>
      </p:sp>
      <p:sp>
        <p:nvSpPr>
          <p:cNvPr id="3" name="Content Placeholder 2"/>
          <p:cNvSpPr>
            <a:spLocks noGrp="1"/>
          </p:cNvSpPr>
          <p:nvPr>
            <p:ph sz="half" idx="1"/>
          </p:nvPr>
        </p:nvSpPr>
        <p:spPr/>
        <p:txBody>
          <a:bodyPr/>
          <a:lstStyle/>
          <a:p>
            <a:r>
              <a:t>25 May</a:t>
            </a:r>
          </a:p>
          <a:p>
            <a:endParaRPr/>
          </a:p>
          <a:p>
            <a:r>
              <a:t>Starting today, AWS Transit Gateway Network Manager is now available in AWS GovCloud (US) Regions.</a:t>
            </a:r>
          </a:p>
        </p:txBody>
      </p:sp>
    </p:spTree>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SageMaker Pipelines is now integrated with Amazon SageMaker Experiments</a:t>
            </a:r>
          </a:p>
        </p:txBody>
      </p:sp>
      <p:sp>
        <p:nvSpPr>
          <p:cNvPr id="3" name="Content Placeholder 2"/>
          <p:cNvSpPr>
            <a:spLocks noGrp="1"/>
          </p:cNvSpPr>
          <p:nvPr>
            <p:ph sz="half" idx="1"/>
          </p:nvPr>
        </p:nvSpPr>
        <p:spPr/>
        <p:txBody>
          <a:bodyPr/>
          <a:lstStyle/>
          <a:p>
            <a:r>
              <a:t>25 May</a:t>
            </a:r>
          </a:p>
          <a:p>
            <a:endParaRPr/>
          </a:p>
          <a:p>
            <a:r>
              <a:t>Amazon SageMaker Pipelines, the first purpose-built continuous integration and continuous delivery (CI/CD) service for machine learning (ML), is now integrated with SageMaker Experiments, a capability that lets customers organize, track, compare, and evaluate their ML experiments. Customers can now compare metrics such as model training accuracy across multiple executions of their SageMaker Pipelines just as easily as they compare such metrics across multiple trials of a ML model training experiment. SageMaker Pipelines automatically creates an Experiment with the pipeline name and an Experiment trial for every execution of the pipeline. The creation of an experiment for a pipeline and a trial for every pipeline execution is turned on by default. You can choose to opt-out of the auto-creation.</a:t>
            </a:r>
          </a:p>
        </p:txBody>
      </p:sp>
    </p:spTree>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Updated classroom course: Migrating to AWS</a:t>
            </a:r>
          </a:p>
        </p:txBody>
      </p:sp>
      <p:sp>
        <p:nvSpPr>
          <p:cNvPr id="3" name="Content Placeholder 2"/>
          <p:cNvSpPr>
            <a:spLocks noGrp="1"/>
          </p:cNvSpPr>
          <p:nvPr>
            <p:ph sz="half" idx="1"/>
          </p:nvPr>
        </p:nvSpPr>
        <p:spPr/>
        <p:txBody>
          <a:bodyPr/>
          <a:lstStyle/>
          <a:p>
            <a:r>
              <a:t>25 May</a:t>
            </a:r>
          </a:p>
          <a:p>
            <a:endParaRPr/>
          </a:p>
          <a:p>
            <a:r>
              <a:t>We are excited to announce the launch of our updated, three-day classroom training course, Migrating to AWS. This course helps you to build skills to migrate with confidence to the AWS Cloud to achieve business outcomes, innovate, and advance your professional future. Migrating to AWS is ideal for solution architects, software engineers, IT project managers, operation leads, and anyone with a role in planning or executing a migration to the AWS Cloud.</a:t>
            </a:r>
          </a:p>
        </p:txBody>
      </p:sp>
    </p:spTree>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AppFlow now expands its features with Marketo</a:t>
            </a:r>
          </a:p>
        </p:txBody>
      </p:sp>
      <p:sp>
        <p:nvSpPr>
          <p:cNvPr id="3" name="Content Placeholder 2"/>
          <p:cNvSpPr>
            <a:spLocks noGrp="1"/>
          </p:cNvSpPr>
          <p:nvPr>
            <p:ph sz="half" idx="1"/>
          </p:nvPr>
        </p:nvSpPr>
        <p:spPr/>
        <p:txBody>
          <a:bodyPr/>
          <a:lstStyle/>
          <a:p>
            <a:r>
              <a:t>25 May</a:t>
            </a:r>
          </a:p>
          <a:p>
            <a:endParaRPr/>
          </a:p>
          <a:p>
            <a:r>
              <a:t>Amazon AppFlow, a fully managed integration service that enables customers to securely transfer data between AWS services and cloud applications, expands its features with Marketo. Customers now can select Leads and Activities Objects in Marketo and move these into AWS Services like Amazon Simple Storage Service (Amazon S3), Amazon Redshift or Amazon Lookout for Metrics. In addition customers can also synchronize these objects with Salesforce, Snowflake, and Upsolver, or create new Leads objects in Marketo based on data in Amazon S3 or Salesforce.</a:t>
            </a:r>
          </a:p>
        </p:txBody>
      </p:sp>
    </p:spTree>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IoT Device Management launches Job Templates in Preview to make deployment of fleet-wide remote operations faster, easier, and more secure</a:t>
            </a:r>
          </a:p>
        </p:txBody>
      </p:sp>
      <p:sp>
        <p:nvSpPr>
          <p:cNvPr id="3" name="Content Placeholder 2"/>
          <p:cNvSpPr>
            <a:spLocks noGrp="1"/>
          </p:cNvSpPr>
          <p:nvPr>
            <p:ph sz="half" idx="1"/>
          </p:nvPr>
        </p:nvSpPr>
        <p:spPr/>
        <p:txBody>
          <a:bodyPr/>
          <a:lstStyle/>
          <a:p>
            <a:r>
              <a:t>25 May</a:t>
            </a:r>
          </a:p>
          <a:p>
            <a:endParaRPr/>
          </a:p>
          <a:p>
            <a:r>
              <a:t>AWS IoT is excited to announce the public preview of “Job Templates” for AWS IoT Device Management Jobs. Job Templates make deploying remote actions faster, easier, and more secure. IoT developers and fleet administrators can pre-define the remote operations to be executed on their IoT devices, and specify key deployment parameters like rollout rates, abort thresholds, and timeout criteria. Fleet operators and technicians who focus on fleet monitoring and troubleshooting can identify and select specific groups of devices as targets, and use these pre-defined Job Templates to securely deploy remote actions to their targets.</a:t>
            </a:r>
          </a:p>
        </p:txBody>
      </p:sp>
    </p:spTree>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Transfer Family now supports Microsoft Active Directory</a:t>
            </a:r>
          </a:p>
        </p:txBody>
      </p:sp>
      <p:sp>
        <p:nvSpPr>
          <p:cNvPr id="3" name="Content Placeholder 2"/>
          <p:cNvSpPr>
            <a:spLocks noGrp="1"/>
          </p:cNvSpPr>
          <p:nvPr>
            <p:ph sz="half" idx="1"/>
          </p:nvPr>
        </p:nvSpPr>
        <p:spPr/>
        <p:txBody>
          <a:bodyPr/>
          <a:lstStyle/>
          <a:p>
            <a:r>
              <a:t>25 May</a:t>
            </a:r>
          </a:p>
          <a:p>
            <a:endParaRPr/>
          </a:p>
          <a:p>
            <a:r>
              <a:t>AWS Transfer Family customers can now use AWS Managed Microsoft Active Directory (AD), on-premises and self-managed AD in AWS to authenticate their file transfer end users, enabling seamless migration of file transfer workflows that rely on AD, without changing end users’ credentials or needing a custom authorizer.</a:t>
            </a:r>
          </a:p>
        </p:txBody>
      </p:sp>
    </p:spTree>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MSK adds support for Apache Kafka version 2.7.1</a:t>
            </a:r>
          </a:p>
        </p:txBody>
      </p:sp>
      <p:sp>
        <p:nvSpPr>
          <p:cNvPr id="3" name="Content Placeholder 2"/>
          <p:cNvSpPr>
            <a:spLocks noGrp="1"/>
          </p:cNvSpPr>
          <p:nvPr>
            <p:ph sz="half" idx="1"/>
          </p:nvPr>
        </p:nvSpPr>
        <p:spPr/>
        <p:txBody>
          <a:bodyPr/>
          <a:lstStyle/>
          <a:p>
            <a:r>
              <a:t>25 May</a:t>
            </a:r>
          </a:p>
          <a:p>
            <a:endParaRPr/>
          </a:p>
          <a:p>
            <a:r>
              <a:t>Amazon Managed Streaming for Apache Kafka (Amazon MSK) now supports Apache Kafka version 2.7.1 for new and existing clusters. Apache Kafka 2.7.1  includes several bug fixes. For a complete list of fixes, see the Apache Kafka release notes for 2.7.1. </a:t>
            </a:r>
          </a:p>
        </p:txBody>
      </p:sp>
    </p:spTree>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Braket introduces quantum circuit noise simulator, DM1</a:t>
            </a:r>
          </a:p>
        </p:txBody>
      </p:sp>
      <p:sp>
        <p:nvSpPr>
          <p:cNvPr id="3" name="Content Placeholder 2"/>
          <p:cNvSpPr>
            <a:spLocks noGrp="1"/>
          </p:cNvSpPr>
          <p:nvPr>
            <p:ph sz="half" idx="1"/>
          </p:nvPr>
        </p:nvSpPr>
        <p:spPr/>
        <p:txBody>
          <a:bodyPr/>
          <a:lstStyle/>
          <a:p>
            <a:r>
              <a:t>25 May</a:t>
            </a:r>
          </a:p>
          <a:p>
            <a:endParaRPr/>
          </a:p>
          <a:p>
            <a:r>
              <a:t>Amazon Braket now offers a fully managed, density matrix simulator, DM1, to simulate quantum circuits with noise. DM1 helps you investigate the effects of realistic noise on your quantum algorithms to inform error mitigation strategies to get more accurate results from today’s quantum computing devices. With DM1, you can simulate circuits with up to 17 qubits and run up to 35 simulations in parallel, to speed up your experiments. For rapid prototyping and debugging, you can now also use the local noise simulator in the Amazon Braket SDK.</a:t>
            </a:r>
          </a:p>
        </p:txBody>
      </p:sp>
    </p:spTree>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Database Migration Service now supports PostgreSQL version 13 in preview mode</a:t>
            </a:r>
          </a:p>
        </p:txBody>
      </p:sp>
      <p:sp>
        <p:nvSpPr>
          <p:cNvPr id="3" name="Content Placeholder 2"/>
          <p:cNvSpPr>
            <a:spLocks noGrp="1"/>
          </p:cNvSpPr>
          <p:nvPr>
            <p:ph sz="half" idx="1"/>
          </p:nvPr>
        </p:nvSpPr>
        <p:spPr/>
        <p:txBody>
          <a:bodyPr/>
          <a:lstStyle/>
          <a:p>
            <a:r>
              <a:t>25 May</a:t>
            </a:r>
          </a:p>
          <a:p>
            <a:endParaRPr/>
          </a:p>
          <a:p>
            <a:r>
              <a:t>AWS Database Migration Service (AWS DMS) has expanded functionality by adding support for PostgreSQL version 13  in preview mode. Using AWS DMS, you can now perform live migrations from any AWS DMS supported sources  to PostgreSQL 13 databases, and from PostgreSQL 13 databases to any AWS DMS supported targets . </a:t>
            </a:r>
          </a:p>
        </p:txBody>
      </p:sp>
    </p:spTree>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Data Exchange now supports custom payment schedules for private offers</a:t>
            </a:r>
          </a:p>
        </p:txBody>
      </p:sp>
      <p:sp>
        <p:nvSpPr>
          <p:cNvPr id="3" name="Content Placeholder 2"/>
          <p:cNvSpPr>
            <a:spLocks noGrp="1"/>
          </p:cNvSpPr>
          <p:nvPr>
            <p:ph sz="half" idx="1"/>
          </p:nvPr>
        </p:nvSpPr>
        <p:spPr/>
        <p:txBody>
          <a:bodyPr/>
          <a:lstStyle/>
          <a:p>
            <a:r>
              <a:t>25 May</a:t>
            </a:r>
          </a:p>
          <a:p>
            <a:endParaRPr/>
          </a:p>
          <a:p>
            <a:r>
              <a:t>Data subscribers on AWS Data Exchange can now pay for their data products in installments with custom payment schedules created by their data provider. Before this launch, subscribers paid the total price of their private offer at the start of the subscription. With the introduction of payment schedules, providers can now create private offers for subscribers that generate up to 36 invoices on specific dates throughout a subscription.</a:t>
            </a:r>
          </a:p>
        </p:txBody>
      </p:sp>
    </p:spTree>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RDS for Oracle supports multitenant container database</a:t>
            </a:r>
          </a:p>
        </p:txBody>
      </p:sp>
      <p:sp>
        <p:nvSpPr>
          <p:cNvPr id="3" name="Content Placeholder 2"/>
          <p:cNvSpPr>
            <a:spLocks noGrp="1"/>
          </p:cNvSpPr>
          <p:nvPr>
            <p:ph sz="half" idx="1"/>
          </p:nvPr>
        </p:nvSpPr>
        <p:spPr/>
        <p:txBody>
          <a:bodyPr/>
          <a:lstStyle/>
          <a:p>
            <a:r>
              <a:t>25 May</a:t>
            </a:r>
          </a:p>
          <a:p>
            <a:endParaRPr/>
          </a:p>
          <a:p>
            <a:r>
              <a:t>Starting today Amazon Relational Database Service (RDS) for Oracle supports the creation of a DB instance with a single pluggable database (PDB) using the Oracle multitenant architecture, which enables the DB instance to operate as a multitenant container database (CDB). A PDB is a set of schemas, schema objects, and non-schema objects that logically appears to a client as a non-CDB.  </a:t>
            </a:r>
          </a:p>
        </p:txBody>
      </p:sp>
    </p:spTree>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EC2 M5zn instances, with high frequency processors and 100 Gbps networking are now available in Asia Pacific (Seoul)</a:t>
            </a:r>
          </a:p>
        </p:txBody>
      </p:sp>
      <p:sp>
        <p:nvSpPr>
          <p:cNvPr id="3" name="Content Placeholder 2"/>
          <p:cNvSpPr>
            <a:spLocks noGrp="1"/>
          </p:cNvSpPr>
          <p:nvPr>
            <p:ph sz="half" idx="1"/>
          </p:nvPr>
        </p:nvSpPr>
        <p:spPr/>
        <p:txBody>
          <a:bodyPr/>
          <a:lstStyle/>
          <a:p>
            <a:r>
              <a:t>24 May</a:t>
            </a:r>
          </a:p>
          <a:p>
            <a:endParaRPr/>
          </a:p>
          <a:p>
            <a:r>
              <a:t>Starting today, general purpose Amazon EC2 M5zn instances are available in the AWS Asia Pacific (Seoul) region. These new instances are a high frequency, high speed and low-latency networking variant of Amazon EC2 M5 instances, powered by custom 2nd Generation Intel Xeon Scalable Processors (Cascade Lake). M5zn instances deliver the highest all-core turbo CPU performance from Intel Xeon Scalable processors in the cloud, with a frequency up to 4.5 GHz.</a:t>
            </a:r>
          </a:p>
        </p:txBody>
      </p:sp>
    </p:spTree>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Compute Optimizer enhances EC2 instance type recommendations</a:t>
            </a:r>
          </a:p>
        </p:txBody>
      </p:sp>
      <p:sp>
        <p:nvSpPr>
          <p:cNvPr id="3" name="Content Placeholder 2"/>
          <p:cNvSpPr>
            <a:spLocks noGrp="1"/>
          </p:cNvSpPr>
          <p:nvPr>
            <p:ph sz="half" idx="1"/>
          </p:nvPr>
        </p:nvSpPr>
        <p:spPr/>
        <p:txBody>
          <a:bodyPr/>
          <a:lstStyle/>
          <a:p>
            <a:r>
              <a:t>24 May</a:t>
            </a:r>
          </a:p>
          <a:p>
            <a:endParaRPr/>
          </a:p>
          <a:p>
            <a:r>
              <a:t>AWS Compute Optimizer is a service that recommends optimal AWS resources for your workloads to reduce costs and improve performance by using machine learning to analyze historical utilization metrics. Today, Compute Optimizer is launching several updates to its EC2 instance type recommendations. Through these updates, Compute Optimizer has improved recommendation quality, doubled the number of supported EC2 instance types, offered deeper insights into the recommendations, and provided customers a way to identify OS configuration changes needed to apply recommendations.</a:t>
            </a:r>
          </a:p>
        </p:txBody>
      </p:sp>
    </p:spTree>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Outposts launches support for EC2 Capacity Reservations</a:t>
            </a:r>
          </a:p>
        </p:txBody>
      </p:sp>
      <p:sp>
        <p:nvSpPr>
          <p:cNvPr id="3" name="Content Placeholder 2"/>
          <p:cNvSpPr>
            <a:spLocks noGrp="1"/>
          </p:cNvSpPr>
          <p:nvPr>
            <p:ph sz="half" idx="1"/>
          </p:nvPr>
        </p:nvSpPr>
        <p:spPr/>
        <p:txBody>
          <a:bodyPr/>
          <a:lstStyle/>
          <a:p>
            <a:r>
              <a:t>24 May</a:t>
            </a:r>
          </a:p>
          <a:p>
            <a:endParaRPr/>
          </a:p>
          <a:p>
            <a:r>
              <a:t>Starting today, you can create and manage reserved capacity on Amazon EC2 instances on your Outposts. You can also share the Capacity Reservations on Outposts with other AWS accounts within your organization. With Capacity Reservations on Outposts, you can ensure that you always have access to EC2 capacity when you need it, for as long as you need it.</a:t>
            </a:r>
          </a:p>
        </p:txBody>
      </p:sp>
    </p:spTree>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Lumberyard Beta 1.28 is Now Available</a:t>
            </a:r>
          </a:p>
        </p:txBody>
      </p:sp>
      <p:sp>
        <p:nvSpPr>
          <p:cNvPr id="3" name="Content Placeholder 2"/>
          <p:cNvSpPr>
            <a:spLocks noGrp="1"/>
          </p:cNvSpPr>
          <p:nvPr>
            <p:ph sz="half" idx="1"/>
          </p:nvPr>
        </p:nvSpPr>
        <p:spPr/>
        <p:txBody>
          <a:bodyPr/>
          <a:lstStyle/>
          <a:p>
            <a:r>
              <a:t>24 May</a:t>
            </a:r>
          </a:p>
          <a:p>
            <a:endParaRPr/>
          </a:p>
          <a:p>
            <a:r>
              <a:t>Amazon Lumberyard 1.28 Beta is now available for download, bringing you a range of updates including updated Twitch Gem, an improved setup and installation experience, plus various smaller improvements and over 40 bug fixes.</a:t>
            </a:r>
          </a:p>
        </p:txBody>
      </p:sp>
    </p:spTree>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EMR now supports Amazon EC2 On-Demand Capacity Reservations</a:t>
            </a:r>
          </a:p>
        </p:txBody>
      </p:sp>
      <p:sp>
        <p:nvSpPr>
          <p:cNvPr id="3" name="Content Placeholder 2"/>
          <p:cNvSpPr>
            <a:spLocks noGrp="1"/>
          </p:cNvSpPr>
          <p:nvPr>
            <p:ph sz="half" idx="1"/>
          </p:nvPr>
        </p:nvSpPr>
        <p:spPr/>
        <p:txBody>
          <a:bodyPr/>
          <a:lstStyle/>
          <a:p>
            <a:r>
              <a:t>24 May</a:t>
            </a:r>
          </a:p>
          <a:p>
            <a:endParaRPr/>
          </a:p>
          <a:p>
            <a:r>
              <a:t>You can now use Amazon EC2 On-Demand Capacity Reservations (ODCRs) while creating clusters in Amazon EMR. When rotating a long running cluster, you might have strict requirements on the instance types and Availability Zones for the new instances you provision. Using Capacity Reservations, you can get capacity assurance to complete the cluster rotation without interruptions. You can also use Capacity Reservations to provision a group of successive short-lived clusters for individual workloads such that when you terminate a cluster, the next cluster can use the Capacity Reservations.</a:t>
            </a:r>
          </a:p>
        </p:txBody>
      </p:sp>
    </p:spTree>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Manage Amazon Keyspaces (for Apache Cassandra) service quotas through the Service Quotas console</a:t>
            </a:r>
          </a:p>
        </p:txBody>
      </p:sp>
      <p:sp>
        <p:nvSpPr>
          <p:cNvPr id="3" name="Content Placeholder 2"/>
          <p:cNvSpPr>
            <a:spLocks noGrp="1"/>
          </p:cNvSpPr>
          <p:nvPr>
            <p:ph sz="half" idx="1"/>
          </p:nvPr>
        </p:nvSpPr>
        <p:spPr/>
        <p:txBody>
          <a:bodyPr/>
          <a:lstStyle/>
          <a:p>
            <a:r>
              <a:t>21 May</a:t>
            </a:r>
          </a:p>
          <a:p>
            <a:endParaRPr/>
          </a:p>
          <a:p>
            <a:r>
              <a:t>Now, you can manage service quotas for Amazon Keyspaces (for Apache Cassandra), a scalable, highly available, and fully managed Apache Cassandra–compatible database service, through the Service Quotas console .</a:t>
            </a:r>
          </a:p>
        </p:txBody>
      </p:sp>
    </p:spTree>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Elastic File System now supports longer resource identifiers</a:t>
            </a:r>
          </a:p>
        </p:txBody>
      </p:sp>
      <p:sp>
        <p:nvSpPr>
          <p:cNvPr id="3" name="Content Placeholder 2"/>
          <p:cNvSpPr>
            <a:spLocks noGrp="1"/>
          </p:cNvSpPr>
          <p:nvPr>
            <p:ph sz="half" idx="1"/>
          </p:nvPr>
        </p:nvSpPr>
        <p:spPr/>
        <p:txBody>
          <a:bodyPr/>
          <a:lstStyle/>
          <a:p>
            <a:r>
              <a:t>21 May</a:t>
            </a:r>
          </a:p>
          <a:p>
            <a:endParaRPr/>
          </a:p>
          <a:p>
            <a:r>
              <a:t>Starting today, Amazon Elastic File System (Amazon EFS) will support the use of longer resource identifiers (IDs) for newly created file systems and mount targets. You can opt into this change by using the API, Command Line Interface (CLI), Cloud Development Kit (CDK), and Amazon EFS Console.</a:t>
            </a:r>
          </a:p>
        </p:txBody>
      </p:sp>
    </p:spTree>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Announcing enhancements to Amazon Rekognition text detection - support for more words, higher accuracy, and lower latency</a:t>
            </a:r>
          </a:p>
        </p:txBody>
      </p:sp>
      <p:sp>
        <p:nvSpPr>
          <p:cNvPr id="3" name="Content Placeholder 2"/>
          <p:cNvSpPr>
            <a:spLocks noGrp="1"/>
          </p:cNvSpPr>
          <p:nvPr>
            <p:ph sz="half" idx="1"/>
          </p:nvPr>
        </p:nvSpPr>
        <p:spPr/>
        <p:txBody>
          <a:bodyPr/>
          <a:lstStyle/>
          <a:p>
            <a:r>
              <a:t>21 May</a:t>
            </a:r>
          </a:p>
          <a:p>
            <a:endParaRPr/>
          </a:p>
          <a:p>
            <a:r>
              <a:t>Amazon Rekognition is a machine learning powered image and video analysis service that can identify objects and concepts, people, faces, inappropriate content, as well as detect text. Rekognition text detection detects and reads text in an image, and returns bounding boxes for each word found. Starting today, Rekognition can detect up to 100 words in an image, up from the previous limit of 50 words. In addition, you get higher accuracy, especially for cases with illegible text, which are correctly rejected now. Lastly, the average latency for each text detection API call is reduced by up to 70%.</a:t>
            </a:r>
          </a:p>
        </p:txBody>
      </p:sp>
    </p:spTree>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App2Container now supports deployment of containerized applications to AWS App Runner</a:t>
            </a:r>
          </a:p>
        </p:txBody>
      </p:sp>
      <p:sp>
        <p:nvSpPr>
          <p:cNvPr id="3" name="Content Placeholder 2"/>
          <p:cNvSpPr>
            <a:spLocks noGrp="1"/>
          </p:cNvSpPr>
          <p:nvPr>
            <p:ph sz="half" idx="1"/>
          </p:nvPr>
        </p:nvSpPr>
        <p:spPr/>
        <p:txBody>
          <a:bodyPr/>
          <a:lstStyle/>
          <a:p>
            <a:r>
              <a:t>21 May</a:t>
            </a:r>
          </a:p>
          <a:p>
            <a:endParaRPr/>
          </a:p>
          <a:p>
            <a:r>
              <a:t>AWS App2Container (A2C) now supports deployment of containerized Java and Springboot web applications to AWS App Runner. With this feature, users can now target App Runner as deployment runtime in addition to ECS and EKS that were previously supported. Using App2Container, developers can take a running Linux based web application, analyze, containerize, and deploy to App Runner in few simple steps and receive a secure URL to access the webservice. Users can take advantage of continuous deployment, auto-scaling, and monitoring of deployed webservice offered by App Runner.</a:t>
            </a:r>
          </a:p>
        </p:txBody>
      </p:sp>
    </p:spTree>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Forecast now supports generating predictions for 5X more items using 3X more historic data points</a:t>
            </a:r>
          </a:p>
        </p:txBody>
      </p:sp>
      <p:sp>
        <p:nvSpPr>
          <p:cNvPr id="3" name="Content Placeholder 2"/>
          <p:cNvSpPr>
            <a:spLocks noGrp="1"/>
          </p:cNvSpPr>
          <p:nvPr>
            <p:ph sz="half" idx="1"/>
          </p:nvPr>
        </p:nvSpPr>
        <p:spPr/>
        <p:txBody>
          <a:bodyPr/>
          <a:lstStyle/>
          <a:p>
            <a:r>
              <a:t>21 May</a:t>
            </a:r>
          </a:p>
          <a:p>
            <a:endParaRPr/>
          </a:p>
          <a:p>
            <a:r>
              <a:t>Today we are excited to announce that Amazon Forecast can now generate predictions for 5X more items using 3X more historic data points, increasing the number of items and the amount of historic information that your forecasting models can learn from and predict.</a:t>
            </a:r>
          </a:p>
        </p:txBody>
      </p:sp>
    </p:spTree>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RDS for Oracle now supports April 2021 Release Updates (RU)</a:t>
            </a:r>
          </a:p>
        </p:txBody>
      </p:sp>
      <p:sp>
        <p:nvSpPr>
          <p:cNvPr id="3" name="Content Placeholder 2"/>
          <p:cNvSpPr>
            <a:spLocks noGrp="1"/>
          </p:cNvSpPr>
          <p:nvPr>
            <p:ph sz="half" idx="1"/>
          </p:nvPr>
        </p:nvSpPr>
        <p:spPr/>
        <p:txBody>
          <a:bodyPr/>
          <a:lstStyle/>
          <a:p>
            <a:r>
              <a:t>21 May</a:t>
            </a:r>
          </a:p>
          <a:p>
            <a:endParaRPr/>
          </a:p>
          <a:p>
            <a:r>
              <a:t>Amazon RDS for Oracle now supports the April 2021 Release Updates (RU) for Oracle Database 12.2, 18c, and 19c. The April 2021 Patch Set Update (PSU) for Oracle Database 12.1 will be launched soon.</a:t>
            </a:r>
          </a:p>
        </p:txBody>
      </p:sp>
    </p:spTree>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EMR on EKS is now available in the South America (São Paulo) region</a:t>
            </a:r>
          </a:p>
        </p:txBody>
      </p:sp>
      <p:sp>
        <p:nvSpPr>
          <p:cNvPr id="3" name="Content Placeholder 2"/>
          <p:cNvSpPr>
            <a:spLocks noGrp="1"/>
          </p:cNvSpPr>
          <p:nvPr>
            <p:ph sz="half" idx="1"/>
          </p:nvPr>
        </p:nvSpPr>
        <p:spPr/>
        <p:txBody>
          <a:bodyPr/>
          <a:lstStyle/>
          <a:p>
            <a:r>
              <a:t>20 May</a:t>
            </a:r>
          </a:p>
          <a:p>
            <a:endParaRPr/>
          </a:p>
          <a:p>
            <a:r>
              <a:t>Starting today, Amazon EMR on Amazon EKS is now available in the South America (São Paulo) region.</a:t>
            </a:r>
          </a:p>
        </p:txBody>
      </p:sp>
    </p:spTree>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customers can now self opt-in to AWS Wavelength Zones</a:t>
            </a:r>
          </a:p>
        </p:txBody>
      </p:sp>
      <p:sp>
        <p:nvSpPr>
          <p:cNvPr id="3" name="Content Placeholder 2"/>
          <p:cNvSpPr>
            <a:spLocks noGrp="1"/>
          </p:cNvSpPr>
          <p:nvPr>
            <p:ph sz="half" idx="1"/>
          </p:nvPr>
        </p:nvSpPr>
        <p:spPr/>
        <p:txBody>
          <a:bodyPr/>
          <a:lstStyle/>
          <a:p>
            <a:r>
              <a:t>20 May</a:t>
            </a:r>
          </a:p>
          <a:p>
            <a:endParaRPr/>
          </a:p>
          <a:p>
            <a:r>
              <a:t>Starting today, customers can easily enable AWS Wavelength Zones themselves from the new “Settings ” section of the EC2 Console or ModifyAvailabilityZoneGroup  API . Once enabled, customers can create and manage resources in the Wavelength Zone using the same APIs and Management Console they use for Availability Zones in AWS Regions.</a:t>
            </a:r>
          </a:p>
        </p:txBody>
      </p:sp>
    </p:spTree>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SageMaker now offers new flexibility in configuring the model building pipelines</a:t>
            </a:r>
          </a:p>
        </p:txBody>
      </p:sp>
      <p:sp>
        <p:nvSpPr>
          <p:cNvPr id="3" name="Content Placeholder 2"/>
          <p:cNvSpPr>
            <a:spLocks noGrp="1"/>
          </p:cNvSpPr>
          <p:nvPr>
            <p:ph sz="half" idx="1"/>
          </p:nvPr>
        </p:nvSpPr>
        <p:spPr/>
        <p:txBody>
          <a:bodyPr/>
          <a:lstStyle/>
          <a:p>
            <a:r>
              <a:t>20 May</a:t>
            </a:r>
          </a:p>
          <a:p>
            <a:endParaRPr/>
          </a:p>
          <a:p>
            <a:r>
              <a:t>Amazon SageMaker Pipelines, the first purpose built continuous integration and continuous delivery (CI/CD) service for machine learning (ML), now allows customers to specify custom dependencies between the steps of the model building pipeline. Previously, specifying the output of a step as the input to another was the only option for specifying the dependency and the execution order between the two steps of the model building pipeline. Now, customers have the option of explicitly listing the steps that a given step execution needs to wait on.</a:t>
            </a:r>
          </a:p>
        </p:txBody>
      </p:sp>
    </p:spTree>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EKS Add-Ons Now Supports CoreDNS and kube-proxy</a:t>
            </a:r>
          </a:p>
        </p:txBody>
      </p:sp>
      <p:sp>
        <p:nvSpPr>
          <p:cNvPr id="3" name="Content Placeholder 2"/>
          <p:cNvSpPr>
            <a:spLocks noGrp="1"/>
          </p:cNvSpPr>
          <p:nvPr>
            <p:ph sz="half" idx="1"/>
          </p:nvPr>
        </p:nvSpPr>
        <p:spPr/>
        <p:txBody>
          <a:bodyPr/>
          <a:lstStyle/>
          <a:p>
            <a:r>
              <a:t>20 May</a:t>
            </a:r>
          </a:p>
          <a:p>
            <a:endParaRPr/>
          </a:p>
          <a:p>
            <a:r>
              <a:t>Amazon Elastic Kubernetes Service (Amazon EKS) now supports using the Amazon EKS console, CLI, and API to install and manage CoreDNS and kube-proxy in addition to existing support for the Amazon VPC CNI networking plugin . This makes it easier to define consistent Kubernetes clusters and keep them up to date using Amazon EKS.</a:t>
            </a:r>
          </a:p>
        </p:txBody>
      </p:sp>
    </p:spTree>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Toolkit for Visual Studio Code adds Java and Go Support for Serverless Applications</a:t>
            </a:r>
          </a:p>
        </p:txBody>
      </p:sp>
      <p:sp>
        <p:nvSpPr>
          <p:cNvPr id="3" name="Content Placeholder 2"/>
          <p:cNvSpPr>
            <a:spLocks noGrp="1"/>
          </p:cNvSpPr>
          <p:nvPr>
            <p:ph sz="half" idx="1"/>
          </p:nvPr>
        </p:nvSpPr>
        <p:spPr/>
        <p:txBody>
          <a:bodyPr/>
          <a:lstStyle/>
          <a:p>
            <a:r>
              <a:t>20 May</a:t>
            </a:r>
          </a:p>
          <a:p>
            <a:endParaRPr/>
          </a:p>
          <a:p>
            <a:r>
              <a:t>Using the AWS Toolkit for VS Code, customers can now create, locally debug, and deploy AWS Lambda functions written in Java and Go. Java users will be able to step-through debug Lambda functions built with Maven and Gradle in Java 8, Java 8.al2, and Java 11, while Go users will be able to do the same with Lambda functions built in Golang 1.14+.</a:t>
            </a:r>
          </a:p>
        </p:txBody>
      </p:sp>
    </p:spTree>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Lightsail is now available in the AWS Europe (Stockholm) Region</a:t>
            </a:r>
          </a:p>
        </p:txBody>
      </p:sp>
      <p:sp>
        <p:nvSpPr>
          <p:cNvPr id="3" name="Content Placeholder 2"/>
          <p:cNvSpPr>
            <a:spLocks noGrp="1"/>
          </p:cNvSpPr>
          <p:nvPr>
            <p:ph sz="half" idx="1"/>
          </p:nvPr>
        </p:nvSpPr>
        <p:spPr/>
        <p:txBody>
          <a:bodyPr/>
          <a:lstStyle/>
          <a:p>
            <a:r>
              <a:t>20 May</a:t>
            </a:r>
          </a:p>
          <a:p>
            <a:endParaRPr/>
          </a:p>
          <a:p>
            <a:r>
              <a:t>Starting today, you can create Amazon Lightsail instances, databases, and more in the AWS Europe (Stockholm) Region.</a:t>
            </a:r>
          </a:p>
        </p:txBody>
      </p:sp>
    </p:spTree>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WkWebView now supported with Amazon Chime SDK for JavaScript</a:t>
            </a:r>
          </a:p>
        </p:txBody>
      </p:sp>
      <p:sp>
        <p:nvSpPr>
          <p:cNvPr id="3" name="Content Placeholder 2"/>
          <p:cNvSpPr>
            <a:spLocks noGrp="1"/>
          </p:cNvSpPr>
          <p:nvPr>
            <p:ph sz="half" idx="1"/>
          </p:nvPr>
        </p:nvSpPr>
        <p:spPr/>
        <p:txBody>
          <a:bodyPr/>
          <a:lstStyle/>
          <a:p>
            <a:r>
              <a:t>20 May</a:t>
            </a:r>
          </a:p>
          <a:p>
            <a:endParaRPr/>
          </a:p>
          <a:p>
            <a:r>
              <a:t>The Amazon Chime SDK for Javascript now enables developers to support audio and video functionalities in a iOS WKWebView component. With support for WKWebView, developers can now use the Amazon Chime SDK for Javascript within a native iOS application's WKWebView component to enable audio and video capabilities. </a:t>
            </a:r>
          </a:p>
        </p:txBody>
      </p:sp>
    </p:spTree>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Lex now supports resource-based policies for bots and aliases</a:t>
            </a:r>
          </a:p>
        </p:txBody>
      </p:sp>
      <p:sp>
        <p:nvSpPr>
          <p:cNvPr id="3" name="Content Placeholder 2"/>
          <p:cNvSpPr>
            <a:spLocks noGrp="1"/>
          </p:cNvSpPr>
          <p:nvPr>
            <p:ph sz="half" idx="1"/>
          </p:nvPr>
        </p:nvSpPr>
        <p:spPr/>
        <p:txBody>
          <a:bodyPr/>
          <a:lstStyle/>
          <a:p>
            <a:r>
              <a:t>20 May</a:t>
            </a:r>
          </a:p>
          <a:p>
            <a:endParaRPr/>
          </a:p>
          <a:p>
            <a:endParaRPr/>
          </a:p>
        </p:txBody>
      </p:sp>
    </p:spTree>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Announcing Amazon Forecast Weather Index for South America</a:t>
            </a:r>
          </a:p>
        </p:txBody>
      </p:sp>
      <p:sp>
        <p:nvSpPr>
          <p:cNvPr id="3" name="Content Placeholder 2"/>
          <p:cNvSpPr>
            <a:spLocks noGrp="1"/>
          </p:cNvSpPr>
          <p:nvPr>
            <p:ph sz="half" idx="1"/>
          </p:nvPr>
        </p:nvSpPr>
        <p:spPr/>
        <p:txBody>
          <a:bodyPr/>
          <a:lstStyle/>
          <a:p>
            <a:r>
              <a:t>20 May</a:t>
            </a:r>
          </a:p>
          <a:p>
            <a:endParaRPr/>
          </a:p>
          <a:p>
            <a:r>
              <a:t>We’re excited to announce that Amazon Forecast Weather Index is now also available in the South America region. Weather Index can increase your forecasting accuracy, by automatically including the latest local weather information in your demand forecasts with one click and at no extra cost. Weather conditions influence consumer demand patterns, product merchandizing decisions, staffing requirements and energy consumption needs – however - acquiring, cleaning, and effectively using live weather information for demand forecasting is challenging and requires ongoing maintenance. With this launch, customers who have been using Weather Index for US, Canada and Europe region can now also use Weather Index for the South America region to include a 14-day weather forecasts with one click to your demand forecast.</a:t>
            </a:r>
          </a:p>
        </p:txBody>
      </p:sp>
    </p:spTree>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Customizations for AWS Control Tower v2.1 adds more scaling optimizations and improves compatibility with AWS CodeBuild</a:t>
            </a:r>
          </a:p>
        </p:txBody>
      </p:sp>
      <p:sp>
        <p:nvSpPr>
          <p:cNvPr id="3" name="Content Placeholder 2"/>
          <p:cNvSpPr>
            <a:spLocks noGrp="1"/>
          </p:cNvSpPr>
          <p:nvPr>
            <p:ph sz="half" idx="1"/>
          </p:nvPr>
        </p:nvSpPr>
        <p:spPr/>
        <p:txBody>
          <a:bodyPr/>
          <a:lstStyle/>
          <a:p>
            <a:r>
              <a:t>20 May</a:t>
            </a:r>
          </a:p>
          <a:p>
            <a:endParaRPr/>
          </a:p>
          <a:p>
            <a:r>
              <a:t>We recently updated Customizations for AWS Control Tower, a reference implementation that makes it easier to build your own guardrails and integrations with the AWS Control Tower service. Customizations for AWS Control Tower v2.1 is for new or existing AWS Control Tower customers that want to use the managed service, but have additional requirements that are not yet supported by the service. AWS Partners can also use the framework to develop and package their own custom guardrails and integrations for AWS Control Tower.</a:t>
            </a:r>
          </a:p>
        </p:txBody>
      </p:sp>
    </p:spTree>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Load Balancer Controller version 2.2 now available with support for NLB instance targeting</a:t>
            </a:r>
          </a:p>
        </p:txBody>
      </p:sp>
      <p:sp>
        <p:nvSpPr>
          <p:cNvPr id="3" name="Content Placeholder 2"/>
          <p:cNvSpPr>
            <a:spLocks noGrp="1"/>
          </p:cNvSpPr>
          <p:nvPr>
            <p:ph sz="half" idx="1"/>
          </p:nvPr>
        </p:nvSpPr>
        <p:spPr/>
        <p:txBody>
          <a:bodyPr/>
          <a:lstStyle/>
          <a:p>
            <a:r>
              <a:t>19 May</a:t>
            </a:r>
          </a:p>
          <a:p>
            <a:endParaRPr/>
          </a:p>
          <a:p>
            <a:r>
              <a:t>The AWS Load Balancer Controller provides a Kubernetes native way to configure and manage Elastic Load Balancers that route traffic to applications running in Kubernetes clusters. Elastic Load Balancing offers multiple load balancers that all feature the high availability, automatic scaling, and robust security necessary to help make your applications fault tolerant.</a:t>
            </a:r>
          </a:p>
        </p:txBody>
      </p:sp>
    </p:spTree>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Route 53 Resolver Endpoints for Hybrid Cloud Are Now Available in the Asia Pacific (Osaka) Region</a:t>
            </a:r>
          </a:p>
        </p:txBody>
      </p:sp>
      <p:sp>
        <p:nvSpPr>
          <p:cNvPr id="3" name="Content Placeholder 2"/>
          <p:cNvSpPr>
            <a:spLocks noGrp="1"/>
          </p:cNvSpPr>
          <p:nvPr>
            <p:ph sz="half" idx="1"/>
          </p:nvPr>
        </p:nvSpPr>
        <p:spPr/>
        <p:txBody>
          <a:bodyPr/>
          <a:lstStyle/>
          <a:p>
            <a:r>
              <a:t>19 May</a:t>
            </a:r>
          </a:p>
          <a:p>
            <a:endParaRPr/>
          </a:p>
          <a:p>
            <a:r>
              <a:t>You can now use Amazon Route 53 Resolver endpoints  for hybrid cloud configurations in the Asia Pacific (Osaka) Region.</a:t>
            </a:r>
          </a:p>
        </p:txBody>
      </p:sp>
    </p:spTree>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Solutions Implementation - AWS Data Streaming Solution for Amazon MSK adds support for Apache Kafka versions 2.8.0 and 2.6.2</a:t>
            </a:r>
          </a:p>
        </p:txBody>
      </p:sp>
      <p:sp>
        <p:nvSpPr>
          <p:cNvPr id="3" name="Content Placeholder 2"/>
          <p:cNvSpPr>
            <a:spLocks noGrp="1"/>
          </p:cNvSpPr>
          <p:nvPr>
            <p:ph sz="half" idx="1"/>
          </p:nvPr>
        </p:nvSpPr>
        <p:spPr/>
        <p:txBody>
          <a:bodyPr/>
          <a:lstStyle/>
          <a:p>
            <a:r>
              <a:t>19 May</a:t>
            </a:r>
          </a:p>
          <a:p>
            <a:endParaRPr/>
          </a:p>
          <a:p>
            <a:r>
              <a:t>The AWS Solutions team recently updated AWS Streaming Data Solution for Amazon MSK, an AWS Solutions Implementation that provides an automated configuration of the AWS services necessary to easily capture, store, process, and deliver streaming data.</a:t>
            </a:r>
          </a:p>
        </p:txBody>
      </p:sp>
    </p:spTree>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Solutions Implementations - Serverless Bot Framework adds new integrations for customers to expand the use of their Amazon Lex chatbots</a:t>
            </a:r>
          </a:p>
        </p:txBody>
      </p:sp>
      <p:sp>
        <p:nvSpPr>
          <p:cNvPr id="3" name="Content Placeholder 2"/>
          <p:cNvSpPr>
            <a:spLocks noGrp="1"/>
          </p:cNvSpPr>
          <p:nvPr>
            <p:ph sz="half" idx="1"/>
          </p:nvPr>
        </p:nvSpPr>
        <p:spPr/>
        <p:txBody>
          <a:bodyPr/>
          <a:lstStyle/>
          <a:p>
            <a:r>
              <a:rPr dirty="0"/>
              <a:t>19 May</a:t>
            </a:r>
          </a:p>
          <a:p>
            <a:endParaRPr dirty="0"/>
          </a:p>
          <a:p>
            <a:r>
              <a:rPr dirty="0"/>
              <a:t>AWS has updated Serverless Bot Framework, an AWS Solutions Implementation that allows customers to automatically set up a chatbot application with sample interactions. The new functionalities help customers scale the use of their chatbots with integrations with AWS Lambda and Amazon DynamoDB.</a:t>
            </a:r>
          </a:p>
        </p:txBody>
      </p:sp>
    </p:spTree>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Application Cost Profiler</a:t>
            </a:r>
          </a:p>
        </p:txBody>
      </p:sp>
      <p:sp>
        <p:nvSpPr>
          <p:cNvPr id="3" name="Content Placeholder 2"/>
          <p:cNvSpPr>
            <a:spLocks noGrp="1"/>
          </p:cNvSpPr>
          <p:nvPr>
            <p:ph sz="half" idx="1"/>
          </p:nvPr>
        </p:nvSpPr>
        <p:spPr/>
        <p:txBody>
          <a:bodyPr/>
          <a:lstStyle/>
          <a:p>
            <a:r>
              <a:t>19 May</a:t>
            </a:r>
          </a:p>
          <a:p>
            <a:endParaRPr/>
          </a:p>
          <a:p>
            <a:r>
              <a:t>Today, AWS announced AWS Application Cost Profiler, a managed service that enables you to view apportioned cost of AWS resources for software applications shared by multiple users (a.k.a. tenants).</a:t>
            </a:r>
          </a:p>
        </p:txBody>
      </p:sp>
    </p:spTree>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SageMaker Autopilot adds automatic deployment support for the best trained model</a:t>
            </a:r>
          </a:p>
        </p:txBody>
      </p:sp>
      <p:sp>
        <p:nvSpPr>
          <p:cNvPr id="3" name="Content Placeholder 2"/>
          <p:cNvSpPr>
            <a:spLocks noGrp="1"/>
          </p:cNvSpPr>
          <p:nvPr>
            <p:ph sz="half" idx="1"/>
          </p:nvPr>
        </p:nvSpPr>
        <p:spPr/>
        <p:txBody>
          <a:bodyPr/>
          <a:lstStyle/>
          <a:p>
            <a:r>
              <a:t>19 May</a:t>
            </a:r>
          </a:p>
          <a:p>
            <a:endParaRPr/>
          </a:p>
          <a:p>
            <a:r>
              <a:t>Amazon SageMaker Autopilot automatically builds, trains, and tunes the best machine learning models based on your data, while allowing you to maintain full control and visibility. Starting today, you have a convenient option to auto deploy the best trained model after running an experiment to create models. With auto deploy option enabled, SageMaker Autopilot will automatically create an endpoint and deploy your best model, enabling you to run real time inference on your endpoint. You can modify or delete the endpoint at anytime to meet your changing inference needs.</a:t>
            </a:r>
          </a:p>
        </p:txBody>
      </p:sp>
    </p:spTree>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License Manager now provides historical license usage reporting</a:t>
            </a:r>
          </a:p>
        </p:txBody>
      </p:sp>
      <p:sp>
        <p:nvSpPr>
          <p:cNvPr id="3" name="Content Placeholder 2"/>
          <p:cNvSpPr>
            <a:spLocks noGrp="1"/>
          </p:cNvSpPr>
          <p:nvPr>
            <p:ph sz="half" idx="1"/>
          </p:nvPr>
        </p:nvSpPr>
        <p:spPr/>
        <p:txBody>
          <a:bodyPr/>
          <a:lstStyle/>
          <a:p>
            <a:r>
              <a:t>18 May</a:t>
            </a:r>
          </a:p>
          <a:p>
            <a:endParaRPr/>
          </a:p>
          <a:p>
            <a:r>
              <a:t>AWS License Manager now allows you to take periodic snapshots of your license usage across all your AWS accounts and store these reports directly into your S3 bucket. You can use these reports to track your historical license usage, manage compliance, and reduce licensing spend by accounting for maximum license usage. You can enable, disable, and modify the frequency of report generation based on your license tracking requirements. </a:t>
            </a:r>
          </a:p>
        </p:txBody>
      </p:sp>
    </p:spTree>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Compute Optimizer Now Supports Exporting Amazon EBS and AWS Lambda Recommendations to Amazon S3</a:t>
            </a:r>
          </a:p>
        </p:txBody>
      </p:sp>
      <p:sp>
        <p:nvSpPr>
          <p:cNvPr id="3" name="Content Placeholder 2"/>
          <p:cNvSpPr>
            <a:spLocks noGrp="1"/>
          </p:cNvSpPr>
          <p:nvPr>
            <p:ph sz="half" idx="1"/>
          </p:nvPr>
        </p:nvSpPr>
        <p:spPr/>
        <p:txBody>
          <a:bodyPr/>
          <a:lstStyle/>
          <a:p>
            <a:r>
              <a:t>18 May</a:t>
            </a:r>
          </a:p>
          <a:p>
            <a:endParaRPr/>
          </a:p>
          <a:p>
            <a:r>
              <a:t>Today, we are pleased to announce that AWS Compute Optimizer now supports exporting Amazon EBS volume and AWS Lambda function memory size recommendations as csv files to Amazon Simple Storage Service (S3).</a:t>
            </a:r>
          </a:p>
        </p:txBody>
      </p:sp>
    </p:spTree>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Announcing the general availability of AWS IoT Core Device Advisor</a:t>
            </a:r>
          </a:p>
        </p:txBody>
      </p:sp>
      <p:sp>
        <p:nvSpPr>
          <p:cNvPr id="3" name="Content Placeholder 2"/>
          <p:cNvSpPr>
            <a:spLocks noGrp="1"/>
          </p:cNvSpPr>
          <p:nvPr>
            <p:ph sz="half" idx="1"/>
          </p:nvPr>
        </p:nvSpPr>
        <p:spPr/>
        <p:txBody>
          <a:bodyPr/>
          <a:lstStyle/>
          <a:p>
            <a:r>
              <a:t>18 May</a:t>
            </a:r>
          </a:p>
          <a:p>
            <a:endParaRPr/>
          </a:p>
          <a:p>
            <a:r>
              <a:t>AWS IoT Core Device Advisor, a fully managed cloud-based test capability for validating IoT devices, is now generally available in us-east-1, us-west-2, eu-west-1, and ap-northeast-1 regions. Now, developers can use pre-built tests provided by Device Advisor to validate that their IoT devices implement best practices for reliable and secure connectivity with AWS IoT Core. Device Advisor’s pre-built tests help developers to quickly validate their device software against best practices for usage of TLS , MQTT , Device Shadow , and IoT Jobs  thereby reducing the cost and time of development, testing and deployment.</a:t>
            </a:r>
          </a:p>
        </p:txBody>
      </p:sp>
    </p:spTree>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EKS and EKS Distro now support Kubernetes version 1.20</a:t>
            </a:r>
          </a:p>
        </p:txBody>
      </p:sp>
      <p:sp>
        <p:nvSpPr>
          <p:cNvPr id="3" name="Content Placeholder 2"/>
          <p:cNvSpPr>
            <a:spLocks noGrp="1"/>
          </p:cNvSpPr>
          <p:nvPr>
            <p:ph sz="half" idx="1"/>
          </p:nvPr>
        </p:nvSpPr>
        <p:spPr/>
        <p:txBody>
          <a:bodyPr/>
          <a:lstStyle/>
          <a:p>
            <a:r>
              <a:t>18 May</a:t>
            </a:r>
          </a:p>
          <a:p>
            <a:endParaRPr/>
          </a:p>
          <a:p>
            <a:r>
              <a:t>Kubernetes is rapidly evolving, with frequent feature releases and bug fixes. Highlights of the Kubernetes 1.20 release include RuntimeClass  and Process ID Limits  reaching stable status, API Priority and Fairness  being enabled by default, and kubectl debug  reaching beta status. Learn more about Kubernetes version 1.20 in the Kubernetes project release notes .  </a:t>
            </a:r>
          </a:p>
        </p:txBody>
      </p:sp>
    </p:spTree>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Database Migration Service now supports Apache Kafka TLS and Authentication</a:t>
            </a:r>
          </a:p>
        </p:txBody>
      </p:sp>
      <p:sp>
        <p:nvSpPr>
          <p:cNvPr id="3" name="Content Placeholder 2"/>
          <p:cNvSpPr>
            <a:spLocks noGrp="1"/>
          </p:cNvSpPr>
          <p:nvPr>
            <p:ph sz="half" idx="1"/>
          </p:nvPr>
        </p:nvSpPr>
        <p:spPr/>
        <p:txBody>
          <a:bodyPr/>
          <a:lstStyle/>
          <a:p>
            <a:r>
              <a:t>18 May</a:t>
            </a:r>
          </a:p>
          <a:p>
            <a:endParaRPr/>
          </a:p>
          <a:p>
            <a:r>
              <a:t>AWS Database Migration Service (AWS DMS) has expanded its integrity and confidentiality of secure communication to Apache Kafka self-managed and Amazon MSK endpoints. Using AWS DMS with improved Transport Layer Security (TLS) authentication and encryption, you can now use SSL encryption and authentication or SASL-SSL to secure Kafka endpoint connections. This security enhancement addresses the increasing demand of cloud security and improves the security of AWS DMS.  </a:t>
            </a:r>
          </a:p>
        </p:txBody>
      </p:sp>
    </p:spTree>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Amplify Hosting announces server-side rendering (SSR) support for Next.js web apps</a:t>
            </a:r>
          </a:p>
        </p:txBody>
      </p:sp>
      <p:sp>
        <p:nvSpPr>
          <p:cNvPr id="3" name="Content Placeholder 2"/>
          <p:cNvSpPr>
            <a:spLocks noGrp="1"/>
          </p:cNvSpPr>
          <p:nvPr>
            <p:ph sz="half" idx="1"/>
          </p:nvPr>
        </p:nvSpPr>
        <p:spPr/>
        <p:txBody>
          <a:bodyPr/>
          <a:lstStyle/>
          <a:p>
            <a:r>
              <a:t>18 May</a:t>
            </a:r>
          </a:p>
          <a:p>
            <a:endParaRPr/>
          </a:p>
          <a:p>
            <a:r>
              <a:t>AWS Amplify Hosting now supports deploying and hosting server-side rendered (SSR) apps built with the Next.js framework with zero configuration. Frontend developers can now leverage all of Amplify Hosting’s CI/CD and hosting capabilities for deploying SSR apps. Next.js is a React framework that combines build-time static site generation (SSG) and dynamic server-side rendering (SSR) to enable developers to build performant, SEO-friendly web apps. Amplify Hosting supports all Next.js features in version 9.x.x including SSR API routes, dynamic pages, and automatic pre-rendering.</a:t>
            </a:r>
          </a:p>
        </p:txBody>
      </p:sp>
    </p:spTree>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Announcing general availability of AWS Application Migration Service</a:t>
            </a:r>
          </a:p>
        </p:txBody>
      </p:sp>
      <p:sp>
        <p:nvSpPr>
          <p:cNvPr id="3" name="Content Placeholder 2"/>
          <p:cNvSpPr>
            <a:spLocks noGrp="1"/>
          </p:cNvSpPr>
          <p:nvPr>
            <p:ph sz="half" idx="1"/>
          </p:nvPr>
        </p:nvSpPr>
        <p:spPr/>
        <p:txBody>
          <a:bodyPr/>
          <a:lstStyle/>
          <a:p>
            <a:r>
              <a:t>18 May</a:t>
            </a:r>
          </a:p>
          <a:p>
            <a:endParaRPr/>
          </a:p>
          <a:p>
            <a:r>
              <a:t>Amazon Web Services (AWS) has announced the general availability of AWS Application Migration Service (AWS MGN), a new service that enables organizations to move applications to AWS without making changes to the applications, their architecture, or the migrated servers. AWS Application Migration Service is the primary migration service recommended for lift-and-shift migrations to AWS. Customers currently using CloudEndure Migration or Server Migration Service (SMS) are encouraged to switch to AWS Application Migration Service for future migrations. Visit our product comparison page for specific reasons to use CloudEndure Migration or SMS.</a:t>
            </a:r>
          </a:p>
        </p:txBody>
      </p:sp>
    </p:spTree>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Elemental MediaConnect adds CDI and JPEG XS support</a:t>
            </a:r>
          </a:p>
        </p:txBody>
      </p:sp>
      <p:sp>
        <p:nvSpPr>
          <p:cNvPr id="3" name="Content Placeholder 2"/>
          <p:cNvSpPr>
            <a:spLocks noGrp="1"/>
          </p:cNvSpPr>
          <p:nvPr>
            <p:ph sz="half" idx="1"/>
          </p:nvPr>
        </p:nvSpPr>
        <p:spPr/>
        <p:txBody>
          <a:bodyPr/>
          <a:lstStyle/>
          <a:p>
            <a:r>
              <a:t>18 May</a:t>
            </a:r>
          </a:p>
          <a:p>
            <a:endParaRPr/>
          </a:p>
          <a:p>
            <a:r>
              <a:t>Today, we are excited to announce support for AWS Cloud Digital Interface (AWS CDI) flows in AWS Elemental MediaConnect. A MediaConnect CDI flow allows you to build uncompressed video workflows in the AWS Cloud, using MediaConnect to link different products and services together into a virtualized live video production system. With MediaConnect CDI flows, you can build additional on-demand live video production capacity at a fraction of the cost of traditional on-premises capital investment, paying for transport only when you use it. MediaConnect CDI flows support uncompressed video transport up to UHD 2160p60 at a latency between nodes of only 1 frame. </a:t>
            </a:r>
          </a:p>
        </p:txBody>
      </p:sp>
    </p:spTree>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New AWS Solutions Consulting Offer - Enterprise Cloud Foundation Accelerator</a:t>
            </a:r>
          </a:p>
        </p:txBody>
      </p:sp>
      <p:sp>
        <p:nvSpPr>
          <p:cNvPr id="3" name="Content Placeholder 2"/>
          <p:cNvSpPr>
            <a:spLocks noGrp="1"/>
          </p:cNvSpPr>
          <p:nvPr>
            <p:ph sz="half" idx="1"/>
          </p:nvPr>
        </p:nvSpPr>
        <p:spPr/>
        <p:txBody>
          <a:bodyPr/>
          <a:lstStyle/>
          <a:p>
            <a:r>
              <a:t>17 May</a:t>
            </a:r>
          </a:p>
          <a:p>
            <a:endParaRPr/>
          </a:p>
          <a:p>
            <a:r>
              <a:t>Enterprise Cloud Foundation Accelerator is an AWS Solutions Consulting Offer delivered via a consulting engagement from World Wide Technology (WWT), an AWS DevOps Competency Partner. Enterprise Cloud Foundation Accelerator enables customers to immediately find value and begin the use of AWS by building out a new, secure, multi-account AWS environment. Customers that request this consulting offer will participate in an engagement that delivers a discovery workshop, foundational environment design, and deployment of your environment.</a:t>
            </a:r>
          </a:p>
        </p:txBody>
      </p:sp>
    </p:spTree>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Macie supports criteria-based bucket selection for sensitive data discovery jobs</a:t>
            </a:r>
          </a:p>
        </p:txBody>
      </p:sp>
      <p:sp>
        <p:nvSpPr>
          <p:cNvPr id="3" name="Content Placeholder 2"/>
          <p:cNvSpPr>
            <a:spLocks noGrp="1"/>
          </p:cNvSpPr>
          <p:nvPr>
            <p:ph sz="half" idx="1"/>
          </p:nvPr>
        </p:nvSpPr>
        <p:spPr/>
        <p:txBody>
          <a:bodyPr/>
          <a:lstStyle/>
          <a:p>
            <a:r>
              <a:t>17 May</a:t>
            </a:r>
          </a:p>
          <a:p>
            <a:endParaRPr/>
          </a:p>
          <a:p>
            <a:r>
              <a:t>Amazon Macie now allows you to define a run-time criteria to determine which S3 buckets should be included in a sensitive data discovery job. When a job runs, Macie identifies the S3 buckets that match your criteria and automatically adds or removes them from the job’s scope. This capability makes it easier for you to manage S3 buckets that should be monitored for sensitive data and also removes the need to create new jobs to monitor newly created or modified S3 buckets.</a:t>
            </a:r>
          </a:p>
        </p:txBody>
      </p:sp>
    </p:spTree>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Transit Gateway Connect is now available in AWS GovCloud (US) Regions</a:t>
            </a:r>
          </a:p>
        </p:txBody>
      </p:sp>
      <p:sp>
        <p:nvSpPr>
          <p:cNvPr id="3" name="Content Placeholder 2"/>
          <p:cNvSpPr>
            <a:spLocks noGrp="1"/>
          </p:cNvSpPr>
          <p:nvPr>
            <p:ph sz="half" idx="1"/>
          </p:nvPr>
        </p:nvSpPr>
        <p:spPr/>
        <p:txBody>
          <a:bodyPr/>
          <a:lstStyle/>
          <a:p>
            <a:r>
              <a:t>17 May</a:t>
            </a:r>
          </a:p>
          <a:p>
            <a:endParaRPr/>
          </a:p>
          <a:p>
            <a:r>
              <a:t>Starting today, AWS Transit Gateway Connect is now available in the AWS GovCloud (US) Regions.</a:t>
            </a:r>
          </a:p>
        </p:txBody>
      </p:sp>
    </p:spTree>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Lex is now available in the AWS Canada (Central) Region</a:t>
            </a:r>
          </a:p>
        </p:txBody>
      </p:sp>
      <p:sp>
        <p:nvSpPr>
          <p:cNvPr id="3" name="Content Placeholder 2"/>
          <p:cNvSpPr>
            <a:spLocks noGrp="1"/>
          </p:cNvSpPr>
          <p:nvPr>
            <p:ph sz="half" idx="1"/>
          </p:nvPr>
        </p:nvSpPr>
        <p:spPr/>
        <p:txBody>
          <a:bodyPr/>
          <a:lstStyle/>
          <a:p>
            <a:r>
              <a:t>17 May</a:t>
            </a:r>
          </a:p>
          <a:p>
            <a:endParaRPr/>
          </a:p>
          <a:p>
            <a:r>
              <a:t>Starting today, Amazon Lex is available in the AWS Canada (Central) region. Amazon Lex is a service for building conversational interfaces into any application using voice and text. Amazon Lex combines advanced deep learning functionalities of automatic speech recognition (ASR) for converting speech to text, and natural language understanding (NLU) to recognize the intent of the text. This enables you to build applications with engaging users experiences and lifelike interactions. With Amazon Lex, you can easily create sophisticated, natural language, conversational bots (“chatbots”), virtual agents and IVR systems.  </a:t>
            </a:r>
          </a:p>
        </p:txBody>
      </p:sp>
    </p:spTree>
  </p:cSld>
  <p:clrMapOvr>
    <a:masterClrMapping/>
  </p:clrMapOvr>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WorkDocs adds filtering to the activity feed for both iOS and Android</a:t>
            </a:r>
          </a:p>
        </p:txBody>
      </p:sp>
      <p:sp>
        <p:nvSpPr>
          <p:cNvPr id="3" name="Content Placeholder 2"/>
          <p:cNvSpPr>
            <a:spLocks noGrp="1"/>
          </p:cNvSpPr>
          <p:nvPr>
            <p:ph sz="half" idx="1"/>
          </p:nvPr>
        </p:nvSpPr>
        <p:spPr/>
        <p:txBody>
          <a:bodyPr/>
          <a:lstStyle/>
          <a:p>
            <a:r>
              <a:t>17 May</a:t>
            </a:r>
          </a:p>
          <a:p>
            <a:endParaRPr/>
          </a:p>
          <a:p>
            <a:r>
              <a:t>Starting today, you can now add or remove filters by activity type on a file to narrow your results for both iOS and Android. The Activity Feed is designed to easily track all activities related to your files and folders, allowing you to stay connected to what’s going on. Now with the ability to filter by activity type, you can apply filters to refine your search which allows you to quickly read through updates and changes in real-time for the files you own as well as those that have been shared with you.  </a:t>
            </a:r>
          </a:p>
        </p:txBody>
      </p:sp>
    </p:spTree>
  </p:cSld>
  <p:clrMapOvr>
    <a:masterClrMapping/>
  </p:clrMapOvr>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Transcribe Medical now provides automatic Protected Health Information (PHI) identification for batch processing</a:t>
            </a:r>
          </a:p>
        </p:txBody>
      </p:sp>
      <p:sp>
        <p:nvSpPr>
          <p:cNvPr id="3" name="Content Placeholder 2"/>
          <p:cNvSpPr>
            <a:spLocks noGrp="1"/>
          </p:cNvSpPr>
          <p:nvPr>
            <p:ph sz="half" idx="1"/>
          </p:nvPr>
        </p:nvSpPr>
        <p:spPr/>
        <p:txBody>
          <a:bodyPr/>
          <a:lstStyle/>
          <a:p>
            <a:r>
              <a:t>14 May</a:t>
            </a:r>
          </a:p>
          <a:p>
            <a:endParaRPr/>
          </a:p>
          <a:p>
            <a:r>
              <a:t>Amazon Transcribe Medical is a HIPAA-eligible automatic speech recognition (ASR) service that makes it easy for developers to add speech-to-text capabilities to healthcare and life science applications. We are pleased to launch support for the automatic identification of protected health information (PHI) in your medical transcriptions feature for batch processing. With automatic PHI identification, customers can now reduce the cost, time, and effort spend on identifying PHI content from both live audio streams and static recordings. PHI entities are labeled clearly with each output transcript, making it convenient to build additional downstream processing for a variety of purposes, such as redaction prior to text analytics.</a:t>
            </a:r>
          </a:p>
        </p:txBody>
      </p:sp>
    </p:spTree>
  </p:cSld>
  <p:clrMapOvr>
    <a:masterClrMapping/>
  </p:clrMapOvr>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Premium Support launches Support Automation Workflow (SAW) runbooks for self-service diagnosis and remediation</a:t>
            </a:r>
          </a:p>
        </p:txBody>
      </p:sp>
      <p:sp>
        <p:nvSpPr>
          <p:cNvPr id="3" name="Content Placeholder 2"/>
          <p:cNvSpPr>
            <a:spLocks noGrp="1"/>
          </p:cNvSpPr>
          <p:nvPr>
            <p:ph sz="half" idx="1"/>
          </p:nvPr>
        </p:nvSpPr>
        <p:spPr/>
        <p:txBody>
          <a:bodyPr/>
          <a:lstStyle/>
          <a:p>
            <a:r>
              <a:t>14 May</a:t>
            </a:r>
          </a:p>
          <a:p>
            <a:endParaRPr/>
          </a:p>
          <a:p>
            <a:r>
              <a:t>Today, AWS Premium Support launches Support Automation Workflows (SAW) to enable self-service diagnosis and remediation for AWS customers. Further, we are launching additional advanced runbooks that will be available to Enterprise and Business Support customers for faster issue resolution.</a:t>
            </a:r>
          </a:p>
        </p:txBody>
      </p:sp>
    </p:spTree>
  </p:cSld>
  <p:clrMapOvr>
    <a:masterClrMapping/>
  </p:clrMapOvr>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Elasticsearch Service announces a new lower cost storage tier</a:t>
            </a:r>
          </a:p>
        </p:txBody>
      </p:sp>
      <p:sp>
        <p:nvSpPr>
          <p:cNvPr id="3" name="Content Placeholder 2"/>
          <p:cNvSpPr>
            <a:spLocks noGrp="1"/>
          </p:cNvSpPr>
          <p:nvPr>
            <p:ph sz="half" idx="1"/>
          </p:nvPr>
        </p:nvSpPr>
        <p:spPr/>
        <p:txBody>
          <a:bodyPr/>
          <a:lstStyle/>
          <a:p>
            <a:r>
              <a:t>14 May</a:t>
            </a:r>
          </a:p>
          <a:p>
            <a:endParaRPr/>
          </a:p>
          <a:p>
            <a:r>
              <a:t>Amazon Elasticsearch Service now supports cold storage, a fully-managed storage tier that makes it easy for customers to securely store and analyze their infrequently accessed data on-demand, at a lower cost than other storage tiers. You pay for compute only when you need it. Cold storage allows you to retain any amount of data in your Amazon Elasticsearch Service domain while reducing cost per GB to near Amazon S3 storage prices.</a:t>
            </a:r>
          </a:p>
        </p:txBody>
      </p:sp>
    </p:spTree>
  </p:cSld>
  <p:clrMapOvr>
    <a:masterClrMapping/>
  </p:clrMapOvr>
</p:sld>
</file>

<file path=ppt/slides/slide2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RDS Data API now supports FIPS 140-2 validated endpoints</a:t>
            </a:r>
          </a:p>
        </p:txBody>
      </p:sp>
      <p:sp>
        <p:nvSpPr>
          <p:cNvPr id="3" name="Content Placeholder 2"/>
          <p:cNvSpPr>
            <a:spLocks noGrp="1"/>
          </p:cNvSpPr>
          <p:nvPr>
            <p:ph sz="half" idx="1"/>
          </p:nvPr>
        </p:nvSpPr>
        <p:spPr/>
        <p:txBody>
          <a:bodyPr/>
          <a:lstStyle/>
          <a:p>
            <a:r>
              <a:t>14 May</a:t>
            </a:r>
          </a:p>
          <a:p>
            <a:endParaRPr/>
          </a:p>
          <a:p>
            <a:r>
              <a:t>Amazon Relational Database Service (Amazon RDS) Data API now offers Federal Information Processing Standard (FIPS) 140-2 validated endpoints. FIPS 140-2 is a U.S. and Canadian government standard that specifies the security requirements for cryptographic modules that protect sensitive information. If you require use of FIPS 140-2 validated cryptographic modules, you can now do so with RDS Data API.</a:t>
            </a:r>
          </a:p>
        </p:txBody>
      </p:sp>
    </p:spTree>
  </p:cSld>
  <p:clrMapOvr>
    <a:masterClrMapping/>
  </p:clrMapOvr>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Announcing PostgreSQL 12.5 support for Amazon RDS on AWS Outposts</a:t>
            </a:r>
          </a:p>
        </p:txBody>
      </p:sp>
      <p:sp>
        <p:nvSpPr>
          <p:cNvPr id="3" name="Content Placeholder 2"/>
          <p:cNvSpPr>
            <a:spLocks noGrp="1"/>
          </p:cNvSpPr>
          <p:nvPr>
            <p:ph sz="half" idx="1"/>
          </p:nvPr>
        </p:nvSpPr>
        <p:spPr/>
        <p:txBody>
          <a:bodyPr/>
          <a:lstStyle/>
          <a:p>
            <a:r>
              <a:t>14 May</a:t>
            </a:r>
          </a:p>
          <a:p>
            <a:endParaRPr/>
          </a:p>
          <a:p>
            <a:r>
              <a:t>Amazon Relational Database Service (Amazon RDS) on AWS Outposts now supports PostgreSQL 12.5 for production deployment. Amazon RDS on Outposts allows you to deploy fully managed database instances in your on-premises environments. AWS Outposts is a fully managed service that extends AWS infrastructure, AWS services, APIs, and tools to virtually any datacenter, co-location space, or on-premises facility for a truly consistent hybrid experience. You can deploy Amazon RDS on Outposts to set up, operate, and scale MySQL, Microsoft SQL Server and PostgreSQL relational databases on-premises, just as you would in the cloud.</a:t>
            </a:r>
          </a:p>
        </p:txBody>
      </p:sp>
    </p:spTree>
  </p:cSld>
  <p:clrMapOvr>
    <a:masterClrMapping/>
  </p:clrMapOvr>
</p:sld>
</file>

<file path=ppt/slides/slide2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Kendra now available in Asia-Pacific (Singapore) AWS region</a:t>
            </a:r>
          </a:p>
        </p:txBody>
      </p:sp>
      <p:sp>
        <p:nvSpPr>
          <p:cNvPr id="3" name="Content Placeholder 2"/>
          <p:cNvSpPr>
            <a:spLocks noGrp="1"/>
          </p:cNvSpPr>
          <p:nvPr>
            <p:ph sz="half" idx="1"/>
          </p:nvPr>
        </p:nvSpPr>
        <p:spPr/>
        <p:txBody>
          <a:bodyPr/>
          <a:lstStyle/>
          <a:p>
            <a:r>
              <a:t>14 May</a:t>
            </a:r>
          </a:p>
          <a:p>
            <a:endParaRPr/>
          </a:p>
          <a:p>
            <a:r>
              <a:t>Starting today, AWS customers can use Amazon Kendra to build intelligent search applications in the Asia Pacific (Singapore) AWS Region.</a:t>
            </a:r>
          </a:p>
        </p:txBody>
      </p:sp>
    </p:spTree>
  </p:cSld>
  <p:clrMapOvr>
    <a:masterClrMapping/>
  </p:clrMapOvr>
</p:sld>
</file>

<file path=ppt/slides/slide2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EMR 6.3 now supports Apache Ranger for fine-grained data access control</a:t>
            </a:r>
          </a:p>
        </p:txBody>
      </p:sp>
      <p:sp>
        <p:nvSpPr>
          <p:cNvPr id="3" name="Content Placeholder 2"/>
          <p:cNvSpPr>
            <a:spLocks noGrp="1"/>
          </p:cNvSpPr>
          <p:nvPr>
            <p:ph sz="half" idx="1"/>
          </p:nvPr>
        </p:nvSpPr>
        <p:spPr/>
        <p:txBody>
          <a:bodyPr/>
          <a:lstStyle/>
          <a:p>
            <a:r>
              <a:t>13 May</a:t>
            </a:r>
          </a:p>
          <a:p>
            <a:endParaRPr/>
          </a:p>
          <a:p>
            <a:r>
              <a:t>Amazon EMR integration with Apache Ranger  is now available on EMR 6.3, allowing you to define, enforce, and audit fine-grained data access control. With this feature, you can define and enforce 1/ database, table, and column level authorization policies for Apache Spark and Apache Hive users to access data through Hive Metastore, and 2/ prefix and object level authorization policies when accessing data in Amazon S3 via the Amazon EMR File System (EMRFS), leveraging Amazon CloudWatch to capture auditing logs.</a:t>
            </a:r>
          </a:p>
        </p:txBody>
      </p:sp>
    </p:spTree>
  </p:cSld>
  <p:clrMapOvr>
    <a:masterClrMapping/>
  </p:clrMapOvr>
</p:sld>
</file>

<file path=ppt/slides/slide2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WAF adds support for log filtering</a:t>
            </a:r>
          </a:p>
        </p:txBody>
      </p:sp>
      <p:sp>
        <p:nvSpPr>
          <p:cNvPr id="3" name="Content Placeholder 2"/>
          <p:cNvSpPr>
            <a:spLocks noGrp="1"/>
          </p:cNvSpPr>
          <p:nvPr>
            <p:ph sz="half" idx="1"/>
          </p:nvPr>
        </p:nvSpPr>
        <p:spPr/>
        <p:txBody>
          <a:bodyPr/>
          <a:lstStyle/>
          <a:p>
            <a:r>
              <a:t>13 May</a:t>
            </a:r>
          </a:p>
          <a:p>
            <a:endParaRPr/>
          </a:p>
          <a:p>
            <a:r>
              <a:t>AWS WAF now supports log filtering, enabling you to specify which web requests are logged and which requests are discarded from log after the inspection. You can use log filtering to keep only the information you want to analyze. Log filtering can also help you save on log delivery and storage costs by reducing the amount of log data stored.</a:t>
            </a:r>
          </a:p>
        </p:txBody>
      </p:sp>
    </p:spTree>
  </p:cSld>
  <p:clrMapOvr>
    <a:masterClrMapping/>
  </p:clrMapOvr>
</p:sld>
</file>

<file path=ppt/slides/slide2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Connect adds near real-time insights into voice call, chat, and task activity</a:t>
            </a:r>
          </a:p>
        </p:txBody>
      </p:sp>
      <p:sp>
        <p:nvSpPr>
          <p:cNvPr id="3" name="Content Placeholder 2"/>
          <p:cNvSpPr>
            <a:spLocks noGrp="1"/>
          </p:cNvSpPr>
          <p:nvPr>
            <p:ph sz="half" idx="1"/>
          </p:nvPr>
        </p:nvSpPr>
        <p:spPr/>
        <p:txBody>
          <a:bodyPr/>
          <a:lstStyle/>
          <a:p>
            <a:r>
              <a:t>12 May</a:t>
            </a:r>
          </a:p>
          <a:p>
            <a:endParaRPr/>
          </a:p>
          <a:p>
            <a:r>
              <a:t>Amazon Connect now allows customers to subscribe to a near real-time stream of contact (voice calls, chat, and task) events (e.g., call is queued) in your Amazon Connect contact center. These events include when a voice call, chat, or task is initiated, queued to be assigned to an agent, connected to an agent, transferred to another agent or queue, and disconnected. Contact events can be used to create analytics dashboards to monitor and track contact activity, integrate into workforce management (WFM) solutions to better understand contact center performance, or to integrate applications that react to events (e.g., call disconnected) in real-time. Amazon Connect contact events are published via Amazon EventBridge, and can be set up in a couple of clicks by going to the Amazon EventBridge AWS console and creating a new rule.</a:t>
            </a:r>
          </a:p>
        </p:txBody>
      </p:sp>
    </p:spTree>
  </p:cSld>
  <p:clrMapOvr>
    <a:masterClrMapping/>
  </p:clrMapOvr>
</p:sld>
</file>

<file path=ppt/slides/slide2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Athena adds built-in support for cross-account AWS Glue Data Catalogs</a:t>
            </a:r>
          </a:p>
        </p:txBody>
      </p:sp>
      <p:sp>
        <p:nvSpPr>
          <p:cNvPr id="3" name="Content Placeholder 2"/>
          <p:cNvSpPr>
            <a:spLocks noGrp="1"/>
          </p:cNvSpPr>
          <p:nvPr>
            <p:ph sz="half" idx="1"/>
          </p:nvPr>
        </p:nvSpPr>
        <p:spPr/>
        <p:txBody>
          <a:bodyPr/>
          <a:lstStyle/>
          <a:p>
            <a:r>
              <a:t>12 May</a:t>
            </a:r>
          </a:p>
          <a:p>
            <a:endParaRPr/>
          </a:p>
          <a:p>
            <a:r>
              <a:t>Amazon Athena users can now query databases and tables across AWS accounts through built-in support for AWS Glue Data Catalogs in other AWS accounts. Customers need a central data catalog to enable analysts and data scientists to access their data lake without the complexity of replicating catalog metadata in individual AWS accounts. Today’s release makes it easier to connect AWS Glue Data Catalogs in other accounts using the Athena console or API.</a:t>
            </a:r>
          </a:p>
        </p:txBody>
      </p:sp>
    </p:spTree>
  </p:cSld>
  <p:clrMapOvr>
    <a:masterClrMapping/>
  </p:clrMapOvr>
</p:sld>
</file>

<file path=ppt/slides/slide2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hlinkClick r:id="rId2"/>
              </a:rPr>
              <a:t>Learn how to develop applications with Amazon DynamoDB</a:t>
            </a:r>
          </a:p>
        </p:txBody>
      </p:sp>
      <p:sp>
        <p:nvSpPr>
          <p:cNvPr id="3" name="Content Placeholder 2"/>
          <p:cNvSpPr>
            <a:spLocks noGrp="1"/>
          </p:cNvSpPr>
          <p:nvPr>
            <p:ph sz="half" idx="1"/>
          </p:nvPr>
        </p:nvSpPr>
        <p:spPr/>
        <p:txBody>
          <a:bodyPr/>
          <a:lstStyle/>
          <a:p>
            <a:r>
              <a:rPr dirty="0"/>
              <a:t>12 May</a:t>
            </a:r>
          </a:p>
          <a:p>
            <a:endParaRPr dirty="0"/>
          </a:p>
          <a:p>
            <a:r>
              <a:rPr dirty="0"/>
              <a:t>We’re excited to introduce a curriculum of three free, digital courses that help you accelerate your application development skills with Amazon DynamoDB, described below. Designed for new or experienced database developers and architects interested in learning how to develop applications with Amazon DynamoDB, these intermediate courses simulate a real application development project. </a:t>
            </a:r>
          </a:p>
        </p:txBody>
      </p:sp>
    </p:spTree>
  </p:cSld>
  <p:clrMapOvr>
    <a:masterClrMapping/>
  </p:clrMapOvr>
</p:sld>
</file>

<file path=ppt/slides/slide2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announces that all AWS Federal Information Processing Standard (FIPS) endpoints now only accept a minimum of Transport Layer Security (TLS) 1.2 connections</a:t>
            </a:r>
          </a:p>
        </p:txBody>
      </p:sp>
      <p:sp>
        <p:nvSpPr>
          <p:cNvPr id="3" name="Content Placeholder 2"/>
          <p:cNvSpPr>
            <a:spLocks noGrp="1"/>
          </p:cNvSpPr>
          <p:nvPr>
            <p:ph sz="half" idx="1"/>
          </p:nvPr>
        </p:nvSpPr>
        <p:spPr/>
        <p:txBody>
          <a:bodyPr/>
          <a:lstStyle/>
          <a:p>
            <a:r>
              <a:t>12 May</a:t>
            </a:r>
          </a:p>
          <a:p>
            <a:endParaRPr/>
          </a:p>
          <a:p>
            <a:r>
              <a:t>We are happy to announce that all AWS Federal Information Processing Standard (FIPS) endpoints have been updated to only accept a minimum of Transport Layer Security (TLS) 1.2  connections. This update ensures that our customers who run regulated workloads can meet FedRAMP compliance requirements that mandate a minimum of TLS 1.2 encryption for data in transit. Attempts to connect to AWS FIPS endpoints using TLS 1.0 or TLS 1.1 will result in an HTTP response 503 Service Unavailable error.</a:t>
            </a:r>
          </a:p>
        </p:txBody>
      </p:sp>
    </p:spTree>
  </p:cSld>
  <p:clrMapOvr>
    <a:masterClrMapping/>
  </p:clrMapOvr>
</p:sld>
</file>

<file path=ppt/slides/slide2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New patch releases for Amazon Aurora PostgreSQL are now available</a:t>
            </a:r>
          </a:p>
        </p:txBody>
      </p:sp>
      <p:sp>
        <p:nvSpPr>
          <p:cNvPr id="3" name="Content Placeholder 2"/>
          <p:cNvSpPr>
            <a:spLocks noGrp="1"/>
          </p:cNvSpPr>
          <p:nvPr>
            <p:ph sz="half" idx="1"/>
          </p:nvPr>
        </p:nvSpPr>
        <p:spPr/>
        <p:txBody>
          <a:bodyPr/>
          <a:lstStyle/>
          <a:p>
            <a:r>
              <a:t>12 May</a:t>
            </a:r>
          </a:p>
          <a:p>
            <a:endParaRPr/>
          </a:p>
          <a:p>
            <a:r>
              <a:t>Amazon Aurora PostgreSQL patch releases are now available for customers using Amazon Aurora PostgreSQL-Compatible Edition. To review the changes, visit the documentation history  and for detailed release notes, visit our version documentation . You can apply the new patch version in the AWS Management Console, via the AWS CLI, or via the RDS API. For detailed instructions, please see our technical documentation .</a:t>
            </a:r>
          </a:p>
        </p:txBody>
      </p:sp>
    </p:spTree>
  </p:cSld>
  <p:clrMapOvr>
    <a:masterClrMapping/>
  </p:clrMapOvr>
</p:sld>
</file>

<file path=ppt/slides/slide2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Solutions Implementation - The Improving Forecast Accuracy with Machine Learning solution adds contextual featurizations and visualization functionalities to enrich forecast insight</a:t>
            </a:r>
          </a:p>
        </p:txBody>
      </p:sp>
      <p:sp>
        <p:nvSpPr>
          <p:cNvPr id="3" name="Content Placeholder 2"/>
          <p:cNvSpPr>
            <a:spLocks noGrp="1"/>
          </p:cNvSpPr>
          <p:nvPr>
            <p:ph sz="half" idx="1"/>
          </p:nvPr>
        </p:nvSpPr>
        <p:spPr/>
        <p:txBody>
          <a:bodyPr/>
          <a:lstStyle/>
          <a:p>
            <a:r>
              <a:t>12 May</a:t>
            </a:r>
          </a:p>
          <a:p>
            <a:endParaRPr/>
          </a:p>
          <a:p>
            <a:r>
              <a:t>The AWS Solutions team updated Improving Forecast Accuracy with Machine Learning, an AWS Solutions Implementation that helps customers easily generate, test, compare, and iterate on forecasts. The solution allows customers to automatically trigger a workflow to automate the creation of forecasts in Amazon Forecast based on user-provided configuration. The solution then provides automatic visualization using Amazon QuickSight (and optionally Amazon SageMaker Jupyter Notebooks) providing a quick, easy, drag-and-drop interface that displays time series input and forecasted output for any input time series data.</a:t>
            </a:r>
          </a:p>
        </p:txBody>
      </p:sp>
    </p:spTree>
  </p:cSld>
  <p:clrMapOvr>
    <a:masterClrMapping/>
  </p:clrMapOvr>
</p:sld>
</file>

<file path=ppt/slides/slide2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Introducing Distributed Load Testing v1.3</a:t>
            </a:r>
          </a:p>
        </p:txBody>
      </p:sp>
      <p:sp>
        <p:nvSpPr>
          <p:cNvPr id="3" name="Content Placeholder 2"/>
          <p:cNvSpPr>
            <a:spLocks noGrp="1"/>
          </p:cNvSpPr>
          <p:nvPr>
            <p:ph sz="half" idx="1"/>
          </p:nvPr>
        </p:nvSpPr>
        <p:spPr/>
        <p:txBody>
          <a:bodyPr/>
          <a:lstStyle/>
          <a:p>
            <a:r>
              <a:t>12 May</a:t>
            </a:r>
          </a:p>
          <a:p>
            <a:endParaRPr/>
          </a:p>
          <a:p>
            <a:r>
              <a:t>Distributed Load Testing on AWS helps you easily simulate thousands of users connecting to your application so that you can better understand your application performance under load. The solution launches and configures containers on AWS Fargate to generate a specified number of transactions per second without having to provision servers.</a:t>
            </a:r>
          </a:p>
        </p:txBody>
      </p:sp>
    </p:spTree>
  </p:cSld>
  <p:clrMapOvr>
    <a:masterClrMapping/>
  </p:clrMapOvr>
</p:sld>
</file>

<file path=ppt/slides/slide2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Four new EC2 High Memory instances with up to 12TB of memory are now available with On-Demand and Savings Plan purchase options</a:t>
            </a:r>
          </a:p>
        </p:txBody>
      </p:sp>
      <p:sp>
        <p:nvSpPr>
          <p:cNvPr id="3" name="Content Placeholder 2"/>
          <p:cNvSpPr>
            <a:spLocks noGrp="1"/>
          </p:cNvSpPr>
          <p:nvPr>
            <p:ph sz="half" idx="1"/>
          </p:nvPr>
        </p:nvSpPr>
        <p:spPr/>
        <p:txBody>
          <a:bodyPr/>
          <a:lstStyle/>
          <a:p>
            <a:r>
              <a:t>12 May</a:t>
            </a:r>
          </a:p>
          <a:p>
            <a:endParaRPr/>
          </a:p>
          <a:p>
            <a:r>
              <a:t>Starting today, the new EC2 High Memory instances with 6TB, 9TB, and 12TB of memory (u-6tb1.56xlarge, u-6tb1.112xlarge, u-9tb1.112xlarge, and u-12tb1.112xlarge) are available for usage with On-Demand (OD) and Savings Plan purchase options. This launch gives customers greater flexibility for instance usage and procurement. Customers can choose from two instances with 6TB of memory - u-6tb1.56xlarge and u-6tb1.112xlarge - both offering 100Gbps network and 38Gbps EBS bandwidth, and with 224 vCPUs and 448 vCPUs, respectively. These new instances provide additional flexibility for customers with memory-bound workloads and helps further optimize workload price/performance. The 9TB and 12TB instances offer 448 vCPUs, 100Gbps network and 38Gbps EBS bandwidth. </a:t>
            </a:r>
          </a:p>
        </p:txBody>
      </p:sp>
    </p:spTree>
  </p:cSld>
  <p:clrMapOvr>
    <a:masterClrMapping/>
  </p:clrMapOvr>
</p:sld>
</file>

<file path=ppt/slides/slide2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CloudWatch Now Supports Composite Alarms in AWS GovCloud (US) Regions</a:t>
            </a:r>
          </a:p>
        </p:txBody>
      </p:sp>
      <p:sp>
        <p:nvSpPr>
          <p:cNvPr id="3" name="Content Placeholder 2"/>
          <p:cNvSpPr>
            <a:spLocks noGrp="1"/>
          </p:cNvSpPr>
          <p:nvPr>
            <p:ph sz="half" idx="1"/>
          </p:nvPr>
        </p:nvSpPr>
        <p:spPr/>
        <p:txBody>
          <a:bodyPr/>
          <a:lstStyle/>
          <a:p>
            <a:r>
              <a:t>12 May</a:t>
            </a:r>
          </a:p>
          <a:p>
            <a:endParaRPr/>
          </a:p>
          <a:p>
            <a:r>
              <a:t>Amazon CloudWatch now supports composite alarms in AWS GovCloud (US) Regions. With Amazon CloudWatch composite alarms, you can combine multiple alarms to reduce alarm noise and focus on critical operational issues. You can easily combine multiple alarms together into alarm hierarchies that only trigger once when multiple alarms fire at the same time. This helps you stay focused on finding the root cause of operational issues to reduce system and application downtime.</a:t>
            </a:r>
          </a:p>
          <a:p>
            <a:r>
              <a:t> </a:t>
            </a:r>
          </a:p>
        </p:txBody>
      </p:sp>
    </p:spTree>
  </p:cSld>
  <p:clrMapOvr>
    <a:masterClrMapping/>
  </p:clrMapOvr>
</p:sld>
</file>

<file path=ppt/slides/slide2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SaaS Boost released as an open source project</a:t>
            </a:r>
          </a:p>
        </p:txBody>
      </p:sp>
      <p:sp>
        <p:nvSpPr>
          <p:cNvPr id="3" name="Content Placeholder 2"/>
          <p:cNvSpPr>
            <a:spLocks noGrp="1"/>
          </p:cNvSpPr>
          <p:nvPr>
            <p:ph sz="half" idx="1"/>
          </p:nvPr>
        </p:nvSpPr>
        <p:spPr/>
        <p:txBody>
          <a:bodyPr/>
          <a:lstStyle/>
          <a:p>
            <a:r>
              <a:t>12 May</a:t>
            </a:r>
          </a:p>
          <a:p>
            <a:endParaRPr/>
          </a:p>
          <a:p>
            <a:r>
              <a:t>At re:Invent 2020, AWS announced the preview of AWS SaaS Boost, an open source tool that helps software developers migrate their existing solutions to a Software-as-a-Service (SaaS) delivery model. SaaS Boost significantly offloads development effort by accelerating application transformation to SaaS, freeing up software developers to focus on features that differentiate their products. After receiving interest from hundreds of developers in the project, today we’re pleased to announce its public availability on GitHub . All SaaS products need the foundational capabilities to onboard users, provision infrastructure for tenants, monitor consumption trends, configure tenant profiles, integrate with a billing systems, and surface key metrics. These functions are critical for helping SaaS providers to scale. If every SaaS company spent their resources building these capabilities before building their actual applications, it would result in burning finite capital and slowing down their time to market.</a:t>
            </a:r>
          </a:p>
        </p:txBody>
      </p:sp>
    </p:spTree>
  </p:cSld>
  <p:clrMapOvr>
    <a:masterClrMapping/>
  </p:clrMapOvr>
</p:sld>
</file>

<file path=ppt/slides/slide2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Now use AWS Systems Manager Change Calendar to prevent desired-state updates during critical events</a:t>
            </a:r>
          </a:p>
        </p:txBody>
      </p:sp>
      <p:sp>
        <p:nvSpPr>
          <p:cNvPr id="3" name="Content Placeholder 2"/>
          <p:cNvSpPr>
            <a:spLocks noGrp="1"/>
          </p:cNvSpPr>
          <p:nvPr>
            <p:ph sz="half" idx="1"/>
          </p:nvPr>
        </p:nvSpPr>
        <p:spPr/>
        <p:txBody>
          <a:bodyPr/>
          <a:lstStyle/>
          <a:p>
            <a:r>
              <a:t>12 May</a:t>
            </a:r>
          </a:p>
          <a:p>
            <a:endParaRPr/>
          </a:p>
          <a:p>
            <a:r>
              <a:t>You can now use Change Calendar to prevent desired-state configuration updates made using State Manager. Change Calendar and State Manager are both capabilities of AWS Systems Manager. With Change Calendar, you can schedule calendar events to control when changes can be made to your AWS resources. You can use State Manager to define, enforce, and report on desired state configuration compliance for your infrastructure. With this new integration, you can help ensure that your desired-state configuration updates do not conflict with important business activities, such as sales events or new product launches.</a:t>
            </a:r>
          </a:p>
        </p:txBody>
      </p:sp>
    </p:spTree>
  </p:cSld>
  <p:clrMapOvr>
    <a:masterClrMapping/>
  </p:clrMapOvr>
</p:sld>
</file>

<file path=ppt/slides/slide2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Introducing the new Machine Downtime Monitor on AWS solution</a:t>
            </a:r>
          </a:p>
        </p:txBody>
      </p:sp>
      <p:sp>
        <p:nvSpPr>
          <p:cNvPr id="3" name="Content Placeholder 2"/>
          <p:cNvSpPr>
            <a:spLocks noGrp="1"/>
          </p:cNvSpPr>
          <p:nvPr>
            <p:ph sz="half" idx="1"/>
          </p:nvPr>
        </p:nvSpPr>
        <p:spPr/>
        <p:txBody>
          <a:bodyPr/>
          <a:lstStyle/>
          <a:p>
            <a:r>
              <a:t>12 May</a:t>
            </a:r>
          </a:p>
          <a:p>
            <a:endParaRPr/>
          </a:p>
          <a:p>
            <a:r>
              <a:t>Machine Downtime Monitor on AWS is a new solution that provides a dashboard to industrial customers to help them monitor the health of factory floor equipment, which enables easier identification of machine breakdowns and quicker response, improving asset availability. This solution offers an intuitive interface that allows non-technical users to easily configure machines and get up and running quickly. It also empowers production personnel to respond proactively to production interruptions and maximize asset availability.</a:t>
            </a:r>
          </a:p>
        </p:txBody>
      </p:sp>
    </p:spTree>
  </p:cSld>
  <p:clrMapOvr>
    <a:masterClrMapping/>
  </p:clrMapOvr>
</p:sld>
</file>

<file path=ppt/slides/slide2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EC2 P4d instances now available in Europe (Frankfurt) and Asia Pacific (Seoul) regions</a:t>
            </a:r>
          </a:p>
        </p:txBody>
      </p:sp>
      <p:sp>
        <p:nvSpPr>
          <p:cNvPr id="3" name="Content Placeholder 2"/>
          <p:cNvSpPr>
            <a:spLocks noGrp="1"/>
          </p:cNvSpPr>
          <p:nvPr>
            <p:ph sz="half" idx="1"/>
          </p:nvPr>
        </p:nvSpPr>
        <p:spPr/>
        <p:txBody>
          <a:bodyPr/>
          <a:lstStyle/>
          <a:p>
            <a:r>
              <a:t>11 May</a:t>
            </a:r>
          </a:p>
          <a:p>
            <a:endParaRPr/>
          </a:p>
          <a:p>
            <a:r>
              <a:t>Amazon EC2 P4d instances which provide the highest performance for machine learning training and high performance computing in the cloud are now available in the Europe (Frankfurt) and Asia Pacific (Seoul) regions.</a:t>
            </a:r>
          </a:p>
        </p:txBody>
      </p:sp>
    </p:spTree>
  </p:cSld>
  <p:clrMapOvr>
    <a:masterClrMapping/>
  </p:clrMapOvr>
</p:sld>
</file>

<file path=ppt/slides/slide2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EKS managed node groups adds support for Kubernetes node taints</a:t>
            </a:r>
          </a:p>
        </p:txBody>
      </p:sp>
      <p:sp>
        <p:nvSpPr>
          <p:cNvPr id="3" name="Content Placeholder 2"/>
          <p:cNvSpPr>
            <a:spLocks noGrp="1"/>
          </p:cNvSpPr>
          <p:nvPr>
            <p:ph sz="half" idx="1"/>
          </p:nvPr>
        </p:nvSpPr>
        <p:spPr/>
        <p:txBody>
          <a:bodyPr/>
          <a:lstStyle/>
          <a:p>
            <a:r>
              <a:t>11 May</a:t>
            </a:r>
          </a:p>
          <a:p>
            <a:endParaRPr/>
          </a:p>
          <a:p>
            <a:r>
              <a:t>Amazon Elastic Kubernetes Service (EKS) managed node groups now supports Kubernetes node taints, simplifying node lifecycle management for clusters with varying application resource requirements.</a:t>
            </a:r>
          </a:p>
        </p:txBody>
      </p:sp>
    </p:spTree>
  </p:cSld>
  <p:clrMapOvr>
    <a:masterClrMapping/>
  </p:clrMapOvr>
</p:sld>
</file>

<file path=ppt/slides/slide2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EMR on EKS is now available in the EU (Paris and Stockholm) region</a:t>
            </a:r>
          </a:p>
        </p:txBody>
      </p:sp>
      <p:sp>
        <p:nvSpPr>
          <p:cNvPr id="3" name="Content Placeholder 2"/>
          <p:cNvSpPr>
            <a:spLocks noGrp="1"/>
          </p:cNvSpPr>
          <p:nvPr>
            <p:ph sz="half" idx="1"/>
          </p:nvPr>
        </p:nvSpPr>
        <p:spPr/>
        <p:txBody>
          <a:bodyPr/>
          <a:lstStyle/>
          <a:p>
            <a:r>
              <a:t>11 May</a:t>
            </a:r>
          </a:p>
          <a:p>
            <a:endParaRPr/>
          </a:p>
          <a:p>
            <a:r>
              <a:t>Starting today, Amazon EMR on Amazon EKS is now available in the EU (Paris and Stockholm) region.</a:t>
            </a:r>
          </a:p>
        </p:txBody>
      </p:sp>
    </p:spTree>
  </p:cSld>
  <p:clrMapOvr>
    <a:masterClrMapping/>
  </p:clrMapOvr>
</p:sld>
</file>

<file path=ppt/slides/slide2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Transcribe improves live subtitling with partial results stabilization</a:t>
            </a:r>
          </a:p>
        </p:txBody>
      </p:sp>
      <p:sp>
        <p:nvSpPr>
          <p:cNvPr id="3" name="Content Placeholder 2"/>
          <p:cNvSpPr>
            <a:spLocks noGrp="1"/>
          </p:cNvSpPr>
          <p:nvPr>
            <p:ph sz="half" idx="1"/>
          </p:nvPr>
        </p:nvSpPr>
        <p:spPr/>
        <p:txBody>
          <a:bodyPr/>
          <a:lstStyle/>
          <a:p>
            <a:r>
              <a:t>11 May</a:t>
            </a:r>
          </a:p>
          <a:p>
            <a:endParaRPr/>
          </a:p>
          <a:p>
            <a:r>
              <a:t>We are excited to announce that Amazon Transcribe now supports partial results stabilization, which further improves the live subtitling experience. Amazon Transcribe is an automatic speech recognition (ASR) service that makes it easy for you to add speech-to-text capabilities to your applications. As Amazon Transcribe processes streaming audio content, it generates partial transcription results until it provides a final transcript for a segment of continuous speech. However, some words or phrases in these partial results might change as Transcribe further understands the context of the audio. Partial results stabilization makes it easier for viewers to read the text output by defining how much the transcript will change during the transcription process.  </a:t>
            </a:r>
          </a:p>
        </p:txBody>
      </p:sp>
    </p:spTree>
  </p:cSld>
  <p:clrMapOvr>
    <a:masterClrMapping/>
  </p:clrMapOvr>
</p:sld>
</file>

<file path=ppt/slides/slide2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Announcing the General Availability of AWS Local Zones in Boston, Houston, and Miami</a:t>
            </a:r>
          </a:p>
        </p:txBody>
      </p:sp>
      <p:sp>
        <p:nvSpPr>
          <p:cNvPr id="3" name="Content Placeholder 2"/>
          <p:cNvSpPr>
            <a:spLocks noGrp="1"/>
          </p:cNvSpPr>
          <p:nvPr>
            <p:ph sz="half" idx="1"/>
          </p:nvPr>
        </p:nvSpPr>
        <p:spPr/>
        <p:txBody>
          <a:bodyPr/>
          <a:lstStyle/>
          <a:p>
            <a:r>
              <a:t>11 May</a:t>
            </a:r>
          </a:p>
          <a:p>
            <a:endParaRPr/>
          </a:p>
          <a:p>
            <a:r>
              <a:t>Today we are announcing the general availability of AWS Local Zones in Boston, Houston, and Miami. Customers can now use these new AWS Local Zones to deliver applications that require single-digit millisecond latency to end-users or on-premises installations in Boston, Houston, and Miami metro areas.</a:t>
            </a:r>
          </a:p>
        </p:txBody>
      </p:sp>
    </p:spTree>
  </p:cSld>
  <p:clrMapOvr>
    <a:masterClrMapping/>
  </p:clrMapOvr>
</p:sld>
</file>

<file path=ppt/slides/slide2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New digital training and AWS Certification Guide for AWS End User Computing</a:t>
            </a:r>
          </a:p>
        </p:txBody>
      </p:sp>
      <p:sp>
        <p:nvSpPr>
          <p:cNvPr id="3" name="Content Placeholder 2"/>
          <p:cNvSpPr>
            <a:spLocks noGrp="1"/>
          </p:cNvSpPr>
          <p:nvPr>
            <p:ph sz="half" idx="1"/>
          </p:nvPr>
        </p:nvSpPr>
        <p:spPr/>
        <p:txBody>
          <a:bodyPr/>
          <a:lstStyle/>
          <a:p>
            <a:r>
              <a:t>11 May</a:t>
            </a:r>
          </a:p>
          <a:p>
            <a:endParaRPr/>
          </a:p>
          <a:p>
            <a:r>
              <a:t>We’re excited to add seven free, digital training courses to the series of AWS End User Computing Digital Training curriculums. Use these new Amazon WorkSpaces Deep Dive and Amazon AppStream 2.0 Primer courses to learn how to administer, optimize, and troubleshoot your cloud-based desktops and applications. Designed for desktop or virtual desktop infrastructure managers and IT administrators, these interactive, self-paced courses include presentations, videos, and quizzes.  </a:t>
            </a:r>
          </a:p>
        </p:txBody>
      </p:sp>
    </p:spTree>
  </p:cSld>
  <p:clrMapOvr>
    <a:masterClrMapping/>
  </p:clrMapOvr>
</p:sld>
</file>

<file path=ppt/slides/slide2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Fraud Detector now supports AWS CloudFormation</a:t>
            </a:r>
          </a:p>
        </p:txBody>
      </p:sp>
      <p:sp>
        <p:nvSpPr>
          <p:cNvPr id="3" name="Content Placeholder 2"/>
          <p:cNvSpPr>
            <a:spLocks noGrp="1"/>
          </p:cNvSpPr>
          <p:nvPr>
            <p:ph sz="half" idx="1"/>
          </p:nvPr>
        </p:nvSpPr>
        <p:spPr/>
        <p:txBody>
          <a:bodyPr/>
          <a:lstStyle/>
          <a:p>
            <a:r>
              <a:t>11 May</a:t>
            </a:r>
          </a:p>
          <a:p>
            <a:endParaRPr/>
          </a:p>
          <a:p>
            <a:r>
              <a:t>Amazon Fraud Detector now supports AWS CloudFormation for creating and configuring Amazon Fraud Detector resources such as detectors and rules along with the rest of your AWS infrastructure. Amazon Fraud Detector is a fully managed service that makes it easy to identify potentially fraudulent online activities, such as the creation of fake accounts or online payment fraud.  </a:t>
            </a:r>
          </a:p>
        </p:txBody>
      </p:sp>
    </p:spTree>
  </p:cSld>
  <p:clrMapOvr>
    <a:masterClrMapping/>
  </p:clrMapOvr>
</p:sld>
</file>

<file path=ppt/slides/slide2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Certificate Manager Private Certificate Authority is now available in the Asia Pacific (Osaka) Region</a:t>
            </a:r>
          </a:p>
        </p:txBody>
      </p:sp>
      <p:sp>
        <p:nvSpPr>
          <p:cNvPr id="3" name="Content Placeholder 2"/>
          <p:cNvSpPr>
            <a:spLocks noGrp="1"/>
          </p:cNvSpPr>
          <p:nvPr>
            <p:ph sz="half" idx="1"/>
          </p:nvPr>
        </p:nvSpPr>
        <p:spPr/>
        <p:txBody>
          <a:bodyPr/>
          <a:lstStyle/>
          <a:p>
            <a:r>
              <a:t>11 May</a:t>
            </a:r>
          </a:p>
          <a:p>
            <a:endParaRPr/>
          </a:p>
          <a:p>
            <a:r>
              <a:t>AWS Certificate Manager (ACM) Private Certificate Authority (CA) is now available in the Asia Pacific (Osaka) region. This regional expansion extends the availability of ACM Private CA across the globe, increasing the number of regions to 22. The Osaka region only supports CAs with the private key stored in a FIPS 140-2 level 2 HSM. To learn more about the key storage certification level see the AWS Private CA Documentation .</a:t>
            </a:r>
          </a:p>
        </p:txBody>
      </p:sp>
    </p:spTree>
  </p:cSld>
  <p:clrMapOvr>
    <a:masterClrMapping/>
  </p:clrMapOvr>
</p:sld>
</file>

<file path=ppt/slides/slide2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Announcing Amazon RDS for SQL Server on AWS Outposts</a:t>
            </a:r>
          </a:p>
        </p:txBody>
      </p:sp>
      <p:sp>
        <p:nvSpPr>
          <p:cNvPr id="3" name="Content Placeholder 2"/>
          <p:cNvSpPr>
            <a:spLocks noGrp="1"/>
          </p:cNvSpPr>
          <p:nvPr>
            <p:ph sz="half" idx="1"/>
          </p:nvPr>
        </p:nvSpPr>
        <p:spPr/>
        <p:txBody>
          <a:bodyPr/>
          <a:lstStyle/>
          <a:p>
            <a:r>
              <a:t>11 May</a:t>
            </a:r>
          </a:p>
          <a:p>
            <a:endParaRPr/>
          </a:p>
          <a:p>
            <a:r>
              <a:t>Amazon RDS for SQL Server on AWS Outposts is now available to all AWS Outposts customers. Amazon RDS on AWS Outposts allows you to deploy fully managed database instances in your on-premises environments. AWS Outposts is a fully managed service that extends AWS infrastructure, AWS services, APIs, and tools to virtually any datacenter, co-location space, or on-premises facility for a truly consistent hybrid experience.</a:t>
            </a:r>
          </a:p>
        </p:txBody>
      </p:sp>
    </p:spTree>
  </p:cSld>
  <p:clrMapOvr>
    <a:masterClrMapping/>
  </p:clrMapOvr>
</p:sld>
</file>

<file path=ppt/slides/slide2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hlinkClick r:id="rId2"/>
              </a:rPr>
              <a:t>Amazon Kinesis Data Analytics now supports RollbackApplication, ListApplicationVersions, and DescribeApplicationVersion APIs in preview</a:t>
            </a:r>
          </a:p>
        </p:txBody>
      </p:sp>
      <p:sp>
        <p:nvSpPr>
          <p:cNvPr id="3" name="Content Placeholder 2"/>
          <p:cNvSpPr>
            <a:spLocks noGrp="1"/>
          </p:cNvSpPr>
          <p:nvPr>
            <p:ph sz="half" idx="1"/>
          </p:nvPr>
        </p:nvSpPr>
        <p:spPr/>
        <p:txBody>
          <a:bodyPr/>
          <a:lstStyle/>
          <a:p>
            <a:r>
              <a:rPr dirty="0"/>
              <a:t>11 May</a:t>
            </a:r>
          </a:p>
          <a:p>
            <a:endParaRPr dirty="0"/>
          </a:p>
          <a:p>
            <a:r>
              <a:rPr dirty="0"/>
              <a:t>Amazon Kinesis Data Analytics for Apache </a:t>
            </a:r>
            <a:r>
              <a:rPr dirty="0" err="1"/>
              <a:t>Flink</a:t>
            </a:r>
            <a:r>
              <a:rPr dirty="0"/>
              <a:t> now supports three new application management APIs in preview. </a:t>
            </a:r>
            <a:r>
              <a:rPr dirty="0" err="1"/>
              <a:t>RollbackApplication</a:t>
            </a:r>
            <a:r>
              <a:rPr dirty="0"/>
              <a:t>  allows you to restore your application to the last running version and application state from the most recent, successful snapshot. </a:t>
            </a:r>
            <a:r>
              <a:rPr dirty="0" err="1"/>
              <a:t>ListApplicationVersions</a:t>
            </a:r>
            <a:r>
              <a:rPr dirty="0"/>
              <a:t>  allows you to get all application versions and a summary of the associated configurations. </a:t>
            </a:r>
            <a:r>
              <a:rPr dirty="0" err="1"/>
              <a:t>DescribeApplicationVersio</a:t>
            </a:r>
            <a:r>
              <a:rPr dirty="0"/>
              <a:t> n gives you the most comprehensive view of the application configuration of a particular version.</a:t>
            </a:r>
          </a:p>
        </p:txBody>
      </p:sp>
    </p:spTree>
  </p:cSld>
  <p:clrMapOvr>
    <a:masterClrMapping/>
  </p:clrMapOvr>
</p:sld>
</file>

<file path=ppt/slides/slide2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Lake Formation now supports Tag-based access control (TBAC)</a:t>
            </a:r>
          </a:p>
        </p:txBody>
      </p:sp>
      <p:sp>
        <p:nvSpPr>
          <p:cNvPr id="3" name="Content Placeholder 2"/>
          <p:cNvSpPr>
            <a:spLocks noGrp="1"/>
          </p:cNvSpPr>
          <p:nvPr>
            <p:ph sz="half" idx="1"/>
          </p:nvPr>
        </p:nvSpPr>
        <p:spPr/>
        <p:txBody>
          <a:bodyPr/>
          <a:lstStyle/>
          <a:p>
            <a:r>
              <a:t>10 May</a:t>
            </a:r>
          </a:p>
          <a:p>
            <a:endParaRPr/>
          </a:p>
          <a:p>
            <a:r>
              <a:t>AWS Lake Formation now supports tagging data lake resources (databases, tables and columns) and creating logical access control policies based on those tags. Tag-based access control (TBAC) decouples policy creation from resource creation which helps data stewards govern large number of databases, tables, and columns by removing the need to update policies every time a new resource is added to the data lake. TBAC ensures that governance can be scaled easily by replacing the policy definition from 1000s of resources down to a small number of logical tags.</a:t>
            </a:r>
          </a:p>
        </p:txBody>
      </p:sp>
    </p:spTree>
  </p:cSld>
  <p:clrMapOvr>
    <a:masterClrMapping/>
  </p:clrMapOvr>
</p:sld>
</file>

<file path=ppt/slides/slide2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Support for Kantar watermarking is now available with AWS Elemental MediaConvert</a:t>
            </a:r>
          </a:p>
        </p:txBody>
      </p:sp>
      <p:sp>
        <p:nvSpPr>
          <p:cNvPr id="3" name="Content Placeholder 2"/>
          <p:cNvSpPr>
            <a:spLocks noGrp="1"/>
          </p:cNvSpPr>
          <p:nvPr>
            <p:ph sz="half" idx="1"/>
          </p:nvPr>
        </p:nvSpPr>
        <p:spPr/>
        <p:txBody>
          <a:bodyPr/>
          <a:lstStyle/>
          <a:p>
            <a:r>
              <a:t>10 May</a:t>
            </a:r>
          </a:p>
          <a:p>
            <a:endParaRPr/>
          </a:p>
          <a:p>
            <a:r>
              <a:t>AWS Elemental MediaConvert now supports Kantar SNAP watermarking for mezzanine and OTT content delivery. With this feature, audio streams processed by MediaConvert can now be watermarked with unique identifiers that allow for audience measurement across a variety of playback and consumption methods. When enabled, the unique identifier and Kantar account details are transmitted to Kantar during processing to automatically register each piece of media into the audience tracking system. Once the content is watermarked and logged, viewership statistics can be used to make programming decisions, track advertisement exposure, and to guide content investment decisions using Kantar audience measurement technologies.</a:t>
            </a:r>
          </a:p>
        </p:txBody>
      </p:sp>
    </p:spTree>
  </p:cSld>
  <p:clrMapOvr>
    <a:masterClrMapping/>
  </p:clrMapOvr>
</p:sld>
</file>

<file path=ppt/slides/slide2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Introducing Incident Manager from AWS Systems Manager</a:t>
            </a:r>
          </a:p>
        </p:txBody>
      </p:sp>
      <p:sp>
        <p:nvSpPr>
          <p:cNvPr id="3" name="Content Placeholder 2"/>
          <p:cNvSpPr>
            <a:spLocks noGrp="1"/>
          </p:cNvSpPr>
          <p:nvPr>
            <p:ph sz="half" idx="1"/>
          </p:nvPr>
        </p:nvSpPr>
        <p:spPr/>
        <p:txBody>
          <a:bodyPr/>
          <a:lstStyle/>
          <a:p>
            <a:r>
              <a:t>10 May</a:t>
            </a:r>
          </a:p>
          <a:p>
            <a:endParaRPr/>
          </a:p>
          <a:p>
            <a:r>
              <a:t>Today, AWS announces Incident Manager, a new capability of AWS Systems Manager that enables faster resolution of critical application availability and performance issues. Incident Manager helps you prepare for incidents with automated response plans that bring the right people and information together. The Incident Manager console provides a unified user interface to view operational data from multiple AWS services and track incident updates, such as alarm status changes and response plan progress. Incident Manager helps you improve service reliability by suggesting post-incident action items, such as automating a runbook step or adding a new alarm.</a:t>
            </a:r>
          </a:p>
        </p:txBody>
      </p:sp>
    </p:spTree>
  </p:cSld>
  <p:clrMapOvr>
    <a:masterClrMapping/>
  </p:clrMapOvr>
</p:sld>
</file>

<file path=ppt/slides/slide2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SageMaker now supports Elastic Fabric Adapter for distributed training</a:t>
            </a:r>
          </a:p>
        </p:txBody>
      </p:sp>
      <p:sp>
        <p:nvSpPr>
          <p:cNvPr id="3" name="Content Placeholder 2"/>
          <p:cNvSpPr>
            <a:spLocks noGrp="1"/>
          </p:cNvSpPr>
          <p:nvPr>
            <p:ph sz="half" idx="1"/>
          </p:nvPr>
        </p:nvSpPr>
        <p:spPr/>
        <p:txBody>
          <a:bodyPr/>
          <a:lstStyle/>
          <a:p>
            <a:r>
              <a:t>10 May</a:t>
            </a:r>
          </a:p>
          <a:p>
            <a:endParaRPr/>
          </a:p>
          <a:p>
            <a:r>
              <a:t>Amazon SageMaker now supports Elastic Fabric Adapter (EFA) for training machine learning models. EFA is a network interface for Amazon EC2 instances that enables customers to run applications requiring high levels of inter-node communications at scale on AWS. EFA can significantly speed up distributed training on SageMaker at no additional cost. For example, we trained the BERT natural language processing model with SageMaker’s distributed data parallel library on 32 ml.p4d.24xlarge instances. The training was up to 130% faster with EFA compared to Elastic Network Adapter (ENA) .</a:t>
            </a:r>
          </a:p>
        </p:txBody>
      </p:sp>
    </p:spTree>
  </p:cSld>
  <p:clrMapOvr>
    <a:masterClrMapping/>
  </p:clrMapOvr>
</p:sld>
</file>

<file path=ppt/slides/slide2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Migration Evaluator announces a faster way to project AWS cloud costs with Quick Insights</a:t>
            </a:r>
          </a:p>
        </p:txBody>
      </p:sp>
      <p:sp>
        <p:nvSpPr>
          <p:cNvPr id="3" name="Content Placeholder 2"/>
          <p:cNvSpPr>
            <a:spLocks noGrp="1"/>
          </p:cNvSpPr>
          <p:nvPr>
            <p:ph sz="half" idx="1"/>
          </p:nvPr>
        </p:nvSpPr>
        <p:spPr/>
        <p:txBody>
          <a:bodyPr/>
          <a:lstStyle/>
          <a:p>
            <a:r>
              <a:t>10 May</a:t>
            </a:r>
          </a:p>
          <a:p>
            <a:endParaRPr/>
          </a:p>
          <a:p>
            <a:r>
              <a:t>Building a business case for the cloud can be a time-consuming process on your own. With Migration Evaluator, organizations can accelerate their evaluation and decision-making for migration to AWS. Quick Insights - a new capability of Migration Evaluator, provides customers with a one-page summary of their projected AWS costs based on measured on-premises provisioning and utilization. This complimentary pre-migration assessment enables customers to rapidly understand the projected cost of running their on-premises estate in the AWS Cloud.</a:t>
            </a:r>
          </a:p>
        </p:txBody>
      </p:sp>
    </p:spTree>
  </p:cSld>
  <p:clrMapOvr>
    <a:masterClrMapping/>
  </p:clrMapOvr>
</p:sld>
</file>

<file path=ppt/slides/slide2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RDS for SQL Server supports Managed Disaster Recovery (DR) with Amazon RDS Cross-Region Automated Backups</a:t>
            </a:r>
          </a:p>
        </p:txBody>
      </p:sp>
      <p:sp>
        <p:nvSpPr>
          <p:cNvPr id="3" name="Content Placeholder 2"/>
          <p:cNvSpPr>
            <a:spLocks noGrp="1"/>
          </p:cNvSpPr>
          <p:nvPr>
            <p:ph sz="half" idx="1"/>
          </p:nvPr>
        </p:nvSpPr>
        <p:spPr/>
        <p:txBody>
          <a:bodyPr/>
          <a:lstStyle/>
          <a:p>
            <a:r>
              <a:t>10 May</a:t>
            </a:r>
          </a:p>
          <a:p>
            <a:endParaRPr/>
          </a:p>
          <a:p>
            <a:r>
              <a:t>Starting today Amazon RDS for SQL Server supports Amazon RDS Cross-Region Automated Backups. This feature extends the existing RDS backup functionality, giving you the ability to setup automatic replication of system snapshots and transaction logs from a primary AWS Region to a secondary AWS Region.</a:t>
            </a:r>
          </a:p>
        </p:txBody>
      </p:sp>
    </p:spTree>
  </p:cSld>
  <p:clrMapOvr>
    <a:masterClrMapping/>
  </p:clrMapOvr>
</p:sld>
</file>

<file path=ppt/slides/slide2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Athena drivers now support Azure AD and PingFederate authentication</a:t>
            </a:r>
          </a:p>
        </p:txBody>
      </p:sp>
      <p:sp>
        <p:nvSpPr>
          <p:cNvPr id="3" name="Content Placeholder 2"/>
          <p:cNvSpPr>
            <a:spLocks noGrp="1"/>
          </p:cNvSpPr>
          <p:nvPr>
            <p:ph sz="half" idx="1"/>
          </p:nvPr>
        </p:nvSpPr>
        <p:spPr/>
        <p:txBody>
          <a:bodyPr/>
          <a:lstStyle/>
          <a:p>
            <a:r>
              <a:t>10 May</a:t>
            </a:r>
          </a:p>
          <a:p>
            <a:endParaRPr/>
          </a:p>
          <a:p>
            <a:r>
              <a:t>With the latest release of JDBC  and ODBC  drivers for Amazon Athena, you can use Microsoft’s Azure Active Directory (AD) or Ping Identity’s PingFederate for authentication with compatible business intelligence, SQL, or embedded analytics applications.</a:t>
            </a:r>
          </a:p>
        </p:txBody>
      </p:sp>
    </p:spTree>
  </p:cSld>
  <p:clrMapOvr>
    <a:masterClrMapping/>
  </p:clrMapOvr>
</p:sld>
</file>

<file path=ppt/slides/slide2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Use Kubernetes Pod Templates with Amazon EMR on Amazon EKS to simplify running Spark workloads and control costs</a:t>
            </a:r>
          </a:p>
        </p:txBody>
      </p:sp>
      <p:sp>
        <p:nvSpPr>
          <p:cNvPr id="3" name="Content Placeholder 2"/>
          <p:cNvSpPr>
            <a:spLocks noGrp="1"/>
          </p:cNvSpPr>
          <p:nvPr>
            <p:ph sz="half" idx="1"/>
          </p:nvPr>
        </p:nvSpPr>
        <p:spPr/>
        <p:txBody>
          <a:bodyPr/>
          <a:lstStyle/>
          <a:p>
            <a:r>
              <a:t>07 May</a:t>
            </a:r>
          </a:p>
          <a:p>
            <a:endParaRPr/>
          </a:p>
          <a:p>
            <a:r>
              <a:t>Today, we are launching Amazon EMR on Amazon EKS support for Pod Templates to make it simple to run Spark jobs on shared EKS clusters. A Pod is a group of one or more containers, with shared storage and network resources, and a specification for how to run the containers. Pod Templates are specifications which determine how each Pod runs. Customers often consolidate multiple applications on a shared EKS cluster to improve utilization and save costs. However, each application may have different requirements. For example, you may want to run performance intensive workloads such as ML model training jobs on SSD-backed instances for better performance, or ad-hoc workloads on Spot instances for lower cost. You can also schedule a separate logging container to forward logs to your existing monitoring application. With this release, you can use Pod Templates with EMR on EKS to configure how to run Spark jobs on shared EKS clusters.</a:t>
            </a:r>
          </a:p>
        </p:txBody>
      </p:sp>
    </p:spTree>
  </p:cSld>
  <p:clrMapOvr>
    <a:masterClrMapping/>
  </p:clrMapOvr>
</p:sld>
</file>

<file path=ppt/slides/slide2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MQ now supports ActiveMQ version 5.15.15</a:t>
            </a:r>
          </a:p>
        </p:txBody>
      </p:sp>
      <p:sp>
        <p:nvSpPr>
          <p:cNvPr id="3" name="Content Placeholder 2"/>
          <p:cNvSpPr>
            <a:spLocks noGrp="1"/>
          </p:cNvSpPr>
          <p:nvPr>
            <p:ph sz="half" idx="1"/>
          </p:nvPr>
        </p:nvSpPr>
        <p:spPr/>
        <p:txBody>
          <a:bodyPr/>
          <a:lstStyle/>
          <a:p>
            <a:r>
              <a:t>07 May</a:t>
            </a:r>
          </a:p>
          <a:p>
            <a:endParaRPr/>
          </a:p>
          <a:p>
            <a:r>
              <a:t>You can now launch Apache ActiveMQ 5.15.15 brokers on Amazon MQ. This patch update to ActiveMQ contains several fixes and new features compared to the previously supported version, ActiveMQ 5.15.14.</a:t>
            </a:r>
          </a:p>
        </p:txBody>
      </p:sp>
    </p:spTree>
  </p:cSld>
  <p:clrMapOvr>
    <a:masterClrMapping/>
  </p:clrMapOvr>
</p:sld>
</file>

<file path=ppt/slides/slide2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Prepare data for machine learning faster and easier on Amazon SageMaker Data Wrangler with support for more data sources and distributed jobs</a:t>
            </a:r>
          </a:p>
        </p:txBody>
      </p:sp>
      <p:sp>
        <p:nvSpPr>
          <p:cNvPr id="3" name="Content Placeholder 2"/>
          <p:cNvSpPr>
            <a:spLocks noGrp="1"/>
          </p:cNvSpPr>
          <p:nvPr>
            <p:ph sz="half" idx="1"/>
          </p:nvPr>
        </p:nvSpPr>
        <p:spPr/>
        <p:txBody>
          <a:bodyPr/>
          <a:lstStyle/>
          <a:p>
            <a:r>
              <a:t>07 May</a:t>
            </a:r>
          </a:p>
          <a:p>
            <a:endParaRPr/>
          </a:p>
          <a:p>
            <a:r>
              <a:t>Amazon SageMaker Data Wrangler reduces the time it takes to aggregate and prepare data for machine learning (ML) from weeks to minutes. With SageMaker Data Wrangler, you can simplify the process of data preparation and feature engineering, and complete each step of the data preparation workflow, including data selection, cleansing, exploration, and visualization from a single visual interface. Starting today, you can use new capabilities of Amazon SageMaker Data Wrangler that make it easier and faster to prepare data for machine learning including: cross-account access for Amazon S3, support for up to 1000 columns of data, distributed jobs, and a new SageMaker Data Wrangler notebook experience.</a:t>
            </a:r>
          </a:p>
        </p:txBody>
      </p:sp>
    </p:spTree>
  </p:cSld>
  <p:clrMapOvr>
    <a:masterClrMapping/>
  </p:clrMapOvr>
</p:sld>
</file>

<file path=ppt/slides/slide2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Organizations launches new console experience</a:t>
            </a:r>
          </a:p>
        </p:txBody>
      </p:sp>
      <p:sp>
        <p:nvSpPr>
          <p:cNvPr id="3" name="Content Placeholder 2"/>
          <p:cNvSpPr>
            <a:spLocks noGrp="1"/>
          </p:cNvSpPr>
          <p:nvPr>
            <p:ph sz="half" idx="1"/>
          </p:nvPr>
        </p:nvSpPr>
        <p:spPr/>
        <p:txBody>
          <a:bodyPr/>
          <a:lstStyle/>
          <a:p>
            <a:r>
              <a:t>07 May</a:t>
            </a:r>
          </a:p>
          <a:p>
            <a:endParaRPr/>
          </a:p>
          <a:p>
            <a:r>
              <a:t>AWS Organizations now offers a new console experience that provides you with a more intuitive way to manage your multi-account environment on AWS. You can now more easily navigate through your Organizational Unit  hierarchy and perform AWS account management tasks in a streamlined way. The updated interface also gives you easy access to documentation, product information, and resources to assist you in managing your multi-account environment.</a:t>
            </a:r>
          </a:p>
        </p:txBody>
      </p:sp>
    </p:spTree>
  </p:cSld>
  <p:clrMapOvr>
    <a:masterClrMapping/>
  </p:clrMapOvr>
</p:sld>
</file>

<file path=ppt/slides/slide2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EBS Container Storage Interface (CSI) driver is now generally available</a:t>
            </a:r>
          </a:p>
        </p:txBody>
      </p:sp>
      <p:sp>
        <p:nvSpPr>
          <p:cNvPr id="3" name="Content Placeholder 2"/>
          <p:cNvSpPr>
            <a:spLocks noGrp="1"/>
          </p:cNvSpPr>
          <p:nvPr>
            <p:ph sz="half" idx="1"/>
          </p:nvPr>
        </p:nvSpPr>
        <p:spPr/>
        <p:txBody>
          <a:bodyPr/>
          <a:lstStyle/>
          <a:p>
            <a:r>
              <a:t>07 May</a:t>
            </a:r>
          </a:p>
          <a:p>
            <a:endParaRPr/>
          </a:p>
          <a:p>
            <a:r>
              <a:t>The Amazon Elastic Block Store (EBS) Container Storage Interface (CSI) driver is now generally available. The EBS CSI driver makes it simple to configure and use block storage for applications running in both Amazon Elastic Kubernetes Service (EKS) and self-managed Kubernetes clusters running on AWS using standard Kubernetes interfaces.</a:t>
            </a:r>
          </a:p>
        </p:txBody>
      </p:sp>
    </p:spTree>
  </p:cSld>
  <p:clrMapOvr>
    <a:masterClrMapping/>
  </p:clrMapOvr>
</p:sld>
</file>

<file path=ppt/slides/slide2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SageMaker Automatic Model Tuning now supports up to 10x faster tuning and enables exploring up to 20X more models</a:t>
            </a:r>
          </a:p>
        </p:txBody>
      </p:sp>
      <p:sp>
        <p:nvSpPr>
          <p:cNvPr id="3" name="Content Placeholder 2"/>
          <p:cNvSpPr>
            <a:spLocks noGrp="1"/>
          </p:cNvSpPr>
          <p:nvPr>
            <p:ph sz="half" idx="1"/>
          </p:nvPr>
        </p:nvSpPr>
        <p:spPr/>
        <p:txBody>
          <a:bodyPr/>
          <a:lstStyle/>
          <a:p>
            <a:r>
              <a:t>07 May</a:t>
            </a:r>
          </a:p>
          <a:p>
            <a:endParaRPr/>
          </a:p>
          <a:p>
            <a:r>
              <a:t>Amazon SageMaker Automatic Model Tuning  enables you to find the best version of a model by finding the optimal set of hyperparameter configuration for your dataset. Starting today, SageMaker Automatic Model Tuning now supports running up to 100 parallel training jobs for hyperparameter tuning, which gives you a 10X increase of parallel training jobs so you can complete your tuning faster. Additionally, for “Random” search strategy, SageMaker Automatic Model Tuning now supports exploring up to 10,000 hyperparameter configurations, a 20x increase over previous limit of 500, enabling you to improve coverage of search space leading to potentially better predictive performance of your model.</a:t>
            </a:r>
          </a:p>
        </p:txBody>
      </p:sp>
    </p:spTree>
  </p:cSld>
  <p:clrMapOvr>
    <a:masterClrMapping/>
  </p:clrMapOvr>
</p:sld>
</file>

<file path=ppt/slides/slide2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CloudWatch Synthetics supports cron expression for scheduling</a:t>
            </a:r>
          </a:p>
        </p:txBody>
      </p:sp>
      <p:sp>
        <p:nvSpPr>
          <p:cNvPr id="3" name="Content Placeholder 2"/>
          <p:cNvSpPr>
            <a:spLocks noGrp="1"/>
          </p:cNvSpPr>
          <p:nvPr>
            <p:ph sz="half" idx="1"/>
          </p:nvPr>
        </p:nvSpPr>
        <p:spPr/>
        <p:txBody>
          <a:bodyPr/>
          <a:lstStyle/>
          <a:p>
            <a:r>
              <a:t>07 May</a:t>
            </a:r>
          </a:p>
          <a:p>
            <a:endParaRPr/>
          </a:p>
          <a:p>
            <a:r>
              <a:t>CloudWatch Synthetics now supports cron expressions, allowing for flexibility when you schedule canaries to monitor your endpoints. For example, you can run a canary every minute on weekdays between 8 AM and 5 PM. Alternately, you can schedule a canary run for the third Tuesday of the month at 12 PM.</a:t>
            </a:r>
          </a:p>
        </p:txBody>
      </p:sp>
    </p:spTree>
  </p:cSld>
  <p:clrMapOvr>
    <a:masterClrMapping/>
  </p:clrMapOvr>
</p:sld>
</file>

<file path=ppt/slides/slide3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Introducing IAM Access Control for Apache Kafka on Amazon MSK</a:t>
            </a:r>
          </a:p>
        </p:txBody>
      </p:sp>
      <p:sp>
        <p:nvSpPr>
          <p:cNvPr id="3" name="Content Placeholder 2"/>
          <p:cNvSpPr>
            <a:spLocks noGrp="1"/>
          </p:cNvSpPr>
          <p:nvPr>
            <p:ph sz="half" idx="1"/>
          </p:nvPr>
        </p:nvSpPr>
        <p:spPr/>
        <p:txBody>
          <a:bodyPr/>
          <a:lstStyle/>
          <a:p>
            <a:r>
              <a:t>06 May</a:t>
            </a:r>
          </a:p>
          <a:p>
            <a:endParaRPr/>
          </a:p>
          <a:p>
            <a:r>
              <a:t>Today we announced AWS Identity and Access Management (IAM) Access Control for Amazon MSK. IAM Access Control is a security option offered at no additional cost that simplifies cluster authentication and Apache Kafka API authorization using IAM role or user policies to control access. By using IAM Access Control, customers no longer need to build and run one-off access management systems to control client authentication and authorization for Apache Kafka, and MSK clusters are secured using least privileged  permissions by default.  </a:t>
            </a:r>
          </a:p>
        </p:txBody>
      </p:sp>
    </p:spTree>
  </p:cSld>
  <p:clrMapOvr>
    <a:masterClrMapping/>
  </p:clrMapOvr>
</p:sld>
</file>

<file path=ppt/slides/slide3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CloudFront announces price cuts in India and Asia Pacific regions</a:t>
            </a:r>
          </a:p>
        </p:txBody>
      </p:sp>
      <p:sp>
        <p:nvSpPr>
          <p:cNvPr id="3" name="Content Placeholder 2"/>
          <p:cNvSpPr>
            <a:spLocks noGrp="1"/>
          </p:cNvSpPr>
          <p:nvPr>
            <p:ph sz="half" idx="1"/>
          </p:nvPr>
        </p:nvSpPr>
        <p:spPr/>
        <p:txBody>
          <a:bodyPr/>
          <a:lstStyle/>
          <a:p>
            <a:r>
              <a:t>06 May</a:t>
            </a:r>
          </a:p>
          <a:p>
            <a:endParaRPr/>
          </a:p>
          <a:p>
            <a:r>
              <a:t>Amazon CloudFront announces price cuts of up to 36% in India and up to 26% in Asia Pacific region (Hong Kong, Indonesia, Philippines, Singapore, South Korea, Taiwan, &amp; Thailand) for Regional Data Transfer Out to Internet rates. The new CloudFront prices in these regions are effective May 1st, 2021. You can find CloudFront’s updated on-demand pricing on the CloudFront Pricing Page. </a:t>
            </a:r>
          </a:p>
        </p:txBody>
      </p:sp>
    </p:spTree>
  </p:cSld>
  <p:clrMapOvr>
    <a:masterClrMapping/>
  </p:clrMapOvr>
</p:sld>
</file>

<file path=ppt/slides/slide3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Transit Gateway Connect is now available in additional AWS Regions</a:t>
            </a:r>
          </a:p>
        </p:txBody>
      </p:sp>
      <p:sp>
        <p:nvSpPr>
          <p:cNvPr id="3" name="Content Placeholder 2"/>
          <p:cNvSpPr>
            <a:spLocks noGrp="1"/>
          </p:cNvSpPr>
          <p:nvPr>
            <p:ph sz="half" idx="1"/>
          </p:nvPr>
        </p:nvSpPr>
        <p:spPr/>
        <p:txBody>
          <a:bodyPr/>
          <a:lstStyle/>
          <a:p>
            <a:r>
              <a:t>06 May</a:t>
            </a:r>
          </a:p>
          <a:p>
            <a:endParaRPr/>
          </a:p>
          <a:p>
            <a:r>
              <a:t>Starting today, AWS Transit Gateway Connect is now available in the Europe (Milan), Asia Pacific (Hong Kong), Africa (Cape Town), and Middle East (Bahrain) Regions.</a:t>
            </a:r>
          </a:p>
        </p:txBody>
      </p:sp>
    </p:spTree>
  </p:cSld>
  <p:clrMapOvr>
    <a:masterClrMapping/>
  </p:clrMapOvr>
</p:sld>
</file>

<file path=ppt/slides/slide3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Updated AWS IoT Device Tester for AWS IoT Greengrass is now available</a:t>
            </a:r>
          </a:p>
        </p:txBody>
      </p:sp>
      <p:sp>
        <p:nvSpPr>
          <p:cNvPr id="3" name="Content Placeholder 2"/>
          <p:cNvSpPr>
            <a:spLocks noGrp="1"/>
          </p:cNvSpPr>
          <p:nvPr>
            <p:ph sz="half" idx="1"/>
          </p:nvPr>
        </p:nvSpPr>
        <p:spPr/>
        <p:txBody>
          <a:bodyPr/>
          <a:lstStyle/>
          <a:p>
            <a:r>
              <a:t>06 May</a:t>
            </a:r>
          </a:p>
          <a:p>
            <a:endParaRPr/>
          </a:p>
          <a:p>
            <a:r>
              <a:t>AWS IoT Device Tester for AWS IoT Greengrass is a test automation tool for your IoT devices running AWS IoT Greengrass.</a:t>
            </a:r>
          </a:p>
        </p:txBody>
      </p:sp>
    </p:spTree>
  </p:cSld>
  <p:clrMapOvr>
    <a:masterClrMapping/>
  </p:clrMapOvr>
</p:sld>
</file>

<file path=ppt/slides/slide3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Audit Manager now offers three new frameworks - NIST Cybersecurity Framework version 1.1, AWS Foundational Security Best Practices, and AWS Well-Architected framework</a:t>
            </a:r>
          </a:p>
        </p:txBody>
      </p:sp>
      <p:sp>
        <p:nvSpPr>
          <p:cNvPr id="3" name="Content Placeholder 2"/>
          <p:cNvSpPr>
            <a:spLocks noGrp="1"/>
          </p:cNvSpPr>
          <p:nvPr>
            <p:ph sz="half" idx="1"/>
          </p:nvPr>
        </p:nvSpPr>
        <p:spPr/>
        <p:txBody>
          <a:bodyPr/>
          <a:lstStyle/>
          <a:p>
            <a:r>
              <a:t>06 May</a:t>
            </a:r>
          </a:p>
          <a:p>
            <a:endParaRPr/>
          </a:p>
          <a:p>
            <a:r>
              <a:t>AWS Audit Manager now offers three new prebuilt standard frameworks: NIST Cybersecurity Framework version 1.1, AWS Foundational Security Best Practices, and AWS Well-Architected framework. These frameworks add to the existing prebuilt frameworks  provided in Audit Manager. With this release, you can launch an assessment from any of these frameworks with just a few clicks. Audit Manager will map your AWS resources to the requirements in the framework you choose and start gathering evidence automatically to help you scale your audit capability in the cloud as your business grows.</a:t>
            </a:r>
          </a:p>
        </p:txBody>
      </p:sp>
    </p:spTree>
  </p:cSld>
  <p:clrMapOvr>
    <a:masterClrMapping/>
  </p:clrMapOvr>
</p:sld>
</file>

<file path=ppt/slides/slide3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Data Provider for SAP Version 4.0 now available</a:t>
            </a:r>
          </a:p>
        </p:txBody>
      </p:sp>
      <p:sp>
        <p:nvSpPr>
          <p:cNvPr id="3" name="Content Placeholder 2"/>
          <p:cNvSpPr>
            <a:spLocks noGrp="1"/>
          </p:cNvSpPr>
          <p:nvPr>
            <p:ph sz="half" idx="1"/>
          </p:nvPr>
        </p:nvSpPr>
        <p:spPr/>
        <p:txBody>
          <a:bodyPr/>
          <a:lstStyle/>
          <a:p>
            <a:r>
              <a:t>05 May</a:t>
            </a:r>
          </a:p>
          <a:p>
            <a:endParaRPr/>
          </a:p>
          <a:p>
            <a:r>
              <a:t>AWS Data Provider for SAP  version 4.0 is now available in all commercial regions, including AWS GovCloud (US) Regions.</a:t>
            </a:r>
          </a:p>
        </p:txBody>
      </p:sp>
    </p:spTree>
  </p:cSld>
  <p:clrMapOvr>
    <a:masterClrMapping/>
  </p:clrMapOvr>
</p:sld>
</file>

<file path=ppt/slides/slide3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Nitro Enclaves is now available in AWS GovCloud (US) Regions</a:t>
            </a:r>
          </a:p>
        </p:txBody>
      </p:sp>
      <p:sp>
        <p:nvSpPr>
          <p:cNvPr id="3" name="Content Placeholder 2"/>
          <p:cNvSpPr>
            <a:spLocks noGrp="1"/>
          </p:cNvSpPr>
          <p:nvPr>
            <p:ph sz="half" idx="1"/>
          </p:nvPr>
        </p:nvSpPr>
        <p:spPr/>
        <p:txBody>
          <a:bodyPr/>
          <a:lstStyle/>
          <a:p>
            <a:r>
              <a:t>05 May</a:t>
            </a:r>
          </a:p>
          <a:p>
            <a:endParaRPr/>
          </a:p>
          <a:p>
            <a:r>
              <a:t>Starting today, AWS Nitro Enclaves and AWS Certificate Manager (ACM) for Nitro Enclaves are available in AWS GovCloud (US) Regions.</a:t>
            </a:r>
          </a:p>
        </p:txBody>
      </p:sp>
    </p:spTree>
  </p:cSld>
  <p:clrMapOvr>
    <a:masterClrMapping/>
  </p:clrMapOvr>
</p:sld>
</file>

<file path=ppt/slides/slide3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Ground Station is now available in the Asia Pacific (Seoul) Region</a:t>
            </a:r>
          </a:p>
        </p:txBody>
      </p:sp>
      <p:sp>
        <p:nvSpPr>
          <p:cNvPr id="3" name="Content Placeholder 2"/>
          <p:cNvSpPr>
            <a:spLocks noGrp="1"/>
          </p:cNvSpPr>
          <p:nvPr>
            <p:ph sz="half" idx="1"/>
          </p:nvPr>
        </p:nvSpPr>
        <p:spPr/>
        <p:txBody>
          <a:bodyPr/>
          <a:lstStyle/>
          <a:p>
            <a:r>
              <a:t>05 May</a:t>
            </a:r>
          </a:p>
          <a:p>
            <a:endParaRPr/>
          </a:p>
          <a:p>
            <a:r>
              <a:t>Amazon Web Services (AWS) announces expansion of AWS Ground Station to the Asia Pacific (Seoul) region. This is now the 9th Ground Station connected to the AWS Global Network.</a:t>
            </a:r>
          </a:p>
        </p:txBody>
      </p:sp>
    </p:spTree>
  </p:cSld>
  <p:clrMapOvr>
    <a:masterClrMapping/>
  </p:clrMapOvr>
</p:sld>
</file>

<file path=ppt/slides/slide3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New AWS Solutions Consulting Offer - DevOps Automation Springboard</a:t>
            </a:r>
          </a:p>
        </p:txBody>
      </p:sp>
      <p:sp>
        <p:nvSpPr>
          <p:cNvPr id="3" name="Content Placeholder 2"/>
          <p:cNvSpPr>
            <a:spLocks noGrp="1"/>
          </p:cNvSpPr>
          <p:nvPr>
            <p:ph sz="half" idx="1"/>
          </p:nvPr>
        </p:nvSpPr>
        <p:spPr/>
        <p:txBody>
          <a:bodyPr/>
          <a:lstStyle/>
          <a:p>
            <a:r>
              <a:t>05 May</a:t>
            </a:r>
          </a:p>
          <a:p>
            <a:endParaRPr/>
          </a:p>
          <a:p>
            <a:r>
              <a:t>DevOps Automation Springboard is an AWS Solutions Consulting Offer delivered via a consulting engagement from Capgemini, an AWS Migration Competency Partner. DevOps Automation Springboard offers customers the ability to address their deployment needs as they move to the AWS Cloud. Customers that request this consulting offer will participate in an engagement that delivers a DevOps CI/CD pipeline; static code analysis; application build, testing, and security scanning; and deployment.</a:t>
            </a:r>
          </a:p>
        </p:txBody>
      </p:sp>
    </p:spTree>
  </p:cSld>
  <p:clrMapOvr>
    <a:masterClrMapping/>
  </p:clrMapOvr>
</p:sld>
</file>

<file path=ppt/slides/slide3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Pinpoint Announces Journey Pause and Resume</a:t>
            </a:r>
          </a:p>
        </p:txBody>
      </p:sp>
      <p:sp>
        <p:nvSpPr>
          <p:cNvPr id="3" name="Content Placeholder 2"/>
          <p:cNvSpPr>
            <a:spLocks noGrp="1"/>
          </p:cNvSpPr>
          <p:nvPr>
            <p:ph sz="half" idx="1"/>
          </p:nvPr>
        </p:nvSpPr>
        <p:spPr/>
        <p:txBody>
          <a:bodyPr/>
          <a:lstStyle/>
          <a:p>
            <a:r>
              <a:t>05 May</a:t>
            </a:r>
          </a:p>
          <a:p>
            <a:endParaRPr/>
          </a:p>
          <a:p>
            <a:r>
              <a:t>Today, Amazon Pinpoint announces the ability for customers to pause and resume Journeys — being able to temporarily halt the execution of message sends. Previously, customers needed to stop and recreate their Journey entirely if there was a situation such as: a conflicting campaign, a seasonal event, or an issue. Journeys are multi-step campaigns that can be executed across SMS, email, and push messages. Journeys are intended for customers with user engagement use cases, and want to send targeted messaging to their users to drive high value actions.</a:t>
            </a:r>
          </a:p>
        </p:txBody>
      </p:sp>
    </p:spTree>
  </p:cSld>
  <p:clrMapOvr>
    <a:masterClrMapping/>
  </p:clrMapOvr>
</p:sld>
</file>

<file path=ppt/slides/slide3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Announcing availability of AWS Outposts in Colombia, Macao, and Puerto Rico</a:t>
            </a:r>
          </a:p>
        </p:txBody>
      </p:sp>
      <p:sp>
        <p:nvSpPr>
          <p:cNvPr id="3" name="Content Placeholder 2"/>
          <p:cNvSpPr>
            <a:spLocks noGrp="1"/>
          </p:cNvSpPr>
          <p:nvPr>
            <p:ph sz="half" idx="1"/>
          </p:nvPr>
        </p:nvSpPr>
        <p:spPr/>
        <p:txBody>
          <a:bodyPr/>
          <a:lstStyle/>
          <a:p>
            <a:r>
              <a:t>05 May</a:t>
            </a:r>
          </a:p>
          <a:p>
            <a:endParaRPr/>
          </a:p>
          <a:p>
            <a:r>
              <a:t>AWS Outposts can now be shipped and installed at customer datacenters and on-premises locations in Colombia, Macao, and Puerto Rico.</a:t>
            </a:r>
          </a:p>
        </p:txBody>
      </p:sp>
    </p:spTree>
  </p:cSld>
  <p:clrMapOvr>
    <a:masterClrMapping/>
  </p:clrMapOvr>
</p:sld>
</file>

<file path=ppt/slides/slide3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Host Resource Groups for EC2 Dedicated Hosts now support AWS CloudFormation</a:t>
            </a:r>
          </a:p>
        </p:txBody>
      </p:sp>
      <p:sp>
        <p:nvSpPr>
          <p:cNvPr id="3" name="Content Placeholder 2"/>
          <p:cNvSpPr>
            <a:spLocks noGrp="1"/>
          </p:cNvSpPr>
          <p:nvPr>
            <p:ph sz="half" idx="1"/>
          </p:nvPr>
        </p:nvSpPr>
        <p:spPr/>
        <p:txBody>
          <a:bodyPr/>
          <a:lstStyle/>
          <a:p>
            <a:r>
              <a:t>05 May</a:t>
            </a:r>
          </a:p>
          <a:p>
            <a:endParaRPr/>
          </a:p>
          <a:p>
            <a:r>
              <a:t>Host Resource Groups , which is a logical collection of Dedicated Hosts that you can manage as a single entity, now support AWS CloudFormation , allowing customers to create Host Resource Groups using CloudFormation templates and automate EC2 Dedicated Host management.</a:t>
            </a:r>
          </a:p>
        </p:txBody>
      </p:sp>
    </p:spTree>
  </p:cSld>
  <p:clrMapOvr>
    <a:masterClrMapping/>
  </p:clrMapOvr>
</p:sld>
</file>

<file path=ppt/slides/slide3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VPC Announces Pricing Change for VPC Peering</a:t>
            </a:r>
          </a:p>
        </p:txBody>
      </p:sp>
      <p:sp>
        <p:nvSpPr>
          <p:cNvPr id="3" name="Content Placeholder 2"/>
          <p:cNvSpPr>
            <a:spLocks noGrp="1"/>
          </p:cNvSpPr>
          <p:nvPr>
            <p:ph sz="half" idx="1"/>
          </p:nvPr>
        </p:nvSpPr>
        <p:spPr/>
        <p:txBody>
          <a:bodyPr/>
          <a:lstStyle/>
          <a:p>
            <a:r>
              <a:t>05 May</a:t>
            </a:r>
          </a:p>
          <a:p>
            <a:endParaRPr/>
          </a:p>
          <a:p>
            <a:r>
              <a:t>Starting May 1st 2021, all data transfer over a VPC Peering connection that stays within an Availability Zone (AZ) is now free. All data transfer over a VPC Peering connection that crosses Availability Zones will continue to be charged at the standard in-region data transfer rates. You can use the Availability Zone-ID  to uniquely and consistently identify an Availability Zone across different AWS accounts.</a:t>
            </a:r>
          </a:p>
        </p:txBody>
      </p:sp>
    </p:spTree>
  </p:cSld>
  <p:clrMapOvr>
    <a:masterClrMapping/>
  </p:clrMapOvr>
</p:sld>
</file>

<file path=ppt/slides/slide3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CodeGuru Reviewer now supports customer-managed customer master keys</a:t>
            </a:r>
          </a:p>
        </p:txBody>
      </p:sp>
      <p:sp>
        <p:nvSpPr>
          <p:cNvPr id="3" name="Content Placeholder 2"/>
          <p:cNvSpPr>
            <a:spLocks noGrp="1"/>
          </p:cNvSpPr>
          <p:nvPr>
            <p:ph sz="half" idx="1"/>
          </p:nvPr>
        </p:nvSpPr>
        <p:spPr/>
        <p:txBody>
          <a:bodyPr/>
          <a:lstStyle/>
          <a:p>
            <a:r>
              <a:t>05 May</a:t>
            </a:r>
          </a:p>
          <a:p>
            <a:endParaRPr/>
          </a:p>
          <a:p>
            <a:r>
              <a:t>Today, we are excited to announce support for customer-managed customer master keys  to encrypt your code repositories in Amazon CodeGuru Reviewer. Customer-managed customer master keys allow you to create, own, and manage your encryption keys, giving you more control over how you manage the security of your CodeGuru Reviewer code.</a:t>
            </a:r>
          </a:p>
        </p:txBody>
      </p:sp>
    </p:spTree>
  </p:cSld>
  <p:clrMapOvr>
    <a:masterClrMapping/>
  </p:clrMapOvr>
</p:sld>
</file>

<file path=ppt/slides/slide3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Translate increases the concurrent API limit for Batch Translation to 1000</a:t>
            </a:r>
          </a:p>
        </p:txBody>
      </p:sp>
      <p:sp>
        <p:nvSpPr>
          <p:cNvPr id="3" name="Content Placeholder 2"/>
          <p:cNvSpPr>
            <a:spLocks noGrp="1"/>
          </p:cNvSpPr>
          <p:nvPr>
            <p:ph sz="half" idx="1"/>
          </p:nvPr>
        </p:nvSpPr>
        <p:spPr/>
        <p:txBody>
          <a:bodyPr/>
          <a:lstStyle/>
          <a:p>
            <a:r>
              <a:t>04 May</a:t>
            </a:r>
          </a:p>
          <a:p>
            <a:endParaRPr/>
          </a:p>
          <a:p>
            <a:r>
              <a:t>Amazon Translate is a fully managed neural machine translation service that delivers real-time, high-quality, affordable and customizable language translation. Today, we are announcing that Amazon Translate has increased the concurrent API limits for batch translation jobs  from 10 to 1000.</a:t>
            </a:r>
          </a:p>
        </p:txBody>
      </p:sp>
    </p:spTree>
  </p:cSld>
  <p:clrMapOvr>
    <a:masterClrMapping/>
  </p:clrMapOvr>
</p:sld>
</file>

<file path=ppt/slides/slide3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Elasticsearch Service now offers AWS Graviton2 (M6g, C6g, R6g, and R6gd) instances</a:t>
            </a:r>
          </a:p>
        </p:txBody>
      </p:sp>
      <p:sp>
        <p:nvSpPr>
          <p:cNvPr id="3" name="Content Placeholder 2"/>
          <p:cNvSpPr>
            <a:spLocks noGrp="1"/>
          </p:cNvSpPr>
          <p:nvPr>
            <p:ph sz="half" idx="1"/>
          </p:nvPr>
        </p:nvSpPr>
        <p:spPr/>
        <p:txBody>
          <a:bodyPr/>
          <a:lstStyle/>
          <a:p>
            <a:r>
              <a:t>04 May</a:t>
            </a:r>
          </a:p>
          <a:p>
            <a:endParaRPr/>
          </a:p>
          <a:p>
            <a:r>
              <a:t>Amazon Elasticsearch Service now offers instances from the AWS Graviton2 instance family. Instance types include general purpose (M6g), compute optimized (C6g), and memory optimized (R6g, R6gd). Customers can enjoy up to 38% improvement in indexing throughput, 50% reduction in indexing latency, and 30% improvement in query performance when compared to the corresponding x86-based instances from the current generation (M5, C5, R5).</a:t>
            </a:r>
          </a:p>
        </p:txBody>
      </p:sp>
    </p:spTree>
  </p:cSld>
  <p:clrMapOvr>
    <a:masterClrMapping/>
  </p:clrMapOvr>
</p:sld>
</file>

<file path=ppt/slides/slide3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Porting Assistant for .NET now available as a Visual Studio IDE extension</a:t>
            </a:r>
          </a:p>
        </p:txBody>
      </p:sp>
      <p:sp>
        <p:nvSpPr>
          <p:cNvPr id="3" name="Content Placeholder 2"/>
          <p:cNvSpPr>
            <a:spLocks noGrp="1"/>
          </p:cNvSpPr>
          <p:nvPr>
            <p:ph sz="half" idx="1"/>
          </p:nvPr>
        </p:nvSpPr>
        <p:spPr/>
        <p:txBody>
          <a:bodyPr/>
          <a:lstStyle/>
          <a:p>
            <a:r>
              <a:t>04 May</a:t>
            </a:r>
          </a:p>
          <a:p>
            <a:endParaRPr/>
          </a:p>
          <a:p>
            <a:r>
              <a:t>Porting Assistant for .NET is now available as a Visual Studio IDE extension. With this release, developers can access Porting Assistant for .NET directly from the Visual Studio IDE to assess incompatibilities and be more productive with an integrated experience for porting their .NET applications. Along with rich source code editing features provided by the IDE, this extension provides developers with feedback on lines of code that need to be modified to make the source code compatible with .NET Core. Developers can now run automated porting and take advantage of continuous assessment of incompatibilities as they make updates to the code.</a:t>
            </a:r>
          </a:p>
        </p:txBody>
      </p:sp>
    </p:spTree>
  </p:cSld>
  <p:clrMapOvr>
    <a:masterClrMapping/>
  </p:clrMapOvr>
</p:sld>
</file>

<file path=ppt/slides/slide3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Now clone runbooks with AWS Systems Manager</a:t>
            </a:r>
          </a:p>
        </p:txBody>
      </p:sp>
      <p:sp>
        <p:nvSpPr>
          <p:cNvPr id="3" name="Content Placeholder 2"/>
          <p:cNvSpPr>
            <a:spLocks noGrp="1"/>
          </p:cNvSpPr>
          <p:nvPr>
            <p:ph sz="half" idx="1"/>
          </p:nvPr>
        </p:nvSpPr>
        <p:spPr/>
        <p:txBody>
          <a:bodyPr/>
          <a:lstStyle/>
          <a:p>
            <a:r>
              <a:t>04 May</a:t>
            </a:r>
          </a:p>
          <a:p>
            <a:endParaRPr/>
          </a:p>
          <a:p>
            <a:r>
              <a:t>Now, with AWS Systems Manager, IT administrators can clone runbooks and other Systems Manager documents such as Command documents. Using this feature, you can quickly create a copy of your existing runbooks or publicly available managed documents and update them based on your use case.</a:t>
            </a:r>
          </a:p>
        </p:txBody>
      </p:sp>
    </p:spTree>
  </p:cSld>
  <p:clrMapOvr>
    <a:masterClrMapping/>
  </p:clrMapOvr>
</p:sld>
</file>

<file path=ppt/slides/slide3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Personalize now supports exporting data</a:t>
            </a:r>
          </a:p>
        </p:txBody>
      </p:sp>
      <p:sp>
        <p:nvSpPr>
          <p:cNvPr id="3" name="Content Placeholder 2"/>
          <p:cNvSpPr>
            <a:spLocks noGrp="1"/>
          </p:cNvSpPr>
          <p:nvPr>
            <p:ph sz="half" idx="1"/>
          </p:nvPr>
        </p:nvSpPr>
        <p:spPr/>
        <p:txBody>
          <a:bodyPr/>
          <a:lstStyle/>
          <a:p>
            <a:r>
              <a:t>04 May</a:t>
            </a:r>
          </a:p>
          <a:p>
            <a:endParaRPr/>
          </a:p>
          <a:p>
            <a:r>
              <a:t>Amazon Personalize  enables you to personalize your website, app, ads, emails, and more, using the same machine learning technology as used by Amazon.com, without requiring any prior machine learning experience. Using Amazon Personalize, you can generate personalized recommendations for your users through a simple API interface. Amazon Personalize now offers a new set of APIs to enable customers to export the data present in their Users, Items and Interactions Datasets to their own S3 buckets.</a:t>
            </a:r>
          </a:p>
        </p:txBody>
      </p:sp>
    </p:spTree>
  </p:cSld>
  <p:clrMapOvr>
    <a:masterClrMapping/>
  </p:clrMapOvr>
</p:sld>
</file>

<file path=ppt/slides/slide3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Identity and Access Management (IAM) now makes it easier for you to manage permissions for AWS services accessing your resources</a:t>
            </a:r>
          </a:p>
        </p:txBody>
      </p:sp>
      <p:sp>
        <p:nvSpPr>
          <p:cNvPr id="3" name="Content Placeholder 2"/>
          <p:cNvSpPr>
            <a:spLocks noGrp="1"/>
          </p:cNvSpPr>
          <p:nvPr>
            <p:ph sz="half" idx="1"/>
          </p:nvPr>
        </p:nvSpPr>
        <p:spPr/>
        <p:txBody>
          <a:bodyPr/>
          <a:lstStyle/>
          <a:p>
            <a:r>
              <a:t>04 May</a:t>
            </a:r>
          </a:p>
          <a:p>
            <a:endParaRPr/>
          </a:p>
          <a:p>
            <a:r>
              <a:t>AWS Identity and Access Management (IAM) now supports policy conditions to help manage permissions for AWS services that access your resources. Many AWS services require access to your internal resources to perform tasks, and they often use their own service identity called a service principal  to achieve this. Using the new service principal conditions, it is simple to author rules that enforce a rule for all your service principals, or exclude service principals from certain permission rules that are intended only for your own identities.</a:t>
            </a:r>
          </a:p>
        </p:txBody>
      </p:sp>
    </p:spTree>
  </p:cSld>
  <p:clrMapOvr>
    <a:masterClrMapping/>
  </p:clrMapOvr>
</p:sld>
</file>

<file path=ppt/slides/slide3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QuickSight Launches Threshold Alerts</a:t>
            </a:r>
          </a:p>
        </p:txBody>
      </p:sp>
      <p:sp>
        <p:nvSpPr>
          <p:cNvPr id="3" name="Content Placeholder 2"/>
          <p:cNvSpPr>
            <a:spLocks noGrp="1"/>
          </p:cNvSpPr>
          <p:nvPr>
            <p:ph sz="half" idx="1"/>
          </p:nvPr>
        </p:nvSpPr>
        <p:spPr/>
        <p:txBody>
          <a:bodyPr/>
          <a:lstStyle/>
          <a:p>
            <a:r>
              <a:t>04 May</a:t>
            </a:r>
          </a:p>
          <a:p>
            <a:endParaRPr/>
          </a:p>
          <a:p>
            <a:r>
              <a:t>Amazon QuickSight can now notify users of changes to important metrics in their dashboards with threshold-based alerts. Readers and authors can set up personalized rules on key metrics in their dashboards and be automatically notified via email when data crosses the defined thresholds, highlighting important changes in their business. For instance, a manager might want to track the sales of their business and know when weekly sales drop below $100,000. To set up an alert, users can go to any QuickSight dashboard and click on a KPI or gauge visual and then use the ‘alert’ icon in order to configure the alert. Threshold alerts are billed per metric processed (which means each time an alert rule is checked) at tiered rates starting at $0.50 per 1000 metrics processed. See details on alerts pricing.</a:t>
            </a:r>
          </a:p>
        </p:txBody>
      </p:sp>
    </p:spTree>
  </p:cSld>
  <p:clrMapOvr>
    <a:masterClrMapping/>
  </p:clrMapOvr>
</p:sld>
</file>

<file path=ppt/slides/slide3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DevOps Guru now generally available with additional capabilities</a:t>
            </a:r>
          </a:p>
        </p:txBody>
      </p:sp>
      <p:sp>
        <p:nvSpPr>
          <p:cNvPr id="3" name="Content Placeholder 2"/>
          <p:cNvSpPr>
            <a:spLocks noGrp="1"/>
          </p:cNvSpPr>
          <p:nvPr>
            <p:ph sz="half" idx="1"/>
          </p:nvPr>
        </p:nvSpPr>
        <p:spPr/>
        <p:txBody>
          <a:bodyPr/>
          <a:lstStyle/>
          <a:p>
            <a:r>
              <a:t>04 May</a:t>
            </a:r>
          </a:p>
          <a:p>
            <a:endParaRPr/>
          </a:p>
          <a:p>
            <a:r>
              <a:t>Today we are announcing the general availability (GA) of Amazon DevOps Guru – a machine learning (ML) powered service that gives you a simpler way to measure and improve an application’s operational performance and availability and reduce expensive downtime.</a:t>
            </a:r>
          </a:p>
        </p:txBody>
      </p:sp>
    </p:spTree>
  </p:cSld>
  <p:clrMapOvr>
    <a:masterClrMapping/>
  </p:clrMapOvr>
</p:sld>
</file>

<file path=ppt/slides/slide3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OpsWorks for Configuration Management now supports Puppet Enterprise LTS Version 2019.8.5</a:t>
            </a:r>
          </a:p>
        </p:txBody>
      </p:sp>
      <p:sp>
        <p:nvSpPr>
          <p:cNvPr id="3" name="Content Placeholder 2"/>
          <p:cNvSpPr>
            <a:spLocks noGrp="1"/>
          </p:cNvSpPr>
          <p:nvPr>
            <p:ph sz="half" idx="1"/>
          </p:nvPr>
        </p:nvSpPr>
        <p:spPr/>
        <p:txBody>
          <a:bodyPr/>
          <a:lstStyle/>
          <a:p>
            <a:r>
              <a:t>04 May</a:t>
            </a:r>
          </a:p>
          <a:p>
            <a:endParaRPr/>
          </a:p>
          <a:p>
            <a:r>
              <a:t>AWS OpsWorks for Configuration Management now supports the current long term support (LTS) version of Puppet Enterprise for its fully managed service. Customers are upgraded automatically during the weekly system maintenance window scheduled individually by each customer.</a:t>
            </a:r>
          </a:p>
        </p:txBody>
      </p:sp>
    </p:spTree>
  </p:cSld>
  <p:clrMapOvr>
    <a:masterClrMapping/>
  </p:clrMapOvr>
</p:sld>
</file>

<file path=ppt/slides/slide3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FreeRTOS 202104.00 includes new managed OTA and MQTT capabilities for IoT applications</a:t>
            </a:r>
          </a:p>
        </p:txBody>
      </p:sp>
      <p:sp>
        <p:nvSpPr>
          <p:cNvPr id="3" name="Content Placeholder 2"/>
          <p:cNvSpPr>
            <a:spLocks noGrp="1"/>
          </p:cNvSpPr>
          <p:nvPr>
            <p:ph sz="half" idx="1"/>
          </p:nvPr>
        </p:nvSpPr>
        <p:spPr/>
        <p:txBody>
          <a:bodyPr/>
          <a:lstStyle/>
          <a:p>
            <a:r>
              <a:t>04 May</a:t>
            </a:r>
          </a:p>
          <a:p>
            <a:endParaRPr/>
          </a:p>
          <a:p>
            <a:r>
              <a:t>FreeRTOS version 202104.00 includes a new managed over-the-air update (OTA) library, coreMQTT-Agent library and the AWS IoT Device Defender custom metrics feature as generally available. Developers can use these libraries to update firmware, manage IoT device fleets, design multi-threaded applications, and monitor fleet metrics for their IoT devices.</a:t>
            </a:r>
          </a:p>
        </p:txBody>
      </p:sp>
    </p:spTree>
  </p:cSld>
  <p:clrMapOvr>
    <a:masterClrMapping/>
  </p:clrMapOvr>
</p:sld>
</file>

<file path=ppt/slides/slide3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Easily clean up unused resources in Amazon Forecast using hierarchical deletion</a:t>
            </a:r>
          </a:p>
        </p:txBody>
      </p:sp>
      <p:sp>
        <p:nvSpPr>
          <p:cNvPr id="3" name="Content Placeholder 2"/>
          <p:cNvSpPr>
            <a:spLocks noGrp="1"/>
          </p:cNvSpPr>
          <p:nvPr>
            <p:ph sz="half" idx="1"/>
          </p:nvPr>
        </p:nvSpPr>
        <p:spPr/>
        <p:txBody>
          <a:bodyPr/>
          <a:lstStyle/>
          <a:p>
            <a:r>
              <a:t>03 May</a:t>
            </a:r>
          </a:p>
          <a:p>
            <a:endParaRPr/>
          </a:p>
          <a:p>
            <a:r>
              <a:t>We are excited to announce that you can now hierarchically delete resources in Amazon Forecast at a parent level without having to locate the child resources. You can stay focused on building value adding forecasting systems and not worry about trying to manage individual resources that are created in your workflow. Amazon Forecast uses machine learning (ML) to generate more accurate demand forecasts, without requiring any prior ML experience. Amazon Forecast brings the same technology used at Amazon.com to developers as a fully managed service, removing the need to manage resources or rebuild your systems.</a:t>
            </a:r>
          </a:p>
        </p:txBody>
      </p:sp>
    </p:spTree>
  </p:cSld>
  <p:clrMapOvr>
    <a:masterClrMapping/>
  </p:clrMapOvr>
</p:sld>
</file>

<file path=ppt/slides/slide3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RDS for Oracle and Amazon RDS for PostgreSQL now support Amazon RDS Encrypted Cross-Region Automated Backups</a:t>
            </a:r>
          </a:p>
        </p:txBody>
      </p:sp>
      <p:sp>
        <p:nvSpPr>
          <p:cNvPr id="3" name="Content Placeholder 2"/>
          <p:cNvSpPr>
            <a:spLocks noGrp="1"/>
          </p:cNvSpPr>
          <p:nvPr>
            <p:ph sz="half" idx="1"/>
          </p:nvPr>
        </p:nvSpPr>
        <p:spPr/>
        <p:txBody>
          <a:bodyPr/>
          <a:lstStyle/>
          <a:p>
            <a:r>
              <a:t>03 May</a:t>
            </a:r>
          </a:p>
          <a:p>
            <a:endParaRPr/>
          </a:p>
          <a:p>
            <a:r>
              <a:t>Starting today Amazon Relational Database Service (RDS) for Oracle and Amazon RDS for PostgreSQL now support Amazon RDS Encrypted Cross-Region Automated Backups. This feature extends the existing RDS backup functionality, giving you the ability to set up automatic replication of system snapshots and transaction logs from a primary AWS Region to a secondary AWS Region. These backups are encrypted using an AWS KMS customer master key in the destination Region.</a:t>
            </a:r>
          </a:p>
        </p:txBody>
      </p:sp>
    </p:spTree>
  </p:cSld>
  <p:clrMapOvr>
    <a:masterClrMapping/>
  </p:clrMapOvr>
</p:sld>
</file>

<file path=ppt/slides/slide3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S3 Object Lambda is now available in the AWS GovCloud (US) Regions</a:t>
            </a:r>
          </a:p>
        </p:txBody>
      </p:sp>
      <p:sp>
        <p:nvSpPr>
          <p:cNvPr id="3" name="Content Placeholder 2"/>
          <p:cNvSpPr>
            <a:spLocks noGrp="1"/>
          </p:cNvSpPr>
          <p:nvPr>
            <p:ph sz="half" idx="1"/>
          </p:nvPr>
        </p:nvSpPr>
        <p:spPr/>
        <p:txBody>
          <a:bodyPr/>
          <a:lstStyle/>
          <a:p>
            <a:r>
              <a:t>03 May</a:t>
            </a:r>
          </a:p>
          <a:p>
            <a:endParaRPr/>
          </a:p>
          <a:p>
            <a:r>
              <a:t>S3 Object Lambda is now available in the AWS GovCloud (US) Regions. With S3 Object Lambda you can add your own code to S3 GET requests to modify and process data as it is returned to an application. For the first time, you can use custom code to modify the data returned by standard S3 GET requests to filter rows, dynamically resize images, redact confidential data, and much more.</a:t>
            </a:r>
          </a:p>
        </p:txBody>
      </p:sp>
    </p:spTree>
  </p:cSld>
  <p:clrMapOvr>
    <a:masterClrMapping/>
  </p:clrMapOvr>
</p:sld>
</file>

<file path=ppt/slides/slide3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Transit Gateway Network Manager is now available in AWS Asia Pacific (Osaka) Region</a:t>
            </a:r>
          </a:p>
        </p:txBody>
      </p:sp>
      <p:sp>
        <p:nvSpPr>
          <p:cNvPr id="3" name="Content Placeholder 2"/>
          <p:cNvSpPr>
            <a:spLocks noGrp="1"/>
          </p:cNvSpPr>
          <p:nvPr>
            <p:ph sz="half" idx="1"/>
          </p:nvPr>
        </p:nvSpPr>
        <p:spPr/>
        <p:txBody>
          <a:bodyPr/>
          <a:lstStyle/>
          <a:p>
            <a:r>
              <a:t>03 May</a:t>
            </a:r>
          </a:p>
          <a:p>
            <a:endParaRPr/>
          </a:p>
          <a:p>
            <a:r>
              <a:t>Starting today, AWS Transit Gateway Network Manager is now available in the AWS Asia Pacific (Osaka) Region.</a:t>
            </a:r>
          </a:p>
        </p:txBody>
      </p:sp>
    </p:spTree>
  </p:cSld>
  <p:clrMapOvr>
    <a:masterClrMapping/>
  </p:clrMapOvr>
</p:sld>
</file>

<file path=ppt/slides/slide3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Connect Customer Profiles launches Identity Resolution in Preview to detect and merge duplicate customer profiles</a:t>
            </a:r>
          </a:p>
        </p:txBody>
      </p:sp>
      <p:sp>
        <p:nvSpPr>
          <p:cNvPr id="3" name="Content Placeholder 2"/>
          <p:cNvSpPr>
            <a:spLocks noGrp="1"/>
          </p:cNvSpPr>
          <p:nvPr>
            <p:ph sz="half" idx="1"/>
          </p:nvPr>
        </p:nvSpPr>
        <p:spPr/>
        <p:txBody>
          <a:bodyPr/>
          <a:lstStyle/>
          <a:p>
            <a:r>
              <a:t>03 May</a:t>
            </a:r>
          </a:p>
          <a:p>
            <a:endParaRPr/>
          </a:p>
          <a:p>
            <a:r>
              <a:t>Amazon Connect Customer Profiles now automatically detects duplicate customer profiles in your Amazon Connect Customer Profiles domain and allows you to review the results by using Identity Resolution APIs  (preview). Identity Resolution uses machine learning to detect duplicate profiles based on similar name, email address, and phone number. For example, two or more profiles—with spelling mistakes such as “John Doe” and “Jhn Doe,” or different casing email addresses such as “JOHN_DOE@ANYCOMPANY.COM” and “johndoe@anycompany.com,” or different phone number formats such as “555-010-0000” and “+1-555-010-0000”, can be detected as belonging to the same customer “John Doe” and merged into a unified profile by using the MergeProfiles API .</a:t>
            </a:r>
          </a:p>
        </p:txBody>
      </p:sp>
    </p:spTree>
  </p:cSld>
  <p:clrMapOvr>
    <a:masterClrMapping/>
  </p:clrMapOvr>
</p:sld>
</file>

<file path=ppt/slides/slide3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Connect CTI Adapter for Salesforce adds programmable buttons with CTI Actions</a:t>
            </a:r>
          </a:p>
        </p:txBody>
      </p:sp>
      <p:sp>
        <p:nvSpPr>
          <p:cNvPr id="3" name="Content Placeholder 2"/>
          <p:cNvSpPr>
            <a:spLocks noGrp="1"/>
          </p:cNvSpPr>
          <p:nvPr>
            <p:ph sz="half" idx="1"/>
          </p:nvPr>
        </p:nvSpPr>
        <p:spPr/>
        <p:txBody>
          <a:bodyPr/>
          <a:lstStyle/>
          <a:p>
            <a:r>
              <a:t>03 May</a:t>
            </a:r>
          </a:p>
          <a:p>
            <a:endParaRPr/>
          </a:p>
          <a:p>
            <a:r>
              <a:t>The Amazon Connect Computer Telephony Integration (CTI) Adapter for Salesforce  now enables customers to extend their Contact Control Panel (CCP) with customizable buttons called CTI Actions. These buttons can be configured in Salesforce and used to simplify common agent actions. For example, you can add a button that transfers calls to a manager, start and stop recordings, automate case creation, or start a customer refund process. CTI Actions are configured in the CTI Adapter’s Actions Admin panel to execute CTI Flows which are process blocks that enable you to easily design agent workflows within our Salesforce integration. There are no technical skills required and customers can easily configure an end to end agent workflow in Salesforce Lightning and Classic. </a:t>
            </a:r>
          </a:p>
        </p:txBody>
      </p:sp>
    </p:spTree>
  </p:cSld>
  <p:clrMapOvr>
    <a:masterClrMapping/>
  </p:clrMapOvr>
</p:sld>
</file>

<file path=ppt/slides/slide3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hlinkClick r:id="rId2"/>
              </a:rPr>
              <a:t>Amazon DynamoDB local now supports the AWS SDK for Java 2.x</a:t>
            </a:r>
          </a:p>
        </p:txBody>
      </p:sp>
      <p:sp>
        <p:nvSpPr>
          <p:cNvPr id="3" name="Content Placeholder 2"/>
          <p:cNvSpPr>
            <a:spLocks noGrp="1"/>
          </p:cNvSpPr>
          <p:nvPr>
            <p:ph sz="half" idx="1"/>
          </p:nvPr>
        </p:nvSpPr>
        <p:spPr/>
        <p:txBody>
          <a:bodyPr/>
          <a:lstStyle/>
          <a:p>
            <a:r>
              <a:rPr dirty="0"/>
              <a:t>03 May</a:t>
            </a:r>
          </a:p>
          <a:p>
            <a:endParaRPr dirty="0"/>
          </a:p>
          <a:p>
            <a:r>
              <a:rPr dirty="0"/>
              <a:t>You now can use the AWS SDK for Java 2.x with DynamoDB local, the downloadable version of Amazon DynamoDB. With DynamoDB local, you can develop and test applications by using a version of DynamoDB running in your local development environment without incurring any additional costs. DynamoDB local does not require an internet connection, and it works with your existing DynamoDB API calls. </a:t>
            </a:r>
          </a:p>
        </p:txBody>
      </p:sp>
    </p:spTree>
  </p:cSld>
  <p:clrMapOvr>
    <a:masterClrMapping/>
  </p:clrMapOvr>
</p:sld>
</file>

<file path=ppt/slides/slide3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New AWS Solutions Consulting Offer - Cloud Assessment and Design</a:t>
            </a:r>
          </a:p>
        </p:txBody>
      </p:sp>
      <p:sp>
        <p:nvSpPr>
          <p:cNvPr id="3" name="Content Placeholder 2"/>
          <p:cNvSpPr>
            <a:spLocks noGrp="1"/>
          </p:cNvSpPr>
          <p:nvPr>
            <p:ph sz="half" idx="1"/>
          </p:nvPr>
        </p:nvSpPr>
        <p:spPr/>
        <p:txBody>
          <a:bodyPr/>
          <a:lstStyle/>
          <a:p>
            <a:r>
              <a:t>03 May</a:t>
            </a:r>
          </a:p>
          <a:p>
            <a:endParaRPr/>
          </a:p>
          <a:p>
            <a:r>
              <a:t>Cloud Assessment and Design is an AWS Solutions Consulting Offer delivered via a consulting engagement from Atos, an AWS Migration Competency Partner. Cloud Assessment and Design leverages the Atos Cloud Assessment Tool (ACAT) to transform a customer’s IT landscape in their journey to the cloud with a detailed approach and business use case. Customers that request this consulting offer will participate in an engagement that delivers application discovery and analysis, blueprint design, framework deployment, and migration execution.</a:t>
            </a:r>
          </a:p>
        </p:txBody>
      </p:sp>
    </p:spTree>
  </p:cSld>
  <p:clrMapOvr>
    <a:masterClrMapping/>
  </p:clrMapOvr>
</p:sld>
</file>

<file path=ppt/slides/slide3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Redshift announces preview of cross-account data sharing</a:t>
            </a:r>
          </a:p>
        </p:txBody>
      </p:sp>
      <p:sp>
        <p:nvSpPr>
          <p:cNvPr id="3" name="Content Placeholder 2"/>
          <p:cNvSpPr>
            <a:spLocks noGrp="1"/>
          </p:cNvSpPr>
          <p:nvPr>
            <p:ph sz="half" idx="1"/>
          </p:nvPr>
        </p:nvSpPr>
        <p:spPr/>
        <p:txBody>
          <a:bodyPr/>
          <a:lstStyle/>
          <a:p>
            <a:r>
              <a:t>30 Apr</a:t>
            </a:r>
          </a:p>
          <a:p>
            <a:endParaRPr/>
          </a:p>
          <a:p>
            <a:r>
              <a:t>Amazon Redshift data sharing allows you to share live, transactionally consistent data across different Redshift clusters without the complexity and delays associated with data copies and data movement. Ability to share data across clusters that are in the same AWS account is already generally available. Now you can preview cross-account data sharing to share data across Redshift clusters in different AWS accounts, both within and outside your organization. Cross-account data sharing is available on all Redshift RA3 node types. There is no additional cost to use cross-account sharing on your Amazon Redshift clusters. </a:t>
            </a:r>
          </a:p>
        </p:txBody>
      </p:sp>
    </p:spTree>
  </p:cSld>
  <p:clrMapOvr>
    <a:masterClrMapping/>
  </p:clrMapOvr>
</p:sld>
</file>

<file path=ppt/slides/slide3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New AWS Solutions Implementation: AWS Blueprints</a:t>
            </a:r>
          </a:p>
        </p:txBody>
      </p:sp>
      <p:sp>
        <p:nvSpPr>
          <p:cNvPr id="3" name="Content Placeholder 2"/>
          <p:cNvSpPr>
            <a:spLocks noGrp="1"/>
          </p:cNvSpPr>
          <p:nvPr>
            <p:ph sz="half" idx="1"/>
          </p:nvPr>
        </p:nvSpPr>
        <p:spPr/>
        <p:txBody>
          <a:bodyPr/>
          <a:lstStyle/>
          <a:p>
            <a:r>
              <a:t>30 Apr</a:t>
            </a:r>
          </a:p>
          <a:p>
            <a:endParaRPr/>
          </a:p>
          <a:p>
            <a:r>
              <a:t>We are delighted to announce the addition of AWS Blueprints to the AWS Solutions Implementations portfolio. AWS Solutions Implementations help you solve common problems and build faster using the AWS platform.</a:t>
            </a:r>
          </a:p>
        </p:txBody>
      </p:sp>
    </p:spTree>
  </p:cSld>
  <p:clrMapOvr>
    <a:masterClrMapping/>
  </p:clrMapOvr>
</p:sld>
</file>

<file path=ppt/slides/slide3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hlinkClick r:id="rId2"/>
              </a:rPr>
              <a:t>Amazon Kinesis Data Analytics for Apache Flink introduces custom maintenance windows in preview</a:t>
            </a:r>
          </a:p>
        </p:txBody>
      </p:sp>
      <p:sp>
        <p:nvSpPr>
          <p:cNvPr id="3" name="Content Placeholder 2"/>
          <p:cNvSpPr>
            <a:spLocks noGrp="1"/>
          </p:cNvSpPr>
          <p:nvPr>
            <p:ph sz="half" idx="1"/>
          </p:nvPr>
        </p:nvSpPr>
        <p:spPr/>
        <p:txBody>
          <a:bodyPr/>
          <a:lstStyle/>
          <a:p>
            <a:r>
              <a:rPr dirty="0"/>
              <a:t>30 Apr</a:t>
            </a:r>
          </a:p>
          <a:p>
            <a:endParaRPr dirty="0"/>
          </a:p>
          <a:p>
            <a:r>
              <a:rPr dirty="0"/>
              <a:t>Amazon Kinesis Data Analytics for Apache </a:t>
            </a:r>
            <a:r>
              <a:rPr dirty="0" err="1"/>
              <a:t>Flink</a:t>
            </a:r>
            <a:r>
              <a:rPr dirty="0"/>
              <a:t> now supports </a:t>
            </a:r>
            <a:r>
              <a:rPr dirty="0" err="1"/>
              <a:t>UpdateApplicationMaintenanceConfiguration</a:t>
            </a:r>
            <a:r>
              <a:rPr dirty="0"/>
              <a:t>  in preview. Amazon Kinesis Data Analytics periodically patches the underlying infrastructure of applications with OS and container-image security updates to meet AWS compliance and security goals during the default maintenance windows  in each region. You can use </a:t>
            </a:r>
            <a:r>
              <a:rPr dirty="0" err="1"/>
              <a:t>UpdateApplicationMaintenanceConfiguration</a:t>
            </a:r>
            <a:r>
              <a:rPr dirty="0"/>
              <a:t> via the CLI or the API to choose your preferred maintenance window start times for an application.</a:t>
            </a:r>
          </a:p>
        </p:txBody>
      </p:sp>
    </p:spTree>
  </p:cSld>
  <p:clrMapOvr>
    <a:masterClrMapping/>
  </p:clrMapOvr>
</p:sld>
</file>

<file path=ppt/slides/slide3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Monitron Service is Now Available in the Europe (Ireland) region</a:t>
            </a:r>
          </a:p>
        </p:txBody>
      </p:sp>
      <p:sp>
        <p:nvSpPr>
          <p:cNvPr id="3" name="Content Placeholder 2"/>
          <p:cNvSpPr>
            <a:spLocks noGrp="1"/>
          </p:cNvSpPr>
          <p:nvPr>
            <p:ph sz="half" idx="1"/>
          </p:nvPr>
        </p:nvSpPr>
        <p:spPr/>
        <p:txBody>
          <a:bodyPr/>
          <a:lstStyle/>
          <a:p>
            <a:r>
              <a:t>30 Apr</a:t>
            </a:r>
          </a:p>
          <a:p>
            <a:endParaRPr/>
          </a:p>
          <a:p>
            <a:r>
              <a:t>Amazon Monitron is an end-to-end system that uses machine learning (ML) to detect abnormal conditions in industrial equipment, enabling you to implement predictive maintenance and reduce unplanned downtime. It includes sensors to capture vibration and temperature data from equipment, a gateway device to securely transfer data to AWS, the Amazon Monitron service that analyzes the data for abnormal equipment conditions using machine learning, and a companion mobile app to set up the devices and receive reports on operating behavior and alerts to potential failures in your equipment. Today, we are announcing that the Amazon Monitron service is now also available in Europe (Ireland). This is in addition to the US East (N.Virginia) region where the Amazon Monitron service is already available.</a:t>
            </a:r>
          </a:p>
        </p:txBody>
      </p:sp>
    </p:spTree>
  </p:cSld>
  <p:clrMapOvr>
    <a:masterClrMapping/>
  </p:clrMapOvr>
</p:sld>
</file>

<file path=ppt/slides/slide3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Announcing support for linear interpolation in AWS IoT SiteWise</a:t>
            </a:r>
          </a:p>
        </p:txBody>
      </p:sp>
      <p:sp>
        <p:nvSpPr>
          <p:cNvPr id="3" name="Content Placeholder 2"/>
          <p:cNvSpPr>
            <a:spLocks noGrp="1"/>
          </p:cNvSpPr>
          <p:nvPr>
            <p:ph sz="half" idx="1"/>
          </p:nvPr>
        </p:nvSpPr>
        <p:spPr/>
        <p:txBody>
          <a:bodyPr/>
          <a:lstStyle/>
          <a:p>
            <a:r>
              <a:t>30 Apr</a:t>
            </a:r>
          </a:p>
          <a:p>
            <a:endParaRPr/>
          </a:p>
          <a:p>
            <a:r>
              <a:t>AWS IoT SiteWise now supports linear interpolation, enabling customers to estimate and retrieve the values of missing data points in their time series data.</a:t>
            </a:r>
          </a:p>
        </p:txBody>
      </p:sp>
    </p:spTree>
  </p:cSld>
  <p:clrMapOvr>
    <a:masterClrMapping/>
  </p:clrMapOvr>
</p:sld>
</file>

<file path=ppt/slides/slide3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Chime SDK now supports video prioritization policies</a:t>
            </a:r>
          </a:p>
        </p:txBody>
      </p:sp>
      <p:sp>
        <p:nvSpPr>
          <p:cNvPr id="3" name="Content Placeholder 2"/>
          <p:cNvSpPr>
            <a:spLocks noGrp="1"/>
          </p:cNvSpPr>
          <p:nvPr>
            <p:ph sz="half" idx="1"/>
          </p:nvPr>
        </p:nvSpPr>
        <p:spPr/>
        <p:txBody>
          <a:bodyPr/>
          <a:lstStyle/>
          <a:p>
            <a:r>
              <a:t>30 Apr</a:t>
            </a:r>
          </a:p>
          <a:p>
            <a:endParaRPr/>
          </a:p>
          <a:p>
            <a:r>
              <a:t>The Amazon Chime SDK for JavaScript now provides a way for builders to prioritize video streams according to their online meeting user case. If there is insufficient bandwidth to download all available video streams, the Amazon Chime SDK uses the video prioritization policy to maximize the fidelity and quality of high-priority video streams.</a:t>
            </a:r>
          </a:p>
        </p:txBody>
      </p:sp>
    </p:spTree>
  </p:cSld>
  <p:clrMapOvr>
    <a:masterClrMapping/>
  </p:clrMapOvr>
</p:sld>
</file>

<file path=ppt/slides/slide3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RoboMaker announces support for Robot Operating System (ROS) 2 Foxy and Gazebo 11</a:t>
            </a:r>
          </a:p>
        </p:txBody>
      </p:sp>
      <p:sp>
        <p:nvSpPr>
          <p:cNvPr id="3" name="Content Placeholder 2"/>
          <p:cNvSpPr>
            <a:spLocks noGrp="1"/>
          </p:cNvSpPr>
          <p:nvPr>
            <p:ph sz="half" idx="1"/>
          </p:nvPr>
        </p:nvSpPr>
        <p:spPr/>
        <p:txBody>
          <a:bodyPr/>
          <a:lstStyle/>
          <a:p>
            <a:r>
              <a:t>30 Apr</a:t>
            </a:r>
          </a:p>
          <a:p>
            <a:endParaRPr/>
          </a:p>
          <a:p>
            <a:r>
              <a:t>AWS RoboMaker, now supports ROS 2 Foxy Fitzroy (ROS 2 Foxy), which is the latest long-term support (LTS) release for ROS 2, and its compatible simulation engine, Gazebo 11, and Ubuntu 20.04 (Focal Fossa) operating system.</a:t>
            </a:r>
          </a:p>
        </p:txBody>
      </p:sp>
    </p:spTree>
  </p:cSld>
  <p:clrMapOvr>
    <a:masterClrMapping/>
  </p:clrMapOvr>
</p:sld>
</file>

<file path=ppt/slides/slide3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New Developer Desktop Feature in AWS RoboMaker Integrated Development Environment (IDE)</a:t>
            </a:r>
          </a:p>
        </p:txBody>
      </p:sp>
      <p:sp>
        <p:nvSpPr>
          <p:cNvPr id="3" name="Content Placeholder 2"/>
          <p:cNvSpPr>
            <a:spLocks noGrp="1"/>
          </p:cNvSpPr>
          <p:nvPr>
            <p:ph sz="half" idx="1"/>
          </p:nvPr>
        </p:nvSpPr>
        <p:spPr/>
        <p:txBody>
          <a:bodyPr/>
          <a:lstStyle/>
          <a:p>
            <a:r>
              <a:t>30 Apr</a:t>
            </a:r>
          </a:p>
          <a:p>
            <a:endParaRPr/>
          </a:p>
          <a:p>
            <a:r>
              <a:t>AWS RoboMaker has released a new feature that enables developers to open a desktop session to the IDE and run graphical tools to interact with simulations. AWS RoboMaker IDE provides a cloud robotics workspace that is preconfigured with the essential tools to start building and testing robot applications without needing to provision additional hardware. This feature provides a single space for developers to get started with building and simulating robotics applications.</a:t>
            </a:r>
          </a:p>
        </p:txBody>
      </p:sp>
    </p:spTree>
  </p:cSld>
  <p:clrMapOvr>
    <a:masterClrMapping/>
  </p:clrMapOvr>
</p:sld>
</file>

<file path=ppt/slides/slide3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Launch Wizard now supports SAP deployments with SUSE Linux Enterprise Server 15 SP2 and RHEL 8.2</a:t>
            </a:r>
          </a:p>
        </p:txBody>
      </p:sp>
      <p:sp>
        <p:nvSpPr>
          <p:cNvPr id="3" name="Content Placeholder 2"/>
          <p:cNvSpPr>
            <a:spLocks noGrp="1"/>
          </p:cNvSpPr>
          <p:nvPr>
            <p:ph sz="half" idx="1"/>
          </p:nvPr>
        </p:nvSpPr>
        <p:spPr/>
        <p:txBody>
          <a:bodyPr/>
          <a:lstStyle/>
          <a:p>
            <a:r>
              <a:t>30 Apr</a:t>
            </a:r>
          </a:p>
          <a:p>
            <a:endParaRPr/>
          </a:p>
          <a:p>
            <a:r>
              <a:t>AWS Launch Wizard now allows customers to deploy SAP workloads using SUSE Linux Enterprise Server 15 SP2 and RedHat Enterprise Linux 8.2.</a:t>
            </a:r>
          </a:p>
        </p:txBody>
      </p:sp>
    </p:spTree>
  </p:cSld>
  <p:clrMapOvr>
    <a:masterClrMapping/>
  </p:clrMapOvr>
</p:sld>
</file>

<file path=ppt/slides/slide3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Systems Manager Fleet Manager is now available in AWS GovCloud (US) Regions</a:t>
            </a:r>
          </a:p>
        </p:txBody>
      </p:sp>
      <p:sp>
        <p:nvSpPr>
          <p:cNvPr id="3" name="Content Placeholder 2"/>
          <p:cNvSpPr>
            <a:spLocks noGrp="1"/>
          </p:cNvSpPr>
          <p:nvPr>
            <p:ph sz="half" idx="1"/>
          </p:nvPr>
        </p:nvSpPr>
        <p:spPr/>
        <p:txBody>
          <a:bodyPr/>
          <a:lstStyle/>
          <a:p>
            <a:r>
              <a:t>30 Apr</a:t>
            </a:r>
          </a:p>
          <a:p>
            <a:endParaRPr/>
          </a:p>
          <a:p>
            <a:r>
              <a:t>AWS Systems Manager Fleet Manager, a new capability in AWS Systems Manager that helps you streamline and scale your remote server management process is now available in AWS GovCloud (US) Regions. AWS GovCloud (US) is designed to host sensitive data and regulated workloads in the cloud for customers with stringent U.S. federal, state, or local government compliance requirements.</a:t>
            </a:r>
          </a:p>
        </p:txBody>
      </p:sp>
    </p:spTree>
  </p:cSld>
  <p:clrMapOvr>
    <a:masterClrMapping/>
  </p:clrMapOvr>
</p:sld>
</file>

<file path=ppt/slides/slide3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Connect reduces 26 rates in Latin America</a:t>
            </a:r>
          </a:p>
        </p:txBody>
      </p:sp>
      <p:sp>
        <p:nvSpPr>
          <p:cNvPr id="3" name="Content Placeholder 2"/>
          <p:cNvSpPr>
            <a:spLocks noGrp="1"/>
          </p:cNvSpPr>
          <p:nvPr>
            <p:ph sz="half" idx="1"/>
          </p:nvPr>
        </p:nvSpPr>
        <p:spPr/>
        <p:txBody>
          <a:bodyPr/>
          <a:lstStyle/>
          <a:p>
            <a:r>
              <a:t>30 Apr</a:t>
            </a:r>
          </a:p>
          <a:p>
            <a:endParaRPr/>
          </a:p>
          <a:p>
            <a:r>
              <a:t>Amazon Connect is announcing 26 telephony rate reductions for customers in Costa Rica, Panama, and El Salvador from the US East (N. Virginia) and US West (Oregon) regions.</a:t>
            </a:r>
          </a:p>
        </p:txBody>
      </p:sp>
    </p:spTree>
  </p:cSld>
  <p:clrMapOvr>
    <a:masterClrMapping/>
  </p:clrMapOvr>
</p:sld>
</file>

<file path=ppt/slides/slide3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EC2 Image Builder supports Auto Scaling launch template</a:t>
            </a:r>
          </a:p>
        </p:txBody>
      </p:sp>
      <p:sp>
        <p:nvSpPr>
          <p:cNvPr id="3" name="Content Placeholder 2"/>
          <p:cNvSpPr>
            <a:spLocks noGrp="1"/>
          </p:cNvSpPr>
          <p:nvPr>
            <p:ph sz="half" idx="1"/>
          </p:nvPr>
        </p:nvSpPr>
        <p:spPr/>
        <p:txBody>
          <a:bodyPr/>
          <a:lstStyle/>
          <a:p>
            <a:r>
              <a:t>30 Apr</a:t>
            </a:r>
          </a:p>
          <a:p>
            <a:endParaRPr/>
          </a:p>
          <a:p>
            <a:r>
              <a:t>Now on EC2 Image Builder, you can create a new version of your EC2 Auto Scaling launch template that references your latest Amazon Machine Images (AMIs). Using Image Builder pipeline, you can easily create these new launch template versions with the latest AMI to be used across all your AWS regions.</a:t>
            </a:r>
          </a:p>
        </p:txBody>
      </p:sp>
    </p:spTree>
  </p:cSld>
  <p:clrMapOvr>
    <a:masterClrMapping/>
  </p:clrMapOvr>
</p:sld>
</file>

<file path=ppt/slides/slide3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Lambda@Edge now supports Node 14.x</a:t>
            </a:r>
          </a:p>
        </p:txBody>
      </p:sp>
      <p:sp>
        <p:nvSpPr>
          <p:cNvPr id="3" name="Content Placeholder 2"/>
          <p:cNvSpPr>
            <a:spLocks noGrp="1"/>
          </p:cNvSpPr>
          <p:nvPr>
            <p:ph sz="half" idx="1"/>
          </p:nvPr>
        </p:nvSpPr>
        <p:spPr/>
        <p:txBody>
          <a:bodyPr/>
          <a:lstStyle/>
          <a:p>
            <a:r>
              <a:t>29 Apr</a:t>
            </a:r>
          </a:p>
          <a:p>
            <a:endParaRPr/>
          </a:p>
          <a:p>
            <a:r>
              <a:t>Starting today, you can now use the Node.js 14.x runtime to develop functions in AWS Lambda@Edge. This runtime is in addition to the currently supported Node.js 10.x and Node.js 12.x runtimes.</a:t>
            </a:r>
          </a:p>
        </p:txBody>
      </p:sp>
    </p:spTree>
  </p:cSld>
  <p:clrMapOvr>
    <a:masterClrMapping/>
  </p:clrMapOvr>
</p:sld>
</file>

<file path=ppt/slides/slide3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SAM CLI now supports AWS CDK applications - public preview</a:t>
            </a:r>
          </a:p>
        </p:txBody>
      </p:sp>
      <p:sp>
        <p:nvSpPr>
          <p:cNvPr id="3" name="Content Placeholder 2"/>
          <p:cNvSpPr>
            <a:spLocks noGrp="1"/>
          </p:cNvSpPr>
          <p:nvPr>
            <p:ph sz="half" idx="1"/>
          </p:nvPr>
        </p:nvSpPr>
        <p:spPr/>
        <p:txBody>
          <a:bodyPr/>
          <a:lstStyle/>
          <a:p>
            <a:r>
              <a:t>29 Apr</a:t>
            </a:r>
          </a:p>
          <a:p>
            <a:endParaRPr/>
          </a:p>
          <a:p>
            <a:r>
              <a:t>The AWS Serverless Application Model (SAM) CLI now supports AWS Cloud Development Kit (CDK) applications, as a public preview. The AWS SAM CLI is a developer tool that makes it easier to build, locally test, package, and deploy serverless applications.</a:t>
            </a:r>
          </a:p>
        </p:txBody>
      </p:sp>
    </p:spTree>
  </p:cSld>
  <p:clrMapOvr>
    <a:masterClrMapping/>
  </p:clrMapOvr>
</p:sld>
</file>

<file path=ppt/slides/slide3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Network Firewall is now available in ten more regions</a:t>
            </a:r>
          </a:p>
        </p:txBody>
      </p:sp>
      <p:sp>
        <p:nvSpPr>
          <p:cNvPr id="3" name="Content Placeholder 2"/>
          <p:cNvSpPr>
            <a:spLocks noGrp="1"/>
          </p:cNvSpPr>
          <p:nvPr>
            <p:ph sz="half" idx="1"/>
          </p:nvPr>
        </p:nvSpPr>
        <p:spPr/>
        <p:txBody>
          <a:bodyPr/>
          <a:lstStyle/>
          <a:p>
            <a:r>
              <a:t>29 Apr</a:t>
            </a:r>
          </a:p>
          <a:p>
            <a:endParaRPr/>
          </a:p>
          <a:p>
            <a:r>
              <a:t>Starting today, AWS Network Firewall is available in the following ten additional regions:</a:t>
            </a:r>
          </a:p>
          <a:p>
            <a:r>
              <a:t>Africa (Cape Town)</a:t>
            </a:r>
          </a:p>
          <a:p>
            <a:r>
              <a:t>Asia Pacific (Hong Kong)</a:t>
            </a:r>
          </a:p>
          <a:p>
            <a:r>
              <a:t>Asia Pacific (Osaka)</a:t>
            </a:r>
          </a:p>
          <a:p>
            <a:r>
              <a:t>Asia Pacific (Seoul)</a:t>
            </a:r>
          </a:p>
          <a:p>
            <a:r>
              <a:t>Canada (Central)</a:t>
            </a:r>
          </a:p>
          <a:p>
            <a:r>
              <a:t>Europe (Milano)</a:t>
            </a:r>
          </a:p>
          <a:p>
            <a:r>
              <a:t>Europe (Paris)</a:t>
            </a:r>
          </a:p>
          <a:p>
            <a:r>
              <a:t>Middle East (Bahrain)</a:t>
            </a:r>
          </a:p>
          <a:p>
            <a:r>
              <a:t>South America (São Paulo)</a:t>
            </a:r>
          </a:p>
          <a:p>
            <a:r>
              <a:t>US West (N. California)</a:t>
            </a:r>
          </a:p>
        </p:txBody>
      </p:sp>
    </p:spTree>
  </p:cSld>
  <p:clrMapOvr>
    <a:masterClrMapping/>
  </p:clrMapOvr>
</p:sld>
</file>

<file path=ppt/slides/slide3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RDS for SQL Server Now Supports High Availability in AWS Asia Pacific (Osaka) Region</a:t>
            </a:r>
          </a:p>
        </p:txBody>
      </p:sp>
      <p:sp>
        <p:nvSpPr>
          <p:cNvPr id="3" name="Content Placeholder 2"/>
          <p:cNvSpPr>
            <a:spLocks noGrp="1"/>
          </p:cNvSpPr>
          <p:nvPr>
            <p:ph sz="half" idx="1"/>
          </p:nvPr>
        </p:nvSpPr>
        <p:spPr/>
        <p:txBody>
          <a:bodyPr/>
          <a:lstStyle/>
          <a:p>
            <a:r>
              <a:t>29 Apr</a:t>
            </a:r>
          </a:p>
          <a:p>
            <a:endParaRPr/>
          </a:p>
          <a:p>
            <a:r>
              <a:t>Amazon RDS for SQL Server now supports Multi-AZ in the AWS Asia Pacific (Osaka) Region. This new high availability option leverages SQL Server Database Mirroring (DBM) or Always On Availability Groups (AGs) technology. Multi-AZ helps you meet the requirements of enterprise-grade production workloads running on SQL Server. The Multi-AZ deployment  option provides enhanced availability and data durability by automatically replicating database updates between two AWS Availability Zones. Availability Zones are physically separate locations with independent infrastructure engineered to be insulated from failures in other Availability Zones.</a:t>
            </a:r>
          </a:p>
        </p:txBody>
      </p:sp>
    </p:spTree>
  </p:cSld>
  <p:clrMapOvr>
    <a:masterClrMapping/>
  </p:clrMapOvr>
</p:sld>
</file>

<file path=ppt/slides/slide3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Redshift announces support for hierarchical data queries with Recursive CTE</a:t>
            </a:r>
          </a:p>
        </p:txBody>
      </p:sp>
      <p:sp>
        <p:nvSpPr>
          <p:cNvPr id="3" name="Content Placeholder 2"/>
          <p:cNvSpPr>
            <a:spLocks noGrp="1"/>
          </p:cNvSpPr>
          <p:nvPr>
            <p:ph sz="half" idx="1"/>
          </p:nvPr>
        </p:nvSpPr>
        <p:spPr/>
        <p:txBody>
          <a:bodyPr/>
          <a:lstStyle/>
          <a:p>
            <a:r>
              <a:t>29 Apr</a:t>
            </a:r>
          </a:p>
          <a:p>
            <a:endParaRPr/>
          </a:p>
          <a:p>
            <a:r>
              <a:t>Amazon Redshift, a fully-managed cloud data warehouse, now adds support for Recursive Common Table Expression (CTE). Starting today, you can use a Recursive CTE on your Redshift cluster to query hierarchical data such as organizational charts where employees reports to other employees (managers), or multi-level product orders where a product consists of many components, which in turn consist of other components.</a:t>
            </a:r>
          </a:p>
        </p:txBody>
      </p:sp>
    </p:spTree>
  </p:cSld>
  <p:clrMapOvr>
    <a:masterClrMapping/>
  </p:clrMapOvr>
</p:sld>
</file>

<file path=ppt/slides/slide3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CloudWatch Monitoring Framework for Apache is generally available</a:t>
            </a:r>
          </a:p>
        </p:txBody>
      </p:sp>
      <p:sp>
        <p:nvSpPr>
          <p:cNvPr id="3" name="Content Placeholder 2"/>
          <p:cNvSpPr>
            <a:spLocks noGrp="1"/>
          </p:cNvSpPr>
          <p:nvPr>
            <p:ph sz="half" idx="1"/>
          </p:nvPr>
        </p:nvSpPr>
        <p:spPr/>
        <p:txBody>
          <a:bodyPr/>
          <a:lstStyle/>
          <a:p>
            <a:r>
              <a:t>29 Apr</a:t>
            </a:r>
          </a:p>
          <a:p>
            <a:endParaRPr/>
          </a:p>
          <a:p>
            <a:r>
              <a:t>We’re excited to announce the launch of Amazon CloudWatch Monitoring Framework, a reference architecture that makes it easier for customers to set up Amazon CloudWatch dashboards to monitor Apache workloads running on AWS.</a:t>
            </a:r>
          </a:p>
        </p:txBody>
      </p:sp>
    </p:spTree>
  </p:cSld>
  <p:clrMapOvr>
    <a:masterClrMapping/>
  </p:clrMapOvr>
</p:sld>
</file>

<file path=ppt/slides/slide3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New digital course: Amazon Elastic Block Store Primer</a:t>
            </a:r>
          </a:p>
        </p:txBody>
      </p:sp>
      <p:sp>
        <p:nvSpPr>
          <p:cNvPr id="3" name="Content Placeholder 2"/>
          <p:cNvSpPr>
            <a:spLocks noGrp="1"/>
          </p:cNvSpPr>
          <p:nvPr>
            <p:ph sz="half" idx="1"/>
          </p:nvPr>
        </p:nvSpPr>
        <p:spPr/>
        <p:txBody>
          <a:bodyPr/>
          <a:lstStyle/>
          <a:p>
            <a:r>
              <a:t>29 Apr</a:t>
            </a:r>
          </a:p>
          <a:p>
            <a:endParaRPr/>
          </a:p>
          <a:p>
            <a:r>
              <a:t>We’re excited to announce an intermediate, 150-minute, digital course: Amazon Elastic Block Store Primer. This free course provides an overview of Amazon Elastic Block Store (Amazon EBS), and explores how to balance cost and performance using different volume types. Designed for cloud architects, storage architects, and operations engineers, it includes interactive lessons, a self-paced lab, and a quiz to check your knowledge. </a:t>
            </a:r>
          </a:p>
        </p:txBody>
      </p:sp>
    </p:spTree>
  </p:cSld>
  <p:clrMapOvr>
    <a:masterClrMapping/>
  </p:clrMapOvr>
</p:sld>
</file>

<file path=ppt/slides/slide3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Glue DataBrew announces native console integration with Amazon AppFlow to connect to data from SaaS (Software as a Service) applications and AWS services (in Preview)</a:t>
            </a:r>
          </a:p>
        </p:txBody>
      </p:sp>
      <p:sp>
        <p:nvSpPr>
          <p:cNvPr id="3" name="Content Placeholder 2"/>
          <p:cNvSpPr>
            <a:spLocks noGrp="1"/>
          </p:cNvSpPr>
          <p:nvPr>
            <p:ph sz="half" idx="1"/>
          </p:nvPr>
        </p:nvSpPr>
        <p:spPr/>
        <p:txBody>
          <a:bodyPr/>
          <a:lstStyle/>
          <a:p>
            <a:r>
              <a:t>29 Apr</a:t>
            </a:r>
          </a:p>
          <a:p>
            <a:endParaRPr/>
          </a:p>
          <a:p>
            <a:r>
              <a:t>AWS Glue DataBrew announces native console integration with Amazon AppFlow to connect to data from applications like Salesforce, Zendesk, Slack, ServiceNow, and tens of other Software-as-a-Service (SaaS) applications, and AWS services like Amazon S3 and Amazon Redshift. To get started, when you create a new dataset in DataBrew , you can pick from a list of pre-configured flows from AppFlow  that load data (scheduled by, by event and on-demand) into Amazon S3 or create a new flow . The transferred data has to be in S3 before you can use them as input for DataBrew. You can then clean and normalize this data in DataBrew, and join, union, aggregate or combine with datasets from other data stores or SaaS applications. You can leverage already available 250+ transformations to prepare data for analytics of machine learning, without writing any code. Learn more about supported AppFlow sources and destinations .</a:t>
            </a:r>
          </a:p>
        </p:txBody>
      </p:sp>
    </p:spTree>
  </p:cSld>
  <p:clrMapOvr>
    <a:masterClrMapping/>
  </p:clrMapOvr>
</p:sld>
</file>

<file path=ppt/slides/slide3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SNS now supports setting attributes required for India DLT requirements when sending SMS using local routes in India</a:t>
            </a:r>
          </a:p>
        </p:txBody>
      </p:sp>
      <p:sp>
        <p:nvSpPr>
          <p:cNvPr id="3" name="Content Placeholder 2"/>
          <p:cNvSpPr>
            <a:spLocks noGrp="1"/>
          </p:cNvSpPr>
          <p:nvPr>
            <p:ph sz="half" idx="1"/>
          </p:nvPr>
        </p:nvSpPr>
        <p:spPr/>
        <p:txBody>
          <a:bodyPr/>
          <a:lstStyle/>
          <a:p>
            <a:r>
              <a:t>29 Apr</a:t>
            </a:r>
          </a:p>
          <a:p>
            <a:endParaRPr/>
          </a:p>
          <a:p>
            <a:r>
              <a:t>Amazon Simple Notification Service (Amazon SNS) is a fully-managed messaging service that supports application-to-person (A2P) workloads, including mobile text messaging (SMS). Now, when using Amazon SNS to send SMS to your customers, you can set a principal entity ID and a message template ID, as Amazon SNS message attributes. </a:t>
            </a:r>
          </a:p>
        </p:txBody>
      </p:sp>
    </p:spTree>
  </p:cSld>
  <p:clrMapOvr>
    <a:masterClrMapping/>
  </p:clrMapOvr>
</p:sld>
</file>

<file path=ppt/slides/slide3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Managed Services (AMS) now offers a new feature enabling customers to purchase AMS separate from infrastructure services through their preferred Solution Provider</a:t>
            </a:r>
          </a:p>
        </p:txBody>
      </p:sp>
      <p:sp>
        <p:nvSpPr>
          <p:cNvPr id="3" name="Content Placeholder 2"/>
          <p:cNvSpPr>
            <a:spLocks noGrp="1"/>
          </p:cNvSpPr>
          <p:nvPr>
            <p:ph sz="half" idx="1"/>
          </p:nvPr>
        </p:nvSpPr>
        <p:spPr/>
        <p:txBody>
          <a:bodyPr/>
          <a:lstStyle/>
          <a:p>
            <a:r>
              <a:t>29 Apr</a:t>
            </a:r>
          </a:p>
          <a:p>
            <a:endParaRPr/>
          </a:p>
          <a:p>
            <a:r>
              <a:t>AWS Managed Services (AMS) is pleased to announce the ability for you to purchase AMS through your preferred Solution Provider, separately from your AWS infrastructure services. AMS understands the need for flexibility in how you buy AWS infrastructure services and AWS Managed Services based on the complexity of workloads and organizational needs. This new feature enables you to purchase AWS infrastructure services directly or through any AWS Solution Provider Partner   (SPP) of your choice, while utilizing an AMS partner for value-added infrastructure operations separately.</a:t>
            </a:r>
          </a:p>
        </p:txBody>
      </p:sp>
    </p:spTree>
  </p:cSld>
  <p:clrMapOvr>
    <a:masterClrMapping/>
  </p:clrMapOvr>
</p:sld>
</file>

<file path=ppt/slides/slide3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Snow Family now enables you to order, track, and manage long-term pricing Snow jobs</a:t>
            </a:r>
          </a:p>
        </p:txBody>
      </p:sp>
      <p:sp>
        <p:nvSpPr>
          <p:cNvPr id="3" name="Content Placeholder 2"/>
          <p:cNvSpPr>
            <a:spLocks noGrp="1"/>
          </p:cNvSpPr>
          <p:nvPr>
            <p:ph sz="half" idx="1"/>
          </p:nvPr>
        </p:nvSpPr>
        <p:spPr/>
        <p:txBody>
          <a:bodyPr/>
          <a:lstStyle/>
          <a:p>
            <a:r>
              <a:t>29 Apr</a:t>
            </a:r>
          </a:p>
          <a:p>
            <a:endParaRPr/>
          </a:p>
          <a:p>
            <a:r>
              <a:t>AWS Snow Family now enables you to order, track, and manage long-term pricing Snowball Edge jobs directly from the console or via APIs. Many Snowball Edge customers deploy Snowball Edge devices for one or more years. By paying the device fees upfront, Snowball Edge’s long-term pricing options enable you to use Snowball Edge devices for 1 year or 3 years at up to a 62% discount compared to on-demand per-day fees. This pricing is available for all Snowball Edge device types in all regions where Snowball Edge is available.</a:t>
            </a:r>
          </a:p>
        </p:txBody>
      </p:sp>
    </p:spTree>
  </p:cSld>
  <p:clrMapOvr>
    <a:masterClrMapping/>
  </p:clrMapOvr>
</p:sld>
</file>

<file path=ppt/slides/slide3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Instance Scheduler v1.4 adds support for multiple stack deployments and GovCloud US Regions</a:t>
            </a:r>
          </a:p>
        </p:txBody>
      </p:sp>
      <p:sp>
        <p:nvSpPr>
          <p:cNvPr id="3" name="Content Placeholder 2"/>
          <p:cNvSpPr>
            <a:spLocks noGrp="1"/>
          </p:cNvSpPr>
          <p:nvPr>
            <p:ph sz="half" idx="1"/>
          </p:nvPr>
        </p:nvSpPr>
        <p:spPr/>
        <p:txBody>
          <a:bodyPr/>
          <a:lstStyle/>
          <a:p>
            <a:r>
              <a:t>29 Apr</a:t>
            </a:r>
          </a:p>
          <a:p>
            <a:endParaRPr/>
          </a:p>
          <a:p>
            <a:r>
              <a:t>We’re excited to announce that we’ve updated AWS Instance Scheduler, a reference implementation that makes it easier for customers to control their AWS compute resource capacity and cost by configuring start and stop schedules for their Amazon EC2 and RDS instances.</a:t>
            </a:r>
          </a:p>
        </p:txBody>
      </p:sp>
    </p:spTree>
  </p:cSld>
  <p:clrMapOvr>
    <a:masterClrMapping/>
  </p:clrMapOvr>
</p:sld>
</file>

<file path=ppt/slides/slide3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Connect reduces telephony rates in Cyprus, Belgium, and Portugal</a:t>
            </a:r>
          </a:p>
        </p:txBody>
      </p:sp>
      <p:sp>
        <p:nvSpPr>
          <p:cNvPr id="3" name="Content Placeholder 2"/>
          <p:cNvSpPr>
            <a:spLocks noGrp="1"/>
          </p:cNvSpPr>
          <p:nvPr>
            <p:ph sz="half" idx="1"/>
          </p:nvPr>
        </p:nvSpPr>
        <p:spPr/>
        <p:txBody>
          <a:bodyPr/>
          <a:lstStyle/>
          <a:p>
            <a:r>
              <a:t>29 Apr</a:t>
            </a:r>
          </a:p>
          <a:p>
            <a:endParaRPr/>
          </a:p>
          <a:p>
            <a:r>
              <a:t>Amazon Connect reduces telephony rates for 3 countries in Europe: Cyprus, Belgium and Portugal. Starting April 1st, Amazon Connect, an easy to use omnichannel contact center service, decreased the following telephony rates in the EU (Frankfurt) and EU (London) regions:</a:t>
            </a:r>
          </a:p>
        </p:txBody>
      </p:sp>
    </p:spTree>
  </p:cSld>
  <p:clrMapOvr>
    <a:masterClrMapping/>
  </p:clrMapOvr>
</p:sld>
</file>

<file path=ppt/slides/slide3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MSK adds support for Apache Kafka version 2.6.2</a:t>
            </a:r>
          </a:p>
        </p:txBody>
      </p:sp>
      <p:sp>
        <p:nvSpPr>
          <p:cNvPr id="3" name="Content Placeholder 2"/>
          <p:cNvSpPr>
            <a:spLocks noGrp="1"/>
          </p:cNvSpPr>
          <p:nvPr>
            <p:ph sz="half" idx="1"/>
          </p:nvPr>
        </p:nvSpPr>
        <p:spPr/>
        <p:txBody>
          <a:bodyPr/>
          <a:lstStyle/>
          <a:p>
            <a:r>
              <a:t>29 Apr</a:t>
            </a:r>
          </a:p>
          <a:p>
            <a:endParaRPr/>
          </a:p>
          <a:p>
            <a:r>
              <a:t>Amazon Managed Streaming for Apache Kafka (Amazon MSK) now supports Apache Kafka version 2.6.2 for new and existing clusters. Apache Kafka 2.6.2  includes several bug fixes and security fixes. Version 2.6.2 will replace 2.6.1 as the default recommended version for new clusters created in Amazon MSK. For a complete list of fixes, see the Apache Kafka release notes for 2.6.2 .</a:t>
            </a:r>
          </a:p>
        </p:txBody>
      </p:sp>
    </p:spTree>
  </p:cSld>
  <p:clrMapOvr>
    <a:masterClrMapping/>
  </p:clrMapOvr>
</p:sld>
</file>

<file path=ppt/slides/slide3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Announcing general availability of Amazon Redshift native JSON and semi-structured data support</a:t>
            </a:r>
          </a:p>
        </p:txBody>
      </p:sp>
      <p:sp>
        <p:nvSpPr>
          <p:cNvPr id="3" name="Content Placeholder 2"/>
          <p:cNvSpPr>
            <a:spLocks noGrp="1"/>
          </p:cNvSpPr>
          <p:nvPr>
            <p:ph sz="half" idx="1"/>
          </p:nvPr>
        </p:nvSpPr>
        <p:spPr/>
        <p:txBody>
          <a:bodyPr/>
          <a:lstStyle/>
          <a:p>
            <a:r>
              <a:t>28 Apr</a:t>
            </a:r>
          </a:p>
          <a:p>
            <a:endParaRPr/>
          </a:p>
          <a:p>
            <a:r>
              <a:t>Amazon Redshift native support for JSON and semi-structured data is now generally available. It is based on the new data type ‘SUPER’ that allows you to ingest and store semi-structured data in your Amazon Redshift data warehouses. Amazon Redshift also includes support for PartiQL  for SQL-compatible access to relational, semi-structured and nested data. Using the SUPER data type and PartiQL in Amazon Redshift, you can perform advanced analytics that combine classic structured SQL data (such as string, numeric, and timestamp) with the semi-structured SUPER data (such as JSON) with superior performance, flexibility, and ease-of-use.</a:t>
            </a:r>
          </a:p>
        </p:txBody>
      </p:sp>
    </p:spTree>
  </p:cSld>
  <p:clrMapOvr>
    <a:masterClrMapping/>
  </p:clrMapOvr>
</p:sld>
</file>

<file path=ppt/slides/slide3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New digital course: AWS Network Connectivity Options</a:t>
            </a:r>
          </a:p>
        </p:txBody>
      </p:sp>
      <p:sp>
        <p:nvSpPr>
          <p:cNvPr id="3" name="Content Placeholder 2"/>
          <p:cNvSpPr>
            <a:spLocks noGrp="1"/>
          </p:cNvSpPr>
          <p:nvPr>
            <p:ph sz="half" idx="1"/>
          </p:nvPr>
        </p:nvSpPr>
        <p:spPr/>
        <p:txBody>
          <a:bodyPr/>
          <a:lstStyle/>
          <a:p>
            <a:r>
              <a:t>28 Apr</a:t>
            </a:r>
          </a:p>
          <a:p>
            <a:endParaRPr/>
          </a:p>
          <a:p>
            <a:r>
              <a:t>We’re excited to announce a free digital course: AWS Network Connectivity Options. The course introduces network connectivity concepts, describes network design patterns, and demonstrates how to apply the design patterns to common use cases. This intermediate, 150-minute course includes reading modules, quizzes to check your knowledge, and an optional hands-on lab. The course is designed for network engineers, enterprise architects, infrastructure architects, systems engineers, and application architects.</a:t>
            </a:r>
          </a:p>
        </p:txBody>
      </p:sp>
    </p:spTree>
  </p:cSld>
  <p:clrMapOvr>
    <a:masterClrMapping/>
  </p:clrMapOvr>
</p:sld>
</file>

<file path=ppt/slides/slide3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Database Activity Streams now available for Amazon Aurora in Asia Pacific (Osaka) Region</a:t>
            </a:r>
          </a:p>
        </p:txBody>
      </p:sp>
      <p:sp>
        <p:nvSpPr>
          <p:cNvPr id="3" name="Content Placeholder 2"/>
          <p:cNvSpPr>
            <a:spLocks noGrp="1"/>
          </p:cNvSpPr>
          <p:nvPr>
            <p:ph sz="half" idx="1"/>
          </p:nvPr>
        </p:nvSpPr>
        <p:spPr/>
        <p:txBody>
          <a:bodyPr/>
          <a:lstStyle/>
          <a:p>
            <a:r>
              <a:t>28 Apr</a:t>
            </a:r>
          </a:p>
          <a:p>
            <a:endParaRPr/>
          </a:p>
          <a:p>
            <a:r>
              <a:t>Database Activity Streams is now available for Amazon Aurora PostgreSQL-Compatible Edition and Amazon Aurora MySQL-Compatible Edition in the Asia Pacific (Osaka) Region. Database Activity Streams  for Amazon Aurora provides a near real-time stream of database activities in your relational database. When integrated with third party database activity monitoring tools, Database Activity Streams can monitor and audit database activity to provide safeguards for your database and help you meet compliance and regulatory requirements.</a:t>
            </a:r>
          </a:p>
        </p:txBody>
      </p:sp>
    </p:spTree>
  </p:cSld>
  <p:clrMapOvr>
    <a:masterClrMapping/>
  </p:clrMapOvr>
</p:sld>
</file>

<file path=ppt/slides/slide3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MSK adds support for Apache Kafka version 2.8.0</a:t>
            </a:r>
          </a:p>
        </p:txBody>
      </p:sp>
      <p:sp>
        <p:nvSpPr>
          <p:cNvPr id="3" name="Content Placeholder 2"/>
          <p:cNvSpPr>
            <a:spLocks noGrp="1"/>
          </p:cNvSpPr>
          <p:nvPr>
            <p:ph sz="half" idx="1"/>
          </p:nvPr>
        </p:nvSpPr>
        <p:spPr/>
        <p:txBody>
          <a:bodyPr/>
          <a:lstStyle/>
          <a:p>
            <a:r>
              <a:t>28 Apr</a:t>
            </a:r>
          </a:p>
          <a:p>
            <a:endParaRPr/>
          </a:p>
          <a:p>
            <a:r>
              <a:t>Amazon Managed Streaming for Apache Kafka (Amazon MSK) now supports Apache Kafka version 2.8.0 for new and existing clusters. Apache Kafka 2.8.0  includes several bug fixes and new features that improve performance. Some of the key features include connection rate limiting to avoid problems with misconfigured clients (KIP-612 ) and topic identifiers which provides performance benefits (KIP-516 ). There is also an early access feature to replace zookeeper with a self-managed metadata quorum (KIP-500 ), however this is not recommended for use in production. For a complete list of improvements and bug fixes, see the Apache Kafka release notes for 2.8.0 .</a:t>
            </a:r>
          </a:p>
        </p:txBody>
      </p:sp>
    </p:spTree>
  </p:cSld>
  <p:clrMapOvr>
    <a:masterClrMapping/>
  </p:clrMapOvr>
</p:sld>
</file>

<file path=ppt/slides/slide3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Snowcone is now available in the AWS Canada (Central) Region</a:t>
            </a:r>
          </a:p>
        </p:txBody>
      </p:sp>
      <p:sp>
        <p:nvSpPr>
          <p:cNvPr id="3" name="Content Placeholder 2"/>
          <p:cNvSpPr>
            <a:spLocks noGrp="1"/>
          </p:cNvSpPr>
          <p:nvPr>
            <p:ph sz="half" idx="1"/>
          </p:nvPr>
        </p:nvSpPr>
        <p:spPr/>
        <p:txBody>
          <a:bodyPr/>
          <a:lstStyle/>
          <a:p>
            <a:r>
              <a:t>28 Apr</a:t>
            </a:r>
          </a:p>
          <a:p>
            <a:endParaRPr/>
          </a:p>
          <a:p>
            <a:r>
              <a:t>The AWS Snowcone service is now available for order for customers in the AWS Canada (Central) Region. With this launch, Snowcone is now available for order in AWS Canada (Central), Asia Pacific (Sydney), EU (Frankfurt), EU (Ireland), US East (N. Virginia), and US West (Oregon) Regions. AWS Snowcone is the smallest member of the AWS Snow Family of edge computing, edge storage, and data transfer devices. Snowcone is portable, rugged, and secure – small and light enough to fit in a backpack, and able to withstand harsh environments. Customers use Snowcone to deploy applications at the edge, and to collect data, process it locally, and move it to AWS either offline (by shipping the device to AWS) or online (by using AWS DataSync on Snowcone to send the data to AWS over the network).</a:t>
            </a:r>
          </a:p>
        </p:txBody>
      </p:sp>
    </p:spTree>
  </p:cSld>
  <p:clrMapOvr>
    <a:masterClrMapping/>
  </p:clrMapOvr>
</p:sld>
</file>

<file path=ppt/slides/slide3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Glue now supports client authentication for Apache Kafka streams</a:t>
            </a:r>
          </a:p>
        </p:txBody>
      </p:sp>
      <p:sp>
        <p:nvSpPr>
          <p:cNvPr id="3" name="Content Placeholder 2"/>
          <p:cNvSpPr>
            <a:spLocks noGrp="1"/>
          </p:cNvSpPr>
          <p:nvPr>
            <p:ph sz="half" idx="1"/>
          </p:nvPr>
        </p:nvSpPr>
        <p:spPr/>
        <p:txBody>
          <a:bodyPr/>
          <a:lstStyle/>
          <a:p>
            <a:r>
              <a:t>28 Apr</a:t>
            </a:r>
          </a:p>
          <a:p>
            <a:endParaRPr/>
          </a:p>
          <a:p>
            <a:r>
              <a:t>Streaming ETL jobs in AWS Glue now support SSL client certificate authentication with Apache Kafka stream producers. You can now provide a custom certificate while defining an AWS Glue connection to an Apache Kafka cluster, which AWS Glue will use when authenticating with it.</a:t>
            </a:r>
          </a:p>
        </p:txBody>
      </p:sp>
    </p:spTree>
  </p:cSld>
  <p:clrMapOvr>
    <a:masterClrMapping/>
  </p:clrMapOvr>
</p:sld>
</file>

<file path=ppt/slides/slide3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Audit Manager now offers a new standard framework for GxP EU Annex 11</a:t>
            </a:r>
          </a:p>
        </p:txBody>
      </p:sp>
      <p:sp>
        <p:nvSpPr>
          <p:cNvPr id="3" name="Content Placeholder 2"/>
          <p:cNvSpPr>
            <a:spLocks noGrp="1"/>
          </p:cNvSpPr>
          <p:nvPr>
            <p:ph sz="half" idx="1"/>
          </p:nvPr>
        </p:nvSpPr>
        <p:spPr/>
        <p:txBody>
          <a:bodyPr/>
          <a:lstStyle/>
          <a:p>
            <a:r>
              <a:t>28 Apr</a:t>
            </a:r>
          </a:p>
          <a:p>
            <a:endParaRPr/>
          </a:p>
          <a:p>
            <a:r>
              <a:t>AWS Audit Manager now offers a new prebuilt standard framework for GxP EU Annex 11. This framework adds to the existing prebuilt frameworks  provided in Audit Manager. With this release, you can launch an assessment from this framework with just a few clicks. Audit Manager will map your AWS resources to the requirements in GxP EU Annex 11 and start gathering evidence automatically to help you scale your audit capability in the cloud as your business grows.</a:t>
            </a:r>
          </a:p>
        </p:txBody>
      </p:sp>
    </p:spTree>
  </p:cSld>
  <p:clrMapOvr>
    <a:masterClrMapping/>
  </p:clrMapOvr>
</p:sld>
</file>

<file path=ppt/slides/slide3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announces general availability of Amazon Nimble Studio</a:t>
            </a:r>
          </a:p>
        </p:txBody>
      </p:sp>
      <p:sp>
        <p:nvSpPr>
          <p:cNvPr id="3" name="Content Placeholder 2"/>
          <p:cNvSpPr>
            <a:spLocks noGrp="1"/>
          </p:cNvSpPr>
          <p:nvPr>
            <p:ph sz="half" idx="1"/>
          </p:nvPr>
        </p:nvSpPr>
        <p:spPr/>
        <p:txBody>
          <a:bodyPr/>
          <a:lstStyle/>
          <a:p>
            <a:r>
              <a:t>28 Apr</a:t>
            </a:r>
          </a:p>
          <a:p>
            <a:endParaRPr/>
          </a:p>
          <a:p>
            <a:r>
              <a:t>Today, we are excited to announce the general availability of Amazon Nimble Studio. Nimble Studio is a managed service that empowers creative studios to produce visual effects, animation, and interactive content entirely in the cloud, from storyboard sketch to final deliverable. With Nimble Studio, artists can accelerate digital content creation with virtual workstations, high-speed storage, and scalable rendering across AWS’s global infrastructure footprint.  </a:t>
            </a:r>
          </a:p>
        </p:txBody>
      </p:sp>
    </p:spTree>
  </p:cSld>
  <p:clrMapOvr>
    <a:masterClrMapping/>
  </p:clrMapOvr>
</p:sld>
</file>

<file path=ppt/slides/slide3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Introducing AWS for Media and Entertainment</a:t>
            </a:r>
          </a:p>
        </p:txBody>
      </p:sp>
      <p:sp>
        <p:nvSpPr>
          <p:cNvPr id="3" name="Content Placeholder 2"/>
          <p:cNvSpPr>
            <a:spLocks noGrp="1"/>
          </p:cNvSpPr>
          <p:nvPr>
            <p:ph sz="half" idx="1"/>
          </p:nvPr>
        </p:nvSpPr>
        <p:spPr/>
        <p:txBody>
          <a:bodyPr/>
          <a:lstStyle/>
          <a:p>
            <a:r>
              <a:t>28 Apr</a:t>
            </a:r>
          </a:p>
          <a:p>
            <a:endParaRPr/>
          </a:p>
          <a:p>
            <a:r>
              <a:t>Media &amp; entertainment customers face industry-wide transformation, with companies reinventing how they create content, optimize media supply chains, and compete for audience attention across streaming, broadcast, and direct-to-consumer platforms. Industry leaders such as Netflix, FORMULA 1, Discovery, and Disney use the AWS Cloud to pioneer new ways to entertain—launching new streaming services, expanding their content catalogs, and setting new standards with audiences for viewing experiences.</a:t>
            </a:r>
          </a:p>
        </p:txBody>
      </p:sp>
    </p:spTree>
  </p:cSld>
  <p:clrMapOvr>
    <a:masterClrMapping/>
  </p:clrMapOvr>
</p:sld>
</file>

<file path=ppt/slides/slide3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FSx File Gateway delivers faster and more efficient on-premises access to fully managed file storage in the cloud</a:t>
            </a:r>
          </a:p>
        </p:txBody>
      </p:sp>
      <p:sp>
        <p:nvSpPr>
          <p:cNvPr id="3" name="Content Placeholder 2"/>
          <p:cNvSpPr>
            <a:spLocks noGrp="1"/>
          </p:cNvSpPr>
          <p:nvPr>
            <p:ph sz="half" idx="1"/>
          </p:nvPr>
        </p:nvSpPr>
        <p:spPr/>
        <p:txBody>
          <a:bodyPr/>
          <a:lstStyle/>
          <a:p>
            <a:r>
              <a:t>27 Apr</a:t>
            </a:r>
          </a:p>
          <a:p>
            <a:endParaRPr/>
          </a:p>
          <a:p>
            <a:r>
              <a:t>AWS Storage Gateway adds a new gateway type, Amazon FSx File Gateway, providing low-latency on-premises access to fully managed file shares in the cloud. Customers that want to take advantage of fully managed cloud file storage, but require low latency for their users and applications, can now easily extend Amazon FSx for Windows File Server into their existing on-premises environment.</a:t>
            </a:r>
          </a:p>
        </p:txBody>
      </p:sp>
    </p:spTree>
  </p:cSld>
  <p:clrMapOvr>
    <a:masterClrMapping/>
  </p:clrMapOvr>
</p:sld>
</file>

<file path=ppt/slides/slide3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Announcing open source robotics projects for AWS DeepRacer</a:t>
            </a:r>
          </a:p>
        </p:txBody>
      </p:sp>
      <p:sp>
        <p:nvSpPr>
          <p:cNvPr id="3" name="Content Placeholder 2"/>
          <p:cNvSpPr>
            <a:spLocks noGrp="1"/>
          </p:cNvSpPr>
          <p:nvPr>
            <p:ph sz="half" idx="1"/>
          </p:nvPr>
        </p:nvSpPr>
        <p:spPr/>
        <p:txBody>
          <a:bodyPr/>
          <a:lstStyle/>
          <a:p>
            <a:r>
              <a:t>27 Apr</a:t>
            </a:r>
          </a:p>
          <a:p>
            <a:endParaRPr/>
          </a:p>
          <a:p>
            <a:r>
              <a:t>AWS DeepRacer offers an autonomous 1/18th scale race car driven by a reinforcement learning model, a cloud-based 3D racing simulator, and a global racing league. Over 85,000 developers have participated in the AWS DeepRacer virtual and in-person leagues, making AWS DeepRacer one of the most popular developer programs to ramp up on reinforcement learning. For all the thrills of racing, developers want to go beyond league racing and find new uses for the physical car . To enable developers to prototype robotics applications with the AWS DeepRacer hardware, we are open sourcing the device software running the car and offering 6 sample projects on the AWS DeepRacer Open Source page to get started.</a:t>
            </a:r>
          </a:p>
        </p:txBody>
      </p:sp>
    </p:spTree>
  </p:cSld>
  <p:clrMapOvr>
    <a:masterClrMapping/>
  </p:clrMapOvr>
</p:sld>
</file>

<file path=ppt/slides/slide3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Proton adds an API to cancel deployments</a:t>
            </a:r>
          </a:p>
        </p:txBody>
      </p:sp>
      <p:sp>
        <p:nvSpPr>
          <p:cNvPr id="3" name="Content Placeholder 2"/>
          <p:cNvSpPr>
            <a:spLocks noGrp="1"/>
          </p:cNvSpPr>
          <p:nvPr>
            <p:ph sz="half" idx="1"/>
          </p:nvPr>
        </p:nvSpPr>
        <p:spPr/>
        <p:txBody>
          <a:bodyPr/>
          <a:lstStyle/>
          <a:p>
            <a:r>
              <a:t>27 Apr</a:t>
            </a:r>
          </a:p>
          <a:p>
            <a:endParaRPr/>
          </a:p>
          <a:p>
            <a:r>
              <a:t>AWS Proton now features a cancellation API to help you manage your deployments in real time. You can use the cancel deployment API to stop the deployment of a service and try again if it’s taking too long or has an error.</a:t>
            </a:r>
          </a:p>
        </p:txBody>
      </p:sp>
    </p:spTree>
  </p:cSld>
  <p:clrMapOvr>
    <a:masterClrMapping/>
  </p:clrMapOvr>
</p:sld>
</file>

<file path=ppt/slides/slide3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Nitro Enclaves now supports Windows operating system</a:t>
            </a:r>
          </a:p>
        </p:txBody>
      </p:sp>
      <p:sp>
        <p:nvSpPr>
          <p:cNvPr id="3" name="Content Placeholder 2"/>
          <p:cNvSpPr>
            <a:spLocks noGrp="1"/>
          </p:cNvSpPr>
          <p:nvPr>
            <p:ph sz="half" idx="1"/>
          </p:nvPr>
        </p:nvSpPr>
        <p:spPr/>
        <p:txBody>
          <a:bodyPr/>
          <a:lstStyle/>
          <a:p>
            <a:r>
              <a:t>27 Apr</a:t>
            </a:r>
          </a:p>
          <a:p>
            <a:endParaRPr/>
          </a:p>
          <a:p>
            <a:r>
              <a:t>AWS Nitro Enclaves now supports the creation of isolated compute environments, called enclaves, from parent EC2 instances running Windows operating system. Nitro Enclaves further isolates the CPU and memory of the enclave from users, applications, and libraries on the parent EC2 instance.</a:t>
            </a:r>
          </a:p>
        </p:txBody>
      </p:sp>
    </p:spTree>
  </p:cSld>
  <p:clrMapOvr>
    <a:masterClrMapping/>
  </p:clrMapOvr>
</p:sld>
</file>

<file path=ppt/slides/slide3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Proton introduces customer-managed environments</a:t>
            </a:r>
          </a:p>
        </p:txBody>
      </p:sp>
      <p:sp>
        <p:nvSpPr>
          <p:cNvPr id="3" name="Content Placeholder 2"/>
          <p:cNvSpPr>
            <a:spLocks noGrp="1"/>
          </p:cNvSpPr>
          <p:nvPr>
            <p:ph sz="half" idx="1"/>
          </p:nvPr>
        </p:nvSpPr>
        <p:spPr/>
        <p:txBody>
          <a:bodyPr/>
          <a:lstStyle/>
          <a:p>
            <a:r>
              <a:t>27 Apr</a:t>
            </a:r>
          </a:p>
          <a:p>
            <a:endParaRPr/>
          </a:p>
          <a:p>
            <a:r>
              <a:t>AWS Proton now allows customers to import their existing shared resources as customer-managed environments. Customers can now create environments in AWS Proton by providing an infrastructure-as-code template that AWS Proton will provision, or by linking to their existing provisioned resources. This allows customers to start incorporating Proton in their existing infrastructure without having to recreate the shared resources.</a:t>
            </a:r>
          </a:p>
        </p:txBody>
      </p:sp>
    </p:spTree>
  </p:cSld>
  <p:clrMapOvr>
    <a:masterClrMapping/>
  </p:clrMapOvr>
</p:sld>
</file>

<file path=ppt/slides/slide3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Achieve faster database failover with Amazon Web Services JDBC Driver for PostgreSQL, now in preview</a:t>
            </a:r>
          </a:p>
        </p:txBody>
      </p:sp>
      <p:sp>
        <p:nvSpPr>
          <p:cNvPr id="3" name="Content Placeholder 2"/>
          <p:cNvSpPr>
            <a:spLocks noGrp="1"/>
          </p:cNvSpPr>
          <p:nvPr>
            <p:ph sz="half" idx="1"/>
          </p:nvPr>
        </p:nvSpPr>
        <p:spPr/>
        <p:txBody>
          <a:bodyPr/>
          <a:lstStyle/>
          <a:p>
            <a:r>
              <a:t>27 Apr</a:t>
            </a:r>
          </a:p>
          <a:p>
            <a:endParaRPr/>
          </a:p>
          <a:p>
            <a:r>
              <a:t>The Amazon Web Services (AWS) Java (JDBC) Driver for PostgreSQL is now available in preview. This open-source database driver allows applications connecting to Amazon Aurora PostgreSQL to minimize failover time by closely monitoring the database cluster status.</a:t>
            </a:r>
          </a:p>
        </p:txBody>
      </p:sp>
    </p:spTree>
  </p:cSld>
  <p:clrMapOvr>
    <a:masterClrMapping/>
  </p:clrMapOvr>
</p:sld>
</file>

<file path=ppt/slides/slide3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Systems Manager OpsCenter and Explorer now integrate with AWS Security Hub for diagnosis and remediation of security findings</a:t>
            </a:r>
          </a:p>
        </p:txBody>
      </p:sp>
      <p:sp>
        <p:nvSpPr>
          <p:cNvPr id="3" name="Content Placeholder 2"/>
          <p:cNvSpPr>
            <a:spLocks noGrp="1"/>
          </p:cNvSpPr>
          <p:nvPr>
            <p:ph sz="half" idx="1"/>
          </p:nvPr>
        </p:nvSpPr>
        <p:spPr/>
        <p:txBody>
          <a:bodyPr/>
          <a:lstStyle/>
          <a:p>
            <a:r>
              <a:t>27 Apr</a:t>
            </a:r>
          </a:p>
          <a:p>
            <a:endParaRPr/>
          </a:p>
          <a:p>
            <a:r>
              <a:t>Starting today, you can configure AWS Systems Manager OpsCenter to automatically aggregate security findings from AWS Security Hub into OpsCenter as operational issues. This enables operations engineers and IT professionals to view, investigate, and resolve security issues along with other operational issues in OpsCenter. Additionally, you can now view Security Hub findings in AWS Systems Manager Explorer. AWS Systems Manager OpsCenter enables operators to track and resolve operational items related to AWS resources in a central place and AWS Systems Manager Explorer is an operations dashboard that provides a view of your operations data across your AWS environment. AWS Security Hub gives you a comprehensive view of your security alerts and security posture across your AWS accounts.</a:t>
            </a:r>
          </a:p>
        </p:txBody>
      </p:sp>
    </p:spTree>
  </p:cSld>
  <p:clrMapOvr>
    <a:masterClrMapping/>
  </p:clrMapOvr>
</p:sld>
</file>

<file path=ppt/slides/slide3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Announcing availability of Red Hat Enterprise Linux with High availability for Amazon EC2</a:t>
            </a:r>
          </a:p>
        </p:txBody>
      </p:sp>
      <p:sp>
        <p:nvSpPr>
          <p:cNvPr id="3" name="Content Placeholder 2"/>
          <p:cNvSpPr>
            <a:spLocks noGrp="1"/>
          </p:cNvSpPr>
          <p:nvPr>
            <p:ph sz="half" idx="1"/>
          </p:nvPr>
        </p:nvSpPr>
        <p:spPr/>
        <p:txBody>
          <a:bodyPr/>
          <a:lstStyle/>
          <a:p>
            <a:r>
              <a:t>27 Apr</a:t>
            </a:r>
          </a:p>
          <a:p>
            <a:endParaRPr/>
          </a:p>
          <a:p>
            <a:r>
              <a:t>Today we are announcing the availability of on-demand Red Hat Enterprise Linux 7 with High Availability and Red Hat Enterprise Linux 8 with High Availability Amazon Machine Images. Customers can combine the scale, performance and elasticity of Amazon EC2 with Red Hat Enterprise Linux (RHEL) with High availability (HA) to easily build reliable and highly available compute clusters for mission critical workloads. RHEL with HA AMIs are pre-configured with software packages and access to Red Hat’s High availability add-on repositories that customers can use to build and maintain their instances. RHEL with HA can be launched directly from the Amazon EC2 console  and marketplace.</a:t>
            </a:r>
          </a:p>
        </p:txBody>
      </p:sp>
    </p:spTree>
  </p:cSld>
  <p:clrMapOvr>
    <a:masterClrMapping/>
  </p:clrMapOvr>
</p:sld>
</file>

<file path=ppt/slides/slide3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Introducing Performance Dashboard on AWS</a:t>
            </a:r>
          </a:p>
        </p:txBody>
      </p:sp>
      <p:sp>
        <p:nvSpPr>
          <p:cNvPr id="3" name="Content Placeholder 2"/>
          <p:cNvSpPr>
            <a:spLocks noGrp="1"/>
          </p:cNvSpPr>
          <p:nvPr>
            <p:ph sz="half" idx="1"/>
          </p:nvPr>
        </p:nvSpPr>
        <p:spPr/>
        <p:txBody>
          <a:bodyPr/>
          <a:lstStyle/>
          <a:p>
            <a:r>
              <a:t>27 Apr</a:t>
            </a:r>
          </a:p>
          <a:p>
            <a:endParaRPr/>
          </a:p>
          <a:p>
            <a:r>
              <a:t>Starting today, AWS customers can use the Performance Dashboard on AWS, a new open source AWS Solutions Implementation, to build, deploy, and maintain customizable dashboards designed to increase transparency between governments and their constituents around the performance of public sector services and initiatives.</a:t>
            </a:r>
          </a:p>
        </p:txBody>
      </p:sp>
    </p:spTree>
  </p:cSld>
  <p:clrMapOvr>
    <a:masterClrMapping/>
  </p:clrMapOvr>
</p:sld>
</file>

<file path=ppt/slides/slide3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Alexa for Business now available on Zoom Rooms appliances</a:t>
            </a:r>
          </a:p>
        </p:txBody>
      </p:sp>
      <p:sp>
        <p:nvSpPr>
          <p:cNvPr id="3" name="Content Placeholder 2"/>
          <p:cNvSpPr>
            <a:spLocks noGrp="1"/>
          </p:cNvSpPr>
          <p:nvPr>
            <p:ph sz="half" idx="1"/>
          </p:nvPr>
        </p:nvSpPr>
        <p:spPr/>
        <p:txBody>
          <a:bodyPr/>
          <a:lstStyle/>
          <a:p>
            <a:r>
              <a:t>27 Apr</a:t>
            </a:r>
          </a:p>
          <a:p>
            <a:endParaRPr/>
          </a:p>
          <a:p>
            <a:r>
              <a:t>Alexa for Business is now available to run directly on Zoom Rooms Appliances, enabling customers with voice-activated control without deploying additional hardware. Users get a touch-free way to interact with Zoom Rooms and keep meetings on track by leveraging Alexa to join meetings and be reminded to wrap up when a meeting is about to end. They can optimize meeting room reservations by saying, “Alexa, find me an available room”.</a:t>
            </a:r>
          </a:p>
        </p:txBody>
      </p:sp>
    </p:spTree>
  </p:cSld>
  <p:clrMapOvr>
    <a:masterClrMapping/>
  </p:clrMapOvr>
</p:sld>
</file>

<file path=ppt/slides/slide3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Announcing Moving Graphs for CloudWatch Dashboards</a:t>
            </a:r>
          </a:p>
        </p:txBody>
      </p:sp>
      <p:sp>
        <p:nvSpPr>
          <p:cNvPr id="3" name="Content Placeholder 2"/>
          <p:cNvSpPr>
            <a:spLocks noGrp="1"/>
          </p:cNvSpPr>
          <p:nvPr>
            <p:ph sz="half" idx="1"/>
          </p:nvPr>
        </p:nvSpPr>
        <p:spPr/>
        <p:txBody>
          <a:bodyPr/>
          <a:lstStyle/>
          <a:p>
            <a:r>
              <a:t>27 Apr</a:t>
            </a:r>
          </a:p>
          <a:p>
            <a:endParaRPr/>
          </a:p>
          <a:p>
            <a:r>
              <a:t>Amazon CloudWatch announces the availability of moving graphs, which allows you to animate your CloudWatch Dashboard and more easily see the progression of health and operational performance trends over time.</a:t>
            </a:r>
          </a:p>
        </p:txBody>
      </p:sp>
    </p:spTree>
  </p:cSld>
  <p:clrMapOvr>
    <a:masterClrMapping/>
  </p:clrMapOvr>
</p:sld>
</file>

<file path=ppt/slides/slide3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Proton allows adding and removing instances from an existing service</a:t>
            </a:r>
          </a:p>
        </p:txBody>
      </p:sp>
      <p:sp>
        <p:nvSpPr>
          <p:cNvPr id="3" name="Content Placeholder 2"/>
          <p:cNvSpPr>
            <a:spLocks noGrp="1"/>
          </p:cNvSpPr>
          <p:nvPr>
            <p:ph sz="half" idx="1"/>
          </p:nvPr>
        </p:nvSpPr>
        <p:spPr/>
        <p:txBody>
          <a:bodyPr/>
          <a:lstStyle/>
          <a:p>
            <a:r>
              <a:t>27 Apr</a:t>
            </a:r>
          </a:p>
          <a:p>
            <a:endParaRPr/>
          </a:p>
          <a:p>
            <a:r>
              <a:t>AWS Proton now allows you to add and remove instances from your services. Developers can now dynamically update their services as their deployment needs change. For instance, they can add a new production instance if a new production environment is added, without having to tear their service down.</a:t>
            </a:r>
          </a:p>
        </p:txBody>
      </p:sp>
    </p:spTree>
  </p:cSld>
  <p:clrMapOvr>
    <a:masterClrMapping/>
  </p:clrMapOvr>
</p:sld>
</file>

<file path=ppt/slides/slide3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Kendra launches dynamic relevance tuning</a:t>
            </a:r>
          </a:p>
        </p:txBody>
      </p:sp>
      <p:sp>
        <p:nvSpPr>
          <p:cNvPr id="3" name="Content Placeholder 2"/>
          <p:cNvSpPr>
            <a:spLocks noGrp="1"/>
          </p:cNvSpPr>
          <p:nvPr>
            <p:ph sz="half" idx="1"/>
          </p:nvPr>
        </p:nvSpPr>
        <p:spPr/>
        <p:txBody>
          <a:bodyPr/>
          <a:lstStyle/>
          <a:p>
            <a:r>
              <a:t>27 Apr</a:t>
            </a:r>
          </a:p>
          <a:p>
            <a:endParaRPr/>
          </a:p>
          <a:p>
            <a:r>
              <a:t>Amazon Kendra is an intelligent search service powered by machine learning, that enables organizations to provide more relevant information to customers and employees, when they need it. Starting today, Amazon Kendra is giving AWS customers more control when it comes to optimizing search results for end users with the release of dynamic relevance tuning.</a:t>
            </a:r>
          </a:p>
        </p:txBody>
      </p:sp>
    </p:spTree>
  </p:cSld>
  <p:clrMapOvr>
    <a:masterClrMapping/>
  </p:clrMapOvr>
</p:sld>
</file>

<file path=ppt/slides/slide3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RDS Now Supports PostgreSQL 13 in AWS GovCloud (US) Regions</a:t>
            </a:r>
          </a:p>
        </p:txBody>
      </p:sp>
      <p:sp>
        <p:nvSpPr>
          <p:cNvPr id="3" name="Content Placeholder 2"/>
          <p:cNvSpPr>
            <a:spLocks noGrp="1"/>
          </p:cNvSpPr>
          <p:nvPr>
            <p:ph sz="half" idx="1"/>
          </p:nvPr>
        </p:nvSpPr>
        <p:spPr/>
        <p:txBody>
          <a:bodyPr/>
          <a:lstStyle/>
          <a:p>
            <a:r>
              <a:t>26 Apr</a:t>
            </a:r>
          </a:p>
          <a:p>
            <a:endParaRPr/>
          </a:p>
          <a:p>
            <a:r>
              <a:t>Amazon RDS for PostgreSQL now supports major version 13 in AWS GovCloud (US) Regions. PostgreSQL 13  includes improved functionality and performance from new features and enhancements such as de-duplication of B-tree index entries, improved performance for queries that use partitioned tables, incremental sorting to accelerate data sorts, parallel processing of indexes with the VACUUM command, more ways to monitor activity within a PostgreSQL database, new security capabilities, and more. This release also adds support for bool_plperl, which simplifies writing Perl procedures.</a:t>
            </a:r>
          </a:p>
        </p:txBody>
      </p:sp>
    </p:spTree>
  </p:cSld>
  <p:clrMapOvr>
    <a:masterClrMapping/>
  </p:clrMapOvr>
</p:sld>
</file>

<file path=ppt/slides/slide3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SNS grows the set of message filtering operators</a:t>
            </a:r>
          </a:p>
        </p:txBody>
      </p:sp>
      <p:sp>
        <p:nvSpPr>
          <p:cNvPr id="3" name="Content Placeholder 2"/>
          <p:cNvSpPr>
            <a:spLocks noGrp="1"/>
          </p:cNvSpPr>
          <p:nvPr>
            <p:ph sz="half" idx="1"/>
          </p:nvPr>
        </p:nvSpPr>
        <p:spPr/>
        <p:txBody>
          <a:bodyPr/>
          <a:lstStyle/>
          <a:p>
            <a:r>
              <a:t>26 Apr</a:t>
            </a:r>
          </a:p>
          <a:p>
            <a:endParaRPr/>
          </a:p>
          <a:p>
            <a:r>
              <a:t>Amazon Simple Notification Service (Amazon SNS) message filtering lets you simplify your pub/sub messaging architecture by offloading message filtering logic from your subscriber systems as well as message routing logic from your publisher systems. Amazon SNS message filtering offers a set of matching operators, which enables you to filter messages based on their attribute keys or attribute values.</a:t>
            </a:r>
          </a:p>
        </p:txBody>
      </p:sp>
    </p:spTree>
  </p:cSld>
  <p:clrMapOvr>
    <a:masterClrMapping/>
  </p:clrMapOvr>
</p:sld>
</file>

<file path=ppt/slides/slide3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announces data sink capability for the Glue connectors</a:t>
            </a:r>
          </a:p>
        </p:txBody>
      </p:sp>
      <p:sp>
        <p:nvSpPr>
          <p:cNvPr id="3" name="Content Placeholder 2"/>
          <p:cNvSpPr>
            <a:spLocks noGrp="1"/>
          </p:cNvSpPr>
          <p:nvPr>
            <p:ph sz="half" idx="1"/>
          </p:nvPr>
        </p:nvSpPr>
        <p:spPr/>
        <p:txBody>
          <a:bodyPr/>
          <a:lstStyle/>
          <a:p>
            <a:r>
              <a:t>26 Apr</a:t>
            </a:r>
          </a:p>
          <a:p>
            <a:endParaRPr/>
          </a:p>
          <a:p>
            <a:r>
              <a:t>AWS Glue is a serverless data integration service that makes it easy to discover, prepare, and combine data for analytics, machine learning, and application development. AWS Glue custom connectors  makes it easy for customers to transfer data between SaaS applications, cross-cloud data stores, AWS services, data warehouses, custom data sources, and Amazon S3. Today, we are announcing the the availability of data sink capability that will allow customers to use bidirectional connectors as both source and destination. Data sink capability for AWS Glue custom connectors is also supported on AWS Glue Studio  enabling a no-code experience for users building their data pipelines.</a:t>
            </a:r>
          </a:p>
        </p:txBody>
      </p:sp>
    </p:spTree>
  </p:cSld>
  <p:clrMapOvr>
    <a:masterClrMapping/>
  </p:clrMapOvr>
</p:sld>
</file>

<file path=ppt/slides/slide3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Third-party software built for AWS Control Tower is now available in the AWS Control Tower Console, powered by AWS Marketplace</a:t>
            </a:r>
          </a:p>
        </p:txBody>
      </p:sp>
      <p:sp>
        <p:nvSpPr>
          <p:cNvPr id="3" name="Content Placeholder 2"/>
          <p:cNvSpPr>
            <a:spLocks noGrp="1"/>
          </p:cNvSpPr>
          <p:nvPr>
            <p:ph sz="half" idx="1"/>
          </p:nvPr>
        </p:nvSpPr>
        <p:spPr/>
        <p:txBody>
          <a:bodyPr/>
          <a:lstStyle/>
          <a:p>
            <a:r>
              <a:t>26 Apr</a:t>
            </a:r>
          </a:p>
          <a:p>
            <a:endParaRPr/>
          </a:p>
          <a:p>
            <a:r>
              <a:t>We are pleased to announce that AWS Control Tower customers can discover a curated collection of third-party software built for AWS Control Tower from within the AWS Control Tower Console. You can choose from professional services and software solutions including identity management, security for a multi-account environment, centralized networking, operational intelligence, Security Information and Event Management (SIEM), cost management or offerings for customized guardrails, account factory, regulatory compliance solutions, and enterprise-specific solutions (e.g. Internet of Things, data lake, etc).</a:t>
            </a:r>
          </a:p>
        </p:txBody>
      </p:sp>
    </p:spTree>
  </p:cSld>
  <p:clrMapOvr>
    <a:masterClrMapping/>
  </p:clrMapOvr>
</p:sld>
</file>

<file path=ppt/slides/slide3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Rekognition Custom Labels is now available in the Europe (Frankfurt), Europe (London), and Asia Pacific (Mumbai) AWS Regions.</a:t>
            </a:r>
          </a:p>
        </p:txBody>
      </p:sp>
      <p:sp>
        <p:nvSpPr>
          <p:cNvPr id="3" name="Content Placeholder 2"/>
          <p:cNvSpPr>
            <a:spLocks noGrp="1"/>
          </p:cNvSpPr>
          <p:nvPr>
            <p:ph sz="half" idx="1"/>
          </p:nvPr>
        </p:nvSpPr>
        <p:spPr/>
        <p:txBody>
          <a:bodyPr/>
          <a:lstStyle/>
          <a:p>
            <a:r>
              <a:t>26 Apr</a:t>
            </a:r>
          </a:p>
          <a:p>
            <a:endParaRPr/>
          </a:p>
          <a:p>
            <a:r>
              <a:t>Amazon Rekognition Custom Labels is now available in three additional regions AWS regions: Europe (Frankfurt), Europe (London), and Asia Pacific (Mumbai).</a:t>
            </a:r>
          </a:p>
        </p:txBody>
      </p:sp>
    </p:spTree>
  </p:cSld>
  <p:clrMapOvr>
    <a:masterClrMapping/>
  </p:clrMapOvr>
</p:sld>
</file>

<file path=ppt/slides/slide3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Transit Gateway is Now Available in AWS Asia Pacific (Osaka) Region</a:t>
            </a:r>
          </a:p>
        </p:txBody>
      </p:sp>
      <p:sp>
        <p:nvSpPr>
          <p:cNvPr id="3" name="Content Placeholder 2"/>
          <p:cNvSpPr>
            <a:spLocks noGrp="1"/>
          </p:cNvSpPr>
          <p:nvPr>
            <p:ph sz="half" idx="1"/>
          </p:nvPr>
        </p:nvSpPr>
        <p:spPr/>
        <p:txBody>
          <a:bodyPr/>
          <a:lstStyle/>
          <a:p>
            <a:r>
              <a:t>26 Apr</a:t>
            </a:r>
          </a:p>
          <a:p>
            <a:endParaRPr/>
          </a:p>
          <a:p>
            <a:r>
              <a:t>AWS Transit Gateway is now available in the Asia Pacific (Osaka) AWS Region along with support for AWS Direct Connect. AWS Transit Gateway enables customers to connect thousands of Amazon Virtual Private Clouds (Amazon VPCs) and their on-premises networks using a single gateway.  </a:t>
            </a:r>
          </a:p>
        </p:txBody>
      </p:sp>
    </p:spTree>
  </p:cSld>
  <p:clrMapOvr>
    <a:masterClrMapping/>
  </p:clrMapOvr>
</p:sld>
</file>

<file path=ppt/slides/slide3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Aurora PostgreSQL Patches 1.9.2 / 2.7.2 / 3.4.2 / 4.0.2 now available</a:t>
            </a:r>
          </a:p>
        </p:txBody>
      </p:sp>
      <p:sp>
        <p:nvSpPr>
          <p:cNvPr id="3" name="Content Placeholder 2"/>
          <p:cNvSpPr>
            <a:spLocks noGrp="1"/>
          </p:cNvSpPr>
          <p:nvPr>
            <p:ph sz="half" idx="1"/>
          </p:nvPr>
        </p:nvSpPr>
        <p:spPr/>
        <p:txBody>
          <a:bodyPr/>
          <a:lstStyle/>
          <a:p>
            <a:r>
              <a:t>26 Apr</a:t>
            </a:r>
          </a:p>
          <a:p>
            <a:endParaRPr/>
          </a:p>
          <a:p>
            <a:r>
              <a:t>Patches 1.9.2, 2.7.2, 3.4.2, 4.0.2 are now available for customers using Amazon Aurora PostgreSQL-Compatible Edition. For detailed release notes visit our version documentation . You can apply the new patch version in the AWS Management Console, via the AWS CLI, or via the RDS API. For detailed instructions, please see our technical documentation .</a:t>
            </a:r>
          </a:p>
        </p:txBody>
      </p:sp>
    </p:spTree>
  </p:cSld>
  <p:clrMapOvr>
    <a:masterClrMapping/>
  </p:clrMapOvr>
</p:sld>
</file>

<file path=ppt/slides/slide3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Secrets Manager Delivers Provider for Kubernetes Secrets Store CSI Driver</a:t>
            </a:r>
          </a:p>
        </p:txBody>
      </p:sp>
      <p:sp>
        <p:nvSpPr>
          <p:cNvPr id="3" name="Content Placeholder 2"/>
          <p:cNvSpPr>
            <a:spLocks noGrp="1"/>
          </p:cNvSpPr>
          <p:nvPr>
            <p:ph sz="half" idx="1"/>
          </p:nvPr>
        </p:nvSpPr>
        <p:spPr/>
        <p:txBody>
          <a:bodyPr/>
          <a:lstStyle/>
          <a:p>
            <a:r>
              <a:t>26 Apr</a:t>
            </a:r>
          </a:p>
          <a:p>
            <a:endParaRPr/>
          </a:p>
          <a:p>
            <a:r>
              <a:t>Today, AWS Secrets Manager launched the AWS Secrets and Configuration Provider (ASCP), a plugin for the industry-standard Kubernetes’ Secrets Store CSI driver. ASCP enables applications running in Kubernetes pods to retrieve secrets from AWS Secrets Manager easily, without the need for custom code. Once installed, ASCP ensures your applications always receive the most recent version of your secrets as these are rotated. As a result, you automatically benefit from the rotation and lifecycle management features that Secrets Manager provides, without added coding effort. ASCP also enables convenient and secure access to your configurations in AWS SSM Parameter Store. AWS Secrets and Configuration Provider  is available for download  now. Read the blog to learn more.</a:t>
            </a:r>
          </a:p>
        </p:txBody>
      </p:sp>
    </p:spTree>
  </p:cSld>
  <p:clrMapOvr>
    <a:masterClrMapping/>
  </p:clrMapOvr>
</p:sld>
</file>

<file path=ppt/slides/slide3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Translate increases the size limit of Parallel data from 1GB to 5GB</a:t>
            </a:r>
          </a:p>
        </p:txBody>
      </p:sp>
      <p:sp>
        <p:nvSpPr>
          <p:cNvPr id="3" name="Content Placeholder 2"/>
          <p:cNvSpPr>
            <a:spLocks noGrp="1"/>
          </p:cNvSpPr>
          <p:nvPr>
            <p:ph sz="half" idx="1"/>
          </p:nvPr>
        </p:nvSpPr>
        <p:spPr/>
        <p:txBody>
          <a:bodyPr/>
          <a:lstStyle/>
          <a:p>
            <a:r>
              <a:t>26 Apr</a:t>
            </a:r>
          </a:p>
          <a:p>
            <a:endParaRPr/>
          </a:p>
          <a:p>
            <a:r>
              <a:t>Amazon Translate is a fully managed, neural machine translation service that delivers real-time, high-quality, affordable and customizable language translation. Today, we are announcing that Amazon Translate has increased the size limit of parallel data (PD) from 1 GB to 5 GB. PD is used in Active Custom Translation (ACT), a feature that gives you more control over your machine translation output. You create PD by simply providing your translation examples in TMX, TSV, or CSV format. Then Amazon Translate uses your PD along with your batch translation job  to customize the translation output at runtime. With the increase in PD size, you can use more data to customize your ACT output.</a:t>
            </a:r>
          </a:p>
        </p:txBody>
      </p:sp>
    </p:spTree>
  </p:cSld>
  <p:clrMapOvr>
    <a:masterClrMapping/>
  </p:clrMapOvr>
</p:sld>
</file>

<file path=ppt/slides/slide3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Service Catalog launches a console experience for AppRegistry</a:t>
            </a:r>
          </a:p>
        </p:txBody>
      </p:sp>
      <p:sp>
        <p:nvSpPr>
          <p:cNvPr id="3" name="Content Placeholder 2"/>
          <p:cNvSpPr>
            <a:spLocks noGrp="1"/>
          </p:cNvSpPr>
          <p:nvPr>
            <p:ph sz="half" idx="1"/>
          </p:nvPr>
        </p:nvSpPr>
        <p:spPr/>
        <p:txBody>
          <a:bodyPr/>
          <a:lstStyle/>
          <a:p>
            <a:r>
              <a:t>23 Apr</a:t>
            </a:r>
          </a:p>
          <a:p>
            <a:endParaRPr/>
          </a:p>
          <a:p>
            <a:r>
              <a:t>Today, AWS Service Catalog announces console support for AppRegistry applications. With this release, administrators can create and manage their application metadata in an easy-to-use console experience. AppRegistry is a feature of AWS Service Catalog, which is used by enterprises, system integrators, and managed service providers to organize, govern, and provision cloud resources on AWS.</a:t>
            </a:r>
          </a:p>
        </p:txBody>
      </p:sp>
    </p:spTree>
  </p:cSld>
  <p:clrMapOvr>
    <a:masterClrMapping/>
  </p:clrMapOvr>
</p:sld>
</file>

<file path=ppt/slides/slide3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Timestream is now available in Europe (Frankfurt) region</a:t>
            </a:r>
          </a:p>
        </p:txBody>
      </p:sp>
      <p:sp>
        <p:nvSpPr>
          <p:cNvPr id="3" name="Content Placeholder 2"/>
          <p:cNvSpPr>
            <a:spLocks noGrp="1"/>
          </p:cNvSpPr>
          <p:nvPr>
            <p:ph sz="half" idx="1"/>
          </p:nvPr>
        </p:nvSpPr>
        <p:spPr/>
        <p:txBody>
          <a:bodyPr/>
          <a:lstStyle/>
          <a:p>
            <a:r>
              <a:t>23 Apr</a:t>
            </a:r>
          </a:p>
          <a:p>
            <a:endParaRPr/>
          </a:p>
          <a:p>
            <a:r>
              <a:t>You can now use Amazon Timestream in the Europe (Frankfurt) region. Amazon Timestream is a serverless, fully managed, time series database for IoT, edge, and operational applications that can scale to process trillions of time series events per day up to 1,000 times faster than relational databases, and at as low as 1/10th the cost. Amazon Timestream saves customers effort and expense by keeping recent data in memory and moving historical data to a cost-optimized storage tier based upon user-defined policies. Its purpose-built query processing engine gives customers the ability to access and combine recent and historical data transparently across tiers with a single query, without needing to specify explicitly in the query whether the data resides in the in-memory or cost-optimized tier.</a:t>
            </a:r>
          </a:p>
        </p:txBody>
      </p:sp>
    </p:spTree>
  </p:cSld>
  <p:clrMapOvr>
    <a:masterClrMapping/>
  </p:clrMapOvr>
</p:sld>
</file>

<file path=ppt/slides/slide3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CodeDeploy improves support for EC2 deployments with Auto Scaling Groups</a:t>
            </a:r>
          </a:p>
        </p:txBody>
      </p:sp>
      <p:sp>
        <p:nvSpPr>
          <p:cNvPr id="3" name="Content Placeholder 2"/>
          <p:cNvSpPr>
            <a:spLocks noGrp="1"/>
          </p:cNvSpPr>
          <p:nvPr>
            <p:ph sz="half" idx="1"/>
          </p:nvPr>
        </p:nvSpPr>
        <p:spPr/>
        <p:txBody>
          <a:bodyPr/>
          <a:lstStyle/>
          <a:p>
            <a:r>
              <a:t>23 Apr</a:t>
            </a:r>
          </a:p>
          <a:p>
            <a:endParaRPr/>
          </a:p>
          <a:p>
            <a:r>
              <a:t>AWS CodeDeploy improves support for Amazon EC2 deployments with Auto Scaling Groups by automatically detecting and updating EC2 instances that have outdated software revisions. After a deployment, CodeDeploy checks for outdated instances and creates a new deployment to bring the fleet to the intended revision of the software. In addition, as new instances are added to the Auto Scaling group, CodeDeploy checks that the updated revision is installed.</a:t>
            </a:r>
          </a:p>
        </p:txBody>
      </p:sp>
    </p:spTree>
  </p:cSld>
  <p:clrMapOvr>
    <a:masterClrMapping/>
  </p:clrMapOvr>
</p:sld>
</file>

<file path=ppt/slides/slide3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Cost Categories introduces a details page</a:t>
            </a:r>
          </a:p>
        </p:txBody>
      </p:sp>
      <p:sp>
        <p:nvSpPr>
          <p:cNvPr id="3" name="Content Placeholder 2"/>
          <p:cNvSpPr>
            <a:spLocks noGrp="1"/>
          </p:cNvSpPr>
          <p:nvPr>
            <p:ph sz="half" idx="1"/>
          </p:nvPr>
        </p:nvSpPr>
        <p:spPr/>
        <p:txBody>
          <a:bodyPr/>
          <a:lstStyle/>
          <a:p>
            <a:r>
              <a:t>23 Apr</a:t>
            </a:r>
          </a:p>
          <a:p>
            <a:endParaRPr/>
          </a:p>
          <a:p>
            <a:r>
              <a:t>AWS Cost Categories is a feature within the AWS Cost Management product suite that enables you to group your cost and usage information into meaningful categories for your organization’s unique needs. You can define rules to categorize your costs using dimensions such as accounts, tags, services, charge types, and even other Cost Categories. Once Cost Categories are set up, you can use them across various products in the AWS Billing and Cost Management console. This includes AWS Cost Explorer, AWS Budgets, AWS Cost and Usage Reports (AWS CUR), and AWS Cost Anomaly Detection.</a:t>
            </a:r>
          </a:p>
        </p:txBody>
      </p:sp>
    </p:spTree>
  </p:cSld>
  <p:clrMapOvr>
    <a:masterClrMapping/>
  </p:clrMapOvr>
</p:sld>
</file>

<file path=ppt/slides/slide3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Resource Access Manager is Now Available in the Asia Pacific (Osaka) Region</a:t>
            </a:r>
          </a:p>
        </p:txBody>
      </p:sp>
      <p:sp>
        <p:nvSpPr>
          <p:cNvPr id="3" name="Content Placeholder 2"/>
          <p:cNvSpPr>
            <a:spLocks noGrp="1"/>
          </p:cNvSpPr>
          <p:nvPr>
            <p:ph sz="half" idx="1"/>
          </p:nvPr>
        </p:nvSpPr>
        <p:spPr/>
        <p:txBody>
          <a:bodyPr/>
          <a:lstStyle/>
          <a:p>
            <a:r>
              <a:t>23 Apr</a:t>
            </a:r>
          </a:p>
          <a:p>
            <a:endParaRPr/>
          </a:p>
          <a:p>
            <a:r>
              <a:t>You can now use AWS Resource Access Manager (RAM) in the Asia Pacific (Osaka) Region.</a:t>
            </a:r>
          </a:p>
        </p:txBody>
      </p:sp>
    </p:spTree>
  </p:cSld>
  <p:clrMapOvr>
    <a:masterClrMapping/>
  </p:clrMapOvr>
</p:sld>
</file>

<file path=ppt/slides/slide3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EC2 enables replacing root volumes for quick restoration and troubleshooting</a:t>
            </a:r>
          </a:p>
        </p:txBody>
      </p:sp>
      <p:sp>
        <p:nvSpPr>
          <p:cNvPr id="3" name="Content Placeholder 2"/>
          <p:cNvSpPr>
            <a:spLocks noGrp="1"/>
          </p:cNvSpPr>
          <p:nvPr>
            <p:ph sz="half" idx="1"/>
          </p:nvPr>
        </p:nvSpPr>
        <p:spPr/>
        <p:txBody>
          <a:bodyPr/>
          <a:lstStyle/>
          <a:p>
            <a:r>
              <a:t>22 Apr</a:t>
            </a:r>
          </a:p>
          <a:p>
            <a:endParaRPr/>
          </a:p>
          <a:p>
            <a:r>
              <a:t>Amazon EC2 announces the Replace Root Volume feature that enables customers to replace the root volume for a running instance. The feature restores the root volume of an instance to its launch state, or to a specific snapshot, without stopping the instance. This allows customers to fix issues, such as root volume corruption or guest operating system network configuration errors, while retaining the instance store data, networking and IAM configuration.</a:t>
            </a:r>
          </a:p>
        </p:txBody>
      </p:sp>
    </p:spTree>
  </p:cSld>
  <p:clrMapOvr>
    <a:masterClrMapping/>
  </p:clrMapOvr>
</p:sld>
</file>

<file path=ppt/slides/slide3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Control Tower releases a new Partner program, Built on Control Tower</a:t>
            </a:r>
          </a:p>
        </p:txBody>
      </p:sp>
      <p:sp>
        <p:nvSpPr>
          <p:cNvPr id="3" name="Content Placeholder 2"/>
          <p:cNvSpPr>
            <a:spLocks noGrp="1"/>
          </p:cNvSpPr>
          <p:nvPr>
            <p:ph sz="half" idx="1"/>
          </p:nvPr>
        </p:nvSpPr>
        <p:spPr/>
        <p:txBody>
          <a:bodyPr/>
          <a:lstStyle/>
          <a:p>
            <a:r>
              <a:t>22 Apr</a:t>
            </a:r>
          </a:p>
          <a:p>
            <a:endParaRPr/>
          </a:p>
          <a:p>
            <a:r>
              <a:t>We are delighted to announce the availability of a new program, Built on Control Tower, which provides AWS Partners with a framework to build custom solutions that complement AWS Control Tower capabilities. AWS Technology Partners and AWS Consulting Partners will leverage the Built on Control Tower framework to build AWS Control Tower specific customized professional services offerings, and software solutions for you to integrate with your environment. Professional services include customized guardrails, account factory, regulatory compliance solutions, and enterprise-specific solutions (e.g. Internet of Things, data lake, etc.). Software solutions include identity management, security for a multi-account environment, centralized networking, operational intelligence, Security Information and Event Management (SIEM), and cost management.</a:t>
            </a:r>
          </a:p>
        </p:txBody>
      </p:sp>
    </p:spTree>
  </p:cSld>
  <p:clrMapOvr>
    <a:masterClrMapping/>
  </p:clrMapOvr>
</p:sld>
</file>

<file path=ppt/slides/slide3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New digital course: Amazon S3 Performance Optimization</a:t>
            </a:r>
          </a:p>
        </p:txBody>
      </p:sp>
      <p:sp>
        <p:nvSpPr>
          <p:cNvPr id="3" name="Content Placeholder 2"/>
          <p:cNvSpPr>
            <a:spLocks noGrp="1"/>
          </p:cNvSpPr>
          <p:nvPr>
            <p:ph sz="half" idx="1"/>
          </p:nvPr>
        </p:nvSpPr>
        <p:spPr/>
        <p:txBody>
          <a:bodyPr/>
          <a:lstStyle/>
          <a:p>
            <a:r>
              <a:t>22 Apr</a:t>
            </a:r>
          </a:p>
          <a:p>
            <a:endParaRPr/>
          </a:p>
          <a:p>
            <a:r>
              <a:t>We’re excited to announce a free digital course: Amazon Simple Storage Service Performance Optimization. This advanced 60-minute course explores tools and techniques you can use to optimize your Amazon S3 performance. Designed for cloud architects, storage architects, developers, and operations engineers, it includes interactive lessons and a quiz to check your knowledge.  </a:t>
            </a:r>
          </a:p>
        </p:txBody>
      </p:sp>
    </p:spTree>
  </p:cSld>
  <p:clrMapOvr>
    <a:masterClrMapping/>
  </p:clrMapOvr>
</p:sld>
</file>

<file path=ppt/slides/slide3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Get estimated run time for forecast creation jobs while using Amazon Forecast</a:t>
            </a:r>
          </a:p>
        </p:txBody>
      </p:sp>
      <p:sp>
        <p:nvSpPr>
          <p:cNvPr id="3" name="Content Placeholder 2"/>
          <p:cNvSpPr>
            <a:spLocks noGrp="1"/>
          </p:cNvSpPr>
          <p:nvPr>
            <p:ph sz="half" idx="1"/>
          </p:nvPr>
        </p:nvSpPr>
        <p:spPr/>
        <p:txBody>
          <a:bodyPr/>
          <a:lstStyle/>
          <a:p>
            <a:r>
              <a:t>22 Apr</a:t>
            </a:r>
          </a:p>
          <a:p>
            <a:endParaRPr/>
          </a:p>
          <a:p>
            <a:r>
              <a:t>We are excited to announce that Amazon Forecast now displays the estimated time it takes to complete an in-progress workflow for importing your data, training the predictor and generating the forecast. You can now manage your time more efficiently and better plan for your next workflow around the estimated time remaining for your in-progress workflow. Forecast uses machine learning (ML) to generate more accurate demand forecasts, without requiring any prior ML experience. Forecast brings the same technology used at Amazon.com to developers as a fully managed service, removing the need to manage resources or rebuild your systems.</a:t>
            </a:r>
          </a:p>
        </p:txBody>
      </p:sp>
    </p:spTree>
  </p:cSld>
  <p:clrMapOvr>
    <a:masterClrMapping/>
  </p:clrMapOvr>
</p:sld>
</file>

<file path=ppt/slides/slide3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hlinkClick r:id="rId2"/>
              </a:rPr>
              <a:t>Amazon ElastiCache now supports publishing Redis logs to Amazon CloudWatch Logs and Kinesis Data Firehose</a:t>
            </a:r>
          </a:p>
        </p:txBody>
      </p:sp>
      <p:sp>
        <p:nvSpPr>
          <p:cNvPr id="3" name="Content Placeholder 2"/>
          <p:cNvSpPr>
            <a:spLocks noGrp="1"/>
          </p:cNvSpPr>
          <p:nvPr>
            <p:ph sz="half" idx="1"/>
          </p:nvPr>
        </p:nvSpPr>
        <p:spPr/>
        <p:txBody>
          <a:bodyPr/>
          <a:lstStyle/>
          <a:p>
            <a:r>
              <a:t>22 Apr</a:t>
            </a:r>
          </a:p>
          <a:p>
            <a:endParaRPr/>
          </a:p>
          <a:p>
            <a:r>
              <a:t>You can now publish the Redis slow log from your Amazon ElastiCache for Redis clusters to Amazon CloudWatch Logs and Amazon Kinesis Data Firehose. The Redis slow log  provides visibility into the execution time of commands in your Redis cluster, enabling you to continuously monitor the performance of these operations. You can choose to send these logs in either JSON or text format to Amazon CloudWatch Logs  and Amazon Kinesis Data Firehose .</a:t>
            </a:r>
          </a:p>
        </p:txBody>
      </p:sp>
    </p:spTree>
  </p:cSld>
  <p:clrMapOvr>
    <a:masterClrMapping/>
  </p:clrMapOvr>
</p:sld>
</file>

<file path=ppt/slides/slide3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Service Catalog is now available in Osaka</a:t>
            </a:r>
          </a:p>
        </p:txBody>
      </p:sp>
      <p:sp>
        <p:nvSpPr>
          <p:cNvPr id="3" name="Content Placeholder 2"/>
          <p:cNvSpPr>
            <a:spLocks noGrp="1"/>
          </p:cNvSpPr>
          <p:nvPr>
            <p:ph sz="half" idx="1"/>
          </p:nvPr>
        </p:nvSpPr>
        <p:spPr/>
        <p:txBody>
          <a:bodyPr/>
          <a:lstStyle/>
          <a:p>
            <a:r>
              <a:t>22 Apr</a:t>
            </a:r>
          </a:p>
          <a:p>
            <a:endParaRPr/>
          </a:p>
          <a:p>
            <a:r>
              <a:t>AWS Service Catalog is now available to customers in the AWS Region in Osaka, Japan. AWS Service Catalog allows organizations to create, govern, and manage catalogs of IT services that are approved for use on AWS.</a:t>
            </a:r>
          </a:p>
        </p:txBody>
      </p:sp>
    </p:spTree>
  </p:cSld>
  <p:clrMapOvr>
    <a:masterClrMapping/>
  </p:clrMapOvr>
</p:sld>
</file>

<file path=ppt/slides/slide4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hlinkClick r:id="rId2"/>
              </a:rPr>
              <a:t>NoSQL Workbench for Amazon DynamoDB now supports AWS CloudFormation</a:t>
            </a:r>
          </a:p>
        </p:txBody>
      </p:sp>
      <p:sp>
        <p:nvSpPr>
          <p:cNvPr id="3" name="Content Placeholder 2"/>
          <p:cNvSpPr>
            <a:spLocks noGrp="1"/>
          </p:cNvSpPr>
          <p:nvPr>
            <p:ph sz="half" idx="1"/>
          </p:nvPr>
        </p:nvSpPr>
        <p:spPr/>
        <p:txBody>
          <a:bodyPr/>
          <a:lstStyle/>
          <a:p>
            <a:r>
              <a:rPr dirty="0"/>
              <a:t>22 Apr</a:t>
            </a:r>
          </a:p>
          <a:p>
            <a:endParaRPr dirty="0"/>
          </a:p>
          <a:p>
            <a:r>
              <a:rPr dirty="0"/>
              <a:t>NoSQL Workbench for Amazon DynamoDB  now supports AWS CloudFormation, so you can manage and modify DynamoDB data models with CloudFormation templates. In addition, you now can configure table capacity settings in NoSQL Workbench.</a:t>
            </a:r>
          </a:p>
        </p:txBody>
      </p:sp>
    </p:spTree>
  </p:cSld>
  <p:clrMapOvr>
    <a:masterClrMapping/>
  </p:clrMapOvr>
</p:sld>
</file>

<file path=ppt/slides/slide4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Interactive Video Service launches edge locations in India</a:t>
            </a:r>
          </a:p>
        </p:txBody>
      </p:sp>
      <p:sp>
        <p:nvSpPr>
          <p:cNvPr id="3" name="Content Placeholder 2"/>
          <p:cNvSpPr>
            <a:spLocks noGrp="1"/>
          </p:cNvSpPr>
          <p:nvPr>
            <p:ph sz="half" idx="1"/>
          </p:nvPr>
        </p:nvSpPr>
        <p:spPr/>
        <p:txBody>
          <a:bodyPr/>
          <a:lstStyle/>
          <a:p>
            <a:r>
              <a:t>22 Apr</a:t>
            </a:r>
          </a:p>
          <a:p>
            <a:endParaRPr/>
          </a:p>
          <a:p>
            <a:r>
              <a:t>Amazon Interactive Video Service (Amazon IVS) announces its first India edge locations in Mumbai and Chennai with more point of presences (PoPs) in additional cities coming soon. The new edge locations will enable streamers and viewers based in India to enjoy a 5-10 second latency live video experience.</a:t>
            </a:r>
          </a:p>
        </p:txBody>
      </p:sp>
    </p:spTree>
  </p:cSld>
  <p:clrMapOvr>
    <a:masterClrMapping/>
  </p:clrMapOvr>
</p:sld>
</file>

<file path=ppt/slides/slide4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Ground Station now supports data delivery to Amazon S3</a:t>
            </a:r>
          </a:p>
        </p:txBody>
      </p:sp>
      <p:sp>
        <p:nvSpPr>
          <p:cNvPr id="3" name="Content Placeholder 2"/>
          <p:cNvSpPr>
            <a:spLocks noGrp="1"/>
          </p:cNvSpPr>
          <p:nvPr>
            <p:ph sz="half" idx="1"/>
          </p:nvPr>
        </p:nvSpPr>
        <p:spPr/>
        <p:txBody>
          <a:bodyPr/>
          <a:lstStyle/>
          <a:p>
            <a:r>
              <a:t>21 Apr</a:t>
            </a:r>
          </a:p>
          <a:p>
            <a:endParaRPr/>
          </a:p>
          <a:p>
            <a:r>
              <a:t>AWS Ground Station now supports data delivery to Amazon S3, enabling customers to capture data directly from their satellite into an S3 bucket in an available AWS region. Now, customers have more choices in how they capture their satellite data, enabling low-cost archiving and the ability to develop automated processing chains. They can either stream satellite data to Amazon EC2 for real-time processing or instead directly store data in Amazon S3. </a:t>
            </a:r>
          </a:p>
        </p:txBody>
      </p:sp>
    </p:spTree>
  </p:cSld>
  <p:clrMapOvr>
    <a:masterClrMapping/>
  </p:clrMapOvr>
</p:sld>
</file>

<file path=ppt/slides/slide4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Elasticsearch Service announces support for Elasticsearch version 7.10</a:t>
            </a:r>
          </a:p>
        </p:txBody>
      </p:sp>
      <p:sp>
        <p:nvSpPr>
          <p:cNvPr id="3" name="Content Placeholder 2"/>
          <p:cNvSpPr>
            <a:spLocks noGrp="1"/>
          </p:cNvSpPr>
          <p:nvPr>
            <p:ph sz="half" idx="1"/>
          </p:nvPr>
        </p:nvSpPr>
        <p:spPr/>
        <p:txBody>
          <a:bodyPr/>
          <a:lstStyle/>
          <a:p>
            <a:r>
              <a:t>21 Apr</a:t>
            </a:r>
          </a:p>
          <a:p>
            <a:endParaRPr/>
          </a:p>
          <a:p>
            <a:r>
              <a:t>Amazon Elasticsearch Service now supports open source Elasticsearch 7.10 and its corresponding version of Kibana. This minor release includes bug fixes and enhancements.</a:t>
            </a:r>
          </a:p>
        </p:txBody>
      </p:sp>
    </p:spTree>
  </p:cSld>
  <p:clrMapOvr>
    <a:masterClrMapping/>
  </p:clrMapOvr>
</p:sld>
</file>

<file path=ppt/slides/slide4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RDS on VMware networking now simplified and more secure</a:t>
            </a:r>
          </a:p>
        </p:txBody>
      </p:sp>
      <p:sp>
        <p:nvSpPr>
          <p:cNvPr id="3" name="Content Placeholder 2"/>
          <p:cNvSpPr>
            <a:spLocks noGrp="1"/>
          </p:cNvSpPr>
          <p:nvPr>
            <p:ph sz="half" idx="1"/>
          </p:nvPr>
        </p:nvSpPr>
        <p:spPr/>
        <p:txBody>
          <a:bodyPr/>
          <a:lstStyle/>
          <a:p>
            <a:r>
              <a:t>21 Apr</a:t>
            </a:r>
          </a:p>
          <a:p>
            <a:endParaRPr/>
          </a:p>
          <a:p>
            <a:r>
              <a:t>Amazon RDS on VMware no longer requires the use of a Virtual Private Network (VPN) tunnel back to AWS. By removing the VPN tunnel requirement and moving to HTTPS, we’ve simplified the preparation that is required on your network to be able to take advantage of Amazon RDS managed database services in your VMware vSphere clusters on-premises. You are no longer required to open up the VPN ports in your corporate firewalls, nor add a VPN Originator, and can potentially lower your setup and operating costs.</a:t>
            </a:r>
          </a:p>
        </p:txBody>
      </p:sp>
    </p:spTree>
  </p:cSld>
  <p:clrMapOvr>
    <a:masterClrMapping/>
  </p:clrMapOvr>
</p:sld>
</file>

<file path=ppt/slides/slide4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Announcing general availability of Amazon Redshift native console integration with partners</a:t>
            </a:r>
          </a:p>
        </p:txBody>
      </p:sp>
      <p:sp>
        <p:nvSpPr>
          <p:cNvPr id="3" name="Content Placeholder 2"/>
          <p:cNvSpPr>
            <a:spLocks noGrp="1"/>
          </p:cNvSpPr>
          <p:nvPr>
            <p:ph sz="half" idx="1"/>
          </p:nvPr>
        </p:nvSpPr>
        <p:spPr/>
        <p:txBody>
          <a:bodyPr/>
          <a:lstStyle/>
          <a:p>
            <a:r>
              <a:t>21 Apr</a:t>
            </a:r>
          </a:p>
          <a:p>
            <a:endParaRPr/>
          </a:p>
          <a:p>
            <a:r>
              <a:t>Amazon Redshift, a fully-managed cloud data warehouse, now supports native integration with select AWS Partners from within the Amazon Redshift console. With the new console partner integration, you can accelerate data onboarding and create valuable business insights in minutes by integrating with select partner solutions. With these solutions, you can bring data from applications like Salesforce, Google Analytics, Facebook Ads, Slack, Jira, Splunk, and Marketo into your Amazon Redshift data warehouse in an efficient and streamlined way. It also enables you to join these disparate datasets and analyze them together to produce actionable insights.</a:t>
            </a:r>
          </a:p>
        </p:txBody>
      </p:sp>
    </p:spTree>
  </p:cSld>
  <p:clrMapOvr>
    <a:masterClrMapping/>
  </p:clrMapOvr>
</p:sld>
</file>

<file path=ppt/slides/slide4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Announcing availability of AWS Outposts in the Philippines and Brunei</a:t>
            </a:r>
          </a:p>
        </p:txBody>
      </p:sp>
      <p:sp>
        <p:nvSpPr>
          <p:cNvPr id="3" name="Content Placeholder 2"/>
          <p:cNvSpPr>
            <a:spLocks noGrp="1"/>
          </p:cNvSpPr>
          <p:nvPr>
            <p:ph sz="half" idx="1"/>
          </p:nvPr>
        </p:nvSpPr>
        <p:spPr/>
        <p:txBody>
          <a:bodyPr/>
          <a:lstStyle/>
          <a:p>
            <a:r>
              <a:t>21 Apr</a:t>
            </a:r>
          </a:p>
          <a:p>
            <a:endParaRPr/>
          </a:p>
          <a:p>
            <a:r>
              <a:t>AWS Outposts can now be shipped and installed at customer datacenters and on-premises locations in the Philippines and Brunei.</a:t>
            </a:r>
          </a:p>
        </p:txBody>
      </p:sp>
    </p:spTree>
  </p:cSld>
  <p:clrMapOvr>
    <a:masterClrMapping/>
  </p:clrMapOvr>
</p:sld>
</file>

<file path=ppt/slides/slide4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Elasticsearch Service announces support for Asynchronous Search</a:t>
            </a:r>
          </a:p>
        </p:txBody>
      </p:sp>
      <p:sp>
        <p:nvSpPr>
          <p:cNvPr id="3" name="Content Placeholder 2"/>
          <p:cNvSpPr>
            <a:spLocks noGrp="1"/>
          </p:cNvSpPr>
          <p:nvPr>
            <p:ph sz="half" idx="1"/>
          </p:nvPr>
        </p:nvSpPr>
        <p:spPr/>
        <p:txBody>
          <a:bodyPr/>
          <a:lstStyle/>
          <a:p>
            <a:r>
              <a:t>21 Apr</a:t>
            </a:r>
          </a:p>
          <a:p>
            <a:endParaRPr/>
          </a:p>
          <a:p>
            <a:r>
              <a:t>Amazon Elasticsearch Service now supports Asynchronous Search. Asynchronous Search lets you submit a query that gets executed asynchronously, monitor the progress of the request, and retrieve results at a later stage. You can also retrieve partial results as they become available even before the search has fully completed. Once the search completes, it can be stored for consumption at a later time up to an expiry duration.</a:t>
            </a:r>
          </a:p>
        </p:txBody>
      </p:sp>
    </p:spTree>
  </p:cSld>
  <p:clrMapOvr>
    <a:masterClrMapping/>
  </p:clrMapOvr>
</p:sld>
</file>

<file path=ppt/slides/slide4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Now available credential profile support for AWS SSO and Assume Role with MFA in the AWS Toolkit for Visual Studio</a:t>
            </a:r>
          </a:p>
        </p:txBody>
      </p:sp>
      <p:sp>
        <p:nvSpPr>
          <p:cNvPr id="3" name="Content Placeholder 2"/>
          <p:cNvSpPr>
            <a:spLocks noGrp="1"/>
          </p:cNvSpPr>
          <p:nvPr>
            <p:ph sz="half" idx="1"/>
          </p:nvPr>
        </p:nvSpPr>
        <p:spPr/>
        <p:txBody>
          <a:bodyPr/>
          <a:lstStyle/>
          <a:p>
            <a:r>
              <a:t>21 Apr</a:t>
            </a:r>
          </a:p>
          <a:p>
            <a:endParaRPr/>
          </a:p>
          <a:p>
            <a:r>
              <a:t>With this new release of the AWS Toolkit for Visual Studio, customers can use federated credentials, multi-factor authentication (MFA) and AWS Single Sign-On (AWS SSO) to connect their IDEs to AWS.</a:t>
            </a:r>
          </a:p>
        </p:txBody>
      </p:sp>
    </p:spTree>
  </p:cSld>
  <p:clrMapOvr>
    <a:masterClrMapping/>
  </p:clrMapOvr>
</p:sld>
</file>

<file path=ppt/slides/slide4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Cloud9 now supports Amazon Linux 2 environments</a:t>
            </a:r>
          </a:p>
        </p:txBody>
      </p:sp>
      <p:sp>
        <p:nvSpPr>
          <p:cNvPr id="3" name="Content Placeholder 2"/>
          <p:cNvSpPr>
            <a:spLocks noGrp="1"/>
          </p:cNvSpPr>
          <p:nvPr>
            <p:ph sz="half" idx="1"/>
          </p:nvPr>
        </p:nvSpPr>
        <p:spPr/>
        <p:txBody>
          <a:bodyPr/>
          <a:lstStyle/>
          <a:p>
            <a:r>
              <a:t>21 Apr</a:t>
            </a:r>
          </a:p>
          <a:p>
            <a:endParaRPr/>
          </a:p>
          <a:p>
            <a:r>
              <a:t>You can now launch AWS Cloud9 development environments with Amazon Linux 2 (AL2). Amazon Linux 2 is the next generation of Amazon Linux, a Linux server operating system from Amazon Web Services (AWS). It provides a secure, stable, and high performance execution environment to develop and run cloud and enterprise applications. AWS Cloud9 is a cloud-based integrated development environment (IDE) that lets you write, run, and debug your code with just a browser. It includes a code editor, debugger, and terminal. Cloud9 comes pre-packaged with essential tools for popular programming languages including JavaScript, Python, PHP, and more, so you don’t need to install files or configure your development machine to start new projects.</a:t>
            </a:r>
          </a:p>
        </p:txBody>
      </p:sp>
    </p:spTree>
  </p:cSld>
  <p:clrMapOvr>
    <a:masterClrMapping/>
  </p:clrMapOvr>
</p:sld>
</file>

<file path=ppt/slides/slide4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Rekognition launches tagging support for collections, stream processors, and Custom Labels</a:t>
            </a:r>
          </a:p>
        </p:txBody>
      </p:sp>
      <p:sp>
        <p:nvSpPr>
          <p:cNvPr id="3" name="Content Placeholder 2"/>
          <p:cNvSpPr>
            <a:spLocks noGrp="1"/>
          </p:cNvSpPr>
          <p:nvPr>
            <p:ph sz="half" idx="1"/>
          </p:nvPr>
        </p:nvSpPr>
        <p:spPr/>
        <p:txBody>
          <a:bodyPr/>
          <a:lstStyle/>
          <a:p>
            <a:r>
              <a:t>20 Apr</a:t>
            </a:r>
          </a:p>
          <a:p>
            <a:endParaRPr/>
          </a:p>
          <a:p>
            <a:r>
              <a:t>You can now assign tags to Amazon Rekognition resources such as collections, stream processors, and Custom Labels models. Tags are key value pairs which enable you to control access to your AWS resources. You can easily identify, classify, or categorize your Amazon Rekognition resources as you create them, giving you a convenient way to ensure that your Amazon Rekognition resources have the right level of access control. You can also assign user-defined cost allocation tags to Amazon Rekognition Custom Labels models, making it easier for you to categorize and track your AWS costs.</a:t>
            </a:r>
          </a:p>
        </p:txBody>
      </p:sp>
    </p:spTree>
  </p:cSld>
  <p:clrMapOvr>
    <a:masterClrMapping/>
  </p:clrMapOvr>
</p:sld>
</file>

<file path=ppt/slides/slide4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EMR Release 5.33 now supports 10 new instance types</a:t>
            </a:r>
          </a:p>
        </p:txBody>
      </p:sp>
      <p:sp>
        <p:nvSpPr>
          <p:cNvPr id="3" name="Content Placeholder 2"/>
          <p:cNvSpPr>
            <a:spLocks noGrp="1"/>
          </p:cNvSpPr>
          <p:nvPr>
            <p:ph sz="half" idx="1"/>
          </p:nvPr>
        </p:nvSpPr>
        <p:spPr/>
        <p:txBody>
          <a:bodyPr/>
          <a:lstStyle/>
          <a:p>
            <a:r>
              <a:t>20 Apr</a:t>
            </a:r>
          </a:p>
          <a:p>
            <a:endParaRPr/>
          </a:p>
          <a:p>
            <a:r>
              <a:t>Amazon EMR Release 5.33 now supports 10 new instance types - C6gd, M6gd, R6gd, C6gn,C5a, C5ad, d3, d3en, m5zn and R5b. These instances are supported in all commercial regions where the instances are available. Amazon EMR 5.33 ships with Apache Hudi 0.7.0, ApacheFlink 1.12.1, PrestoDB 0.245 and Zeppelin 0.9.0.</a:t>
            </a:r>
          </a:p>
        </p:txBody>
      </p:sp>
    </p:spTree>
  </p:cSld>
  <p:clrMapOvr>
    <a:masterClrMapping/>
  </p:clrMapOvr>
</p:sld>
</file>

<file path=ppt/slides/slide4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SageMaker announces a price reduction by up to 14% on instances and SageMaker Savings Plans with up to 64% cost saving</a:t>
            </a:r>
          </a:p>
        </p:txBody>
      </p:sp>
      <p:sp>
        <p:nvSpPr>
          <p:cNvPr id="3" name="Content Placeholder 2"/>
          <p:cNvSpPr>
            <a:spLocks noGrp="1"/>
          </p:cNvSpPr>
          <p:nvPr>
            <p:ph sz="half" idx="1"/>
          </p:nvPr>
        </p:nvSpPr>
        <p:spPr/>
        <p:txBody>
          <a:bodyPr/>
          <a:lstStyle/>
          <a:p>
            <a:r>
              <a:t>20 Apr</a:t>
            </a:r>
          </a:p>
          <a:p>
            <a:endParaRPr/>
          </a:p>
          <a:p>
            <a:r>
              <a:t>Today we are announcing Amazon SageMaker Savings Plans, a new flexible pricing model that allows you to save up to 64% on Amazon SageMaker ML instances in exchange for making a commitment to a consistent amount of eligible usage (e.g. $10/hour) for a 1- or 3-year term. We are also pleased to share that effective April 19th, 2021 we are reducing the prices by up to 14% for instances in Amazon SageMaker. The price reductions apply to instances families ml.t2, ml.t3, ml.m4, ml.m5, ml.m5d, ml.c4, ml.c5, ml.c5d, ml.c5n, ml.r5, ml.r5d, ml.inf1 and ml.g4dn for SageMaker Studio notebooks, SageMaker On-Demand Notebooks, SageMaker Processing, SageMaker Training, SageMaker Real-Time Inference, SageMaker Data Wrangler and SageMaker Batch Transform.</a:t>
            </a:r>
          </a:p>
        </p:txBody>
      </p:sp>
    </p:spTree>
  </p:cSld>
  <p:clrMapOvr>
    <a:masterClrMapping/>
  </p:clrMapOvr>
</p:sld>
</file>

<file path=ppt/slides/slide4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S3 on Outposts Events now available in Amazon CloudWatch</a:t>
            </a:r>
          </a:p>
        </p:txBody>
      </p:sp>
      <p:sp>
        <p:nvSpPr>
          <p:cNvPr id="3" name="Content Placeholder 2"/>
          <p:cNvSpPr>
            <a:spLocks noGrp="1"/>
          </p:cNvSpPr>
          <p:nvPr>
            <p:ph sz="half" idx="1"/>
          </p:nvPr>
        </p:nvSpPr>
        <p:spPr/>
        <p:txBody>
          <a:bodyPr/>
          <a:lstStyle/>
          <a:p>
            <a:r>
              <a:t>20 Apr</a:t>
            </a:r>
          </a:p>
          <a:p>
            <a:endParaRPr/>
          </a:p>
          <a:p>
            <a:r>
              <a:t>Amazon S3 on Outposts now supports the ability to monitor your S3 on Outposts events via Amazon CloudWatch. You can now use CloudWatch Events to create a rule for any S3 on Outposts API Event to get notified via all supported CloudWatch targets such as Amazon SNS and Amazon SQS.</a:t>
            </a:r>
          </a:p>
        </p:txBody>
      </p:sp>
    </p:spTree>
  </p:cSld>
  <p:clrMapOvr>
    <a:masterClrMapping/>
  </p:clrMapOvr>
</p:sld>
</file>

<file path=ppt/slides/slide4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Textract achieves FedRAMP compliance</a:t>
            </a:r>
          </a:p>
        </p:txBody>
      </p:sp>
      <p:sp>
        <p:nvSpPr>
          <p:cNvPr id="3" name="Content Placeholder 2"/>
          <p:cNvSpPr>
            <a:spLocks noGrp="1"/>
          </p:cNvSpPr>
          <p:nvPr>
            <p:ph sz="half" idx="1"/>
          </p:nvPr>
        </p:nvSpPr>
        <p:spPr/>
        <p:txBody>
          <a:bodyPr/>
          <a:lstStyle/>
          <a:p>
            <a:r>
              <a:t>20 Apr</a:t>
            </a:r>
          </a:p>
          <a:p>
            <a:endParaRPr/>
          </a:p>
          <a:p>
            <a:r>
              <a:t>Amazon Textract has achieved Federal Risk and Authorization Management Program (FedRAMP) High authorization, approved by the FedRAMP Joint Authorization Board (JAB), for the AWS GovCloud (US) Regions. Additionally, Amazon Textract is now authorized in the US East (N. Virginia), US East (Ohio), US West (N. California), and US West (Oregon) Regions under FedRAMP Moderate.</a:t>
            </a:r>
          </a:p>
        </p:txBody>
      </p:sp>
    </p:spTree>
  </p:cSld>
  <p:clrMapOvr>
    <a:masterClrMapping/>
  </p:clrMapOvr>
</p:sld>
</file>

<file path=ppt/slides/slide4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Chatbot now expands coverage of AWS Services monitored through Amazon EventBridge</a:t>
            </a:r>
          </a:p>
        </p:txBody>
      </p:sp>
      <p:sp>
        <p:nvSpPr>
          <p:cNvPr id="3" name="Content Placeholder 2"/>
          <p:cNvSpPr>
            <a:spLocks noGrp="1"/>
          </p:cNvSpPr>
          <p:nvPr>
            <p:ph sz="half" idx="1"/>
          </p:nvPr>
        </p:nvSpPr>
        <p:spPr/>
        <p:txBody>
          <a:bodyPr/>
          <a:lstStyle/>
          <a:p>
            <a:r>
              <a:t>20 Apr</a:t>
            </a:r>
          </a:p>
          <a:p>
            <a:endParaRPr/>
          </a:p>
          <a:p>
            <a:r>
              <a:t>AWS Chatbot customers can now receive notifications in chat channels from an expanded range of AWS services through Amazon EventBridge. AWS Chatbot allows users to monitor and interact with AWS resources directly from Slack channels and Amazon Chime chat rooms.  </a:t>
            </a:r>
          </a:p>
        </p:txBody>
      </p:sp>
    </p:spTree>
  </p:cSld>
  <p:clrMapOvr>
    <a:masterClrMapping/>
  </p:clrMapOvr>
</p:sld>
</file>

<file path=ppt/slides/slide4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hlinkClick r:id="rId2"/>
              </a:rPr>
              <a:t>AWS Glue Studio is now available in the AWS Africa (Cape Town) Region</a:t>
            </a:r>
          </a:p>
        </p:txBody>
      </p:sp>
      <p:sp>
        <p:nvSpPr>
          <p:cNvPr id="3" name="Content Placeholder 2"/>
          <p:cNvSpPr>
            <a:spLocks noGrp="1"/>
          </p:cNvSpPr>
          <p:nvPr>
            <p:ph sz="half" idx="1"/>
          </p:nvPr>
        </p:nvSpPr>
        <p:spPr/>
        <p:txBody>
          <a:bodyPr/>
          <a:lstStyle/>
          <a:p>
            <a:r>
              <a:rPr dirty="0"/>
              <a:t>20 Apr</a:t>
            </a:r>
          </a:p>
          <a:p>
            <a:endParaRPr dirty="0"/>
          </a:p>
          <a:p>
            <a:r>
              <a:rPr dirty="0"/>
              <a:t>AWS Glue Studio is now available in the AWS Africa (Cape Town) Region. AWS Glue Studio is a visual interface for AWS Glue that makes it easy for extract-transform-and-load (ETL) developers to author, run, and monitor AWS Glue ETL jobs. You can now use a simple visual interface to compose jobs that move and transform data and run them on AWS Glue. You can then use AWS Glue Studio’s job run dashboard to monitor ETL execution and ensure that your jobs are operating as intended.</a:t>
            </a:r>
          </a:p>
        </p:txBody>
      </p:sp>
    </p:spTree>
  </p:cSld>
  <p:clrMapOvr>
    <a:masterClrMapping/>
  </p:clrMapOvr>
</p:sld>
</file>

<file path=ppt/slides/slide4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hlinkClick r:id="rId2"/>
              </a:rPr>
              <a:t>You now can use AWS CloudTrail to log Amazon DynamoDB Streams data-plane API activity</a:t>
            </a:r>
          </a:p>
        </p:txBody>
      </p:sp>
      <p:sp>
        <p:nvSpPr>
          <p:cNvPr id="3" name="Content Placeholder 2"/>
          <p:cNvSpPr>
            <a:spLocks noGrp="1"/>
          </p:cNvSpPr>
          <p:nvPr>
            <p:ph sz="half" idx="1"/>
          </p:nvPr>
        </p:nvSpPr>
        <p:spPr/>
        <p:txBody>
          <a:bodyPr/>
          <a:lstStyle/>
          <a:p>
            <a:r>
              <a:rPr dirty="0"/>
              <a:t>20 Apr</a:t>
            </a:r>
          </a:p>
          <a:p>
            <a:endParaRPr dirty="0"/>
          </a:p>
          <a:p>
            <a:r>
              <a:rPr dirty="0"/>
              <a:t>You now can use AWS CloudTrail  to log Amazon DynamoDB Streams  data-plane APIs—</a:t>
            </a:r>
            <a:r>
              <a:rPr dirty="0" err="1"/>
              <a:t>GetRecords</a:t>
            </a:r>
            <a:r>
              <a:rPr dirty="0"/>
              <a:t> and </a:t>
            </a:r>
            <a:r>
              <a:rPr dirty="0" err="1"/>
              <a:t>GetShardIterator</a:t>
            </a:r>
            <a:r>
              <a:rPr dirty="0"/>
              <a:t>—to monitor and investigate item-level changes in your DynamoDB tables. Previously, you could use CloudTrail to log DynamoDB Streams control-plane activity (and not data-plane activity) on your DynamoDB tables.</a:t>
            </a:r>
          </a:p>
        </p:txBody>
      </p:sp>
    </p:spTree>
  </p:cSld>
  <p:clrMapOvr>
    <a:masterClrMapping/>
  </p:clrMapOvr>
</p:sld>
</file>

<file path=ppt/slides/slide4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Announcing general availability of Amazon Athena ML powered by Amazon SageMaker</a:t>
            </a:r>
          </a:p>
        </p:txBody>
      </p:sp>
      <p:sp>
        <p:nvSpPr>
          <p:cNvPr id="3" name="Content Placeholder 2"/>
          <p:cNvSpPr>
            <a:spLocks noGrp="1"/>
          </p:cNvSpPr>
          <p:nvPr>
            <p:ph sz="half" idx="1"/>
          </p:nvPr>
        </p:nvSpPr>
        <p:spPr/>
        <p:txBody>
          <a:bodyPr/>
          <a:lstStyle/>
          <a:p>
            <a:r>
              <a:t>20 Apr</a:t>
            </a:r>
          </a:p>
          <a:p>
            <a:endParaRPr/>
          </a:p>
          <a:p>
            <a:r>
              <a:t>Today, Amazon Athena announced the general availability of a new capability that makes working with machine learning models as simple as running a SQL query. You can now build and deploy machine learning models in Amazon SageMaker and use SQL functions in Amazon Athena to generate predictions from your SageMaker models. This enables analytics teams to make model-driven insights available to business users and analysts without the need for specialized tools and infrastructure.</a:t>
            </a:r>
          </a:p>
        </p:txBody>
      </p:sp>
    </p:spTree>
  </p:cSld>
  <p:clrMapOvr>
    <a:masterClrMapping/>
  </p:clrMapOvr>
</p:sld>
</file>

<file path=ppt/slides/slide4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New AWS Solutions Consulting Offer - IoT Resource Monitoring Framework</a:t>
            </a:r>
          </a:p>
        </p:txBody>
      </p:sp>
      <p:sp>
        <p:nvSpPr>
          <p:cNvPr id="3" name="Content Placeholder 2"/>
          <p:cNvSpPr>
            <a:spLocks noGrp="1"/>
          </p:cNvSpPr>
          <p:nvPr>
            <p:ph sz="half" idx="1"/>
          </p:nvPr>
        </p:nvSpPr>
        <p:spPr/>
        <p:txBody>
          <a:bodyPr/>
          <a:lstStyle/>
          <a:p>
            <a:r>
              <a:t>19 Apr</a:t>
            </a:r>
          </a:p>
          <a:p>
            <a:endParaRPr/>
          </a:p>
          <a:p>
            <a:r>
              <a:t>IoT Resource Monitoring Framework is an AWS Solutions Consulting Offer delivered via a consulting engagement from Trek10, an AWS IoT Competency Partner. IoT Resource Monitoring Framework gives companies clear and constant visibility into their IoT device and backend operations from a single pane. Customers that request this consulting offer will participate in an engagement that delivers a discovery session, AWS infrastructure deployment, a dashboard with monitors and alerts, and an application design document.</a:t>
            </a:r>
          </a:p>
        </p:txBody>
      </p:sp>
    </p:spTree>
  </p:cSld>
  <p:clrMapOvr>
    <a:masterClrMapping/>
  </p:clrMapOvr>
</p:sld>
</file>

<file path=ppt/slides/slide4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Introducing Machine to Cloud Connectivity Framework v2.2</a:t>
            </a:r>
          </a:p>
        </p:txBody>
      </p:sp>
      <p:sp>
        <p:nvSpPr>
          <p:cNvPr id="3" name="Content Placeholder 2"/>
          <p:cNvSpPr>
            <a:spLocks noGrp="1"/>
          </p:cNvSpPr>
          <p:nvPr>
            <p:ph sz="half" idx="1"/>
          </p:nvPr>
        </p:nvSpPr>
        <p:spPr/>
        <p:txBody>
          <a:bodyPr/>
          <a:lstStyle/>
          <a:p>
            <a:r>
              <a:t>19 Apr</a:t>
            </a:r>
          </a:p>
          <a:p>
            <a:endParaRPr/>
          </a:p>
          <a:p>
            <a:r>
              <a:t>The AWS Solutions team recently updated Machine to Cloud Connectivity Framework, a solution that provides secure factory equipment connectivity to the AWS Cloud. This solution is a framework to send equipment telemetry data to your AWS account, allowing you to leverage AWS Services to conduct analysis on your equipment data instead of managing underlying infrastructure operations. The solution currently allows for robust data ingestion using either the OPC Data Access (OPC DA) protocol or the CC-Link Partner Association (CLPA) Seamless Messaging Protocol (SLMP). Support for OPC Unified Access (OPC UA) protocol will follow in the next release. </a:t>
            </a:r>
          </a:p>
        </p:txBody>
      </p:sp>
    </p:spTree>
  </p:cSld>
  <p:clrMapOvr>
    <a:masterClrMapping/>
  </p:clrMapOvr>
</p:sld>
</file>

<file path=ppt/slides/slide4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hlinkClick r:id="rId2"/>
              </a:rPr>
              <a:t>AWS Amplify now orchestrates multiple Amazon DynamoDB GSI updates in a single deployment</a:t>
            </a:r>
          </a:p>
        </p:txBody>
      </p:sp>
      <p:sp>
        <p:nvSpPr>
          <p:cNvPr id="3" name="Content Placeholder 2"/>
          <p:cNvSpPr>
            <a:spLocks noGrp="1"/>
          </p:cNvSpPr>
          <p:nvPr>
            <p:ph sz="half" idx="1"/>
          </p:nvPr>
        </p:nvSpPr>
        <p:spPr/>
        <p:txBody>
          <a:bodyPr/>
          <a:lstStyle/>
          <a:p>
            <a:r>
              <a:rPr dirty="0"/>
              <a:t>19 Apr</a:t>
            </a:r>
          </a:p>
          <a:p>
            <a:endParaRPr dirty="0"/>
          </a:p>
          <a:p>
            <a:r>
              <a:rPr dirty="0"/>
              <a:t>The Amplify CLI now gives developers the ability to make multiple global secondary index (GSI) updates to their Amazon DynamoDB tables in a single deployment, enabling faster and safer data model iterations. AWS Amplify CLI is a command line toolchain that helps frontend web and mobile developers create cloud backends and connect them to their app for common use cases, like managing app data using AWS AppSync and Amazon DynamoDB.  </a:t>
            </a:r>
          </a:p>
        </p:txBody>
      </p:sp>
    </p:spTree>
  </p:cSld>
  <p:clrMapOvr>
    <a:masterClrMapping/>
  </p:clrMapOvr>
</p:sld>
</file>

<file path=ppt/slides/slide4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Control Tower now provides configurable naming during Landing Zone setup</a:t>
            </a:r>
          </a:p>
        </p:txBody>
      </p:sp>
      <p:sp>
        <p:nvSpPr>
          <p:cNvPr id="3" name="Content Placeholder 2"/>
          <p:cNvSpPr>
            <a:spLocks noGrp="1"/>
          </p:cNvSpPr>
          <p:nvPr>
            <p:ph sz="half" idx="1"/>
          </p:nvPr>
        </p:nvSpPr>
        <p:spPr/>
        <p:txBody>
          <a:bodyPr/>
          <a:lstStyle/>
          <a:p>
            <a:r>
              <a:t>19 Apr</a:t>
            </a:r>
          </a:p>
          <a:p>
            <a:endParaRPr/>
          </a:p>
          <a:p>
            <a:r>
              <a:t>Today, we are announcing new functionality in AWS Control Tower that provides you the ability to customize your landing zone naming. You can retain the names that AWS Control Tower recommends for the organizational units (OUs) and core accounts, or you can modify these names during the initial landing zone set up process.</a:t>
            </a:r>
          </a:p>
        </p:txBody>
      </p:sp>
    </p:spTree>
  </p:cSld>
  <p:clrMapOvr>
    <a:masterClrMapping/>
  </p:clrMapOvr>
</p:sld>
</file>

<file path=ppt/slides/slide4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User Defined Functions (UDF) are now generally available for Amazon Athena</a:t>
            </a:r>
          </a:p>
        </p:txBody>
      </p:sp>
      <p:sp>
        <p:nvSpPr>
          <p:cNvPr id="3" name="Content Placeholder 2"/>
          <p:cNvSpPr>
            <a:spLocks noGrp="1"/>
          </p:cNvSpPr>
          <p:nvPr>
            <p:ph sz="half" idx="1"/>
          </p:nvPr>
        </p:nvSpPr>
        <p:spPr/>
        <p:txBody>
          <a:bodyPr/>
          <a:lstStyle/>
          <a:p>
            <a:r>
              <a:t>16 Apr</a:t>
            </a:r>
          </a:p>
          <a:p>
            <a:endParaRPr/>
          </a:p>
          <a:p>
            <a:r>
              <a:t>User Defined Functions (UDF), which enable users to apply custom operations to their data, are now generally available for Amazon Athena. While Athena provides a wide range of built-in functions, users can extend these capabilities with their own functions and use them directly within their queries. This allows users to address specific use cases, such as redacting or encrypting sensitive data, without the need for complex data processing steps elsewhere in their data pipeline.</a:t>
            </a:r>
          </a:p>
        </p:txBody>
      </p:sp>
    </p:spTree>
  </p:cSld>
  <p:clrMapOvr>
    <a:masterClrMapping/>
  </p:clrMapOvr>
</p:sld>
</file>

<file path=ppt/slides/slide4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Backup extends centralized backup management support for Amazon FSx to five additional AWS Regions</a:t>
            </a:r>
          </a:p>
        </p:txBody>
      </p:sp>
      <p:sp>
        <p:nvSpPr>
          <p:cNvPr id="3" name="Content Placeholder 2"/>
          <p:cNvSpPr>
            <a:spLocks noGrp="1"/>
          </p:cNvSpPr>
          <p:nvPr>
            <p:ph sz="half" idx="1"/>
          </p:nvPr>
        </p:nvSpPr>
        <p:spPr/>
        <p:txBody>
          <a:bodyPr/>
          <a:lstStyle/>
          <a:p>
            <a:r>
              <a:t>16 Apr</a:t>
            </a:r>
          </a:p>
          <a:p>
            <a:endParaRPr/>
          </a:p>
          <a:p>
            <a:r>
              <a:t>AWS Backup extends centralized backup management for Amazon FSx to AWS Europe (Milan), AWS Africa (Cape Town), AWS Middle East (Bahrain), and AWS GovCloud (US) Regions. You can create, manage, and restore your Amazon FSx backups directly from AWS Backup. AWS Backup support for Amazon FSx file systems includes Amazon FSx for Windows File Server and Amazon FSx for Lustre file systems.  </a:t>
            </a:r>
          </a:p>
        </p:txBody>
      </p:sp>
    </p:spTree>
  </p:cSld>
  <p:clrMapOvr>
    <a:masterClrMapping/>
  </p:clrMapOvr>
</p:sld>
</file>

<file path=ppt/slides/slide4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Pinpoint is now FedRAMP High Compliant</a:t>
            </a:r>
          </a:p>
        </p:txBody>
      </p:sp>
      <p:sp>
        <p:nvSpPr>
          <p:cNvPr id="3" name="Content Placeholder 2"/>
          <p:cNvSpPr>
            <a:spLocks noGrp="1"/>
          </p:cNvSpPr>
          <p:nvPr>
            <p:ph sz="half" idx="1"/>
          </p:nvPr>
        </p:nvSpPr>
        <p:spPr/>
        <p:txBody>
          <a:bodyPr/>
          <a:lstStyle/>
          <a:p>
            <a:r>
              <a:t>16 Apr</a:t>
            </a:r>
          </a:p>
          <a:p>
            <a:endParaRPr/>
          </a:p>
          <a:p>
            <a:r>
              <a:t>Amazon Pinpoint is now authorized as FedRAMP High in the AWS GovCloud (US-West) Region. This service is also approved as Department of Defense Cloud Computing Security Requirements Guide Impact Level 2 (DoD SRG IL-2) in this Region.</a:t>
            </a:r>
          </a:p>
        </p:txBody>
      </p:sp>
    </p:spTree>
  </p:cSld>
  <p:clrMapOvr>
    <a:masterClrMapping/>
  </p:clrMapOvr>
</p:sld>
</file>

<file path=ppt/slides/slide4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You can now use macros and transforms in CloudFormation templates to create AWS CloudFormation StackSets</a:t>
            </a:r>
          </a:p>
        </p:txBody>
      </p:sp>
      <p:sp>
        <p:nvSpPr>
          <p:cNvPr id="3" name="Content Placeholder 2"/>
          <p:cNvSpPr>
            <a:spLocks noGrp="1"/>
          </p:cNvSpPr>
          <p:nvPr>
            <p:ph sz="half" idx="1"/>
          </p:nvPr>
        </p:nvSpPr>
        <p:spPr/>
        <p:txBody>
          <a:bodyPr/>
          <a:lstStyle/>
          <a:p>
            <a:r>
              <a:t>16 Apr</a:t>
            </a:r>
          </a:p>
          <a:p>
            <a:endParaRPr/>
          </a:p>
          <a:p>
            <a:r>
              <a:t>AWS CloudFormation StackSets  extend the functionality of stacks by enabling you to create, update, or delete stacks across multiple AWS accounts and Regions with a single operation. We are now announcing the support for CloudFormation Macros and transforms in templates that are used to create a stack set. AWS CloudFormation macros  perform custom processing on CloudFormation templates from simple actions such as find-and-replace, to helping transform the entire template. CloudFormation macros use the same technology that powers AWS::Include  and AWS::Serverless  transforms. CloudFormation transforms help simplify template authoring by condensing the expression of AWS infrastructure as code and enabling reuse of template components.</a:t>
            </a:r>
          </a:p>
        </p:txBody>
      </p:sp>
    </p:spTree>
  </p:cSld>
  <p:clrMapOvr>
    <a:masterClrMapping/>
  </p:clrMapOvr>
</p:sld>
</file>

<file path=ppt/slides/slide4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Managed Service for Grafana now supports Grafana Enterprise upgrade, Grafana version 7.5, Open Distro for Elasticsearch integration, and AWS Billing reports</a:t>
            </a:r>
          </a:p>
        </p:txBody>
      </p:sp>
      <p:sp>
        <p:nvSpPr>
          <p:cNvPr id="3" name="Content Placeholder 2"/>
          <p:cNvSpPr>
            <a:spLocks noGrp="1"/>
          </p:cNvSpPr>
          <p:nvPr>
            <p:ph sz="half" idx="1"/>
          </p:nvPr>
        </p:nvSpPr>
        <p:spPr/>
        <p:txBody>
          <a:bodyPr/>
          <a:lstStyle/>
          <a:p>
            <a:r>
              <a:t>16 Apr</a:t>
            </a:r>
          </a:p>
          <a:p>
            <a:endParaRPr/>
          </a:p>
          <a:p>
            <a:r>
              <a:t>Amazon Managed Service for Grafana (AMG) is a fully managed service that manages the provisioning, setup, scaling, and maintenance of Grafana servers, eliminating the need for customers to do this themselves. Customers can now upgrade their AMG workspaces to Grafana Enterprise with a 30-day free trial via an AWS Marketplace subscription, enabling access to Enterprise data source plugins  such as ServiceNow, Splunk, and New Relic as well as support, training, and consultation directly from Grafana Labs. AMG now also supports open source Grafana version 7.5, which includes new features such as support for larger Prometheus queries via POST method, Amazon CloudWatch plugin enhancements, AWS X-Ray service map visualization, and many more. The new Open Distro for Elasticsearch data source plugin provides improved log data exploration and visualization for Elasticsearch data stored on Amazon Elasticsearch Service or clusters running Open Distro for Elasticsearch (an Apache 2.0-licensed distribution of Elasticsearch). Additionally, customers will now see their AMG usage and billing information in their AWS Billing and Cost Management console. </a:t>
            </a:r>
          </a:p>
        </p:txBody>
      </p:sp>
    </p:spTree>
  </p:cSld>
  <p:clrMapOvr>
    <a:masterClrMapping/>
  </p:clrMapOvr>
</p:sld>
</file>

<file path=ppt/slides/slide4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New free ML training for business and technical leaders</a:t>
            </a:r>
          </a:p>
        </p:txBody>
      </p:sp>
      <p:sp>
        <p:nvSpPr>
          <p:cNvPr id="3" name="Content Placeholder 2"/>
          <p:cNvSpPr>
            <a:spLocks noGrp="1"/>
          </p:cNvSpPr>
          <p:nvPr>
            <p:ph sz="half" idx="1"/>
          </p:nvPr>
        </p:nvSpPr>
        <p:spPr/>
        <p:txBody>
          <a:bodyPr/>
          <a:lstStyle/>
          <a:p>
            <a:r>
              <a:t>15 Apr</a:t>
            </a:r>
          </a:p>
          <a:p>
            <a:endParaRPr/>
          </a:p>
          <a:p>
            <a:r>
              <a:t>We are excited to announce the launch of Machine Learning Essentials for Business and Technical Decision Makers, a series of three free digital courses. These on-demand courses are designed to help business and technical decision makers without Machine Learning (ML) experience understand ML basics and develop the skills to plan an ML strategy for their organization.</a:t>
            </a:r>
          </a:p>
        </p:txBody>
      </p:sp>
    </p:spTree>
  </p:cSld>
  <p:clrMapOvr>
    <a:masterClrMapping/>
  </p:clrMapOvr>
</p:sld>
</file>

<file path=ppt/slides/slide4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New datasets available in the Registry of Open Data on AWS from United States Geological Survey (USGS), the Swiss Institute of Bioinformatics, iNaturalist.org, and others</a:t>
            </a:r>
          </a:p>
        </p:txBody>
      </p:sp>
      <p:sp>
        <p:nvSpPr>
          <p:cNvPr id="3" name="Content Placeholder 2"/>
          <p:cNvSpPr>
            <a:spLocks noGrp="1"/>
          </p:cNvSpPr>
          <p:nvPr>
            <p:ph sz="half" idx="1"/>
          </p:nvPr>
        </p:nvSpPr>
        <p:spPr/>
        <p:txBody>
          <a:bodyPr/>
          <a:lstStyle/>
          <a:p>
            <a:r>
              <a:t>15 Apr</a:t>
            </a:r>
          </a:p>
          <a:p>
            <a:endParaRPr/>
          </a:p>
          <a:p>
            <a:r>
              <a:t>Twenty eight new or updated datasets from the US Geological Survey, the Swiss Institute of Bioinformatics, iNaturalist.org, National Oceanic and Atmospheric Agency (NOAA), and others are available in the Registry of Open Data on Amazon Web Services (AWS) in the following categories.</a:t>
            </a:r>
          </a:p>
        </p:txBody>
      </p:sp>
    </p:spTree>
  </p:cSld>
  <p:clrMapOvr>
    <a:masterClrMapping/>
  </p:clrMapOvr>
</p:sld>
</file>

<file path=ppt/slides/slide4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MQ for Active MQ is now available in AWS China (Beijing) region, operated by Sinnet and AWS China (Ningxia) region, operated by NWCD</a:t>
            </a:r>
          </a:p>
        </p:txBody>
      </p:sp>
      <p:sp>
        <p:nvSpPr>
          <p:cNvPr id="3" name="Content Placeholder 2"/>
          <p:cNvSpPr>
            <a:spLocks noGrp="1"/>
          </p:cNvSpPr>
          <p:nvPr>
            <p:ph sz="half" idx="1"/>
          </p:nvPr>
        </p:nvSpPr>
        <p:spPr/>
        <p:txBody>
          <a:bodyPr/>
          <a:lstStyle/>
          <a:p>
            <a:r>
              <a:t>15 Apr</a:t>
            </a:r>
          </a:p>
          <a:p>
            <a:endParaRPr/>
          </a:p>
          <a:p>
            <a:r>
              <a:t>Amazon MQ for ActiveMQ  is now available in a total of 22 regions, with the addition of the Amazon Web Services China (Beijing) region, operated by Sinnet and Amazon Web Services China (Ningxia) region, operated by NWCD.</a:t>
            </a:r>
          </a:p>
        </p:txBody>
      </p:sp>
    </p:spTree>
  </p:cSld>
  <p:clrMapOvr>
    <a:masterClrMapping/>
  </p:clrMapOvr>
</p:sld>
</file>

<file path=ppt/slides/slide4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Security Hub Automated Response &amp; Remediation Solution adds support for AWS Foundational Security Best Practices standard</a:t>
            </a:r>
          </a:p>
        </p:txBody>
      </p:sp>
      <p:sp>
        <p:nvSpPr>
          <p:cNvPr id="3" name="Content Placeholder 2"/>
          <p:cNvSpPr>
            <a:spLocks noGrp="1"/>
          </p:cNvSpPr>
          <p:nvPr>
            <p:ph sz="half" idx="1"/>
          </p:nvPr>
        </p:nvSpPr>
        <p:spPr/>
        <p:txBody>
          <a:bodyPr/>
          <a:lstStyle/>
          <a:p>
            <a:r>
              <a:t>15 Apr</a:t>
            </a:r>
          </a:p>
          <a:p>
            <a:endParaRPr/>
          </a:p>
          <a:p>
            <a:r>
              <a:t>AWS Security Hub Automated Response &amp; Remediation solution supports 11 new AWS Foundational Security Best Practices controls .</a:t>
            </a:r>
          </a:p>
        </p:txBody>
      </p:sp>
    </p:spTree>
  </p:cSld>
  <p:clrMapOvr>
    <a:masterClrMapping/>
  </p:clrMapOvr>
</p:sld>
</file>

<file path=ppt/slides/slide4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Macie adds CloudWatch logging for job status and health monitoring of sensitive data discovery jobs</a:t>
            </a:r>
          </a:p>
        </p:txBody>
      </p:sp>
      <p:sp>
        <p:nvSpPr>
          <p:cNvPr id="3" name="Content Placeholder 2"/>
          <p:cNvSpPr>
            <a:spLocks noGrp="1"/>
          </p:cNvSpPr>
          <p:nvPr>
            <p:ph sz="half" idx="1"/>
          </p:nvPr>
        </p:nvSpPr>
        <p:spPr/>
        <p:txBody>
          <a:bodyPr/>
          <a:lstStyle/>
          <a:p>
            <a:r>
              <a:t>15 Apr</a:t>
            </a:r>
          </a:p>
          <a:p>
            <a:endParaRPr/>
          </a:p>
          <a:p>
            <a:r>
              <a:t>Amazon Macie now publishes job status and health logs to CloudWatch, providing you with continuous visibility into operations of your sensitive data discovery jobs to quickly identify, investigate, and address errors.</a:t>
            </a:r>
          </a:p>
        </p:txBody>
      </p:sp>
    </p:spTree>
  </p:cSld>
  <p:clrMapOvr>
    <a:masterClrMapping/>
  </p:clrMapOvr>
</p:sld>
</file>

<file path=ppt/slides/slide4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Now reference latest AWS Systems Manager parameter values in AWS CloudFormation templates without specifying parameter versions</a:t>
            </a:r>
          </a:p>
        </p:txBody>
      </p:sp>
      <p:sp>
        <p:nvSpPr>
          <p:cNvPr id="3" name="Content Placeholder 2"/>
          <p:cNvSpPr>
            <a:spLocks noGrp="1"/>
          </p:cNvSpPr>
          <p:nvPr>
            <p:ph sz="half" idx="1"/>
          </p:nvPr>
        </p:nvSpPr>
        <p:spPr/>
        <p:txBody>
          <a:bodyPr/>
          <a:lstStyle/>
          <a:p>
            <a:r>
              <a:t>15 Apr</a:t>
            </a:r>
          </a:p>
          <a:p>
            <a:endParaRPr/>
          </a:p>
          <a:p>
            <a:r>
              <a:t>AWS CloudFormation enhances the existing dynamic referencing of AWS Systems Manager Parameter Store  parameters in CloudFormation templates. You can now reference the latest Systems Manager parameter values in CloudFormation templates without specifying parameter versions. If you choose not to specify the parameter versions in the template, CloudFormation will automatically fetch the latest parameter values from Parameter Store.  </a:t>
            </a:r>
          </a:p>
        </p:txBody>
      </p:sp>
    </p:spTree>
  </p:cSld>
  <p:clrMapOvr>
    <a:masterClrMapping/>
  </p:clrMapOvr>
</p:sld>
</file>

<file path=ppt/slides/slide4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Ground Station is now available in US East (N. Virginia) and EU (Frankfurt) Regions</a:t>
            </a:r>
          </a:p>
        </p:txBody>
      </p:sp>
      <p:sp>
        <p:nvSpPr>
          <p:cNvPr id="3" name="Content Placeholder 2"/>
          <p:cNvSpPr>
            <a:spLocks noGrp="1"/>
          </p:cNvSpPr>
          <p:nvPr>
            <p:ph sz="half" idx="1"/>
          </p:nvPr>
        </p:nvSpPr>
        <p:spPr/>
        <p:txBody>
          <a:bodyPr/>
          <a:lstStyle/>
          <a:p>
            <a:r>
              <a:t>15 Apr</a:t>
            </a:r>
          </a:p>
          <a:p>
            <a:endParaRPr/>
          </a:p>
          <a:p>
            <a:r>
              <a:t>Amazon Web Services (AWS) announces expansion of AWS Ground Station to the US East (N. Virginia) and EU (Frankfurt) regions. In these new regions, customers can schedule contacts, and perform command and control of their satellites on orbit.</a:t>
            </a:r>
          </a:p>
        </p:txBody>
      </p:sp>
    </p:spTree>
  </p:cSld>
  <p:clrMapOvr>
    <a:masterClrMapping/>
  </p:clrMapOvr>
</p:sld>
</file>

<file path=ppt/slides/slide4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Data Exchange launches post-subscription wizard to configure revision exports to Amazon S3</a:t>
            </a:r>
          </a:p>
        </p:txBody>
      </p:sp>
      <p:sp>
        <p:nvSpPr>
          <p:cNvPr id="3" name="Content Placeholder 2"/>
          <p:cNvSpPr>
            <a:spLocks noGrp="1"/>
          </p:cNvSpPr>
          <p:nvPr>
            <p:ph sz="half" idx="1"/>
          </p:nvPr>
        </p:nvSpPr>
        <p:spPr/>
        <p:txBody>
          <a:bodyPr/>
          <a:lstStyle/>
          <a:p>
            <a:r>
              <a:t>15 Apr</a:t>
            </a:r>
          </a:p>
          <a:p>
            <a:endParaRPr/>
          </a:p>
          <a:p>
            <a:r>
              <a:t>AWS Data Exchange now gives customers an easy way to set up export jobs upon subscribing to products. Instead of navigating to separate screens, subscribers can use the AWS Data Exchange console to configure export jobs that will begin automatically after their subscription is completed. This functionality reduces friction and time to value for customers. For subscribers just getting started on AWS Data Exchange, setting up data exports to Amazon S3 is a critical first step towards downstream analysis in a variety of AWS services.</a:t>
            </a:r>
          </a:p>
        </p:txBody>
      </p:sp>
    </p:spTree>
  </p:cSld>
  <p:clrMapOvr>
    <a:masterClrMapping/>
  </p:clrMapOvr>
</p:sld>
</file>

<file path=ppt/slides/slide4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Elasticsearch Service now supports integration with Microsoft Power BI</a:t>
            </a:r>
          </a:p>
        </p:txBody>
      </p:sp>
      <p:sp>
        <p:nvSpPr>
          <p:cNvPr id="3" name="Content Placeholder 2"/>
          <p:cNvSpPr>
            <a:spLocks noGrp="1"/>
          </p:cNvSpPr>
          <p:nvPr>
            <p:ph sz="half" idx="1"/>
          </p:nvPr>
        </p:nvSpPr>
        <p:spPr/>
        <p:txBody>
          <a:bodyPr/>
          <a:lstStyle/>
          <a:p>
            <a:r>
              <a:t>15 Apr</a:t>
            </a:r>
          </a:p>
          <a:p>
            <a:endParaRPr/>
          </a:p>
          <a:p>
            <a:r>
              <a:t>Amazon Elasticsearch Service now supports integrating with Microsoft Power BI , a business analytics service that delivers insights to enable fast, informed decisions. Powered by the Open Distro for Elasticsearch ODBC Driver  you can now integrate your Microsoft Power BI environment with you Amazon Elasticsearch Service domains using the Open Distro for Elasticsearch SQL Engine.</a:t>
            </a:r>
          </a:p>
        </p:txBody>
      </p:sp>
    </p:spTree>
  </p:cSld>
  <p:clrMapOvr>
    <a:masterClrMapping/>
  </p:clrMapOvr>
</p:sld>
</file>

<file path=ppt/slides/slide4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RDS for PostgreSQL Supports pg_bigm extension for faster full text search</a:t>
            </a:r>
          </a:p>
        </p:txBody>
      </p:sp>
      <p:sp>
        <p:nvSpPr>
          <p:cNvPr id="3" name="Content Placeholder 2"/>
          <p:cNvSpPr>
            <a:spLocks noGrp="1"/>
          </p:cNvSpPr>
          <p:nvPr>
            <p:ph sz="half" idx="1"/>
          </p:nvPr>
        </p:nvSpPr>
        <p:spPr/>
        <p:txBody>
          <a:bodyPr/>
          <a:lstStyle/>
          <a:p>
            <a:r>
              <a:t>15 Apr</a:t>
            </a:r>
          </a:p>
          <a:p>
            <a:endParaRPr/>
          </a:p>
          <a:p>
            <a:r>
              <a:t>Amazon RDS for PostgreSQL adds support for the pg_bigm  extension for faster full text search of languages that require multi-byte character sets such as Japanese, Chinese, and Korean.</a:t>
            </a:r>
          </a:p>
        </p:txBody>
      </p:sp>
    </p:spTree>
  </p:cSld>
  <p:clrMapOvr>
    <a:masterClrMapping/>
  </p:clrMapOvr>
</p:sld>
</file>

<file path=ppt/slides/slide4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Network Firewall is now available in Asia Pacific (Mumbai), Asia Pacific (Singapore), and EU (London)</a:t>
            </a:r>
          </a:p>
        </p:txBody>
      </p:sp>
      <p:sp>
        <p:nvSpPr>
          <p:cNvPr id="3" name="Content Placeholder 2"/>
          <p:cNvSpPr>
            <a:spLocks noGrp="1"/>
          </p:cNvSpPr>
          <p:nvPr>
            <p:ph sz="half" idx="1"/>
          </p:nvPr>
        </p:nvSpPr>
        <p:spPr/>
        <p:txBody>
          <a:bodyPr/>
          <a:lstStyle/>
          <a:p>
            <a:r>
              <a:t>15 Apr</a:t>
            </a:r>
          </a:p>
          <a:p>
            <a:endParaRPr/>
          </a:p>
          <a:p>
            <a:r>
              <a:t>Starting today, AWS Network Firewall is now available in Asia Pacific (Mumbai), Asia Pacific (Singapore), and EU (London) regions.</a:t>
            </a:r>
          </a:p>
        </p:txBody>
      </p:sp>
    </p:spTree>
  </p:cSld>
  <p:clrMapOvr>
    <a:masterClrMapping/>
  </p:clrMapOvr>
</p:sld>
</file>

<file path=ppt/slides/slide4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Connect allows contact center managers to configure agent settings in a custom Contact Control Panel (CCP)</a:t>
            </a:r>
          </a:p>
        </p:txBody>
      </p:sp>
      <p:sp>
        <p:nvSpPr>
          <p:cNvPr id="3" name="Content Placeholder 2"/>
          <p:cNvSpPr>
            <a:spLocks noGrp="1"/>
          </p:cNvSpPr>
          <p:nvPr>
            <p:ph sz="half" idx="1"/>
          </p:nvPr>
        </p:nvSpPr>
        <p:spPr/>
        <p:txBody>
          <a:bodyPr/>
          <a:lstStyle/>
          <a:p>
            <a:r>
              <a:t>14 Apr</a:t>
            </a:r>
          </a:p>
          <a:p>
            <a:endParaRPr/>
          </a:p>
          <a:p>
            <a:r>
              <a:t>Amazon Connect now gives contact center managers the ability to change the visibility of the options that appear on the Settings page of the Contact Control Panel (CCP) when using the the Amazon Connect Streams API. For example, contact center managers may want to hide the “Phone Type” setting to prevent users from selecting a phone type that might increase costs or go against company policy. Alternatively, contact center managers can make the new “Audio Device” setting visible , which allows agents to select which speaker, microphone, and ringer device they want to use. This enables agents to complete work away from their computer and still hear the inbound ringtone through the speaker when contacts come in.</a:t>
            </a:r>
          </a:p>
        </p:txBody>
      </p:sp>
    </p:spTree>
  </p:cSld>
  <p:clrMapOvr>
    <a:masterClrMapping/>
  </p:clrMapOvr>
</p:sld>
</file>

<file path=ppt/slides/slide4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Connect launches audio device settings for the custom Contact Control Panel (CCP)</a:t>
            </a:r>
          </a:p>
        </p:txBody>
      </p:sp>
      <p:sp>
        <p:nvSpPr>
          <p:cNvPr id="3" name="Content Placeholder 2"/>
          <p:cNvSpPr>
            <a:spLocks noGrp="1"/>
          </p:cNvSpPr>
          <p:nvPr>
            <p:ph sz="half" idx="1"/>
          </p:nvPr>
        </p:nvSpPr>
        <p:spPr/>
        <p:txBody>
          <a:bodyPr/>
          <a:lstStyle/>
          <a:p>
            <a:r>
              <a:t>14 Apr</a:t>
            </a:r>
          </a:p>
          <a:p>
            <a:endParaRPr/>
          </a:p>
          <a:p>
            <a:r>
              <a:t>Amazon Connect now allows agents to select which speaker, microphone, and ringer device to use in the Contact Control Panel (CCP). For example, agents can change the ringer device from their headset to their speaker if they need to step away from their desk. Then, when a call comes in, the agent will hear the ring from speakers even if they are away from their computer.</a:t>
            </a:r>
          </a:p>
        </p:txBody>
      </p:sp>
    </p:spTree>
  </p:cSld>
  <p:clrMapOvr>
    <a:masterClrMapping/>
  </p:clrMapOvr>
</p:sld>
</file>

<file path=ppt/slides/slide4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Storage Gateway achieves FedRAMP Moderate compliance</a:t>
            </a:r>
          </a:p>
        </p:txBody>
      </p:sp>
      <p:sp>
        <p:nvSpPr>
          <p:cNvPr id="3" name="Content Placeholder 2"/>
          <p:cNvSpPr>
            <a:spLocks noGrp="1"/>
          </p:cNvSpPr>
          <p:nvPr>
            <p:ph sz="half" idx="1"/>
          </p:nvPr>
        </p:nvSpPr>
        <p:spPr/>
        <p:txBody>
          <a:bodyPr/>
          <a:lstStyle/>
          <a:p>
            <a:r>
              <a:t>14 Apr</a:t>
            </a:r>
          </a:p>
          <a:p>
            <a:endParaRPr/>
          </a:p>
          <a:p>
            <a:r>
              <a:t>AWS Storage Gateway has achieved Federal Risk and Authorization Management Program (FedRAMP) Moderate authorization, approved by the FedRAMP Joint Authorization Board (JAB), for the AWS US East (N. Virginia), US East (Ohio), US West (N. California), US West (Oregon) Regions. You can use AWS Storage Gateway to store and manage your critical data in AWS with up to the Moderate impact level.</a:t>
            </a:r>
          </a:p>
        </p:txBody>
      </p:sp>
    </p:spTree>
  </p:cSld>
  <p:clrMapOvr>
    <a:masterClrMapping/>
  </p:clrMapOvr>
</p:sld>
</file>

<file path=ppt/slides/slide4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announces general availability of AQUA for Amazon Redshift</a:t>
            </a:r>
          </a:p>
        </p:txBody>
      </p:sp>
      <p:sp>
        <p:nvSpPr>
          <p:cNvPr id="3" name="Content Placeholder 2"/>
          <p:cNvSpPr>
            <a:spLocks noGrp="1"/>
          </p:cNvSpPr>
          <p:nvPr>
            <p:ph sz="half" idx="1"/>
          </p:nvPr>
        </p:nvSpPr>
        <p:spPr/>
        <p:txBody>
          <a:bodyPr/>
          <a:lstStyle/>
          <a:p>
            <a:r>
              <a:t>14 Apr</a:t>
            </a:r>
          </a:p>
          <a:p>
            <a:endParaRPr/>
          </a:p>
          <a:p>
            <a:r>
              <a:t>AQUA (Advanced Query Accelerator) for Amazon Redshift is generally available now. AQUA provides a new distributed and hardware accelerated cache that brings compute to the storage layer for Amazon Redshift and delivers up to 10x faster query performance than other enterprise cloud data warehouses.</a:t>
            </a:r>
          </a:p>
        </p:txBody>
      </p:sp>
    </p:spTree>
  </p:cSld>
  <p:clrMapOvr>
    <a:masterClrMapping/>
  </p:clrMapOvr>
</p:sld>
</file>

<file path=ppt/slides/slide4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CloudShell is now available in the Asia Pacific (Mumbai), Asia Pacific (Sydney), and Europe (Frankfurt) regions</a:t>
            </a:r>
          </a:p>
        </p:txBody>
      </p:sp>
      <p:sp>
        <p:nvSpPr>
          <p:cNvPr id="3" name="Content Placeholder 2"/>
          <p:cNvSpPr>
            <a:spLocks noGrp="1"/>
          </p:cNvSpPr>
          <p:nvPr>
            <p:ph sz="half" idx="1"/>
          </p:nvPr>
        </p:nvSpPr>
        <p:spPr/>
        <p:txBody>
          <a:bodyPr/>
          <a:lstStyle/>
          <a:p>
            <a:r>
              <a:t>14 Apr</a:t>
            </a:r>
          </a:p>
          <a:p>
            <a:endParaRPr/>
          </a:p>
          <a:p>
            <a:r>
              <a:t>AWS CloudShell is now generally available in the Asia Pacific (Mumbai), Asia Pacific (Sydney), and Europe (Frankfurt) regions.</a:t>
            </a:r>
          </a:p>
        </p:txBody>
      </p:sp>
    </p:spTree>
  </p:cSld>
  <p:clrMapOvr>
    <a:masterClrMapping/>
  </p:clrMapOvr>
</p:sld>
</file>

<file path=ppt/slides/slide4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Now Use Tags to Track and Allocate Amazon SageMaker Studio Notebooks Costs</a:t>
            </a:r>
          </a:p>
        </p:txBody>
      </p:sp>
      <p:sp>
        <p:nvSpPr>
          <p:cNvPr id="3" name="Content Placeholder 2"/>
          <p:cNvSpPr>
            <a:spLocks noGrp="1"/>
          </p:cNvSpPr>
          <p:nvPr>
            <p:ph sz="half" idx="1"/>
          </p:nvPr>
        </p:nvSpPr>
        <p:spPr/>
        <p:txBody>
          <a:bodyPr/>
          <a:lstStyle/>
          <a:p>
            <a:r>
              <a:t>14 Apr</a:t>
            </a:r>
          </a:p>
          <a:p>
            <a:endParaRPr/>
          </a:p>
          <a:p>
            <a:r>
              <a:t>Amazon SageMaker Studio is the first fully integrated development environment (IDE) for machine learning (ML). SageMaker Studio provides a single, web-based visual interface where you can perform all ML development steps required to prepare data, as well as build, train, and deploy models. With a single click, data scientists and ML developers can quickly spin up SageMaker Studio Notebooks  for exploring datasets and building models. Now you can use custom resource tags to track and categorize the costs of SageMaker Studio Notebooks by users, groups, lines of businesses, or cost centers.  </a:t>
            </a:r>
          </a:p>
        </p:txBody>
      </p:sp>
    </p:spTree>
  </p:cSld>
  <p:clrMapOvr>
    <a:masterClrMapping/>
  </p:clrMapOvr>
</p:sld>
</file>

<file path=ppt/slides/slide4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CodeArtifact is now available in Paris, London, and Milan</a:t>
            </a:r>
          </a:p>
        </p:txBody>
      </p:sp>
      <p:sp>
        <p:nvSpPr>
          <p:cNvPr id="3" name="Content Placeholder 2"/>
          <p:cNvSpPr>
            <a:spLocks noGrp="1"/>
          </p:cNvSpPr>
          <p:nvPr>
            <p:ph sz="half" idx="1"/>
          </p:nvPr>
        </p:nvSpPr>
        <p:spPr/>
        <p:txBody>
          <a:bodyPr/>
          <a:lstStyle/>
          <a:p>
            <a:r>
              <a:t>14 Apr</a:t>
            </a:r>
          </a:p>
          <a:p>
            <a:endParaRPr/>
          </a:p>
          <a:p>
            <a:r>
              <a:t>Starting today, AWS CodeArtifact is now available in the Europe (Paris), Europe (London), and Europe (Milan) Regions.</a:t>
            </a:r>
          </a:p>
        </p:txBody>
      </p:sp>
    </p:spTree>
  </p:cSld>
  <p:clrMapOvr>
    <a:masterClrMapping/>
  </p:clrMapOvr>
</p:sld>
</file>

<file path=ppt/slides/slide4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CodeCommit is Now Available in the Asia Pacific (Osaka) Region</a:t>
            </a:r>
          </a:p>
        </p:txBody>
      </p:sp>
      <p:sp>
        <p:nvSpPr>
          <p:cNvPr id="3" name="Content Placeholder 2"/>
          <p:cNvSpPr>
            <a:spLocks noGrp="1"/>
          </p:cNvSpPr>
          <p:nvPr>
            <p:ph sz="half" idx="1"/>
          </p:nvPr>
        </p:nvSpPr>
        <p:spPr/>
        <p:txBody>
          <a:bodyPr/>
          <a:lstStyle/>
          <a:p>
            <a:r>
              <a:t>14 Apr</a:t>
            </a:r>
          </a:p>
          <a:p>
            <a:endParaRPr/>
          </a:p>
          <a:p>
            <a:r>
              <a:t>AWS CodeCommit is now available in the Asia Pacific (Osaka) region. AWS CodeCommit is a secure, highly scalable, managed source control service that hosts private Git repositories. CodeCommit eliminates the need for you to manage your own source control system or worry about scaling its infrastructure. You can use CodeCommit to store anything from code to binaries. It supports the standard functionality of Git, so it works seamlessly with your existing Git-based tools.</a:t>
            </a:r>
          </a:p>
        </p:txBody>
      </p:sp>
    </p:spTree>
  </p:cSld>
  <p:clrMapOvr>
    <a:masterClrMapping/>
  </p:clrMapOvr>
</p:sld>
</file>

<file path=ppt/slides/slide4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RDS for PostgreSQL Integrates with AWS Lambda</a:t>
            </a:r>
          </a:p>
        </p:txBody>
      </p:sp>
      <p:sp>
        <p:nvSpPr>
          <p:cNvPr id="3" name="Content Placeholder 2"/>
          <p:cNvSpPr>
            <a:spLocks noGrp="1"/>
          </p:cNvSpPr>
          <p:nvPr>
            <p:ph sz="half" idx="1"/>
          </p:nvPr>
        </p:nvSpPr>
        <p:spPr/>
        <p:txBody>
          <a:bodyPr/>
          <a:lstStyle/>
          <a:p>
            <a:r>
              <a:t>14 Apr</a:t>
            </a:r>
          </a:p>
          <a:p>
            <a:endParaRPr/>
          </a:p>
          <a:p>
            <a:r>
              <a:t>Amazon RDS for PostgreSQL can now make calls to AWS Lambda functions. AWS Lambda lets you run code without provisioning or managing servers, and without worrying about scalability.</a:t>
            </a:r>
          </a:p>
        </p:txBody>
      </p:sp>
    </p:spTree>
  </p:cSld>
  <p:clrMapOvr>
    <a:masterClrMapping/>
  </p:clrMapOvr>
</p:sld>
</file>

<file path=ppt/slides/slide4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New digital course: Getting Started with Data Analytics on AWS</a:t>
            </a:r>
          </a:p>
        </p:txBody>
      </p:sp>
      <p:sp>
        <p:nvSpPr>
          <p:cNvPr id="3" name="Content Placeholder 2"/>
          <p:cNvSpPr>
            <a:spLocks noGrp="1"/>
          </p:cNvSpPr>
          <p:nvPr>
            <p:ph sz="half" idx="1"/>
          </p:nvPr>
        </p:nvSpPr>
        <p:spPr/>
        <p:txBody>
          <a:bodyPr/>
          <a:lstStyle/>
          <a:p>
            <a:r>
              <a:t>14 Apr</a:t>
            </a:r>
          </a:p>
          <a:p>
            <a:endParaRPr/>
          </a:p>
          <a:p>
            <a:r>
              <a:t>AWS Training and Certification has launched Getting Started with Data Analytics on AWS, a new self-paced digital course available on Coursera and edX. In this one-week course, you’ll learn how to go from raw data to meaningful insights using AWS services such as AWS CloudTrail, Amazon Athena, and Amazon QuickSight. This course is intended for business analysts, business intelligence analysts, data scientists, and SysOps administrators who are new to AWS data and analytics services.</a:t>
            </a:r>
          </a:p>
        </p:txBody>
      </p:sp>
    </p:spTree>
  </p:cSld>
  <p:clrMapOvr>
    <a:masterClrMapping/>
  </p:clrMapOvr>
</p:sld>
</file>

<file path=ppt/slides/slide4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CloudFormation Modules now Provides YAML and Delimiter Support</a:t>
            </a:r>
          </a:p>
        </p:txBody>
      </p:sp>
      <p:sp>
        <p:nvSpPr>
          <p:cNvPr id="3" name="Content Placeholder 2"/>
          <p:cNvSpPr>
            <a:spLocks noGrp="1"/>
          </p:cNvSpPr>
          <p:nvPr>
            <p:ph sz="half" idx="1"/>
          </p:nvPr>
        </p:nvSpPr>
        <p:spPr/>
        <p:txBody>
          <a:bodyPr/>
          <a:lstStyle/>
          <a:p>
            <a:r>
              <a:t>13 Apr</a:t>
            </a:r>
          </a:p>
          <a:p>
            <a:endParaRPr/>
          </a:p>
          <a:p>
            <a:r>
              <a:t>AWS CloudFormation Modules  encapsulate one or more AWS resources and their respective properties for reuse across your organization. Modules make it simple to use the specific resources you need, while keeping resource configurations aligned with organizational best practices. You can now create YAML-formatted Modules in your CloudFormation templates. YAML-formatted Modules follow the same anatomy as existing JSON-formatted Modules. We have also added delimiter support for Modules.</a:t>
            </a:r>
          </a:p>
        </p:txBody>
      </p:sp>
    </p:spTree>
  </p:cSld>
  <p:clrMapOvr>
    <a:masterClrMapping/>
  </p:clrMapOvr>
</p:sld>
</file>

<file path=ppt/slides/slide4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RDS for PostgreSQL supports new minor versions 13.2, 12.6, 11.11, 10.16, 9.6.21, and 9.5.25</a:t>
            </a:r>
          </a:p>
        </p:txBody>
      </p:sp>
      <p:sp>
        <p:nvSpPr>
          <p:cNvPr id="3" name="Content Placeholder 2"/>
          <p:cNvSpPr>
            <a:spLocks noGrp="1"/>
          </p:cNvSpPr>
          <p:nvPr>
            <p:ph sz="half" idx="1"/>
          </p:nvPr>
        </p:nvSpPr>
        <p:spPr/>
        <p:txBody>
          <a:bodyPr/>
          <a:lstStyle/>
          <a:p>
            <a:r>
              <a:t>13 Apr</a:t>
            </a:r>
          </a:p>
          <a:p>
            <a:endParaRPr/>
          </a:p>
          <a:p>
            <a:r>
              <a:t>Following the announcement of updates to the PostgreSQL database , we have updated Amazon RDS for PostgreSQL to support PostgreSQL minor versions 13.2, 12.6, 11.11, 10.16, 9.6.21, and 9.5.25. This release closes security vulnerabilities in PostgreSQL and contains bug fixes and improvements done by the PostgreSQL community. This also includes the final release of PostgreSQL 9.5 .</a:t>
            </a:r>
          </a:p>
        </p:txBody>
      </p:sp>
    </p:spTree>
  </p:cSld>
  <p:clrMapOvr>
    <a:masterClrMapping/>
  </p:clrMapOvr>
</p:sld>
</file>

<file path=ppt/slides/slide4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Updated classroom course: Systems Operations on AWS</a:t>
            </a:r>
          </a:p>
        </p:txBody>
      </p:sp>
      <p:sp>
        <p:nvSpPr>
          <p:cNvPr id="3" name="Content Placeholder 2"/>
          <p:cNvSpPr>
            <a:spLocks noGrp="1"/>
          </p:cNvSpPr>
          <p:nvPr>
            <p:ph sz="half" idx="1"/>
          </p:nvPr>
        </p:nvSpPr>
        <p:spPr/>
        <p:txBody>
          <a:bodyPr/>
          <a:lstStyle/>
          <a:p>
            <a:r>
              <a:t>13 Apr</a:t>
            </a:r>
          </a:p>
          <a:p>
            <a:endParaRPr/>
          </a:p>
          <a:p>
            <a:r>
              <a:t>We are excited to announce the launch of our updated three-day classroom course, Systems Operations on AWS. This course helps you build and demonstrate your skills in configuring, deploying, and troubleshooting your AWS environments.  </a:t>
            </a:r>
          </a:p>
        </p:txBody>
      </p:sp>
    </p:spTree>
  </p:cSld>
  <p:clrMapOvr>
    <a:masterClrMapping/>
  </p:clrMapOvr>
</p:sld>
</file>

<file path=ppt/slides/slide4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Batch increases job scheduling and EC2 instance scaling performance</a:t>
            </a:r>
          </a:p>
        </p:txBody>
      </p:sp>
      <p:sp>
        <p:nvSpPr>
          <p:cNvPr id="3" name="Content Placeholder 2"/>
          <p:cNvSpPr>
            <a:spLocks noGrp="1"/>
          </p:cNvSpPr>
          <p:nvPr>
            <p:ph sz="half" idx="1"/>
          </p:nvPr>
        </p:nvSpPr>
        <p:spPr/>
        <p:txBody>
          <a:bodyPr/>
          <a:lstStyle/>
          <a:p>
            <a:r>
              <a:t>13 Apr</a:t>
            </a:r>
          </a:p>
          <a:p>
            <a:endParaRPr/>
          </a:p>
          <a:p>
            <a:r>
              <a:t>AWS Batch has increased a variety of performance characteristics, including job scheduling speed for EC2 Compute Environments, EC2 instance scaling reactivity, and most AWS Batch APIs.</a:t>
            </a:r>
          </a:p>
        </p:txBody>
      </p:sp>
    </p:spTree>
  </p:cSld>
  <p:clrMapOvr>
    <a:masterClrMapping/>
  </p:clrMapOvr>
</p:sld>
</file>

<file path=ppt/slides/slide4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Identity and Access Management now makes it easier to relate a user's IAM role activity to their corporate identity</a:t>
            </a:r>
          </a:p>
        </p:txBody>
      </p:sp>
      <p:sp>
        <p:nvSpPr>
          <p:cNvPr id="3" name="Content Placeholder 2"/>
          <p:cNvSpPr>
            <a:spLocks noGrp="1"/>
          </p:cNvSpPr>
          <p:nvPr>
            <p:ph sz="half" idx="1"/>
          </p:nvPr>
        </p:nvSpPr>
        <p:spPr/>
        <p:txBody>
          <a:bodyPr/>
          <a:lstStyle/>
          <a:p>
            <a:r>
              <a:t>13 Apr</a:t>
            </a:r>
          </a:p>
          <a:p>
            <a:endParaRPr/>
          </a:p>
          <a:p>
            <a:r>
              <a:t>AWS Identity and Access Management (IAM) now provides the ability to easily identify the user responsible for an AWS action performed while assuming an IAM role. By setting the new source identity attribute , which gets logged in AWS CloudTrail for most actions, you can easily find out who is responsible for actions performed using IAM roles.  </a:t>
            </a:r>
          </a:p>
        </p:txBody>
      </p:sp>
    </p:spTree>
  </p:cSld>
  <p:clrMapOvr>
    <a:masterClrMapping/>
  </p:clrMapOvr>
</p:sld>
</file>

<file path=ppt/slides/slide4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Interactive Video Service adds new Cloudwatch Metrics</a:t>
            </a:r>
          </a:p>
        </p:txBody>
      </p:sp>
      <p:sp>
        <p:nvSpPr>
          <p:cNvPr id="3" name="Content Placeholder 2"/>
          <p:cNvSpPr>
            <a:spLocks noGrp="1"/>
          </p:cNvSpPr>
          <p:nvPr>
            <p:ph sz="half" idx="1"/>
          </p:nvPr>
        </p:nvSpPr>
        <p:spPr/>
        <p:txBody>
          <a:bodyPr/>
          <a:lstStyle/>
          <a:p>
            <a:r>
              <a:t>13 Apr</a:t>
            </a:r>
          </a:p>
          <a:p>
            <a:endParaRPr/>
          </a:p>
          <a:p>
            <a:r>
              <a:t>Today we are announcing the availability of two new Amazon CloudWatch metrics for Amazon Interactive Video Service (Amazon IVS). You can use these metrics to monitor the performance of your live streams. The new ConcurrentStreams metric provides a count of your channels which are streaming live and the new ConcurrentViews metric provides the number of simultaneous views across all your live channels and for any individual channel.  </a:t>
            </a:r>
          </a:p>
        </p:txBody>
      </p:sp>
    </p:spTree>
  </p:cSld>
  <p:clrMapOvr>
    <a:masterClrMapping/>
  </p:clrMapOvr>
</p:sld>
</file>

<file path=ppt/slides/slide4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Console Mobile Application adds support for Asia Pacific (Osaka) region</a:t>
            </a:r>
          </a:p>
        </p:txBody>
      </p:sp>
      <p:sp>
        <p:nvSpPr>
          <p:cNvPr id="3" name="Content Placeholder 2"/>
          <p:cNvSpPr>
            <a:spLocks noGrp="1"/>
          </p:cNvSpPr>
          <p:nvPr>
            <p:ph sz="half" idx="1"/>
          </p:nvPr>
        </p:nvSpPr>
        <p:spPr/>
        <p:txBody>
          <a:bodyPr/>
          <a:lstStyle/>
          <a:p>
            <a:r>
              <a:t>12 Apr</a:t>
            </a:r>
          </a:p>
          <a:p>
            <a:endParaRPr/>
          </a:p>
          <a:p>
            <a:r>
              <a:t>AWS Console Mobile Application users can now use Asia Pacific (Osaka) region on the Console mobile app.</a:t>
            </a:r>
          </a:p>
        </p:txBody>
      </p:sp>
    </p:spTree>
  </p:cSld>
  <p:clrMapOvr>
    <a:masterClrMapping/>
  </p:clrMapOvr>
</p:sld>
</file>

<file path=ppt/slides/slide4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Redshift now supports data sharing when producer clusters are paused</a:t>
            </a:r>
          </a:p>
        </p:txBody>
      </p:sp>
      <p:sp>
        <p:nvSpPr>
          <p:cNvPr id="3" name="Content Placeholder 2"/>
          <p:cNvSpPr>
            <a:spLocks noGrp="1"/>
          </p:cNvSpPr>
          <p:nvPr>
            <p:ph sz="half" idx="1"/>
          </p:nvPr>
        </p:nvSpPr>
        <p:spPr/>
        <p:txBody>
          <a:bodyPr/>
          <a:lstStyle/>
          <a:p>
            <a:r>
              <a:t>12 Apr</a:t>
            </a:r>
          </a:p>
          <a:p>
            <a:endParaRPr/>
          </a:p>
          <a:p>
            <a:r>
              <a:t>Amazon Redshift data sharing allows you to share live data across Redshift clusters for read purposes without the complexity and delays associated with data copies and data movement. Redshift already allows you to pause and resume your data sharing consumer clusters on-demand or based on schedule according to your workload demands. With this new capability, producer clusters can also be paused while still allowing data sharing with consumer clusters.  </a:t>
            </a:r>
          </a:p>
        </p:txBody>
      </p:sp>
    </p:spTree>
  </p:cSld>
  <p:clrMapOvr>
    <a:masterClrMapping/>
  </p:clrMapOvr>
</p:sld>
</file>

<file path=ppt/slides/slide4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New digital rewards and racer profile personalization features on the AWS DeepRacer console</a:t>
            </a:r>
          </a:p>
        </p:txBody>
      </p:sp>
      <p:sp>
        <p:nvSpPr>
          <p:cNvPr id="3" name="Content Placeholder 2"/>
          <p:cNvSpPr>
            <a:spLocks noGrp="1"/>
          </p:cNvSpPr>
          <p:nvPr>
            <p:ph sz="half" idx="1"/>
          </p:nvPr>
        </p:nvSpPr>
        <p:spPr/>
        <p:txBody>
          <a:bodyPr/>
          <a:lstStyle/>
          <a:p>
            <a:r>
              <a:t>12 Apr</a:t>
            </a:r>
          </a:p>
          <a:p>
            <a:endParaRPr/>
          </a:p>
          <a:p>
            <a:r>
              <a:t>AWS DeepRacer  is the fastest way to get rolling with machine learning, giving developers the chance to learn ML hands-on with a 1/18th scale autonomous car, 3D virtual racing simulator, and the world’s largest global autonomous car racing league. With the 2021 AWS DeepRacer League  Virtual Circuit now underway, developers have five times more opportunities to win physical prizes, such as exclusive AWS DeepRacer merchandise, AWS DeepRacer Evo devices, and even an expenses paid trip to AWS re:Invent 2021 to compete in the AWS DeepRacer Championship Cup.</a:t>
            </a:r>
          </a:p>
        </p:txBody>
      </p:sp>
    </p:spTree>
  </p:cSld>
  <p:clrMapOvr>
    <a:masterClrMapping/>
  </p:clrMapOvr>
</p:sld>
</file>

<file path=ppt/slides/slide4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RDS for MySQL M6g and R6g instances now available in N. California, Canada, São Paulo, and London regions</a:t>
            </a:r>
          </a:p>
        </p:txBody>
      </p:sp>
      <p:sp>
        <p:nvSpPr>
          <p:cNvPr id="3" name="Content Placeholder 2"/>
          <p:cNvSpPr>
            <a:spLocks noGrp="1"/>
          </p:cNvSpPr>
          <p:nvPr>
            <p:ph sz="half" idx="1"/>
          </p:nvPr>
        </p:nvSpPr>
        <p:spPr/>
        <p:txBody>
          <a:bodyPr/>
          <a:lstStyle/>
          <a:p>
            <a:r>
              <a:t>12 Apr</a:t>
            </a:r>
          </a:p>
          <a:p>
            <a:endParaRPr/>
          </a:p>
          <a:p>
            <a:r>
              <a:t>Amazon Relational Database Service (RDS) for MySQL now supports AWS Graviton2-based (https://aws.amazon.com/ec2/graviton/) database instances in the additional regions of US West (N. California), Canada (Central), South America (São Paulo), and Europe (London). Graviton2 instances provide up to 35% performance improvement and up to 52% price/performance improvement over comparable current generation x86-based instances for RDS open source databases depending on database engine, version, and workload.</a:t>
            </a:r>
          </a:p>
        </p:txBody>
      </p:sp>
    </p:spTree>
  </p:cSld>
  <p:clrMapOvr>
    <a:masterClrMapping/>
  </p:clrMapOvr>
</p:sld>
</file>

<file path=ppt/slides/slide4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NICE DCV releases version 2021.0 with Webcam redirection and printer redirection</a:t>
            </a:r>
          </a:p>
        </p:txBody>
      </p:sp>
      <p:sp>
        <p:nvSpPr>
          <p:cNvPr id="3" name="Content Placeholder 2"/>
          <p:cNvSpPr>
            <a:spLocks noGrp="1"/>
          </p:cNvSpPr>
          <p:nvPr>
            <p:ph sz="half" idx="1"/>
          </p:nvPr>
        </p:nvSpPr>
        <p:spPr/>
        <p:txBody>
          <a:bodyPr/>
          <a:lstStyle/>
          <a:p>
            <a:r>
              <a:t>12 Apr</a:t>
            </a:r>
          </a:p>
          <a:p>
            <a:endParaRPr/>
          </a:p>
          <a:p>
            <a:r>
              <a:t>NICE DCV is a high performance remote display protocol that helps users to securely access remote desktop or application sessions, including 3D graphics applications hosted on servers with high-performance GPUs.  </a:t>
            </a:r>
          </a:p>
        </p:txBody>
      </p:sp>
    </p:spTree>
  </p:cSld>
  <p:clrMapOvr>
    <a:masterClrMapping/>
  </p:clrMapOvr>
</p:sld>
</file>

<file path=ppt/slides/slide4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FSx and AWS Backup announce support for copying file system backups across AWS Regions and AWS accounts</a:t>
            </a:r>
          </a:p>
        </p:txBody>
      </p:sp>
      <p:sp>
        <p:nvSpPr>
          <p:cNvPr id="3" name="Content Placeholder 2"/>
          <p:cNvSpPr>
            <a:spLocks noGrp="1"/>
          </p:cNvSpPr>
          <p:nvPr>
            <p:ph sz="half" idx="1"/>
          </p:nvPr>
        </p:nvSpPr>
        <p:spPr/>
        <p:txBody>
          <a:bodyPr/>
          <a:lstStyle/>
          <a:p>
            <a:r>
              <a:t>12 Apr</a:t>
            </a:r>
          </a:p>
          <a:p>
            <a:endParaRPr/>
          </a:p>
          <a:p>
            <a:r>
              <a:t>Amazon FSx and AWS Backup now enable you to copy your Amazon FSx file system backups (both Amazon FSx for Windows File Server and Amazon FSx for Lustre) across AWS Regions, AWS accounts, or both. With cross-region backups, you can store a copy of your backup data in AWS Regions other than where your primary backups are stored, helping you meet business continuity, disaster recovery, and compliance requirements. In addition, cross-account backups enable you to copy backups into a secondary backup account to provide an additional layer of protection, should the main backup account experience disruption from accidental or malicious deletion, disaster, or ransomware. Customers may use their AWS Organizations management account to designate certain accounts as secondary backup accounts, allowing them to copy backups only to trusted accounts in the organization.</a:t>
            </a:r>
          </a:p>
        </p:txBody>
      </p:sp>
    </p:spTree>
  </p:cSld>
  <p:clrMapOvr>
    <a:masterClrMapping/>
  </p:clrMapOvr>
</p:sld>
</file>

<file path=ppt/slides/slide4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RDS Data API now available in Asia Pacific (Seoul) and Canada (Central) AWS regions</a:t>
            </a:r>
          </a:p>
        </p:txBody>
      </p:sp>
      <p:sp>
        <p:nvSpPr>
          <p:cNvPr id="3" name="Content Placeholder 2"/>
          <p:cNvSpPr>
            <a:spLocks noGrp="1"/>
          </p:cNvSpPr>
          <p:nvPr>
            <p:ph sz="half" idx="1"/>
          </p:nvPr>
        </p:nvSpPr>
        <p:spPr/>
        <p:txBody>
          <a:bodyPr/>
          <a:lstStyle/>
          <a:p>
            <a:r>
              <a:t>09 Apr</a:t>
            </a:r>
          </a:p>
          <a:p>
            <a:endParaRPr/>
          </a:p>
          <a:p>
            <a:r>
              <a:t>Amazon Relational Database Service (Amazon RDS) Data API is now available in Asia Pacific (Seoul) and Canada (Central) regions.</a:t>
            </a:r>
          </a:p>
        </p:txBody>
      </p:sp>
    </p:spTree>
  </p:cSld>
  <p:clrMapOvr>
    <a:masterClrMapping/>
  </p:clrMapOvr>
</p:sld>
</file>

<file path=ppt/slides/slide4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Transit Gateway Connect is now available in additional AWS Regions</a:t>
            </a:r>
          </a:p>
        </p:txBody>
      </p:sp>
      <p:sp>
        <p:nvSpPr>
          <p:cNvPr id="3" name="Content Placeholder 2"/>
          <p:cNvSpPr>
            <a:spLocks noGrp="1"/>
          </p:cNvSpPr>
          <p:nvPr>
            <p:ph sz="half" idx="1"/>
          </p:nvPr>
        </p:nvSpPr>
        <p:spPr/>
        <p:txBody>
          <a:bodyPr/>
          <a:lstStyle/>
          <a:p>
            <a:r>
              <a:t>09 Apr</a:t>
            </a:r>
          </a:p>
          <a:p>
            <a:endParaRPr/>
          </a:p>
          <a:p>
            <a:r>
              <a:t>Starting today, AWS Transit Gateway Connect is now available in the US East (Ohio), Europe (London, Paris, Frankfurt, Stockholm), Asia Pacific (Tokyo, Seoul, Singapore, Sydney, Mumbai), Canada (Central), and South America (São Paulo) Regions.</a:t>
            </a:r>
          </a:p>
        </p:txBody>
      </p:sp>
    </p:spTree>
  </p:cSld>
  <p:clrMapOvr>
    <a:masterClrMapping/>
  </p:clrMapOvr>
</p:sld>
</file>

<file path=ppt/slides/slide4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New AWS Solutions Implementation: Amazon S3 Glacier Re:Freezer</a:t>
            </a:r>
          </a:p>
        </p:txBody>
      </p:sp>
      <p:sp>
        <p:nvSpPr>
          <p:cNvPr id="3" name="Content Placeholder 2"/>
          <p:cNvSpPr>
            <a:spLocks noGrp="1"/>
          </p:cNvSpPr>
          <p:nvPr>
            <p:ph sz="half" idx="1"/>
          </p:nvPr>
        </p:nvSpPr>
        <p:spPr/>
        <p:txBody>
          <a:bodyPr/>
          <a:lstStyle/>
          <a:p>
            <a:r>
              <a:t>09 Apr</a:t>
            </a:r>
          </a:p>
          <a:p>
            <a:endParaRPr/>
          </a:p>
          <a:p>
            <a:r>
              <a:t>We are delighted to announce the addition of Amazon S3 Glacier Re:Freezer to the AWS Solutions Implementations portfolio. AWS Solutions Implementations help you solve common problems and build faster using the AWS platform.</a:t>
            </a:r>
          </a:p>
        </p:txBody>
      </p:sp>
    </p:spTree>
  </p:cSld>
  <p:clrMapOvr>
    <a:masterClrMapping/>
  </p:clrMapOvr>
</p:sld>
</file>

<file path=ppt/slides/slide4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AppStream 2.0 adds support for fully managed image updates</a:t>
            </a:r>
          </a:p>
        </p:txBody>
      </p:sp>
      <p:sp>
        <p:nvSpPr>
          <p:cNvPr id="3" name="Content Placeholder 2"/>
          <p:cNvSpPr>
            <a:spLocks noGrp="1"/>
          </p:cNvSpPr>
          <p:nvPr>
            <p:ph sz="half" idx="1"/>
          </p:nvPr>
        </p:nvSpPr>
        <p:spPr/>
        <p:txBody>
          <a:bodyPr/>
          <a:lstStyle/>
          <a:p>
            <a:r>
              <a:t>09 Apr</a:t>
            </a:r>
          </a:p>
          <a:p>
            <a:endParaRPr/>
          </a:p>
          <a:p>
            <a:r>
              <a:t>Starting today, you can use managed Amazon AppStream 2.0 image updates to keep your AppStream 2.0 images up-to-date with the latest Windows operating system updates, driver updates, and AppStream 2.0 agent software. Previously, AppStream 2.0 images were kept up to date by installing your applications on the latest base image each time a new image was released, or by installing updates for the Windows operating system, your applications, and their dependencies on a new or existing image using the AppStream 2.0 image builder. With this launch, you can select the image that you want to update, and with a single action, AppStream 2.0 creates an image builder in the same AWS account and Region to install the updates and create the new image. After the new image is created, you can test it before updating your production fleets or sharing the image with other AWS accounts. To get started, see Keep Your AppStream 2.0 Image Up-to-Date  in the Amazon AppStream 2.0 Administration Guide .</a:t>
            </a:r>
          </a:p>
        </p:txBody>
      </p:sp>
    </p:spTree>
  </p:cSld>
  <p:clrMapOvr>
    <a:masterClrMapping/>
  </p:clrMapOvr>
</p:sld>
</file>

<file path=ppt/slides/slide4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Service Quotas is now available in AWS GovCloud (US) Regions</a:t>
            </a:r>
          </a:p>
        </p:txBody>
      </p:sp>
      <p:sp>
        <p:nvSpPr>
          <p:cNvPr id="3" name="Content Placeholder 2"/>
          <p:cNvSpPr>
            <a:spLocks noGrp="1"/>
          </p:cNvSpPr>
          <p:nvPr>
            <p:ph sz="half" idx="1"/>
          </p:nvPr>
        </p:nvSpPr>
        <p:spPr/>
        <p:txBody>
          <a:bodyPr/>
          <a:lstStyle/>
          <a:p>
            <a:r>
              <a:t>09 Apr</a:t>
            </a:r>
          </a:p>
          <a:p>
            <a:endParaRPr/>
          </a:p>
          <a:p>
            <a:r>
              <a:t>You can now use Service Quotas  in AWS GovCloud (US) Regions to view and manage your service quotas at scale as your AWS workloads grow.</a:t>
            </a:r>
          </a:p>
        </p:txBody>
      </p:sp>
    </p:spTree>
  </p:cSld>
  <p:clrMapOvr>
    <a:masterClrMapping/>
  </p:clrMapOvr>
</p:sld>
</file>

<file path=ppt/slides/slide4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Internet Group Management Protocol (IGMP) Multicast on AWS Transit Gateway is now available in major AWS regions worldwide</a:t>
            </a:r>
          </a:p>
        </p:txBody>
      </p:sp>
      <p:sp>
        <p:nvSpPr>
          <p:cNvPr id="3" name="Content Placeholder 2"/>
          <p:cNvSpPr>
            <a:spLocks noGrp="1"/>
          </p:cNvSpPr>
          <p:nvPr>
            <p:ph sz="half" idx="1"/>
          </p:nvPr>
        </p:nvSpPr>
        <p:spPr/>
        <p:txBody>
          <a:bodyPr/>
          <a:lstStyle/>
          <a:p>
            <a:r>
              <a:t>09 Apr</a:t>
            </a:r>
          </a:p>
          <a:p>
            <a:endParaRPr/>
          </a:p>
          <a:p>
            <a:r>
              <a:t>Starting today, AWS Transit Gateway supports internet group management protocol (IGMP) multicast in major AWS regions worldwide. The regions include US East (Ohio), Canada (Central), South America (São Paulo), EU (Stockholm), EU (London), EU (Frankfurt), EU (Paris), Asia Pacific (Mumbai), Asia Pacific (Tokyo), Asia Pacific (Singapore), Asia Pacific (Seoul) and Asia Pacific (Sydney) AWS regions with support for other regions coming soon.</a:t>
            </a:r>
          </a:p>
        </p:txBody>
      </p:sp>
    </p:spTree>
  </p:cSld>
  <p:clrMapOvr>
    <a:masterClrMapping/>
  </p:clrMapOvr>
</p:sld>
</file>

<file path=ppt/slides/slide4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Firewall Manager Now Available in AWS GovCloud (US)</a:t>
            </a:r>
          </a:p>
        </p:txBody>
      </p:sp>
      <p:sp>
        <p:nvSpPr>
          <p:cNvPr id="3" name="Content Placeholder 2"/>
          <p:cNvSpPr>
            <a:spLocks noGrp="1"/>
          </p:cNvSpPr>
          <p:nvPr>
            <p:ph sz="half" idx="1"/>
          </p:nvPr>
        </p:nvSpPr>
        <p:spPr/>
        <p:txBody>
          <a:bodyPr/>
          <a:lstStyle/>
          <a:p>
            <a:r>
              <a:t>09 Apr</a:t>
            </a:r>
          </a:p>
          <a:p>
            <a:endParaRPr/>
          </a:p>
          <a:p>
            <a:r>
              <a:t>Starting today, AWS Firewall Manager is available in both AWS GovCloud (US) Regions.</a:t>
            </a:r>
          </a:p>
        </p:txBody>
      </p:sp>
    </p:spTree>
  </p:cSld>
  <p:clrMapOvr>
    <a:masterClrMapping/>
  </p:clrMapOvr>
</p:sld>
</file>

<file path=ppt/slides/slide4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CloudFormation Command Line Interface (CFN-CLI) now supports TypeScript</a:t>
            </a:r>
          </a:p>
        </p:txBody>
      </p:sp>
      <p:sp>
        <p:nvSpPr>
          <p:cNvPr id="3" name="Content Placeholder 2"/>
          <p:cNvSpPr>
            <a:spLocks noGrp="1"/>
          </p:cNvSpPr>
          <p:nvPr>
            <p:ph sz="half" idx="1"/>
          </p:nvPr>
        </p:nvSpPr>
        <p:spPr/>
        <p:txBody>
          <a:bodyPr/>
          <a:lstStyle/>
          <a:p>
            <a:r>
              <a:t>08 Apr</a:t>
            </a:r>
          </a:p>
          <a:p>
            <a:endParaRPr/>
          </a:p>
          <a:p>
            <a:r>
              <a:t>AWS CloudFormation announces the general availability (GA) of TypeScript support for the AWS CloudFormation Command Line Interface (CFN-CLI ), which enables you to create AWS and third-party resource types using the TypeScript programming language. The CFN-CLI TypeScript plugin  is a GitHub open source project that the community created in 2019 in an early preview mode. With this release, you can now use the plugin for your production needs.</a:t>
            </a:r>
          </a:p>
        </p:txBody>
      </p:sp>
    </p:spTree>
  </p:cSld>
  <p:clrMapOvr>
    <a:masterClrMapping/>
  </p:clrMapOvr>
</p:sld>
</file>

<file path=ppt/slides/slide4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RDS for SQL Server now supports Extended Events</a:t>
            </a:r>
          </a:p>
        </p:txBody>
      </p:sp>
      <p:sp>
        <p:nvSpPr>
          <p:cNvPr id="3" name="Content Placeholder 2"/>
          <p:cNvSpPr>
            <a:spLocks noGrp="1"/>
          </p:cNvSpPr>
          <p:nvPr>
            <p:ph sz="half" idx="1"/>
          </p:nvPr>
        </p:nvSpPr>
        <p:spPr/>
        <p:txBody>
          <a:bodyPr/>
          <a:lstStyle/>
          <a:p>
            <a:r>
              <a:t>08 Apr</a:t>
            </a:r>
          </a:p>
          <a:p>
            <a:endParaRPr/>
          </a:p>
          <a:p>
            <a:r>
              <a:t>Amazon RDS for SQL Server now support SQL Server extended events, a performance monitoring system that can be used to monitor and troubleshoot performance problems in SQL Server.  </a:t>
            </a:r>
          </a:p>
        </p:txBody>
      </p:sp>
    </p:spTree>
  </p:cSld>
  <p:clrMapOvr>
    <a:masterClrMapping/>
  </p:clrMapOvr>
</p:sld>
</file>

<file path=ppt/slides/slide4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Athena now presents query execution plans to aid tuning</a:t>
            </a:r>
          </a:p>
        </p:txBody>
      </p:sp>
      <p:sp>
        <p:nvSpPr>
          <p:cNvPr id="3" name="Content Placeholder 2"/>
          <p:cNvSpPr>
            <a:spLocks noGrp="1"/>
          </p:cNvSpPr>
          <p:nvPr>
            <p:ph sz="half" idx="1"/>
          </p:nvPr>
        </p:nvSpPr>
        <p:spPr/>
        <p:txBody>
          <a:bodyPr/>
          <a:lstStyle/>
          <a:p>
            <a:r>
              <a:t>08 Apr</a:t>
            </a:r>
          </a:p>
          <a:p>
            <a:endParaRPr/>
          </a:p>
          <a:p>
            <a:r>
              <a:t>Amazon Athena users can now view the execution plan for their queries. When querying large, complex datasets, users are often unaware of how their query will be executed or how optimizations will impact performance. Now generally available for Amazon Athena, the EXPLAIN statement helps users understand and improve the efficiency of their queries.</a:t>
            </a:r>
          </a:p>
        </p:txBody>
      </p:sp>
    </p:spTree>
  </p:cSld>
  <p:clrMapOvr>
    <a:masterClrMapping/>
  </p:clrMapOvr>
</p:sld>
</file>

<file path=ppt/slides/slide4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Updated classroom course: AWS Cloud Practitioner Essentials</a:t>
            </a:r>
          </a:p>
        </p:txBody>
      </p:sp>
      <p:sp>
        <p:nvSpPr>
          <p:cNvPr id="3" name="Content Placeholder 2"/>
          <p:cNvSpPr>
            <a:spLocks noGrp="1"/>
          </p:cNvSpPr>
          <p:nvPr>
            <p:ph sz="half" idx="1"/>
          </p:nvPr>
        </p:nvSpPr>
        <p:spPr/>
        <p:txBody>
          <a:bodyPr/>
          <a:lstStyle/>
          <a:p>
            <a:r>
              <a:t>08 Apr</a:t>
            </a:r>
          </a:p>
          <a:p>
            <a:endParaRPr/>
          </a:p>
          <a:p>
            <a:r>
              <a:t>AWS Training and Certification is excited to announce the launch our updated one-day classroom course, AWS Cloud Practitioner Essentials. Learn from an accredited AWS expert instructor with deep technical knowledge to explore the AWS Cloud via a mix of presentations, peer discussion, and interactive activities. Whether you’re in a technical or non-technical role, this course helps develop the knowledge and skills necessary to demonstrate an overall understanding of the AWS Cloud.</a:t>
            </a:r>
          </a:p>
        </p:txBody>
      </p:sp>
    </p:spTree>
  </p:cSld>
  <p:clrMapOvr>
    <a:masterClrMapping/>
  </p:clrMapOvr>
</p:sld>
</file>

<file path=ppt/slides/slide4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Connect Customer Profiles now includes support for AWS CloudFormation</a:t>
            </a:r>
          </a:p>
        </p:txBody>
      </p:sp>
      <p:sp>
        <p:nvSpPr>
          <p:cNvPr id="3" name="Content Placeholder 2"/>
          <p:cNvSpPr>
            <a:spLocks noGrp="1"/>
          </p:cNvSpPr>
          <p:nvPr>
            <p:ph sz="half" idx="1"/>
          </p:nvPr>
        </p:nvSpPr>
        <p:spPr/>
        <p:txBody>
          <a:bodyPr/>
          <a:lstStyle/>
          <a:p>
            <a:r>
              <a:t>08 Apr</a:t>
            </a:r>
          </a:p>
          <a:p>
            <a:endParaRPr/>
          </a:p>
          <a:p>
            <a:r>
              <a:t>You can now use AWS CloudFormation templates to create Amazon Connect Customer Profiles resources. This feature helps you to use CloudFormation to deploy Amazon Connect Customer Profiles resources — along with the rest of your AWS infrastructure — in a secure, efficient, and repeatable way. You can use CloudFormation templates to specify Amazon Connect Customer Profiles domains and pre-built connectors to bring in customer data from your applications to create customer profiles.</a:t>
            </a:r>
          </a:p>
        </p:txBody>
      </p:sp>
    </p:spTree>
  </p:cSld>
  <p:clrMapOvr>
    <a:masterClrMapping/>
  </p:clrMapOvr>
</p:sld>
</file>

<file path=ppt/slides/slide4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Connect Customer Profiles now includes support for AWS PrivateLink</a:t>
            </a:r>
          </a:p>
        </p:txBody>
      </p:sp>
      <p:sp>
        <p:nvSpPr>
          <p:cNvPr id="3" name="Content Placeholder 2"/>
          <p:cNvSpPr>
            <a:spLocks noGrp="1"/>
          </p:cNvSpPr>
          <p:nvPr>
            <p:ph sz="half" idx="1"/>
          </p:nvPr>
        </p:nvSpPr>
        <p:spPr/>
        <p:txBody>
          <a:bodyPr/>
          <a:lstStyle/>
          <a:p>
            <a:r>
              <a:t>08 Apr</a:t>
            </a:r>
          </a:p>
          <a:p>
            <a:endParaRPr/>
          </a:p>
          <a:p>
            <a:r>
              <a:t>You can now use AWS PrivateLink to access Amazon Connect Customer Profiles directly as a private endpoint within your secure, virtual network using a new interface VPC endpoint in your Virtual Private Cloud. This extends the functionality of existing gateway endpoints by enabling you to access Amazon Connect Customer Profiles using private IP addresses. API requests and HTTPS requests to Amazon Connect Customer Profiles from your on-premises applications are automatically directed through interface endpoints, which connect to Customer Profiles securely and privately through PrivateLink.</a:t>
            </a:r>
          </a:p>
        </p:txBody>
      </p:sp>
    </p:spTree>
  </p:cSld>
  <p:clrMapOvr>
    <a:masterClrMapping/>
  </p:clrMapOvr>
</p:sld>
</file>

<file path=ppt/slides/slide4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Detect abnormal equipment behavior with Amazon Lookout for Equipment — now generally available</a:t>
            </a:r>
          </a:p>
        </p:txBody>
      </p:sp>
      <p:sp>
        <p:nvSpPr>
          <p:cNvPr id="3" name="Content Placeholder 2"/>
          <p:cNvSpPr>
            <a:spLocks noGrp="1"/>
          </p:cNvSpPr>
          <p:nvPr>
            <p:ph sz="half" idx="1"/>
          </p:nvPr>
        </p:nvSpPr>
        <p:spPr/>
        <p:txBody>
          <a:bodyPr/>
          <a:lstStyle/>
          <a:p>
            <a:r>
              <a:t>08 Apr</a:t>
            </a:r>
          </a:p>
          <a:p>
            <a:endParaRPr/>
          </a:p>
          <a:p>
            <a:r>
              <a:t>Today, Amazon Lookout for Equipment is generally available to all AWS customers. Amazon Lookout for Equipment is a machine learning (ML) industrial equipment monitoring service that detects abnormal equipment behavior so customers can take action and avoid unplanned downtime.</a:t>
            </a:r>
          </a:p>
        </p:txBody>
      </p:sp>
    </p:spTree>
  </p:cSld>
  <p:clrMapOvr>
    <a:masterClrMapping/>
  </p:clrMapOvr>
</p:sld>
</file>

<file path=ppt/slides/slide4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eksctl now supports creating node groups using resource specifications and dry run mode</a:t>
            </a:r>
          </a:p>
        </p:txBody>
      </p:sp>
      <p:sp>
        <p:nvSpPr>
          <p:cNvPr id="3" name="Content Placeholder 2"/>
          <p:cNvSpPr>
            <a:spLocks noGrp="1"/>
          </p:cNvSpPr>
          <p:nvPr>
            <p:ph sz="half" idx="1"/>
          </p:nvPr>
        </p:nvSpPr>
        <p:spPr/>
        <p:txBody>
          <a:bodyPr/>
          <a:lstStyle/>
          <a:p>
            <a:r>
              <a:t>08 Apr</a:t>
            </a:r>
          </a:p>
          <a:p>
            <a:endParaRPr/>
          </a:p>
          <a:p>
            <a:r>
              <a:t>eksctl , the official CLI for Amazon Elastic Kubernetes Service (Amazon EKS), now lets you create node groups inside an Amazon EKS cluster by simply providing node requirements in vCPUs, memory, or GPUs. Additionally, eksctl now lets you preview the cluster configuration before creating a new cluster or a new node group by using the new dry-run mode.</a:t>
            </a:r>
          </a:p>
        </p:txBody>
      </p:sp>
    </p:spTree>
  </p:cSld>
  <p:clrMapOvr>
    <a:masterClrMapping/>
  </p:clrMapOvr>
</p:sld>
</file>

<file path=ppt/slides/slide4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New AWS Solutions Consulting Offer - Application Modernization and Migration to AWS Cloud</a:t>
            </a:r>
          </a:p>
        </p:txBody>
      </p:sp>
      <p:sp>
        <p:nvSpPr>
          <p:cNvPr id="3" name="Content Placeholder 2"/>
          <p:cNvSpPr>
            <a:spLocks noGrp="1"/>
          </p:cNvSpPr>
          <p:nvPr>
            <p:ph sz="half" idx="1"/>
          </p:nvPr>
        </p:nvSpPr>
        <p:spPr/>
        <p:txBody>
          <a:bodyPr/>
          <a:lstStyle/>
          <a:p>
            <a:r>
              <a:t>08 Apr</a:t>
            </a:r>
          </a:p>
          <a:p>
            <a:endParaRPr/>
          </a:p>
          <a:p>
            <a:r>
              <a:t>Application Modernization and Migration to AWS Cloud is an AWS Solutions Consulting Offer delivered via a consulting engagement from Deloitte, an AWS Mainframe Migration Competency Partner. Application Modernization and Migration to AWS Cloud, powered by innoWake™, is a comprehensive solution for enterprises' mainframe migration and modernization journeys. Customers that request this consulting offer will participate in an engagement that delivers roadmaps, transformation of legacy code and data, testing, and go-live support.</a:t>
            </a:r>
          </a:p>
        </p:txBody>
      </p:sp>
    </p:spTree>
  </p:cSld>
  <p:clrMapOvr>
    <a:masterClrMapping/>
  </p:clrMapOvr>
</p:sld>
</file>

<file path=ppt/slides/slide4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EC2 instances featuring AMD EPYC processors are now available in additional regions</a:t>
            </a:r>
          </a:p>
        </p:txBody>
      </p:sp>
      <p:sp>
        <p:nvSpPr>
          <p:cNvPr id="3" name="Content Placeholder 2"/>
          <p:cNvSpPr>
            <a:spLocks noGrp="1"/>
          </p:cNvSpPr>
          <p:nvPr>
            <p:ph sz="half" idx="1"/>
          </p:nvPr>
        </p:nvSpPr>
        <p:spPr/>
        <p:txBody>
          <a:bodyPr/>
          <a:lstStyle/>
          <a:p>
            <a:r>
              <a:t>08 Apr</a:t>
            </a:r>
          </a:p>
          <a:p>
            <a:endParaRPr/>
          </a:p>
          <a:p>
            <a:r>
              <a:t>Starting today, Amazon EC2 C5a, C5ad, M5a, M5ad, R5a, R5ad, and T3a instances are available in additional regions.</a:t>
            </a:r>
          </a:p>
          <a:p>
            <a:r>
              <a:t>  C5a instances are now available in AWS Europe (Paris), Africa (Cape Town), Europe (Milan), and Middle East (Bahrain) Regions.</a:t>
            </a:r>
          </a:p>
          <a:p>
            <a:r>
              <a:t>C5ad instances are now available in AWS South America (Sao Paulo), US East (Ohio), Africa (Cape Town), Europe (Milan) and Middle East (Bahrain) Regions.</a:t>
            </a:r>
          </a:p>
          <a:p>
            <a:r>
              <a:t>M5a, R5a and T3a instances are now available in AWS Europe (Milan) Region</a:t>
            </a:r>
          </a:p>
          <a:p>
            <a:r>
              <a:t>8xlarge and 16xlarge sizes of Amazon EC2 M5ad and R5ad instances are now available in US East (Ohio) and US West (Oregon) Regions.</a:t>
            </a:r>
          </a:p>
        </p:txBody>
      </p:sp>
    </p:spTree>
  </p:cSld>
  <p:clrMapOvr>
    <a:masterClrMapping/>
  </p:clrMapOvr>
</p:sld>
</file>

<file path=ppt/slides/slide4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IoT Analytics adds schema inference support for Apache Parquet based data stores</a:t>
            </a:r>
          </a:p>
        </p:txBody>
      </p:sp>
      <p:sp>
        <p:nvSpPr>
          <p:cNvPr id="3" name="Content Placeholder 2"/>
          <p:cNvSpPr>
            <a:spLocks noGrp="1"/>
          </p:cNvSpPr>
          <p:nvPr>
            <p:ph sz="half" idx="1"/>
          </p:nvPr>
        </p:nvSpPr>
        <p:spPr/>
        <p:txBody>
          <a:bodyPr/>
          <a:lstStyle/>
          <a:p>
            <a:r>
              <a:t>08 Apr</a:t>
            </a:r>
          </a:p>
          <a:p>
            <a:endParaRPr/>
          </a:p>
          <a:p>
            <a:r>
              <a:t>AWS IoT Analytics is a fully managed service that makes it easy to collect, pre-process, enrich, store and analyze IoT data at scale to run sophisticated analytics on massive volumes of IoT data and gain insights into how IoT devices are operating without having to worry about the complexity typically required to build an analytics platform.</a:t>
            </a:r>
          </a:p>
        </p:txBody>
      </p:sp>
    </p:spTree>
  </p:cSld>
  <p:clrMapOvr>
    <a:masterClrMapping/>
  </p:clrMapOvr>
</p:sld>
</file>

<file path=ppt/slides/slide4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Customers can now use ServiceNow to track operational items related to AWS resources</a:t>
            </a:r>
          </a:p>
        </p:txBody>
      </p:sp>
      <p:sp>
        <p:nvSpPr>
          <p:cNvPr id="3" name="Content Placeholder 2"/>
          <p:cNvSpPr>
            <a:spLocks noGrp="1"/>
          </p:cNvSpPr>
          <p:nvPr>
            <p:ph sz="half" idx="1"/>
          </p:nvPr>
        </p:nvSpPr>
        <p:spPr/>
        <p:txBody>
          <a:bodyPr/>
          <a:lstStyle/>
          <a:p>
            <a:r>
              <a:t>08 Apr</a:t>
            </a:r>
          </a:p>
          <a:p>
            <a:endParaRPr/>
          </a:p>
          <a:p>
            <a:r>
              <a:t>Starting today, customers can use ServiceNow as a single place to track operational items from AWS Systems Manager OpsCenter. ServiceNow users can now view, investigate, and resolve operational items related to their AWS resources, while using their existing workflows in ServiceNow. Additionally, they can use AWS Systems Manager Automation runbooks from ServiceNow to remediate known issues. AWS Systems Manager OpsCenter enables operators to track and resolve operational items related to AWS resources in a central place, helping reduce time to issue resolution.</a:t>
            </a:r>
          </a:p>
        </p:txBody>
      </p:sp>
    </p:spTree>
  </p:cSld>
  <p:clrMapOvr>
    <a:masterClrMapping/>
  </p:clrMapOvr>
</p:sld>
</file>

<file path=ppt/slides/slide4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Control Tower introduces changes to preventive S3 guardrails and updates to S3 bucket encryption protocols</a:t>
            </a:r>
          </a:p>
        </p:txBody>
      </p:sp>
      <p:sp>
        <p:nvSpPr>
          <p:cNvPr id="3" name="Content Placeholder 2"/>
          <p:cNvSpPr>
            <a:spLocks noGrp="1"/>
          </p:cNvSpPr>
          <p:nvPr>
            <p:ph sz="half" idx="1"/>
          </p:nvPr>
        </p:nvSpPr>
        <p:spPr/>
        <p:txBody>
          <a:bodyPr/>
          <a:lstStyle/>
          <a:p>
            <a:r>
              <a:t>08 Apr</a:t>
            </a:r>
          </a:p>
          <a:p>
            <a:endParaRPr/>
          </a:p>
          <a:p>
            <a:r>
              <a:t>AWS Control Tower is releasing four new, less restrictive, mandatory preventative S3 Log Archive guardrails and changing the guidance of the four previous, more restrictive, preventative S3 Log Archive guardrails from mandatory to elective. With these guardrail changes you can now separate S3 Log Archive governance for resources created by AWS Control Tower from governance for the S3 resources you create.  </a:t>
            </a:r>
          </a:p>
        </p:txBody>
      </p:sp>
    </p:spTree>
  </p:cSld>
  <p:clrMapOvr>
    <a:masterClrMapping/>
  </p:clrMapOvr>
</p:sld>
</file>

<file path=ppt/slides/slide4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New AWS Solutions Consulting Offer - RegCloud: ControllerView® on AWS</a:t>
            </a:r>
          </a:p>
        </p:txBody>
      </p:sp>
      <p:sp>
        <p:nvSpPr>
          <p:cNvPr id="3" name="Content Placeholder 2"/>
          <p:cNvSpPr>
            <a:spLocks noGrp="1"/>
          </p:cNvSpPr>
          <p:nvPr>
            <p:ph sz="half" idx="1"/>
          </p:nvPr>
        </p:nvSpPr>
        <p:spPr/>
        <p:txBody>
          <a:bodyPr/>
          <a:lstStyle/>
          <a:p>
            <a:r>
              <a:t>08 Apr</a:t>
            </a:r>
          </a:p>
          <a:p>
            <a:endParaRPr/>
          </a:p>
          <a:p>
            <a:r>
              <a:t>RegCloud: ControllerView® on AWS is an AWS Solutions Consulting Offer delivered via a consulting engagement from AxiomSL, an AWS Financial Services Competency Partner. RegCloud offers a set of cloud-native technical and operational capabilities that enable financial institutions to harness the power of the cloud for their risk and regulatory data management and reporting initiatives. Customers that request this consulting offer will participate in an engagement that follows a phased approach including design, initial system setup, data provisioning, implementation, testing and production.</a:t>
            </a:r>
          </a:p>
        </p:txBody>
      </p:sp>
    </p:spTree>
  </p:cSld>
  <p:clrMapOvr>
    <a:masterClrMapping/>
  </p:clrMapOvr>
</p:sld>
</file>

<file path=ppt/slides/slide4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RoboMaker now supports the ability to configure tools for simulation jobs</a:t>
            </a:r>
          </a:p>
        </p:txBody>
      </p:sp>
      <p:sp>
        <p:nvSpPr>
          <p:cNvPr id="3" name="Content Placeholder 2"/>
          <p:cNvSpPr>
            <a:spLocks noGrp="1"/>
          </p:cNvSpPr>
          <p:nvPr>
            <p:ph sz="half" idx="1"/>
          </p:nvPr>
        </p:nvSpPr>
        <p:spPr/>
        <p:txBody>
          <a:bodyPr/>
          <a:lstStyle/>
          <a:p>
            <a:r>
              <a:t>08 Apr</a:t>
            </a:r>
          </a:p>
          <a:p>
            <a:endParaRPr/>
          </a:p>
          <a:p>
            <a:r>
              <a:t>AWS RoboMaker now supports the ability to configure simulation tools to diagnose or interact with RoboMaker simulation jobs. This simulation tool configuration feature provides developers flexibility to use custom simulation tools in place of, or in addition to the default simulation tools (Gazebo, rqt, rviz and terminal access tools) provided by default in RoboMaker.</a:t>
            </a:r>
          </a:p>
        </p:txBody>
      </p:sp>
    </p:spTree>
  </p:cSld>
  <p:clrMapOvr>
    <a:masterClrMapping/>
  </p:clrMapOvr>
</p:sld>
</file>

<file path=ppt/slides/slide4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Step Functions adds new data flow simulator for modelling input and output processing</a:t>
            </a:r>
          </a:p>
        </p:txBody>
      </p:sp>
      <p:sp>
        <p:nvSpPr>
          <p:cNvPr id="3" name="Content Placeholder 2"/>
          <p:cNvSpPr>
            <a:spLocks noGrp="1"/>
          </p:cNvSpPr>
          <p:nvPr>
            <p:ph sz="half" idx="1"/>
          </p:nvPr>
        </p:nvSpPr>
        <p:spPr/>
        <p:txBody>
          <a:bodyPr/>
          <a:lstStyle/>
          <a:p>
            <a:r>
              <a:t>08 Apr</a:t>
            </a:r>
          </a:p>
          <a:p>
            <a:endParaRPr/>
          </a:p>
          <a:p>
            <a:r>
              <a:t>AWS Step Functions now features a data flow simulator in the Step Functions console, making it easier to evaluate the input and output processing for your state machines, allowing you to build workflows faster.</a:t>
            </a:r>
          </a:p>
        </p:txBody>
      </p:sp>
    </p:spTree>
  </p:cSld>
  <p:clrMapOvr>
    <a:masterClrMapping/>
  </p:clrMapOvr>
</p:sld>
</file>

<file path=ppt/slides/slide4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GuardDuty Now Available in AWS Asia Pacific (Osaka) Region</a:t>
            </a:r>
          </a:p>
        </p:txBody>
      </p:sp>
      <p:sp>
        <p:nvSpPr>
          <p:cNvPr id="3" name="Content Placeholder 2"/>
          <p:cNvSpPr>
            <a:spLocks noGrp="1"/>
          </p:cNvSpPr>
          <p:nvPr>
            <p:ph sz="half" idx="1"/>
          </p:nvPr>
        </p:nvSpPr>
        <p:spPr/>
        <p:txBody>
          <a:bodyPr/>
          <a:lstStyle/>
          <a:p>
            <a:r>
              <a:t>08 Apr</a:t>
            </a:r>
          </a:p>
          <a:p>
            <a:endParaRPr/>
          </a:p>
          <a:p>
            <a:r>
              <a:t>Amazon GuardDuty is now available in the AWS Asia Pacific (Osaka) Region. You can now continuously monitor and detect security threats in the region to help protect your AWS accounts, workloads, and data stored in Amazon S3.</a:t>
            </a:r>
          </a:p>
        </p:txBody>
      </p:sp>
    </p:spTree>
  </p:cSld>
  <p:clrMapOvr>
    <a:masterClrMapping/>
  </p:clrMapOvr>
</p:sld>
</file>

<file path=ppt/slides/slide4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Keyspaces (for Apache Cassandra) now offers FIPS 140-2 compliant endpoints to help you run highly regulated workloads more easily</a:t>
            </a:r>
          </a:p>
        </p:txBody>
      </p:sp>
      <p:sp>
        <p:nvSpPr>
          <p:cNvPr id="3" name="Content Placeholder 2"/>
          <p:cNvSpPr>
            <a:spLocks noGrp="1"/>
          </p:cNvSpPr>
          <p:nvPr>
            <p:ph sz="half" idx="1"/>
          </p:nvPr>
        </p:nvSpPr>
        <p:spPr/>
        <p:txBody>
          <a:bodyPr/>
          <a:lstStyle/>
          <a:p>
            <a:r>
              <a:t>08 Apr</a:t>
            </a:r>
          </a:p>
          <a:p>
            <a:endParaRPr/>
          </a:p>
          <a:p>
            <a:r>
              <a:t>Amazon Keyspaces (for Apache Cassandra), a scalable, highly available, and fully managed Cassandra-compatible database service, now offers Federal Information Processing Standards (FIPS) 140-2 compliant endpoints to help you run highly regulated workloads more easily.</a:t>
            </a:r>
          </a:p>
        </p:txBody>
      </p:sp>
    </p:spTree>
  </p:cSld>
  <p:clrMapOvr>
    <a:masterClrMapping/>
  </p:clrMapOvr>
</p:sld>
</file>

<file path=ppt/slides/slide4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You can now deploy CloudFormation Stacks concurrently across multiple AWS regions using AWS CloudFormation StackSets</a:t>
            </a:r>
          </a:p>
        </p:txBody>
      </p:sp>
      <p:sp>
        <p:nvSpPr>
          <p:cNvPr id="3" name="Content Placeholder 2"/>
          <p:cNvSpPr>
            <a:spLocks noGrp="1"/>
          </p:cNvSpPr>
          <p:nvPr>
            <p:ph sz="half" idx="1"/>
          </p:nvPr>
        </p:nvSpPr>
        <p:spPr/>
        <p:txBody>
          <a:bodyPr/>
          <a:lstStyle/>
          <a:p>
            <a:r>
              <a:t>07 Apr</a:t>
            </a:r>
          </a:p>
          <a:p>
            <a:endParaRPr/>
          </a:p>
          <a:p>
            <a:r>
              <a:t>AWS CloudFormation StackSets  announces the ability to deploy CloudFormation Stacks to multiple AWS regions in parallel. This reduces the overall stack set provisioning times and provides a performance improvement when using StackSets. StackSets extend the functionality of stacks by enabling you to create, update, or delete stacks across multiple AWS accounts and regions with a single operation. Currently, using StackSets you can specify the region order preference to deploy stacks across AWS regions in a sequential manner. StackSets now expands on that by providing the additional ability to specify deploying across AWS regions in parallel as part of the deployment preferences for the stack set.</a:t>
            </a:r>
          </a:p>
        </p:txBody>
      </p:sp>
    </p:spTree>
  </p:cSld>
  <p:clrMapOvr>
    <a:masterClrMapping/>
  </p:clrMapOvr>
</p:sld>
</file>

<file path=ppt/slides/slide4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Control Tower now available in Mumbai, Seoul and Tokyo AWS Regions</a:t>
            </a:r>
          </a:p>
        </p:txBody>
      </p:sp>
      <p:sp>
        <p:nvSpPr>
          <p:cNvPr id="3" name="Content Placeholder 2"/>
          <p:cNvSpPr>
            <a:spLocks noGrp="1"/>
          </p:cNvSpPr>
          <p:nvPr>
            <p:ph sz="half" idx="1"/>
          </p:nvPr>
        </p:nvSpPr>
        <p:spPr/>
        <p:txBody>
          <a:bodyPr/>
          <a:lstStyle/>
          <a:p>
            <a:r>
              <a:t>07 Apr</a:t>
            </a:r>
          </a:p>
          <a:p>
            <a:endParaRPr/>
          </a:p>
          <a:p>
            <a:r>
              <a:t>AWS Control Tower is now available in 3 additional AWS Regions: Asia Pacific (Mumbai), Asia Pacific (Seoul), and Asia Pacific (Tokyo). AWS Control Tower is also available in US East (N. Virginia), US East (Ohio), US West (Oregon), Europe (Ireland), Asia Pacific (Sydney), Canada (Central), Europe (Frankfurt), Europe (London), Europe (Stockholm), and Asia Pacific (Singapore). With this launch, AWS Control Tower is now available in 13 AWS Regions.</a:t>
            </a:r>
          </a:p>
        </p:txBody>
      </p:sp>
    </p:spTree>
  </p:cSld>
  <p:clrMapOvr>
    <a:masterClrMapping/>
  </p:clrMapOvr>
</p:sld>
</file>

<file path=ppt/slides/slide4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Fraud Detector automates sampling for imbalanced model training datasets</a:t>
            </a:r>
          </a:p>
        </p:txBody>
      </p:sp>
      <p:sp>
        <p:nvSpPr>
          <p:cNvPr id="3" name="Content Placeholder 2"/>
          <p:cNvSpPr>
            <a:spLocks noGrp="1"/>
          </p:cNvSpPr>
          <p:nvPr>
            <p:ph sz="half" idx="1"/>
          </p:nvPr>
        </p:nvSpPr>
        <p:spPr/>
        <p:txBody>
          <a:bodyPr/>
          <a:lstStyle/>
          <a:p>
            <a:r>
              <a:t>07 Apr</a:t>
            </a:r>
          </a:p>
          <a:p>
            <a:endParaRPr/>
          </a:p>
          <a:p>
            <a:r>
              <a:t>Amazon Fraud Detector is a fully managed service that makes it easy to identify potentially fraudulent online activities, such as the creation of fake accounts or online payment fraud, using customized machine learning (ML) models. To train an ML model, customers provide a dataset that contains examples of legitimate and fraudulent events related to the business activity they want to evaluate for fraud risk. These fraud datasets are often highly imbalanced. For example, a dataset containing one million past transactions may only include 5,000 fraudulent ones, corresponding to a fraud rate of 0.5%. This imbalance in the training data can lead to lower model performance, which results in the customer capturing less fraud. There are a number of common techniques used to treat imbalanced datasets, but applying them requires ML expertise and the best technique often depends on the characteristics of the particular dataset.</a:t>
            </a:r>
          </a:p>
        </p:txBody>
      </p:sp>
    </p:spTree>
  </p:cSld>
  <p:clrMapOvr>
    <a:masterClrMapping/>
  </p:clrMapOvr>
</p:sld>
</file>

<file path=ppt/slides/slide4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Glue now supports missing value imputation based on machine learning</a:t>
            </a:r>
          </a:p>
        </p:txBody>
      </p:sp>
      <p:sp>
        <p:nvSpPr>
          <p:cNvPr id="3" name="Content Placeholder 2"/>
          <p:cNvSpPr>
            <a:spLocks noGrp="1"/>
          </p:cNvSpPr>
          <p:nvPr>
            <p:ph sz="half" idx="1"/>
          </p:nvPr>
        </p:nvSpPr>
        <p:spPr/>
        <p:txBody>
          <a:bodyPr/>
          <a:lstStyle/>
          <a:p>
            <a:r>
              <a:t>07 Apr</a:t>
            </a:r>
          </a:p>
          <a:p>
            <a:endParaRPr/>
          </a:p>
          <a:p>
            <a:r>
              <a:t>AWS Glue now offers missing value imputation on incomplete datasets. You can use the Fill Missing Values transform to get predicted values for blank entries in a column of your data. This feature makes it easy to clean datasets that have null or empty values so that they don’t need to be accounted for at query time.</a:t>
            </a:r>
          </a:p>
        </p:txBody>
      </p:sp>
    </p:spTree>
  </p:cSld>
  <p:clrMapOvr>
    <a:masterClrMapping/>
  </p:clrMapOvr>
</p:sld>
</file>

<file path=ppt/slides/slide4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MQ now supports RabbitMQ version 3.8.11</a:t>
            </a:r>
          </a:p>
        </p:txBody>
      </p:sp>
      <p:sp>
        <p:nvSpPr>
          <p:cNvPr id="3" name="Content Placeholder 2"/>
          <p:cNvSpPr>
            <a:spLocks noGrp="1"/>
          </p:cNvSpPr>
          <p:nvPr>
            <p:ph sz="half" idx="1"/>
          </p:nvPr>
        </p:nvSpPr>
        <p:spPr/>
        <p:txBody>
          <a:bodyPr/>
          <a:lstStyle/>
          <a:p>
            <a:r>
              <a:t>07 Apr</a:t>
            </a:r>
          </a:p>
          <a:p>
            <a:endParaRPr/>
          </a:p>
          <a:p>
            <a:r>
              <a:t>You can now launch RabbitMQ 3.8.11 brokers on Amazon MQ. This patch update to RabbitMQ contains several fixes and new features compared to the previously supported version, RabbitMQ 3.8.6.</a:t>
            </a:r>
          </a:p>
        </p:txBody>
      </p:sp>
    </p:spTree>
  </p:cSld>
  <p:clrMapOvr>
    <a:masterClrMapping/>
  </p:clrMapOvr>
</p:sld>
</file>

<file path=ppt/slides/slide4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ElastiCache now supports Tag-Based Access Control</a:t>
            </a:r>
          </a:p>
        </p:txBody>
      </p:sp>
      <p:sp>
        <p:nvSpPr>
          <p:cNvPr id="3" name="Content Placeholder 2"/>
          <p:cNvSpPr>
            <a:spLocks noGrp="1"/>
          </p:cNvSpPr>
          <p:nvPr>
            <p:ph sz="half" idx="1"/>
          </p:nvPr>
        </p:nvSpPr>
        <p:spPr/>
        <p:txBody>
          <a:bodyPr/>
          <a:lstStyle/>
          <a:p>
            <a:r>
              <a:t>07 Apr</a:t>
            </a:r>
          </a:p>
          <a:p>
            <a:endParaRPr/>
          </a:p>
          <a:p>
            <a:r>
              <a:t>Amazon ElastiCache now supports tag-based access control and adding tags to additional cluster resources. By using tags for access control, your AWS Identity and Access Management (IAM) users, groups, and roles get access only to the Amazon ElastiCache resources with matching tags. This provides you the capability to scale by reducing the number of distinct permissions you need to create and manage in your AWS account. You can define AWS IAM policies that grant or deny access to a resource based on its tags. Furthermore, you can use specific condition context keys to customize your AWS IAM policies to limit specific behaviors on Amazon ElastiCache resources. For a complete list of condition context keys for Amazon ElastiCache, visit the Amazon ElastiCache documentation .</a:t>
            </a:r>
          </a:p>
        </p:txBody>
      </p:sp>
    </p:spTree>
  </p:cSld>
  <p:clrMapOvr>
    <a:masterClrMapping/>
  </p:clrMapOvr>
</p:sld>
</file>

<file path=ppt/slides/slide4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Backup now supports cost allocation tags for Amazon EFS Backups</a:t>
            </a:r>
          </a:p>
        </p:txBody>
      </p:sp>
      <p:sp>
        <p:nvSpPr>
          <p:cNvPr id="3" name="Content Placeholder 2"/>
          <p:cNvSpPr>
            <a:spLocks noGrp="1"/>
          </p:cNvSpPr>
          <p:nvPr>
            <p:ph sz="half" idx="1"/>
          </p:nvPr>
        </p:nvSpPr>
        <p:spPr/>
        <p:txBody>
          <a:bodyPr/>
          <a:lstStyle/>
          <a:p>
            <a:r>
              <a:t>07 Apr</a:t>
            </a:r>
          </a:p>
          <a:p>
            <a:endParaRPr/>
          </a:p>
          <a:p>
            <a:r>
              <a:t>AWS Backup now enables you to use cost allocation tags for Amazon Elastic File System (Amazon EFS) backups within AWS Billing and Cost Management. With cost allocation tags, you can get better transparency and visibility into your Amazon EFS backup costs. For example, you can allocate your Amazon EFS backup costs to different departments (e.g., finance, engineering) or analyze Amazon EFS backup costs across your various workloads to better understand and manage your costs.</a:t>
            </a:r>
          </a:p>
        </p:txBody>
      </p:sp>
    </p:spTree>
  </p:cSld>
  <p:clrMapOvr>
    <a:masterClrMapping/>
  </p:clrMapOvr>
</p:sld>
</file>

<file path=ppt/slides/slide4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Amplify iOS now available via Swift Package Manager (SPM)</a:t>
            </a:r>
          </a:p>
        </p:txBody>
      </p:sp>
      <p:sp>
        <p:nvSpPr>
          <p:cNvPr id="3" name="Content Placeholder 2"/>
          <p:cNvSpPr>
            <a:spLocks noGrp="1"/>
          </p:cNvSpPr>
          <p:nvPr>
            <p:ph sz="half" idx="1"/>
          </p:nvPr>
        </p:nvSpPr>
        <p:spPr/>
        <p:txBody>
          <a:bodyPr/>
          <a:lstStyle/>
          <a:p>
            <a:r>
              <a:t>07 Apr</a:t>
            </a:r>
          </a:p>
          <a:p>
            <a:endParaRPr/>
          </a:p>
          <a:p>
            <a:r>
              <a:t>AWS Amplify iOS can now be installed through the Swift Package Manager. iOS developers can interface with AWS services through Amplify iOS, which is a use case based client library. Developers have been importing Amplify iOS through dependency management tools like CocoaPods. With Swift 3.0, Apple introduced a native package management tool called Swift Package Manager that allows developers to manage these dependencies within their Swift project.</a:t>
            </a:r>
          </a:p>
        </p:txBody>
      </p:sp>
    </p:spTree>
  </p:cSld>
  <p:clrMapOvr>
    <a:masterClrMapping/>
  </p:clrMapOvr>
</p:sld>
</file>

<file path=ppt/slides/slide4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Multi-Attach for Provisioned IOPS io2 Now Available in Thirteen Additional AWS Regions</a:t>
            </a:r>
          </a:p>
        </p:txBody>
      </p:sp>
      <p:sp>
        <p:nvSpPr>
          <p:cNvPr id="3" name="Content Placeholder 2"/>
          <p:cNvSpPr>
            <a:spLocks noGrp="1"/>
          </p:cNvSpPr>
          <p:nvPr>
            <p:ph sz="half" idx="1"/>
          </p:nvPr>
        </p:nvSpPr>
        <p:spPr/>
        <p:txBody>
          <a:bodyPr/>
          <a:lstStyle/>
          <a:p>
            <a:r>
              <a:t>07 Apr</a:t>
            </a:r>
          </a:p>
          <a:p>
            <a:endParaRPr/>
          </a:p>
          <a:p>
            <a:r>
              <a:t>With thirteen more regions, EBS Multi-Attach for Provisioned IOPS io2 is now available in US East (N. Virginia), US East (Ohio), US West (Oregon), US West (N. California), EU (Ireland), EU (Frankfurt), Asia Pacific (Singapore), Asia Pacific (Tokyo), Asia Pacific (Mumbai), Asia Pacific (Sydney), Asia Pacific (Seoul), Canada (Central), EU (London), EU (Stockholm), Middle East (Bahrain), and Asia Pacific (Hong Kong).</a:t>
            </a:r>
          </a:p>
        </p:txBody>
      </p:sp>
    </p:spTree>
  </p:cSld>
  <p:clrMapOvr>
    <a:masterClrMapping/>
  </p:clrMapOvr>
</p:sld>
</file>

<file path=ppt/slides/slide4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Interactive Video Service adds support for recording live streams to Amazon S3</a:t>
            </a:r>
          </a:p>
        </p:txBody>
      </p:sp>
      <p:sp>
        <p:nvSpPr>
          <p:cNvPr id="3" name="Content Placeholder 2"/>
          <p:cNvSpPr>
            <a:spLocks noGrp="1"/>
          </p:cNvSpPr>
          <p:nvPr>
            <p:ph sz="half" idx="1"/>
          </p:nvPr>
        </p:nvSpPr>
        <p:spPr/>
        <p:txBody>
          <a:bodyPr/>
          <a:lstStyle/>
          <a:p>
            <a:r>
              <a:t>07 Apr</a:t>
            </a:r>
          </a:p>
          <a:p>
            <a:endParaRPr/>
          </a:p>
          <a:p>
            <a:r>
              <a:t>With Amazon Interactive Video Service (Amazon IVS) you can now save your live video content to Amazon Simple Storage Service (Amazon S3). Saved video is available for actions like editing or replaying as a video on-demand (VOD).</a:t>
            </a:r>
          </a:p>
        </p:txBody>
      </p:sp>
    </p:spTree>
  </p:cSld>
  <p:clrMapOvr>
    <a:masterClrMapping/>
  </p:clrMapOvr>
</p:sld>
</file>

<file path=ppt/slides/slide4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New instructor-led course: Developing Serverless Solutions on AWS</a:t>
            </a:r>
          </a:p>
        </p:txBody>
      </p:sp>
      <p:sp>
        <p:nvSpPr>
          <p:cNvPr id="3" name="Content Placeholder 2"/>
          <p:cNvSpPr>
            <a:spLocks noGrp="1"/>
          </p:cNvSpPr>
          <p:nvPr>
            <p:ph sz="half" idx="1"/>
          </p:nvPr>
        </p:nvSpPr>
        <p:spPr/>
        <p:txBody>
          <a:bodyPr/>
          <a:lstStyle/>
          <a:p>
            <a:r>
              <a:t>06 Apr</a:t>
            </a:r>
          </a:p>
          <a:p>
            <a:endParaRPr/>
          </a:p>
          <a:p>
            <a:r>
              <a:t>We are excited to introduce Developing Serverless Solutions on AWS, an instructor-led course that promotes developer productivity and agile application development. This three-day, intermediate course covers how to build, secure, deploy, and manage modern serverless applications. The course includes lectures, demonstrations, group discussions, exercises, six hands-on labs, and a quiz to check your knowledge.</a:t>
            </a:r>
          </a:p>
        </p:txBody>
      </p:sp>
    </p:spTree>
  </p:cSld>
  <p:clrMapOvr>
    <a:masterClrMapping/>
  </p:clrMapOvr>
</p:sld>
</file>

<file path=ppt/slides/slide4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Systems Manager Parameter Store now supports removal of parameter labels</a:t>
            </a:r>
          </a:p>
        </p:txBody>
      </p:sp>
      <p:sp>
        <p:nvSpPr>
          <p:cNvPr id="3" name="Content Placeholder 2"/>
          <p:cNvSpPr>
            <a:spLocks noGrp="1"/>
          </p:cNvSpPr>
          <p:nvPr>
            <p:ph sz="half" idx="1"/>
          </p:nvPr>
        </p:nvSpPr>
        <p:spPr/>
        <p:txBody>
          <a:bodyPr/>
          <a:lstStyle/>
          <a:p>
            <a:r>
              <a:t>06 Apr</a:t>
            </a:r>
          </a:p>
          <a:p>
            <a:endParaRPr/>
          </a:p>
          <a:p>
            <a:r>
              <a:t>AWS announces a new feature of AWS Systems Manager Parameter Store that supports the removal of a label associated with a parameter, to enable customers to reorganize Parameter Store parameters with new labels.</a:t>
            </a:r>
          </a:p>
        </p:txBody>
      </p:sp>
    </p:spTree>
  </p:cSld>
  <p:clrMapOvr>
    <a:masterClrMapping/>
  </p:clrMapOvr>
</p:sld>
</file>

<file path=ppt/slides/slide4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EC2 G4ad instances, powered by AMD Radeon Pro V520 GPUs, are now available in 5 additional regions</a:t>
            </a:r>
          </a:p>
        </p:txBody>
      </p:sp>
      <p:sp>
        <p:nvSpPr>
          <p:cNvPr id="3" name="Content Placeholder 2"/>
          <p:cNvSpPr>
            <a:spLocks noGrp="1"/>
          </p:cNvSpPr>
          <p:nvPr>
            <p:ph sz="half" idx="1"/>
          </p:nvPr>
        </p:nvSpPr>
        <p:spPr/>
        <p:txBody>
          <a:bodyPr/>
          <a:lstStyle/>
          <a:p>
            <a:r>
              <a:t>06 Apr</a:t>
            </a:r>
          </a:p>
          <a:p>
            <a:endParaRPr/>
          </a:p>
          <a:p>
            <a:r>
              <a:t>Amazon EC2 G4ad instances which provide the best price performance for graphics intensive applications in the cloud are now available in US East (Ohio), Europe (Frankfurt and London), Asia Pacific (Tokyo), and Canada (Central). G4ad instances are powered by AMD Radeon Pro V520 GPUs and second-generation AMD EPYC processors, and provide up to 45% better price performance over G4dn instances for graphics intensive applications such as virtual workstations, game streaming, and graphics rendering.</a:t>
            </a:r>
          </a:p>
        </p:txBody>
      </p:sp>
    </p:spTree>
  </p:cSld>
  <p:clrMapOvr>
    <a:masterClrMapping/>
  </p:clrMapOvr>
</p:sld>
</file>

<file path=ppt/slides/slide4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EC2 now allows you to copy Amazon Machine Images across AWS GovCloud, AWS China and other AWS Regions</a:t>
            </a:r>
          </a:p>
        </p:txBody>
      </p:sp>
      <p:sp>
        <p:nvSpPr>
          <p:cNvPr id="3" name="Content Placeholder 2"/>
          <p:cNvSpPr>
            <a:spLocks noGrp="1"/>
          </p:cNvSpPr>
          <p:nvPr>
            <p:ph sz="half" idx="1"/>
          </p:nvPr>
        </p:nvSpPr>
        <p:spPr/>
        <p:txBody>
          <a:bodyPr/>
          <a:lstStyle/>
          <a:p>
            <a:r>
              <a:t>06 Apr</a:t>
            </a:r>
          </a:p>
          <a:p>
            <a:endParaRPr/>
          </a:p>
          <a:p>
            <a:r>
              <a:t>You can now quickly and conveniently copy Amazon Machine Images (AMIs)  to AWS GovCloud (US) Regions, AWS China Regions and other AWS regions (also known as partitions ) to ensure that your AMIs are available and consistent globally.</a:t>
            </a:r>
          </a:p>
        </p:txBody>
      </p:sp>
    </p:spTree>
  </p:cSld>
  <p:clrMapOvr>
    <a:masterClrMapping/>
  </p:clrMapOvr>
</p:sld>
</file>

<file path=ppt/slides/slide5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CodeGuru announces a new, lower and predictable Pricing Model for CodeGuru Reviewer</a:t>
            </a:r>
          </a:p>
        </p:txBody>
      </p:sp>
      <p:sp>
        <p:nvSpPr>
          <p:cNvPr id="3" name="Content Placeholder 2"/>
          <p:cNvSpPr>
            <a:spLocks noGrp="1"/>
          </p:cNvSpPr>
          <p:nvPr>
            <p:ph sz="half" idx="1"/>
          </p:nvPr>
        </p:nvSpPr>
        <p:spPr/>
        <p:txBody>
          <a:bodyPr/>
          <a:lstStyle/>
          <a:p>
            <a:r>
              <a:t>06 Apr</a:t>
            </a:r>
          </a:p>
          <a:p>
            <a:endParaRPr/>
          </a:p>
          <a:p>
            <a:r>
              <a:t>Amazon CodeGuru Reviewer is a developer tool that leverages automated reasoning and machine learning to detect potential defects that are difficult to find in your code and offers suggestions for improvements. Today, we are excited to announce, a new repository size-based pricing model with a price reduction of up to 90%, making it easier for customers to predictably scale their automated code reviews across their software development processes.</a:t>
            </a:r>
          </a:p>
        </p:txBody>
      </p:sp>
    </p:spTree>
  </p:cSld>
  <p:clrMapOvr>
    <a:masterClrMapping/>
  </p:clrMapOvr>
</p:sld>
</file>

<file path=ppt/slides/slide5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Python Support for Amazon CodeGuru Reviewer is now generally available</a:t>
            </a:r>
          </a:p>
        </p:txBody>
      </p:sp>
      <p:sp>
        <p:nvSpPr>
          <p:cNvPr id="3" name="Content Placeholder 2"/>
          <p:cNvSpPr>
            <a:spLocks noGrp="1"/>
          </p:cNvSpPr>
          <p:nvPr>
            <p:ph sz="half" idx="1"/>
          </p:nvPr>
        </p:nvSpPr>
        <p:spPr/>
        <p:txBody>
          <a:bodyPr/>
          <a:lstStyle/>
          <a:p>
            <a:r>
              <a:t>06 Apr</a:t>
            </a:r>
          </a:p>
          <a:p>
            <a:endParaRPr/>
          </a:p>
          <a:p>
            <a:r>
              <a:t>Amazon CodeGuru Reviewer is a developer tool that leverages automated reasoning and machine learning to detect potential defects that are difficult to find in your code and offers suggestions for improvements. Today, we are announcing the general availability of Python support for CodeGuru Reviewer to help you detect coding issues and vulnerabilities in your Python code and applications.  </a:t>
            </a:r>
          </a:p>
        </p:txBody>
      </p:sp>
    </p:spTree>
  </p:cSld>
  <p:clrMapOvr>
    <a:masterClrMapping/>
  </p:clrMapOvr>
</p:sld>
</file>

<file path=ppt/slides/slide5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Batch simplifies permissions by introducing Service-Linked Roles</a:t>
            </a:r>
          </a:p>
        </p:txBody>
      </p:sp>
      <p:sp>
        <p:nvSpPr>
          <p:cNvPr id="3" name="Content Placeholder 2"/>
          <p:cNvSpPr>
            <a:spLocks noGrp="1"/>
          </p:cNvSpPr>
          <p:nvPr>
            <p:ph sz="half" idx="1"/>
          </p:nvPr>
        </p:nvSpPr>
        <p:spPr/>
        <p:txBody>
          <a:bodyPr/>
          <a:lstStyle/>
          <a:p>
            <a:r>
              <a:t>06 Apr</a:t>
            </a:r>
          </a:p>
          <a:p>
            <a:endParaRPr/>
          </a:p>
          <a:p>
            <a:r>
              <a:t>AWS Batch now supports using AWS Identity and Access Management (IAM) service-linked roles , which allows customers to easily delegate permissions to AWS Batch to run their batch computing workloads.</a:t>
            </a:r>
          </a:p>
        </p:txBody>
      </p:sp>
    </p:spTree>
  </p:cSld>
  <p:clrMapOvr>
    <a:masterClrMapping/>
  </p:clrMapOvr>
</p:sld>
</file>

<file path=ppt/slides/slide5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Data management is now generally available in the AWS Amplify Admin UI</a:t>
            </a:r>
          </a:p>
        </p:txBody>
      </p:sp>
      <p:sp>
        <p:nvSpPr>
          <p:cNvPr id="3" name="Content Placeholder 2"/>
          <p:cNvSpPr>
            <a:spLocks noGrp="1"/>
          </p:cNvSpPr>
          <p:nvPr>
            <p:ph sz="half" idx="1"/>
          </p:nvPr>
        </p:nvSpPr>
        <p:spPr/>
        <p:txBody>
          <a:bodyPr/>
          <a:lstStyle/>
          <a:p>
            <a:r>
              <a:t>06 Apr</a:t>
            </a:r>
          </a:p>
          <a:p>
            <a:endParaRPr/>
          </a:p>
          <a:p>
            <a:r>
              <a:t>The data management experience in the AWS Amplify Admin UI is now generally available with new capabilities for seed data generation, data sorting, and data filtering. Launched at re:Invent 2020, the Amplify Admin UI is an externally hosted console for frontend teams to visually create an app backend and manage the app content and users.</a:t>
            </a:r>
          </a:p>
        </p:txBody>
      </p:sp>
    </p:spTree>
  </p:cSld>
  <p:clrMapOvr>
    <a:masterClrMapping/>
  </p:clrMapOvr>
</p:sld>
</file>

<file path=ppt/slides/slide5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Elemental MediaLive now supports HTML 5 motion graphics overlay</a:t>
            </a:r>
          </a:p>
        </p:txBody>
      </p:sp>
      <p:sp>
        <p:nvSpPr>
          <p:cNvPr id="3" name="Content Placeholder 2"/>
          <p:cNvSpPr>
            <a:spLocks noGrp="1"/>
          </p:cNvSpPr>
          <p:nvPr>
            <p:ph sz="half" idx="1"/>
          </p:nvPr>
        </p:nvSpPr>
        <p:spPr/>
        <p:txBody>
          <a:bodyPr/>
          <a:lstStyle/>
          <a:p>
            <a:r>
              <a:t>06 Apr</a:t>
            </a:r>
          </a:p>
          <a:p>
            <a:endParaRPr/>
          </a:p>
          <a:p>
            <a:r>
              <a:t>Today, we are excited to announce HTML5-based motion graphics capabilities for AWS Elemental MediaLive channels. With an HTML5 source, you can add rich graphics directly onto your MediaLive channel including lower thirds, scrolling text, scoreboards, or full-screen graphics.</a:t>
            </a:r>
          </a:p>
        </p:txBody>
      </p:sp>
    </p:spTree>
  </p:cSld>
  <p:clrMapOvr>
    <a:masterClrMapping/>
  </p:clrMapOvr>
</p:sld>
</file>

<file path=ppt/slides/slide5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Systems Manager Run Command now displays more logs and enables log download from the console</a:t>
            </a:r>
          </a:p>
        </p:txBody>
      </p:sp>
      <p:sp>
        <p:nvSpPr>
          <p:cNvPr id="3" name="Content Placeholder 2"/>
          <p:cNvSpPr>
            <a:spLocks noGrp="1"/>
          </p:cNvSpPr>
          <p:nvPr>
            <p:ph sz="half" idx="1"/>
          </p:nvPr>
        </p:nvSpPr>
        <p:spPr/>
        <p:txBody>
          <a:bodyPr/>
          <a:lstStyle/>
          <a:p>
            <a:r>
              <a:t>05 Apr</a:t>
            </a:r>
          </a:p>
          <a:p>
            <a:endParaRPr/>
          </a:p>
          <a:p>
            <a:r>
              <a:t>Run Command, a capability of AWS Systems Manager, now displays up to 24,000 characters of the output log of a Run Command invocation from the console. This is an increase from the 2,500 characters available in the console before this enhancement. Additionally, you can now view the output and error logs separately, and you can copy the logs or download them as text files directly from the console. This feature reduces the need to navigate to the Amazon Simple Storage Service (Amazon S3) or Amazon CloudWatch consoles to view and download logs for Run Command invocations, which helps you troubleshoot invocation issues more quickly.</a:t>
            </a:r>
          </a:p>
        </p:txBody>
      </p:sp>
    </p:spTree>
  </p:cSld>
  <p:clrMapOvr>
    <a:masterClrMapping/>
  </p:clrMapOvr>
</p:sld>
</file>

<file path=ppt/slides/slide5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WorkSpaces webcam support now Generally Available</a:t>
            </a:r>
          </a:p>
        </p:txBody>
      </p:sp>
      <p:sp>
        <p:nvSpPr>
          <p:cNvPr id="3" name="Content Placeholder 2"/>
          <p:cNvSpPr>
            <a:spLocks noGrp="1"/>
          </p:cNvSpPr>
          <p:nvPr>
            <p:ph sz="half" idx="1"/>
          </p:nvPr>
        </p:nvSpPr>
        <p:spPr/>
        <p:txBody>
          <a:bodyPr/>
          <a:lstStyle/>
          <a:p>
            <a:r>
              <a:t>05 Apr</a:t>
            </a:r>
          </a:p>
          <a:p>
            <a:endParaRPr/>
          </a:p>
          <a:p>
            <a:r>
              <a:t>Starting today, Amazon WorkSpaces supports real-time audio-video (AV) by seamlessly redirecting local webcam video input to WorkSpaces desktops. With webcam support, you can make video conferencing and other streaming applications available to your users, to enhance the ability of teams to collaborate from anywhere. Your users can collaborate by using familiar video conferencing applications without having to leave their WorkSpaces desktops. To get started, see Webcams and Other Video Devices  in the Amazon WorkSpaces User Guide .</a:t>
            </a:r>
          </a:p>
        </p:txBody>
      </p:sp>
    </p:spTree>
  </p:cSld>
  <p:clrMapOvr>
    <a:masterClrMapping/>
  </p:clrMapOvr>
</p:sld>
</file>

<file path=ppt/slides/slide5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New options to trigger Amazon SageMaker Pipeline executions</a:t>
            </a:r>
          </a:p>
        </p:txBody>
      </p:sp>
      <p:sp>
        <p:nvSpPr>
          <p:cNvPr id="3" name="Content Placeholder 2"/>
          <p:cNvSpPr>
            <a:spLocks noGrp="1"/>
          </p:cNvSpPr>
          <p:nvPr>
            <p:ph sz="half" idx="1"/>
          </p:nvPr>
        </p:nvSpPr>
        <p:spPr/>
        <p:txBody>
          <a:bodyPr/>
          <a:lstStyle/>
          <a:p>
            <a:r>
              <a:t>05 Apr</a:t>
            </a:r>
          </a:p>
          <a:p>
            <a:endParaRPr/>
          </a:p>
          <a:p>
            <a:r>
              <a:t>Amazon SageMaker Pipelines, the first purpose-built, continuous integration and continuous deployment (CI/CD) service for machine learning (ML), is now supported as a target for routing events in Amazon EventBridge. This enables customers to trigger the execution of the Amazon SageMaker model building pipeline based on any event in their event bus or on a schedule by selecting the pipeline as the target in Amazon EventBridge. For example, customers can set up EventBridge to trigger the execution of the SageMaker model building pipeline when a new file with the training data set is uploaded to an Amazon S3 bucket or when the SageMaker Model Monitor indicates a deviation in model quality through alarms in Amazon CloudWatch metrics. Customers can also create rules in Amazon EventBridge that trigger the pipeline execution on an automated schedule.</a:t>
            </a:r>
          </a:p>
        </p:txBody>
      </p:sp>
    </p:spTree>
  </p:cSld>
  <p:clrMapOvr>
    <a:masterClrMapping/>
  </p:clrMapOvr>
</p:sld>
</file>

<file path=ppt/slides/slide5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MQ is now available in the Japan (Osaka) region</a:t>
            </a:r>
          </a:p>
        </p:txBody>
      </p:sp>
      <p:sp>
        <p:nvSpPr>
          <p:cNvPr id="3" name="Content Placeholder 2"/>
          <p:cNvSpPr>
            <a:spLocks noGrp="1"/>
          </p:cNvSpPr>
          <p:nvPr>
            <p:ph sz="half" idx="1"/>
          </p:nvPr>
        </p:nvSpPr>
        <p:spPr/>
        <p:txBody>
          <a:bodyPr/>
          <a:lstStyle/>
          <a:p>
            <a:r>
              <a:t>05 Apr</a:t>
            </a:r>
          </a:p>
          <a:p>
            <a:endParaRPr/>
          </a:p>
          <a:p>
            <a:r>
              <a:t>Amazon MQ is now available in a total of 20 regions, with the addition of the Japan (Osaka) region.</a:t>
            </a:r>
          </a:p>
        </p:txBody>
      </p:sp>
    </p:spTree>
  </p:cSld>
  <p:clrMapOvr>
    <a:masterClrMapping/>
  </p:clrMapOvr>
</p:sld>
</file>

<file path=ppt/slides/slide5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New AWS Solutions Consulting Offer - Design and Build Applications at Speed with DAPx</a:t>
            </a:r>
          </a:p>
        </p:txBody>
      </p:sp>
      <p:sp>
        <p:nvSpPr>
          <p:cNvPr id="3" name="Content Placeholder 2"/>
          <p:cNvSpPr>
            <a:spLocks noGrp="1"/>
          </p:cNvSpPr>
          <p:nvPr>
            <p:ph sz="half" idx="1"/>
          </p:nvPr>
        </p:nvSpPr>
        <p:spPr/>
        <p:txBody>
          <a:bodyPr/>
          <a:lstStyle/>
          <a:p>
            <a:r>
              <a:t>05 Apr</a:t>
            </a:r>
          </a:p>
          <a:p>
            <a:endParaRPr/>
          </a:p>
          <a:p>
            <a:r>
              <a:t>Design and Build Applications at Speed with DAPx is an AWS Solutions Consulting Offer delivered via a consulting engagement from Version 1, an AWS DevOps Competency Partner. Design and Build Applications at Speed with DAPx delivers an AWS cloud digital solution bespoke to customer requirements that follows AWS best practices to support your digital presence and business solution. Customers that request this consulting offer will participate in an engagement that delivers planning and design analysis, delivery, release management, and support.</a:t>
            </a:r>
          </a:p>
        </p:txBody>
      </p:sp>
    </p:spTree>
  </p:cSld>
  <p:clrMapOvr>
    <a:masterClrMapping/>
  </p:clrMapOvr>
</p:sld>
</file>

<file path=ppt/slides/slide5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WorkSpaces now supports smart cards with the WorkSpaces macOS client application</a:t>
            </a:r>
          </a:p>
        </p:txBody>
      </p:sp>
      <p:sp>
        <p:nvSpPr>
          <p:cNvPr id="3" name="Content Placeholder 2"/>
          <p:cNvSpPr>
            <a:spLocks noGrp="1"/>
          </p:cNvSpPr>
          <p:nvPr>
            <p:ph sz="half" idx="1"/>
          </p:nvPr>
        </p:nvSpPr>
        <p:spPr/>
        <p:txBody>
          <a:bodyPr/>
          <a:lstStyle/>
          <a:p>
            <a:r>
              <a:t>05 Apr</a:t>
            </a:r>
          </a:p>
          <a:p>
            <a:endParaRPr/>
          </a:p>
          <a:p>
            <a:r>
              <a:t>Starting today, you can use the Amazon WorkSpaces macOS client application with Common Access Card (CAC) and Personal Identity Verification (PIV) smart cards. Smart card support is available on WorkSpaces using the WorkSpaces Streaming Protocol (WSP). WSP is a cloud-native streaming protocol that enables a consistent user experience when your end users are accessing their WorkSpaces across global distances and unreliable networks. To learn more, see Amazon WorkSpaces Streaming Protocol.</a:t>
            </a:r>
          </a:p>
        </p:txBody>
      </p:sp>
    </p:spTree>
  </p:cSld>
  <p:clrMapOvr>
    <a:masterClrMapping/>
  </p:clrMapOvr>
</p:sld>
</file>

<file path=ppt/slides/slide5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Macie now available in AWS Asia Pacific (Osaka) Region</a:t>
            </a:r>
          </a:p>
        </p:txBody>
      </p:sp>
      <p:sp>
        <p:nvSpPr>
          <p:cNvPr id="3" name="Content Placeholder 2"/>
          <p:cNvSpPr>
            <a:spLocks noGrp="1"/>
          </p:cNvSpPr>
          <p:nvPr>
            <p:ph sz="half" idx="1"/>
          </p:nvPr>
        </p:nvSpPr>
        <p:spPr/>
        <p:txBody>
          <a:bodyPr/>
          <a:lstStyle/>
          <a:p>
            <a:r>
              <a:t>05 Apr</a:t>
            </a:r>
          </a:p>
          <a:p>
            <a:endParaRPr/>
          </a:p>
          <a:p>
            <a:r>
              <a:t>Amazon Macie is now available in AWS Asia Pacific (Osaka) Region. You can now discover sensitive data stored in this region to help protect your AWS workloads and data in Amazon S3.</a:t>
            </a:r>
          </a:p>
        </p:txBody>
      </p:sp>
    </p:spTree>
  </p:cSld>
  <p:clrMapOvr>
    <a:masterClrMapping/>
  </p:clrMapOvr>
</p:sld>
</file>

<file path=ppt/slides/slide5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Aurora PostgreSQL Patches 1.9.1 / 2.7.1 / 3.4.1 / 4.0.1 now available</a:t>
            </a:r>
          </a:p>
        </p:txBody>
      </p:sp>
      <p:sp>
        <p:nvSpPr>
          <p:cNvPr id="3" name="Content Placeholder 2"/>
          <p:cNvSpPr>
            <a:spLocks noGrp="1"/>
          </p:cNvSpPr>
          <p:nvPr>
            <p:ph sz="half" idx="1"/>
          </p:nvPr>
        </p:nvSpPr>
        <p:spPr/>
        <p:txBody>
          <a:bodyPr/>
          <a:lstStyle/>
          <a:p>
            <a:r>
              <a:t>02 Apr</a:t>
            </a:r>
          </a:p>
          <a:p>
            <a:endParaRPr/>
          </a:p>
          <a:p>
            <a:r>
              <a:t>Patches 1.9.1 / 2.7.1 / 3.4.1 / 4.0.1 now available for customers using Amazon Aurora PostgreSQL. For detailed release notes visit our version documentation . You can apply the new patch version in the AWS Management Console, via the AWS CLI, or via the RDS API. For detailed instructions, please see our technical documentation .</a:t>
            </a:r>
          </a:p>
        </p:txBody>
      </p:sp>
    </p:spTree>
  </p:cSld>
  <p:clrMapOvr>
    <a:masterClrMapping/>
  </p:clrMapOvr>
</p:sld>
</file>

<file path=ppt/slides/slide5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Budgets announces CloudFormation support for budget actions</a:t>
            </a:r>
          </a:p>
        </p:txBody>
      </p:sp>
      <p:sp>
        <p:nvSpPr>
          <p:cNvPr id="3" name="Content Placeholder 2"/>
          <p:cNvSpPr>
            <a:spLocks noGrp="1"/>
          </p:cNvSpPr>
          <p:nvPr>
            <p:ph sz="half" idx="1"/>
          </p:nvPr>
        </p:nvSpPr>
        <p:spPr/>
        <p:txBody>
          <a:bodyPr/>
          <a:lstStyle/>
          <a:p>
            <a:r>
              <a:t>02 Apr</a:t>
            </a:r>
          </a:p>
          <a:p>
            <a:endParaRPr/>
          </a:p>
          <a:p>
            <a:r>
              <a:t>You can now configure budgets actions to enforce budget limits for your AWS Budgets resources in your AWS CloudFormation templates, stacks, and StackSets. With budget actions, you can define the action you want to take in your account when a budget exceeds the threshold you defined (actual or forecasted amounts). This level of control will allow you to reduce unintentional overspending in your account. You can choose among three action types: Identity and Access Management (IAM) policy, Service Control policy (SCPs), or target running instances (EC2 or RDS). For example, you can choose to apply a custom “Deny EC2 Run Instances” IAM policy to a user, group, or role in your account, once your monthly budget for EC2 has been exceeded. With the same budget threshold, you can configure a second action that shuts down specific EC2 instances within a particular AWS Region.</a:t>
            </a:r>
          </a:p>
        </p:txBody>
      </p:sp>
    </p:spTree>
  </p:cSld>
  <p:clrMapOvr>
    <a:masterClrMapping/>
  </p:clrMapOvr>
</p:sld>
</file>

<file path=ppt/slides/slide5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Announcing support for IAM Condition Keys and CMK for custom models for Amazon Comprehend</a:t>
            </a:r>
          </a:p>
        </p:txBody>
      </p:sp>
      <p:sp>
        <p:nvSpPr>
          <p:cNvPr id="3" name="Content Placeholder 2"/>
          <p:cNvSpPr>
            <a:spLocks noGrp="1"/>
          </p:cNvSpPr>
          <p:nvPr>
            <p:ph sz="half" idx="1"/>
          </p:nvPr>
        </p:nvSpPr>
        <p:spPr/>
        <p:txBody>
          <a:bodyPr/>
          <a:lstStyle/>
          <a:p>
            <a:r>
              <a:t>02 Apr</a:t>
            </a:r>
          </a:p>
          <a:p>
            <a:endParaRPr/>
          </a:p>
          <a:p>
            <a:r>
              <a:t>Amazon Comprehend is a natural language processing (NLP) service that uses machine learning to analyze text documents and identify insights such as sentiment, entities, and topics in text. Today, we are announcing support for two security focused features: support for IAM condition keys and support for encrypting custom models with customer managed KMS keys. With AWS Identity and Access Management (IAM) condition keys, you can control the Amazon Virtual Private Cloud (VPC) and encryption settings for your Amazon Comprehend APIs. You can use the new condition keys in IAM policies when granting permissions to create asynchronous jobs and creating custom classification or custom entity training jobs in your organization. For example, As a security requirement, you can now enforce that all Comprehend asynchronous jobs must use VPC endpoints.Additionally, while Amazon Comprehend already supported Customer Managed Keys (CMK) for encrypting your training data and machine learning volumes used for inference, you can now encrypt your custom models in Amazon Comprehend using a Customer Managed Key (CMK).</a:t>
            </a:r>
          </a:p>
        </p:txBody>
      </p:sp>
    </p:spTree>
  </p:cSld>
  <p:clrMapOvr>
    <a:masterClrMapping/>
  </p:clrMapOvr>
</p:sld>
</file>

<file path=ppt/slides/slide5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WAF now supports Labels to improve rule customization and reporting</a:t>
            </a:r>
          </a:p>
        </p:txBody>
      </p:sp>
      <p:sp>
        <p:nvSpPr>
          <p:cNvPr id="3" name="Content Placeholder 2"/>
          <p:cNvSpPr>
            <a:spLocks noGrp="1"/>
          </p:cNvSpPr>
          <p:nvPr>
            <p:ph sz="half" idx="1"/>
          </p:nvPr>
        </p:nvSpPr>
        <p:spPr/>
        <p:txBody>
          <a:bodyPr/>
          <a:lstStyle/>
          <a:p>
            <a:r>
              <a:t>02 Apr</a:t>
            </a:r>
          </a:p>
          <a:p>
            <a:endParaRPr/>
          </a:p>
          <a:p>
            <a:r>
              <a:t>AWS WAF now lets you generate labels and customize your WAF rules based on those labels. With this feature, you can configure WAF to add descriptive labels to web requests when a WAF rule matches the request, regardless of the action associated with the rule. You can also check for the presence of those labels in subsequent WAF rules and combine with other WAF rules to take action on web requests that include the label. Creating a label also generates a corresponding CloudWatch metric and adds the label to your WAF logs for improved visibility.</a:t>
            </a:r>
          </a:p>
        </p:txBody>
      </p:sp>
    </p:spTree>
  </p:cSld>
  <p:clrMapOvr>
    <a:masterClrMapping/>
  </p:clrMapOvr>
</p:sld>
</file>

<file path=ppt/slides/slide5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Prepare data from Amazon Redshift and other JDBC-supported databases/data warehouses in AWS Glue DataBrew through native connectors</a:t>
            </a:r>
          </a:p>
        </p:txBody>
      </p:sp>
      <p:sp>
        <p:nvSpPr>
          <p:cNvPr id="3" name="Content Placeholder 2"/>
          <p:cNvSpPr>
            <a:spLocks noGrp="1"/>
          </p:cNvSpPr>
          <p:nvPr>
            <p:ph sz="half" idx="1"/>
          </p:nvPr>
        </p:nvSpPr>
        <p:spPr/>
        <p:txBody>
          <a:bodyPr/>
          <a:lstStyle/>
          <a:p>
            <a:r>
              <a:t>02 Apr</a:t>
            </a:r>
          </a:p>
          <a:p>
            <a:endParaRPr/>
          </a:p>
          <a:p>
            <a:r>
              <a:t>You can now clean and transform data with an interactive, point-and-click visual interface from Amazon Redshift, Snowflake, Microsoft SQL Server, MySQL, Oracle Database, and PostgreSQL through native JDBC connectors in AWS Glue DataBrew. In just a few clicks, you can configure these JDBC connections from the AWS Management Console  to directly explore and experiment with datasets from AWS data lakes, data warehouses, and databases without writing code.</a:t>
            </a:r>
          </a:p>
        </p:txBody>
      </p:sp>
    </p:spTree>
  </p:cSld>
  <p:clrMapOvr>
    <a:masterClrMapping/>
  </p:clrMapOvr>
</p:sld>
</file>

<file path=ppt/slides/slide5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VPC Flow Logs announces out-of-the-box integration with Amazon Athena</a:t>
            </a:r>
          </a:p>
        </p:txBody>
      </p:sp>
      <p:sp>
        <p:nvSpPr>
          <p:cNvPr id="3" name="Content Placeholder 2"/>
          <p:cNvSpPr>
            <a:spLocks noGrp="1"/>
          </p:cNvSpPr>
          <p:nvPr>
            <p:ph sz="half" idx="1"/>
          </p:nvPr>
        </p:nvSpPr>
        <p:spPr/>
        <p:txBody>
          <a:bodyPr/>
          <a:lstStyle/>
          <a:p>
            <a:r>
              <a:t>02 Apr</a:t>
            </a:r>
          </a:p>
          <a:p>
            <a:endParaRPr/>
          </a:p>
          <a:p>
            <a:r>
              <a:t>Amazon Virtual Private Cloud (Amazon VPC) flow logs now makes it easier to query VPC flow logs using Amazon Athena. With a few clicks, you can now automate the integration between Athena and your VPC flow logs delivered to Amazon Simple Storage Service (S3). You can also choose from a set of predefined Athena queries  to derive actionable insight such as the total egress traffic from your VPCs, identify the top talkers in your subnets, or troubleshoot anomalies in your VPC traffic.</a:t>
            </a:r>
          </a:p>
        </p:txBody>
      </p:sp>
    </p:spTree>
  </p:cSld>
  <p:clrMapOvr>
    <a:masterClrMapping/>
  </p:clrMapOvr>
</p:sld>
</file>

<file path=ppt/slides/slide5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Bring Your Own IP for Amazon Virtual Private Cloud is Now Available in Four Additional Regions</a:t>
            </a:r>
          </a:p>
        </p:txBody>
      </p:sp>
      <p:sp>
        <p:nvSpPr>
          <p:cNvPr id="3" name="Content Placeholder 2"/>
          <p:cNvSpPr>
            <a:spLocks noGrp="1"/>
          </p:cNvSpPr>
          <p:nvPr>
            <p:ph sz="half" idx="1"/>
          </p:nvPr>
        </p:nvSpPr>
        <p:spPr/>
        <p:txBody>
          <a:bodyPr/>
          <a:lstStyle/>
          <a:p>
            <a:r>
              <a:t>02 Apr</a:t>
            </a:r>
          </a:p>
          <a:p>
            <a:endParaRPr/>
          </a:p>
          <a:p>
            <a:r>
              <a:t>Starting today, Bring Your Own IP (BYOIP) is available in four additional AWS Regions: GovCloud (US-East), GovCloud (US-West), Asia Pacific (Hong-Kong), and US West (Northern California).  </a:t>
            </a:r>
          </a:p>
        </p:txBody>
      </p:sp>
    </p:spTree>
  </p:cSld>
  <p:clrMapOvr>
    <a:masterClrMapping/>
  </p:clrMapOvr>
</p:sld>
</file>

<file path=ppt/slides/slide5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EKS is now FedRAMP-High Compliant</a:t>
            </a:r>
          </a:p>
        </p:txBody>
      </p:sp>
      <p:sp>
        <p:nvSpPr>
          <p:cNvPr id="3" name="Content Placeholder 2"/>
          <p:cNvSpPr>
            <a:spLocks noGrp="1"/>
          </p:cNvSpPr>
          <p:nvPr>
            <p:ph sz="half" idx="1"/>
          </p:nvPr>
        </p:nvSpPr>
        <p:spPr/>
        <p:txBody>
          <a:bodyPr/>
          <a:lstStyle/>
          <a:p>
            <a:r>
              <a:t>02 Apr</a:t>
            </a:r>
          </a:p>
          <a:p>
            <a:endParaRPr/>
          </a:p>
          <a:p>
            <a:r>
              <a:t>Amazon Elastic Kubernetes Service (EKS) clusters running in the AWS GovCloud (US) Regions are now compliant with the Federal Risk and Authorization Management Program (FedRAMP) High baseline.</a:t>
            </a:r>
          </a:p>
        </p:txBody>
      </p:sp>
    </p:spTree>
  </p:cSld>
  <p:clrMapOvr>
    <a:masterClrMapping/>
  </p:clrMapOvr>
</p:sld>
</file>

<file path=ppt/slides/slide5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Firewall Manager now supports centralized deployment of the new AWS WAF Bot Control across your organization</a:t>
            </a:r>
          </a:p>
        </p:txBody>
      </p:sp>
      <p:sp>
        <p:nvSpPr>
          <p:cNvPr id="3" name="Content Placeholder 2"/>
          <p:cNvSpPr>
            <a:spLocks noGrp="1"/>
          </p:cNvSpPr>
          <p:nvPr>
            <p:ph sz="half" idx="1"/>
          </p:nvPr>
        </p:nvSpPr>
        <p:spPr/>
        <p:txBody>
          <a:bodyPr/>
          <a:lstStyle/>
          <a:p>
            <a:r>
              <a:t>02 Apr</a:t>
            </a:r>
          </a:p>
          <a:p>
            <a:endParaRPr/>
          </a:p>
          <a:p>
            <a:r>
              <a:t>AWS Firewall Manager now enables security administrators to deploy the recently launched AWS WAF Bot Control across accounts in their organization, from a central administrator account. AWS WAF Bot Control is a new managed rule group that gives you visibility and control over common and pervasive bot traffic to your applications. You can use Bot Control to protect your web applications from automated bots that consume excess resources, skew metrics, cause downtime, or perform other malicious activities.</a:t>
            </a:r>
          </a:p>
        </p:txBody>
      </p:sp>
    </p:spTree>
  </p:cSld>
  <p:clrMapOvr>
    <a:masterClrMapping/>
  </p:clrMapOvr>
</p:sld>
</file>

<file path=ppt/slides/slide5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Batch now supports EFS volumes at the job level</a:t>
            </a:r>
          </a:p>
        </p:txBody>
      </p:sp>
      <p:sp>
        <p:nvSpPr>
          <p:cNvPr id="3" name="Content Placeholder 2"/>
          <p:cNvSpPr>
            <a:spLocks noGrp="1"/>
          </p:cNvSpPr>
          <p:nvPr>
            <p:ph sz="half" idx="1"/>
          </p:nvPr>
        </p:nvSpPr>
        <p:spPr/>
        <p:txBody>
          <a:bodyPr/>
          <a:lstStyle/>
          <a:p>
            <a:r>
              <a:t>01 Apr</a:t>
            </a:r>
          </a:p>
          <a:p>
            <a:endParaRPr/>
          </a:p>
          <a:p>
            <a:r>
              <a:t>AWS Batch customers can now specify EFS file systems in their AWS Batch job definitions. AWS Batch jobs using EFS will automatically mount the file systems specified by the customer in the job definition and make them available to the jobs, across Availability Zones. This enables persistent, shared storage to be defined and used at the job level.</a:t>
            </a:r>
          </a:p>
        </p:txBody>
      </p:sp>
    </p:spTree>
  </p:cSld>
  <p:clrMapOvr>
    <a:masterClrMapping/>
  </p:clrMapOvr>
</p:sld>
</file>

<file path=ppt/slides/slide5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Announcing cross-VPC support for Amazon Redshift powered by AWS PrivateLink</a:t>
            </a:r>
          </a:p>
        </p:txBody>
      </p:sp>
      <p:sp>
        <p:nvSpPr>
          <p:cNvPr id="3" name="Content Placeholder 2"/>
          <p:cNvSpPr>
            <a:spLocks noGrp="1"/>
          </p:cNvSpPr>
          <p:nvPr>
            <p:ph sz="half" idx="1"/>
          </p:nvPr>
        </p:nvSpPr>
        <p:spPr/>
        <p:txBody>
          <a:bodyPr/>
          <a:lstStyle/>
          <a:p>
            <a:r>
              <a:t>01 Apr</a:t>
            </a:r>
          </a:p>
          <a:p>
            <a:endParaRPr/>
          </a:p>
          <a:p>
            <a:r>
              <a:t>Amazon Redshift now supports managed VPC endpoints (powered by AWS PrivateLink) to connect to your Amazon Redshift cluster in a Virtual Private Cloud (VPC). With an Amazon Redshift-managed endpoint, you can now privately access your Amazon Redshift data warehouse within your (VPC) from your client applications in another VPC within the same or another AWS account and running on-premises without using public IPs or requiring traffic to traverse the Internet.</a:t>
            </a:r>
          </a:p>
        </p:txBody>
      </p:sp>
    </p:spTree>
  </p:cSld>
  <p:clrMapOvr>
    <a:masterClrMapping/>
  </p:clrMapOvr>
</p:sld>
</file>

<file path=ppt/slides/slide5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Lightsail expands blueprint selection with support for PrestaShop and CentOS 8</a:t>
            </a:r>
          </a:p>
        </p:txBody>
      </p:sp>
      <p:sp>
        <p:nvSpPr>
          <p:cNvPr id="3" name="Content Placeholder 2"/>
          <p:cNvSpPr>
            <a:spLocks noGrp="1"/>
          </p:cNvSpPr>
          <p:nvPr>
            <p:ph sz="half" idx="1"/>
          </p:nvPr>
        </p:nvSpPr>
        <p:spPr/>
        <p:txBody>
          <a:bodyPr/>
          <a:lstStyle/>
          <a:p>
            <a:r>
              <a:t>01 Apr</a:t>
            </a:r>
          </a:p>
          <a:p>
            <a:endParaRPr/>
          </a:p>
          <a:p>
            <a:r>
              <a:t>Amazon Lightsail now offers PrestaShop and CentOS 8 blueprints. Lightsail provides a curated selection of blueprints that specify the operating system and software that is preinstalled on your instance bundles when they’re created. With the addition of PrestaShop and CentOS 8, Lightsail makes it easier to create an e-commerce site or custom application with a few clicks.</a:t>
            </a:r>
          </a:p>
        </p:txBody>
      </p:sp>
    </p:spTree>
  </p:cSld>
  <p:clrMapOvr>
    <a:masterClrMapping/>
  </p:clrMapOvr>
</p:sld>
</file>

<file path=ppt/slides/slide5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Announcing Amazon Forecast Weather Index for Canada</a:t>
            </a:r>
          </a:p>
        </p:txBody>
      </p:sp>
      <p:sp>
        <p:nvSpPr>
          <p:cNvPr id="3" name="Content Placeholder 2"/>
          <p:cNvSpPr>
            <a:spLocks noGrp="1"/>
          </p:cNvSpPr>
          <p:nvPr>
            <p:ph sz="half" idx="1"/>
          </p:nvPr>
        </p:nvSpPr>
        <p:spPr/>
        <p:txBody>
          <a:bodyPr/>
          <a:lstStyle/>
          <a:p>
            <a:r>
              <a:t>01 Apr</a:t>
            </a:r>
          </a:p>
          <a:p>
            <a:endParaRPr/>
          </a:p>
          <a:p>
            <a:r>
              <a:t>We’re excited to announce that Amazon Forecast Weather Index is now also available in the CA region. Weather Index can increase your forecasting accuracy, by automatically including the latest local weather information to your demand forecasts with one click and at no extra cost. Weather conditions influence consumer demand patterns, product merchandizing decisions, staffing requirements and energy consumption needs; however, acquiring, cleaning, and effectively using live weather information for demand forecasting is challenging and requires ongoing maintenance. With this launch, customers who have been using Weather Index for US and Europe locations, can now also use Weather Index for the Canada region to include a 14-day weather forecasts with one click to your demand forecast.</a:t>
            </a:r>
          </a:p>
        </p:txBody>
      </p:sp>
    </p:spTree>
  </p:cSld>
  <p:clrMapOvr>
    <a:masterClrMapping/>
  </p:clrMapOvr>
</p:sld>
</file>

<file path=ppt/slides/slide5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EMR now supported on Amazon EC2 Graviton2-based instances in AWS GovCloud (US) Regions</a:t>
            </a:r>
          </a:p>
        </p:txBody>
      </p:sp>
      <p:sp>
        <p:nvSpPr>
          <p:cNvPr id="3" name="Content Placeholder 2"/>
          <p:cNvSpPr>
            <a:spLocks noGrp="1"/>
          </p:cNvSpPr>
          <p:nvPr>
            <p:ph sz="half" idx="1"/>
          </p:nvPr>
        </p:nvSpPr>
        <p:spPr/>
        <p:txBody>
          <a:bodyPr/>
          <a:lstStyle/>
          <a:p>
            <a:r>
              <a:t>01 Apr</a:t>
            </a:r>
          </a:p>
          <a:p>
            <a:endParaRPr/>
          </a:p>
          <a:p>
            <a:r>
              <a:t>Amazon EMR now supports Amazon EC2 M6g, C6g and R6g instances with EMR Versions 6.1.0, 5.31.0 and later in AWS GovCloud (US) Regions. These instances are powered by AWS Graviton2 processors that are custom designed by AWS utilizing 64-bit ArmNeoverse cores to deliver the best price performance for cloud workloads running in Amazon EC2. Please read our blog for more information.</a:t>
            </a:r>
          </a:p>
        </p:txBody>
      </p:sp>
    </p:spTree>
  </p:cSld>
  <p:clrMapOvr>
    <a:masterClrMapping/>
  </p:clrMapOvr>
</p:sld>
</file>

<file path=ppt/slides/slide5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Systems Manager Parameter Store now supports easier public parameter discoverability</a:t>
            </a:r>
          </a:p>
        </p:txBody>
      </p:sp>
      <p:sp>
        <p:nvSpPr>
          <p:cNvPr id="3" name="Content Placeholder 2"/>
          <p:cNvSpPr>
            <a:spLocks noGrp="1"/>
          </p:cNvSpPr>
          <p:nvPr>
            <p:ph sz="half" idx="1"/>
          </p:nvPr>
        </p:nvSpPr>
        <p:spPr/>
        <p:txBody>
          <a:bodyPr/>
          <a:lstStyle/>
          <a:p>
            <a:r>
              <a:t>01 Apr</a:t>
            </a:r>
          </a:p>
          <a:p>
            <a:endParaRPr/>
          </a:p>
          <a:p>
            <a:r>
              <a:t>AWS announces a new feature of AWS Systems Manager Parameter Store that helps you discover public parameters more easily.</a:t>
            </a:r>
          </a:p>
        </p:txBody>
      </p:sp>
    </p:spTree>
  </p:cSld>
  <p:clrMapOvr>
    <a:masterClrMapping/>
  </p:clrMapOvr>
</p:sld>
</file>

<file path=ppt/slides/slide5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Glue Schema Registry is now available in four more AWS regions</a:t>
            </a:r>
          </a:p>
        </p:txBody>
      </p:sp>
      <p:sp>
        <p:nvSpPr>
          <p:cNvPr id="3" name="Content Placeholder 2"/>
          <p:cNvSpPr>
            <a:spLocks noGrp="1"/>
          </p:cNvSpPr>
          <p:nvPr>
            <p:ph sz="half" idx="1"/>
          </p:nvPr>
        </p:nvSpPr>
        <p:spPr/>
        <p:txBody>
          <a:bodyPr/>
          <a:lstStyle/>
          <a:p>
            <a:r>
              <a:t>01 Apr</a:t>
            </a:r>
          </a:p>
          <a:p>
            <a:endParaRPr/>
          </a:p>
          <a:p>
            <a:r>
              <a:t>You can now use the AWS Glue Schema Registry , a serverless and free feature of AWS Glue, in the Europe (Milan), Middle East (Bahrain), Africa (Cape Town), and Asia Pacific (Hong Kong) regions to validate and control the evolution of streaming data using registered Apache Avro schemas.  </a:t>
            </a:r>
          </a:p>
        </p:txBody>
      </p:sp>
    </p:spTree>
  </p:cSld>
  <p:clrMapOvr>
    <a:masterClrMapping/>
  </p:clrMapOvr>
</p:sld>
</file>

<file path=ppt/slides/slide5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Security Hub achieves FedRAMP High authorization to enable security posture management for high-impact workloads</a:t>
            </a:r>
          </a:p>
        </p:txBody>
      </p:sp>
      <p:sp>
        <p:nvSpPr>
          <p:cNvPr id="3" name="Content Placeholder 2"/>
          <p:cNvSpPr>
            <a:spLocks noGrp="1"/>
          </p:cNvSpPr>
          <p:nvPr>
            <p:ph sz="half" idx="1"/>
          </p:nvPr>
        </p:nvSpPr>
        <p:spPr/>
        <p:txBody>
          <a:bodyPr/>
          <a:lstStyle/>
          <a:p>
            <a:r>
              <a:t>01 Apr</a:t>
            </a:r>
          </a:p>
          <a:p>
            <a:endParaRPr/>
          </a:p>
          <a:p>
            <a:r>
              <a:t>AWS Security Hub is now athorized as FedRAMP High in AWS GovCloud (US) and is available for security posture management on high-impact workloads. The Federal Risk and Authorization Management Program (FedRAMP) is a US government-wide program that delivers a standard approach to the security assessment, authorization, and continuous monitoring for cloud products and services. FedRAMP follows the National Institute of Standards and Technology (NIST) Special Publication 800 series and requires cloud service providers to receive an independent security assessment conducted by a third-party assessment organization (3PAO) to ensure that authorizations are compliant with the Federal Information Security Management Act (FISMA).</a:t>
            </a:r>
          </a:p>
        </p:txBody>
      </p:sp>
    </p:spTree>
  </p:cSld>
  <p:clrMapOvr>
    <a:masterClrMapping/>
  </p:clrMapOvr>
</p:sld>
</file>

<file path=ppt/slides/slide5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Backint Agent version 1.03 now available</a:t>
            </a:r>
          </a:p>
        </p:txBody>
      </p:sp>
      <p:sp>
        <p:nvSpPr>
          <p:cNvPr id="3" name="Content Placeholder 2"/>
          <p:cNvSpPr>
            <a:spLocks noGrp="1"/>
          </p:cNvSpPr>
          <p:nvPr>
            <p:ph sz="half" idx="1"/>
          </p:nvPr>
        </p:nvSpPr>
        <p:spPr/>
        <p:txBody>
          <a:bodyPr/>
          <a:lstStyle/>
          <a:p>
            <a:r>
              <a:t>01 Apr</a:t>
            </a:r>
          </a:p>
          <a:p>
            <a:endParaRPr/>
          </a:p>
          <a:p>
            <a:r>
              <a:t>AWS Backint Agent version 1.03 is now available in all commercial regions, including AWS GovCloud (US) Regions and the recently announced AWS Asia Pacific (Osaka) Region.</a:t>
            </a:r>
          </a:p>
        </p:txBody>
      </p:sp>
    </p:spTree>
  </p:cSld>
  <p:clrMapOvr>
    <a:masterClrMapping/>
  </p:clrMapOvr>
</p:sld>
</file>

<file path=ppt/slides/slide5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Lex launches support for Japanese</a:t>
            </a:r>
          </a:p>
        </p:txBody>
      </p:sp>
      <p:sp>
        <p:nvSpPr>
          <p:cNvPr id="3" name="Content Placeholder 2"/>
          <p:cNvSpPr>
            <a:spLocks noGrp="1"/>
          </p:cNvSpPr>
          <p:nvPr>
            <p:ph sz="half" idx="1"/>
          </p:nvPr>
        </p:nvSpPr>
        <p:spPr/>
        <p:txBody>
          <a:bodyPr/>
          <a:lstStyle/>
          <a:p>
            <a:r>
              <a:t>01 Apr</a:t>
            </a:r>
          </a:p>
          <a:p>
            <a:endParaRPr/>
          </a:p>
          <a:p>
            <a:r>
              <a:t>We are delighted to announce that Amazon Lex now supports Japanese. Amazon Lex is a service for building conversational interfaces into any application using voice and text. Amazon Lex provides deep learning powered automatic speech recognition (ASR) for converting speech to text and natural language understanding (NLU) capabilities to recognize the intent of the text, enabling you to build applications with lifelike conversational interactions. Now you can deliver a robust and localized conversational experience that understands Japanese. You can also respond to users with natural sounding Amazon Polly Japanese voices and provide a fully localized, voice experience.</a:t>
            </a:r>
          </a:p>
        </p:txBody>
      </p:sp>
    </p:spTree>
  </p:cSld>
  <p:clrMapOvr>
    <a:masterClrMapping/>
  </p:clrMapOvr>
</p:sld>
</file>

<file path=ppt/slides/slide5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HLS inputs now available with AWS Elemental MediaConvert</a:t>
            </a:r>
          </a:p>
        </p:txBody>
      </p:sp>
      <p:sp>
        <p:nvSpPr>
          <p:cNvPr id="3" name="Content Placeholder 2"/>
          <p:cNvSpPr>
            <a:spLocks noGrp="1"/>
          </p:cNvSpPr>
          <p:nvPr>
            <p:ph sz="half" idx="1"/>
          </p:nvPr>
        </p:nvSpPr>
        <p:spPr/>
        <p:txBody>
          <a:bodyPr/>
          <a:lstStyle/>
          <a:p>
            <a:r>
              <a:t>01 Apr</a:t>
            </a:r>
          </a:p>
          <a:p>
            <a:endParaRPr/>
          </a:p>
          <a:p>
            <a:r>
              <a:t>AWS Elemental MediaConvert now supports using HLS (HTTP Live Streaming) packages as input. HLS is a streaming format used for video distribution across a wide range of devices including smart phones, desktop browsers, and connected TVs.</a:t>
            </a:r>
          </a:p>
        </p:txBody>
      </p:sp>
    </p:spTree>
  </p:cSld>
  <p:clrMapOvr>
    <a:masterClrMapping/>
  </p:clrMapOvr>
</p:sld>
</file>

<file path=ppt/slides/slide5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Announcing AWS WAF Bot Control for visibility and control over common and pervasive bots</a:t>
            </a:r>
          </a:p>
        </p:txBody>
      </p:sp>
      <p:sp>
        <p:nvSpPr>
          <p:cNvPr id="3" name="Content Placeholder 2"/>
          <p:cNvSpPr>
            <a:spLocks noGrp="1"/>
          </p:cNvSpPr>
          <p:nvPr>
            <p:ph sz="half" idx="1"/>
          </p:nvPr>
        </p:nvSpPr>
        <p:spPr/>
        <p:txBody>
          <a:bodyPr/>
          <a:lstStyle/>
          <a:p>
            <a:r>
              <a:t>01 Apr</a:t>
            </a:r>
          </a:p>
          <a:p>
            <a:endParaRPr/>
          </a:p>
          <a:p>
            <a:r>
              <a:t>AWS WAF announces the launch of AWS WAF Bot Control, which gives you visibility and control over common and pervasive bots that consume excess resources, skew metrics, cause downtime, or perform other undesired activities. With Bot Control, you can easily monitor, block, or rate-limit pervasive bots, such as scrapers, scanners, and crawlers, or you can allow common bots, such as status monitors and search engines. You can add the Bot Control managed rule group alongside other Managed Rules for WAF or your own custom WAF rules to protect your applications.</a:t>
            </a:r>
          </a:p>
        </p:txBody>
      </p:sp>
    </p:spTree>
  </p:cSld>
  <p:clrMapOvr>
    <a:masterClrMapping/>
  </p:clrMapOvr>
</p:sld>
</file>

<file path=ppt/slides/slide5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Snowball Edge Compute Optimized is now available in the AWS Asia Pacific (Singapore) Region</a:t>
            </a:r>
          </a:p>
        </p:txBody>
      </p:sp>
      <p:sp>
        <p:nvSpPr>
          <p:cNvPr id="3" name="Content Placeholder 2"/>
          <p:cNvSpPr>
            <a:spLocks noGrp="1"/>
          </p:cNvSpPr>
          <p:nvPr>
            <p:ph sz="half" idx="1"/>
          </p:nvPr>
        </p:nvSpPr>
        <p:spPr/>
        <p:txBody>
          <a:bodyPr/>
          <a:lstStyle/>
          <a:p>
            <a:r>
              <a:t>31 Mar</a:t>
            </a:r>
          </a:p>
          <a:p>
            <a:endParaRPr/>
          </a:p>
          <a:p>
            <a:r>
              <a:t>AWS Snowball Edge Compute Optimized is now available in the AWS Asia Pacific (Singapore) Region. Snowball Edge Compute Optimized is a secure, rugged device that brings AWS computing and storage capabilities, such as Amazon EC2, Amazon EBS, Amazon S3, AWS IoT Greengrass, AWS Lambda functions, and AWS IAM to your edge environments for machine learning, data analytics, processing, and local storage. You can use Snowball Edge devices in environments with intermittent connectivity (like manufacturing, industrial, and transportation) or in extremely remote locations (like military or maritime operations). These devices may also be rack mounted and clustered together to build larger installations.</a:t>
            </a:r>
          </a:p>
        </p:txBody>
      </p:sp>
    </p:spTree>
  </p:cSld>
  <p:clrMapOvr>
    <a:masterClrMapping/>
  </p:clrMapOvr>
</p:sld>
</file>

<file path=ppt/slides/slide5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Seven popular classroom courses now with AWS Jam options</a:t>
            </a:r>
          </a:p>
        </p:txBody>
      </p:sp>
      <p:sp>
        <p:nvSpPr>
          <p:cNvPr id="3" name="Content Placeholder 2"/>
          <p:cNvSpPr>
            <a:spLocks noGrp="1"/>
          </p:cNvSpPr>
          <p:nvPr>
            <p:ph sz="half" idx="1"/>
          </p:nvPr>
        </p:nvSpPr>
        <p:spPr/>
        <p:txBody>
          <a:bodyPr/>
          <a:lstStyle/>
          <a:p>
            <a:r>
              <a:t>31 Mar</a:t>
            </a:r>
          </a:p>
          <a:p>
            <a:endParaRPr/>
          </a:p>
          <a:p>
            <a:r>
              <a:t>Customers who bring in private classroom training for their teams now have new options to supplement the in-course labs and instruction with an AWS Jam event. Seven of our popular three-day instructor-led courses are now available with an optional fourth day—an AWS Jam event—with gamified challenges to match the topics and services covered in the course. These are curated and instructor-facilitated to maximize learning and build your team’s capability in the AWS Cloud. These courses are generally available in all geographies, delivered in English.</a:t>
            </a:r>
          </a:p>
        </p:txBody>
      </p:sp>
    </p:spTree>
  </p:cSld>
  <p:clrMapOvr>
    <a:masterClrMapping/>
  </p:clrMapOvr>
</p:sld>
</file>

<file path=ppt/slides/slide5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New AWS Storage Gateway management console simplifies gateway creation and management</a:t>
            </a:r>
          </a:p>
        </p:txBody>
      </p:sp>
      <p:sp>
        <p:nvSpPr>
          <p:cNvPr id="3" name="Content Placeholder 2"/>
          <p:cNvSpPr>
            <a:spLocks noGrp="1"/>
          </p:cNvSpPr>
          <p:nvPr>
            <p:ph sz="half" idx="1"/>
          </p:nvPr>
        </p:nvSpPr>
        <p:spPr/>
        <p:txBody>
          <a:bodyPr/>
          <a:lstStyle/>
          <a:p>
            <a:r>
              <a:t>31 Mar</a:t>
            </a:r>
          </a:p>
          <a:p>
            <a:endParaRPr/>
          </a:p>
          <a:p>
            <a:r>
              <a:t>The new AWS Storage Gateway management console  makes it easier for you to create, manage, and monitor resources such as file shares, tapes, and volumes. In addition to a refreshed look and feel, you can now connect your gateway with a simple activation key to help speed up deployment, and create new file shares using a streamlined process. You can easily configure your gateway to use Amazon Virtual Private Cloud (VPC) endpoints and leverage enhanced troubleshooting information for the endpoint configuration. Throughout the console, contextual information about your Storage Gateway resources is provided as part of the help panel, allowing you to easily find answers to common questions and browse related User guide content.</a:t>
            </a:r>
          </a:p>
        </p:txBody>
      </p:sp>
    </p:spTree>
  </p:cSld>
  <p:clrMapOvr>
    <a:masterClrMapping/>
  </p:clrMapOvr>
</p:sld>
</file>

<file path=ppt/slides/slide5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Gateway Load Balancer is now available in the Canada (Central), Asia Pacific (Seoul) and Asia Pacific (Osaka) Regions</a:t>
            </a:r>
          </a:p>
        </p:txBody>
      </p:sp>
      <p:sp>
        <p:nvSpPr>
          <p:cNvPr id="3" name="Content Placeholder 2"/>
          <p:cNvSpPr>
            <a:spLocks noGrp="1"/>
          </p:cNvSpPr>
          <p:nvPr>
            <p:ph sz="half" idx="1"/>
          </p:nvPr>
        </p:nvSpPr>
        <p:spPr/>
        <p:txBody>
          <a:bodyPr/>
          <a:lstStyle/>
          <a:p>
            <a:r>
              <a:t>31 Mar</a:t>
            </a:r>
          </a:p>
          <a:p>
            <a:endParaRPr/>
          </a:p>
          <a:p>
            <a:r>
              <a:t>Starting today, AWS Gateway Load Balancer is available in the Canada (Central), Asia Pacific (Seoul) and Asia Pacific (Osaka) regions. With this launch, AWS Gateway Load Balancer is now available in 21 regions.</a:t>
            </a:r>
          </a:p>
        </p:txBody>
      </p:sp>
    </p:spTree>
  </p:cSld>
  <p:clrMapOvr>
    <a:masterClrMapping/>
  </p:clrMapOvr>
</p:sld>
</file>

<file path=ppt/slides/slide5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RDS for MySQL Supports New Minor Versions 5.6.51, 5.7.33, and 8.0.23.</a:t>
            </a:r>
          </a:p>
        </p:txBody>
      </p:sp>
      <p:sp>
        <p:nvSpPr>
          <p:cNvPr id="3" name="Content Placeholder 2"/>
          <p:cNvSpPr>
            <a:spLocks noGrp="1"/>
          </p:cNvSpPr>
          <p:nvPr>
            <p:ph sz="half" idx="1"/>
          </p:nvPr>
        </p:nvSpPr>
        <p:spPr/>
        <p:txBody>
          <a:bodyPr/>
          <a:lstStyle/>
          <a:p>
            <a:r>
              <a:t>31 Mar</a:t>
            </a:r>
          </a:p>
          <a:p>
            <a:endParaRPr/>
          </a:p>
          <a:p>
            <a:r>
              <a:t>Following the announcement of updates in MySQL database versions 5.6  , 5.7 , and 8.0 , we have updated Amazon Relational Database Service (Amazon RDS) for MySQL to support MySQL minor versions 5.6.51, 5.7.33, and 8.0.23. We recommend that customers upgrade to any of the latest minor versions to fix known security vulnerabilities in prior versions of MySQL, and to benefit from the numerous bug fixes, performance improvements, and new functionality added by the MySQL community. Learn more about upgrading your database instances in the Amazon RDS User Guide , including automatic minor version upgrades.</a:t>
            </a:r>
          </a:p>
        </p:txBody>
      </p:sp>
    </p:spTree>
  </p:cSld>
  <p:clrMapOvr>
    <a:masterClrMapping/>
  </p:clrMapOvr>
</p:sld>
</file>

<file path=ppt/slides/slide5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Transcribe Custom Language Models now support Australian English, British English, Hindi and US Spanish</a:t>
            </a:r>
          </a:p>
        </p:txBody>
      </p:sp>
      <p:sp>
        <p:nvSpPr>
          <p:cNvPr id="3" name="Content Placeholder 2"/>
          <p:cNvSpPr>
            <a:spLocks noGrp="1"/>
          </p:cNvSpPr>
          <p:nvPr>
            <p:ph sz="half" idx="1"/>
          </p:nvPr>
        </p:nvSpPr>
        <p:spPr/>
        <p:txBody>
          <a:bodyPr/>
          <a:lstStyle/>
          <a:p>
            <a:r>
              <a:t>31 Mar</a:t>
            </a:r>
          </a:p>
          <a:p>
            <a:endParaRPr/>
          </a:p>
          <a:p>
            <a:r>
              <a:t>We are excited to announce that Amazon Transcribe Custom Language Models (CLM) now support Australian English, British English, Hindi and US Spanish. Amazon Transcribe is an automatic speech recognition (ASR) service that makes it easy for you to add speech-to-text capabilities to your applications. CLM allows you to use pre-existing data to build a custom speech engine for your specific batch transcription use cases. No prior machine learning experience is required to create your CLM.</a:t>
            </a:r>
          </a:p>
        </p:txBody>
      </p:sp>
    </p:spTree>
  </p:cSld>
  <p:clrMapOvr>
    <a:masterClrMapping/>
  </p:clrMapOvr>
</p:sld>
</file>

<file path=ppt/slides/slide5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Introducing Amazon Route 53 Resolver DNS Firewall</a:t>
            </a:r>
          </a:p>
        </p:txBody>
      </p:sp>
      <p:sp>
        <p:nvSpPr>
          <p:cNvPr id="3" name="Content Placeholder 2"/>
          <p:cNvSpPr>
            <a:spLocks noGrp="1"/>
          </p:cNvSpPr>
          <p:nvPr>
            <p:ph sz="half" idx="1"/>
          </p:nvPr>
        </p:nvSpPr>
        <p:spPr/>
        <p:txBody>
          <a:bodyPr/>
          <a:lstStyle/>
          <a:p>
            <a:r>
              <a:t>31 Mar</a:t>
            </a:r>
          </a:p>
          <a:p>
            <a:endParaRPr/>
          </a:p>
          <a:p>
            <a:r>
              <a:t>Today, AWS announced the launch of Amazon Route 53 Resolver DNS Firewall, a managed firewall that enables customers to block DNS queries made for known malicious domains and to allow queries for trusted domains. DNS Firewall provides more granular control over the DNS querying behavior of resources within your Amazon Virtual Private Clouds (VPCs).  </a:t>
            </a:r>
          </a:p>
        </p:txBody>
      </p:sp>
    </p:spTree>
  </p:cSld>
  <p:clrMapOvr>
    <a:masterClrMapping/>
  </p:clrMapOvr>
</p:sld>
</file>

<file path=ppt/slides/slide5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Connect is now available in the Canada (Central) AWS Region</a:t>
            </a:r>
          </a:p>
        </p:txBody>
      </p:sp>
      <p:sp>
        <p:nvSpPr>
          <p:cNvPr id="3" name="Content Placeholder 2"/>
          <p:cNvSpPr>
            <a:spLocks noGrp="1"/>
          </p:cNvSpPr>
          <p:nvPr>
            <p:ph sz="half" idx="1"/>
          </p:nvPr>
        </p:nvSpPr>
        <p:spPr/>
        <p:txBody>
          <a:bodyPr/>
          <a:lstStyle/>
          <a:p>
            <a:r>
              <a:t>31 Mar</a:t>
            </a:r>
          </a:p>
          <a:p>
            <a:endParaRPr/>
          </a:p>
          <a:p>
            <a:r>
              <a:t>Amazon Connect is now available in the Canada (Montreal) AWS Region, increasing the number of AWS Regions where Amazon Connect is available to nine. You can claim toll-free and local telephone numbers from Canadian telephony suppliers.</a:t>
            </a:r>
          </a:p>
        </p:txBody>
      </p:sp>
    </p:spTree>
  </p:cSld>
  <p:clrMapOvr>
    <a:masterClrMapping/>
  </p:clrMapOvr>
</p:sld>
</file>

<file path=ppt/slides/slide5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Simple Email Service is now available in the EU (Milano) and Africa (Cape Town) Regions</a:t>
            </a:r>
          </a:p>
        </p:txBody>
      </p:sp>
      <p:sp>
        <p:nvSpPr>
          <p:cNvPr id="3" name="Content Placeholder 2"/>
          <p:cNvSpPr>
            <a:spLocks noGrp="1"/>
          </p:cNvSpPr>
          <p:nvPr>
            <p:ph sz="half" idx="1"/>
          </p:nvPr>
        </p:nvSpPr>
        <p:spPr/>
        <p:txBody>
          <a:bodyPr/>
          <a:lstStyle/>
          <a:p>
            <a:r>
              <a:t>31 Mar</a:t>
            </a:r>
          </a:p>
          <a:p>
            <a:endParaRPr/>
          </a:p>
          <a:p>
            <a:r>
              <a:t>Amazon Simple Email Service (Amazon SES) is now available in the EU (Milano) and Africa (Cape Town) AWS Regions. This regional expansion is particularly useful for organizations in Italy and South Africa where data residency considerations previously made it difficult for customers to use Amazon SES.</a:t>
            </a:r>
          </a:p>
        </p:txBody>
      </p:sp>
    </p:spTree>
  </p:cSld>
  <p:clrMapOvr>
    <a:masterClrMapping/>
  </p:clrMapOvr>
</p:sld>
</file>

<file path=ppt/slides/slide5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Direct Connect Announces MACsec Encryption for Dedicated 10Gbps and 100Gbps Connections at Select Locations</a:t>
            </a:r>
          </a:p>
        </p:txBody>
      </p:sp>
      <p:sp>
        <p:nvSpPr>
          <p:cNvPr id="3" name="Content Placeholder 2"/>
          <p:cNvSpPr>
            <a:spLocks noGrp="1"/>
          </p:cNvSpPr>
          <p:nvPr>
            <p:ph sz="half" idx="1"/>
          </p:nvPr>
        </p:nvSpPr>
        <p:spPr/>
        <p:txBody>
          <a:bodyPr/>
          <a:lstStyle/>
          <a:p>
            <a:r>
              <a:t>31 Mar</a:t>
            </a:r>
          </a:p>
          <a:p>
            <a:endParaRPr/>
          </a:p>
          <a:p>
            <a:r>
              <a:t>AWS Direct Connect now offers IEEE 802.1AE MAC Security Standard (MACsec) encryption for 10Gbps and 100Gbps Dedicated Connections at select locations to secure your high-speed, private connectivity to the cloud.</a:t>
            </a:r>
          </a:p>
        </p:txBody>
      </p:sp>
    </p:spTree>
  </p:cSld>
  <p:clrMapOvr>
    <a:masterClrMapping/>
  </p:clrMapOvr>
</p:sld>
</file>

<file path=ppt/slides/slide5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The Amazon Redshift Query Editor is now available in the AWS GovCloud (US) Regions</a:t>
            </a:r>
          </a:p>
        </p:txBody>
      </p:sp>
      <p:sp>
        <p:nvSpPr>
          <p:cNvPr id="3" name="Content Placeholder 2"/>
          <p:cNvSpPr>
            <a:spLocks noGrp="1"/>
          </p:cNvSpPr>
          <p:nvPr>
            <p:ph sz="half" idx="1"/>
          </p:nvPr>
        </p:nvSpPr>
        <p:spPr/>
        <p:txBody>
          <a:bodyPr/>
          <a:lstStyle/>
          <a:p>
            <a:r>
              <a:t>31 Mar</a:t>
            </a:r>
          </a:p>
          <a:p>
            <a:endParaRPr/>
          </a:p>
          <a:p>
            <a:r>
              <a:t>You can now use the Amazon Redshift Query Editor with Amazon Redshift clusters in the AWS GovCloud (US) Regions. You can query data in your Amazon Redshift cluster directly from your AWS Management console, using the Query Editor. The Redshift Query Editor provides an easier way for admins and end-users to run SQL queries without having to install and setup an external JDBC/ODBC client. Query results are instantly visible within the console.</a:t>
            </a:r>
          </a:p>
        </p:txBody>
      </p:sp>
    </p:spTree>
  </p:cSld>
  <p:clrMapOvr>
    <a:masterClrMapping/>
  </p:clrMapOvr>
</p:sld>
</file>

<file path=ppt/slides/slide5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Lambda@Edge changes duration billing granularity from 50ms down to 1ms</a:t>
            </a:r>
          </a:p>
        </p:txBody>
      </p:sp>
      <p:sp>
        <p:nvSpPr>
          <p:cNvPr id="3" name="Content Placeholder 2"/>
          <p:cNvSpPr>
            <a:spLocks noGrp="1"/>
          </p:cNvSpPr>
          <p:nvPr>
            <p:ph sz="half" idx="1"/>
          </p:nvPr>
        </p:nvSpPr>
        <p:spPr/>
        <p:txBody>
          <a:bodyPr/>
          <a:lstStyle/>
          <a:p>
            <a:r>
              <a:t>31 Mar</a:t>
            </a:r>
          </a:p>
          <a:p>
            <a:endParaRPr/>
          </a:p>
          <a:p>
            <a:r>
              <a:t>Amazon CloudFront announces reduced billing granularity for Lambda@Edge function duration from 50ms down to 1ms. This will lower the price for most Lambda@Edge functions, more so for functions of short duration. Now, compute duration will be billed in 1ms increments per invocation instead of being rounded up to the nearest 50ms increment per invocation as before.</a:t>
            </a:r>
          </a:p>
        </p:txBody>
      </p:sp>
    </p:spTree>
  </p:cSld>
  <p:clrMapOvr>
    <a:masterClrMapping/>
  </p:clrMapOvr>
</p:sld>
</file>

<file path=ppt/slides/slide5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Introducing the interactive EC2 Serial Console</a:t>
            </a:r>
          </a:p>
        </p:txBody>
      </p:sp>
      <p:sp>
        <p:nvSpPr>
          <p:cNvPr id="3" name="Content Placeholder 2"/>
          <p:cNvSpPr>
            <a:spLocks noGrp="1"/>
          </p:cNvSpPr>
          <p:nvPr>
            <p:ph sz="half" idx="1"/>
          </p:nvPr>
        </p:nvSpPr>
        <p:spPr/>
        <p:txBody>
          <a:bodyPr/>
          <a:lstStyle/>
          <a:p>
            <a:r>
              <a:t>30 Mar</a:t>
            </a:r>
          </a:p>
          <a:p>
            <a:endParaRPr/>
          </a:p>
          <a:p>
            <a:r>
              <a:t>Starting today, the interactive EC2 Serial Console is now generally available. EC2 Serial Console provides a simple and secure way to troubleshoot boot and network connectivity issues by establishing a connection to the serial port of an instance. It provides a one-click, text-based access to an instances’ serial port as though a monitor and keyboard were attached to it. This access can be used for interactive troubleshooting.</a:t>
            </a:r>
          </a:p>
        </p:txBody>
      </p:sp>
    </p:spTree>
  </p:cSld>
  <p:clrMapOvr>
    <a:masterClrMapping/>
  </p:clrMapOvr>
</p:sld>
</file>

<file path=ppt/slides/slide5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The Amazon Redshift Data API is now available in the AWS GovCloud (US) Regions</a:t>
            </a:r>
          </a:p>
        </p:txBody>
      </p:sp>
      <p:sp>
        <p:nvSpPr>
          <p:cNvPr id="3" name="Content Placeholder 2"/>
          <p:cNvSpPr>
            <a:spLocks noGrp="1"/>
          </p:cNvSpPr>
          <p:nvPr>
            <p:ph sz="half" idx="1"/>
          </p:nvPr>
        </p:nvSpPr>
        <p:spPr/>
        <p:txBody>
          <a:bodyPr/>
          <a:lstStyle/>
          <a:p>
            <a:r>
              <a:t>30 Mar</a:t>
            </a:r>
          </a:p>
          <a:p>
            <a:endParaRPr/>
          </a:p>
          <a:p>
            <a:r>
              <a:t>You can now use the Amazon Redshift Data API in the AWS GovCloud (US) Regions to access Amazon Redshift. The Redshift Data API simplifies data access, ingest, and egress from languages supported with AWS SDK such as Python, Go, Java, Node.js, PHP, Ruby, and C++ so you can focus on building applications versus managing infrastructure.</a:t>
            </a:r>
          </a:p>
        </p:txBody>
      </p:sp>
    </p:spTree>
  </p:cSld>
  <p:clrMapOvr>
    <a:masterClrMapping/>
  </p:clrMapOvr>
</p:sld>
</file>

<file path=ppt/slides/slide5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announces preview of AWS Glue custom blueprints</a:t>
            </a:r>
          </a:p>
        </p:txBody>
      </p:sp>
      <p:sp>
        <p:nvSpPr>
          <p:cNvPr id="3" name="Content Placeholder 2"/>
          <p:cNvSpPr>
            <a:spLocks noGrp="1"/>
          </p:cNvSpPr>
          <p:nvPr>
            <p:ph sz="half" idx="1"/>
          </p:nvPr>
        </p:nvSpPr>
        <p:spPr/>
        <p:txBody>
          <a:bodyPr/>
          <a:lstStyle/>
          <a:p>
            <a:r>
              <a:t>30 Mar</a:t>
            </a:r>
          </a:p>
          <a:p>
            <a:endParaRPr/>
          </a:p>
          <a:p>
            <a:r>
              <a:t>AWS Glue is a serverless data integration service that makes it easy to discover, prepare, and combine data for analytics, machine learning, and application development. Using AWS Glue Workflows , you can orchestrate and execute a complex multi-job, multi-crawler data-integration workflow. AWS Glue custom blueprints make it easy for data engineers to create repeatable AWS Glue workflows.</a:t>
            </a:r>
          </a:p>
        </p:txBody>
      </p:sp>
    </p:spTree>
  </p:cSld>
  <p:clrMapOvr>
    <a:masterClrMapping/>
  </p:clrMapOvr>
</p:sld>
</file>

<file path=ppt/slides/slide5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Glue DataBrew now supports time-based, pattern-based and customizable parameters to create dynamic datasets</a:t>
            </a:r>
          </a:p>
        </p:txBody>
      </p:sp>
      <p:sp>
        <p:nvSpPr>
          <p:cNvPr id="3" name="Content Placeholder 2"/>
          <p:cNvSpPr>
            <a:spLocks noGrp="1"/>
          </p:cNvSpPr>
          <p:nvPr>
            <p:ph sz="half" idx="1"/>
          </p:nvPr>
        </p:nvSpPr>
        <p:spPr/>
        <p:txBody>
          <a:bodyPr/>
          <a:lstStyle/>
          <a:p>
            <a:r>
              <a:t>30 Mar</a:t>
            </a:r>
          </a:p>
          <a:p>
            <a:endParaRPr/>
          </a:p>
          <a:p>
            <a:r>
              <a:t>When creating datasets in AWS Glue DataBrew from the Amazon S3 data lake, you can now create dynamic datasets to schedule data preparation on new incoming Amazon S3 files or apply transformations on filtered or conditionally chosen files or folders in S3. You can create a dynamic S3 path to choose files based on a time-window or time of last file update, and defining custom parameters to replace string, number, or date-based values in your S3 file path with filter conditions such as begins with, ends with, contains, does not contain, less than, greater than, before, and others. Custom parameter names can be included as columns in your datasets and the revised schema will be used for jobs running on dynamic datasets. With parameterized S3 paths and/or files, users can schedule to apply existing recipes to run on selected dynamic datasets.</a:t>
            </a:r>
          </a:p>
        </p:txBody>
      </p:sp>
    </p:spTree>
  </p:cSld>
  <p:clrMapOvr>
    <a:masterClrMapping/>
  </p:clrMapOvr>
</p:sld>
</file>

<file path=ppt/slides/slide5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Detect outliers and use dedicated transforms to handle outliers in AWS Glue DataBrew</a:t>
            </a:r>
          </a:p>
        </p:txBody>
      </p:sp>
      <p:sp>
        <p:nvSpPr>
          <p:cNvPr id="3" name="Content Placeholder 2"/>
          <p:cNvSpPr>
            <a:spLocks noGrp="1"/>
          </p:cNvSpPr>
          <p:nvPr>
            <p:ph sz="half" idx="1"/>
          </p:nvPr>
        </p:nvSpPr>
        <p:spPr/>
        <p:txBody>
          <a:bodyPr/>
          <a:lstStyle/>
          <a:p>
            <a:r>
              <a:t>30 Mar</a:t>
            </a:r>
          </a:p>
          <a:p>
            <a:endParaRPr/>
          </a:p>
          <a:p>
            <a:r>
              <a:t>With AWS Glue DataBrew, you can now visually detect outliers in data from your data lake, data warehouses, and other JDBC-accessible data sources. You can further handle outliers by replacing, removing, rescaling, or flagging them using mathematical and algorithmic methods such as z-score (to find the difference from mean value and divide it by the standard deviation), modified z-score (to calculate the difference from median absolute deviation), interquartile ranges (to calculate values between the first quartile and the third quartile) and one or more transformations such as creating a flag column, applying window functions, or choose from over 250+ other transformations.  </a:t>
            </a:r>
          </a:p>
        </p:txBody>
      </p:sp>
    </p:spTree>
  </p:cSld>
  <p:clrMapOvr>
    <a:masterClrMapping/>
  </p:clrMapOvr>
</p:sld>
</file>

<file path=ppt/slides/slide5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Config launches the ability to track and visualize compliance change history of conformance packs</a:t>
            </a:r>
          </a:p>
        </p:txBody>
      </p:sp>
      <p:sp>
        <p:nvSpPr>
          <p:cNvPr id="3" name="Content Placeholder 2"/>
          <p:cNvSpPr>
            <a:spLocks noGrp="1"/>
          </p:cNvSpPr>
          <p:nvPr>
            <p:ph sz="half" idx="1"/>
          </p:nvPr>
        </p:nvSpPr>
        <p:spPr/>
        <p:txBody>
          <a:bodyPr/>
          <a:lstStyle/>
          <a:p>
            <a:r>
              <a:t>30 Mar</a:t>
            </a:r>
          </a:p>
          <a:p>
            <a:endParaRPr/>
          </a:p>
          <a:p>
            <a:r>
              <a:t>AWS Config now supports the ability to capture and view the compliance history of AWS Config conformance packs. You can see how the overall compliance status of a conformance pack changed over time, and which rules within a conformance pack impacted the status change. You can aggregate conformance pack compliance data from multiple accounts and AWS Regions using AWS Config aggregators to get a centralized view of your compliance regimes and operational best practices. You can maintain up to 7 years of history. You can also run AWS Config advanced queries on this data for more details about your conformance pack compliance.</a:t>
            </a:r>
          </a:p>
        </p:txBody>
      </p:sp>
    </p:spTree>
  </p:cSld>
  <p:clrMapOvr>
    <a:masterClrMapping/>
  </p:clrMapOvr>
</p:sld>
</file>

<file path=ppt/slides/slide5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Announcing new training for building data lakes on AWS</a:t>
            </a:r>
          </a:p>
        </p:txBody>
      </p:sp>
      <p:sp>
        <p:nvSpPr>
          <p:cNvPr id="3" name="Content Placeholder 2"/>
          <p:cNvSpPr>
            <a:spLocks noGrp="1"/>
          </p:cNvSpPr>
          <p:nvPr>
            <p:ph sz="half" idx="1"/>
          </p:nvPr>
        </p:nvSpPr>
        <p:spPr/>
        <p:txBody>
          <a:bodyPr/>
          <a:lstStyle/>
          <a:p>
            <a:r>
              <a:t>30 Mar</a:t>
            </a:r>
          </a:p>
          <a:p>
            <a:endParaRPr/>
          </a:p>
          <a:p>
            <a:r>
              <a:t>We are pleased to announce the launch of Building Data Lakes on AWS. Data lakes enable organizations to generate business value by identifying and acting upon opportunities for business growth. This new one-day classroom course will help you practice building a data lake in a hands-on environment.  An expert instructor will teach you how to build and secure a data lake using AWS Lake Formation while also showing you how to optimize for cost and performance.</a:t>
            </a:r>
          </a:p>
        </p:txBody>
      </p:sp>
    </p:spTree>
  </p:cSld>
  <p:clrMapOvr>
    <a:masterClrMapping/>
  </p:clrMapOvr>
</p:sld>
</file>

<file path=ppt/slides/slide5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Data Exchange providers can now copy product metadata from their existing products to a new product</a:t>
            </a:r>
          </a:p>
        </p:txBody>
      </p:sp>
      <p:sp>
        <p:nvSpPr>
          <p:cNvPr id="3" name="Content Placeholder 2"/>
          <p:cNvSpPr>
            <a:spLocks noGrp="1"/>
          </p:cNvSpPr>
          <p:nvPr>
            <p:ph sz="half" idx="1"/>
          </p:nvPr>
        </p:nvSpPr>
        <p:spPr/>
        <p:txBody>
          <a:bodyPr/>
          <a:lstStyle/>
          <a:p>
            <a:r>
              <a:t>30 Mar</a:t>
            </a:r>
          </a:p>
          <a:p>
            <a:endParaRPr/>
          </a:p>
          <a:p>
            <a:r>
              <a:t>AWS Data Exchange now enables providers to copy descriptions, data sets, and public offers from their existing products to a new product. With this launch, providers can select any existing product, published or unpublished, and copy all of its details to a new draft product, which they can then modify as needed and publish within a few seconds. For providers that frequently create new products that share similar metadata, this will save a significant amount of time and effort.</a:t>
            </a:r>
          </a:p>
        </p:txBody>
      </p:sp>
    </p:spTree>
  </p:cSld>
  <p:clrMapOvr>
    <a:masterClrMapping/>
  </p:clrMapOvr>
</p:sld>
</file>

<file path=ppt/slides/slide5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API Gateway custom domain names now support multi-level base path mappings</a:t>
            </a:r>
          </a:p>
        </p:txBody>
      </p:sp>
      <p:sp>
        <p:nvSpPr>
          <p:cNvPr id="3" name="Content Placeholder 2"/>
          <p:cNvSpPr>
            <a:spLocks noGrp="1"/>
          </p:cNvSpPr>
          <p:nvPr>
            <p:ph sz="half" idx="1"/>
          </p:nvPr>
        </p:nvSpPr>
        <p:spPr/>
        <p:txBody>
          <a:bodyPr/>
          <a:lstStyle/>
          <a:p>
            <a:r>
              <a:t>30 Mar</a:t>
            </a:r>
          </a:p>
          <a:p>
            <a:endParaRPr/>
          </a:p>
          <a:p>
            <a:r>
              <a:t>You can now configure each path segment of an API Gateway custom domain name to route requests to different APIs. Using multi-level base path mappings, you can implement path-based API versioning and migrate API traffic between APIs according to request paths with many segments.</a:t>
            </a:r>
          </a:p>
        </p:txBody>
      </p:sp>
    </p:spTree>
  </p:cSld>
  <p:clrMapOvr>
    <a:masterClrMapping/>
  </p:clrMapOvr>
</p:sld>
</file>

<file path=ppt/slides/slide5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announces General Availability of Amazon GameLift Queue notifications</a:t>
            </a:r>
          </a:p>
        </p:txBody>
      </p:sp>
      <p:sp>
        <p:nvSpPr>
          <p:cNvPr id="3" name="Content Placeholder 2"/>
          <p:cNvSpPr>
            <a:spLocks noGrp="1"/>
          </p:cNvSpPr>
          <p:nvPr>
            <p:ph sz="half" idx="1"/>
          </p:nvPr>
        </p:nvSpPr>
        <p:spPr/>
        <p:txBody>
          <a:bodyPr/>
          <a:lstStyle/>
          <a:p>
            <a:r>
              <a:t>30 Mar</a:t>
            </a:r>
          </a:p>
          <a:p>
            <a:endParaRPr/>
          </a:p>
          <a:p>
            <a:r>
              <a:t>Today, we are excited to announce the general availability (GA) of Queue notifications for Amazon GameLift. Trusted by some of the most successful game companies in the world like Wargaming, Ubisoft, and more, GameLift deploys, operates, and scales dedicated servers for multiplayer games. With this new update, you as a game developer can now receive automatic notifications when changes take place to the state of your player queues on GameLift.</a:t>
            </a:r>
          </a:p>
        </p:txBody>
      </p:sp>
    </p:spTree>
  </p:cSld>
  <p:clrMapOvr>
    <a:masterClrMapping/>
  </p:clrMapOvr>
</p:sld>
</file>

<file path=ppt/slides/slide5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Fraud Detector now supports Batch Fraud Predictions</a:t>
            </a:r>
          </a:p>
        </p:txBody>
      </p:sp>
      <p:sp>
        <p:nvSpPr>
          <p:cNvPr id="3" name="Content Placeholder 2"/>
          <p:cNvSpPr>
            <a:spLocks noGrp="1"/>
          </p:cNvSpPr>
          <p:nvPr>
            <p:ph sz="half" idx="1"/>
          </p:nvPr>
        </p:nvSpPr>
        <p:spPr/>
        <p:txBody>
          <a:bodyPr/>
          <a:lstStyle/>
          <a:p>
            <a:r>
              <a:t>30 Mar</a:t>
            </a:r>
          </a:p>
          <a:p>
            <a:endParaRPr/>
          </a:p>
          <a:p>
            <a:r>
              <a:t>Today, we are happy to announce that Amazon Fraud Detector now supports batch fraud predictions. Amazon Fraud Detector is a fully managed service that makes it easy to identify potentially fraudulent online activities, such as the creation of fake accounts or online payment fraud. Until today, Fraud Detector supported real-time fraud predictions via the GetEventPrediction API, which is ideal for low-latency synchronous fraud prediction use cases but requires customers to integrate an API and make an API call for every event they want to evaluate. Now, customers who have non real-time fraud prediction use cases can get fraud predictions for a large number of events in one go, or on an hourly or daily basis, using the new batch prediction feature without needing to write any code.  </a:t>
            </a:r>
          </a:p>
        </p:txBody>
      </p:sp>
    </p:spTree>
  </p:cSld>
  <p:clrMapOvr>
    <a:masterClrMapping/>
  </p:clrMapOvr>
</p:sld>
</file>

<file path=ppt/slides/slide5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Site-to-Site VPN increases service quotas for route limits</a:t>
            </a:r>
          </a:p>
        </p:txBody>
      </p:sp>
      <p:sp>
        <p:nvSpPr>
          <p:cNvPr id="3" name="Content Placeholder 2"/>
          <p:cNvSpPr>
            <a:spLocks noGrp="1"/>
          </p:cNvSpPr>
          <p:nvPr>
            <p:ph sz="half" idx="1"/>
          </p:nvPr>
        </p:nvSpPr>
        <p:spPr/>
        <p:txBody>
          <a:bodyPr/>
          <a:lstStyle/>
          <a:p>
            <a:r>
              <a:t>30 Mar</a:t>
            </a:r>
          </a:p>
          <a:p>
            <a:endParaRPr/>
          </a:p>
          <a:p>
            <a:r>
              <a:t>AWS Site-to-Site VPN  service today increased the default service quotas for the dynamic routes advertised to and from a Site-to-Site VPN connection on a Transit Gateway. You can now advertise up to 1,000 dynamic routes (an increase from 100) from a customer gateway device to a Site-to-Site VPN connection on a Transit Gateway. Similarly, you can now advertise up to 5,000 routes (an increase from 1,000) from a Site-to-Site VPN connection on a Transit Gateway to a customer gateway device. Advertised routes come from the route table that's associated with the VPN attachment.</a:t>
            </a:r>
          </a:p>
        </p:txBody>
      </p:sp>
    </p:spTree>
  </p:cSld>
  <p:clrMapOvr>
    <a:masterClrMapping/>
  </p:clrMapOvr>
</p:sld>
</file>

<file path=ppt/slides/slide5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Pinpoint Announces Improved Journey Controls</a:t>
            </a:r>
          </a:p>
        </p:txBody>
      </p:sp>
      <p:sp>
        <p:nvSpPr>
          <p:cNvPr id="3" name="Content Placeholder 2"/>
          <p:cNvSpPr>
            <a:spLocks noGrp="1"/>
          </p:cNvSpPr>
          <p:nvPr>
            <p:ph sz="half" idx="1"/>
          </p:nvPr>
        </p:nvSpPr>
        <p:spPr/>
        <p:txBody>
          <a:bodyPr/>
          <a:lstStyle/>
          <a:p>
            <a:r>
              <a:t>30 Mar</a:t>
            </a:r>
          </a:p>
          <a:p>
            <a:endParaRPr/>
          </a:p>
          <a:p>
            <a:r>
              <a:t>On March 30 2021, Amazon Pinpoint announced the launch of new Journey controls to allow customers to customize their user experience, and when messages are sent. Journeys are multi-step campaigns that can be executed across SMS, email, and push messages. Journeys are intended for customers with user engagement use cases, and who need to be precise on when messages are delivered to their users.</a:t>
            </a:r>
          </a:p>
        </p:txBody>
      </p:sp>
    </p:spTree>
  </p:cSld>
  <p:clrMapOvr>
    <a:masterClrMapping/>
  </p:clrMapOvr>
</p:sld>
</file>

<file path=ppt/slides/slide5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EMR now supports Amazon EC2 Instance Metadata Service v2</a:t>
            </a:r>
          </a:p>
        </p:txBody>
      </p:sp>
      <p:sp>
        <p:nvSpPr>
          <p:cNvPr id="3" name="Content Placeholder 2"/>
          <p:cNvSpPr>
            <a:spLocks noGrp="1"/>
          </p:cNvSpPr>
          <p:nvPr>
            <p:ph sz="half" idx="1"/>
          </p:nvPr>
        </p:nvSpPr>
        <p:spPr/>
        <p:txBody>
          <a:bodyPr/>
          <a:lstStyle/>
          <a:p>
            <a:r>
              <a:t>30 Mar</a:t>
            </a:r>
          </a:p>
          <a:p>
            <a:endParaRPr/>
          </a:p>
          <a:p>
            <a:r>
              <a:t>Amazon EMR now supports Amazon EC2 Instance Metadata Service (IMDS) v2, in addition to v1, for all IMDS calls to EMR clusters. Instance metadata is data about your instance that you can use to configure or manage the running instance. IMDSv1 is fully secure and AWS will continue to support it. But IMDSv2 adds new “belt and suspenders” protections for four types of vulnerabilities that could be used to try to access the IMDS. For more information, please read the AWS Security blogpost.</a:t>
            </a:r>
          </a:p>
        </p:txBody>
      </p:sp>
    </p:spTree>
  </p:cSld>
  <p:clrMapOvr>
    <a:masterClrMapping/>
  </p:clrMapOvr>
</p:sld>
</file>

<file path=ppt/slides/slide5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Transit Gateway Connect increases service quotas for route limits</a:t>
            </a:r>
          </a:p>
        </p:txBody>
      </p:sp>
      <p:sp>
        <p:nvSpPr>
          <p:cNvPr id="3" name="Content Placeholder 2"/>
          <p:cNvSpPr>
            <a:spLocks noGrp="1"/>
          </p:cNvSpPr>
          <p:nvPr>
            <p:ph sz="half" idx="1"/>
          </p:nvPr>
        </p:nvSpPr>
        <p:spPr/>
        <p:txBody>
          <a:bodyPr/>
          <a:lstStyle/>
          <a:p>
            <a:r>
              <a:t>30 Mar</a:t>
            </a:r>
          </a:p>
          <a:p>
            <a:endParaRPr/>
          </a:p>
          <a:p>
            <a:r>
              <a:t>AWS Transit Gateway Connect  today increased the default service quotas for the dynamic routes advertised to and from a Transit Gateway Connect peer. You can now advertise up to 1,000 dynamic routes (an increase from 100) from a customer gateway appliance in an on-premises network or a virtual router appliance in a VPC to a Transit Gateway Connect peer. Similarly, you can now advertise up to 5,000 routes (an increase from 1,000) from a Transit Gateway Connect peer to a customer gateway appliance or a virtual router appliance. Advertised routes come from the route table that's associated with the AWS Transit Gateway Connect attachment.</a:t>
            </a:r>
          </a:p>
        </p:txBody>
      </p:sp>
    </p:spTree>
  </p:cSld>
  <p:clrMapOvr>
    <a:masterClrMapping/>
  </p:clrMapOvr>
</p:sld>
</file>

<file path=ppt/slides/slide5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New AWS Solutions Consulting Offer - AMI Factory</a:t>
            </a:r>
          </a:p>
        </p:txBody>
      </p:sp>
      <p:sp>
        <p:nvSpPr>
          <p:cNvPr id="3" name="Content Placeholder 2"/>
          <p:cNvSpPr>
            <a:spLocks noGrp="1"/>
          </p:cNvSpPr>
          <p:nvPr>
            <p:ph sz="half" idx="1"/>
          </p:nvPr>
        </p:nvSpPr>
        <p:spPr/>
        <p:txBody>
          <a:bodyPr/>
          <a:lstStyle/>
          <a:p>
            <a:r>
              <a:t>30 Mar</a:t>
            </a:r>
          </a:p>
          <a:p>
            <a:endParaRPr/>
          </a:p>
          <a:p>
            <a:r>
              <a:t>AMI Factory is an AWS Solutions Consulting Offer delivered via a consulting engagement from Capgemini, an AWS Migration Competency Partner. AMI Factory helps customers integrate and build any type of AMIs with custom configurations, setting security standards for operating system (OS)-level benchmarks and vulnerability scans based on customer requirements within a few hours. Customers that request this consulting offer will participate in an engagement that delivers identification of eligible AMIs, template creation, and deployment.</a:t>
            </a:r>
          </a:p>
        </p:txBody>
      </p:sp>
    </p:spTree>
  </p:cSld>
  <p:clrMapOvr>
    <a:masterClrMapping/>
  </p:clrMapOvr>
</p:sld>
</file>

<file path=ppt/slides/slide5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Global Accelerator launches a new Edge location in Indonesia</a:t>
            </a:r>
          </a:p>
        </p:txBody>
      </p:sp>
      <p:sp>
        <p:nvSpPr>
          <p:cNvPr id="3" name="Content Placeholder 2"/>
          <p:cNvSpPr>
            <a:spLocks noGrp="1"/>
          </p:cNvSpPr>
          <p:nvPr>
            <p:ph sz="half" idx="1"/>
          </p:nvPr>
        </p:nvSpPr>
        <p:spPr/>
        <p:txBody>
          <a:bodyPr/>
          <a:lstStyle/>
          <a:p>
            <a:r>
              <a:t>29 Mar</a:t>
            </a:r>
          </a:p>
          <a:p>
            <a:endParaRPr/>
          </a:p>
          <a:p>
            <a:r>
              <a:t>AWS Global Accelerator now supports traffic through the new AWS edge location in Jakarta, Indonesia. Using Global Accelerator, users in Indonesia can now see improved performance of up to 20% for internet traffic to the AWS Singapore Region and up to 60% for traffic to AWS Regions in North America and Europe. Global Accelerator is now available through 96 Points of Presence globally and supports application endpoints in more than 20 AWS Regions.  </a:t>
            </a:r>
          </a:p>
        </p:txBody>
      </p:sp>
    </p:spTree>
  </p:cSld>
  <p:clrMapOvr>
    <a:masterClrMapping/>
  </p:clrMapOvr>
</p:sld>
</file>

<file path=ppt/slides/slide5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SageMaker Autopilot adds Model Explainability</a:t>
            </a:r>
          </a:p>
        </p:txBody>
      </p:sp>
      <p:sp>
        <p:nvSpPr>
          <p:cNvPr id="3" name="Content Placeholder 2"/>
          <p:cNvSpPr>
            <a:spLocks noGrp="1"/>
          </p:cNvSpPr>
          <p:nvPr>
            <p:ph sz="half" idx="1"/>
          </p:nvPr>
        </p:nvSpPr>
        <p:spPr/>
        <p:txBody>
          <a:bodyPr/>
          <a:lstStyle/>
          <a:p>
            <a:r>
              <a:t>30 Mar</a:t>
            </a:r>
          </a:p>
          <a:p>
            <a:endParaRPr/>
          </a:p>
          <a:p>
            <a:r>
              <a:t>Amazon SageMaker Autopilot, which makes it easy to create highly accurate machine learning models, now provides a model explainability report generated by Amazon SageMaker Clarify, making it easier to understand and explain how the models you create with SageMaker Autopilot make predictions. Explainability reports include feature importance values so you can understand how each attribute in your training data contributes to the predicted result as a percentage. The higher the percentage, the more strongly that feature impacts your model’s predictions. You can download the explainability report as a human readable file, view model properties including feature importance in Amazon SageMaker Studio, or access feature importance using the SageMaker Autopilot APIs .</a:t>
            </a:r>
          </a:p>
        </p:txBody>
      </p:sp>
    </p:spTree>
  </p:cSld>
  <p:clrMapOvr>
    <a:masterClrMapping/>
  </p:clrMapOvr>
</p:sld>
</file>

<file path=ppt/slides/slide5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Config adds pagination support for advanced queries that contain aggregate functions</a:t>
            </a:r>
          </a:p>
        </p:txBody>
      </p:sp>
      <p:sp>
        <p:nvSpPr>
          <p:cNvPr id="3" name="Content Placeholder 2"/>
          <p:cNvSpPr>
            <a:spLocks noGrp="1"/>
          </p:cNvSpPr>
          <p:nvPr>
            <p:ph sz="half" idx="1"/>
          </p:nvPr>
        </p:nvSpPr>
        <p:spPr/>
        <p:txBody>
          <a:bodyPr/>
          <a:lstStyle/>
          <a:p>
            <a:r>
              <a:t>29 Mar</a:t>
            </a:r>
          </a:p>
          <a:p>
            <a:endParaRPr/>
          </a:p>
          <a:p>
            <a:r>
              <a:t>AWS Config advanced queries feature now supports pagination for queries that contain aggregate functions, such as COUNT and SUM. For example, getting the total number of resources in each AWS account requires the COUNT aggregate function. You can now use advanced queries to get complete results for your aggregate queries through pagination, which were previously limited to 500 rows. Pagination is a technique that is used to divide large results into “pages,” where each page contains a subset of results. You can process the first page of results, then the second page, and so on.</a:t>
            </a:r>
          </a:p>
        </p:txBody>
      </p:sp>
    </p:spTree>
  </p:cSld>
  <p:clrMapOvr>
    <a:masterClrMapping/>
  </p:clrMapOvr>
</p:sld>
</file>

<file path=ppt/slides/slide5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Security Hub now available in the AWS Asia Pacific (Osaka) Region</a:t>
            </a:r>
          </a:p>
        </p:txBody>
      </p:sp>
      <p:sp>
        <p:nvSpPr>
          <p:cNvPr id="3" name="Content Placeholder 2"/>
          <p:cNvSpPr>
            <a:spLocks noGrp="1"/>
          </p:cNvSpPr>
          <p:nvPr>
            <p:ph sz="half" idx="1"/>
          </p:nvPr>
        </p:nvSpPr>
        <p:spPr/>
        <p:txBody>
          <a:bodyPr/>
          <a:lstStyle/>
          <a:p>
            <a:r>
              <a:t>29 Mar</a:t>
            </a:r>
          </a:p>
          <a:p>
            <a:endParaRPr/>
          </a:p>
          <a:p>
            <a:r>
              <a:t>AWS Security Hub is now available in the new AWS Asia Pacific (Osaka) Region. You can now centrally view and manage the security posture of your AWS accounts in AWS Asia Pacific (Osaka) Region.</a:t>
            </a:r>
          </a:p>
        </p:txBody>
      </p:sp>
    </p:spTree>
  </p:cSld>
  <p:clrMapOvr>
    <a:masterClrMapping/>
  </p:clrMapOvr>
</p:sld>
</file>

<file path=ppt/slides/slide5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WAF adds support for Request Header Insertion</a:t>
            </a:r>
          </a:p>
        </p:txBody>
      </p:sp>
      <p:sp>
        <p:nvSpPr>
          <p:cNvPr id="3" name="Content Placeholder 2"/>
          <p:cNvSpPr>
            <a:spLocks noGrp="1"/>
          </p:cNvSpPr>
          <p:nvPr>
            <p:ph sz="half" idx="1"/>
          </p:nvPr>
        </p:nvSpPr>
        <p:spPr/>
        <p:txBody>
          <a:bodyPr/>
          <a:lstStyle/>
          <a:p>
            <a:r>
              <a:t>29 Mar</a:t>
            </a:r>
          </a:p>
          <a:p>
            <a:endParaRPr/>
          </a:p>
          <a:p>
            <a:r>
              <a:t>AWS WAF now supports inserting HTTP headers to the user request when WAF allows the request to reach your application. You can use the Request Header Insertion feature to help validate that requests made to your application were evaluated by WAF and configure your application to only allow requests that contain the custom header values that you specify. You can also insert headers so your application can process the request differently based on the presence of the header, or simply log the header in your application logs for reporting and analytics.</a:t>
            </a:r>
          </a:p>
        </p:txBody>
      </p:sp>
    </p:spTree>
  </p:cSld>
  <p:clrMapOvr>
    <a:masterClrMapping/>
  </p:clrMapOvr>
</p:sld>
</file>

<file path=ppt/slides/slide5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WAF adds support for Custom Responses</a:t>
            </a:r>
          </a:p>
        </p:txBody>
      </p:sp>
      <p:sp>
        <p:nvSpPr>
          <p:cNvPr id="3" name="Content Placeholder 2"/>
          <p:cNvSpPr>
            <a:spLocks noGrp="1"/>
          </p:cNvSpPr>
          <p:nvPr>
            <p:ph sz="half" idx="1"/>
          </p:nvPr>
        </p:nvSpPr>
        <p:spPr/>
        <p:txBody>
          <a:bodyPr/>
          <a:lstStyle/>
          <a:p>
            <a:r>
              <a:t>29 Mar</a:t>
            </a:r>
          </a:p>
          <a:p>
            <a:endParaRPr/>
          </a:p>
          <a:p>
            <a:r>
              <a:t>AWS WAF now supports configuring the HTTP status code and the response body returned to the user when a request is blocked. Until today, AWS WAF could only return HTTP status code 403 (forbidden) when the user request was blocked by WAF. With Custom Response, you can now configure AWS WAF to send out a different HTTP status code, such as 3xx (redirects), 4xx (client errors), or 5xx (server errors). These codes can be used to redirect users to different parts of your application or provide users a specific response code based on the reason they were blocked by WAF. In addition, you can use Custom Response to include a response body to present a customized error message back to the user.</a:t>
            </a:r>
          </a:p>
        </p:txBody>
      </p:sp>
    </p:spTree>
  </p:cSld>
  <p:clrMapOvr>
    <a:masterClrMapping/>
  </p:clrMapOvr>
</p:sld>
</file>

<file path=ppt/slides/slide5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New AWS Solutions Consulting Offer - Pipeline Factory</a:t>
            </a:r>
          </a:p>
        </p:txBody>
      </p:sp>
      <p:sp>
        <p:nvSpPr>
          <p:cNvPr id="3" name="Content Placeholder 2"/>
          <p:cNvSpPr>
            <a:spLocks noGrp="1"/>
          </p:cNvSpPr>
          <p:nvPr>
            <p:ph sz="half" idx="1"/>
          </p:nvPr>
        </p:nvSpPr>
        <p:spPr/>
        <p:txBody>
          <a:bodyPr/>
          <a:lstStyle/>
          <a:p>
            <a:r>
              <a:t>29 Mar</a:t>
            </a:r>
          </a:p>
          <a:p>
            <a:endParaRPr/>
          </a:p>
          <a:p>
            <a:r>
              <a:t>Pipeline Factory is an AWS Solutions Consulting Offer delivered via a consulting engagement from Mphasis Stelligent, an AWS DevOps Competency Partner. Pipeline Factory enables DevOps teams to define, build, and publish standardized pipelines that enforce quality, security, and governance throughout the software delivery lifecycle. Customers that request this consulting offer will participate in an engagement that delivers discovery and design, Pipeline Factory implementation, and publication and deployment of standardized Pipeline Products.</a:t>
            </a:r>
          </a:p>
        </p:txBody>
      </p:sp>
    </p:spTree>
  </p:cSld>
  <p:clrMapOvr>
    <a:masterClrMapping/>
  </p:clrMapOvr>
</p:sld>
</file>

<file path=ppt/slides/slide5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DocumentDB (with MongoDB compatibility) now supports Event Subscriptions</a:t>
            </a:r>
          </a:p>
        </p:txBody>
      </p:sp>
      <p:sp>
        <p:nvSpPr>
          <p:cNvPr id="3" name="Content Placeholder 2"/>
          <p:cNvSpPr>
            <a:spLocks noGrp="1"/>
          </p:cNvSpPr>
          <p:nvPr>
            <p:ph sz="half" idx="1"/>
          </p:nvPr>
        </p:nvSpPr>
        <p:spPr/>
        <p:txBody>
          <a:bodyPr/>
          <a:lstStyle/>
          <a:p>
            <a:r>
              <a:t>29 Mar</a:t>
            </a:r>
          </a:p>
          <a:p>
            <a:endParaRPr/>
          </a:p>
          <a:p>
            <a:r>
              <a:t>Amazon DocumentDB (with MongoDB compatibility) is a fast, scalable, highly available, and fully managed document database service that supports MongoDB workloads. As a document database, Amazon DocumentDB makes it easy to store, query, and index JSON data at scale.</a:t>
            </a:r>
          </a:p>
        </p:txBody>
      </p:sp>
    </p:spTree>
  </p:cSld>
  <p:clrMapOvr>
    <a:masterClrMapping/>
  </p:clrMapOvr>
</p:sld>
</file>

<file path=ppt/slides/slide5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CloudWatch Container Insights for Amazon ECS now available in the AWS Africa (Cape Town) region</a:t>
            </a:r>
          </a:p>
        </p:txBody>
      </p:sp>
      <p:sp>
        <p:nvSpPr>
          <p:cNvPr id="3" name="Content Placeholder 2"/>
          <p:cNvSpPr>
            <a:spLocks noGrp="1"/>
          </p:cNvSpPr>
          <p:nvPr>
            <p:ph sz="half" idx="1"/>
          </p:nvPr>
        </p:nvSpPr>
        <p:spPr/>
        <p:txBody>
          <a:bodyPr/>
          <a:lstStyle/>
          <a:p>
            <a:r>
              <a:t>29 Mar</a:t>
            </a:r>
          </a:p>
          <a:p>
            <a:endParaRPr/>
          </a:p>
          <a:p>
            <a:r>
              <a:t>Amazon CloudWatch Container Insights for Amazon Elastic Container Service (Amazon ECS) is now available in the AWS Africa (Cape Town) region. Using Container Insights, DevOps and systems engineers can monitor, isolate, and diagnose containerized applications and microservices environments through automated dashboards. This helps you visualize the performance and health of Amazon ECS and AWS Fargate resources including clusters, tasks, containers, and services.  </a:t>
            </a:r>
          </a:p>
        </p:txBody>
      </p:sp>
    </p:spTree>
  </p:cSld>
  <p:clrMapOvr>
    <a:masterClrMapping/>
  </p:clrMapOvr>
</p:sld>
</file>

<file path=ppt/slides/slide5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Forecast enables AWS Resource Groups</a:t>
            </a:r>
          </a:p>
        </p:txBody>
      </p:sp>
      <p:sp>
        <p:nvSpPr>
          <p:cNvPr id="3" name="Content Placeholder 2"/>
          <p:cNvSpPr>
            <a:spLocks noGrp="1"/>
          </p:cNvSpPr>
          <p:nvPr>
            <p:ph sz="half" idx="1"/>
          </p:nvPr>
        </p:nvSpPr>
        <p:spPr/>
        <p:txBody>
          <a:bodyPr/>
          <a:lstStyle/>
          <a:p>
            <a:r>
              <a:t>26 Mar</a:t>
            </a:r>
          </a:p>
          <a:p>
            <a:endParaRPr/>
          </a:p>
          <a:p>
            <a:r>
              <a:t>Amazon Forecast adds support for AWS Resource Groups and AWS Resource Groups Tag Editor. Amazon Forecast uses machine learning (ML) to generate more accurate demand forecasts, without requiring any prior ML experience. Forecast brings the same technology used at Amazon.com to developers as a fully managed service, removing the need to manage resources or rebuild your systems.</a:t>
            </a:r>
          </a:p>
        </p:txBody>
      </p:sp>
    </p:spTree>
  </p:cSld>
  <p:clrMapOvr>
    <a:masterClrMapping/>
  </p:clrMapOvr>
</p:sld>
</file>

<file path=ppt/slides/slide5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DevOps Monitoring Dashboard solution is Generally Available</a:t>
            </a:r>
          </a:p>
        </p:txBody>
      </p:sp>
      <p:sp>
        <p:nvSpPr>
          <p:cNvPr id="3" name="Content Placeholder 2"/>
          <p:cNvSpPr>
            <a:spLocks noGrp="1"/>
          </p:cNvSpPr>
          <p:nvPr>
            <p:ph sz="half" idx="1"/>
          </p:nvPr>
        </p:nvSpPr>
        <p:spPr/>
        <p:txBody>
          <a:bodyPr/>
          <a:lstStyle/>
          <a:p>
            <a:r>
              <a:t>26 Mar</a:t>
            </a:r>
          </a:p>
          <a:p>
            <a:endParaRPr/>
          </a:p>
          <a:p>
            <a:r>
              <a:t>We’re excited to announce the launch of AWS DevOps Monitoring Dashboard, a reference implementation that automates the setup of DevOps metrics dashboards so that customers developing on AWS can measure development activity and identify areas for continued improvement.</a:t>
            </a:r>
          </a:p>
        </p:txBody>
      </p:sp>
    </p:spTree>
  </p:cSld>
  <p:clrMapOvr>
    <a:masterClrMapping/>
  </p:clrMapOvr>
</p:sld>
</file>

<file path=ppt/slides/slide5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SageMaker now supports private Docker registry authentication</a:t>
            </a:r>
          </a:p>
        </p:txBody>
      </p:sp>
      <p:sp>
        <p:nvSpPr>
          <p:cNvPr id="3" name="Content Placeholder 2"/>
          <p:cNvSpPr>
            <a:spLocks noGrp="1"/>
          </p:cNvSpPr>
          <p:nvPr>
            <p:ph sz="half" idx="1"/>
          </p:nvPr>
        </p:nvSpPr>
        <p:spPr/>
        <p:txBody>
          <a:bodyPr/>
          <a:lstStyle/>
          <a:p>
            <a:r>
              <a:t>26 Mar</a:t>
            </a:r>
          </a:p>
          <a:p>
            <a:endParaRPr/>
          </a:p>
          <a:p>
            <a:r>
              <a:t>Amazon SageMaker now supports adding authentication to requests for pulling images stored in your private Docker Registry to build containers for real-time inference. Amazon SageMaker makes it easy to deploy your trained models to production with a single click, so you can start generating real-time inferences with low latency. You can bring your own code for performing real-time inference using container images stored in Amazon Elastic Container Registry (Amazon ECR) or a private Docker registry of your choice. SageMaker can now authenticate with your private Docker registry so you can have an additional layer of security and the peace of mind that requests to your container images are serviced only for authorized entities.</a:t>
            </a:r>
          </a:p>
        </p:txBody>
      </p:sp>
    </p:spTree>
  </p:cSld>
  <p:clrMapOvr>
    <a:masterClrMapping/>
  </p:clrMapOvr>
</p:sld>
</file>

<file path=ppt/slides/slide5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New AWS Solutions Consulting Offer - WorkSpaces Manager for Amazon WorkSpaces</a:t>
            </a:r>
          </a:p>
        </p:txBody>
      </p:sp>
      <p:sp>
        <p:nvSpPr>
          <p:cNvPr id="3" name="Content Placeholder 2"/>
          <p:cNvSpPr>
            <a:spLocks noGrp="1"/>
          </p:cNvSpPr>
          <p:nvPr>
            <p:ph sz="half" idx="1"/>
          </p:nvPr>
        </p:nvSpPr>
        <p:spPr/>
        <p:txBody>
          <a:bodyPr/>
          <a:lstStyle/>
          <a:p>
            <a:r>
              <a:t>26 Mar</a:t>
            </a:r>
          </a:p>
          <a:p>
            <a:endParaRPr/>
          </a:p>
          <a:p>
            <a:r>
              <a:t>WorkSpaces Manager for Amazon WorkSpaces (WSM) is an AWS Solutions Consulting Offer delivered via a consulting engagement from Nuvens Consulting, an AWS Digital Workplace Competency Partner. WSM is ideal for customers looking to optimize, automate, and reduce the day-to-day management of their Amazon WorkSpaces estate. Customers that request this consulting offer will participate in an engagement that delivers automation of the administration, integration into existing support mechanisms, and right-sizing the Amazon WorkSpaces estate to ensure cost efficiency.</a:t>
            </a:r>
          </a:p>
        </p:txBody>
      </p:sp>
    </p:spTree>
  </p:cSld>
  <p:clrMapOvr>
    <a:masterClrMapping/>
  </p:clrMapOvr>
</p:sld>
</file>

<file path=ppt/slides/slide5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WorkDocs offers additional sharing controls throughout its Android app</a:t>
            </a:r>
          </a:p>
        </p:txBody>
      </p:sp>
      <p:sp>
        <p:nvSpPr>
          <p:cNvPr id="3" name="Content Placeholder 2"/>
          <p:cNvSpPr>
            <a:spLocks noGrp="1"/>
          </p:cNvSpPr>
          <p:nvPr>
            <p:ph sz="half" idx="1"/>
          </p:nvPr>
        </p:nvSpPr>
        <p:spPr/>
        <p:txBody>
          <a:bodyPr/>
          <a:lstStyle/>
          <a:p>
            <a:r>
              <a:t>26 Mar</a:t>
            </a:r>
          </a:p>
          <a:p>
            <a:endParaRPr/>
          </a:p>
          <a:p>
            <a:r>
              <a:t>Starting today, you are now offered additional file and folder sharing controls on your Amazon WorkDocs Android application. With this release, you can now share a folder as well as edit sharing permissions such as adding or removing members of the shared folder. You can also share a link as well as manage shared links for files and folders such as removing your shared link, adding a password to your shared link, or setting expiration dates for your shared link. In addition, you can now manage sharing permissions directly from the Folder List page for documents. These additional controls make it quicker than ever to share with colleagues and partners from your mobile application while also providing full control to manage the sharing workflow securely throughout the Android application.</a:t>
            </a:r>
          </a:p>
        </p:txBody>
      </p:sp>
    </p:spTree>
  </p:cSld>
  <p:clrMapOvr>
    <a:masterClrMapping/>
  </p:clrMapOvr>
</p:sld>
</file>

<file path=ppt/slides/slide5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EKS now supports P4d instances</a:t>
            </a:r>
          </a:p>
        </p:txBody>
      </p:sp>
      <p:sp>
        <p:nvSpPr>
          <p:cNvPr id="3" name="Content Placeholder 2"/>
          <p:cNvSpPr>
            <a:spLocks noGrp="1"/>
          </p:cNvSpPr>
          <p:nvPr>
            <p:ph sz="half" idx="1"/>
          </p:nvPr>
        </p:nvSpPr>
        <p:spPr/>
        <p:txBody>
          <a:bodyPr/>
          <a:lstStyle/>
          <a:p>
            <a:r>
              <a:t>26 Mar</a:t>
            </a:r>
          </a:p>
          <a:p>
            <a:endParaRPr/>
          </a:p>
          <a:p>
            <a:r>
              <a:t>Amazon Elastic Kubernetes Service (EKS) now supports adding Amazon EC2 P4d instances as worker nodes to clusters in regions where P4d is available.</a:t>
            </a:r>
          </a:p>
        </p:txBody>
      </p:sp>
    </p:spTree>
  </p:cSld>
  <p:clrMapOvr>
    <a:masterClrMapping/>
  </p:clrMapOvr>
</p:sld>
</file>

<file path=ppt/slides/slide5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API Gateway now provides IAM condition keys for governing endpoint, authorization, and logging configurations</a:t>
            </a:r>
          </a:p>
        </p:txBody>
      </p:sp>
      <p:sp>
        <p:nvSpPr>
          <p:cNvPr id="3" name="Content Placeholder 2"/>
          <p:cNvSpPr>
            <a:spLocks noGrp="1"/>
          </p:cNvSpPr>
          <p:nvPr>
            <p:ph sz="half" idx="1"/>
          </p:nvPr>
        </p:nvSpPr>
        <p:spPr/>
        <p:txBody>
          <a:bodyPr/>
          <a:lstStyle/>
          <a:p>
            <a:r>
              <a:t>26 Mar</a:t>
            </a:r>
          </a:p>
          <a:p>
            <a:endParaRPr/>
          </a:p>
          <a:p>
            <a:r>
              <a:t>You can now use IAM condition keys as part of IAM and Service Control Policies (SCPs) to centrally govern endpoint, authorization, and logging configurations for your APIs in API Gateway.</a:t>
            </a:r>
          </a:p>
        </p:txBody>
      </p:sp>
    </p:spTree>
  </p:cSld>
  <p:clrMapOvr>
    <a:masterClrMapping/>
  </p:clrMapOvr>
</p:sld>
</file>

<file path=ppt/slides/slide5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EKS now supports Elastic Fabric Adapter</a:t>
            </a:r>
          </a:p>
        </p:txBody>
      </p:sp>
      <p:sp>
        <p:nvSpPr>
          <p:cNvPr id="3" name="Content Placeholder 2"/>
          <p:cNvSpPr>
            <a:spLocks noGrp="1"/>
          </p:cNvSpPr>
          <p:nvPr>
            <p:ph sz="half" idx="1"/>
          </p:nvPr>
        </p:nvSpPr>
        <p:spPr/>
        <p:txBody>
          <a:bodyPr/>
          <a:lstStyle/>
          <a:p>
            <a:r>
              <a:t>26 Mar</a:t>
            </a:r>
          </a:p>
          <a:p>
            <a:endParaRPr/>
          </a:p>
          <a:p>
            <a:r>
              <a:t>Amazon Elastic Kubernetes Service (EKS) now supports Elastic Fabric Adapter (EFA), enabling applications to achieve the performance of an on-premises machine learning training cluster, with the scalability, flexibility, and elasticity provided by Kubernetes clusters managed by EKS.</a:t>
            </a:r>
          </a:p>
        </p:txBody>
      </p:sp>
    </p:spTree>
  </p:cSld>
  <p:clrMapOvr>
    <a:masterClrMapping/>
  </p:clrMapOvr>
</p:sld>
</file>

<file path=ppt/slides/slide5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ElastiCache for Redis now supports highly available clusters on AWS Local Zones</a:t>
            </a:r>
          </a:p>
        </p:txBody>
      </p:sp>
      <p:sp>
        <p:nvSpPr>
          <p:cNvPr id="3" name="Content Placeholder 2"/>
          <p:cNvSpPr>
            <a:spLocks noGrp="1"/>
          </p:cNvSpPr>
          <p:nvPr>
            <p:ph sz="half" idx="1"/>
          </p:nvPr>
        </p:nvSpPr>
        <p:spPr/>
        <p:txBody>
          <a:bodyPr/>
          <a:lstStyle/>
          <a:p>
            <a:r>
              <a:t>25 Mar</a:t>
            </a:r>
          </a:p>
          <a:p>
            <a:endParaRPr/>
          </a:p>
          <a:p>
            <a:r>
              <a:t>Amazon ElastiCache for Redis now supports running clusters with high availability across multiple AWS Local Zones. AWS Local Zones are an extension of an AWS Region where you can run your latency-sensitive applications using AWS services in geographic proximity to end-users. Previously, Amazon ElastiCache for Redis only supported launching a cluster in a single AWS Local Zone.</a:t>
            </a:r>
          </a:p>
        </p:txBody>
      </p:sp>
    </p:spTree>
  </p:cSld>
  <p:clrMapOvr>
    <a:masterClrMapping/>
  </p:clrMapOvr>
</p:sld>
</file>

<file path=ppt/slides/slide5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Security Hub integrates with Amazon Macie to automatically ingest sensitive data findings for improved centralized security posture management</a:t>
            </a:r>
          </a:p>
        </p:txBody>
      </p:sp>
      <p:sp>
        <p:nvSpPr>
          <p:cNvPr id="3" name="Content Placeholder 2"/>
          <p:cNvSpPr>
            <a:spLocks noGrp="1"/>
          </p:cNvSpPr>
          <p:nvPr>
            <p:ph sz="half" idx="1"/>
          </p:nvPr>
        </p:nvSpPr>
        <p:spPr/>
        <p:txBody>
          <a:bodyPr/>
          <a:lstStyle/>
          <a:p>
            <a:r>
              <a:t>25 Mar</a:t>
            </a:r>
          </a:p>
          <a:p>
            <a:endParaRPr/>
          </a:p>
          <a:p>
            <a:r>
              <a:t>AWS Security Hub is now integrated with Amazon Macie to automatically ingest sensitive data findings from Macie. Security Hub previously ingested policy findings from Macie, and this integration adds sensitive data findings. All of Security Hub’s findings are automatically normalized using the AWS Security Finding Format (ASFF), enabling you to more easily search, correlate, and operationalize them. To get started, visit the Settings page in the Macie console  and select Security Hub as a publish destination for sensitive data findings. You can also learn more about how to discover sensitive data in the Macie documentation .</a:t>
            </a:r>
          </a:p>
        </p:txBody>
      </p:sp>
    </p:spTree>
  </p:cSld>
  <p:clrMapOvr>
    <a:masterClrMapping/>
  </p:clrMapOvr>
</p:sld>
</file>

<file path=ppt/slides/slide5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Backup is now available in the AWS Asia Pacific (Osaka) Region</a:t>
            </a:r>
          </a:p>
        </p:txBody>
      </p:sp>
      <p:sp>
        <p:nvSpPr>
          <p:cNvPr id="3" name="Content Placeholder 2"/>
          <p:cNvSpPr>
            <a:spLocks noGrp="1"/>
          </p:cNvSpPr>
          <p:nvPr>
            <p:ph sz="half" idx="1"/>
          </p:nvPr>
        </p:nvSpPr>
        <p:spPr/>
        <p:txBody>
          <a:bodyPr/>
          <a:lstStyle/>
          <a:p>
            <a:r>
              <a:t>25 Mar</a:t>
            </a:r>
          </a:p>
          <a:p>
            <a:endParaRPr/>
          </a:p>
          <a:p>
            <a:r>
              <a:t>AWS Backup, a cost-effective, fully managed, policy-based service that further simplifies data protection at scale, is now available in the AWS Asia Pacific (Osaka) Region. With AWS Backup, you can centralize and automate data protection across AWS services and accounts, to support your regulatory compliance obligations and meet your business continuity goals.</a:t>
            </a:r>
          </a:p>
        </p:txBody>
      </p:sp>
    </p:spTree>
  </p:cSld>
  <p:clrMapOvr>
    <a:masterClrMapping/>
  </p:clrMapOvr>
</p:sld>
</file>

<file path=ppt/slides/slide5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Polly NTTS voices now available in Canada (Central), and Asia Pacific (Seoul)</a:t>
            </a:r>
          </a:p>
        </p:txBody>
      </p:sp>
      <p:sp>
        <p:nvSpPr>
          <p:cNvPr id="3" name="Content Placeholder 2"/>
          <p:cNvSpPr>
            <a:spLocks noGrp="1"/>
          </p:cNvSpPr>
          <p:nvPr>
            <p:ph sz="half" idx="1"/>
          </p:nvPr>
        </p:nvSpPr>
        <p:spPr/>
        <p:txBody>
          <a:bodyPr/>
          <a:lstStyle/>
          <a:p>
            <a:r>
              <a:t>25 Mar</a:t>
            </a:r>
          </a:p>
          <a:p>
            <a:endParaRPr/>
          </a:p>
          <a:p>
            <a:r>
              <a:t>Amazon Polly is a service that turns text into lifelike speech. Today, we are excited to announce the general availability of all Neural Text-to-Speech (NTTS) voices in the Canada (Central) and Asia Pacific (Seoul) Regions. You can now synthesize all NTTS voices in this Region, including the Newscaster and Conversational speaking styles. In addition, you can continue to synthesize over 60 standard voices available in 29 languages in the Amazon Polly portfolio.</a:t>
            </a:r>
          </a:p>
        </p:txBody>
      </p:sp>
    </p:spTree>
  </p:cSld>
  <p:clrMapOvr>
    <a:masterClrMapping/>
  </p:clrMapOvr>
</p:sld>
</file>

<file path=ppt/slides/slide5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License Manager adds ability to set up exclusion rules for automated discovery</a:t>
            </a:r>
          </a:p>
        </p:txBody>
      </p:sp>
      <p:sp>
        <p:nvSpPr>
          <p:cNvPr id="3" name="Content Placeholder 2"/>
          <p:cNvSpPr>
            <a:spLocks noGrp="1"/>
          </p:cNvSpPr>
          <p:nvPr>
            <p:ph sz="half" idx="1"/>
          </p:nvPr>
        </p:nvSpPr>
        <p:spPr/>
        <p:txBody>
          <a:bodyPr/>
          <a:lstStyle/>
          <a:p>
            <a:r>
              <a:t>25 Mar</a:t>
            </a:r>
          </a:p>
          <a:p>
            <a:endParaRPr/>
          </a:p>
          <a:p>
            <a:r>
              <a:t>AWS License Manager automated discovery now allows customers to exclude instances that do not need license payment per a customer’s licensing agreements. AWS License Manager automatically tracks instances across AWS and on-premises environments based on customer defined rules. While configuring automated discovery, administrators can now define exclusion rules using custom defined tags or AWS Account IDs to identify instances that should not count towards license usage. It helps automated discovery exclude instances that matches these rules and thus further simplifies the management of software licenses.</a:t>
            </a:r>
          </a:p>
        </p:txBody>
      </p:sp>
    </p:spTree>
  </p:cSld>
  <p:clrMapOvr>
    <a:masterClrMapping/>
  </p:clrMapOvr>
</p:sld>
</file>

<file path=ppt/slides/slide5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Lower Cost Storage Classes for Amazon Elastic File System are now available in Asia (Osaka) region</a:t>
            </a:r>
          </a:p>
        </p:txBody>
      </p:sp>
      <p:sp>
        <p:nvSpPr>
          <p:cNvPr id="3" name="Content Placeholder 2"/>
          <p:cNvSpPr>
            <a:spLocks noGrp="1"/>
          </p:cNvSpPr>
          <p:nvPr>
            <p:ph sz="half" idx="1"/>
          </p:nvPr>
        </p:nvSpPr>
        <p:spPr/>
        <p:txBody>
          <a:bodyPr/>
          <a:lstStyle/>
          <a:p>
            <a:r>
              <a:t>25 Mar</a:t>
            </a:r>
          </a:p>
          <a:p>
            <a:endParaRPr/>
          </a:p>
          <a:p>
            <a:r>
              <a:t>Amazon Elastic File System (Amazon EFS) One Zone is now available in the Asia (Osaka) Region, reducing storage costs by 47% compared to Amazon EFS Standard storage classes, while maintaining the Amazon EFS capabilities that customers love.</a:t>
            </a:r>
          </a:p>
        </p:txBody>
      </p:sp>
    </p:spTree>
  </p:cSld>
  <p:clrMapOvr>
    <a:masterClrMapping/>
  </p:clrMapOvr>
</p:sld>
</file>

<file path=ppt/slides/slide5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Kinesis Data Analytics now supports Python with Apache Flink v1.11</a:t>
            </a:r>
          </a:p>
        </p:txBody>
      </p:sp>
      <p:sp>
        <p:nvSpPr>
          <p:cNvPr id="3" name="Content Placeholder 2"/>
          <p:cNvSpPr>
            <a:spLocks noGrp="1"/>
          </p:cNvSpPr>
          <p:nvPr>
            <p:ph sz="half" idx="1"/>
          </p:nvPr>
        </p:nvSpPr>
        <p:spPr/>
        <p:txBody>
          <a:bodyPr/>
          <a:lstStyle/>
          <a:p>
            <a:r>
              <a:t>25 Mar</a:t>
            </a:r>
          </a:p>
          <a:p>
            <a:endParaRPr/>
          </a:p>
          <a:p>
            <a:r>
              <a:t>Amazon Kinesis Data Analytics for Apache Flink now supports streaming applications built using Python version 3.7. This enables you to write streaming applications in the Python language and run them using Apache Flink v1.11 on Amazon Kinesis Data Analytics. Apache Flink v1.11 offers support for Python through the Table API, which is a unified, relational API for data processing.</a:t>
            </a:r>
          </a:p>
        </p:txBody>
      </p:sp>
    </p:spTree>
  </p:cSld>
  <p:clrMapOvr>
    <a:masterClrMapping/>
  </p:clrMapOvr>
</p:sld>
</file>

<file path=ppt/slides/slide5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Configurable Endpoints with Custom Domains now generally available for AWS IoT Core</a:t>
            </a:r>
          </a:p>
        </p:txBody>
      </p:sp>
      <p:sp>
        <p:nvSpPr>
          <p:cNvPr id="3" name="Content Placeholder 2"/>
          <p:cNvSpPr>
            <a:spLocks noGrp="1"/>
          </p:cNvSpPr>
          <p:nvPr>
            <p:ph sz="half" idx="1"/>
          </p:nvPr>
        </p:nvSpPr>
        <p:spPr/>
        <p:txBody>
          <a:bodyPr/>
          <a:lstStyle/>
          <a:p>
            <a:r>
              <a:t>25 Mar</a:t>
            </a:r>
          </a:p>
          <a:p>
            <a:endParaRPr/>
          </a:p>
          <a:p>
            <a:r>
              <a:t>AWS IoT Core now enables customers to customize the behavior of their data endpoints, making it simpler to onboard IoT applications with existing devices in the field. Customers can now configure their data endpoints with custom domain names and associated server certificates stored in AWS Certificate Manager. They can also attach custom authorizers , and create multiple data endpoints for their account.</a:t>
            </a:r>
          </a:p>
        </p:txBody>
      </p:sp>
    </p:spTree>
  </p:cSld>
  <p:clrMapOvr>
    <a:masterClrMapping/>
  </p:clrMapOvr>
</p:sld>
</file>

<file path=ppt/slides/slide5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Kendra adds new partner search connectors from Perficient</a:t>
            </a:r>
          </a:p>
        </p:txBody>
      </p:sp>
      <p:sp>
        <p:nvSpPr>
          <p:cNvPr id="3" name="Content Placeholder 2"/>
          <p:cNvSpPr>
            <a:spLocks noGrp="1"/>
          </p:cNvSpPr>
          <p:nvPr>
            <p:ph sz="half" idx="1"/>
          </p:nvPr>
        </p:nvSpPr>
        <p:spPr/>
        <p:txBody>
          <a:bodyPr/>
          <a:lstStyle/>
          <a:p>
            <a:r>
              <a:t>24 Mar</a:t>
            </a:r>
          </a:p>
          <a:p>
            <a:endParaRPr/>
          </a:p>
          <a:p>
            <a:r>
              <a:t>Today, Amazon Kendra, an intelligent search service powered by machine learning is releasing new search connectors from Perficient , an AWS partner. These are now available in the Amazon Kendra Connector Library and include search connectors for IBM Case Manager, Adobe Experience Manager, Atlassian Jira and Confluence, and many others.</a:t>
            </a:r>
          </a:p>
        </p:txBody>
      </p:sp>
    </p:spTree>
  </p:cSld>
  <p:clrMapOvr>
    <a:masterClrMapping/>
  </p:clrMapOvr>
</p:sld>
</file>

<file path=ppt/slides/slide5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Updated classroom course: Advanced Architecting on AWS</a:t>
            </a:r>
          </a:p>
        </p:txBody>
      </p:sp>
      <p:sp>
        <p:nvSpPr>
          <p:cNvPr id="3" name="Content Placeholder 2"/>
          <p:cNvSpPr>
            <a:spLocks noGrp="1"/>
          </p:cNvSpPr>
          <p:nvPr>
            <p:ph sz="half" idx="1"/>
          </p:nvPr>
        </p:nvSpPr>
        <p:spPr/>
        <p:txBody>
          <a:bodyPr/>
          <a:lstStyle/>
          <a:p>
            <a:r>
              <a:t>24 Mar</a:t>
            </a:r>
          </a:p>
          <a:p>
            <a:endParaRPr/>
          </a:p>
          <a:p>
            <a:r>
              <a:t>We are excited to announce the launch of the updated Advanced Architecting on AWS course. This instructor-led training course is designed for cloud architects who want to extend their baseline knowledge of AWS services. An expert AWS instructor will help you learn advanced architecting topics such as hybrid connectivity and hybrid AWS devices, networking with a focus on AWS Transit Gateway connectivity, AWS Container services, automation tools for CI/CD, security options, and much more.</a:t>
            </a:r>
          </a:p>
        </p:txBody>
      </p:sp>
    </p:spTree>
  </p:cSld>
  <p:clrMapOvr>
    <a:masterClrMapping/>
  </p:clrMapOvr>
</p:sld>
</file>

<file path=ppt/slides/slide5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Snowcone is now available in the AWS Asia Pacific (Sydney) Region in Australia</a:t>
            </a:r>
          </a:p>
        </p:txBody>
      </p:sp>
      <p:sp>
        <p:nvSpPr>
          <p:cNvPr id="3" name="Content Placeholder 2"/>
          <p:cNvSpPr>
            <a:spLocks noGrp="1"/>
          </p:cNvSpPr>
          <p:nvPr>
            <p:ph sz="half" idx="1"/>
          </p:nvPr>
        </p:nvSpPr>
        <p:spPr/>
        <p:txBody>
          <a:bodyPr/>
          <a:lstStyle/>
          <a:p>
            <a:r>
              <a:t>24 Mar</a:t>
            </a:r>
          </a:p>
          <a:p>
            <a:endParaRPr/>
          </a:p>
          <a:p>
            <a:r>
              <a:t>The AWS Snowcone service is now available for order for customers in the AWS Asia Pacific (Sydney) Region. With this launch, Snowcone is now available for order in Asia Pacific (Sydney), EU (Frankfurt), EU (Ireland), US East (N. Virginia), and US West (Oregon) Regions. AWS Snowcone is the smallest member of the AWS Snow Family of edge computing, edge storage, and data transfer devices. Snowcone is portable, rugged, and secure – small and light enough to fit in a backpack, and able to withstand harsh environments. Customers use Snowcone to deploy applications at the edge, and to collect data, process it locally, and move it to AWS either offline (by shipping the device to AWS) or online (by using AWS DataSync on Snowcone to send the data to AWS over the network).</a:t>
            </a:r>
          </a:p>
        </p:txBody>
      </p:sp>
    </p:spTree>
  </p:cSld>
  <p:clrMapOvr>
    <a:masterClrMapping/>
  </p:clrMapOvr>
</p:sld>
</file>

<file path=ppt/slides/slide5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NICE DCV releases web client SDK for building customized web applications</a:t>
            </a:r>
          </a:p>
        </p:txBody>
      </p:sp>
      <p:sp>
        <p:nvSpPr>
          <p:cNvPr id="3" name="Content Placeholder 2"/>
          <p:cNvSpPr>
            <a:spLocks noGrp="1"/>
          </p:cNvSpPr>
          <p:nvPr>
            <p:ph sz="half" idx="1"/>
          </p:nvPr>
        </p:nvSpPr>
        <p:spPr/>
        <p:txBody>
          <a:bodyPr/>
          <a:lstStyle/>
          <a:p>
            <a:r>
              <a:t>24 Mar</a:t>
            </a:r>
          </a:p>
          <a:p>
            <a:endParaRPr/>
          </a:p>
          <a:p>
            <a:r>
              <a:t>We are pleased to announce the release of version 1.0.0 of the NICE DCV web client software development kit (SDK). NICE DCV is a high performance remote display protocol that helps users to securely access remote desktop or application sessions, including 3D graphics applications hosted on servers with high-performance GPUs. This JavaScript SDK is an optional component that enables developers and independent software vendors (ISVs) to integrate a customized NICE DCV web client into their web applications. Customers can build custom DCV web clients using custom user interface components and the core DCV streaming features provided by this SDK, delivering unique experiences tailored to their own use cases.</a:t>
            </a:r>
          </a:p>
        </p:txBody>
      </p:sp>
    </p:spTree>
  </p:cSld>
  <p:clrMapOvr>
    <a:masterClrMapping/>
  </p:clrMapOvr>
</p:sld>
</file>

<file path=ppt/slides/slide5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and Red Hat announce the General Availability of Red Hat OpenShift Service on AWS (ROSA)</a:t>
            </a:r>
          </a:p>
        </p:txBody>
      </p:sp>
      <p:sp>
        <p:nvSpPr>
          <p:cNvPr id="3" name="Content Placeholder 2"/>
          <p:cNvSpPr>
            <a:spLocks noGrp="1"/>
          </p:cNvSpPr>
          <p:nvPr>
            <p:ph sz="half" idx="1"/>
          </p:nvPr>
        </p:nvSpPr>
        <p:spPr/>
        <p:txBody>
          <a:bodyPr/>
          <a:lstStyle/>
          <a:p>
            <a:r>
              <a:t>24 Mar</a:t>
            </a:r>
          </a:p>
          <a:p>
            <a:endParaRPr/>
          </a:p>
          <a:p>
            <a:r>
              <a:t>Containers have proven popular with AWS and Red Hat customers because they increase developer velocity, improve application portability, and enable faster application development. Currently, AWS offers a broad range of containers technology in the cloud, including Amazon Elastic Containers Service (ECS), Amazon Elastic Kubernetes Service (EKS), Amazon ECS and Amazon EKS with AWS Fargate. Now customers have an additional option with the launch of Red Hat OpenShift Service on AWS (ROSA), which provides a new managed service that makes it easier for Red Hat OpenShift customers to build, scale, and manage containerized applications on AWS.</a:t>
            </a:r>
          </a:p>
        </p:txBody>
      </p:sp>
    </p:spTree>
  </p:cSld>
  <p:clrMapOvr>
    <a:masterClrMapping/>
  </p:clrMapOvr>
</p:sld>
</file>

<file path=ppt/slides/slide5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AppFlow now supports Zendesk as a destination</a:t>
            </a:r>
          </a:p>
        </p:txBody>
      </p:sp>
      <p:sp>
        <p:nvSpPr>
          <p:cNvPr id="3" name="Content Placeholder 2"/>
          <p:cNvSpPr>
            <a:spLocks noGrp="1"/>
          </p:cNvSpPr>
          <p:nvPr>
            <p:ph sz="half" idx="1"/>
          </p:nvPr>
        </p:nvSpPr>
        <p:spPr/>
        <p:txBody>
          <a:bodyPr/>
          <a:lstStyle/>
          <a:p>
            <a:r>
              <a:t>24 Mar</a:t>
            </a:r>
          </a:p>
          <a:p>
            <a:endParaRPr/>
          </a:p>
          <a:p>
            <a:r>
              <a:t>Amazon AppFlow, a fully managed integration service that helps customers to securely transfer data between AWS services and software-as-a-service (SaaS) applications in just a few clicks, now supports Zendesk  as a destination.</a:t>
            </a:r>
          </a:p>
        </p:txBody>
      </p:sp>
    </p:spTree>
  </p:cSld>
  <p:clrMapOvr>
    <a:masterClrMapping/>
  </p:clrMapOvr>
</p:sld>
</file>

<file path=ppt/slides/slide5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Elemental MediaTailor now supports Enhanced Debug Logs and other enhancements *</a:t>
            </a:r>
          </a:p>
        </p:txBody>
      </p:sp>
      <p:sp>
        <p:nvSpPr>
          <p:cNvPr id="3" name="Content Placeholder 2"/>
          <p:cNvSpPr>
            <a:spLocks noGrp="1"/>
          </p:cNvSpPr>
          <p:nvPr>
            <p:ph sz="half" idx="1"/>
          </p:nvPr>
        </p:nvSpPr>
        <p:spPr/>
        <p:txBody>
          <a:bodyPr/>
          <a:lstStyle/>
          <a:p>
            <a:r>
              <a:t>24 Mar</a:t>
            </a:r>
          </a:p>
          <a:p>
            <a:endParaRPr/>
          </a:p>
          <a:p>
            <a:r>
              <a:t>AWS Elemental MediaTailor now supports Enhanced Debug Logs  that provide valuable information to troubleshoot playback session issues. When debug log mode is enabled, MediaTailor records all manifest requests and response payloads to the CloudWatch Logs for expanded diagnostics information. Learn more in our blog.</a:t>
            </a:r>
          </a:p>
        </p:txBody>
      </p:sp>
    </p:spTree>
  </p:cSld>
  <p:clrMapOvr>
    <a:masterClrMapping/>
  </p:clrMapOvr>
</p:sld>
</file>

<file path=ppt/slides/slide5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Now available AWS SSO credential profile support in the AWS Toolkit for VS Code</a:t>
            </a:r>
          </a:p>
        </p:txBody>
      </p:sp>
      <p:sp>
        <p:nvSpPr>
          <p:cNvPr id="3" name="Content Placeholder 2"/>
          <p:cNvSpPr>
            <a:spLocks noGrp="1"/>
          </p:cNvSpPr>
          <p:nvPr>
            <p:ph sz="half" idx="1"/>
          </p:nvPr>
        </p:nvSpPr>
        <p:spPr/>
        <p:txBody>
          <a:bodyPr/>
          <a:lstStyle/>
          <a:p>
            <a:r>
              <a:t>24 Mar</a:t>
            </a:r>
          </a:p>
          <a:p>
            <a:endParaRPr/>
          </a:p>
          <a:p>
            <a:r>
              <a:t>With this new release of the AWS Toolkit for VS Code, customers can use federated credentials, MFA and AWS Single Sign-On (AWS SSO) to connect Visual Studio Code to AWS. Using AWS SSO,  users can sign in to their organization’s Active Directory, a built-in AWS SSO directory, or another external identity provider (IdP) connected to AWS SSO. Regardless of which IdP you use, AWS SSO abstracts those distinctions away, and they all work with the AWS Toolkit, as explained in this short blog post.</a:t>
            </a:r>
          </a:p>
        </p:txBody>
      </p:sp>
    </p:spTree>
  </p:cSld>
  <p:clrMapOvr>
    <a:masterClrMapping/>
  </p:clrMapOvr>
</p:sld>
</file>

<file path=ppt/slides/slide5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Timestream now supports Amazon VPC endpoints</a:t>
            </a:r>
          </a:p>
        </p:txBody>
      </p:sp>
      <p:sp>
        <p:nvSpPr>
          <p:cNvPr id="3" name="Content Placeholder 2"/>
          <p:cNvSpPr>
            <a:spLocks noGrp="1"/>
          </p:cNvSpPr>
          <p:nvPr>
            <p:ph sz="half" idx="1"/>
          </p:nvPr>
        </p:nvSpPr>
        <p:spPr/>
        <p:txBody>
          <a:bodyPr/>
          <a:lstStyle/>
          <a:p>
            <a:r>
              <a:t>24 Mar</a:t>
            </a:r>
          </a:p>
          <a:p>
            <a:endParaRPr/>
          </a:p>
          <a:p>
            <a:r>
              <a:t>You can now access Amazon Timestream APIs from your Amazon Virtual Private Cloud (Amazon VPC) using VPC endpoints. Amazon VPC endpoints are easy to configure and provide reliable connectivity to Amazon Timestream APIs  without requiring an internet gateway or a Network Address Translation (NAT) instance.</a:t>
            </a:r>
          </a:p>
        </p:txBody>
      </p:sp>
    </p:spTree>
  </p:cSld>
  <p:clrMapOvr>
    <a:masterClrMapping/>
  </p:clrMapOvr>
</p:sld>
</file>

<file path=ppt/slides/slide5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Cloud Map now supports API-only services in namespaces configured with DNS resolution</a:t>
            </a:r>
          </a:p>
        </p:txBody>
      </p:sp>
      <p:sp>
        <p:nvSpPr>
          <p:cNvPr id="3" name="Content Placeholder 2"/>
          <p:cNvSpPr>
            <a:spLocks noGrp="1"/>
          </p:cNvSpPr>
          <p:nvPr>
            <p:ph sz="half" idx="1"/>
          </p:nvPr>
        </p:nvSpPr>
        <p:spPr/>
        <p:txBody>
          <a:bodyPr/>
          <a:lstStyle/>
          <a:p>
            <a:r>
              <a:rPr dirty="0"/>
              <a:t>24 Mar</a:t>
            </a:r>
          </a:p>
          <a:p>
            <a:endParaRPr dirty="0"/>
          </a:p>
          <a:p>
            <a:r>
              <a:rPr dirty="0"/>
              <a:t>You can now manage non-IP based cloud resources in AWS Cloud Map’s public and private DNS namespaces. AWS Cloud Map is a cloud resource discovery service. Using AWS Cloud Map, you can define custom names for your application resources, such as Amazon ECS tasks, Amazon EC2 instances, Amazon S3 buckets, Amazon DynamoDB tables, or any other cloud resource. Your application can then discover the location and metadata of cloud resources associated with these custom names via AWS SDK or by making authenticated API calls.</a:t>
            </a:r>
          </a:p>
        </p:txBody>
      </p:sp>
    </p:spTree>
  </p:cSld>
  <p:clrMapOvr>
    <a:masterClrMapping/>
  </p:clrMapOvr>
</p:sld>
</file>

<file path=ppt/slides/slide5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Detective launches in AWS GovCloud (US) Regions</a:t>
            </a:r>
          </a:p>
        </p:txBody>
      </p:sp>
      <p:sp>
        <p:nvSpPr>
          <p:cNvPr id="3" name="Content Placeholder 2"/>
          <p:cNvSpPr>
            <a:spLocks noGrp="1"/>
          </p:cNvSpPr>
          <p:nvPr>
            <p:ph sz="half" idx="1"/>
          </p:nvPr>
        </p:nvSpPr>
        <p:spPr/>
        <p:txBody>
          <a:bodyPr/>
          <a:lstStyle/>
          <a:p>
            <a:r>
              <a:t>24 Mar</a:t>
            </a:r>
          </a:p>
          <a:p>
            <a:endParaRPr/>
          </a:p>
          <a:p>
            <a:r>
              <a:t>Amazon Detective is now available in the AWS GovCloud (US) Regions. You can now easily analyze, investigate, and quickly identify the root cause of potential security issues or suspicious activities in both AWS GovCloud (US-West) and AWS GovCloud (US-East).  </a:t>
            </a:r>
          </a:p>
        </p:txBody>
      </p:sp>
    </p:spTree>
  </p:cSld>
  <p:clrMapOvr>
    <a:masterClrMapping/>
  </p:clrMapOvr>
</p:sld>
</file>

<file path=ppt/slides/slide5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Announcing General Availability of AWS IoT Device Defender ML Detect</a:t>
            </a:r>
          </a:p>
        </p:txBody>
      </p:sp>
      <p:sp>
        <p:nvSpPr>
          <p:cNvPr id="3" name="Content Placeholder 2"/>
          <p:cNvSpPr>
            <a:spLocks noGrp="1"/>
          </p:cNvSpPr>
          <p:nvPr>
            <p:ph sz="half" idx="1"/>
          </p:nvPr>
        </p:nvSpPr>
        <p:spPr/>
        <p:txBody>
          <a:bodyPr/>
          <a:lstStyle/>
          <a:p>
            <a:r>
              <a:t>24 Mar</a:t>
            </a:r>
          </a:p>
          <a:p>
            <a:endParaRPr/>
          </a:p>
          <a:p>
            <a:r>
              <a:t>Today, we are announcing the general availability of ML Detect, a new feature of AWS IoT Device Defender that automatically detects device-level operational and security anomalies across your IoT fleet by learning from your past data. Now, in addition to being able to manually set static alarms with AWS IoT Device Defender Rules Detect, you can use machine learning to automatically learn your fleet's expected behaviors so that you don’t need an in-depth understanding of how your devices act across a range of metrics to get started.  </a:t>
            </a:r>
          </a:p>
        </p:txBody>
      </p:sp>
    </p:spTree>
  </p:cSld>
  <p:clrMapOvr>
    <a:masterClrMapping/>
  </p:clrMapOvr>
</p:sld>
</file>

<file path=ppt/slides/slide5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Backup adds support for bulk deletion of recovery points</a:t>
            </a:r>
          </a:p>
        </p:txBody>
      </p:sp>
      <p:sp>
        <p:nvSpPr>
          <p:cNvPr id="3" name="Content Placeholder 2"/>
          <p:cNvSpPr>
            <a:spLocks noGrp="1"/>
          </p:cNvSpPr>
          <p:nvPr>
            <p:ph sz="half" idx="1"/>
          </p:nvPr>
        </p:nvSpPr>
        <p:spPr/>
        <p:txBody>
          <a:bodyPr/>
          <a:lstStyle/>
          <a:p>
            <a:r>
              <a:t>24 Mar</a:t>
            </a:r>
          </a:p>
          <a:p>
            <a:endParaRPr/>
          </a:p>
          <a:p>
            <a:r>
              <a:t>AWS Backup adds support for bulk deletion of recovery points from backup vaults in the AWS Backup console. You can now select multiple recovery points for deletion at one time.  </a:t>
            </a:r>
          </a:p>
        </p:txBody>
      </p:sp>
    </p:spTree>
  </p:cSld>
  <p:clrMapOvr>
    <a:masterClrMapping/>
  </p:clrMapOvr>
</p:sld>
</file>

<file path=ppt/slides/slide5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Create forecasting systems faster with automated workflows and notifications in Amazon Forecast</a:t>
            </a:r>
          </a:p>
        </p:txBody>
      </p:sp>
      <p:sp>
        <p:nvSpPr>
          <p:cNvPr id="3" name="Content Placeholder 2"/>
          <p:cNvSpPr>
            <a:spLocks noGrp="1"/>
          </p:cNvSpPr>
          <p:nvPr>
            <p:ph sz="half" idx="1"/>
          </p:nvPr>
        </p:nvSpPr>
        <p:spPr/>
        <p:txBody>
          <a:bodyPr/>
          <a:lstStyle/>
          <a:p>
            <a:r>
              <a:t>24 Mar</a:t>
            </a:r>
          </a:p>
          <a:p>
            <a:endParaRPr/>
          </a:p>
          <a:p>
            <a:r>
              <a:t>We are excited to announce that you can now enable notifications for workflow status changes while using Amazon Forecast, allowing you to work seamlessly without the disruption of having to check if a particular workflow has completed. Additionally, you can now automate workflows through the notifications to increase work efficiency. Amazon Forecast uses machine learning (ML) to generate more accurate demand forecasts, without requiring any prior ML experience. Amazon Forecast brings the same technology used at Amazon.com to developers as a fully managed service, removing the need to manage resources or rebuild your systems.</a:t>
            </a:r>
          </a:p>
        </p:txBody>
      </p:sp>
    </p:spTree>
  </p:cSld>
  <p:clrMapOvr>
    <a:masterClrMapping/>
  </p:clrMapOvr>
</p:sld>
</file>

<file path=ppt/slides/slide6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Elasticsearch Service announces Auto-Tune feature for improved performance and application availability</a:t>
            </a:r>
          </a:p>
        </p:txBody>
      </p:sp>
      <p:sp>
        <p:nvSpPr>
          <p:cNvPr id="3" name="Content Placeholder 2"/>
          <p:cNvSpPr>
            <a:spLocks noGrp="1"/>
          </p:cNvSpPr>
          <p:nvPr>
            <p:ph sz="half" idx="1"/>
          </p:nvPr>
        </p:nvSpPr>
        <p:spPr/>
        <p:txBody>
          <a:bodyPr/>
          <a:lstStyle/>
          <a:p>
            <a:r>
              <a:t>24 Mar</a:t>
            </a:r>
          </a:p>
          <a:p>
            <a:endParaRPr/>
          </a:p>
          <a:p>
            <a:r>
              <a:t>Amazon Elasticsearch Service now supports automated memory management of Elasticsearch clusters with the new Auto-Tune feature. Auto-Tune is an adaptive resource management system that automatically adjusts Elasticsearch internal settings to handle dynamic workloads, optimizing cluster resources to improve efficiency and performance. With Auto-Tune, you can achieve performance boost in ingestion throughput for log analytics workloads, and reduced tail latencies for search queries.  </a:t>
            </a:r>
          </a:p>
        </p:txBody>
      </p:sp>
    </p:spTree>
  </p:cSld>
  <p:clrMapOvr>
    <a:masterClrMapping/>
  </p:clrMapOvr>
</p:sld>
</file>

<file path=ppt/slides/slide6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hlinkClick r:id="rId2"/>
              </a:rPr>
              <a:t>Now you can use AWS CloudTrail to log data-plane API activity to monitor, alarm, and archive item-level activity in your Amazon DynamoDB tables</a:t>
            </a:r>
          </a:p>
        </p:txBody>
      </p:sp>
      <p:sp>
        <p:nvSpPr>
          <p:cNvPr id="3" name="Content Placeholder 2"/>
          <p:cNvSpPr>
            <a:spLocks noGrp="1"/>
          </p:cNvSpPr>
          <p:nvPr>
            <p:ph sz="half" idx="1"/>
          </p:nvPr>
        </p:nvSpPr>
        <p:spPr/>
        <p:txBody>
          <a:bodyPr/>
          <a:lstStyle/>
          <a:p>
            <a:r>
              <a:rPr dirty="0"/>
              <a:t>24 Mar</a:t>
            </a:r>
          </a:p>
          <a:p>
            <a:endParaRPr dirty="0"/>
          </a:p>
          <a:p>
            <a:r>
              <a:rPr dirty="0"/>
              <a:t>Now you can use AWS CloudTrail to log data-plane API activity to monitor, alarm, and archive item-level activity in your Amazon DynamoDB tables. You can use this information about item-level activity as part of an audit, to help address compliance requirements, and monitor which AWS Identity and Access Management (IAM) users, roles, and permissions are being used to access your table data. </a:t>
            </a:r>
          </a:p>
        </p:txBody>
      </p:sp>
    </p:spTree>
  </p:cSld>
  <p:clrMapOvr>
    <a:masterClrMapping/>
  </p:clrMapOvr>
</p:sld>
</file>

<file path=ppt/theme/theme1.xml><?xml version="1.0" encoding="utf-8"?>
<a:theme xmlns:a="http://schemas.openxmlformats.org/drawingml/2006/main" name="DeckTemplate-AWS">
  <a:themeElements>
    <a:clrScheme name="Custom 14">
      <a:dk1>
        <a:srgbClr val="002D43"/>
      </a:dk1>
      <a:lt1>
        <a:srgbClr val="FFFFFF"/>
      </a:lt1>
      <a:dk2>
        <a:srgbClr val="232F3E"/>
      </a:dk2>
      <a:lt2>
        <a:srgbClr val="FFFFFF"/>
      </a:lt2>
      <a:accent1>
        <a:srgbClr val="FF9900"/>
      </a:accent1>
      <a:accent2>
        <a:srgbClr val="00A0C8"/>
      </a:accent2>
      <a:accent3>
        <a:srgbClr val="007DBC"/>
      </a:accent3>
      <a:accent4>
        <a:srgbClr val="69AE35"/>
      </a:accent4>
      <a:accent5>
        <a:srgbClr val="1D8900"/>
      </a:accent5>
      <a:accent6>
        <a:srgbClr val="FF5745"/>
      </a:accent6>
      <a:hlink>
        <a:srgbClr val="00E0EA"/>
      </a:hlink>
      <a:folHlink>
        <a:srgbClr val="00A0C8"/>
      </a:folHlink>
    </a:clrScheme>
    <a:fontScheme name="Test">
      <a:majorFont>
        <a:latin typeface="Amazon Ember"/>
        <a:ea typeface=""/>
        <a:cs typeface=""/>
      </a:majorFont>
      <a:minorFont>
        <a:latin typeface="Amazon Ember"/>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tlCol="0" anchor="ctr"/>
      <a:lstStyle>
        <a:defPPr algn="ctr">
          <a:defRPr dirty="0"/>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algn="l">
          <a:defRPr sz="2900" dirty="0" err="1" smtClean="0">
            <a:latin typeface="Amazon Ember" panose="020B0603020204020204" pitchFamily="34" charset="0"/>
            <a:ea typeface="Amazon Ember" panose="020B0603020204020204" pitchFamily="34" charset="0"/>
            <a:cs typeface="Amazon Ember" panose="020B0603020204020204" pitchFamily="34" charset="0"/>
          </a:defRPr>
        </a:defPPr>
      </a:lstStyle>
    </a:txDef>
  </a:objectDefaults>
  <a:extraClrSchemeLst/>
  <a:extLst>
    <a:ext uri="{05A4C25C-085E-4340-85A3-A5531E510DB2}">
      <thm15:themeFamily xmlns:thm15="http://schemas.microsoft.com/office/thememl/2012/main" name="AWS_Deck_Template.potx" id="{956C5B2E-0233-4212-9383-50A039694C0C}" vid="{0176EEA5-D87D-4097-B356-86DC884F4541}"/>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D26A3D6C04DFD740953BA1B2B9E62D60" ma:contentTypeVersion="0" ma:contentTypeDescription="Create a new document." ma:contentTypeScope="" ma:versionID="26617cd14cd3af163c0e97ff614e520a">
  <xsd:schema xmlns:xsd="http://www.w3.org/2001/XMLSchema" xmlns:xs="http://www.w3.org/2001/XMLSchema" xmlns:p="http://schemas.microsoft.com/office/2006/metadata/properties" targetNamespace="http://schemas.microsoft.com/office/2006/metadata/properties" ma:root="true" ma:fieldsID="c64490b4aec6201516c3a874156f37b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documentManagement/>
</p:properties>
</file>

<file path=customXml/itemProps1.xml><?xml version="1.0" encoding="utf-8"?>
<ds:datastoreItem xmlns:ds="http://schemas.openxmlformats.org/officeDocument/2006/customXml" ds:itemID="{705B35A6-8B52-46A5-AE45-B98C6459DC10}">
  <ds:schemaRefs>
    <ds:schemaRef ds:uri="http://schemas.microsoft.com/sharepoint/v3/contenttype/forms"/>
  </ds:schemaRefs>
</ds:datastoreItem>
</file>

<file path=customXml/itemProps2.xml><?xml version="1.0" encoding="utf-8"?>
<ds:datastoreItem xmlns:ds="http://schemas.openxmlformats.org/officeDocument/2006/customXml" ds:itemID="{51A3258A-222C-4488-825E-7520D001FB7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3.xml><?xml version="1.0" encoding="utf-8"?>
<ds:datastoreItem xmlns:ds="http://schemas.openxmlformats.org/officeDocument/2006/customXml" ds:itemID="{C597C89A-FD0C-431E-81F6-90225B937683}">
  <ds:schemaRefs>
    <ds:schemaRef ds:uri="http://schemas.microsoft.com/office/infopath/2007/PartnerControls"/>
    <ds:schemaRef ds:uri="http://www.w3.org/XML/1998/namespace"/>
    <ds:schemaRef ds:uri="http://schemas.microsoft.com/office/2006/documentManagement/types"/>
    <ds:schemaRef ds:uri="http://purl.org/dc/dcmitype/"/>
    <ds:schemaRef ds:uri="http://schemas.openxmlformats.org/package/2006/metadata/core-properties"/>
    <ds:schemaRef ds:uri="http://purl.org/dc/terms/"/>
    <ds:schemaRef ds:uri="http://schemas.microsoft.com/office/2006/metadata/properties"/>
    <ds:schemaRef ds:uri="http://purl.org/dc/elements/1.1/"/>
  </ds:schemaRefs>
</ds:datastoreItem>
</file>

<file path=docProps/app.xml><?xml version="1.0" encoding="utf-8"?>
<Properties xmlns="http://schemas.openxmlformats.org/officeDocument/2006/extended-properties" xmlns:vt="http://schemas.openxmlformats.org/officeDocument/2006/docPropsVTypes">
  <Template>DeckTemplate_AWS</Template>
  <TotalTime>22985</TotalTime>
  <Words>53115</Words>
  <Application>Microsoft Macintosh PowerPoint</Application>
  <PresentationFormat>Custom</PresentationFormat>
  <Paragraphs>2479</Paragraphs>
  <Slides>601</Slides>
  <Notes>4</Notes>
  <HiddenSlides>1</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601</vt:i4>
      </vt:variant>
    </vt:vector>
  </HeadingPairs>
  <TitlesOfParts>
    <vt:vector size="611" baseType="lpstr">
      <vt:lpstr>Amazon Ember</vt:lpstr>
      <vt:lpstr>Amazon Ember Light</vt:lpstr>
      <vt:lpstr>Amazon Ember Regular</vt:lpstr>
      <vt:lpstr>Arial</vt:lpstr>
      <vt:lpstr>Calibri</vt:lpstr>
      <vt:lpstr>Calibri Light</vt:lpstr>
      <vt:lpstr>Gill Sans</vt:lpstr>
      <vt:lpstr>Helvetica Neue</vt:lpstr>
      <vt:lpstr>DeckTemplate-AWS</vt:lpstr>
      <vt:lpstr>1_Office Theme</vt:lpstr>
      <vt:lpstr>PowerPoint Presentation</vt:lpstr>
      <vt:lpstr>PowerPoint Presentation</vt:lpstr>
      <vt:lpstr>Since Last PI</vt:lpstr>
      <vt:lpstr>Important</vt:lpstr>
      <vt:lpstr>Amazon EC2 Auto Scaling introduces Warm Pools to accelerate scale out while saving money</vt:lpstr>
      <vt:lpstr>Amazon EC2 Auto Scaling Introduces Predictive Scaling as a Native Scaling Policy</vt:lpstr>
      <vt:lpstr>Amazon EC2 adds new AMI property to flag outdated AMIs</vt:lpstr>
      <vt:lpstr>Amazon ECS on AWS Fargate now allows you to configure the size of ephemeral storage for your Tasks</vt:lpstr>
      <vt:lpstr>AWS Announces AWS App Runner</vt:lpstr>
      <vt:lpstr>Amazon CloudFront announces CloudFront Functions, a lightweight edge compute capability</vt:lpstr>
      <vt:lpstr>AWS Lambda Extensions are now Generally Available</vt:lpstr>
      <vt:lpstr>AWS Distro for OpenTelemetry adds support for AWS managed Lambda Layer and other features</vt:lpstr>
      <vt:lpstr>Amazon EventBridge introduces support for cross-Region event bus targets</vt:lpstr>
      <vt:lpstr>AWS Step Functions now supports custom events to Amazon EventBridge</vt:lpstr>
      <vt:lpstr>Amazon SQS Now Supports a High Throughput Mode for FIFO Queues</vt:lpstr>
      <vt:lpstr>Announcing Global Clusters for Amazon DocumentDB (with MongoDB compatibility)</vt:lpstr>
      <vt:lpstr>Amazon Keyspaces now supports customer managed customer master keys (CMKs) for encryption of data at rest to help you meet your compliance and regulatory requirements</vt:lpstr>
      <vt:lpstr>Amazon Aurora MySQL Improves Availability of Read Replicas</vt:lpstr>
      <vt:lpstr>Amazon DynamoDB Accelerator (DAX) now supports encryption in transit of data between your applications and DAX clusters, and between the nodes within a DAX cluster</vt:lpstr>
      <vt:lpstr>AWS announces the general availability of AWS Proton</vt:lpstr>
      <vt:lpstr>AWS Cloud Development Kit (AWS CDK) v2 and Go CDK is now available for Developer Preview</vt:lpstr>
      <vt:lpstr>Amazon Route 53 Resolver DNS Firewall Generally Available</vt:lpstr>
      <vt:lpstr>AWS Firewall Manager now supports centralized management of Amazon Route 53 Resolver DNS Firewall</vt:lpstr>
      <vt:lpstr>Customize and Package Dependencies With Your Apache Spark Applications on Amazon EMR on Amazon EKS</vt:lpstr>
      <vt:lpstr>Announcing AWS Step Functions’ integration with Amazon EMR on EKS</vt:lpstr>
      <vt:lpstr>Amazon EMR Studio is now generally available</vt:lpstr>
      <vt:lpstr>AWS Glue Studio now includes a code editor for customizing your job scripts</vt:lpstr>
      <vt:lpstr>AWS Glue now supports cross-account reads from Amazon Kinesis Data Streams</vt:lpstr>
      <vt:lpstr>Amazon Managed Workflows for Apache Airflow (MWAA) now supports Apache Airflow version 2.0</vt:lpstr>
      <vt:lpstr>Amazon Textract announces quality updates to its forms extraction feature</vt:lpstr>
      <vt:lpstr>Amazon Textract announces quality updates to its tables extraction feature</vt:lpstr>
      <vt:lpstr>Detect anomalies in your metrics, and diagnose issues quickly with Amazon Lookout for Metrics – now generally available</vt:lpstr>
      <vt:lpstr>Connect to your Amazon CloudWatch data to detect anomalies and diagnose their root causes using Amazon Lookout for Metrics</vt:lpstr>
      <vt:lpstr>Amazon SageMaker Data Wrangler now supports Snowflake as a data source</vt:lpstr>
      <vt:lpstr>KMS Multi-Region Keys</vt:lpstr>
      <vt:lpstr>IAM Access Analyzer makes it easier to implement least privilege permissions by generating IAM policies based on access activity</vt:lpstr>
      <vt:lpstr>AWS Audit Manager now offers a new standard framework for NIST 800-53 (Rev. 5) Low-Moderate-High</vt:lpstr>
      <vt:lpstr>Thank you!</vt:lpstr>
      <vt:lpstr>Good to know</vt:lpstr>
      <vt:lpstr>AWS Security Hub adds 16 new controls to its Foundational Security Best Practices standard for enhanced cloud security posture monitoring</vt:lpstr>
      <vt:lpstr>AWS Glue Studio now allows you to specify streaming ETL job settings</vt:lpstr>
      <vt:lpstr>Amazon EMR 6.3 release version now supports Apache Spark 3.1.1</vt:lpstr>
      <vt:lpstr>Amazon DocumentDB (with MongoDB compatibility) adds support for renameCollection, $natural, $indexOfArray, $reverseArray, $zip and indexing improvements</vt:lpstr>
      <vt:lpstr>Amazon Aurora Supports PostgreSQL 12.6, 11.11, 10.16, and 9.6.21</vt:lpstr>
      <vt:lpstr>AWS CloudTrail Adds Logging of Data Events for Amazon DynamoDB</vt:lpstr>
      <vt:lpstr>AWS Systems Manager now supports Amazon Elastic Container Service clusters</vt:lpstr>
      <vt:lpstr>Amazon CloudWatch Lambda Insights Now Supports AWS Lambda Container Images (General Availability)</vt:lpstr>
      <vt:lpstr>AWS X-Ray now supports VPC endpoints</vt:lpstr>
      <vt:lpstr>Introducing Amazon FinSpace, a fully managed service to store, prepare, and analyze data for the financial services industry (FSI)</vt:lpstr>
      <vt:lpstr>Review last accessed information to identify unused EC2, IAM, and Lambda permissions and tighten access for your IAM roles</vt:lpstr>
      <vt:lpstr>Amazon Kinesis Data Streams for Amazon DynamoDB now supports AWS CloudFormation</vt:lpstr>
      <vt:lpstr>Announcing Amazon CloudWatch Metric Streams</vt:lpstr>
      <vt:lpstr>Amazon DocumentDB (with MongoDB compatibility) Now Supports r5.8xlarge and r5.16xlarge Instances</vt:lpstr>
      <vt:lpstr>AWS SAM launches machine learning inference templates for AWS Lambda</vt:lpstr>
      <vt:lpstr>Simplify building of serverless applications with AWS-supported container images for continuous integration systems</vt:lpstr>
      <vt:lpstr>Amazon CodeGuru Reviewer announces CI/CD Integration with GitHub Actions and new security detectors for Java</vt:lpstr>
      <vt:lpstr>Configure GitHub Actions workflows with a new GitHub Action for building serverless applications</vt:lpstr>
      <vt:lpstr>Amazon Keyspaces (for Apache Cassandra) now helps you monitor and improve application read/write performance and throughput by using new Amazon CloudWatch metrics</vt:lpstr>
      <vt:lpstr>Announcing Workflow Studio, a new low-code visual workflow designer for AWS Step Functions</vt:lpstr>
      <vt:lpstr>Amazon Aurora PostgreSQL Supports the pg_proctab Extension to access PostgreSQL system stats</vt:lpstr>
      <vt:lpstr>Amazon Aurora PostgreSQL supports pg_cron extension for scheduling database jobs</vt:lpstr>
      <vt:lpstr>AWS Copilot launches v1.8 with improved support for load balanced web services and VPCs</vt:lpstr>
      <vt:lpstr>AWS Backup now supports crash-consistent backups of Amazon EBS volumes attached to an Amazon EC2 instance</vt:lpstr>
      <vt:lpstr>Amazon EC2 now allows you to create crash-consistent AMIs from instances with multiple EBS volumes without rebooting instances</vt:lpstr>
      <vt:lpstr>AWS App Mesh introduces enhanced ingress traffic management capabilities</vt:lpstr>
      <vt:lpstr>AWS Removes NAT Gateway’s Dependence on Internet Gateway for Private Communications</vt:lpstr>
      <vt:lpstr>Announcing R5d instances and lookup cache for Amazon Neptune</vt:lpstr>
      <vt:lpstr>Identify and Copy existing objects to use S3 Bucket Keys, reducing the costs of Server-Side Encryption with AWS Key Management Service (SSE-KMS)</vt:lpstr>
      <vt:lpstr>Amazon EKS pods running on AWS Fargate now support custom security groups</vt:lpstr>
      <vt:lpstr>Amazon Location Service is now generally available</vt:lpstr>
      <vt:lpstr>Amazon CloudWatch Logs service limits can now be managed with AWS Service Quotas</vt:lpstr>
      <vt:lpstr>Amazon CloudWatch Application Insights now supports container monitoring</vt:lpstr>
      <vt:lpstr>Amazon EventBridge now supports sharing events between event buses in the same account and Region</vt:lpstr>
      <vt:lpstr>Introducing AWS Copilot v1.7 with support for AWS App Runner and more</vt:lpstr>
      <vt:lpstr>AWS CloudFormation Guard 2.0 is now generally available</vt:lpstr>
      <vt:lpstr>Amazon DynamoDB global tables now support AWS CloudFormation</vt:lpstr>
      <vt:lpstr>AWS announces a price reduction for Amazon Managed Service for Prometheus (AMP)</vt:lpstr>
      <vt:lpstr>Now visualize and report patch compliance using AWS Systems Manager Patch Manager</vt:lpstr>
      <vt:lpstr>Less Relevant</vt:lpstr>
      <vt:lpstr>Amazon Rekognition Custom Labels adds support for KMS encryption of custom model training data</vt:lpstr>
      <vt:lpstr>Amazon Connect launches API to configure quick connects programmatically</vt:lpstr>
      <vt:lpstr>Amazon EC2 Inf1 instances - New features, improved performance and lower prices</vt:lpstr>
      <vt:lpstr>CloudWatch adds 14 new Metric math functions</vt:lpstr>
      <vt:lpstr>Amazon Neptune now supports copying DB cluster resources tags to DB snapshots</vt:lpstr>
      <vt:lpstr>AWS DevOps Monitoring Dashboard solution v1.1 adds support for AWS CodeBuild and AWS CodePipeline related metrics</vt:lpstr>
      <vt:lpstr>Managed Database Auditing with Amazon RDS Database Activity Streams for Amazon RDS for Oracle</vt:lpstr>
      <vt:lpstr>Amazon QLDB is now available in the Europe (London) region</vt:lpstr>
      <vt:lpstr>AWS Purchase Order Management now supports a TRN filter for AWS Europe</vt:lpstr>
      <vt:lpstr>AWS Now Allows Customers To Pay For Their Usage in Advance</vt:lpstr>
      <vt:lpstr>AWS Announces AWS BugBust</vt:lpstr>
      <vt:lpstr>Amazon EMR now supports up to thirty instance type configurations in Instance Fleets</vt:lpstr>
      <vt:lpstr>AWS Network Firewall is now available in AWS GovCloud (US)</vt:lpstr>
      <vt:lpstr>Amazon Redshift now supports case-insensitive collation with column level overrides</vt:lpstr>
      <vt:lpstr>AQUA for Amazon Redshift launches in three additional AWS regions</vt:lpstr>
      <vt:lpstr>AWS Managed Services (AMS) now offers self-service operational reporting across all your AMS managed accounts</vt:lpstr>
      <vt:lpstr>Updated classroom course and new digital course: AWS Technical Essentials</vt:lpstr>
      <vt:lpstr>Amazon Translate now supports XML Localization Interchange File Format - XLIFF documents</vt:lpstr>
      <vt:lpstr>Amazon RDS for Oracle now supports additional memory configurations of the r5 instance class</vt:lpstr>
      <vt:lpstr>AWS Client VPN launches desktop client for Linux</vt:lpstr>
      <vt:lpstr>AWS Outposts is now supported in AWS Asia Pacific (Osaka) Region</vt:lpstr>
      <vt:lpstr>AWS Lambda support for Amazon Elastic File System now available in Asia Pacific (Osaka) region</vt:lpstr>
      <vt:lpstr>Amazon SageMaker Now Supports ml.G4dn instances for Batch Transform and Processing Jobs</vt:lpstr>
      <vt:lpstr>AWS Control Tower announces accessibility, console and performance improvements</vt:lpstr>
      <vt:lpstr>Sellers, consulting partners, and data providers from Hong Kong and Qatar now available in AWS Marketplace and AWS Data Exchange</vt:lpstr>
      <vt:lpstr>Amazon Connect Customer Profiles launches in Canada(Central) region</vt:lpstr>
      <vt:lpstr>AWS Elemental MediaLive now converts image-based subtitles to text-based captions for mobile device playback</vt:lpstr>
      <vt:lpstr>Amazon Aurora Serverless v1 supports fast database cloning</vt:lpstr>
      <vt:lpstr>Amazon RDS supports MariaDB Audit Plugin for MySQL version 8.0</vt:lpstr>
      <vt:lpstr>Announcing a new Public Registry for AWS CloudFormation</vt:lpstr>
      <vt:lpstr>Amazon EC2 D3 instances with dense local HDD storage now available in AWS GovCloud (US-West) Region</vt:lpstr>
      <vt:lpstr>AWS Gateway Load Balancer is now available in the AWS GovCloud (US) Regions</vt:lpstr>
      <vt:lpstr>Amazon Aurora PostgreSQL supports the pg_partman extension for managing time or serial id based table partitioning</vt:lpstr>
      <vt:lpstr>Amazon Aurora PostgreSQL supports the pg_bigm extension for faster full text search</vt:lpstr>
      <vt:lpstr>Amazon Kendra adds support for new AWS Regions</vt:lpstr>
      <vt:lpstr>Amazon MQ is now available in AWS GovCloud (US) Regions</vt:lpstr>
      <vt:lpstr>AWS Announces General Availability of AWS Wavelength in London</vt:lpstr>
      <vt:lpstr>Amazon Personalize now unlocks information in unstructured text for recommendations</vt:lpstr>
      <vt:lpstr>Amazon RDS for PostgreSQL Supports Extension Allowlists</vt:lpstr>
      <vt:lpstr>AWS Amplify announces support for IAM permissions boundaries on Amplify-generated IAM roles</vt:lpstr>
      <vt:lpstr>AWS announces a new shell for F1 instances with increased FPGA resources and data transfer speeds</vt:lpstr>
      <vt:lpstr>Amazon Lex announces support for multi-valued slots</vt:lpstr>
      <vt:lpstr>AWS Certificate Manager Private Certificate Authority now supports more flexibility for CAs shared across accounts</vt:lpstr>
      <vt:lpstr>Amazon Translate is Now Integrated with Amazon CloudWatch Events and Amazon EventBridge</vt:lpstr>
      <vt:lpstr>AWS Resource Access Manager enables granular access control with additional managed permissions</vt:lpstr>
      <vt:lpstr>Introducing AWS Elemental Link UHD: a device to send live UHD 4k HDR video to AWS</vt:lpstr>
      <vt:lpstr>Amazon Polly Launches a new German Neural Text-to-Speech voice</vt:lpstr>
      <vt:lpstr>Announcing AWS App Mesh Controller for Kubernetes Version 1.4.0 with Ingress Enhancements</vt:lpstr>
      <vt:lpstr>Internet Group Management Protocol (IGMP) Multicast support on Transit Gateway multicast is now available in AWS GovCloud (US) Regions</vt:lpstr>
      <vt:lpstr>Announcing support for custom partitioning in AWS IoT Analytics Data Stores</vt:lpstr>
      <vt:lpstr>Announcing per second billing for EC2 Windows Server and SQL Server Instances</vt:lpstr>
      <vt:lpstr>Amazon Lex increases limits for Intents and Slot Types</vt:lpstr>
      <vt:lpstr>AWS Managed Microsoft Active Directory (AD) and AD Connector now support AD authentication with AWS Transfer Family</vt:lpstr>
      <vt:lpstr>AWS Client VPN launches in AWS GovCloud (US) Regions</vt:lpstr>
      <vt:lpstr>Read multiple records simultaneously from Amazon SageMaker Feature Store using the new BatchGetRecord API</vt:lpstr>
      <vt:lpstr>AWS Elemental MediaConnect adds support for input source selection and priority</vt:lpstr>
      <vt:lpstr>Amazon SageMaker Pipelines now supports callback capability</vt:lpstr>
      <vt:lpstr>Amazon Cognito now supports targeted sign out through refresh token revocation</vt:lpstr>
      <vt:lpstr>Amazon Athena engine version 2 is generally available in all AWS commercial and GovCloud regions</vt:lpstr>
      <vt:lpstr>AWS Transit Gateway adds Internet Group Management Protocol (IGMP) Multicast support in 4 additional AWS regions</vt:lpstr>
      <vt:lpstr>Amazon Managed Blockchain now supports customer-managed customer master keys</vt:lpstr>
      <vt:lpstr>Amazon AppFlow now supports documents with Veeva</vt:lpstr>
      <vt:lpstr>Amazon Cognito is now available in the Middle East (Bahrain) Region</vt:lpstr>
      <vt:lpstr>Easily install and manage Amazon EFS utilities on your instances with Quick Setup</vt:lpstr>
      <vt:lpstr>Amazon FSx for Windows File Server now supports file access auditing</vt:lpstr>
      <vt:lpstr>Amazon Aurora R6g instance types, powered by AWS Graviton2 processors, now available in AWS GovCloud (US) Regions</vt:lpstr>
      <vt:lpstr>AWS Systems Manager is now FedRAMP-High Compliant</vt:lpstr>
      <vt:lpstr>Amazon MQ now supports ActiveMQ version 5.16.2</vt:lpstr>
      <vt:lpstr>Amazon RDS M6g and R6g instances now available for MySQL, MariaDB, and PostgreSQL in AWS GovCloud (US), Asia Pacific (Seoul), and Europe (Stockholm) regions</vt:lpstr>
      <vt:lpstr>New AWS Solutions Consulting Offer - Financial Services Security and Compliance Framework</vt:lpstr>
      <vt:lpstr>Announcing new PostgreSQL 13.2, 13.1, and 12.6 version support for Amazon RDS on AWS Outposts</vt:lpstr>
      <vt:lpstr>AWS China (Beijing) Region Adds the Third Availability Zone</vt:lpstr>
      <vt:lpstr>AWS Audit Manager is now available in the Asia Pacific (Mumbai) and Canada (Central) Regions</vt:lpstr>
      <vt:lpstr>Amazon RDS for SQL Server now supports Business Intelligence Suite in the AWS GovCloud (US) Regions</vt:lpstr>
      <vt:lpstr>Amazon CloudWatch releases a C# client library for Embedded Metric Format</vt:lpstr>
      <vt:lpstr>AWS Backint Agent version 1.04 now available</vt:lpstr>
      <vt:lpstr>Amazon Neptune simplifies in-console experience to help customers get started faster</vt:lpstr>
      <vt:lpstr>Amazon SageMaker model registry now supports rollback of deployed models</vt:lpstr>
      <vt:lpstr>Amazon EMR Studio is now available in 13 regions</vt:lpstr>
      <vt:lpstr>AWS Systems Manager Session Manager plugin for the AWS CLI is now open source</vt:lpstr>
      <vt:lpstr>New LoRaWAN gateway management features generally available for AWS IoT Core for LoRaWAN</vt:lpstr>
      <vt:lpstr>Amazon Rekognition Custom Labels adds support for deploying models via the Console</vt:lpstr>
      <vt:lpstr>AWS Transit Gateway Updates Service Level Agreement to 99.99%</vt:lpstr>
      <vt:lpstr>AWS Solutions Implementation - AWS MLOps Framework adds multi-account support to help improve governance and security of ML workloads</vt:lpstr>
      <vt:lpstr>Amazon GameLift Adds SDK Support and Updates for Unreal 4.26</vt:lpstr>
      <vt:lpstr>Amazon Keyspaces is now in scope for AWS SOC Reports to help you run highly regulated Apache Cassandra workloads more easily</vt:lpstr>
      <vt:lpstr>New digital course: Improve Code Quality with Amazon CodeGuru Reviewer</vt:lpstr>
      <vt:lpstr>Amazon WorkSpaces Cost Optimizer v2.3 adds support for existing VPCs and improves billing accuracy and reporting</vt:lpstr>
      <vt:lpstr>Amazon RDS for PostgreSQL Supports New Minor Versions 13.2, 12.6, 11.11, 10.16, 9.6.21, and 9.5.25 in AWS GovCloud (US) Regions</vt:lpstr>
      <vt:lpstr>Amazon Cognito now supports SMS Sandbox from Amazon SNS</vt:lpstr>
      <vt:lpstr>New AWS Solutions Implementation: Disaster Recovery for AWS IoT</vt:lpstr>
      <vt:lpstr>Amazon Polly Launches a new Canadian French Neural Text-to-Speech voice</vt:lpstr>
      <vt:lpstr>NICE DCV releases web client SDK 1.0.1</vt:lpstr>
      <vt:lpstr>NICE DCV releases version 2021.1 with accurate audio/video synchronization</vt:lpstr>
      <vt:lpstr>AWS WAF and AWS Shield Advanced are available in Asia Pacific (Osaka)</vt:lpstr>
      <vt:lpstr>Amazon SNS now supports SMS Sandbox and displays available origination IDs in your account</vt:lpstr>
      <vt:lpstr>Amazon QLDB supports IAM-based access policy for PartiQL queries and ledger tables</vt:lpstr>
      <vt:lpstr>Amazon API Gateway now supports synchronous invocations of Express Workflows using REST APIs</vt:lpstr>
      <vt:lpstr>Amazon CloudWatch adds Control Plane API Usage Metrics across AWS Services</vt:lpstr>
      <vt:lpstr>Amazon RDS for Oracle now supports April 2021 Patch Set Update (PSU) for Oracle Database 12.1</vt:lpstr>
      <vt:lpstr>Announcing Amazon CloudWatch Resource Health</vt:lpstr>
      <vt:lpstr>Amazon CloudWatch Logs announces Dimension support for Metric Filters</vt:lpstr>
      <vt:lpstr>Amazon SageMaker Autopilot adds automatic cross validation to improve model quality on smaller datasets by up to 35%</vt:lpstr>
      <vt:lpstr>AWS Launch Wizard adds support for SQL Server Always On Failover Cluster Instances deployed on Amazon FSx for Windows File Server</vt:lpstr>
      <vt:lpstr>Introducing AWS App Runner Integration in the AWS Toolkit for JetBrains IDEs</vt:lpstr>
      <vt:lpstr>AWS announces general availability of Amazon Redshift ML</vt:lpstr>
      <vt:lpstr>Announcing Amazon Kinesis Data Analytics Studio: Interactively query data streams and develop stream processing applications powered by Apache Flink</vt:lpstr>
      <vt:lpstr>AWS Glue DataBrew adds new nest and unnest transformations</vt:lpstr>
      <vt:lpstr>AWS Wavelength is now System and Organization Controls (SOC) compliant</vt:lpstr>
      <vt:lpstr>Amazon FSx for Lustre now supports data compression</vt:lpstr>
      <vt:lpstr>Amazon Kendra releases Query Suggestions</vt:lpstr>
      <vt:lpstr>Amazon Elastic Container Service Anywhere is now generally available</vt:lpstr>
      <vt:lpstr>Amazon API Gateway REST APIs integrates with Step Functions Synchronous Express Workflows</vt:lpstr>
      <vt:lpstr>Amazon Polly Launches a new Korean Neural Text-to-Speech voice</vt:lpstr>
      <vt:lpstr>Amazon Lightsail DNS now supports pointing root domains to Lightsail Container Services</vt:lpstr>
      <vt:lpstr>Alarms feature now generally available for AWS IoT SiteWise and AWS IoT Events</vt:lpstr>
      <vt:lpstr>Amazon CloudWatch Synthetics is now available in the AWS Asia Pacific (Osaka) Region</vt:lpstr>
      <vt:lpstr>New self-paced courses for cloud procurement, .NET, and Amazon CodeGuru available</vt:lpstr>
      <vt:lpstr>AWS Certificate Manager Private Certificate Authority now supports storing CRLs in private S3 buckets</vt:lpstr>
      <vt:lpstr>EC2 High Memory instances with up to 12TB of memory are now available in two additional regions with On-Demand and Savings Plan purchase options</vt:lpstr>
      <vt:lpstr>Amazon Aurora with MySQL Compatibility Supports T3.large Instances</vt:lpstr>
      <vt:lpstr>Amazon Keyspaces (for Apache Cassandra) is now HIPAA eligible to help you run healthcare workloads more easily</vt:lpstr>
      <vt:lpstr>AWS Security Hub now supports bidirectional integration with Atlassian Jira Service Management</vt:lpstr>
      <vt:lpstr>Amazon MQ for RabbitMQ is now available in Amazon Web Services China Regions</vt:lpstr>
      <vt:lpstr>Fleet Hub for AWS IoT Device Management, a new, easy way to monitor &amp; interact with IoT device fleets, is now generally available</vt:lpstr>
      <vt:lpstr>AWS Transit Gateway Network Manager is now available in AWS GovCloud (US) Regions</vt:lpstr>
      <vt:lpstr>Amazon SageMaker Pipelines is now integrated with Amazon SageMaker Experiments</vt:lpstr>
      <vt:lpstr>Updated classroom course: Migrating to AWS</vt:lpstr>
      <vt:lpstr>Amazon AppFlow now expands its features with Marketo</vt:lpstr>
      <vt:lpstr>AWS IoT Device Management launches Job Templates in Preview to make deployment of fleet-wide remote operations faster, easier, and more secure</vt:lpstr>
      <vt:lpstr>AWS Transfer Family now supports Microsoft Active Directory</vt:lpstr>
      <vt:lpstr>Amazon MSK adds support for Apache Kafka version 2.7.1</vt:lpstr>
      <vt:lpstr>Amazon Braket introduces quantum circuit noise simulator, DM1</vt:lpstr>
      <vt:lpstr>AWS Database Migration Service now supports PostgreSQL version 13 in preview mode</vt:lpstr>
      <vt:lpstr>AWS Data Exchange now supports custom payment schedules for private offers</vt:lpstr>
      <vt:lpstr>Amazon RDS for Oracle supports multitenant container database</vt:lpstr>
      <vt:lpstr>Amazon EC2 M5zn instances, with high frequency processors and 100 Gbps networking are now available in Asia Pacific (Seoul)</vt:lpstr>
      <vt:lpstr>AWS Compute Optimizer enhances EC2 instance type recommendations</vt:lpstr>
      <vt:lpstr>AWS Outposts launches support for EC2 Capacity Reservations</vt:lpstr>
      <vt:lpstr>Amazon Lumberyard Beta 1.28 is Now Available</vt:lpstr>
      <vt:lpstr>Amazon EMR now supports Amazon EC2 On-Demand Capacity Reservations</vt:lpstr>
      <vt:lpstr>Manage Amazon Keyspaces (for Apache Cassandra) service quotas through the Service Quotas console</vt:lpstr>
      <vt:lpstr>Amazon Elastic File System now supports longer resource identifiers</vt:lpstr>
      <vt:lpstr>Announcing enhancements to Amazon Rekognition text detection - support for more words, higher accuracy, and lower latency</vt:lpstr>
      <vt:lpstr>AWS App2Container now supports deployment of containerized applications to AWS App Runner</vt:lpstr>
      <vt:lpstr>Amazon Forecast now supports generating predictions for 5X more items using 3X more historic data points</vt:lpstr>
      <vt:lpstr>Amazon RDS for Oracle now supports April 2021 Release Updates (RU)</vt:lpstr>
      <vt:lpstr>Amazon EMR on EKS is now available in the South America (São Paulo) region</vt:lpstr>
      <vt:lpstr>AWS customers can now self opt-in to AWS Wavelength Zones</vt:lpstr>
      <vt:lpstr>Amazon SageMaker now offers new flexibility in configuring the model building pipelines</vt:lpstr>
      <vt:lpstr>EKS Add-Ons Now Supports CoreDNS and kube-proxy</vt:lpstr>
      <vt:lpstr>AWS Toolkit for Visual Studio Code adds Java and Go Support for Serverless Applications</vt:lpstr>
      <vt:lpstr>Amazon Lightsail is now available in the AWS Europe (Stockholm) Region</vt:lpstr>
      <vt:lpstr>WkWebView now supported with Amazon Chime SDK for JavaScript</vt:lpstr>
      <vt:lpstr>Amazon Lex now supports resource-based policies for bots and aliases</vt:lpstr>
      <vt:lpstr>Announcing Amazon Forecast Weather Index for South America</vt:lpstr>
      <vt:lpstr>Customizations for AWS Control Tower v2.1 adds more scaling optimizations and improves compatibility with AWS CodeBuild</vt:lpstr>
      <vt:lpstr>AWS Load Balancer Controller version 2.2 now available with support for NLB instance targeting</vt:lpstr>
      <vt:lpstr>Amazon Route 53 Resolver Endpoints for Hybrid Cloud Are Now Available in the Asia Pacific (Osaka) Region</vt:lpstr>
      <vt:lpstr>AWS Solutions Implementation - AWS Data Streaming Solution for Amazon MSK adds support for Apache Kafka versions 2.8.0 and 2.6.2</vt:lpstr>
      <vt:lpstr>AWS Solutions Implementations - Serverless Bot Framework adds new integrations for customers to expand the use of their Amazon Lex chatbots</vt:lpstr>
      <vt:lpstr>AWS Application Cost Profiler</vt:lpstr>
      <vt:lpstr>Amazon SageMaker Autopilot adds automatic deployment support for the best trained model</vt:lpstr>
      <vt:lpstr>AWS License Manager now provides historical license usage reporting</vt:lpstr>
      <vt:lpstr>AWS Compute Optimizer Now Supports Exporting Amazon EBS and AWS Lambda Recommendations to Amazon S3</vt:lpstr>
      <vt:lpstr>Announcing the general availability of AWS IoT Core Device Advisor</vt:lpstr>
      <vt:lpstr>Amazon EKS and EKS Distro now support Kubernetes version 1.20</vt:lpstr>
      <vt:lpstr>AWS Database Migration Service now supports Apache Kafka TLS and Authentication</vt:lpstr>
      <vt:lpstr>AWS Amplify Hosting announces server-side rendering (SSR) support for Next.js web apps</vt:lpstr>
      <vt:lpstr>Announcing general availability of AWS Application Migration Service</vt:lpstr>
      <vt:lpstr>AWS Elemental MediaConnect adds CDI and JPEG XS support</vt:lpstr>
      <vt:lpstr>New AWS Solutions Consulting Offer - Enterprise Cloud Foundation Accelerator</vt:lpstr>
      <vt:lpstr>Amazon Macie supports criteria-based bucket selection for sensitive data discovery jobs</vt:lpstr>
      <vt:lpstr>AWS Transit Gateway Connect is now available in AWS GovCloud (US) Regions</vt:lpstr>
      <vt:lpstr>Amazon Lex is now available in the AWS Canada (Central) Region</vt:lpstr>
      <vt:lpstr>Amazon WorkDocs adds filtering to the activity feed for both iOS and Android</vt:lpstr>
      <vt:lpstr>Amazon Transcribe Medical now provides automatic Protected Health Information (PHI) identification for batch processing</vt:lpstr>
      <vt:lpstr>AWS Premium Support launches Support Automation Workflow (SAW) runbooks for self-service diagnosis and remediation</vt:lpstr>
      <vt:lpstr>Amazon Elasticsearch Service announces a new lower cost storage tier</vt:lpstr>
      <vt:lpstr>Amazon RDS Data API now supports FIPS 140-2 validated endpoints</vt:lpstr>
      <vt:lpstr>Announcing PostgreSQL 12.5 support for Amazon RDS on AWS Outposts</vt:lpstr>
      <vt:lpstr>Amazon Kendra now available in Asia-Pacific (Singapore) AWS region</vt:lpstr>
      <vt:lpstr>Amazon EMR 6.3 now supports Apache Ranger for fine-grained data access control</vt:lpstr>
      <vt:lpstr>AWS WAF adds support for log filtering</vt:lpstr>
      <vt:lpstr>Amazon Connect adds near real-time insights into voice call, chat, and task activity</vt:lpstr>
      <vt:lpstr>Amazon Athena adds built-in support for cross-account AWS Glue Data Catalogs</vt:lpstr>
      <vt:lpstr>Learn how to develop applications with Amazon DynamoDB</vt:lpstr>
      <vt:lpstr>AWS announces that all AWS Federal Information Processing Standard (FIPS) endpoints now only accept a minimum of Transport Layer Security (TLS) 1.2 connections</vt:lpstr>
      <vt:lpstr>New patch releases for Amazon Aurora PostgreSQL are now available</vt:lpstr>
      <vt:lpstr>AWS Solutions Implementation - The Improving Forecast Accuracy with Machine Learning solution adds contextual featurizations and visualization functionalities to enrich forecast insight</vt:lpstr>
      <vt:lpstr>Introducing Distributed Load Testing v1.3</vt:lpstr>
      <vt:lpstr>Four new EC2 High Memory instances with up to 12TB of memory are now available with On-Demand and Savings Plan purchase options</vt:lpstr>
      <vt:lpstr>Amazon CloudWatch Now Supports Composite Alarms in AWS GovCloud (US) Regions</vt:lpstr>
      <vt:lpstr>AWS SaaS Boost released as an open source project</vt:lpstr>
      <vt:lpstr>Now use AWS Systems Manager Change Calendar to prevent desired-state updates during critical events</vt:lpstr>
      <vt:lpstr>Introducing the new Machine Downtime Monitor on AWS solution</vt:lpstr>
      <vt:lpstr>Amazon EC2 P4d instances now available in Europe (Frankfurt) and Asia Pacific (Seoul) regions</vt:lpstr>
      <vt:lpstr>Amazon EKS managed node groups adds support for Kubernetes node taints</vt:lpstr>
      <vt:lpstr>Amazon EMR on EKS is now available in the EU (Paris and Stockholm) region</vt:lpstr>
      <vt:lpstr>Amazon Transcribe improves live subtitling with partial results stabilization</vt:lpstr>
      <vt:lpstr>Announcing the General Availability of AWS Local Zones in Boston, Houston, and Miami</vt:lpstr>
      <vt:lpstr>New digital training and AWS Certification Guide for AWS End User Computing</vt:lpstr>
      <vt:lpstr>Amazon Fraud Detector now supports AWS CloudFormation</vt:lpstr>
      <vt:lpstr>AWS Certificate Manager Private Certificate Authority is now available in the Asia Pacific (Osaka) Region</vt:lpstr>
      <vt:lpstr>Announcing Amazon RDS for SQL Server on AWS Outposts</vt:lpstr>
      <vt:lpstr>Amazon Kinesis Data Analytics now supports RollbackApplication, ListApplicationVersions, and DescribeApplicationVersion APIs in preview</vt:lpstr>
      <vt:lpstr>AWS Lake Formation now supports Tag-based access control (TBAC)</vt:lpstr>
      <vt:lpstr>Support for Kantar watermarking is now available with AWS Elemental MediaConvert</vt:lpstr>
      <vt:lpstr>Introducing Incident Manager from AWS Systems Manager</vt:lpstr>
      <vt:lpstr>Amazon SageMaker now supports Elastic Fabric Adapter for distributed training</vt:lpstr>
      <vt:lpstr>Migration Evaluator announces a faster way to project AWS cloud costs with Quick Insights</vt:lpstr>
      <vt:lpstr>Amazon RDS for SQL Server supports Managed Disaster Recovery (DR) with Amazon RDS Cross-Region Automated Backups</vt:lpstr>
      <vt:lpstr>Amazon Athena drivers now support Azure AD and PingFederate authentication</vt:lpstr>
      <vt:lpstr>Use Kubernetes Pod Templates with Amazon EMR on Amazon EKS to simplify running Spark workloads and control costs</vt:lpstr>
      <vt:lpstr>Amazon MQ now supports ActiveMQ version 5.15.15</vt:lpstr>
      <vt:lpstr>Prepare data for machine learning faster and easier on Amazon SageMaker Data Wrangler with support for more data sources and distributed jobs</vt:lpstr>
      <vt:lpstr>AWS Organizations launches new console experience</vt:lpstr>
      <vt:lpstr>Amazon EBS Container Storage Interface (CSI) driver is now generally available</vt:lpstr>
      <vt:lpstr>Amazon SageMaker Automatic Model Tuning now supports up to 10x faster tuning and enables exploring up to 20X more models</vt:lpstr>
      <vt:lpstr>Amazon CloudWatch Synthetics supports cron expression for scheduling</vt:lpstr>
      <vt:lpstr>Introducing IAM Access Control for Apache Kafka on Amazon MSK</vt:lpstr>
      <vt:lpstr>Amazon CloudFront announces price cuts in India and Asia Pacific regions</vt:lpstr>
      <vt:lpstr>AWS Transit Gateway Connect is now available in additional AWS Regions</vt:lpstr>
      <vt:lpstr>Updated AWS IoT Device Tester for AWS IoT Greengrass is now available</vt:lpstr>
      <vt:lpstr>AWS Audit Manager now offers three new frameworks - NIST Cybersecurity Framework version 1.1, AWS Foundational Security Best Practices, and AWS Well-Architected framework</vt:lpstr>
      <vt:lpstr>AWS Data Provider for SAP Version 4.0 now available</vt:lpstr>
      <vt:lpstr>AWS Nitro Enclaves is now available in AWS GovCloud (US) Regions</vt:lpstr>
      <vt:lpstr>AWS Ground Station is now available in the Asia Pacific (Seoul) Region</vt:lpstr>
      <vt:lpstr>New AWS Solutions Consulting Offer - DevOps Automation Springboard</vt:lpstr>
      <vt:lpstr>Amazon Pinpoint Announces Journey Pause and Resume</vt:lpstr>
      <vt:lpstr>Announcing availability of AWS Outposts in Colombia, Macao, and Puerto Rico</vt:lpstr>
      <vt:lpstr>Host Resource Groups for EC2 Dedicated Hosts now support AWS CloudFormation</vt:lpstr>
      <vt:lpstr>Amazon VPC Announces Pricing Change for VPC Peering</vt:lpstr>
      <vt:lpstr>Amazon CodeGuru Reviewer now supports customer-managed customer master keys</vt:lpstr>
      <vt:lpstr>Amazon Translate increases the concurrent API limit for Batch Translation to 1000</vt:lpstr>
      <vt:lpstr>Amazon Elasticsearch Service now offers AWS Graviton2 (M6g, C6g, R6g, and R6gd) instances</vt:lpstr>
      <vt:lpstr>Porting Assistant for .NET now available as a Visual Studio IDE extension</vt:lpstr>
      <vt:lpstr>Now clone runbooks with AWS Systems Manager</vt:lpstr>
      <vt:lpstr>Amazon Personalize now supports exporting data</vt:lpstr>
      <vt:lpstr>AWS Identity and Access Management (IAM) now makes it easier for you to manage permissions for AWS services accessing your resources</vt:lpstr>
      <vt:lpstr>Amazon QuickSight Launches Threshold Alerts</vt:lpstr>
      <vt:lpstr>Amazon DevOps Guru now generally available with additional capabilities</vt:lpstr>
      <vt:lpstr>AWS OpsWorks for Configuration Management now supports Puppet Enterprise LTS Version 2019.8.5</vt:lpstr>
      <vt:lpstr>FreeRTOS 202104.00 includes new managed OTA and MQTT capabilities for IoT applications</vt:lpstr>
      <vt:lpstr>Easily clean up unused resources in Amazon Forecast using hierarchical deletion</vt:lpstr>
      <vt:lpstr>Amazon RDS for Oracle and Amazon RDS for PostgreSQL now support Amazon RDS Encrypted Cross-Region Automated Backups</vt:lpstr>
      <vt:lpstr>S3 Object Lambda is now available in the AWS GovCloud (US) Regions</vt:lpstr>
      <vt:lpstr>AWS Transit Gateway Network Manager is now available in AWS Asia Pacific (Osaka) Region</vt:lpstr>
      <vt:lpstr>Amazon Connect Customer Profiles launches Identity Resolution in Preview to detect and merge duplicate customer profiles</vt:lpstr>
      <vt:lpstr>Amazon Connect CTI Adapter for Salesforce adds programmable buttons with CTI Actions</vt:lpstr>
      <vt:lpstr>Amazon DynamoDB local now supports the AWS SDK for Java 2.x</vt:lpstr>
      <vt:lpstr>New AWS Solutions Consulting Offer - Cloud Assessment and Design</vt:lpstr>
      <vt:lpstr>Amazon Redshift announces preview of cross-account data sharing</vt:lpstr>
      <vt:lpstr>New AWS Solutions Implementation: AWS Blueprints</vt:lpstr>
      <vt:lpstr>Amazon Kinesis Data Analytics for Apache Flink introduces custom maintenance windows in preview</vt:lpstr>
      <vt:lpstr>Amazon Monitron Service is Now Available in the Europe (Ireland) region</vt:lpstr>
      <vt:lpstr>Announcing support for linear interpolation in AWS IoT SiteWise</vt:lpstr>
      <vt:lpstr>Amazon Chime SDK now supports video prioritization policies</vt:lpstr>
      <vt:lpstr>AWS RoboMaker announces support for Robot Operating System (ROS) 2 Foxy and Gazebo 11</vt:lpstr>
      <vt:lpstr>New Developer Desktop Feature in AWS RoboMaker Integrated Development Environment (IDE)</vt:lpstr>
      <vt:lpstr>AWS Launch Wizard now supports SAP deployments with SUSE Linux Enterprise Server 15 SP2 and RHEL 8.2</vt:lpstr>
      <vt:lpstr>AWS Systems Manager Fleet Manager is now available in AWS GovCloud (US) Regions</vt:lpstr>
      <vt:lpstr>Amazon Connect reduces 26 rates in Latin America</vt:lpstr>
      <vt:lpstr>EC2 Image Builder supports Auto Scaling launch template</vt:lpstr>
      <vt:lpstr>AWS Lambda@Edge now supports Node 14.x</vt:lpstr>
      <vt:lpstr>AWS SAM CLI now supports AWS CDK applications - public preview</vt:lpstr>
      <vt:lpstr>AWS Network Firewall is now available in ten more regions</vt:lpstr>
      <vt:lpstr>Amazon RDS for SQL Server Now Supports High Availability in AWS Asia Pacific (Osaka) Region</vt:lpstr>
      <vt:lpstr>Amazon Redshift announces support for hierarchical data queries with Recursive CTE</vt:lpstr>
      <vt:lpstr>Amazon CloudWatch Monitoring Framework for Apache is generally available</vt:lpstr>
      <vt:lpstr>New digital course: Amazon Elastic Block Store Primer</vt:lpstr>
      <vt:lpstr>AWS Glue DataBrew announces native console integration with Amazon AppFlow to connect to data from SaaS (Software as a Service) applications and AWS services (in Preview)</vt:lpstr>
      <vt:lpstr>Amazon SNS now supports setting attributes required for India DLT requirements when sending SMS using local routes in India</vt:lpstr>
      <vt:lpstr>AWS Managed Services (AMS) now offers a new feature enabling customers to purchase AMS separate from infrastructure services through their preferred Solution Provider</vt:lpstr>
      <vt:lpstr>AWS Snow Family now enables you to order, track, and manage long-term pricing Snow jobs</vt:lpstr>
      <vt:lpstr>AWS Instance Scheduler v1.4 adds support for multiple stack deployments and GovCloud US Regions</vt:lpstr>
      <vt:lpstr>Amazon Connect reduces telephony rates in Cyprus, Belgium, and Portugal</vt:lpstr>
      <vt:lpstr>Amazon MSK adds support for Apache Kafka version 2.6.2</vt:lpstr>
      <vt:lpstr>Announcing general availability of Amazon Redshift native JSON and semi-structured data support</vt:lpstr>
      <vt:lpstr>New digital course: AWS Network Connectivity Options</vt:lpstr>
      <vt:lpstr>Database Activity Streams now available for Amazon Aurora in Asia Pacific (Osaka) Region</vt:lpstr>
      <vt:lpstr>Amazon MSK adds support for Apache Kafka version 2.8.0</vt:lpstr>
      <vt:lpstr>AWS Snowcone is now available in the AWS Canada (Central) Region</vt:lpstr>
      <vt:lpstr>AWS Glue now supports client authentication for Apache Kafka streams</vt:lpstr>
      <vt:lpstr>AWS Audit Manager now offers a new standard framework for GxP EU Annex 11</vt:lpstr>
      <vt:lpstr>AWS announces general availability of Amazon Nimble Studio</vt:lpstr>
      <vt:lpstr>Introducing AWS for Media and Entertainment</vt:lpstr>
      <vt:lpstr>Amazon FSx File Gateway delivers faster and more efficient on-premises access to fully managed file storage in the cloud</vt:lpstr>
      <vt:lpstr>Announcing open source robotics projects for AWS DeepRacer</vt:lpstr>
      <vt:lpstr>AWS Proton adds an API to cancel deployments</vt:lpstr>
      <vt:lpstr>AWS Nitro Enclaves now supports Windows operating system</vt:lpstr>
      <vt:lpstr>AWS Proton introduces customer-managed environments</vt:lpstr>
      <vt:lpstr>Achieve faster database failover with Amazon Web Services JDBC Driver for PostgreSQL, now in preview</vt:lpstr>
      <vt:lpstr>AWS Systems Manager OpsCenter and Explorer now integrate with AWS Security Hub for diagnosis and remediation of security findings</vt:lpstr>
      <vt:lpstr>Announcing availability of Red Hat Enterprise Linux with High availability for Amazon EC2</vt:lpstr>
      <vt:lpstr>Introducing Performance Dashboard on AWS</vt:lpstr>
      <vt:lpstr>Alexa for Business now available on Zoom Rooms appliances</vt:lpstr>
      <vt:lpstr>Announcing Moving Graphs for CloudWatch Dashboards</vt:lpstr>
      <vt:lpstr>AWS Proton allows adding and removing instances from an existing service</vt:lpstr>
      <vt:lpstr>Amazon Kendra launches dynamic relevance tuning</vt:lpstr>
      <vt:lpstr>Amazon RDS Now Supports PostgreSQL 13 in AWS GovCloud (US) Regions</vt:lpstr>
      <vt:lpstr>Amazon SNS grows the set of message filtering operators</vt:lpstr>
      <vt:lpstr>AWS announces data sink capability for the Glue connectors</vt:lpstr>
      <vt:lpstr>Third-party software built for AWS Control Tower is now available in the AWS Control Tower Console, powered by AWS Marketplace</vt:lpstr>
      <vt:lpstr>Amazon Rekognition Custom Labels is now available in the Europe (Frankfurt), Europe (London), and Asia Pacific (Mumbai) AWS Regions.</vt:lpstr>
      <vt:lpstr>AWS Transit Gateway is Now Available in AWS Asia Pacific (Osaka) Region</vt:lpstr>
      <vt:lpstr>Amazon Aurora PostgreSQL Patches 1.9.2 / 2.7.2 / 3.4.2 / 4.0.2 now available</vt:lpstr>
      <vt:lpstr>AWS Secrets Manager Delivers Provider for Kubernetes Secrets Store CSI Driver</vt:lpstr>
      <vt:lpstr>Amazon Translate increases the size limit of Parallel data from 1GB to 5GB</vt:lpstr>
      <vt:lpstr>AWS Service Catalog launches a console experience for AppRegistry</vt:lpstr>
      <vt:lpstr>Amazon Timestream is now available in Europe (Frankfurt) region</vt:lpstr>
      <vt:lpstr>AWS CodeDeploy improves support for EC2 deployments with Auto Scaling Groups</vt:lpstr>
      <vt:lpstr>AWS Cost Categories introduces a details page</vt:lpstr>
      <vt:lpstr>AWS Resource Access Manager is Now Available in the Asia Pacific (Osaka) Region</vt:lpstr>
      <vt:lpstr>Amazon EC2 enables replacing root volumes for quick restoration and troubleshooting</vt:lpstr>
      <vt:lpstr>AWS Control Tower releases a new Partner program, Built on Control Tower</vt:lpstr>
      <vt:lpstr>New digital course: Amazon S3 Performance Optimization</vt:lpstr>
      <vt:lpstr>Get estimated run time for forecast creation jobs while using Amazon Forecast</vt:lpstr>
      <vt:lpstr>Amazon ElastiCache now supports publishing Redis logs to Amazon CloudWatch Logs and Kinesis Data Firehose</vt:lpstr>
      <vt:lpstr>AWS Service Catalog is now available in Osaka</vt:lpstr>
      <vt:lpstr>NoSQL Workbench for Amazon DynamoDB now supports AWS CloudFormation</vt:lpstr>
      <vt:lpstr>Amazon Interactive Video Service launches edge locations in India</vt:lpstr>
      <vt:lpstr>AWS Ground Station now supports data delivery to Amazon S3</vt:lpstr>
      <vt:lpstr>Amazon Elasticsearch Service announces support for Elasticsearch version 7.10</vt:lpstr>
      <vt:lpstr>Amazon RDS on VMware networking now simplified and more secure</vt:lpstr>
      <vt:lpstr>Announcing general availability of Amazon Redshift native console integration with partners</vt:lpstr>
      <vt:lpstr>Announcing availability of AWS Outposts in the Philippines and Brunei</vt:lpstr>
      <vt:lpstr>Amazon Elasticsearch Service announces support for Asynchronous Search</vt:lpstr>
      <vt:lpstr>Now available credential profile support for AWS SSO and Assume Role with MFA in the AWS Toolkit for Visual Studio</vt:lpstr>
      <vt:lpstr>AWS Cloud9 now supports Amazon Linux 2 environments</vt:lpstr>
      <vt:lpstr>Amazon Rekognition launches tagging support for collections, stream processors, and Custom Labels</vt:lpstr>
      <vt:lpstr>Amazon EMR Release 5.33 now supports 10 new instance types</vt:lpstr>
      <vt:lpstr>Amazon SageMaker announces a price reduction by up to 14% on instances and SageMaker Savings Plans with up to 64% cost saving</vt:lpstr>
      <vt:lpstr>Amazon S3 on Outposts Events now available in Amazon CloudWatch</vt:lpstr>
      <vt:lpstr>Amazon Textract achieves FedRAMP compliance</vt:lpstr>
      <vt:lpstr>AWS Chatbot now expands coverage of AWS Services monitored through Amazon EventBridge</vt:lpstr>
      <vt:lpstr>AWS Glue Studio is now available in the AWS Africa (Cape Town) Region</vt:lpstr>
      <vt:lpstr>You now can use AWS CloudTrail to log Amazon DynamoDB Streams data-plane API activity</vt:lpstr>
      <vt:lpstr>Announcing general availability of Amazon Athena ML powered by Amazon SageMaker</vt:lpstr>
      <vt:lpstr>New AWS Solutions Consulting Offer - IoT Resource Monitoring Framework</vt:lpstr>
      <vt:lpstr>Introducing Machine to Cloud Connectivity Framework v2.2</vt:lpstr>
      <vt:lpstr>AWS Amplify now orchestrates multiple Amazon DynamoDB GSI updates in a single deployment</vt:lpstr>
      <vt:lpstr>AWS Control Tower now provides configurable naming during Landing Zone setup</vt:lpstr>
      <vt:lpstr>User Defined Functions (UDF) are now generally available for Amazon Athena</vt:lpstr>
      <vt:lpstr>AWS Backup extends centralized backup management support for Amazon FSx to five additional AWS Regions</vt:lpstr>
      <vt:lpstr>Amazon Pinpoint is now FedRAMP High Compliant</vt:lpstr>
      <vt:lpstr>You can now use macros and transforms in CloudFormation templates to create AWS CloudFormation StackSets</vt:lpstr>
      <vt:lpstr>Amazon Managed Service for Grafana now supports Grafana Enterprise upgrade, Grafana version 7.5, Open Distro for Elasticsearch integration, and AWS Billing reports</vt:lpstr>
      <vt:lpstr>New free ML training for business and technical leaders</vt:lpstr>
      <vt:lpstr>New datasets available in the Registry of Open Data on AWS from United States Geological Survey (USGS), the Swiss Institute of Bioinformatics, iNaturalist.org, and others</vt:lpstr>
      <vt:lpstr>Amazon MQ for Active MQ is now available in AWS China (Beijing) region, operated by Sinnet and AWS China (Ningxia) region, operated by NWCD</vt:lpstr>
      <vt:lpstr>AWS Security Hub Automated Response &amp; Remediation Solution adds support for AWS Foundational Security Best Practices standard</vt:lpstr>
      <vt:lpstr>Amazon Macie adds CloudWatch logging for job status and health monitoring of sensitive data discovery jobs</vt:lpstr>
      <vt:lpstr>Now reference latest AWS Systems Manager parameter values in AWS CloudFormation templates without specifying parameter versions</vt:lpstr>
      <vt:lpstr>AWS Ground Station is now available in US East (N. Virginia) and EU (Frankfurt) Regions</vt:lpstr>
      <vt:lpstr>AWS Data Exchange launches post-subscription wizard to configure revision exports to Amazon S3</vt:lpstr>
      <vt:lpstr>Amazon Elasticsearch Service now supports integration with Microsoft Power BI</vt:lpstr>
      <vt:lpstr>Amazon RDS for PostgreSQL Supports pg_bigm extension for faster full text search</vt:lpstr>
      <vt:lpstr>AWS Network Firewall is now available in Asia Pacific (Mumbai), Asia Pacific (Singapore), and EU (London)</vt:lpstr>
      <vt:lpstr>Amazon Connect allows contact center managers to configure agent settings in a custom Contact Control Panel (CCP)</vt:lpstr>
      <vt:lpstr>Amazon Connect launches audio device settings for the custom Contact Control Panel (CCP)</vt:lpstr>
      <vt:lpstr>AWS Storage Gateway achieves FedRAMP Moderate compliance</vt:lpstr>
      <vt:lpstr>AWS announces general availability of AQUA for Amazon Redshift</vt:lpstr>
      <vt:lpstr>AWS CloudShell is now available in the Asia Pacific (Mumbai), Asia Pacific (Sydney), and Europe (Frankfurt) regions</vt:lpstr>
      <vt:lpstr>Now Use Tags to Track and Allocate Amazon SageMaker Studio Notebooks Costs</vt:lpstr>
      <vt:lpstr>AWS CodeArtifact is now available in Paris, London, and Milan</vt:lpstr>
      <vt:lpstr>AWS CodeCommit is Now Available in the Asia Pacific (Osaka) Region</vt:lpstr>
      <vt:lpstr>Amazon RDS for PostgreSQL Integrates with AWS Lambda</vt:lpstr>
      <vt:lpstr>New digital course: Getting Started with Data Analytics on AWS</vt:lpstr>
      <vt:lpstr>AWS CloudFormation Modules now Provides YAML and Delimiter Support</vt:lpstr>
      <vt:lpstr>Amazon RDS for PostgreSQL supports new minor versions 13.2, 12.6, 11.11, 10.16, 9.6.21, and 9.5.25</vt:lpstr>
      <vt:lpstr>Updated classroom course: Systems Operations on AWS</vt:lpstr>
      <vt:lpstr>AWS Batch increases job scheduling and EC2 instance scaling performance</vt:lpstr>
      <vt:lpstr>AWS Identity and Access Management now makes it easier to relate a user's IAM role activity to their corporate identity</vt:lpstr>
      <vt:lpstr>Amazon Interactive Video Service adds new Cloudwatch Metrics</vt:lpstr>
      <vt:lpstr>AWS Console Mobile Application adds support for Asia Pacific (Osaka) region</vt:lpstr>
      <vt:lpstr>Amazon Redshift now supports data sharing when producer clusters are paused</vt:lpstr>
      <vt:lpstr>New digital rewards and racer profile personalization features on the AWS DeepRacer console</vt:lpstr>
      <vt:lpstr>Amazon RDS for MySQL M6g and R6g instances now available in N. California, Canada, São Paulo, and London regions</vt:lpstr>
      <vt:lpstr>NICE DCV releases version 2021.0 with Webcam redirection and printer redirection</vt:lpstr>
      <vt:lpstr>Amazon FSx and AWS Backup announce support for copying file system backups across AWS Regions and AWS accounts</vt:lpstr>
      <vt:lpstr>Amazon RDS Data API now available in Asia Pacific (Seoul) and Canada (Central) AWS regions</vt:lpstr>
      <vt:lpstr>AWS Transit Gateway Connect is now available in additional AWS Regions</vt:lpstr>
      <vt:lpstr>New AWS Solutions Implementation: Amazon S3 Glacier Re:Freezer</vt:lpstr>
      <vt:lpstr>Amazon AppStream 2.0 adds support for fully managed image updates</vt:lpstr>
      <vt:lpstr>Service Quotas is now available in AWS GovCloud (US) Regions</vt:lpstr>
      <vt:lpstr>Internet Group Management Protocol (IGMP) Multicast on AWS Transit Gateway is now available in major AWS regions worldwide</vt:lpstr>
      <vt:lpstr>AWS Firewall Manager Now Available in AWS GovCloud (US)</vt:lpstr>
      <vt:lpstr>AWS CloudFormation Command Line Interface (CFN-CLI) now supports TypeScript</vt:lpstr>
      <vt:lpstr>Amazon RDS for SQL Server now supports Extended Events</vt:lpstr>
      <vt:lpstr>Amazon Athena now presents query execution plans to aid tuning</vt:lpstr>
      <vt:lpstr>Updated classroom course: AWS Cloud Practitioner Essentials</vt:lpstr>
      <vt:lpstr>Amazon Connect Customer Profiles now includes support for AWS CloudFormation</vt:lpstr>
      <vt:lpstr>Amazon Connect Customer Profiles now includes support for AWS PrivateLink</vt:lpstr>
      <vt:lpstr>Detect abnormal equipment behavior with Amazon Lookout for Equipment — now generally available</vt:lpstr>
      <vt:lpstr>eksctl now supports creating node groups using resource specifications and dry run mode</vt:lpstr>
      <vt:lpstr>New AWS Solutions Consulting Offer - Application Modernization and Migration to AWS Cloud</vt:lpstr>
      <vt:lpstr>Amazon EC2 instances featuring AMD EPYC processors are now available in additional regions</vt:lpstr>
      <vt:lpstr>AWS IoT Analytics adds schema inference support for Apache Parquet based data stores</vt:lpstr>
      <vt:lpstr>Customers can now use ServiceNow to track operational items related to AWS resources</vt:lpstr>
      <vt:lpstr>AWS Control Tower introduces changes to preventive S3 guardrails and updates to S3 bucket encryption protocols</vt:lpstr>
      <vt:lpstr>New AWS Solutions Consulting Offer - RegCloud: ControllerView® on AWS</vt:lpstr>
      <vt:lpstr>AWS RoboMaker now supports the ability to configure tools for simulation jobs</vt:lpstr>
      <vt:lpstr>AWS Step Functions adds new data flow simulator for modelling input and output processing</vt:lpstr>
      <vt:lpstr>Amazon GuardDuty Now Available in AWS Asia Pacific (Osaka) Region</vt:lpstr>
      <vt:lpstr>Amazon Keyspaces (for Apache Cassandra) now offers FIPS 140-2 compliant endpoints to help you run highly regulated workloads more easily</vt:lpstr>
      <vt:lpstr>You can now deploy CloudFormation Stacks concurrently across multiple AWS regions using AWS CloudFormation StackSets</vt:lpstr>
      <vt:lpstr>AWS Control Tower now available in Mumbai, Seoul and Tokyo AWS Regions</vt:lpstr>
      <vt:lpstr>Amazon Fraud Detector automates sampling for imbalanced model training datasets</vt:lpstr>
      <vt:lpstr>AWS Glue now supports missing value imputation based on machine learning</vt:lpstr>
      <vt:lpstr>Amazon MQ now supports RabbitMQ version 3.8.11</vt:lpstr>
      <vt:lpstr>Amazon ElastiCache now supports Tag-Based Access Control</vt:lpstr>
      <vt:lpstr>AWS Backup now supports cost allocation tags for Amazon EFS Backups</vt:lpstr>
      <vt:lpstr>Amplify iOS now available via Swift Package Manager (SPM)</vt:lpstr>
      <vt:lpstr>Multi-Attach for Provisioned IOPS io2 Now Available in Thirteen Additional AWS Regions</vt:lpstr>
      <vt:lpstr>Amazon Interactive Video Service adds support for recording live streams to Amazon S3</vt:lpstr>
      <vt:lpstr>New instructor-led course: Developing Serverless Solutions on AWS</vt:lpstr>
      <vt:lpstr>AWS Systems Manager Parameter Store now supports removal of parameter labels</vt:lpstr>
      <vt:lpstr>Amazon EC2 G4ad instances, powered by AMD Radeon Pro V520 GPUs, are now available in 5 additional regions</vt:lpstr>
      <vt:lpstr>Amazon EC2 now allows you to copy Amazon Machine Images across AWS GovCloud, AWS China and other AWS Regions</vt:lpstr>
      <vt:lpstr>Amazon CodeGuru announces a new, lower and predictable Pricing Model for CodeGuru Reviewer</vt:lpstr>
      <vt:lpstr>Python Support for Amazon CodeGuru Reviewer is now generally available</vt:lpstr>
      <vt:lpstr>AWS Batch simplifies permissions by introducing Service-Linked Roles</vt:lpstr>
      <vt:lpstr>Data management is now generally available in the AWS Amplify Admin UI</vt:lpstr>
      <vt:lpstr>AWS Elemental MediaLive now supports HTML 5 motion graphics overlay</vt:lpstr>
      <vt:lpstr>AWS Systems Manager Run Command now displays more logs and enables log download from the console</vt:lpstr>
      <vt:lpstr>Amazon WorkSpaces webcam support now Generally Available</vt:lpstr>
      <vt:lpstr>New options to trigger Amazon SageMaker Pipeline executions</vt:lpstr>
      <vt:lpstr>Amazon MQ is now available in the Japan (Osaka) region</vt:lpstr>
      <vt:lpstr>New AWS Solutions Consulting Offer - Design and Build Applications at Speed with DAPx</vt:lpstr>
      <vt:lpstr>Amazon WorkSpaces now supports smart cards with the WorkSpaces macOS client application</vt:lpstr>
      <vt:lpstr>Amazon Macie now available in AWS Asia Pacific (Osaka) Region</vt:lpstr>
      <vt:lpstr>Amazon Aurora PostgreSQL Patches 1.9.1 / 2.7.1 / 3.4.1 / 4.0.1 now available</vt:lpstr>
      <vt:lpstr>AWS Budgets announces CloudFormation support for budget actions</vt:lpstr>
      <vt:lpstr>Announcing support for IAM Condition Keys and CMK for custom models for Amazon Comprehend</vt:lpstr>
      <vt:lpstr>AWS WAF now supports Labels to improve rule customization and reporting</vt:lpstr>
      <vt:lpstr>Prepare data from Amazon Redshift and other JDBC-supported databases/data warehouses in AWS Glue DataBrew through native connectors</vt:lpstr>
      <vt:lpstr>Amazon VPC Flow Logs announces out-of-the-box integration with Amazon Athena</vt:lpstr>
      <vt:lpstr>Bring Your Own IP for Amazon Virtual Private Cloud is Now Available in Four Additional Regions</vt:lpstr>
      <vt:lpstr>Amazon EKS is now FedRAMP-High Compliant</vt:lpstr>
      <vt:lpstr>AWS Firewall Manager now supports centralized deployment of the new AWS WAF Bot Control across your organization</vt:lpstr>
      <vt:lpstr>AWS Batch now supports EFS volumes at the job level</vt:lpstr>
      <vt:lpstr>Announcing cross-VPC support for Amazon Redshift powered by AWS PrivateLink</vt:lpstr>
      <vt:lpstr>Amazon Lightsail expands blueprint selection with support for PrestaShop and CentOS 8</vt:lpstr>
      <vt:lpstr>Announcing Amazon Forecast Weather Index for Canada</vt:lpstr>
      <vt:lpstr>Amazon EMR now supported on Amazon EC2 Graviton2-based instances in AWS GovCloud (US) Regions</vt:lpstr>
      <vt:lpstr>AWS Systems Manager Parameter Store now supports easier public parameter discoverability</vt:lpstr>
      <vt:lpstr>AWS Glue Schema Registry is now available in four more AWS regions</vt:lpstr>
      <vt:lpstr>AWS Security Hub achieves FedRAMP High authorization to enable security posture management for high-impact workloads</vt:lpstr>
      <vt:lpstr>AWS Backint Agent version 1.03 now available</vt:lpstr>
      <vt:lpstr>Amazon Lex launches support for Japanese</vt:lpstr>
      <vt:lpstr>HLS inputs now available with AWS Elemental MediaConvert</vt:lpstr>
      <vt:lpstr>Announcing AWS WAF Bot Control for visibility and control over common and pervasive bots</vt:lpstr>
      <vt:lpstr>AWS Snowball Edge Compute Optimized is now available in the AWS Asia Pacific (Singapore) Region</vt:lpstr>
      <vt:lpstr>Seven popular classroom courses now with AWS Jam options</vt:lpstr>
      <vt:lpstr>New AWS Storage Gateway management console simplifies gateway creation and management</vt:lpstr>
      <vt:lpstr>AWS Gateway Load Balancer is now available in the Canada (Central), Asia Pacific (Seoul) and Asia Pacific (Osaka) Regions</vt:lpstr>
      <vt:lpstr>Amazon RDS for MySQL Supports New Minor Versions 5.6.51, 5.7.33, and 8.0.23.</vt:lpstr>
      <vt:lpstr>Amazon Transcribe Custom Language Models now support Australian English, British English, Hindi and US Spanish</vt:lpstr>
      <vt:lpstr>Introducing Amazon Route 53 Resolver DNS Firewall</vt:lpstr>
      <vt:lpstr>Amazon Connect is now available in the Canada (Central) AWS Region</vt:lpstr>
      <vt:lpstr>Amazon Simple Email Service is now available in the EU (Milano) and Africa (Cape Town) Regions</vt:lpstr>
      <vt:lpstr>AWS Direct Connect Announces MACsec Encryption for Dedicated 10Gbps and 100Gbps Connections at Select Locations</vt:lpstr>
      <vt:lpstr>The Amazon Redshift Query Editor is now available in the AWS GovCloud (US) Regions</vt:lpstr>
      <vt:lpstr>AWS Lambda@Edge changes duration billing granularity from 50ms down to 1ms</vt:lpstr>
      <vt:lpstr>Introducing the interactive EC2 Serial Console</vt:lpstr>
      <vt:lpstr>The Amazon Redshift Data API is now available in the AWS GovCloud (US) Regions</vt:lpstr>
      <vt:lpstr>AWS announces preview of AWS Glue custom blueprints</vt:lpstr>
      <vt:lpstr>AWS Glue DataBrew now supports time-based, pattern-based and customizable parameters to create dynamic datasets</vt:lpstr>
      <vt:lpstr>Detect outliers and use dedicated transforms to handle outliers in AWS Glue DataBrew</vt:lpstr>
      <vt:lpstr>AWS Config launches the ability to track and visualize compliance change history of conformance packs</vt:lpstr>
      <vt:lpstr>Announcing new training for building data lakes on AWS</vt:lpstr>
      <vt:lpstr>AWS Data Exchange providers can now copy product metadata from their existing products to a new product</vt:lpstr>
      <vt:lpstr>Amazon API Gateway custom domain names now support multi-level base path mappings</vt:lpstr>
      <vt:lpstr>AWS announces General Availability of Amazon GameLift Queue notifications</vt:lpstr>
      <vt:lpstr>Amazon Fraud Detector now supports Batch Fraud Predictions</vt:lpstr>
      <vt:lpstr>AWS Site-to-Site VPN increases service quotas for route limits</vt:lpstr>
      <vt:lpstr>Amazon Pinpoint Announces Improved Journey Controls</vt:lpstr>
      <vt:lpstr>Amazon EMR now supports Amazon EC2 Instance Metadata Service v2</vt:lpstr>
      <vt:lpstr>AWS Transit Gateway Connect increases service quotas for route limits</vt:lpstr>
      <vt:lpstr>New AWS Solutions Consulting Offer - AMI Factory</vt:lpstr>
      <vt:lpstr>AWS Global Accelerator launches a new Edge location in Indonesia</vt:lpstr>
      <vt:lpstr>Amazon SageMaker Autopilot adds Model Explainability</vt:lpstr>
      <vt:lpstr>AWS Config adds pagination support for advanced queries that contain aggregate functions</vt:lpstr>
      <vt:lpstr>AWS Security Hub now available in the AWS Asia Pacific (Osaka) Region</vt:lpstr>
      <vt:lpstr>AWS WAF adds support for Request Header Insertion</vt:lpstr>
      <vt:lpstr>AWS WAF adds support for Custom Responses</vt:lpstr>
      <vt:lpstr>New AWS Solutions Consulting Offer - Pipeline Factory</vt:lpstr>
      <vt:lpstr>Amazon DocumentDB (with MongoDB compatibility) now supports Event Subscriptions</vt:lpstr>
      <vt:lpstr>CloudWatch Container Insights for Amazon ECS now available in the AWS Africa (Cape Town) region</vt:lpstr>
      <vt:lpstr>Amazon Forecast enables AWS Resource Groups</vt:lpstr>
      <vt:lpstr>AWS DevOps Monitoring Dashboard solution is Generally Available</vt:lpstr>
      <vt:lpstr>Amazon SageMaker now supports private Docker registry authentication</vt:lpstr>
      <vt:lpstr>New AWS Solutions Consulting Offer - WorkSpaces Manager for Amazon WorkSpaces</vt:lpstr>
      <vt:lpstr>Amazon WorkDocs offers additional sharing controls throughout its Android app</vt:lpstr>
      <vt:lpstr>Amazon EKS now supports P4d instances</vt:lpstr>
      <vt:lpstr>Amazon API Gateway now provides IAM condition keys for governing endpoint, authorization, and logging configurations</vt:lpstr>
      <vt:lpstr>Amazon EKS now supports Elastic Fabric Adapter</vt:lpstr>
      <vt:lpstr>Amazon ElastiCache for Redis now supports highly available clusters on AWS Local Zones</vt:lpstr>
      <vt:lpstr>AWS Security Hub integrates with Amazon Macie to automatically ingest sensitive data findings for improved centralized security posture management</vt:lpstr>
      <vt:lpstr>AWS Backup is now available in the AWS Asia Pacific (Osaka) Region</vt:lpstr>
      <vt:lpstr>Amazon Polly NTTS voices now available in Canada (Central), and Asia Pacific (Seoul)</vt:lpstr>
      <vt:lpstr>AWS License Manager adds ability to set up exclusion rules for automated discovery</vt:lpstr>
      <vt:lpstr>Lower Cost Storage Classes for Amazon Elastic File System are now available in Asia (Osaka) region</vt:lpstr>
      <vt:lpstr>Amazon Kinesis Data Analytics now supports Python with Apache Flink v1.11</vt:lpstr>
      <vt:lpstr>Configurable Endpoints with Custom Domains now generally available for AWS IoT Core</vt:lpstr>
      <vt:lpstr>Amazon Kendra adds new partner search connectors from Perficient</vt:lpstr>
      <vt:lpstr>Updated classroom course: Advanced Architecting on AWS</vt:lpstr>
      <vt:lpstr>AWS Snowcone is now available in the AWS Asia Pacific (Sydney) Region in Australia</vt:lpstr>
      <vt:lpstr>NICE DCV releases web client SDK for building customized web applications</vt:lpstr>
      <vt:lpstr>Amazon and Red Hat announce the General Availability of Red Hat OpenShift Service on AWS (ROSA)</vt:lpstr>
      <vt:lpstr>Amazon AppFlow now supports Zendesk as a destination</vt:lpstr>
      <vt:lpstr>AWS Elemental MediaTailor now supports Enhanced Debug Logs and other enhancements *</vt:lpstr>
      <vt:lpstr>Now available AWS SSO credential profile support in the AWS Toolkit for VS Code</vt:lpstr>
      <vt:lpstr>Amazon Timestream now supports Amazon VPC endpoints</vt:lpstr>
      <vt:lpstr>AWS Cloud Map now supports API-only services in namespaces configured with DNS resolution</vt:lpstr>
      <vt:lpstr>Amazon Detective launches in AWS GovCloud (US) Regions</vt:lpstr>
      <vt:lpstr>Announcing General Availability of AWS IoT Device Defender ML Detect</vt:lpstr>
      <vt:lpstr>AWS Backup adds support for bulk deletion of recovery points</vt:lpstr>
      <vt:lpstr>Create forecasting systems faster with automated workflows and notifications in Amazon Forecast</vt:lpstr>
      <vt:lpstr>Amazon Elasticsearch Service announces Auto-Tune feature for improved performance and application availability</vt:lpstr>
      <vt:lpstr>Now you can use AWS CloudTrail to log data-plane API activity to monitor, alarm, and archive item-level activity in your Amazon DynamoDB tables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Stanford Guillory</cp:lastModifiedBy>
  <cp:revision>160</cp:revision>
  <dcterms:created xsi:type="dcterms:W3CDTF">2016-06-17T18:22:10Z</dcterms:created>
  <dcterms:modified xsi:type="dcterms:W3CDTF">2021-06-30T13:52:43Z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0x010100D26A3D6C04DFD740953BA1B2B9E62D60</vt:lpwstr>
  </property>
</Properties>
</file>