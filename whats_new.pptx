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  <p:sldMasterId id="2147483715" r:id="rId5"/>
  </p:sldMasterIdLst>
  <p:notesMasterIdLst>
    <p:notesMasterId r:id="rId10"/>
  </p:notesMasterIdLst>
  <p:handoutMasterIdLst>
    <p:handoutMasterId r:id="rId11"/>
  </p:handoutMasterIdLst>
  <p:sldIdLst>
    <p:sldId id="285" r:id="rId6"/>
    <p:sldId id="257" r:id="rId7"/>
    <p:sldId id="505" r:id="rId8"/>
    <p:sldId id="301" r:id="rId9"/>
  </p:sldIdLst>
  <p:sldSz cx="14630400" cy="8229600"/>
  <p:notesSz cx="6858000" cy="9144000"/>
  <p:defaultTextStyle>
    <a:defPPr>
      <a:defRPr lang="en-US"/>
    </a:defPPr>
    <a:lvl1pPr marL="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orient="horz" pos="4637" userDrawn="1">
          <p15:clr>
            <a:srgbClr val="A4A3A4"/>
          </p15:clr>
        </p15:guide>
        <p15:guide id="3" orient="horz" pos="3859" userDrawn="1">
          <p15:clr>
            <a:srgbClr val="A4A3A4"/>
          </p15:clr>
        </p15:guide>
        <p15:guide id="4" orient="horz" pos="5114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2205" userDrawn="1">
          <p15:clr>
            <a:srgbClr val="A4A3A4"/>
          </p15:clr>
        </p15:guide>
        <p15:guide id="7" orient="horz" pos="3325" userDrawn="1">
          <p15:clr>
            <a:srgbClr val="A4A3A4"/>
          </p15:clr>
        </p15:guide>
        <p15:guide id="8" orient="horz" pos="200" userDrawn="1">
          <p15:clr>
            <a:srgbClr val="A4A3A4"/>
          </p15:clr>
        </p15:guide>
        <p15:guide id="9" orient="horz" pos="3370" userDrawn="1">
          <p15:clr>
            <a:srgbClr val="A4A3A4"/>
          </p15:clr>
        </p15:guide>
        <p15:guide id="10" orient="horz" pos="4574" userDrawn="1">
          <p15:clr>
            <a:srgbClr val="A4A3A4"/>
          </p15:clr>
        </p15:guide>
        <p15:guide id="11" pos="1536" userDrawn="1">
          <p15:clr>
            <a:srgbClr val="A4A3A4"/>
          </p15:clr>
        </p15:guide>
        <p15:guide id="12" pos="2808" userDrawn="1">
          <p15:clr>
            <a:srgbClr val="A4A3A4"/>
          </p15:clr>
        </p15:guide>
        <p15:guide id="13" pos="4613" userDrawn="1">
          <p15:clr>
            <a:srgbClr val="A4A3A4"/>
          </p15:clr>
        </p15:guide>
        <p15:guide id="14" pos="4030" userDrawn="1">
          <p15:clr>
            <a:srgbClr val="A4A3A4"/>
          </p15:clr>
        </p15:guide>
        <p15:guide id="15" pos="7664" userDrawn="1">
          <p15:clr>
            <a:srgbClr val="A4A3A4"/>
          </p15:clr>
        </p15:guide>
        <p15:guide id="16" pos="3979" userDrawn="1">
          <p15:clr>
            <a:srgbClr val="A4A3A4"/>
          </p15:clr>
        </p15:guide>
        <p15:guide id="17" pos="2755" userDrawn="1">
          <p15:clr>
            <a:srgbClr val="A4A3A4"/>
          </p15:clr>
        </p15:guide>
        <p15:guide id="18" pos="1579" userDrawn="1">
          <p15:clr>
            <a:srgbClr val="A4A3A4"/>
          </p15:clr>
        </p15:guide>
        <p15:guide id="19" pos="7709" userDrawn="1">
          <p15:clr>
            <a:srgbClr val="A4A3A4"/>
          </p15:clr>
        </p15:guide>
        <p15:guide id="20" pos="521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5256" userDrawn="1">
          <p15:clr>
            <a:srgbClr val="A4A3A4"/>
          </p15:clr>
        </p15:guide>
        <p15:guide id="23" pos="6435" userDrawn="1">
          <p15:clr>
            <a:srgbClr val="A4A3A4"/>
          </p15:clr>
        </p15:guide>
        <p15:guide id="24" pos="6485" userDrawn="1">
          <p15:clr>
            <a:srgbClr val="A4A3A4"/>
          </p15:clr>
        </p15:guide>
        <p15:guide id="25" pos="8870" userDrawn="1">
          <p15:clr>
            <a:srgbClr val="A4A3A4"/>
          </p15:clr>
        </p15:guide>
        <p15:guide id="26" pos="352" userDrawn="1">
          <p15:clr>
            <a:srgbClr val="A4A3A4"/>
          </p15:clr>
        </p15:guide>
        <p15:guide id="27" pos="5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232F3E"/>
    <a:srgbClr val="595A5D"/>
    <a:srgbClr val="414042"/>
    <a:srgbClr val="DCDCDC"/>
    <a:srgbClr val="4F81BD"/>
    <a:srgbClr val="0C9B2E"/>
    <a:srgbClr val="FFFAD0"/>
    <a:srgbClr val="FFF8AE"/>
    <a:srgbClr val="FCB64C"/>
    <a:srgbClr val="FEC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20" autoAdjust="0"/>
    <p:restoredTop sz="85989" autoAdjust="0"/>
  </p:normalViewPr>
  <p:slideViewPr>
    <p:cSldViewPr snapToGrid="0" showGuides="1">
      <p:cViewPr varScale="1">
        <p:scale>
          <a:sx n="90" d="100"/>
          <a:sy n="90" d="100"/>
        </p:scale>
        <p:origin x="1264" y="200"/>
      </p:cViewPr>
      <p:guideLst>
        <p:guide orient="horz" pos="1030"/>
        <p:guide orient="horz" pos="4637"/>
        <p:guide orient="horz" pos="3859"/>
        <p:guide orient="horz" pos="5114"/>
        <p:guide orient="horz" pos="2160"/>
        <p:guide orient="horz" pos="2205"/>
        <p:guide orient="horz" pos="3325"/>
        <p:guide orient="horz" pos="200"/>
        <p:guide orient="horz" pos="3370"/>
        <p:guide orient="horz" pos="4574"/>
        <p:guide pos="1536"/>
        <p:guide pos="2808"/>
        <p:guide pos="4613"/>
        <p:guide pos="4030"/>
        <p:guide pos="7664"/>
        <p:guide pos="3979"/>
        <p:guide pos="2755"/>
        <p:guide pos="1579"/>
        <p:guide pos="7709"/>
        <p:guide pos="5211"/>
        <p:guide/>
        <p:guide pos="5256"/>
        <p:guide pos="6435"/>
        <p:guide pos="6485"/>
        <p:guide pos="8870"/>
        <p:guide pos="352"/>
        <p:guide pos="5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454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EAAF34-71F8-6342-832E-C583FEB3F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00CEA-93F0-3648-8636-3ECA00800B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87149-AF03-6142-908A-3DD284EAF54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72482-B212-B34F-AAFC-10B8C8EF77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B9C6E-4611-5A44-8B47-37FCE89DEB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AC043-34FA-4C46-BDAD-AE3E2DBAD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46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10/12/20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1pPr>
    <a:lvl2pPr marL="73152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2pPr>
    <a:lvl3pPr marL="146304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3pPr>
    <a:lvl4pPr marL="219456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4pPr>
    <a:lvl5pPr marL="292608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93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Insert next o Jeremy </a:t>
            </a:r>
            <a:r>
              <a:rPr lang="en-US" sz="220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Thalen</a:t>
            </a:r>
            <a:r>
              <a:rPr lang="en-US" sz="2200" baseline="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Masada – Custom Billing Analyst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516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One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BB242C-E142-0A43-9F1E-0928D9F8BA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935" r="10110"/>
          <a:stretch/>
        </p:blipFill>
        <p:spPr>
          <a:xfrm>
            <a:off x="-1" y="0"/>
            <a:ext cx="14630402" cy="8229600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5950356"/>
            <a:ext cx="5892800" cy="9965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aseline="0"/>
            </a:lvl1pPr>
          </a:lstStyle>
          <a:p>
            <a:pPr lvl="0"/>
            <a:r>
              <a:rPr lang="en-US" dirty="0"/>
              <a:t>Click to edit Presenter, Team</a:t>
            </a:r>
          </a:p>
          <a:p>
            <a:pPr lvl="0"/>
            <a:r>
              <a:rPr lang="en-US" dirty="0"/>
              <a:t>Date, location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053166"/>
            <a:ext cx="11719981" cy="119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4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4253721"/>
            <a:ext cx="9666531" cy="12312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Social handle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731520"/>
            <a:ext cx="1357299" cy="811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84D03-8133-8347-8776-300EBD9F8B8C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3412130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TwoSpeaker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BB242C-E142-0A43-9F1E-0928D9F8BA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935" r="10110"/>
          <a:stretch/>
        </p:blipFill>
        <p:spPr>
          <a:xfrm>
            <a:off x="-1" y="0"/>
            <a:ext cx="14630402" cy="8229600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5950356"/>
            <a:ext cx="5892800" cy="9965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aseline="0"/>
            </a:lvl1pPr>
          </a:lstStyle>
          <a:p>
            <a:pPr lvl="0"/>
            <a:r>
              <a:rPr lang="en-US" dirty="0"/>
              <a:t>Click to edit Presenter, Team</a:t>
            </a:r>
          </a:p>
          <a:p>
            <a:pPr lvl="0"/>
            <a:r>
              <a:rPr lang="en-US" dirty="0"/>
              <a:t>Date, location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053166"/>
            <a:ext cx="11719981" cy="119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4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4253721"/>
            <a:ext cx="9666531" cy="12312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Social handle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731520"/>
            <a:ext cx="1357299" cy="811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D47D4A-FB0D-BE48-ADF8-B8DECA8916C1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2005314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f_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9933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1645920"/>
            <a:ext cx="13510260" cy="4686301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3486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_and_Sub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4A737D-052C-C84E-A767-DC5456E4AA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34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5894-DCBD-3A4E-BD40-DCA1D16A4B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4A737D-052C-C84E-A767-DC5456E4AA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34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B94E5-EC77-5143-891C-94FF7C49B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20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_SquidI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DB510E-163A-A649-85E1-F07635A2E3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935" r="18573"/>
          <a:stretch/>
        </p:blipFill>
        <p:spPr>
          <a:xfrm>
            <a:off x="2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5894-DCBD-3A4E-BD40-DCA1D16A4B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A5C8A9-88F8-344F-882F-87878685B257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463584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_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96C4F3-CA83-2A40-9F3D-E162458BB0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6348" r="20161"/>
          <a:stretch/>
        </p:blipFill>
        <p:spPr>
          <a:xfrm>
            <a:off x="2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5894-DCBD-3A4E-BD40-DCA1D16A4B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141658-2646-1048-A1DE-3FB40A06912B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1462640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_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DE0CB9-C246-C948-A3A8-F1FE53173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508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5894-DCBD-3A4E-BD40-DCA1D16A4B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EF9E69-433E-DC4C-824E-7F476DC4478C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1704651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_Bulleted_Li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1460" cy="8731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645920"/>
            <a:ext cx="13510260" cy="54311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  <a:lvl2pPr>
              <a:defRPr sz="2900"/>
            </a:lvl2pPr>
            <a:lvl3pPr>
              <a:defRPr sz="2600"/>
            </a:lvl3pPr>
            <a:lvl4pPr marL="2194560" indent="0">
              <a:buNone/>
              <a:defRPr sz="260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Bulleted_Sectio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C5D45-2516-944B-852E-9416AD287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1645920"/>
            <a:ext cx="6400800" cy="5089616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680DD99-A52C-8C44-9396-106AF36BB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58100" y="1645920"/>
            <a:ext cx="6400800" cy="5089616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and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8B8829-AB11-E54F-AFFF-11D6AD397D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58100" y="1645920"/>
            <a:ext cx="6400800" cy="50883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05C376-814F-9B49-99E8-6F17D4026F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1645920"/>
            <a:ext cx="6400800" cy="5087619"/>
          </a:xfrm>
          <a:prstGeom prst="rect">
            <a:avLst/>
          </a:prstGeom>
        </p:spPr>
        <p:txBody>
          <a:bodyPr/>
          <a:lstStyle>
            <a:lvl1pPr marL="0" marR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>
                <a:latin typeface="+mn-lt"/>
              </a:defRPr>
            </a:lvl1pPr>
          </a:lstStyle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50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ll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45920"/>
            <a:ext cx="4572000" cy="502863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9760" y="1645920"/>
            <a:ext cx="4572000" cy="5028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FF44110-D1F4-664B-9593-7982833228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86400" y="1645920"/>
            <a:ext cx="3657600" cy="26862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886DFCC3-A169-A648-A099-3583B633E6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4767345"/>
            <a:ext cx="3657600" cy="18928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8862" y="183898"/>
            <a:ext cx="13520037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1645920"/>
            <a:ext cx="8330183" cy="502863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6880" y="1645920"/>
            <a:ext cx="4754880" cy="5028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Image_Cen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1645920"/>
            <a:ext cx="13514832" cy="53381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01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leed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5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3516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Logo_Customer_Wal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5E46D-C0D2-7642-AF47-40070CB7653A}"/>
              </a:ext>
            </a:extLst>
          </p:cNvPr>
          <p:cNvSpPr/>
          <p:nvPr userDrawn="1"/>
        </p:nvSpPr>
        <p:spPr>
          <a:xfrm>
            <a:off x="0" y="1645920"/>
            <a:ext cx="14630400" cy="532964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08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46674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328298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09922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1091547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F1543634-A736-BA4B-A10A-31EE0B13F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6674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1DBC551-9315-1F45-A672-93EB0600749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28298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AB66963A-7841-B341-A47C-7BEFE1F8B8C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09922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7E808491-1004-3A44-87DD-41D21C9E39C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091547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Logo_Customer_Wal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43902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566893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599958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543902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5566893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99958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7DA888D-68DB-9B44-9614-56AAAAE93DF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48640" y="1645920"/>
            <a:ext cx="13510260" cy="5003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_Cha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31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B3C77AD1-4897-A546-B977-5EB6406DD175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361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_Cha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878172D-692F-8A47-81EA-89C129774DB9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_Cha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08142378-5C5C-8B40-AD27-B9BE74F6EA7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04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53231-B084-9A4B-85F1-9250CD176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063" r="13445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0" y="2589430"/>
            <a:ext cx="10660674" cy="1127019"/>
          </a:xfrm>
        </p:spPr>
        <p:txBody>
          <a:bodyPr anchor="ctr" anchorCtr="0">
            <a:noAutofit/>
          </a:bodyPr>
          <a:lstStyle>
            <a:lvl1pPr algn="l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6E15E-156A-6740-8723-C74DD4148F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3716448"/>
            <a:ext cx="6380480" cy="7924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B3CA729-7DC1-3A41-B24F-C56CB70A70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5950356"/>
            <a:ext cx="5892800" cy="9965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aseline="0"/>
            </a:lvl1pPr>
          </a:lstStyle>
          <a:p>
            <a:pPr lvl="0"/>
            <a:r>
              <a:rPr lang="en-US" dirty="0"/>
              <a:t>Click to edit Presenter, Team</a:t>
            </a:r>
          </a:p>
          <a:p>
            <a:pPr lvl="0"/>
            <a:r>
              <a:rPr lang="en-US" dirty="0"/>
              <a:t>Date, location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67D2B-BBD1-B546-A8C7-1FAD2B60374A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_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D519FF-1BA2-9B41-8FA0-19EC8D679C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044" r="11463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2481329"/>
            <a:ext cx="12435840" cy="1634490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548640" y="4115820"/>
            <a:ext cx="5892800" cy="6934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0B841-0DCE-4646-9E0E-B1E464D98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C9990E-A3D8-4641-B99A-B31E88C6D0B8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183898"/>
            <a:ext cx="13514832" cy="90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1838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_of_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4832" cy="8731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947" y="1645920"/>
            <a:ext cx="13514832" cy="56862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1188720" indent="-457200">
              <a:buFont typeface="Arial"/>
              <a:buChar char="•"/>
              <a:defRPr>
                <a:solidFill>
                  <a:schemeClr val="tx2"/>
                </a:solidFill>
              </a:defRPr>
            </a:lvl2pPr>
            <a:lvl3pPr marL="1828800" indent="-365760">
              <a:buFont typeface="Arial"/>
              <a:buChar char="•"/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9559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_to_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33B37-BB08-4347-B71D-D01F225ECB4D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71130-A3F1-D24E-A5F9-FD45DA62A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0240" y="7531058"/>
            <a:ext cx="709381" cy="4241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F59969-BB76-0545-A5CB-3D34504EB147}"/>
              </a:ext>
            </a:extLst>
          </p:cNvPr>
          <p:cNvSpPr txBox="1"/>
          <p:nvPr userDrawn="1"/>
        </p:nvSpPr>
        <p:spPr>
          <a:xfrm>
            <a:off x="538863" y="7695476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4266760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23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784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8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772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8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8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273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123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533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8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8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144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8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8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210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67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729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 rot="5400000">
            <a:off x="13818870" y="293372"/>
            <a:ext cx="518160" cy="510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86" y="21600"/>
                </a:moveTo>
                <a:lnTo>
                  <a:pt x="21600" y="10800"/>
                </a:lnTo>
                <a:lnTo>
                  <a:pt x="16686" y="0"/>
                </a:lnTo>
                <a:lnTo>
                  <a:pt x="0" y="0"/>
                </a:lnTo>
                <a:lnTo>
                  <a:pt x="0" y="21600"/>
                </a:lnTo>
                <a:lnTo>
                  <a:pt x="16686" y="21600"/>
                </a:lnTo>
                <a:close/>
              </a:path>
            </a:pathLst>
          </a:custGeom>
          <a:solidFill>
            <a:schemeClr val="accent3">
              <a:lumOff val="5155"/>
            </a:schemeClr>
          </a:solidFill>
          <a:ln w="12700">
            <a:miter lim="400000"/>
          </a:ln>
        </p:spPr>
        <p:txBody>
          <a:bodyPr lIns="27432" rIns="27432"/>
          <a:lstStyle/>
          <a:p>
            <a:pPr>
              <a:defRPr sz="56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3360" dirty="0"/>
          </a:p>
        </p:txBody>
      </p:sp>
      <p:sp>
        <p:nvSpPr>
          <p:cNvPr id="72" name="Shape 7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005512" y="2275680"/>
            <a:ext cx="61620" cy="8740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0480" tIns="30480" rIns="30480" bIns="30480" numCol="1" spcCol="38100" rtlCol="0" anchor="ctr">
            <a:spAutoFit/>
          </a:bodyPr>
          <a:lstStyle/>
          <a:p>
            <a:pPr marL="0" marR="0" indent="0" algn="ctr" defTabSz="5486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280" b="0" i="0" u="none" strike="noStrike" cap="none" spc="0" normalizeH="0" baseline="0" dirty="0">
              <a:ln>
                <a:noFill/>
              </a:ln>
              <a:solidFill>
                <a:srgbClr val="33B1DD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926913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14832" cy="1371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45920"/>
            <a:ext cx="13514832" cy="5686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2020, Amazon Web Services, Inc. or its Affiliates.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9519" y="7531058"/>
            <a:ext cx="709381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675" r:id="rId2"/>
    <p:sldLayoutId id="2147483696" r:id="rId3"/>
    <p:sldLayoutId id="2147483677" r:id="rId4"/>
    <p:sldLayoutId id="2147483700" r:id="rId5"/>
    <p:sldLayoutId id="2147483697" r:id="rId6"/>
    <p:sldLayoutId id="2147483698" r:id="rId7"/>
    <p:sldLayoutId id="2147483699" r:id="rId8"/>
    <p:sldLayoutId id="2147483689" r:id="rId9"/>
    <p:sldLayoutId id="2147483678" r:id="rId10"/>
    <p:sldLayoutId id="2147483707" r:id="rId11"/>
    <p:sldLayoutId id="2147483679" r:id="rId12"/>
    <p:sldLayoutId id="2147483703" r:id="rId13"/>
    <p:sldLayoutId id="2147483704" r:id="rId14"/>
    <p:sldLayoutId id="2147483705" r:id="rId15"/>
    <p:sldLayoutId id="2147483690" r:id="rId16"/>
    <p:sldLayoutId id="2147483691" r:id="rId17"/>
    <p:sldLayoutId id="2147483692" r:id="rId18"/>
    <p:sldLayoutId id="2147483702" r:id="rId19"/>
    <p:sldLayoutId id="2147483680" r:id="rId20"/>
    <p:sldLayoutId id="2147483701" r:id="rId21"/>
    <p:sldLayoutId id="2147483693" r:id="rId22"/>
    <p:sldLayoutId id="2147483687" r:id="rId23"/>
    <p:sldLayoutId id="2147483706" r:id="rId24"/>
    <p:sldLayoutId id="2147483709" r:id="rId25"/>
    <p:sldLayoutId id="2147483710" r:id="rId26"/>
  </p:sldLayoutIdLst>
  <p:txStyles>
    <p:titleStyle>
      <a:lvl1pPr algn="l" defTabSz="731520" rtl="0" eaLnBrk="1" latinLnBrk="0" hangingPunct="1">
        <a:spcBef>
          <a:spcPct val="0"/>
        </a:spcBef>
        <a:buNone/>
        <a:defRPr sz="3800" b="1" i="0" kern="1200">
          <a:solidFill>
            <a:schemeClr val="tx1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731520" rtl="0" eaLnBrk="1" latinLnBrk="0" hangingPunct="1">
        <a:spcBef>
          <a:spcPct val="20000"/>
        </a:spcBef>
        <a:buFontTx/>
        <a:buNone/>
        <a:defRPr sz="29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1pPr>
      <a:lvl2pPr marL="1188720" indent="-457200" algn="l" defTabSz="731520" rtl="0" eaLnBrk="1" latinLnBrk="0" hangingPunct="1">
        <a:spcBef>
          <a:spcPct val="20000"/>
        </a:spcBef>
        <a:buFont typeface="Arial"/>
        <a:buChar char="•"/>
        <a:defRPr sz="29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2pPr>
      <a:lvl3pPr marL="1828800" indent="-365760" algn="l" defTabSz="731520" rtl="0" eaLnBrk="1" latinLnBrk="0" hangingPunct="1">
        <a:spcBef>
          <a:spcPct val="20000"/>
        </a:spcBef>
        <a:buFont typeface="Arial"/>
        <a:buChar char="•"/>
        <a:defRPr sz="26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3pPr>
      <a:lvl4pPr marL="2560320" indent="-365760" algn="l" defTabSz="731520" rtl="0" eaLnBrk="1" latinLnBrk="0" hangingPunct="1">
        <a:spcBef>
          <a:spcPct val="20000"/>
        </a:spcBef>
        <a:buFont typeface="Arial"/>
        <a:buChar char="–"/>
        <a:defRPr sz="22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4pPr>
      <a:lvl5pPr marL="3291840" indent="-365760" algn="l" defTabSz="731520" rtl="0" eaLnBrk="1" latinLnBrk="0" hangingPunct="1">
        <a:spcBef>
          <a:spcPct val="20000"/>
        </a:spcBef>
        <a:buFont typeface="Arial"/>
        <a:buChar char="»"/>
        <a:defRPr sz="1900" b="0" i="0" kern="1200">
          <a:solidFill>
            <a:schemeClr val="tx1"/>
          </a:solidFill>
          <a:latin typeface="Amazon Ember Regular" charset="0"/>
          <a:ea typeface="+mn-ea"/>
          <a:cs typeface="Amazon Ember Regular" charset="0"/>
        </a:defRPr>
      </a:lvl5pPr>
      <a:lvl6pPr marL="402336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pos="8856" userDrawn="1">
          <p15:clr>
            <a:srgbClr val="F26B43"/>
          </p15:clr>
        </p15:guide>
        <p15:guide id="3" orient="horz" pos="10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4E1F7-E333-4846-A6DF-8FA46494B7FD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6E381-4743-46AE-8912-83F5743ED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6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8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Don Barber</a:t>
            </a:r>
          </a:p>
          <a:p>
            <a:r>
              <a:rPr lang="en-US" dirty="0"/>
              <a:t>Principal Solutions Architect</a:t>
            </a:r>
          </a:p>
          <a:p>
            <a:r>
              <a:rPr lang="en-US" dirty="0"/>
              <a:t>10/20/2020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What’s New at AWS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CEB05D-0914-CF46-9930-3938AF5124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44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702E280-D2CF-5D46-A064-FE55F672979B}"/>
              </a:ext>
            </a:extLst>
          </p:cNvPr>
          <p:cNvSpPr txBox="1"/>
          <p:nvPr/>
        </p:nvSpPr>
        <p:spPr>
          <a:xfrm>
            <a:off x="102938" y="7224100"/>
            <a:ext cx="5336556" cy="11264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1097280"/>
            <a:r>
              <a:rPr lang="en-US" sz="6720" b="1" dirty="0">
                <a:solidFill>
                  <a:prstClr val="white">
                    <a:lumMod val="85000"/>
                  </a:prstClr>
                </a:solidFill>
                <a:latin typeface="Calibri" panose="020F0502020204030204" pitchFamily="34" charset="0"/>
                <a:ea typeface="Arial Black" charset="0"/>
                <a:cs typeface="Calibri" panose="020F0502020204030204" pitchFamily="34" charset="0"/>
                <a:sym typeface="Helvetica"/>
              </a:rPr>
              <a:t>Account Team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61B181-52BE-AE48-8C0B-B0E03C513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35" y="7477492"/>
            <a:ext cx="1721321" cy="619675"/>
          </a:xfrm>
          <a:prstGeom prst="rect">
            <a:avLst/>
          </a:prstGeom>
        </p:spPr>
      </p:pic>
      <p:grpSp>
        <p:nvGrpSpPr>
          <p:cNvPr id="43" name="Group 42"/>
          <p:cNvGrpSpPr/>
          <p:nvPr/>
        </p:nvGrpSpPr>
        <p:grpSpPr>
          <a:xfrm>
            <a:off x="248088" y="959749"/>
            <a:ext cx="1798903" cy="2894162"/>
            <a:chOff x="206740" y="350211"/>
            <a:chExt cx="1499086" cy="24118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7D0791-62D6-2946-A2C2-544B0067DC54}"/>
                </a:ext>
              </a:extLst>
            </p:cNvPr>
            <p:cNvSpPr txBox="1"/>
            <p:nvPr/>
          </p:nvSpPr>
          <p:spPr>
            <a:xfrm>
              <a:off x="206741" y="660650"/>
              <a:ext cx="1303273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22919">
                <a:defRPr/>
              </a:pPr>
              <a:r>
                <a:rPr lang="en-US" sz="1080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Strategy and direction.</a:t>
              </a:r>
            </a:p>
          </p:txBody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2E9372C6-DE8D-E84F-8D34-21F18EC8EBB4}"/>
                </a:ext>
              </a:extLst>
            </p:cNvPr>
            <p:cNvSpPr/>
            <p:nvPr/>
          </p:nvSpPr>
          <p:spPr>
            <a:xfrm>
              <a:off x="206740" y="350211"/>
              <a:ext cx="1499086" cy="3285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4864" tIns="54864" rIns="54864" bIns="54864" numCol="1" spcCol="1270" anchor="ctr" anchorCtr="0">
              <a:noAutofit/>
            </a:bodyPr>
            <a:lstStyle/>
            <a:p>
              <a:pPr defTabSz="9600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Executive Sponsor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AD3C699-7647-E146-99BD-2AA995718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322" y="1025182"/>
              <a:ext cx="582799" cy="126950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7A65602-49C1-7E4B-9A34-88652642700C}"/>
                </a:ext>
              </a:extLst>
            </p:cNvPr>
            <p:cNvSpPr txBox="1"/>
            <p:nvPr/>
          </p:nvSpPr>
          <p:spPr>
            <a:xfrm>
              <a:off x="224299" y="2315737"/>
              <a:ext cx="98058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awssteve@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Chief Information  Security Officer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</p:grpSp>
      <p:sp>
        <p:nvSpPr>
          <p:cNvPr id="96" name="Shape 272">
            <a:extLst>
              <a:ext uri="{FF2B5EF4-FFF2-40B4-BE49-F238E27FC236}">
                <a16:creationId xmlns:a16="http://schemas.microsoft.com/office/drawing/2014/main" id="{74AD4591-BC09-D842-802F-A98F885EA534}"/>
              </a:ext>
            </a:extLst>
          </p:cNvPr>
          <p:cNvSpPr txBox="1">
            <a:spLocks/>
          </p:cNvSpPr>
          <p:nvPr/>
        </p:nvSpPr>
        <p:spPr>
          <a:xfrm>
            <a:off x="13156760" y="505066"/>
            <a:ext cx="208578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4572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9144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13716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18288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22860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27432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32004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365760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00" b="0" i="0" u="none" strike="noStrike" cap="none" spc="0" normalizeH="0" baseline="0">
                <a:ln>
                  <a:noFill/>
                </a:ln>
                <a:solidFill>
                  <a:srgbClr val="33B1DD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defTabSz="1097280"/>
            <a:fld id="{86CB4B4D-7CA3-9044-876B-883B54F8677D}" type="slidenum">
              <a:rPr lang="en-US" sz="1680" b="1">
                <a:solidFill>
                  <a:prstClr val="white"/>
                </a:solidFill>
                <a:latin typeface="Calibri" panose="020F0502020204030204"/>
              </a:rPr>
              <a:pPr defTabSz="1097280"/>
              <a:t>2</a:t>
            </a:fld>
            <a:endParaRPr lang="en-US" sz="168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Shape 272">
            <a:extLst>
              <a:ext uri="{FF2B5EF4-FFF2-40B4-BE49-F238E27FC236}">
                <a16:creationId xmlns:a16="http://schemas.microsoft.com/office/drawing/2014/main" id="{BC3F5968-B495-4B40-88E8-DB0E89B9D60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3971283" y="354330"/>
            <a:ext cx="208578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1097280"/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  <a:latin typeface="Calibri" panose="020F0502020204030204"/>
                <a:sym typeface="Helvetica"/>
              </a:rPr>
              <a:pPr defTabSz="1097280"/>
              <a:t>2</a:t>
            </a:fld>
            <a:endParaRPr dirty="0">
              <a:solidFill>
                <a:prstClr val="black">
                  <a:tint val="75000"/>
                </a:prstClr>
              </a:solidFill>
              <a:latin typeface="Calibri" panose="020F0502020204030204"/>
              <a:sym typeface="Helvetic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83730" y="7542770"/>
            <a:ext cx="2430415" cy="27699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097280"/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"/>
              </a:rPr>
              <a:t>Email addresses @amazon.com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30229C60-74A5-F840-A0CF-9C34A276B8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8825" y="42747"/>
            <a:ext cx="1794104" cy="941905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6066576" y="4142121"/>
            <a:ext cx="6380940" cy="3031119"/>
            <a:chOff x="4464930" y="3451768"/>
            <a:chExt cx="5317450" cy="252593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35734" y="4157291"/>
              <a:ext cx="575226" cy="1238956"/>
            </a:xfrm>
            <a:prstGeom prst="rect">
              <a:avLst/>
            </a:prstGeom>
          </p:spPr>
        </p:pic>
        <p:grpSp>
          <p:nvGrpSpPr>
            <p:cNvPr id="24" name="Group 23"/>
            <p:cNvGrpSpPr/>
            <p:nvPr/>
          </p:nvGrpSpPr>
          <p:grpSpPr>
            <a:xfrm>
              <a:off x="4464930" y="3451768"/>
              <a:ext cx="5317450" cy="2525933"/>
              <a:chOff x="4464930" y="3451768"/>
              <a:chExt cx="5317450" cy="2525933"/>
            </a:xfrm>
          </p:grpSpPr>
          <p:sp>
            <p:nvSpPr>
              <p:cNvPr id="12" name="Rounded Rectangle 4">
                <a:extLst>
                  <a:ext uri="{FF2B5EF4-FFF2-40B4-BE49-F238E27FC236}">
                    <a16:creationId xmlns:a16="http://schemas.microsoft.com/office/drawing/2014/main" id="{CB062CEA-8278-D444-B15E-03541C4B458D}"/>
                  </a:ext>
                </a:extLst>
              </p:cNvPr>
              <p:cNvSpPr/>
              <p:nvPr/>
            </p:nvSpPr>
            <p:spPr>
              <a:xfrm>
                <a:off x="4464930" y="3451768"/>
                <a:ext cx="2147198" cy="25305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4864" tIns="54864" rIns="54864" bIns="54864" numCol="1" spcCol="1270" anchor="ctr" anchorCtr="0">
                <a:noAutofit/>
              </a:bodyPr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600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1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Technical Account Manager (TAM)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3B9369-7720-2A4F-BC02-6A4AF17DADB5}"/>
                  </a:ext>
                </a:extLst>
              </p:cNvPr>
              <p:cNvSpPr txBox="1"/>
              <p:nvPr/>
            </p:nvSpPr>
            <p:spPr>
              <a:xfrm>
                <a:off x="4464930" y="3759254"/>
                <a:ext cx="5123451" cy="215443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defTabSz="822919"/>
                <a:r>
                  <a:rPr lang="en-US" sz="1080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Technical support &amp; escalations, and customer advocate.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BE87BD7-D646-974B-9A2D-E8769A78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4931" y="4141342"/>
                <a:ext cx="596080" cy="1254905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E62447A7-919E-2B45-95C4-AFE620959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47694" y="4141342"/>
                <a:ext cx="571624" cy="1254905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2279B60B-0069-CB47-A409-E7F3D1A3D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17179" y="4141342"/>
                <a:ext cx="578500" cy="1254905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6FE9E163-E45E-E040-8938-145780CFB8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79630" y="4148112"/>
                <a:ext cx="581876" cy="1248135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CE21B7B9-4994-1B47-B93F-468F60173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56583" y="4157291"/>
                <a:ext cx="585930" cy="1238956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DA9CC63C-3604-284F-AD97-6E8C39633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98763" y="4152930"/>
                <a:ext cx="572464" cy="1243317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6038A9-90E7-A043-93BD-E51720A56CF0}"/>
                  </a:ext>
                </a:extLst>
              </p:cNvPr>
              <p:cNvSpPr txBox="1"/>
              <p:nvPr/>
            </p:nvSpPr>
            <p:spPr>
              <a:xfrm>
                <a:off x="4481252" y="5393129"/>
                <a:ext cx="65396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robbu@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Manager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407B360-5F3C-314D-A1E9-9DF7F3A6D9E2}"/>
                  </a:ext>
                </a:extLst>
              </p:cNvPr>
              <p:cNvSpPr txBox="1"/>
              <p:nvPr/>
            </p:nvSpPr>
            <p:spPr>
              <a:xfrm>
                <a:off x="5069540" y="5393129"/>
                <a:ext cx="668924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muratore@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Cyber, PowerUP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E6F346-0F28-174A-808A-9612DAC07F2C}"/>
                  </a:ext>
                </a:extLst>
              </p:cNvPr>
              <p:cNvSpPr txBox="1"/>
              <p:nvPr/>
            </p:nvSpPr>
            <p:spPr>
              <a:xfrm>
                <a:off x="5642106" y="5393129"/>
                <a:ext cx="69720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pietes@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EP2T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B48E4EA-871B-834F-AE7E-756EF7EC108C}"/>
                  </a:ext>
                </a:extLst>
              </p:cNvPr>
              <p:cNvSpPr txBox="1"/>
              <p:nvPr/>
            </p:nvSpPr>
            <p:spPr>
              <a:xfrm>
                <a:off x="6222951" y="5393129"/>
                <a:ext cx="700594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pankagni@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FS, Retail, Commercial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104B6D9-5852-4445-8353-531BE0F15089}"/>
                  </a:ext>
                </a:extLst>
              </p:cNvPr>
              <p:cNvSpPr txBox="1"/>
              <p:nvPr/>
            </p:nvSpPr>
            <p:spPr>
              <a:xfrm>
                <a:off x="7387560" y="5393129"/>
                <a:ext cx="73121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ea typeface="Helvetica Neue"/>
                    <a:cs typeface="Helvetica Neue"/>
                    <a:sym typeface="Helvetica Neue"/>
                  </a:rPr>
                  <a:t>porchri@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ea typeface="Helvetica Neue"/>
                    <a:cs typeface="Helvetica Neue"/>
                    <a:sym typeface="Helvetica Neue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TOC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67ABDC6-C838-EC46-8A3F-B9CC1F685135}"/>
                  </a:ext>
                </a:extLst>
              </p:cNvPr>
              <p:cNvSpPr txBox="1"/>
              <p:nvPr/>
            </p:nvSpPr>
            <p:spPr>
              <a:xfrm>
                <a:off x="7956533" y="5408314"/>
                <a:ext cx="731210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chappy@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Contact Centers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6D14C51-AB07-2942-85F7-D5BDF76D2AF4}"/>
                  </a:ext>
                </a:extLst>
              </p:cNvPr>
              <p:cNvSpPr txBox="1"/>
              <p:nvPr/>
            </p:nvSpPr>
            <p:spPr>
              <a:xfrm>
                <a:off x="6813286" y="5401592"/>
                <a:ext cx="73121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fenchell@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TOC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67ABDC6-C838-EC46-8A3F-B9CC1F685135}"/>
                  </a:ext>
                </a:extLst>
              </p:cNvPr>
              <p:cNvSpPr txBox="1"/>
              <p:nvPr/>
            </p:nvSpPr>
            <p:spPr>
              <a:xfrm>
                <a:off x="9124454" y="5417541"/>
                <a:ext cx="65792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billcan@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UK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56659" y="4148112"/>
                <a:ext cx="581563" cy="1248135"/>
              </a:xfrm>
              <a:prstGeom prst="rect">
                <a:avLst/>
              </a:prstGeom>
            </p:spPr>
          </p:pic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67ABDC6-C838-EC46-8A3F-B9CC1F685135}"/>
                  </a:ext>
                </a:extLst>
              </p:cNvPr>
              <p:cNvSpPr txBox="1"/>
              <p:nvPr/>
            </p:nvSpPr>
            <p:spPr>
              <a:xfrm>
                <a:off x="8544685" y="5417295"/>
                <a:ext cx="701614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dmernst@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TAM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Card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10598" y="4169231"/>
                <a:ext cx="563697" cy="1219874"/>
              </a:xfrm>
              <a:prstGeom prst="rect">
                <a:avLst/>
              </a:prstGeom>
            </p:spPr>
          </p:pic>
        </p:grpSp>
      </p:grpSp>
      <p:grpSp>
        <p:nvGrpSpPr>
          <p:cNvPr id="41" name="Group 40"/>
          <p:cNvGrpSpPr/>
          <p:nvPr/>
        </p:nvGrpSpPr>
        <p:grpSpPr>
          <a:xfrm>
            <a:off x="8961770" y="901005"/>
            <a:ext cx="2441460" cy="2981982"/>
            <a:chOff x="10296624" y="3363796"/>
            <a:chExt cx="2034550" cy="2484985"/>
          </a:xfrm>
        </p:grpSpPr>
        <p:sp>
          <p:nvSpPr>
            <p:cNvPr id="9" name="Rounded Rectangle 4">
              <a:extLst>
                <a:ext uri="{FF2B5EF4-FFF2-40B4-BE49-F238E27FC236}">
                  <a16:creationId xmlns:a16="http://schemas.microsoft.com/office/drawing/2014/main" id="{1E8244EE-BB2E-3C44-8B26-3CF507960FD6}"/>
                </a:ext>
              </a:extLst>
            </p:cNvPr>
            <p:cNvSpPr/>
            <p:nvPr/>
          </p:nvSpPr>
          <p:spPr>
            <a:xfrm>
              <a:off x="10320043" y="3363796"/>
              <a:ext cx="2011131" cy="2256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4864" tIns="54864" rIns="54864" bIns="54864" numCol="1" spcCol="1270" anchor="ctr" anchorCtr="0">
              <a:noAutofit/>
            </a:bodyPr>
            <a:lstStyle/>
            <a:p>
              <a:pPr defTabSz="9600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Professional Services (ProServ)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B48B5E-6F24-EA44-8856-2FBF87B00B29}"/>
                </a:ext>
              </a:extLst>
            </p:cNvPr>
            <p:cNvSpPr txBox="1"/>
            <p:nvPr/>
          </p:nvSpPr>
          <p:spPr>
            <a:xfrm>
              <a:off x="10296624" y="3605289"/>
              <a:ext cx="1973993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22919">
                <a:defRPr/>
              </a:pPr>
              <a:r>
                <a:rPr lang="en-US" sz="1080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Partners with SA and customers to design and deploy solutions.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7B1FA5D-00BD-CC4D-89B2-D342FF2DF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296624" y="4110361"/>
              <a:ext cx="598207" cy="128775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8F144D1-582F-084F-8051-26346873C82F}"/>
                </a:ext>
              </a:extLst>
            </p:cNvPr>
            <p:cNvSpPr txBox="1"/>
            <p:nvPr/>
          </p:nvSpPr>
          <p:spPr>
            <a:xfrm>
              <a:off x="10320044" y="5416384"/>
              <a:ext cx="73121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mitckemp@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Manager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C67775BF-A4B6-8843-B2B8-523A8C6FC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891071" y="4110361"/>
              <a:ext cx="607080" cy="1287756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8F360FC-FB08-B043-9254-89911D631D69}"/>
                </a:ext>
              </a:extLst>
            </p:cNvPr>
            <p:cNvSpPr txBox="1"/>
            <p:nvPr/>
          </p:nvSpPr>
          <p:spPr>
            <a:xfrm>
              <a:off x="10913075" y="5401659"/>
              <a:ext cx="73121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panten@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Services Manager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489530" y="4129406"/>
              <a:ext cx="598120" cy="1279058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8F144D1-582F-084F-8051-26346873C82F}"/>
                </a:ext>
              </a:extLst>
            </p:cNvPr>
            <p:cNvSpPr txBox="1"/>
            <p:nvPr/>
          </p:nvSpPr>
          <p:spPr>
            <a:xfrm>
              <a:off x="11513281" y="5402505"/>
              <a:ext cx="73121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ssemple@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Sr. Program Manager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271768" y="850004"/>
            <a:ext cx="2813634" cy="2898694"/>
            <a:chOff x="8077923" y="3322080"/>
            <a:chExt cx="2344695" cy="2415579"/>
          </a:xfrm>
        </p:grpSpPr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62D2D091-CB07-834D-A32F-6E23273BBB0E}"/>
                </a:ext>
              </a:extLst>
            </p:cNvPr>
            <p:cNvSpPr/>
            <p:nvPr/>
          </p:nvSpPr>
          <p:spPr>
            <a:xfrm>
              <a:off x="8077923" y="3322080"/>
              <a:ext cx="2344695" cy="3049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4864" tIns="54864" rIns="54864" bIns="54864" numCol="1" spcCol="1270" anchor="ctr" anchorCtr="0">
              <a:noAutofit/>
            </a:bodyPr>
            <a:lstStyle/>
            <a:p>
              <a:pPr defTabSz="9600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Customer Solutions Manager (CSM)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C76E36-BD09-F74F-9CD0-92FD52B10674}"/>
                </a:ext>
              </a:extLst>
            </p:cNvPr>
            <p:cNvSpPr txBox="1"/>
            <p:nvPr/>
          </p:nvSpPr>
          <p:spPr>
            <a:xfrm>
              <a:off x="8077923" y="3605289"/>
              <a:ext cx="19741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22919"/>
              <a:r>
                <a:rPr lang="en-US" sz="1080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Drives service adoption, program execution, customer education, PFRs, and Reference/Analyst.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08D521-9046-E747-8398-F7BD08719952}"/>
                </a:ext>
              </a:extLst>
            </p:cNvPr>
            <p:cNvSpPr txBox="1"/>
            <p:nvPr/>
          </p:nvSpPr>
          <p:spPr>
            <a:xfrm>
              <a:off x="8180003" y="5410035"/>
              <a:ext cx="73121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rreffner@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Sr. Manager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7AF4D9-F65C-1B49-85A3-D74FA2645022}"/>
                </a:ext>
              </a:extLst>
            </p:cNvPr>
            <p:cNvSpPr txBox="1"/>
            <p:nvPr/>
          </p:nvSpPr>
          <p:spPr>
            <a:xfrm>
              <a:off x="9368061" y="5410034"/>
              <a:ext cx="73121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dueling@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CSM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56913" y="4122052"/>
              <a:ext cx="603094" cy="1294332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908D521-9046-E747-8398-F7BD08719952}"/>
                </a:ext>
              </a:extLst>
            </p:cNvPr>
            <p:cNvSpPr txBox="1"/>
            <p:nvPr/>
          </p:nvSpPr>
          <p:spPr>
            <a:xfrm>
              <a:off x="8762606" y="5414494"/>
              <a:ext cx="73121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sunwaa@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Lead CSM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163769" y="4122052"/>
              <a:ext cx="590181" cy="1286411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363076" y="4133220"/>
              <a:ext cx="580350" cy="1275243"/>
            </a:xfrm>
            <a:prstGeom prst="rect">
              <a:avLst/>
            </a:prstGeom>
          </p:spPr>
        </p:pic>
      </p:grpSp>
      <p:grpSp>
        <p:nvGrpSpPr>
          <p:cNvPr id="69" name="Group 68"/>
          <p:cNvGrpSpPr/>
          <p:nvPr/>
        </p:nvGrpSpPr>
        <p:grpSpPr>
          <a:xfrm>
            <a:off x="2122668" y="959750"/>
            <a:ext cx="3996516" cy="3303706"/>
            <a:chOff x="1418370" y="799791"/>
            <a:chExt cx="3330430" cy="2753088"/>
          </a:xfrm>
        </p:grpSpPr>
        <p:pic>
          <p:nvPicPr>
            <p:cNvPr id="135" name="Picture 134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083894" y="1474763"/>
              <a:ext cx="593655" cy="1269508"/>
            </a:xfrm>
            <a:prstGeom prst="rect">
              <a:avLst/>
            </a:prstGeom>
          </p:spPr>
        </p:pic>
        <p:grpSp>
          <p:nvGrpSpPr>
            <p:cNvPr id="67" name="Group 66"/>
            <p:cNvGrpSpPr/>
            <p:nvPr/>
          </p:nvGrpSpPr>
          <p:grpSpPr>
            <a:xfrm>
              <a:off x="1418370" y="799791"/>
              <a:ext cx="3330430" cy="2753088"/>
              <a:chOff x="1418370" y="799791"/>
              <a:chExt cx="3330430" cy="2753088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0F92D9-3CEB-494C-A99F-2AB8F523E70E}"/>
                  </a:ext>
                </a:extLst>
              </p:cNvPr>
              <p:cNvSpPr txBox="1"/>
              <p:nvPr/>
            </p:nvSpPr>
            <p:spPr>
              <a:xfrm>
                <a:off x="1418372" y="1107797"/>
                <a:ext cx="2988506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822919">
                  <a:defRPr/>
                </a:pPr>
                <a:r>
                  <a:rPr lang="en-US" sz="1080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Steward of the relationship &amp; partnership between Capital One and Amazon.</a:t>
                </a:r>
              </a:p>
            </p:txBody>
          </p:sp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7F2A2E91-0A83-7347-9F70-FF0822B99C44}"/>
                  </a:ext>
                </a:extLst>
              </p:cNvPr>
              <p:cNvSpPr/>
              <p:nvPr/>
            </p:nvSpPr>
            <p:spPr>
              <a:xfrm>
                <a:off x="1418370" y="799791"/>
                <a:ext cx="1776878" cy="32854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4864" tIns="54864" rIns="54864" bIns="54864" numCol="1" spcCol="1270" anchor="ctr" anchorCtr="0">
                <a:noAutofit/>
              </a:bodyPr>
              <a:lstStyle/>
              <a:p>
                <a:pPr defTabSz="9600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1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Account Manager (AM)</a:t>
                </a:r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66C65E8-DDC4-824C-A1BB-624AC2745B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00232" y="1464770"/>
                <a:ext cx="587386" cy="1279500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7DB32F22-5BB8-9043-917A-2D7A28F90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58906" y="1483821"/>
                <a:ext cx="594213" cy="126045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E7896B-B261-5F47-85F2-28045D979D11}"/>
                  </a:ext>
                </a:extLst>
              </p:cNvPr>
              <p:cNvSpPr txBox="1"/>
              <p:nvPr/>
            </p:nvSpPr>
            <p:spPr>
              <a:xfrm>
                <a:off x="1495367" y="2737272"/>
                <a:ext cx="695684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bentzen@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Client Director  Sr. Manager 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3EDD8E-8552-2F4A-B751-27917B96994E}"/>
                  </a:ext>
                </a:extLst>
              </p:cNvPr>
              <p:cNvSpPr txBox="1"/>
              <p:nvPr/>
            </p:nvSpPr>
            <p:spPr>
              <a:xfrm>
                <a:off x="2091640" y="2737272"/>
                <a:ext cx="629409" cy="815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jasonkid@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Account Manager PowerUP, Cyber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  <a:p>
                <a:pPr defTabSz="1097280"/>
                <a:endPara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EBAA5CC-760A-474C-8764-3A5A169C57B8}"/>
                  </a:ext>
                </a:extLst>
              </p:cNvPr>
              <p:cNvSpPr txBox="1"/>
              <p:nvPr/>
            </p:nvSpPr>
            <p:spPr>
              <a:xfrm>
                <a:off x="3268472" y="2743622"/>
                <a:ext cx="765886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karsco@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Account Manager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Commercial 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89105" y="1483147"/>
                <a:ext cx="583222" cy="1261123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93EDD8E-8552-2F4A-B751-27917B96994E}"/>
                  </a:ext>
                </a:extLst>
              </p:cNvPr>
              <p:cNvSpPr txBox="1"/>
              <p:nvPr/>
            </p:nvSpPr>
            <p:spPr>
              <a:xfrm>
                <a:off x="2694555" y="2749972"/>
                <a:ext cx="676994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sidnaz@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Account Manager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Card</a:t>
                </a:r>
              </a:p>
            </p:txBody>
          </p:sp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51357" y="1492617"/>
                <a:ext cx="581693" cy="1253453"/>
              </a:xfrm>
              <a:prstGeom prst="rect">
                <a:avLst/>
              </a:prstGeom>
            </p:spPr>
          </p:pic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EBAA5CC-760A-474C-8764-3A5A169C57B8}"/>
                  </a:ext>
                </a:extLst>
              </p:cNvPr>
              <p:cNvSpPr txBox="1"/>
              <p:nvPr/>
            </p:nvSpPr>
            <p:spPr>
              <a:xfrm>
                <a:off x="3850217" y="2749972"/>
                <a:ext cx="898583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mbrouwnkf@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Account Manager UK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</p:grpSp>
      </p:grpSp>
      <p:grpSp>
        <p:nvGrpSpPr>
          <p:cNvPr id="51" name="Group 50"/>
          <p:cNvGrpSpPr/>
          <p:nvPr/>
        </p:nvGrpSpPr>
        <p:grpSpPr>
          <a:xfrm>
            <a:off x="11522396" y="852749"/>
            <a:ext cx="3159246" cy="3122862"/>
            <a:chOff x="9791408" y="3363796"/>
            <a:chExt cx="2632705" cy="2602385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D23C444-C99C-564C-BEC9-DD2115F2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9791760" y="4145195"/>
              <a:ext cx="579895" cy="1253463"/>
            </a:xfrm>
            <a:prstGeom prst="rect">
              <a:avLst/>
            </a:prstGeom>
          </p:spPr>
        </p:pic>
        <p:grpSp>
          <p:nvGrpSpPr>
            <p:cNvPr id="50" name="Group 49"/>
            <p:cNvGrpSpPr/>
            <p:nvPr/>
          </p:nvGrpSpPr>
          <p:grpSpPr>
            <a:xfrm>
              <a:off x="9791408" y="3363796"/>
              <a:ext cx="2632705" cy="2602385"/>
              <a:chOff x="9791408" y="3363796"/>
              <a:chExt cx="2632705" cy="2602385"/>
            </a:xfrm>
          </p:grpSpPr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FB137ED5-C818-6544-8C55-DCB66E4A5E64}"/>
                  </a:ext>
                </a:extLst>
              </p:cNvPr>
              <p:cNvSpPr/>
              <p:nvPr/>
            </p:nvSpPr>
            <p:spPr>
              <a:xfrm>
                <a:off x="9791408" y="3363796"/>
                <a:ext cx="2530109" cy="24149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4864" tIns="54864" rIns="54864" bIns="54864" numCol="1" spcCol="1270" anchor="ctr" anchorCtr="0">
                <a:noAutofit/>
              </a:bodyPr>
              <a:lstStyle/>
              <a:p>
                <a:pPr defTabSz="9600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1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Billing Support &amp; Concierge (CS)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B9FBD5-2BB4-0840-800A-17E8D7A3D1F2}"/>
                  </a:ext>
                </a:extLst>
              </p:cNvPr>
              <p:cNvSpPr txBox="1"/>
              <p:nvPr/>
            </p:nvSpPr>
            <p:spPr>
              <a:xfrm>
                <a:off x="9804662" y="3613401"/>
                <a:ext cx="2619451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822919"/>
                <a:r>
                  <a:rPr lang="en-US" sz="1080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Provides support, analysis, and execution for purchasing &amp; billing.</a:t>
                </a:r>
              </a:p>
            </p:txBody>
          </p: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0A6B1CC1-CE3D-9840-8EA2-104F5A25A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519480" y="4153497"/>
                <a:ext cx="575469" cy="1244620"/>
              </a:xfrm>
              <a:prstGeom prst="rect">
                <a:avLst/>
              </a:prstGeom>
            </p:spPr>
          </p:pic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C1A8762-A162-564C-AB96-5D6DDCA0EA6C}"/>
                  </a:ext>
                </a:extLst>
              </p:cNvPr>
              <p:cNvSpPr txBox="1"/>
              <p:nvPr/>
            </p:nvSpPr>
            <p:spPr>
              <a:xfrm>
                <a:off x="9804390" y="5393618"/>
                <a:ext cx="73121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maybry@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Reserved Instances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F89599C-FB94-7748-AAFB-EF5CA615422B}"/>
                  </a:ext>
                </a:extLst>
              </p:cNvPr>
              <p:cNvSpPr txBox="1"/>
              <p:nvPr/>
            </p:nvSpPr>
            <p:spPr>
              <a:xfrm>
                <a:off x="10375288" y="5396796"/>
                <a:ext cx="73121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ea typeface="Helvetica Neue"/>
                    <a:cs typeface="Helvetica Neue"/>
                    <a:sym typeface="Helvetica Neue"/>
                  </a:rPr>
                  <a:t>iiiati@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ea typeface="Helvetica Neue"/>
                    <a:cs typeface="Helvetica Neue"/>
                    <a:sym typeface="Helvetica Neue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Concierge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23ABB6C-0B7C-EF45-9813-02C74AA1516A}"/>
                  </a:ext>
                </a:extLst>
              </p:cNvPr>
              <p:cNvSpPr txBox="1"/>
              <p:nvPr/>
            </p:nvSpPr>
            <p:spPr>
              <a:xfrm>
                <a:off x="10946562" y="5396794"/>
                <a:ext cx="696173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thalem@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Custom Billing Analyst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935633" y="4145385"/>
                <a:ext cx="583963" cy="1253273"/>
              </a:xfrm>
              <a:prstGeom prst="rect">
                <a:avLst/>
              </a:prstGeom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23ABB6C-0B7C-EF45-9813-02C74AA1516A}"/>
                  </a:ext>
                </a:extLst>
              </p:cNvPr>
              <p:cNvSpPr txBox="1"/>
              <p:nvPr/>
            </p:nvSpPr>
            <p:spPr>
              <a:xfrm>
                <a:off x="11530896" y="5394717"/>
                <a:ext cx="73121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weaky@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Demand Generation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48" name="Picture 47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369306" y="4157290"/>
                <a:ext cx="565806" cy="1235839"/>
              </a:xfrm>
              <a:prstGeom prst="rect">
                <a:avLst/>
              </a:prstGeom>
            </p:spPr>
          </p:pic>
        </p:grpSp>
      </p:grpSp>
      <p:grpSp>
        <p:nvGrpSpPr>
          <p:cNvPr id="61" name="Group 60"/>
          <p:cNvGrpSpPr/>
          <p:nvPr/>
        </p:nvGrpSpPr>
        <p:grpSpPr>
          <a:xfrm>
            <a:off x="317292" y="4036554"/>
            <a:ext cx="5154008" cy="3421132"/>
            <a:chOff x="197734" y="3363795"/>
            <a:chExt cx="4295007" cy="2850943"/>
          </a:xfrm>
        </p:grpSpPr>
        <p:pic>
          <p:nvPicPr>
            <p:cNvPr id="98" name="Picture 97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75191" y="4143737"/>
              <a:ext cx="577771" cy="1264726"/>
            </a:xfrm>
            <a:prstGeom prst="rect">
              <a:avLst/>
            </a:prstGeom>
          </p:spPr>
        </p:pic>
        <p:grpSp>
          <p:nvGrpSpPr>
            <p:cNvPr id="59" name="Group 58"/>
            <p:cNvGrpSpPr/>
            <p:nvPr/>
          </p:nvGrpSpPr>
          <p:grpSpPr>
            <a:xfrm>
              <a:off x="197734" y="3363795"/>
              <a:ext cx="4295007" cy="2850943"/>
              <a:chOff x="197734" y="3363795"/>
              <a:chExt cx="4295007" cy="2850943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62940BB3-10D4-9C43-A4F5-FF988ADE55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07613" y="4145932"/>
                <a:ext cx="581310" cy="1262531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E33D09-CDC0-1244-B162-517BA75DEF29}"/>
                  </a:ext>
                </a:extLst>
              </p:cNvPr>
              <p:cNvSpPr txBox="1"/>
              <p:nvPr/>
            </p:nvSpPr>
            <p:spPr>
              <a:xfrm>
                <a:off x="235636" y="3605289"/>
                <a:ext cx="3285335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17190">
                  <a:defRPr/>
                </a:pPr>
                <a:r>
                  <a:rPr lang="en-US" sz="1080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Provide customers with technical direction, architectural guidance, and well-architected solutions.</a:t>
                </a:r>
              </a:p>
            </p:txBody>
          </p:sp>
          <p:sp>
            <p:nvSpPr>
              <p:cNvPr id="8" name="Rounded Rectangle 4">
                <a:extLst>
                  <a:ext uri="{FF2B5EF4-FFF2-40B4-BE49-F238E27FC236}">
                    <a16:creationId xmlns:a16="http://schemas.microsoft.com/office/drawing/2014/main" id="{158368F0-D940-0040-ADB8-BCEF8DC4984B}"/>
                  </a:ext>
                </a:extLst>
              </p:cNvPr>
              <p:cNvSpPr/>
              <p:nvPr/>
            </p:nvSpPr>
            <p:spPr>
              <a:xfrm>
                <a:off x="238230" y="3363795"/>
                <a:ext cx="2472167" cy="22155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4864" tIns="54864" rIns="54864" bIns="54864" numCol="1" spcCol="1270" anchor="ctr" anchorCtr="0">
                <a:noAutofit/>
              </a:bodyPr>
              <a:lstStyle/>
              <a:p>
                <a:pPr defTabSz="9600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1" dirty="0">
                    <a:solidFill>
                      <a:prstClr val="white">
                        <a:lumMod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Helvetica"/>
                  </a:rPr>
                  <a:t>Solutions Architect (SA)</a:t>
                </a:r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94898629-D9C9-4D4D-898F-E6C847BF8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433965" y="4137982"/>
                <a:ext cx="590189" cy="1270481"/>
              </a:xfrm>
              <a:prstGeom prst="rect">
                <a:avLst/>
              </a:prstGeom>
            </p:spPr>
          </p:pic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6F63563D-B7E5-2443-8171-1E9A241B7D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2069" y="4137982"/>
                <a:ext cx="582873" cy="1270481"/>
              </a:xfrm>
              <a:prstGeom prst="rect">
                <a:avLst/>
              </a:prstGeom>
            </p:spPr>
          </p:pic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D65F559-51D0-CE42-AFBD-6C42A824760A}"/>
                  </a:ext>
                </a:extLst>
              </p:cNvPr>
              <p:cNvSpPr txBox="1"/>
              <p:nvPr/>
            </p:nvSpPr>
            <p:spPr>
              <a:xfrm>
                <a:off x="197734" y="5399132"/>
                <a:ext cx="73121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eribecky@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Manager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E8903BC-8C4F-3646-A61C-97FCF100754A}"/>
                  </a:ext>
                </a:extLst>
              </p:cNvPr>
              <p:cNvSpPr txBox="1"/>
              <p:nvPr/>
            </p:nvSpPr>
            <p:spPr>
              <a:xfrm>
                <a:off x="1451625" y="5399131"/>
                <a:ext cx="653541" cy="815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donbarb@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Principal Solutions Architect</a:t>
                </a:r>
              </a:p>
              <a:p>
                <a:pPr defTabSz="1097280"/>
                <a:r>
                  <a:rPr lang="en-US" sz="960" dirty="0" err="1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PowerUP</a:t>
                </a: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, EP2T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8B282AB-099D-EF41-9940-6C22F030E233}"/>
                  </a:ext>
                </a:extLst>
              </p:cNvPr>
              <p:cNvSpPr txBox="1"/>
              <p:nvPr/>
            </p:nvSpPr>
            <p:spPr>
              <a:xfrm>
                <a:off x="859019" y="5399131"/>
                <a:ext cx="73121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mhaken@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Principal Technologist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9CCC3A3-6708-AF45-BCEB-B05DC05CB9A5}"/>
                  </a:ext>
                </a:extLst>
              </p:cNvPr>
              <p:cNvSpPr txBox="1"/>
              <p:nvPr/>
            </p:nvSpPr>
            <p:spPr>
              <a:xfrm>
                <a:off x="2026710" y="5399131"/>
                <a:ext cx="731210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stanaws@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Solutions Architect</a:t>
                </a:r>
              </a:p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FS, Retail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C3653F-C084-4C42-9FEF-B35FDA7E35A9}"/>
                  </a:ext>
                </a:extLst>
              </p:cNvPr>
              <p:cNvSpPr txBox="1"/>
              <p:nvPr/>
            </p:nvSpPr>
            <p:spPr>
              <a:xfrm>
                <a:off x="3761531" y="5399131"/>
                <a:ext cx="731210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</a:rPr>
                  <a:t>amirnyc</a:t>
                </a: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Solutions Architect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111" name="Picture 110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588488" y="4144472"/>
                <a:ext cx="588957" cy="1263991"/>
              </a:xfrm>
              <a:prstGeom prst="rect">
                <a:avLst/>
              </a:prstGeom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9CCC3A3-6708-AF45-BCEB-B05DC05CB9A5}"/>
                  </a:ext>
                </a:extLst>
              </p:cNvPr>
              <p:cNvSpPr txBox="1"/>
              <p:nvPr/>
            </p:nvSpPr>
            <p:spPr>
              <a:xfrm>
                <a:off x="2605893" y="5399131"/>
                <a:ext cx="731210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castelha@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Solutions Architect</a:t>
                </a:r>
              </a:p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Card, Cyber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71792" y="4150324"/>
                <a:ext cx="576265" cy="1257990"/>
              </a:xfrm>
              <a:prstGeom prst="rect">
                <a:avLst/>
              </a:prstGeom>
            </p:spPr>
          </p:pic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9CCC3A3-6708-AF45-BCEB-B05DC05CB9A5}"/>
                  </a:ext>
                </a:extLst>
              </p:cNvPr>
              <p:cNvSpPr txBox="1"/>
              <p:nvPr/>
            </p:nvSpPr>
            <p:spPr>
              <a:xfrm>
                <a:off x="3177404" y="5403884"/>
                <a:ext cx="731210" cy="56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baananth@</a:t>
                </a:r>
                <a:b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</a:br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Sr. Solutions Architect</a:t>
                </a:r>
              </a:p>
              <a:p>
                <a:pPr defTabSz="1097280"/>
                <a:r>
                  <a:rPr lang="en-US" sz="960" dirty="0">
                    <a:solidFill>
                      <a:prstClr val="black"/>
                    </a:solidFill>
                    <a:latin typeface="Calibri" panose="020F0502020204030204"/>
                    <a:sym typeface="Helvetica"/>
                  </a:rPr>
                  <a:t>UK</a:t>
                </a:r>
                <a:endParaRPr lang="en-US" sz="1440" dirty="0">
                  <a:solidFill>
                    <a:prstClr val="black"/>
                  </a:solidFill>
                  <a:latin typeface="Calibri" panose="020F0502020204030204"/>
                  <a:sym typeface="Helvetica"/>
                </a:endParaRPr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12895765" y="4142122"/>
            <a:ext cx="1853483" cy="2894459"/>
            <a:chOff x="10251170" y="3451768"/>
            <a:chExt cx="1544569" cy="2412049"/>
          </a:xfrm>
        </p:grpSpPr>
        <p:sp>
          <p:nvSpPr>
            <p:cNvPr id="104" name="Rounded Rectangle 4">
              <a:extLst>
                <a:ext uri="{FF2B5EF4-FFF2-40B4-BE49-F238E27FC236}">
                  <a16:creationId xmlns:a16="http://schemas.microsoft.com/office/drawing/2014/main" id="{FB137ED5-C818-6544-8C55-DCB66E4A5E64}"/>
                </a:ext>
              </a:extLst>
            </p:cNvPr>
            <p:cNvSpPr/>
            <p:nvPr/>
          </p:nvSpPr>
          <p:spPr>
            <a:xfrm>
              <a:off x="10306066" y="3451768"/>
              <a:ext cx="1166539" cy="2414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4864" tIns="54864" rIns="54864" bIns="54864" numCol="1" spcCol="1270" anchor="ctr" anchorCtr="0">
              <a:noAutofit/>
            </a:bodyPr>
            <a:lstStyle/>
            <a:p>
              <a:pPr defTabSz="9600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Partner Success Manager (PSM)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7B9FBD5-2BB4-0840-800A-17E8D7A3D1F2}"/>
                </a:ext>
              </a:extLst>
            </p:cNvPr>
            <p:cNvSpPr txBox="1"/>
            <p:nvPr/>
          </p:nvSpPr>
          <p:spPr>
            <a:xfrm>
              <a:off x="10251170" y="3759254"/>
              <a:ext cx="1544569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22919"/>
              <a:r>
                <a:rPr lang="en-US" sz="1080" dirty="0">
                  <a:solidFill>
                    <a:prstClr val="white">
                      <a:lumMod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"/>
                </a:rPr>
                <a:t>Managing consulting and technical partners.</a:t>
              </a: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0331060" y="4153451"/>
              <a:ext cx="570019" cy="1235654"/>
            </a:xfrm>
            <a:prstGeom prst="rect">
              <a:avLst/>
            </a:prstGeom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8F144D1-582F-084F-8051-26346873C82F}"/>
                </a:ext>
              </a:extLst>
            </p:cNvPr>
            <p:cNvSpPr txBox="1"/>
            <p:nvPr/>
          </p:nvSpPr>
          <p:spPr>
            <a:xfrm>
              <a:off x="10355544" y="5417541"/>
              <a:ext cx="73121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/>
              <a:r>
                <a:rPr lang="en-US" sz="96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rhoweave@</a:t>
              </a:r>
              <a:b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</a:br>
              <a:r>
                <a:rPr lang="en-US" sz="960" dirty="0">
                  <a:solidFill>
                    <a:prstClr val="black"/>
                  </a:solidFill>
                  <a:latin typeface="Calibri" panose="020F0502020204030204"/>
                  <a:sym typeface="Helvetica"/>
                </a:rPr>
                <a:t>Sr. Program Manager</a:t>
              </a:r>
              <a:endParaRPr lang="en-US" sz="1440" dirty="0">
                <a:solidFill>
                  <a:prstClr val="black"/>
                </a:solidFill>
                <a:latin typeface="Calibri" panose="020F0502020204030204"/>
                <a:sym typeface="Helvetica"/>
              </a:endParaRPr>
            </a:p>
          </p:txBody>
        </p:sp>
      </p:grpSp>
      <p:pic>
        <p:nvPicPr>
          <p:cNvPr id="64" name="Picture 6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587195" y="4983517"/>
            <a:ext cx="696640" cy="15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7351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6D91-10F3-314B-9C62-316FFC78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Since Last 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EB07B-DC11-EB4F-A241-081BFF9346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Last PI was March 10</a:t>
            </a:r>
          </a:p>
          <a:p>
            <a:r>
              <a:rPr lang="en-US" dirty="0"/>
              <a:t>30 Products and Features released</a:t>
            </a:r>
          </a:p>
          <a:p>
            <a:r>
              <a:rPr lang="en-US" dirty="0"/>
              <a:t>9 likely of interest</a:t>
            </a:r>
          </a:p>
          <a:p>
            <a:r>
              <a:rPr lang="en-US" dirty="0"/>
              <a:t>10 minutes</a:t>
            </a:r>
          </a:p>
          <a:p>
            <a:endParaRPr lang="en-US" dirty="0"/>
          </a:p>
          <a:p>
            <a:r>
              <a:rPr lang="en-US" dirty="0"/>
              <a:t>Talk more? </a:t>
            </a:r>
            <a:r>
              <a:rPr lang="en-US" dirty="0" err="1"/>
              <a:t>donbarb@amazon.com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32792560"/>
      </p:ext>
    </p:extLst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Custom 14">
      <a:dk1>
        <a:srgbClr val="002D43"/>
      </a:dk1>
      <a:lt1>
        <a:srgbClr val="FFFFFF"/>
      </a:lt1>
      <a:dk2>
        <a:srgbClr val="232F3E"/>
      </a:dk2>
      <a:lt2>
        <a:srgbClr val="FFFFFF"/>
      </a:lt2>
      <a:accent1>
        <a:srgbClr val="FF9900"/>
      </a:accent1>
      <a:accent2>
        <a:srgbClr val="00A0C8"/>
      </a:accent2>
      <a:accent3>
        <a:srgbClr val="007DBC"/>
      </a:accent3>
      <a:accent4>
        <a:srgbClr val="69AE35"/>
      </a:accent4>
      <a:accent5>
        <a:srgbClr val="1D8900"/>
      </a:accent5>
      <a:accent6>
        <a:srgbClr val="FF5745"/>
      </a:accent6>
      <a:hlink>
        <a:srgbClr val="00E0EA"/>
      </a:hlink>
      <a:folHlink>
        <a:srgbClr val="00A0C8"/>
      </a:folHlink>
    </a:clrScheme>
    <a:fontScheme name="Test">
      <a:majorFont>
        <a:latin typeface="Amazon Ember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900" dirty="0" err="1" smtClean="0">
            <a:latin typeface="Amazon Ember" panose="020B0603020204020204" pitchFamily="34" charset="0"/>
            <a:ea typeface="Amazon Ember" panose="020B0603020204020204" pitchFamily="34" charset="0"/>
            <a:cs typeface="Amazon Ember" panose="020B06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DeckTemplate_AWS</Template>
  <TotalTime>19184</TotalTime>
  <Words>417</Words>
  <Application>Microsoft Macintosh PowerPoint</Application>
  <PresentationFormat>Custom</PresentationFormat>
  <Paragraphs>72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Amazon Ember</vt:lpstr>
      <vt:lpstr>Amazon Ember Light</vt:lpstr>
      <vt:lpstr>Amazon Ember Regular</vt:lpstr>
      <vt:lpstr>Arial</vt:lpstr>
      <vt:lpstr>Calibri</vt:lpstr>
      <vt:lpstr>Calibri Light</vt:lpstr>
      <vt:lpstr>Gill Sans</vt:lpstr>
      <vt:lpstr>Helvetica Neue</vt:lpstr>
      <vt:lpstr>DeckTemplate-AWS</vt:lpstr>
      <vt:lpstr>1_Office Theme</vt:lpstr>
      <vt:lpstr>PowerPoint Presentation</vt:lpstr>
      <vt:lpstr>PowerPoint Presentation</vt:lpstr>
      <vt:lpstr>Since Last PI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Don Barber</cp:lastModifiedBy>
  <cp:revision>148</cp:revision>
  <dcterms:created xsi:type="dcterms:W3CDTF">2016-06-17T18:22:10Z</dcterms:created>
  <dcterms:modified xsi:type="dcterms:W3CDTF">2020-10-12T16:07:15Z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