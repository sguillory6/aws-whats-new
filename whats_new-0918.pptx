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 id="2147483715" r:id="rId5"/>
  </p:sldMasterIdLst>
  <p:notesMasterIdLst>
    <p:notesMasterId r:id="rId456"/>
  </p:notesMasterIdLst>
  <p:handoutMasterIdLst>
    <p:handoutMasterId r:id="rId457"/>
  </p:handoutMasterIdLst>
  <p:sldIdLst>
    <p:sldId id="285" r:id="rId6"/>
    <p:sldId id="257" r:id="rId7"/>
    <p:sldId id="505" r:id="rId8"/>
    <p:sldId id="506" r:id="rId9"/>
    <p:sldId id="518" r:id="rId10"/>
    <p:sldId id="565" r:id="rId11"/>
    <p:sldId id="533" r:id="rId12"/>
    <p:sldId id="574" r:id="rId13"/>
    <p:sldId id="532" r:id="rId14"/>
    <p:sldId id="539" r:id="rId15"/>
    <p:sldId id="527" r:id="rId16"/>
    <p:sldId id="537" r:id="rId17"/>
    <p:sldId id="531" r:id="rId18"/>
    <p:sldId id="555" r:id="rId19"/>
    <p:sldId id="557" r:id="rId20"/>
    <p:sldId id="546" r:id="rId21"/>
    <p:sldId id="514" r:id="rId22"/>
    <p:sldId id="552" r:id="rId23"/>
    <p:sldId id="511" r:id="rId24"/>
    <p:sldId id="525" r:id="rId25"/>
    <p:sldId id="541" r:id="rId26"/>
    <p:sldId id="547" r:id="rId27"/>
    <p:sldId id="549" r:id="rId28"/>
    <p:sldId id="558" r:id="rId29"/>
    <p:sldId id="560" r:id="rId30"/>
    <p:sldId id="576" r:id="rId31"/>
    <p:sldId id="578" r:id="rId32"/>
    <p:sldId id="568" r:id="rId33"/>
    <p:sldId id="301" r:id="rId34"/>
    <p:sldId id="579" r:id="rId35"/>
    <p:sldId id="535" r:id="rId36"/>
    <p:sldId id="542" r:id="rId37"/>
    <p:sldId id="561" r:id="rId38"/>
    <p:sldId id="519" r:id="rId39"/>
    <p:sldId id="562" r:id="rId40"/>
    <p:sldId id="523" r:id="rId41"/>
    <p:sldId id="559" r:id="rId42"/>
    <p:sldId id="573" r:id="rId43"/>
    <p:sldId id="517" r:id="rId44"/>
    <p:sldId id="520" r:id="rId45"/>
    <p:sldId id="567" r:id="rId46"/>
    <p:sldId id="512" r:id="rId47"/>
    <p:sldId id="516" r:id="rId48"/>
    <p:sldId id="521" r:id="rId49"/>
    <p:sldId id="524" r:id="rId50"/>
    <p:sldId id="534" r:id="rId51"/>
    <p:sldId id="536" r:id="rId52"/>
    <p:sldId id="563" r:id="rId53"/>
    <p:sldId id="566" r:id="rId54"/>
    <p:sldId id="575" r:id="rId55"/>
    <p:sldId id="507" r:id="rId56"/>
    <p:sldId id="526" r:id="rId57"/>
    <p:sldId id="530" r:id="rId58"/>
    <p:sldId id="538" r:id="rId59"/>
    <p:sldId id="545" r:id="rId60"/>
    <p:sldId id="554" r:id="rId61"/>
    <p:sldId id="569" r:id="rId62"/>
    <p:sldId id="572" r:id="rId63"/>
    <p:sldId id="577" r:id="rId64"/>
    <p:sldId id="510" r:id="rId65"/>
    <p:sldId id="508" r:id="rId66"/>
    <p:sldId id="513" r:id="rId67"/>
    <p:sldId id="522" r:id="rId68"/>
    <p:sldId id="544" r:id="rId69"/>
    <p:sldId id="550" r:id="rId70"/>
    <p:sldId id="551" r:id="rId71"/>
    <p:sldId id="556" r:id="rId72"/>
    <p:sldId id="509" r:id="rId73"/>
    <p:sldId id="515" r:id="rId74"/>
    <p:sldId id="528" r:id="rId75"/>
    <p:sldId id="529" r:id="rId76"/>
    <p:sldId id="540" r:id="rId77"/>
    <p:sldId id="543" r:id="rId78"/>
    <p:sldId id="548" r:id="rId79"/>
    <p:sldId id="553" r:id="rId80"/>
    <p:sldId id="564" r:id="rId81"/>
    <p:sldId id="570" r:id="rId82"/>
    <p:sldId id="571" r:id="rId83"/>
    <p:sldId id="580" r:id="rId84"/>
    <p:sldId id="581" r:id="rId85"/>
    <p:sldId id="582" r:id="rId86"/>
    <p:sldId id="583" r:id="rId87"/>
    <p:sldId id="584" r:id="rId88"/>
    <p:sldId id="585" r:id="rId89"/>
    <p:sldId id="586" r:id="rId90"/>
    <p:sldId id="587" r:id="rId91"/>
    <p:sldId id="588" r:id="rId92"/>
    <p:sldId id="589" r:id="rId93"/>
    <p:sldId id="590" r:id="rId94"/>
    <p:sldId id="591" r:id="rId95"/>
    <p:sldId id="592" r:id="rId96"/>
    <p:sldId id="593" r:id="rId97"/>
    <p:sldId id="594" r:id="rId98"/>
    <p:sldId id="595" r:id="rId99"/>
    <p:sldId id="596" r:id="rId100"/>
    <p:sldId id="597" r:id="rId101"/>
    <p:sldId id="598" r:id="rId102"/>
    <p:sldId id="599" r:id="rId103"/>
    <p:sldId id="600" r:id="rId104"/>
    <p:sldId id="601" r:id="rId105"/>
    <p:sldId id="602" r:id="rId106"/>
    <p:sldId id="603" r:id="rId107"/>
    <p:sldId id="604" r:id="rId108"/>
    <p:sldId id="605" r:id="rId109"/>
    <p:sldId id="606" r:id="rId110"/>
    <p:sldId id="607" r:id="rId111"/>
    <p:sldId id="608" r:id="rId112"/>
    <p:sldId id="609" r:id="rId113"/>
    <p:sldId id="610" r:id="rId114"/>
    <p:sldId id="611" r:id="rId115"/>
    <p:sldId id="612" r:id="rId116"/>
    <p:sldId id="613" r:id="rId117"/>
    <p:sldId id="614" r:id="rId118"/>
    <p:sldId id="615" r:id="rId119"/>
    <p:sldId id="616" r:id="rId120"/>
    <p:sldId id="617" r:id="rId121"/>
    <p:sldId id="618" r:id="rId122"/>
    <p:sldId id="619" r:id="rId123"/>
    <p:sldId id="620" r:id="rId124"/>
    <p:sldId id="621" r:id="rId125"/>
    <p:sldId id="622" r:id="rId126"/>
    <p:sldId id="623" r:id="rId127"/>
    <p:sldId id="624" r:id="rId128"/>
    <p:sldId id="625" r:id="rId129"/>
    <p:sldId id="626" r:id="rId130"/>
    <p:sldId id="627" r:id="rId131"/>
    <p:sldId id="628" r:id="rId132"/>
    <p:sldId id="629" r:id="rId133"/>
    <p:sldId id="630" r:id="rId134"/>
    <p:sldId id="631" r:id="rId135"/>
    <p:sldId id="632" r:id="rId136"/>
    <p:sldId id="633" r:id="rId137"/>
    <p:sldId id="634" r:id="rId138"/>
    <p:sldId id="635" r:id="rId139"/>
    <p:sldId id="636" r:id="rId140"/>
    <p:sldId id="637" r:id="rId141"/>
    <p:sldId id="638" r:id="rId142"/>
    <p:sldId id="639" r:id="rId143"/>
    <p:sldId id="640" r:id="rId144"/>
    <p:sldId id="641" r:id="rId145"/>
    <p:sldId id="642" r:id="rId146"/>
    <p:sldId id="643" r:id="rId147"/>
    <p:sldId id="644" r:id="rId148"/>
    <p:sldId id="645" r:id="rId149"/>
    <p:sldId id="646" r:id="rId150"/>
    <p:sldId id="647" r:id="rId151"/>
    <p:sldId id="648" r:id="rId152"/>
    <p:sldId id="649" r:id="rId153"/>
    <p:sldId id="650" r:id="rId154"/>
    <p:sldId id="651" r:id="rId155"/>
    <p:sldId id="652" r:id="rId156"/>
    <p:sldId id="653" r:id="rId157"/>
    <p:sldId id="654" r:id="rId158"/>
    <p:sldId id="655" r:id="rId159"/>
    <p:sldId id="656" r:id="rId160"/>
    <p:sldId id="657" r:id="rId161"/>
    <p:sldId id="658" r:id="rId162"/>
    <p:sldId id="659" r:id="rId163"/>
    <p:sldId id="660" r:id="rId164"/>
    <p:sldId id="661" r:id="rId165"/>
    <p:sldId id="662" r:id="rId166"/>
    <p:sldId id="663" r:id="rId167"/>
    <p:sldId id="664" r:id="rId168"/>
    <p:sldId id="665" r:id="rId169"/>
    <p:sldId id="666" r:id="rId170"/>
    <p:sldId id="667" r:id="rId171"/>
    <p:sldId id="668" r:id="rId172"/>
    <p:sldId id="669" r:id="rId173"/>
    <p:sldId id="670" r:id="rId174"/>
    <p:sldId id="671" r:id="rId175"/>
    <p:sldId id="672" r:id="rId176"/>
    <p:sldId id="673" r:id="rId177"/>
    <p:sldId id="674" r:id="rId178"/>
    <p:sldId id="675" r:id="rId179"/>
    <p:sldId id="676" r:id="rId180"/>
    <p:sldId id="677" r:id="rId181"/>
    <p:sldId id="678" r:id="rId182"/>
    <p:sldId id="679" r:id="rId183"/>
    <p:sldId id="680" r:id="rId184"/>
    <p:sldId id="681" r:id="rId185"/>
    <p:sldId id="682" r:id="rId186"/>
    <p:sldId id="683" r:id="rId187"/>
    <p:sldId id="684" r:id="rId188"/>
    <p:sldId id="685" r:id="rId189"/>
    <p:sldId id="686" r:id="rId190"/>
    <p:sldId id="687" r:id="rId191"/>
    <p:sldId id="688" r:id="rId192"/>
    <p:sldId id="689" r:id="rId193"/>
    <p:sldId id="690" r:id="rId194"/>
    <p:sldId id="691" r:id="rId195"/>
    <p:sldId id="692" r:id="rId196"/>
    <p:sldId id="693" r:id="rId197"/>
    <p:sldId id="694" r:id="rId198"/>
    <p:sldId id="695" r:id="rId199"/>
    <p:sldId id="696" r:id="rId200"/>
    <p:sldId id="697" r:id="rId201"/>
    <p:sldId id="698" r:id="rId202"/>
    <p:sldId id="699" r:id="rId203"/>
    <p:sldId id="700" r:id="rId204"/>
    <p:sldId id="701" r:id="rId205"/>
    <p:sldId id="702" r:id="rId206"/>
    <p:sldId id="703" r:id="rId207"/>
    <p:sldId id="704" r:id="rId208"/>
    <p:sldId id="705" r:id="rId209"/>
    <p:sldId id="706" r:id="rId210"/>
    <p:sldId id="707" r:id="rId211"/>
    <p:sldId id="708" r:id="rId212"/>
    <p:sldId id="709" r:id="rId213"/>
    <p:sldId id="710" r:id="rId214"/>
    <p:sldId id="711" r:id="rId215"/>
    <p:sldId id="712" r:id="rId216"/>
    <p:sldId id="713" r:id="rId217"/>
    <p:sldId id="714" r:id="rId218"/>
    <p:sldId id="715" r:id="rId219"/>
    <p:sldId id="716" r:id="rId220"/>
    <p:sldId id="717" r:id="rId221"/>
    <p:sldId id="718" r:id="rId222"/>
    <p:sldId id="719" r:id="rId223"/>
    <p:sldId id="720" r:id="rId224"/>
    <p:sldId id="721" r:id="rId225"/>
    <p:sldId id="722" r:id="rId226"/>
    <p:sldId id="723" r:id="rId227"/>
    <p:sldId id="724" r:id="rId228"/>
    <p:sldId id="725" r:id="rId229"/>
    <p:sldId id="726" r:id="rId230"/>
    <p:sldId id="727" r:id="rId231"/>
    <p:sldId id="728" r:id="rId232"/>
    <p:sldId id="729" r:id="rId233"/>
    <p:sldId id="730" r:id="rId234"/>
    <p:sldId id="731" r:id="rId235"/>
    <p:sldId id="732" r:id="rId236"/>
    <p:sldId id="733" r:id="rId237"/>
    <p:sldId id="734" r:id="rId238"/>
    <p:sldId id="735" r:id="rId239"/>
    <p:sldId id="736" r:id="rId240"/>
    <p:sldId id="737" r:id="rId241"/>
    <p:sldId id="738" r:id="rId242"/>
    <p:sldId id="739" r:id="rId243"/>
    <p:sldId id="740" r:id="rId244"/>
    <p:sldId id="741" r:id="rId245"/>
    <p:sldId id="742" r:id="rId246"/>
    <p:sldId id="743" r:id="rId247"/>
    <p:sldId id="744" r:id="rId248"/>
    <p:sldId id="745" r:id="rId249"/>
    <p:sldId id="746" r:id="rId250"/>
    <p:sldId id="747" r:id="rId251"/>
    <p:sldId id="748" r:id="rId252"/>
    <p:sldId id="749" r:id="rId253"/>
    <p:sldId id="750" r:id="rId254"/>
    <p:sldId id="751" r:id="rId255"/>
    <p:sldId id="752" r:id="rId256"/>
    <p:sldId id="753" r:id="rId257"/>
    <p:sldId id="754" r:id="rId258"/>
    <p:sldId id="755" r:id="rId259"/>
    <p:sldId id="756" r:id="rId260"/>
    <p:sldId id="757" r:id="rId261"/>
    <p:sldId id="758" r:id="rId262"/>
    <p:sldId id="759" r:id="rId263"/>
    <p:sldId id="760" r:id="rId264"/>
    <p:sldId id="761" r:id="rId265"/>
    <p:sldId id="762" r:id="rId266"/>
    <p:sldId id="763" r:id="rId267"/>
    <p:sldId id="764" r:id="rId268"/>
    <p:sldId id="765" r:id="rId269"/>
    <p:sldId id="766" r:id="rId270"/>
    <p:sldId id="767" r:id="rId271"/>
    <p:sldId id="768" r:id="rId272"/>
    <p:sldId id="769" r:id="rId273"/>
    <p:sldId id="770" r:id="rId274"/>
    <p:sldId id="771" r:id="rId275"/>
    <p:sldId id="772" r:id="rId276"/>
    <p:sldId id="773" r:id="rId277"/>
    <p:sldId id="774" r:id="rId278"/>
    <p:sldId id="775" r:id="rId279"/>
    <p:sldId id="776" r:id="rId280"/>
    <p:sldId id="777" r:id="rId281"/>
    <p:sldId id="778" r:id="rId282"/>
    <p:sldId id="779" r:id="rId283"/>
    <p:sldId id="780" r:id="rId284"/>
    <p:sldId id="781" r:id="rId285"/>
    <p:sldId id="782" r:id="rId286"/>
    <p:sldId id="783" r:id="rId287"/>
    <p:sldId id="784" r:id="rId288"/>
    <p:sldId id="785" r:id="rId289"/>
    <p:sldId id="786" r:id="rId290"/>
    <p:sldId id="787" r:id="rId291"/>
    <p:sldId id="788" r:id="rId292"/>
    <p:sldId id="789" r:id="rId293"/>
    <p:sldId id="790" r:id="rId294"/>
    <p:sldId id="791" r:id="rId295"/>
    <p:sldId id="792" r:id="rId296"/>
    <p:sldId id="793" r:id="rId297"/>
    <p:sldId id="794" r:id="rId298"/>
    <p:sldId id="795" r:id="rId299"/>
    <p:sldId id="796" r:id="rId300"/>
    <p:sldId id="797" r:id="rId301"/>
    <p:sldId id="798" r:id="rId302"/>
    <p:sldId id="799" r:id="rId303"/>
    <p:sldId id="800" r:id="rId304"/>
    <p:sldId id="801" r:id="rId305"/>
    <p:sldId id="802" r:id="rId306"/>
    <p:sldId id="803" r:id="rId307"/>
    <p:sldId id="804" r:id="rId308"/>
    <p:sldId id="805" r:id="rId309"/>
    <p:sldId id="806" r:id="rId310"/>
    <p:sldId id="807" r:id="rId311"/>
    <p:sldId id="808" r:id="rId312"/>
    <p:sldId id="809" r:id="rId313"/>
    <p:sldId id="810" r:id="rId314"/>
    <p:sldId id="811" r:id="rId315"/>
    <p:sldId id="812" r:id="rId316"/>
    <p:sldId id="813" r:id="rId317"/>
    <p:sldId id="814" r:id="rId318"/>
    <p:sldId id="815" r:id="rId319"/>
    <p:sldId id="816" r:id="rId320"/>
    <p:sldId id="817" r:id="rId321"/>
    <p:sldId id="818" r:id="rId322"/>
    <p:sldId id="819" r:id="rId323"/>
    <p:sldId id="820" r:id="rId324"/>
    <p:sldId id="821" r:id="rId325"/>
    <p:sldId id="822" r:id="rId326"/>
    <p:sldId id="823" r:id="rId327"/>
    <p:sldId id="824" r:id="rId328"/>
    <p:sldId id="825" r:id="rId329"/>
    <p:sldId id="826" r:id="rId330"/>
    <p:sldId id="827" r:id="rId331"/>
    <p:sldId id="828" r:id="rId332"/>
    <p:sldId id="829" r:id="rId333"/>
    <p:sldId id="830" r:id="rId334"/>
    <p:sldId id="831" r:id="rId335"/>
    <p:sldId id="832" r:id="rId336"/>
    <p:sldId id="833" r:id="rId337"/>
    <p:sldId id="834" r:id="rId338"/>
    <p:sldId id="835" r:id="rId339"/>
    <p:sldId id="836" r:id="rId340"/>
    <p:sldId id="837" r:id="rId341"/>
    <p:sldId id="838" r:id="rId342"/>
    <p:sldId id="839" r:id="rId343"/>
    <p:sldId id="840" r:id="rId344"/>
    <p:sldId id="841" r:id="rId345"/>
    <p:sldId id="842" r:id="rId346"/>
    <p:sldId id="843" r:id="rId347"/>
    <p:sldId id="844" r:id="rId348"/>
    <p:sldId id="845" r:id="rId349"/>
    <p:sldId id="846" r:id="rId350"/>
    <p:sldId id="847" r:id="rId351"/>
    <p:sldId id="848" r:id="rId352"/>
    <p:sldId id="849" r:id="rId353"/>
    <p:sldId id="850" r:id="rId354"/>
    <p:sldId id="851" r:id="rId355"/>
    <p:sldId id="852" r:id="rId356"/>
    <p:sldId id="853" r:id="rId357"/>
    <p:sldId id="854" r:id="rId358"/>
    <p:sldId id="855" r:id="rId359"/>
    <p:sldId id="856" r:id="rId360"/>
    <p:sldId id="857" r:id="rId361"/>
    <p:sldId id="858" r:id="rId362"/>
    <p:sldId id="859" r:id="rId363"/>
    <p:sldId id="860" r:id="rId364"/>
    <p:sldId id="861" r:id="rId365"/>
    <p:sldId id="862" r:id="rId366"/>
    <p:sldId id="863" r:id="rId367"/>
    <p:sldId id="864" r:id="rId368"/>
    <p:sldId id="865" r:id="rId369"/>
    <p:sldId id="866" r:id="rId370"/>
    <p:sldId id="867" r:id="rId371"/>
    <p:sldId id="868" r:id="rId372"/>
    <p:sldId id="869" r:id="rId373"/>
    <p:sldId id="870" r:id="rId374"/>
    <p:sldId id="871" r:id="rId375"/>
    <p:sldId id="872" r:id="rId376"/>
    <p:sldId id="873" r:id="rId377"/>
    <p:sldId id="874" r:id="rId378"/>
    <p:sldId id="875" r:id="rId379"/>
    <p:sldId id="876" r:id="rId380"/>
    <p:sldId id="877" r:id="rId381"/>
    <p:sldId id="878" r:id="rId382"/>
    <p:sldId id="879" r:id="rId383"/>
    <p:sldId id="880" r:id="rId384"/>
    <p:sldId id="881" r:id="rId385"/>
    <p:sldId id="882" r:id="rId386"/>
    <p:sldId id="883" r:id="rId387"/>
    <p:sldId id="884" r:id="rId388"/>
    <p:sldId id="885" r:id="rId389"/>
    <p:sldId id="886" r:id="rId390"/>
    <p:sldId id="887" r:id="rId391"/>
    <p:sldId id="888" r:id="rId392"/>
    <p:sldId id="889" r:id="rId393"/>
    <p:sldId id="890" r:id="rId394"/>
    <p:sldId id="891" r:id="rId395"/>
    <p:sldId id="892" r:id="rId396"/>
    <p:sldId id="893" r:id="rId397"/>
    <p:sldId id="894" r:id="rId398"/>
    <p:sldId id="895" r:id="rId399"/>
    <p:sldId id="896" r:id="rId400"/>
    <p:sldId id="897" r:id="rId401"/>
    <p:sldId id="898" r:id="rId402"/>
    <p:sldId id="899" r:id="rId403"/>
    <p:sldId id="900" r:id="rId404"/>
    <p:sldId id="901" r:id="rId405"/>
    <p:sldId id="902" r:id="rId406"/>
    <p:sldId id="903" r:id="rId407"/>
    <p:sldId id="904" r:id="rId408"/>
    <p:sldId id="905" r:id="rId409"/>
    <p:sldId id="906" r:id="rId410"/>
    <p:sldId id="907" r:id="rId411"/>
    <p:sldId id="908" r:id="rId412"/>
    <p:sldId id="909" r:id="rId413"/>
    <p:sldId id="910" r:id="rId414"/>
    <p:sldId id="911" r:id="rId415"/>
    <p:sldId id="912" r:id="rId416"/>
    <p:sldId id="913" r:id="rId417"/>
    <p:sldId id="914" r:id="rId418"/>
    <p:sldId id="915" r:id="rId419"/>
    <p:sldId id="916" r:id="rId420"/>
    <p:sldId id="917" r:id="rId421"/>
    <p:sldId id="918" r:id="rId422"/>
    <p:sldId id="919" r:id="rId423"/>
    <p:sldId id="920" r:id="rId424"/>
    <p:sldId id="921" r:id="rId425"/>
    <p:sldId id="922" r:id="rId426"/>
    <p:sldId id="923" r:id="rId427"/>
    <p:sldId id="924" r:id="rId428"/>
    <p:sldId id="925" r:id="rId429"/>
    <p:sldId id="926" r:id="rId430"/>
    <p:sldId id="927" r:id="rId431"/>
    <p:sldId id="928" r:id="rId432"/>
    <p:sldId id="929" r:id="rId433"/>
    <p:sldId id="930" r:id="rId434"/>
    <p:sldId id="931" r:id="rId435"/>
    <p:sldId id="932" r:id="rId436"/>
    <p:sldId id="933" r:id="rId437"/>
    <p:sldId id="934" r:id="rId438"/>
    <p:sldId id="935" r:id="rId439"/>
    <p:sldId id="936" r:id="rId440"/>
    <p:sldId id="937" r:id="rId441"/>
    <p:sldId id="938" r:id="rId442"/>
    <p:sldId id="939" r:id="rId443"/>
    <p:sldId id="940" r:id="rId444"/>
    <p:sldId id="941" r:id="rId445"/>
    <p:sldId id="942" r:id="rId446"/>
    <p:sldId id="943" r:id="rId447"/>
    <p:sldId id="944" r:id="rId448"/>
    <p:sldId id="945" r:id="rId449"/>
    <p:sldId id="946" r:id="rId450"/>
    <p:sldId id="947" r:id="rId451"/>
    <p:sldId id="948" r:id="rId452"/>
    <p:sldId id="949" r:id="rId453"/>
    <p:sldId id="950" r:id="rId454"/>
    <p:sldId id="951" r:id="rId455"/>
  </p:sldIdLst>
  <p:sldSz cx="14630400" cy="8229600"/>
  <p:notesSz cx="6858000" cy="9144000"/>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0" userDrawn="1">
          <p15:clr>
            <a:srgbClr val="A4A3A4"/>
          </p15:clr>
        </p15:guide>
        <p15:guide id="2" orient="horz" pos="4637" userDrawn="1">
          <p15:clr>
            <a:srgbClr val="A4A3A4"/>
          </p15:clr>
        </p15:guide>
        <p15:guide id="3" orient="horz" pos="3859"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25" userDrawn="1">
          <p15:clr>
            <a:srgbClr val="A4A3A4"/>
          </p15:clr>
        </p15:guide>
        <p15:guide id="8" orient="horz" pos="200" userDrawn="1">
          <p15:clr>
            <a:srgbClr val="A4A3A4"/>
          </p15:clr>
        </p15:guide>
        <p15:guide id="9" orient="horz" pos="3370" userDrawn="1">
          <p15:clr>
            <a:srgbClr val="A4A3A4"/>
          </p15:clr>
        </p15:guide>
        <p15:guide id="10" orient="horz" pos="4574" userDrawn="1">
          <p15:clr>
            <a:srgbClr val="A4A3A4"/>
          </p15:clr>
        </p15:guide>
        <p15:guide id="11" pos="1536" userDrawn="1">
          <p15:clr>
            <a:srgbClr val="A4A3A4"/>
          </p15:clr>
        </p15:guide>
        <p15:guide id="12" pos="2808" userDrawn="1">
          <p15:clr>
            <a:srgbClr val="A4A3A4"/>
          </p15:clr>
        </p15:guide>
        <p15:guide id="13" pos="4613" userDrawn="1">
          <p15:clr>
            <a:srgbClr val="A4A3A4"/>
          </p15:clr>
        </p15:guide>
        <p15:guide id="14" pos="4030" userDrawn="1">
          <p15:clr>
            <a:srgbClr val="A4A3A4"/>
          </p15:clr>
        </p15:guide>
        <p15:guide id="15" pos="7664" userDrawn="1">
          <p15:clr>
            <a:srgbClr val="A4A3A4"/>
          </p15:clr>
        </p15:guide>
        <p15:guide id="16" pos="3979" userDrawn="1">
          <p15:clr>
            <a:srgbClr val="A4A3A4"/>
          </p15:clr>
        </p15:guide>
        <p15:guide id="17" pos="2755" userDrawn="1">
          <p15:clr>
            <a:srgbClr val="A4A3A4"/>
          </p15:clr>
        </p15:guide>
        <p15:guide id="18" pos="1579" userDrawn="1">
          <p15:clr>
            <a:srgbClr val="A4A3A4"/>
          </p15:clr>
        </p15:guide>
        <p15:guide id="19" pos="7709" userDrawn="1">
          <p15:clr>
            <a:srgbClr val="A4A3A4"/>
          </p15:clr>
        </p15:guide>
        <p15:guide id="20" pos="5211" userDrawn="1">
          <p15:clr>
            <a:srgbClr val="A4A3A4"/>
          </p15:clr>
        </p15:guide>
        <p15:guide id="21" userDrawn="1">
          <p15:clr>
            <a:srgbClr val="A4A3A4"/>
          </p15:clr>
        </p15:guide>
        <p15:guide id="22" pos="5256" userDrawn="1">
          <p15:clr>
            <a:srgbClr val="A4A3A4"/>
          </p15:clr>
        </p15:guide>
        <p15:guide id="23" pos="6435"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232F3E"/>
    <a:srgbClr val="595A5D"/>
    <a:srgbClr val="414042"/>
    <a:srgbClr val="DCDCDC"/>
    <a:srgbClr val="4F81BD"/>
    <a:srgbClr val="0C9B2E"/>
    <a:srgbClr val="FFFAD0"/>
    <a:srgbClr val="FFF8AE"/>
    <a:srgbClr val="FCB64C"/>
    <a:srgbClr val="FEC4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14" autoAdjust="0"/>
    <p:restoredTop sz="85986" autoAdjust="0"/>
  </p:normalViewPr>
  <p:slideViewPr>
    <p:cSldViewPr snapToGrid="0" showGuides="1">
      <p:cViewPr varScale="1">
        <p:scale>
          <a:sx n="91" d="100"/>
          <a:sy n="91" d="100"/>
        </p:scale>
        <p:origin x="1792" y="192"/>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8870"/>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6" d="100"/>
          <a:sy n="126" d="100"/>
        </p:scale>
        <p:origin x="4544" y="20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99" Type="http://schemas.openxmlformats.org/officeDocument/2006/relationships/slide" Target="slides/slide294.xml"/><Relationship Id="rId21" Type="http://schemas.openxmlformats.org/officeDocument/2006/relationships/slide" Target="slides/slide16.xml"/><Relationship Id="rId63" Type="http://schemas.openxmlformats.org/officeDocument/2006/relationships/slide" Target="slides/slide58.xml"/><Relationship Id="rId159" Type="http://schemas.openxmlformats.org/officeDocument/2006/relationships/slide" Target="slides/slide154.xml"/><Relationship Id="rId324" Type="http://schemas.openxmlformats.org/officeDocument/2006/relationships/slide" Target="slides/slide319.xml"/><Relationship Id="rId366" Type="http://schemas.openxmlformats.org/officeDocument/2006/relationships/slide" Target="slides/slide361.xml"/><Relationship Id="rId170" Type="http://schemas.openxmlformats.org/officeDocument/2006/relationships/slide" Target="slides/slide165.xml"/><Relationship Id="rId226" Type="http://schemas.openxmlformats.org/officeDocument/2006/relationships/slide" Target="slides/slide221.xml"/><Relationship Id="rId433" Type="http://schemas.openxmlformats.org/officeDocument/2006/relationships/slide" Target="slides/slide428.xml"/><Relationship Id="rId268" Type="http://schemas.openxmlformats.org/officeDocument/2006/relationships/slide" Target="slides/slide263.xml"/><Relationship Id="rId32" Type="http://schemas.openxmlformats.org/officeDocument/2006/relationships/slide" Target="slides/slide27.xml"/><Relationship Id="rId74" Type="http://schemas.openxmlformats.org/officeDocument/2006/relationships/slide" Target="slides/slide69.xml"/><Relationship Id="rId128" Type="http://schemas.openxmlformats.org/officeDocument/2006/relationships/slide" Target="slides/slide123.xml"/><Relationship Id="rId335" Type="http://schemas.openxmlformats.org/officeDocument/2006/relationships/slide" Target="slides/slide330.xml"/><Relationship Id="rId377" Type="http://schemas.openxmlformats.org/officeDocument/2006/relationships/slide" Target="slides/slide372.xml"/><Relationship Id="rId5" Type="http://schemas.openxmlformats.org/officeDocument/2006/relationships/slideMaster" Target="slideMasters/slideMaster2.xml"/><Relationship Id="rId181" Type="http://schemas.openxmlformats.org/officeDocument/2006/relationships/slide" Target="slides/slide176.xml"/><Relationship Id="rId237" Type="http://schemas.openxmlformats.org/officeDocument/2006/relationships/slide" Target="slides/slide232.xml"/><Relationship Id="rId402" Type="http://schemas.openxmlformats.org/officeDocument/2006/relationships/slide" Target="slides/slide397.xml"/><Relationship Id="rId279" Type="http://schemas.openxmlformats.org/officeDocument/2006/relationships/slide" Target="slides/slide274.xml"/><Relationship Id="rId444" Type="http://schemas.openxmlformats.org/officeDocument/2006/relationships/slide" Target="slides/slide439.xml"/><Relationship Id="rId43" Type="http://schemas.openxmlformats.org/officeDocument/2006/relationships/slide" Target="slides/slide38.xml"/><Relationship Id="rId139" Type="http://schemas.openxmlformats.org/officeDocument/2006/relationships/slide" Target="slides/slide134.xml"/><Relationship Id="rId290" Type="http://schemas.openxmlformats.org/officeDocument/2006/relationships/slide" Target="slides/slide285.xml"/><Relationship Id="rId304" Type="http://schemas.openxmlformats.org/officeDocument/2006/relationships/slide" Target="slides/slide299.xml"/><Relationship Id="rId346" Type="http://schemas.openxmlformats.org/officeDocument/2006/relationships/slide" Target="slides/slide341.xml"/><Relationship Id="rId388" Type="http://schemas.openxmlformats.org/officeDocument/2006/relationships/slide" Target="slides/slide383.xml"/><Relationship Id="rId85" Type="http://schemas.openxmlformats.org/officeDocument/2006/relationships/slide" Target="slides/slide80.xml"/><Relationship Id="rId150" Type="http://schemas.openxmlformats.org/officeDocument/2006/relationships/slide" Target="slides/slide145.xml"/><Relationship Id="rId192" Type="http://schemas.openxmlformats.org/officeDocument/2006/relationships/slide" Target="slides/slide187.xml"/><Relationship Id="rId206" Type="http://schemas.openxmlformats.org/officeDocument/2006/relationships/slide" Target="slides/slide201.xml"/><Relationship Id="rId413" Type="http://schemas.openxmlformats.org/officeDocument/2006/relationships/slide" Target="slides/slide408.xml"/><Relationship Id="rId248" Type="http://schemas.openxmlformats.org/officeDocument/2006/relationships/slide" Target="slides/slide243.xml"/><Relationship Id="rId455" Type="http://schemas.openxmlformats.org/officeDocument/2006/relationships/slide" Target="slides/slide450.xml"/><Relationship Id="rId12" Type="http://schemas.openxmlformats.org/officeDocument/2006/relationships/slide" Target="slides/slide7.xml"/><Relationship Id="rId108" Type="http://schemas.openxmlformats.org/officeDocument/2006/relationships/slide" Target="slides/slide103.xml"/><Relationship Id="rId315" Type="http://schemas.openxmlformats.org/officeDocument/2006/relationships/slide" Target="slides/slide310.xml"/><Relationship Id="rId357" Type="http://schemas.openxmlformats.org/officeDocument/2006/relationships/slide" Target="slides/slide352.xml"/><Relationship Id="rId54" Type="http://schemas.openxmlformats.org/officeDocument/2006/relationships/slide" Target="slides/slide49.xml"/><Relationship Id="rId96" Type="http://schemas.openxmlformats.org/officeDocument/2006/relationships/slide" Target="slides/slide91.xml"/><Relationship Id="rId161" Type="http://schemas.openxmlformats.org/officeDocument/2006/relationships/slide" Target="slides/slide156.xml"/><Relationship Id="rId217" Type="http://schemas.openxmlformats.org/officeDocument/2006/relationships/slide" Target="slides/slide212.xml"/><Relationship Id="rId399" Type="http://schemas.openxmlformats.org/officeDocument/2006/relationships/slide" Target="slides/slide394.xml"/><Relationship Id="rId259" Type="http://schemas.openxmlformats.org/officeDocument/2006/relationships/slide" Target="slides/slide254.xml"/><Relationship Id="rId424" Type="http://schemas.openxmlformats.org/officeDocument/2006/relationships/slide" Target="slides/slide419.xml"/><Relationship Id="rId23" Type="http://schemas.openxmlformats.org/officeDocument/2006/relationships/slide" Target="slides/slide18.xml"/><Relationship Id="rId119" Type="http://schemas.openxmlformats.org/officeDocument/2006/relationships/slide" Target="slides/slide114.xml"/><Relationship Id="rId270" Type="http://schemas.openxmlformats.org/officeDocument/2006/relationships/slide" Target="slides/slide265.xml"/><Relationship Id="rId326" Type="http://schemas.openxmlformats.org/officeDocument/2006/relationships/slide" Target="slides/slide321.xml"/><Relationship Id="rId65" Type="http://schemas.openxmlformats.org/officeDocument/2006/relationships/slide" Target="slides/slide60.xml"/><Relationship Id="rId130" Type="http://schemas.openxmlformats.org/officeDocument/2006/relationships/slide" Target="slides/slide125.xml"/><Relationship Id="rId368" Type="http://schemas.openxmlformats.org/officeDocument/2006/relationships/slide" Target="slides/slide363.xml"/><Relationship Id="rId172" Type="http://schemas.openxmlformats.org/officeDocument/2006/relationships/slide" Target="slides/slide167.xml"/><Relationship Id="rId228" Type="http://schemas.openxmlformats.org/officeDocument/2006/relationships/slide" Target="slides/slide223.xml"/><Relationship Id="rId435" Type="http://schemas.openxmlformats.org/officeDocument/2006/relationships/slide" Target="slides/slide430.xml"/><Relationship Id="rId281" Type="http://schemas.openxmlformats.org/officeDocument/2006/relationships/slide" Target="slides/slide276.xml"/><Relationship Id="rId337" Type="http://schemas.openxmlformats.org/officeDocument/2006/relationships/slide" Target="slides/slide332.xml"/><Relationship Id="rId34" Type="http://schemas.openxmlformats.org/officeDocument/2006/relationships/slide" Target="slides/slide29.xml"/><Relationship Id="rId76" Type="http://schemas.openxmlformats.org/officeDocument/2006/relationships/slide" Target="slides/slide71.xml"/><Relationship Id="rId141" Type="http://schemas.openxmlformats.org/officeDocument/2006/relationships/slide" Target="slides/slide136.xml"/><Relationship Id="rId379" Type="http://schemas.openxmlformats.org/officeDocument/2006/relationships/slide" Target="slides/slide374.xml"/><Relationship Id="rId7" Type="http://schemas.openxmlformats.org/officeDocument/2006/relationships/slide" Target="slides/slide2.xml"/><Relationship Id="rId183" Type="http://schemas.openxmlformats.org/officeDocument/2006/relationships/slide" Target="slides/slide178.xml"/><Relationship Id="rId239" Type="http://schemas.openxmlformats.org/officeDocument/2006/relationships/slide" Target="slides/slide234.xml"/><Relationship Id="rId390" Type="http://schemas.openxmlformats.org/officeDocument/2006/relationships/slide" Target="slides/slide385.xml"/><Relationship Id="rId404" Type="http://schemas.openxmlformats.org/officeDocument/2006/relationships/slide" Target="slides/slide399.xml"/><Relationship Id="rId446" Type="http://schemas.openxmlformats.org/officeDocument/2006/relationships/slide" Target="slides/slide441.xml"/><Relationship Id="rId250" Type="http://schemas.openxmlformats.org/officeDocument/2006/relationships/slide" Target="slides/slide245.xml"/><Relationship Id="rId292" Type="http://schemas.openxmlformats.org/officeDocument/2006/relationships/slide" Target="slides/slide287.xml"/><Relationship Id="rId306" Type="http://schemas.openxmlformats.org/officeDocument/2006/relationships/slide" Target="slides/slide301.xml"/><Relationship Id="rId45" Type="http://schemas.openxmlformats.org/officeDocument/2006/relationships/slide" Target="slides/slide40.xml"/><Relationship Id="rId87" Type="http://schemas.openxmlformats.org/officeDocument/2006/relationships/slide" Target="slides/slide82.xml"/><Relationship Id="rId110" Type="http://schemas.openxmlformats.org/officeDocument/2006/relationships/slide" Target="slides/slide105.xml"/><Relationship Id="rId348" Type="http://schemas.openxmlformats.org/officeDocument/2006/relationships/slide" Target="slides/slide343.xml"/><Relationship Id="rId152" Type="http://schemas.openxmlformats.org/officeDocument/2006/relationships/slide" Target="slides/slide147.xml"/><Relationship Id="rId194" Type="http://schemas.openxmlformats.org/officeDocument/2006/relationships/slide" Target="slides/slide189.xml"/><Relationship Id="rId208" Type="http://schemas.openxmlformats.org/officeDocument/2006/relationships/slide" Target="slides/slide203.xml"/><Relationship Id="rId415" Type="http://schemas.openxmlformats.org/officeDocument/2006/relationships/slide" Target="slides/slide410.xml"/><Relationship Id="rId457" Type="http://schemas.openxmlformats.org/officeDocument/2006/relationships/handoutMaster" Target="handoutMasters/handoutMaster1.xml"/><Relationship Id="rId261" Type="http://schemas.openxmlformats.org/officeDocument/2006/relationships/slide" Target="slides/slide256.xml"/><Relationship Id="rId14" Type="http://schemas.openxmlformats.org/officeDocument/2006/relationships/slide" Target="slides/slide9.xml"/><Relationship Id="rId56" Type="http://schemas.openxmlformats.org/officeDocument/2006/relationships/slide" Target="slides/slide51.xml"/><Relationship Id="rId317" Type="http://schemas.openxmlformats.org/officeDocument/2006/relationships/slide" Target="slides/slide312.xml"/><Relationship Id="rId359" Type="http://schemas.openxmlformats.org/officeDocument/2006/relationships/slide" Target="slides/slide354.xml"/><Relationship Id="rId98" Type="http://schemas.openxmlformats.org/officeDocument/2006/relationships/slide" Target="slides/slide93.xml"/><Relationship Id="rId121" Type="http://schemas.openxmlformats.org/officeDocument/2006/relationships/slide" Target="slides/slide116.xml"/><Relationship Id="rId163" Type="http://schemas.openxmlformats.org/officeDocument/2006/relationships/slide" Target="slides/slide158.xml"/><Relationship Id="rId219" Type="http://schemas.openxmlformats.org/officeDocument/2006/relationships/slide" Target="slides/slide214.xml"/><Relationship Id="rId370" Type="http://schemas.openxmlformats.org/officeDocument/2006/relationships/slide" Target="slides/slide365.xml"/><Relationship Id="rId426" Type="http://schemas.openxmlformats.org/officeDocument/2006/relationships/slide" Target="slides/slide421.xml"/><Relationship Id="rId230" Type="http://schemas.openxmlformats.org/officeDocument/2006/relationships/slide" Target="slides/slide225.xml"/><Relationship Id="rId25" Type="http://schemas.openxmlformats.org/officeDocument/2006/relationships/slide" Target="slides/slide20.xml"/><Relationship Id="rId67" Type="http://schemas.openxmlformats.org/officeDocument/2006/relationships/slide" Target="slides/slide62.xml"/><Relationship Id="rId272" Type="http://schemas.openxmlformats.org/officeDocument/2006/relationships/slide" Target="slides/slide267.xml"/><Relationship Id="rId328" Type="http://schemas.openxmlformats.org/officeDocument/2006/relationships/slide" Target="slides/slide323.xml"/><Relationship Id="rId132" Type="http://schemas.openxmlformats.org/officeDocument/2006/relationships/slide" Target="slides/slide127.xml"/><Relationship Id="rId174" Type="http://schemas.openxmlformats.org/officeDocument/2006/relationships/slide" Target="slides/slide169.xml"/><Relationship Id="rId381" Type="http://schemas.openxmlformats.org/officeDocument/2006/relationships/slide" Target="slides/slide376.xml"/><Relationship Id="rId241" Type="http://schemas.openxmlformats.org/officeDocument/2006/relationships/slide" Target="slides/slide236.xml"/><Relationship Id="rId437" Type="http://schemas.openxmlformats.org/officeDocument/2006/relationships/slide" Target="slides/slide432.xml"/><Relationship Id="rId36" Type="http://schemas.openxmlformats.org/officeDocument/2006/relationships/slide" Target="slides/slide31.xml"/><Relationship Id="rId283" Type="http://schemas.openxmlformats.org/officeDocument/2006/relationships/slide" Target="slides/slide278.xml"/><Relationship Id="rId339" Type="http://schemas.openxmlformats.org/officeDocument/2006/relationships/slide" Target="slides/slide334.xml"/><Relationship Id="rId78" Type="http://schemas.openxmlformats.org/officeDocument/2006/relationships/slide" Target="slides/slide73.xml"/><Relationship Id="rId101" Type="http://schemas.openxmlformats.org/officeDocument/2006/relationships/slide" Target="slides/slide96.xml"/><Relationship Id="rId143" Type="http://schemas.openxmlformats.org/officeDocument/2006/relationships/slide" Target="slides/slide138.xml"/><Relationship Id="rId185" Type="http://schemas.openxmlformats.org/officeDocument/2006/relationships/slide" Target="slides/slide180.xml"/><Relationship Id="rId350" Type="http://schemas.openxmlformats.org/officeDocument/2006/relationships/slide" Target="slides/slide345.xml"/><Relationship Id="rId406" Type="http://schemas.openxmlformats.org/officeDocument/2006/relationships/slide" Target="slides/slide401.xml"/><Relationship Id="rId9" Type="http://schemas.openxmlformats.org/officeDocument/2006/relationships/slide" Target="slides/slide4.xml"/><Relationship Id="rId210" Type="http://schemas.openxmlformats.org/officeDocument/2006/relationships/slide" Target="slides/slide205.xml"/><Relationship Id="rId392" Type="http://schemas.openxmlformats.org/officeDocument/2006/relationships/slide" Target="slides/slide387.xml"/><Relationship Id="rId448" Type="http://schemas.openxmlformats.org/officeDocument/2006/relationships/slide" Target="slides/slide443.xml"/><Relationship Id="rId252" Type="http://schemas.openxmlformats.org/officeDocument/2006/relationships/slide" Target="slides/slide247.xml"/><Relationship Id="rId294" Type="http://schemas.openxmlformats.org/officeDocument/2006/relationships/slide" Target="slides/slide289.xml"/><Relationship Id="rId308" Type="http://schemas.openxmlformats.org/officeDocument/2006/relationships/slide" Target="slides/slide303.xml"/><Relationship Id="rId47" Type="http://schemas.openxmlformats.org/officeDocument/2006/relationships/slide" Target="slides/slide42.xml"/><Relationship Id="rId89" Type="http://schemas.openxmlformats.org/officeDocument/2006/relationships/slide" Target="slides/slide84.xml"/><Relationship Id="rId112" Type="http://schemas.openxmlformats.org/officeDocument/2006/relationships/slide" Target="slides/slide107.xml"/><Relationship Id="rId154" Type="http://schemas.openxmlformats.org/officeDocument/2006/relationships/slide" Target="slides/slide149.xml"/><Relationship Id="rId361" Type="http://schemas.openxmlformats.org/officeDocument/2006/relationships/slide" Target="slides/slide356.xml"/><Relationship Id="rId196" Type="http://schemas.openxmlformats.org/officeDocument/2006/relationships/slide" Target="slides/slide191.xml"/><Relationship Id="rId417" Type="http://schemas.openxmlformats.org/officeDocument/2006/relationships/slide" Target="slides/slide412.xml"/><Relationship Id="rId459" Type="http://schemas.openxmlformats.org/officeDocument/2006/relationships/presProps" Target="presProps.xml"/><Relationship Id="rId16" Type="http://schemas.openxmlformats.org/officeDocument/2006/relationships/slide" Target="slides/slide11.xml"/><Relationship Id="rId221" Type="http://schemas.openxmlformats.org/officeDocument/2006/relationships/slide" Target="slides/slide216.xml"/><Relationship Id="rId263" Type="http://schemas.openxmlformats.org/officeDocument/2006/relationships/slide" Target="slides/slide258.xml"/><Relationship Id="rId319" Type="http://schemas.openxmlformats.org/officeDocument/2006/relationships/slide" Target="slides/slide314.xml"/><Relationship Id="rId58" Type="http://schemas.openxmlformats.org/officeDocument/2006/relationships/slide" Target="slides/slide53.xml"/><Relationship Id="rId123" Type="http://schemas.openxmlformats.org/officeDocument/2006/relationships/slide" Target="slides/slide118.xml"/><Relationship Id="rId330" Type="http://schemas.openxmlformats.org/officeDocument/2006/relationships/slide" Target="slides/slide325.xml"/><Relationship Id="rId165" Type="http://schemas.openxmlformats.org/officeDocument/2006/relationships/slide" Target="slides/slide160.xml"/><Relationship Id="rId372" Type="http://schemas.openxmlformats.org/officeDocument/2006/relationships/slide" Target="slides/slide367.xml"/><Relationship Id="rId428" Type="http://schemas.openxmlformats.org/officeDocument/2006/relationships/slide" Target="slides/slide423.xml"/><Relationship Id="rId232" Type="http://schemas.openxmlformats.org/officeDocument/2006/relationships/slide" Target="slides/slide227.xml"/><Relationship Id="rId274" Type="http://schemas.openxmlformats.org/officeDocument/2006/relationships/slide" Target="slides/slide269.xml"/><Relationship Id="rId27" Type="http://schemas.openxmlformats.org/officeDocument/2006/relationships/slide" Target="slides/slide22.xml"/><Relationship Id="rId69" Type="http://schemas.openxmlformats.org/officeDocument/2006/relationships/slide" Target="slides/slide64.xml"/><Relationship Id="rId134" Type="http://schemas.openxmlformats.org/officeDocument/2006/relationships/slide" Target="slides/slide129.xml"/><Relationship Id="rId80" Type="http://schemas.openxmlformats.org/officeDocument/2006/relationships/slide" Target="slides/slide75.xml"/><Relationship Id="rId176" Type="http://schemas.openxmlformats.org/officeDocument/2006/relationships/slide" Target="slides/slide171.xml"/><Relationship Id="rId341" Type="http://schemas.openxmlformats.org/officeDocument/2006/relationships/slide" Target="slides/slide336.xml"/><Relationship Id="rId383" Type="http://schemas.openxmlformats.org/officeDocument/2006/relationships/slide" Target="slides/slide378.xml"/><Relationship Id="rId439" Type="http://schemas.openxmlformats.org/officeDocument/2006/relationships/slide" Target="slides/slide434.xml"/><Relationship Id="rId201" Type="http://schemas.openxmlformats.org/officeDocument/2006/relationships/slide" Target="slides/slide196.xml"/><Relationship Id="rId243" Type="http://schemas.openxmlformats.org/officeDocument/2006/relationships/slide" Target="slides/slide238.xml"/><Relationship Id="rId285" Type="http://schemas.openxmlformats.org/officeDocument/2006/relationships/slide" Target="slides/slide280.xml"/><Relationship Id="rId450" Type="http://schemas.openxmlformats.org/officeDocument/2006/relationships/slide" Target="slides/slide445.xml"/><Relationship Id="rId38" Type="http://schemas.openxmlformats.org/officeDocument/2006/relationships/slide" Target="slides/slide33.xml"/><Relationship Id="rId103" Type="http://schemas.openxmlformats.org/officeDocument/2006/relationships/slide" Target="slides/slide98.xml"/><Relationship Id="rId310" Type="http://schemas.openxmlformats.org/officeDocument/2006/relationships/slide" Target="slides/slide305.xml"/><Relationship Id="rId91" Type="http://schemas.openxmlformats.org/officeDocument/2006/relationships/slide" Target="slides/slide86.xml"/><Relationship Id="rId145" Type="http://schemas.openxmlformats.org/officeDocument/2006/relationships/slide" Target="slides/slide140.xml"/><Relationship Id="rId187" Type="http://schemas.openxmlformats.org/officeDocument/2006/relationships/slide" Target="slides/slide182.xml"/><Relationship Id="rId352" Type="http://schemas.openxmlformats.org/officeDocument/2006/relationships/slide" Target="slides/slide347.xml"/><Relationship Id="rId394" Type="http://schemas.openxmlformats.org/officeDocument/2006/relationships/slide" Target="slides/slide389.xml"/><Relationship Id="rId408" Type="http://schemas.openxmlformats.org/officeDocument/2006/relationships/slide" Target="slides/slide403.xml"/><Relationship Id="rId212" Type="http://schemas.openxmlformats.org/officeDocument/2006/relationships/slide" Target="slides/slide207.xml"/><Relationship Id="rId254" Type="http://schemas.openxmlformats.org/officeDocument/2006/relationships/slide" Target="slides/slide249.xml"/><Relationship Id="rId49" Type="http://schemas.openxmlformats.org/officeDocument/2006/relationships/slide" Target="slides/slide44.xml"/><Relationship Id="rId114" Type="http://schemas.openxmlformats.org/officeDocument/2006/relationships/slide" Target="slides/slide109.xml"/><Relationship Id="rId296" Type="http://schemas.openxmlformats.org/officeDocument/2006/relationships/slide" Target="slides/slide291.xml"/><Relationship Id="rId461" Type="http://schemas.openxmlformats.org/officeDocument/2006/relationships/theme" Target="theme/theme1.xml"/><Relationship Id="rId60" Type="http://schemas.openxmlformats.org/officeDocument/2006/relationships/slide" Target="slides/slide55.xml"/><Relationship Id="rId156" Type="http://schemas.openxmlformats.org/officeDocument/2006/relationships/slide" Target="slides/slide151.xml"/><Relationship Id="rId198" Type="http://schemas.openxmlformats.org/officeDocument/2006/relationships/slide" Target="slides/slide193.xml"/><Relationship Id="rId321" Type="http://schemas.openxmlformats.org/officeDocument/2006/relationships/slide" Target="slides/slide316.xml"/><Relationship Id="rId363" Type="http://schemas.openxmlformats.org/officeDocument/2006/relationships/slide" Target="slides/slide358.xml"/><Relationship Id="rId419" Type="http://schemas.openxmlformats.org/officeDocument/2006/relationships/slide" Target="slides/slide414.xml"/><Relationship Id="rId223" Type="http://schemas.openxmlformats.org/officeDocument/2006/relationships/slide" Target="slides/slide218.xml"/><Relationship Id="rId430" Type="http://schemas.openxmlformats.org/officeDocument/2006/relationships/slide" Target="slides/slide425.xml"/><Relationship Id="rId18" Type="http://schemas.openxmlformats.org/officeDocument/2006/relationships/slide" Target="slides/slide13.xml"/><Relationship Id="rId265" Type="http://schemas.openxmlformats.org/officeDocument/2006/relationships/slide" Target="slides/slide260.xml"/><Relationship Id="rId125" Type="http://schemas.openxmlformats.org/officeDocument/2006/relationships/slide" Target="slides/slide120.xml"/><Relationship Id="rId167" Type="http://schemas.openxmlformats.org/officeDocument/2006/relationships/slide" Target="slides/slide162.xml"/><Relationship Id="rId332" Type="http://schemas.openxmlformats.org/officeDocument/2006/relationships/slide" Target="slides/slide327.xml"/><Relationship Id="rId374" Type="http://schemas.openxmlformats.org/officeDocument/2006/relationships/slide" Target="slides/slide369.xml"/><Relationship Id="rId71" Type="http://schemas.openxmlformats.org/officeDocument/2006/relationships/slide" Target="slides/slide66.xml"/><Relationship Id="rId234" Type="http://schemas.openxmlformats.org/officeDocument/2006/relationships/slide" Target="slides/slide229.xml"/><Relationship Id="rId2" Type="http://schemas.openxmlformats.org/officeDocument/2006/relationships/customXml" Target="../customXml/item2.xml"/><Relationship Id="rId29" Type="http://schemas.openxmlformats.org/officeDocument/2006/relationships/slide" Target="slides/slide24.xml"/><Relationship Id="rId276" Type="http://schemas.openxmlformats.org/officeDocument/2006/relationships/slide" Target="slides/slide271.xml"/><Relationship Id="rId441" Type="http://schemas.openxmlformats.org/officeDocument/2006/relationships/slide" Target="slides/slide436.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301" Type="http://schemas.openxmlformats.org/officeDocument/2006/relationships/slide" Target="slides/slide296.xml"/><Relationship Id="rId322" Type="http://schemas.openxmlformats.org/officeDocument/2006/relationships/slide" Target="slides/slide317.xml"/><Relationship Id="rId343" Type="http://schemas.openxmlformats.org/officeDocument/2006/relationships/slide" Target="slides/slide338.xml"/><Relationship Id="rId364" Type="http://schemas.openxmlformats.org/officeDocument/2006/relationships/slide" Target="slides/slide359.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385" Type="http://schemas.openxmlformats.org/officeDocument/2006/relationships/slide" Target="slides/slide380.xml"/><Relationship Id="rId19" Type="http://schemas.openxmlformats.org/officeDocument/2006/relationships/slide" Target="slides/slide14.xml"/><Relationship Id="rId224" Type="http://schemas.openxmlformats.org/officeDocument/2006/relationships/slide" Target="slides/slide219.xml"/><Relationship Id="rId245" Type="http://schemas.openxmlformats.org/officeDocument/2006/relationships/slide" Target="slides/slide240.xml"/><Relationship Id="rId266" Type="http://schemas.openxmlformats.org/officeDocument/2006/relationships/slide" Target="slides/slide261.xml"/><Relationship Id="rId287" Type="http://schemas.openxmlformats.org/officeDocument/2006/relationships/slide" Target="slides/slide282.xml"/><Relationship Id="rId410" Type="http://schemas.openxmlformats.org/officeDocument/2006/relationships/slide" Target="slides/slide405.xml"/><Relationship Id="rId431" Type="http://schemas.openxmlformats.org/officeDocument/2006/relationships/slide" Target="slides/slide426.xml"/><Relationship Id="rId452" Type="http://schemas.openxmlformats.org/officeDocument/2006/relationships/slide" Target="slides/slide447.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312" Type="http://schemas.openxmlformats.org/officeDocument/2006/relationships/slide" Target="slides/slide307.xml"/><Relationship Id="rId333" Type="http://schemas.openxmlformats.org/officeDocument/2006/relationships/slide" Target="slides/slide328.xml"/><Relationship Id="rId354" Type="http://schemas.openxmlformats.org/officeDocument/2006/relationships/slide" Target="slides/slide349.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75" Type="http://schemas.openxmlformats.org/officeDocument/2006/relationships/slide" Target="slides/slide370.xml"/><Relationship Id="rId396" Type="http://schemas.openxmlformats.org/officeDocument/2006/relationships/slide" Target="slides/slide391.xml"/><Relationship Id="rId3" Type="http://schemas.openxmlformats.org/officeDocument/2006/relationships/customXml" Target="../customXml/item3.xml"/><Relationship Id="rId214" Type="http://schemas.openxmlformats.org/officeDocument/2006/relationships/slide" Target="slides/slide209.xml"/><Relationship Id="rId235" Type="http://schemas.openxmlformats.org/officeDocument/2006/relationships/slide" Target="slides/slide230.xml"/><Relationship Id="rId256" Type="http://schemas.openxmlformats.org/officeDocument/2006/relationships/slide" Target="slides/slide251.xml"/><Relationship Id="rId277" Type="http://schemas.openxmlformats.org/officeDocument/2006/relationships/slide" Target="slides/slide272.xml"/><Relationship Id="rId298" Type="http://schemas.openxmlformats.org/officeDocument/2006/relationships/slide" Target="slides/slide293.xml"/><Relationship Id="rId400" Type="http://schemas.openxmlformats.org/officeDocument/2006/relationships/slide" Target="slides/slide395.xml"/><Relationship Id="rId421" Type="http://schemas.openxmlformats.org/officeDocument/2006/relationships/slide" Target="slides/slide416.xml"/><Relationship Id="rId442" Type="http://schemas.openxmlformats.org/officeDocument/2006/relationships/slide" Target="slides/slide437.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302" Type="http://schemas.openxmlformats.org/officeDocument/2006/relationships/slide" Target="slides/slide297.xml"/><Relationship Id="rId323" Type="http://schemas.openxmlformats.org/officeDocument/2006/relationships/slide" Target="slides/slide318.xml"/><Relationship Id="rId344" Type="http://schemas.openxmlformats.org/officeDocument/2006/relationships/slide" Target="slides/slide339.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179" Type="http://schemas.openxmlformats.org/officeDocument/2006/relationships/slide" Target="slides/slide174.xml"/><Relationship Id="rId365" Type="http://schemas.openxmlformats.org/officeDocument/2006/relationships/slide" Target="slides/slide360.xml"/><Relationship Id="rId386" Type="http://schemas.openxmlformats.org/officeDocument/2006/relationships/slide" Target="slides/slide381.xml"/><Relationship Id="rId190" Type="http://schemas.openxmlformats.org/officeDocument/2006/relationships/slide" Target="slides/slide185.xml"/><Relationship Id="rId204" Type="http://schemas.openxmlformats.org/officeDocument/2006/relationships/slide" Target="slides/slide199.xml"/><Relationship Id="rId225" Type="http://schemas.openxmlformats.org/officeDocument/2006/relationships/slide" Target="slides/slide220.xml"/><Relationship Id="rId246" Type="http://schemas.openxmlformats.org/officeDocument/2006/relationships/slide" Target="slides/slide241.xml"/><Relationship Id="rId267" Type="http://schemas.openxmlformats.org/officeDocument/2006/relationships/slide" Target="slides/slide262.xml"/><Relationship Id="rId288" Type="http://schemas.openxmlformats.org/officeDocument/2006/relationships/slide" Target="slides/slide283.xml"/><Relationship Id="rId411" Type="http://schemas.openxmlformats.org/officeDocument/2006/relationships/slide" Target="slides/slide406.xml"/><Relationship Id="rId432" Type="http://schemas.openxmlformats.org/officeDocument/2006/relationships/slide" Target="slides/slide427.xml"/><Relationship Id="rId453" Type="http://schemas.openxmlformats.org/officeDocument/2006/relationships/slide" Target="slides/slide448.xml"/><Relationship Id="rId106" Type="http://schemas.openxmlformats.org/officeDocument/2006/relationships/slide" Target="slides/slide101.xml"/><Relationship Id="rId127" Type="http://schemas.openxmlformats.org/officeDocument/2006/relationships/slide" Target="slides/slide122.xml"/><Relationship Id="rId313" Type="http://schemas.openxmlformats.org/officeDocument/2006/relationships/slide" Target="slides/slide308.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94" Type="http://schemas.openxmlformats.org/officeDocument/2006/relationships/slide" Target="slides/slide89.xml"/><Relationship Id="rId148" Type="http://schemas.openxmlformats.org/officeDocument/2006/relationships/slide" Target="slides/slide143.xml"/><Relationship Id="rId169" Type="http://schemas.openxmlformats.org/officeDocument/2006/relationships/slide" Target="slides/slide164.xml"/><Relationship Id="rId334" Type="http://schemas.openxmlformats.org/officeDocument/2006/relationships/slide" Target="slides/slide329.xml"/><Relationship Id="rId355" Type="http://schemas.openxmlformats.org/officeDocument/2006/relationships/slide" Target="slides/slide350.xml"/><Relationship Id="rId376" Type="http://schemas.openxmlformats.org/officeDocument/2006/relationships/slide" Target="slides/slide371.xml"/><Relationship Id="rId397" Type="http://schemas.openxmlformats.org/officeDocument/2006/relationships/slide" Target="slides/slide392.xml"/><Relationship Id="rId4" Type="http://schemas.openxmlformats.org/officeDocument/2006/relationships/slideMaster" Target="slideMasters/slideMaster1.xml"/><Relationship Id="rId180" Type="http://schemas.openxmlformats.org/officeDocument/2006/relationships/slide" Target="slides/slide175.xml"/><Relationship Id="rId215" Type="http://schemas.openxmlformats.org/officeDocument/2006/relationships/slide" Target="slides/slide210.xml"/><Relationship Id="rId236" Type="http://schemas.openxmlformats.org/officeDocument/2006/relationships/slide" Target="slides/slide231.xml"/><Relationship Id="rId257" Type="http://schemas.openxmlformats.org/officeDocument/2006/relationships/slide" Target="slides/slide252.xml"/><Relationship Id="rId278" Type="http://schemas.openxmlformats.org/officeDocument/2006/relationships/slide" Target="slides/slide273.xml"/><Relationship Id="rId401" Type="http://schemas.openxmlformats.org/officeDocument/2006/relationships/slide" Target="slides/slide396.xml"/><Relationship Id="rId422" Type="http://schemas.openxmlformats.org/officeDocument/2006/relationships/slide" Target="slides/slide417.xml"/><Relationship Id="rId443" Type="http://schemas.openxmlformats.org/officeDocument/2006/relationships/slide" Target="slides/slide438.xml"/><Relationship Id="rId303" Type="http://schemas.openxmlformats.org/officeDocument/2006/relationships/slide" Target="slides/slide298.xml"/><Relationship Id="rId42" Type="http://schemas.openxmlformats.org/officeDocument/2006/relationships/slide" Target="slides/slide37.xml"/><Relationship Id="rId84" Type="http://schemas.openxmlformats.org/officeDocument/2006/relationships/slide" Target="slides/slide79.xml"/><Relationship Id="rId138" Type="http://schemas.openxmlformats.org/officeDocument/2006/relationships/slide" Target="slides/slide133.xml"/><Relationship Id="rId345" Type="http://schemas.openxmlformats.org/officeDocument/2006/relationships/slide" Target="slides/slide340.xml"/><Relationship Id="rId387" Type="http://schemas.openxmlformats.org/officeDocument/2006/relationships/slide" Target="slides/slide382.xml"/><Relationship Id="rId191" Type="http://schemas.openxmlformats.org/officeDocument/2006/relationships/slide" Target="slides/slide186.xml"/><Relationship Id="rId205" Type="http://schemas.openxmlformats.org/officeDocument/2006/relationships/slide" Target="slides/slide200.xml"/><Relationship Id="rId247" Type="http://schemas.openxmlformats.org/officeDocument/2006/relationships/slide" Target="slides/slide242.xml"/><Relationship Id="rId412" Type="http://schemas.openxmlformats.org/officeDocument/2006/relationships/slide" Target="slides/slide407.xml"/><Relationship Id="rId107" Type="http://schemas.openxmlformats.org/officeDocument/2006/relationships/slide" Target="slides/slide102.xml"/><Relationship Id="rId289" Type="http://schemas.openxmlformats.org/officeDocument/2006/relationships/slide" Target="slides/slide284.xml"/><Relationship Id="rId454" Type="http://schemas.openxmlformats.org/officeDocument/2006/relationships/slide" Target="slides/slide449.xml"/><Relationship Id="rId11" Type="http://schemas.openxmlformats.org/officeDocument/2006/relationships/slide" Target="slides/slide6.xml"/><Relationship Id="rId53" Type="http://schemas.openxmlformats.org/officeDocument/2006/relationships/slide" Target="slides/slide48.xml"/><Relationship Id="rId149" Type="http://schemas.openxmlformats.org/officeDocument/2006/relationships/slide" Target="slides/slide144.xml"/><Relationship Id="rId314" Type="http://schemas.openxmlformats.org/officeDocument/2006/relationships/slide" Target="slides/slide309.xml"/><Relationship Id="rId356" Type="http://schemas.openxmlformats.org/officeDocument/2006/relationships/slide" Target="slides/slide351.xml"/><Relationship Id="rId398" Type="http://schemas.openxmlformats.org/officeDocument/2006/relationships/slide" Target="slides/slide393.xml"/><Relationship Id="rId95" Type="http://schemas.openxmlformats.org/officeDocument/2006/relationships/slide" Target="slides/slide90.xml"/><Relationship Id="rId160" Type="http://schemas.openxmlformats.org/officeDocument/2006/relationships/slide" Target="slides/slide155.xml"/><Relationship Id="rId216" Type="http://schemas.openxmlformats.org/officeDocument/2006/relationships/slide" Target="slides/slide211.xml"/><Relationship Id="rId423" Type="http://schemas.openxmlformats.org/officeDocument/2006/relationships/slide" Target="slides/slide418.xml"/><Relationship Id="rId258" Type="http://schemas.openxmlformats.org/officeDocument/2006/relationships/slide" Target="slides/slide253.xml"/><Relationship Id="rId22" Type="http://schemas.openxmlformats.org/officeDocument/2006/relationships/slide" Target="slides/slide17.xml"/><Relationship Id="rId64" Type="http://schemas.openxmlformats.org/officeDocument/2006/relationships/slide" Target="slides/slide59.xml"/><Relationship Id="rId118" Type="http://schemas.openxmlformats.org/officeDocument/2006/relationships/slide" Target="slides/slide113.xml"/><Relationship Id="rId325" Type="http://schemas.openxmlformats.org/officeDocument/2006/relationships/slide" Target="slides/slide320.xml"/><Relationship Id="rId367" Type="http://schemas.openxmlformats.org/officeDocument/2006/relationships/slide" Target="slides/slide362.xml"/><Relationship Id="rId171" Type="http://schemas.openxmlformats.org/officeDocument/2006/relationships/slide" Target="slides/slide166.xml"/><Relationship Id="rId227" Type="http://schemas.openxmlformats.org/officeDocument/2006/relationships/slide" Target="slides/slide222.xml"/><Relationship Id="rId269" Type="http://schemas.openxmlformats.org/officeDocument/2006/relationships/slide" Target="slides/slide264.xml"/><Relationship Id="rId434" Type="http://schemas.openxmlformats.org/officeDocument/2006/relationships/slide" Target="slides/slide429.xml"/><Relationship Id="rId33" Type="http://schemas.openxmlformats.org/officeDocument/2006/relationships/slide" Target="slides/slide28.xml"/><Relationship Id="rId129" Type="http://schemas.openxmlformats.org/officeDocument/2006/relationships/slide" Target="slides/slide124.xml"/><Relationship Id="rId280" Type="http://schemas.openxmlformats.org/officeDocument/2006/relationships/slide" Target="slides/slide275.xml"/><Relationship Id="rId336" Type="http://schemas.openxmlformats.org/officeDocument/2006/relationships/slide" Target="slides/slide331.xml"/><Relationship Id="rId75" Type="http://schemas.openxmlformats.org/officeDocument/2006/relationships/slide" Target="slides/slide70.xml"/><Relationship Id="rId140" Type="http://schemas.openxmlformats.org/officeDocument/2006/relationships/slide" Target="slides/slide135.xml"/><Relationship Id="rId182" Type="http://schemas.openxmlformats.org/officeDocument/2006/relationships/slide" Target="slides/slide177.xml"/><Relationship Id="rId378" Type="http://schemas.openxmlformats.org/officeDocument/2006/relationships/slide" Target="slides/slide373.xml"/><Relationship Id="rId403" Type="http://schemas.openxmlformats.org/officeDocument/2006/relationships/slide" Target="slides/slide398.xml"/><Relationship Id="rId6" Type="http://schemas.openxmlformats.org/officeDocument/2006/relationships/slide" Target="slides/slide1.xml"/><Relationship Id="rId238" Type="http://schemas.openxmlformats.org/officeDocument/2006/relationships/slide" Target="slides/slide233.xml"/><Relationship Id="rId445" Type="http://schemas.openxmlformats.org/officeDocument/2006/relationships/slide" Target="slides/slide440.xml"/><Relationship Id="rId291" Type="http://schemas.openxmlformats.org/officeDocument/2006/relationships/slide" Target="slides/slide286.xml"/><Relationship Id="rId305" Type="http://schemas.openxmlformats.org/officeDocument/2006/relationships/slide" Target="slides/slide300.xml"/><Relationship Id="rId347" Type="http://schemas.openxmlformats.org/officeDocument/2006/relationships/slide" Target="slides/slide342.xml"/><Relationship Id="rId44" Type="http://schemas.openxmlformats.org/officeDocument/2006/relationships/slide" Target="slides/slide39.xml"/><Relationship Id="rId86" Type="http://schemas.openxmlformats.org/officeDocument/2006/relationships/slide" Target="slides/slide81.xml"/><Relationship Id="rId151" Type="http://schemas.openxmlformats.org/officeDocument/2006/relationships/slide" Target="slides/slide146.xml"/><Relationship Id="rId389" Type="http://schemas.openxmlformats.org/officeDocument/2006/relationships/slide" Target="slides/slide384.xml"/><Relationship Id="rId193" Type="http://schemas.openxmlformats.org/officeDocument/2006/relationships/slide" Target="slides/slide188.xml"/><Relationship Id="rId207" Type="http://schemas.openxmlformats.org/officeDocument/2006/relationships/slide" Target="slides/slide202.xml"/><Relationship Id="rId249" Type="http://schemas.openxmlformats.org/officeDocument/2006/relationships/slide" Target="slides/slide244.xml"/><Relationship Id="rId414" Type="http://schemas.openxmlformats.org/officeDocument/2006/relationships/slide" Target="slides/slide409.xml"/><Relationship Id="rId456" Type="http://schemas.openxmlformats.org/officeDocument/2006/relationships/notesMaster" Target="notesMasters/notesMaster1.xml"/><Relationship Id="rId13" Type="http://schemas.openxmlformats.org/officeDocument/2006/relationships/slide" Target="slides/slide8.xml"/><Relationship Id="rId109" Type="http://schemas.openxmlformats.org/officeDocument/2006/relationships/slide" Target="slides/slide104.xml"/><Relationship Id="rId260" Type="http://schemas.openxmlformats.org/officeDocument/2006/relationships/slide" Target="slides/slide255.xml"/><Relationship Id="rId316" Type="http://schemas.openxmlformats.org/officeDocument/2006/relationships/slide" Target="slides/slide311.xml"/><Relationship Id="rId55" Type="http://schemas.openxmlformats.org/officeDocument/2006/relationships/slide" Target="slides/slide50.xml"/><Relationship Id="rId97" Type="http://schemas.openxmlformats.org/officeDocument/2006/relationships/slide" Target="slides/slide92.xml"/><Relationship Id="rId120" Type="http://schemas.openxmlformats.org/officeDocument/2006/relationships/slide" Target="slides/slide115.xml"/><Relationship Id="rId358" Type="http://schemas.openxmlformats.org/officeDocument/2006/relationships/slide" Target="slides/slide353.xml"/><Relationship Id="rId162" Type="http://schemas.openxmlformats.org/officeDocument/2006/relationships/slide" Target="slides/slide157.xml"/><Relationship Id="rId218" Type="http://schemas.openxmlformats.org/officeDocument/2006/relationships/slide" Target="slides/slide213.xml"/><Relationship Id="rId425" Type="http://schemas.openxmlformats.org/officeDocument/2006/relationships/slide" Target="slides/slide420.xml"/><Relationship Id="rId271" Type="http://schemas.openxmlformats.org/officeDocument/2006/relationships/slide" Target="slides/slide266.xml"/><Relationship Id="rId24" Type="http://schemas.openxmlformats.org/officeDocument/2006/relationships/slide" Target="slides/slide19.xml"/><Relationship Id="rId66" Type="http://schemas.openxmlformats.org/officeDocument/2006/relationships/slide" Target="slides/slide61.xml"/><Relationship Id="rId131" Type="http://schemas.openxmlformats.org/officeDocument/2006/relationships/slide" Target="slides/slide126.xml"/><Relationship Id="rId327" Type="http://schemas.openxmlformats.org/officeDocument/2006/relationships/slide" Target="slides/slide322.xml"/><Relationship Id="rId369" Type="http://schemas.openxmlformats.org/officeDocument/2006/relationships/slide" Target="slides/slide364.xml"/><Relationship Id="rId173" Type="http://schemas.openxmlformats.org/officeDocument/2006/relationships/slide" Target="slides/slide168.xml"/><Relationship Id="rId229" Type="http://schemas.openxmlformats.org/officeDocument/2006/relationships/slide" Target="slides/slide224.xml"/><Relationship Id="rId380" Type="http://schemas.openxmlformats.org/officeDocument/2006/relationships/slide" Target="slides/slide375.xml"/><Relationship Id="rId436" Type="http://schemas.openxmlformats.org/officeDocument/2006/relationships/slide" Target="slides/slide431.xml"/><Relationship Id="rId240" Type="http://schemas.openxmlformats.org/officeDocument/2006/relationships/slide" Target="slides/slide235.xml"/><Relationship Id="rId35" Type="http://schemas.openxmlformats.org/officeDocument/2006/relationships/slide" Target="slides/slide30.xml"/><Relationship Id="rId77" Type="http://schemas.openxmlformats.org/officeDocument/2006/relationships/slide" Target="slides/slide72.xml"/><Relationship Id="rId100" Type="http://schemas.openxmlformats.org/officeDocument/2006/relationships/slide" Target="slides/slide95.xml"/><Relationship Id="rId282" Type="http://schemas.openxmlformats.org/officeDocument/2006/relationships/slide" Target="slides/slide277.xml"/><Relationship Id="rId338" Type="http://schemas.openxmlformats.org/officeDocument/2006/relationships/slide" Target="slides/slide333.xml"/><Relationship Id="rId8" Type="http://schemas.openxmlformats.org/officeDocument/2006/relationships/slide" Target="slides/slide3.xml"/><Relationship Id="rId142" Type="http://schemas.openxmlformats.org/officeDocument/2006/relationships/slide" Target="slides/slide137.xml"/><Relationship Id="rId184" Type="http://schemas.openxmlformats.org/officeDocument/2006/relationships/slide" Target="slides/slide179.xml"/><Relationship Id="rId391" Type="http://schemas.openxmlformats.org/officeDocument/2006/relationships/slide" Target="slides/slide386.xml"/><Relationship Id="rId405" Type="http://schemas.openxmlformats.org/officeDocument/2006/relationships/slide" Target="slides/slide400.xml"/><Relationship Id="rId447" Type="http://schemas.openxmlformats.org/officeDocument/2006/relationships/slide" Target="slides/slide442.xml"/><Relationship Id="rId251" Type="http://schemas.openxmlformats.org/officeDocument/2006/relationships/slide" Target="slides/slide246.xml"/><Relationship Id="rId46" Type="http://schemas.openxmlformats.org/officeDocument/2006/relationships/slide" Target="slides/slide41.xml"/><Relationship Id="rId293" Type="http://schemas.openxmlformats.org/officeDocument/2006/relationships/slide" Target="slides/slide288.xml"/><Relationship Id="rId307" Type="http://schemas.openxmlformats.org/officeDocument/2006/relationships/slide" Target="slides/slide302.xml"/><Relationship Id="rId349" Type="http://schemas.openxmlformats.org/officeDocument/2006/relationships/slide" Target="slides/slide344.xml"/><Relationship Id="rId88" Type="http://schemas.openxmlformats.org/officeDocument/2006/relationships/slide" Target="slides/slide83.xml"/><Relationship Id="rId111" Type="http://schemas.openxmlformats.org/officeDocument/2006/relationships/slide" Target="slides/slide106.xml"/><Relationship Id="rId153" Type="http://schemas.openxmlformats.org/officeDocument/2006/relationships/slide" Target="slides/slide148.xml"/><Relationship Id="rId195" Type="http://schemas.openxmlformats.org/officeDocument/2006/relationships/slide" Target="slides/slide190.xml"/><Relationship Id="rId209" Type="http://schemas.openxmlformats.org/officeDocument/2006/relationships/slide" Target="slides/slide204.xml"/><Relationship Id="rId360" Type="http://schemas.openxmlformats.org/officeDocument/2006/relationships/slide" Target="slides/slide355.xml"/><Relationship Id="rId416" Type="http://schemas.openxmlformats.org/officeDocument/2006/relationships/slide" Target="slides/slide411.xml"/><Relationship Id="rId220" Type="http://schemas.openxmlformats.org/officeDocument/2006/relationships/slide" Target="slides/slide215.xml"/><Relationship Id="rId458" Type="http://schemas.openxmlformats.org/officeDocument/2006/relationships/commentAuthors" Target="commentAuthors.xml"/><Relationship Id="rId15" Type="http://schemas.openxmlformats.org/officeDocument/2006/relationships/slide" Target="slides/slide10.xml"/><Relationship Id="rId57" Type="http://schemas.openxmlformats.org/officeDocument/2006/relationships/slide" Target="slides/slide52.xml"/><Relationship Id="rId262" Type="http://schemas.openxmlformats.org/officeDocument/2006/relationships/slide" Target="slides/slide257.xml"/><Relationship Id="rId318" Type="http://schemas.openxmlformats.org/officeDocument/2006/relationships/slide" Target="slides/slide313.xml"/><Relationship Id="rId99" Type="http://schemas.openxmlformats.org/officeDocument/2006/relationships/slide" Target="slides/slide94.xml"/><Relationship Id="rId122" Type="http://schemas.openxmlformats.org/officeDocument/2006/relationships/slide" Target="slides/slide117.xml"/><Relationship Id="rId164" Type="http://schemas.openxmlformats.org/officeDocument/2006/relationships/slide" Target="slides/slide159.xml"/><Relationship Id="rId371" Type="http://schemas.openxmlformats.org/officeDocument/2006/relationships/slide" Target="slides/slide366.xml"/><Relationship Id="rId427" Type="http://schemas.openxmlformats.org/officeDocument/2006/relationships/slide" Target="slides/slide422.xml"/><Relationship Id="rId26" Type="http://schemas.openxmlformats.org/officeDocument/2006/relationships/slide" Target="slides/slide21.xml"/><Relationship Id="rId231" Type="http://schemas.openxmlformats.org/officeDocument/2006/relationships/slide" Target="slides/slide226.xml"/><Relationship Id="rId273" Type="http://schemas.openxmlformats.org/officeDocument/2006/relationships/slide" Target="slides/slide268.xml"/><Relationship Id="rId329" Type="http://schemas.openxmlformats.org/officeDocument/2006/relationships/slide" Target="slides/slide324.xml"/><Relationship Id="rId68" Type="http://schemas.openxmlformats.org/officeDocument/2006/relationships/slide" Target="slides/slide63.xml"/><Relationship Id="rId133" Type="http://schemas.openxmlformats.org/officeDocument/2006/relationships/slide" Target="slides/slide128.xml"/><Relationship Id="rId175" Type="http://schemas.openxmlformats.org/officeDocument/2006/relationships/slide" Target="slides/slide170.xml"/><Relationship Id="rId340" Type="http://schemas.openxmlformats.org/officeDocument/2006/relationships/slide" Target="slides/slide335.xml"/><Relationship Id="rId200" Type="http://schemas.openxmlformats.org/officeDocument/2006/relationships/slide" Target="slides/slide195.xml"/><Relationship Id="rId382" Type="http://schemas.openxmlformats.org/officeDocument/2006/relationships/slide" Target="slides/slide377.xml"/><Relationship Id="rId438" Type="http://schemas.openxmlformats.org/officeDocument/2006/relationships/slide" Target="slides/slide433.xml"/><Relationship Id="rId242" Type="http://schemas.openxmlformats.org/officeDocument/2006/relationships/slide" Target="slides/slide237.xml"/><Relationship Id="rId284" Type="http://schemas.openxmlformats.org/officeDocument/2006/relationships/slide" Target="slides/slide279.xml"/><Relationship Id="rId37" Type="http://schemas.openxmlformats.org/officeDocument/2006/relationships/slide" Target="slides/slide32.xml"/><Relationship Id="rId79" Type="http://schemas.openxmlformats.org/officeDocument/2006/relationships/slide" Target="slides/slide74.xml"/><Relationship Id="rId102" Type="http://schemas.openxmlformats.org/officeDocument/2006/relationships/slide" Target="slides/slide97.xml"/><Relationship Id="rId144" Type="http://schemas.openxmlformats.org/officeDocument/2006/relationships/slide" Target="slides/slide139.xml"/><Relationship Id="rId90" Type="http://schemas.openxmlformats.org/officeDocument/2006/relationships/slide" Target="slides/slide85.xml"/><Relationship Id="rId186" Type="http://schemas.openxmlformats.org/officeDocument/2006/relationships/slide" Target="slides/slide181.xml"/><Relationship Id="rId351" Type="http://schemas.openxmlformats.org/officeDocument/2006/relationships/slide" Target="slides/slide346.xml"/><Relationship Id="rId393" Type="http://schemas.openxmlformats.org/officeDocument/2006/relationships/slide" Target="slides/slide388.xml"/><Relationship Id="rId407" Type="http://schemas.openxmlformats.org/officeDocument/2006/relationships/slide" Target="slides/slide402.xml"/><Relationship Id="rId449" Type="http://schemas.openxmlformats.org/officeDocument/2006/relationships/slide" Target="slides/slide444.xml"/><Relationship Id="rId211" Type="http://schemas.openxmlformats.org/officeDocument/2006/relationships/slide" Target="slides/slide206.xml"/><Relationship Id="rId253" Type="http://schemas.openxmlformats.org/officeDocument/2006/relationships/slide" Target="slides/slide248.xml"/><Relationship Id="rId295" Type="http://schemas.openxmlformats.org/officeDocument/2006/relationships/slide" Target="slides/slide290.xml"/><Relationship Id="rId309" Type="http://schemas.openxmlformats.org/officeDocument/2006/relationships/slide" Target="slides/slide304.xml"/><Relationship Id="rId460" Type="http://schemas.openxmlformats.org/officeDocument/2006/relationships/viewProps" Target="viewProps.xml"/><Relationship Id="rId48" Type="http://schemas.openxmlformats.org/officeDocument/2006/relationships/slide" Target="slides/slide43.xml"/><Relationship Id="rId113" Type="http://schemas.openxmlformats.org/officeDocument/2006/relationships/slide" Target="slides/slide108.xml"/><Relationship Id="rId320" Type="http://schemas.openxmlformats.org/officeDocument/2006/relationships/slide" Target="slides/slide315.xml"/><Relationship Id="rId155" Type="http://schemas.openxmlformats.org/officeDocument/2006/relationships/slide" Target="slides/slide150.xml"/><Relationship Id="rId197" Type="http://schemas.openxmlformats.org/officeDocument/2006/relationships/slide" Target="slides/slide192.xml"/><Relationship Id="rId362" Type="http://schemas.openxmlformats.org/officeDocument/2006/relationships/slide" Target="slides/slide357.xml"/><Relationship Id="rId418" Type="http://schemas.openxmlformats.org/officeDocument/2006/relationships/slide" Target="slides/slide413.xml"/><Relationship Id="rId222" Type="http://schemas.openxmlformats.org/officeDocument/2006/relationships/slide" Target="slides/slide217.xml"/><Relationship Id="rId264" Type="http://schemas.openxmlformats.org/officeDocument/2006/relationships/slide" Target="slides/slide259.xml"/><Relationship Id="rId17" Type="http://schemas.openxmlformats.org/officeDocument/2006/relationships/slide" Target="slides/slide12.xml"/><Relationship Id="rId59" Type="http://schemas.openxmlformats.org/officeDocument/2006/relationships/slide" Target="slides/slide54.xml"/><Relationship Id="rId124" Type="http://schemas.openxmlformats.org/officeDocument/2006/relationships/slide" Target="slides/slide119.xml"/><Relationship Id="rId70" Type="http://schemas.openxmlformats.org/officeDocument/2006/relationships/slide" Target="slides/slide65.xml"/><Relationship Id="rId166" Type="http://schemas.openxmlformats.org/officeDocument/2006/relationships/slide" Target="slides/slide161.xml"/><Relationship Id="rId331" Type="http://schemas.openxmlformats.org/officeDocument/2006/relationships/slide" Target="slides/slide326.xml"/><Relationship Id="rId373" Type="http://schemas.openxmlformats.org/officeDocument/2006/relationships/slide" Target="slides/slide368.xml"/><Relationship Id="rId429" Type="http://schemas.openxmlformats.org/officeDocument/2006/relationships/slide" Target="slides/slide424.xml"/><Relationship Id="rId1" Type="http://schemas.openxmlformats.org/officeDocument/2006/relationships/customXml" Target="../customXml/item1.xml"/><Relationship Id="rId233" Type="http://schemas.openxmlformats.org/officeDocument/2006/relationships/slide" Target="slides/slide228.xml"/><Relationship Id="rId440" Type="http://schemas.openxmlformats.org/officeDocument/2006/relationships/slide" Target="slides/slide435.xml"/><Relationship Id="rId28" Type="http://schemas.openxmlformats.org/officeDocument/2006/relationships/slide" Target="slides/slide23.xml"/><Relationship Id="rId275" Type="http://schemas.openxmlformats.org/officeDocument/2006/relationships/slide" Target="slides/slide270.xml"/><Relationship Id="rId300" Type="http://schemas.openxmlformats.org/officeDocument/2006/relationships/slide" Target="slides/slide295.xml"/><Relationship Id="rId81" Type="http://schemas.openxmlformats.org/officeDocument/2006/relationships/slide" Target="slides/slide76.xml"/><Relationship Id="rId135" Type="http://schemas.openxmlformats.org/officeDocument/2006/relationships/slide" Target="slides/slide130.xml"/><Relationship Id="rId177" Type="http://schemas.openxmlformats.org/officeDocument/2006/relationships/slide" Target="slides/slide172.xml"/><Relationship Id="rId342" Type="http://schemas.openxmlformats.org/officeDocument/2006/relationships/slide" Target="slides/slide337.xml"/><Relationship Id="rId384" Type="http://schemas.openxmlformats.org/officeDocument/2006/relationships/slide" Target="slides/slide379.xml"/><Relationship Id="rId202" Type="http://schemas.openxmlformats.org/officeDocument/2006/relationships/slide" Target="slides/slide197.xml"/><Relationship Id="rId244" Type="http://schemas.openxmlformats.org/officeDocument/2006/relationships/slide" Target="slides/slide239.xml"/><Relationship Id="rId39" Type="http://schemas.openxmlformats.org/officeDocument/2006/relationships/slide" Target="slides/slide34.xml"/><Relationship Id="rId286" Type="http://schemas.openxmlformats.org/officeDocument/2006/relationships/slide" Target="slides/slide281.xml"/><Relationship Id="rId451" Type="http://schemas.openxmlformats.org/officeDocument/2006/relationships/slide" Target="slides/slide446.xml"/><Relationship Id="rId50" Type="http://schemas.openxmlformats.org/officeDocument/2006/relationships/slide" Target="slides/slide45.xml"/><Relationship Id="rId104" Type="http://schemas.openxmlformats.org/officeDocument/2006/relationships/slide" Target="slides/slide99.xml"/><Relationship Id="rId146" Type="http://schemas.openxmlformats.org/officeDocument/2006/relationships/slide" Target="slides/slide141.xml"/><Relationship Id="rId188" Type="http://schemas.openxmlformats.org/officeDocument/2006/relationships/slide" Target="slides/slide183.xml"/><Relationship Id="rId311" Type="http://schemas.openxmlformats.org/officeDocument/2006/relationships/slide" Target="slides/slide306.xml"/><Relationship Id="rId353" Type="http://schemas.openxmlformats.org/officeDocument/2006/relationships/slide" Target="slides/slide348.xml"/><Relationship Id="rId395" Type="http://schemas.openxmlformats.org/officeDocument/2006/relationships/slide" Target="slides/slide390.xml"/><Relationship Id="rId409" Type="http://schemas.openxmlformats.org/officeDocument/2006/relationships/slide" Target="slides/slide404.xml"/><Relationship Id="rId92" Type="http://schemas.openxmlformats.org/officeDocument/2006/relationships/slide" Target="slides/slide87.xml"/><Relationship Id="rId213" Type="http://schemas.openxmlformats.org/officeDocument/2006/relationships/slide" Target="slides/slide208.xml"/><Relationship Id="rId420" Type="http://schemas.openxmlformats.org/officeDocument/2006/relationships/slide" Target="slides/slide415.xml"/><Relationship Id="rId255" Type="http://schemas.openxmlformats.org/officeDocument/2006/relationships/slide" Target="slides/slide250.xml"/><Relationship Id="rId297" Type="http://schemas.openxmlformats.org/officeDocument/2006/relationships/slide" Target="slides/slide292.xml"/><Relationship Id="rId46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AAF34-71F8-6342-832E-C583FEB3F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700CEA-93F0-3648-8636-3ECA00800B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887149-AF03-6142-908A-3DD284EAF54B}" type="datetimeFigureOut">
              <a:rPr lang="en-US" smtClean="0"/>
              <a:t>9/18/21</a:t>
            </a:fld>
            <a:endParaRPr lang="en-US"/>
          </a:p>
        </p:txBody>
      </p:sp>
      <p:sp>
        <p:nvSpPr>
          <p:cNvPr id="4" name="Footer Placeholder 3">
            <a:extLst>
              <a:ext uri="{FF2B5EF4-FFF2-40B4-BE49-F238E27FC236}">
                <a16:creationId xmlns:a16="http://schemas.microsoft.com/office/drawing/2014/main" id="{15D72482-B212-B34F-AAFC-10B8C8EF7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0B9C6E-4611-5A44-8B47-37FCE89DE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1AC043-34FA-4C46-BDAD-AE3E2DBAD1A4}" type="slidenum">
              <a:rPr lang="en-US" smtClean="0"/>
              <a:t>‹#›</a:t>
            </a:fld>
            <a:endParaRPr lang="en-US"/>
          </a:p>
        </p:txBody>
      </p:sp>
    </p:spTree>
    <p:extLst>
      <p:ext uri="{BB962C8B-B14F-4D97-AF65-F5344CB8AC3E}">
        <p14:creationId xmlns:p14="http://schemas.microsoft.com/office/powerpoint/2010/main" val="2463646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9/18/21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C3F2ED-74C5-7D4F-8560-0CC253E9A436}" type="slidenum">
              <a:rPr lang="en-US" smtClean="0"/>
              <a:pPr/>
              <a:t>1</a:t>
            </a:fld>
            <a:endParaRPr lang="en-US" dirty="0"/>
          </a:p>
        </p:txBody>
      </p:sp>
    </p:spTree>
    <p:extLst>
      <p:ext uri="{BB962C8B-B14F-4D97-AF65-F5344CB8AC3E}">
        <p14:creationId xmlns:p14="http://schemas.microsoft.com/office/powerpoint/2010/main" val="77329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2200" dirty="0">
                <a:effectLst/>
                <a:latin typeface="Helvetica Neue"/>
                <a:ea typeface="Helvetica Neue"/>
                <a:cs typeface="Helvetica Neue"/>
                <a:sym typeface="Helvetica Neue"/>
              </a:rPr>
              <a:t>Insert next o Jeremy </a:t>
            </a:r>
            <a:r>
              <a:rPr lang="en-US" sz="2200" dirty="0" err="1">
                <a:effectLst/>
                <a:latin typeface="Helvetica Neue"/>
                <a:ea typeface="Helvetica Neue"/>
                <a:cs typeface="Helvetica Neue"/>
                <a:sym typeface="Helvetica Neue"/>
              </a:rPr>
              <a:t>Thalen</a:t>
            </a:r>
            <a:r>
              <a:rPr lang="en-US" sz="2200" baseline="0" dirty="0">
                <a:effectLst/>
                <a:latin typeface="Helvetica Neue"/>
                <a:ea typeface="Helvetica Neue"/>
                <a:cs typeface="Helvetica Neue"/>
                <a:sym typeface="Helvetica Neue"/>
              </a:rPr>
              <a:t> Masada – Custom Billing Analyst</a:t>
            </a:r>
            <a:endParaRPr lang="en-US" sz="2200" dirty="0">
              <a:effectLst/>
              <a:latin typeface="Helvetica Neue"/>
              <a:ea typeface="Helvetica Neue"/>
              <a:cs typeface="Helvetica Neue"/>
              <a:sym typeface="Helvetica Neue"/>
            </a:endParaRPr>
          </a:p>
          <a:p>
            <a:pPr marL="0" marR="0" lvl="0" indent="0" defTabSz="457200" eaLnBrk="1" fontAlgn="auto" latinLnBrk="0" hangingPunct="1">
              <a:lnSpc>
                <a:spcPct val="117999"/>
              </a:lnSpc>
              <a:spcBef>
                <a:spcPts val="0"/>
              </a:spcBef>
              <a:spcAft>
                <a:spcPts val="0"/>
              </a:spcAft>
              <a:buClrTx/>
              <a:buSzTx/>
              <a:buFontTx/>
              <a:buNone/>
              <a:tabLst/>
              <a:defRPr/>
            </a:pPr>
            <a:br>
              <a:rPr lang="en-US" dirty="0"/>
            </a:br>
            <a:endParaRPr lang="en-US" dirty="0"/>
          </a:p>
        </p:txBody>
      </p:sp>
    </p:spTree>
    <p:extLst>
      <p:ext uri="{BB962C8B-B14F-4D97-AF65-F5344CB8AC3E}">
        <p14:creationId xmlns:p14="http://schemas.microsoft.com/office/powerpoint/2010/main" val="3753516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Increase max volume size to 64TB from 16TB</a:t>
            </a:r>
          </a:p>
          <a:p>
            <a:pPr marL="342900" indent="-342900">
              <a:buFont typeface="Arial" panose="020B0604020202020204" pitchFamily="34" charset="0"/>
              <a:buChar char="•"/>
            </a:pPr>
            <a:r>
              <a:rPr lang="en-US" dirty="0"/>
              <a:t>Max IOPS to 256K from 64K</a:t>
            </a:r>
          </a:p>
          <a:p>
            <a:pPr marL="342900" indent="-342900">
              <a:buFont typeface="Arial" panose="020B0604020202020204" pitchFamily="34" charset="0"/>
              <a:buChar char="•"/>
            </a:pPr>
            <a:r>
              <a:rPr lang="en-US" dirty="0"/>
              <a:t>Max throughput to 4000 MB/s from 1000 MB/s</a:t>
            </a:r>
          </a:p>
        </p:txBody>
      </p:sp>
      <p:sp>
        <p:nvSpPr>
          <p:cNvPr id="4" name="Slide Number Placeholder 3"/>
          <p:cNvSpPr>
            <a:spLocks noGrp="1"/>
          </p:cNvSpPr>
          <p:nvPr>
            <p:ph type="sldNum" sz="quarter" idx="5"/>
          </p:nvPr>
        </p:nvSpPr>
        <p:spPr/>
        <p:txBody>
          <a:bodyPr/>
          <a:lstStyle/>
          <a:p>
            <a:fld id="{69C3F2ED-74C5-7D4F-8560-0CC253E9A436}" type="slidenum">
              <a:rPr lang="en-US" smtClean="0"/>
              <a:pPr/>
              <a:t>6</a:t>
            </a:fld>
            <a:endParaRPr lang="en-US" dirty="0"/>
          </a:p>
        </p:txBody>
      </p:sp>
    </p:spTree>
    <p:extLst>
      <p:ext uri="{BB962C8B-B14F-4D97-AF65-F5344CB8AC3E}">
        <p14:creationId xmlns:p14="http://schemas.microsoft.com/office/powerpoint/2010/main" val="2737753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May help with the decision on S3 interface endpoints vs gateway endpoints</a:t>
            </a:r>
          </a:p>
        </p:txBody>
      </p:sp>
      <p:sp>
        <p:nvSpPr>
          <p:cNvPr id="4" name="Slide Number Placeholder 3"/>
          <p:cNvSpPr>
            <a:spLocks noGrp="1"/>
          </p:cNvSpPr>
          <p:nvPr>
            <p:ph type="sldNum" sz="quarter" idx="5"/>
          </p:nvPr>
        </p:nvSpPr>
        <p:spPr/>
        <p:txBody>
          <a:bodyPr/>
          <a:lstStyle/>
          <a:p>
            <a:fld id="{69C3F2ED-74C5-7D4F-8560-0CC253E9A436}" type="slidenum">
              <a:rPr lang="en-US" smtClean="0"/>
              <a:pPr/>
              <a:t>8</a:t>
            </a:fld>
            <a:endParaRPr lang="en-US" dirty="0"/>
          </a:p>
        </p:txBody>
      </p:sp>
    </p:spTree>
    <p:extLst>
      <p:ext uri="{BB962C8B-B14F-4D97-AF65-F5344CB8AC3E}">
        <p14:creationId xmlns:p14="http://schemas.microsoft.com/office/powerpoint/2010/main" val="1579866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Graviton2 processors deliver up to 40% better price performance</a:t>
            </a:r>
          </a:p>
        </p:txBody>
      </p:sp>
      <p:sp>
        <p:nvSpPr>
          <p:cNvPr id="4" name="Slide Number Placeholder 3"/>
          <p:cNvSpPr>
            <a:spLocks noGrp="1"/>
          </p:cNvSpPr>
          <p:nvPr>
            <p:ph type="sldNum" sz="quarter" idx="5"/>
          </p:nvPr>
        </p:nvSpPr>
        <p:spPr/>
        <p:txBody>
          <a:bodyPr/>
          <a:lstStyle/>
          <a:p>
            <a:fld id="{69C3F2ED-74C5-7D4F-8560-0CC253E9A436}" type="slidenum">
              <a:rPr lang="en-US" smtClean="0"/>
              <a:pPr/>
              <a:t>9</a:t>
            </a:fld>
            <a:endParaRPr lang="en-US" dirty="0"/>
          </a:p>
        </p:txBody>
      </p:sp>
    </p:spTree>
    <p:extLst>
      <p:ext uri="{BB962C8B-B14F-4D97-AF65-F5344CB8AC3E}">
        <p14:creationId xmlns:p14="http://schemas.microsoft.com/office/powerpoint/2010/main" val="3020809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err="1"/>
              <a:t>openCypher</a:t>
            </a:r>
            <a:r>
              <a:rPr lang="en-US" dirty="0"/>
              <a:t> is the most widely adopted and open query language for property graph databases</a:t>
            </a:r>
          </a:p>
        </p:txBody>
      </p:sp>
      <p:sp>
        <p:nvSpPr>
          <p:cNvPr id="4" name="Slide Number Placeholder 3"/>
          <p:cNvSpPr>
            <a:spLocks noGrp="1"/>
          </p:cNvSpPr>
          <p:nvPr>
            <p:ph type="sldNum" sz="quarter" idx="5"/>
          </p:nvPr>
        </p:nvSpPr>
        <p:spPr/>
        <p:txBody>
          <a:bodyPr/>
          <a:lstStyle/>
          <a:p>
            <a:fld id="{69C3F2ED-74C5-7D4F-8560-0CC253E9A436}" type="slidenum">
              <a:rPr lang="en-US" smtClean="0"/>
              <a:pPr/>
              <a:t>14</a:t>
            </a:fld>
            <a:endParaRPr lang="en-US" dirty="0"/>
          </a:p>
        </p:txBody>
      </p:sp>
    </p:spTree>
    <p:extLst>
      <p:ext uri="{BB962C8B-B14F-4D97-AF65-F5344CB8AC3E}">
        <p14:creationId xmlns:p14="http://schemas.microsoft.com/office/powerpoint/2010/main" val="289032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Previously max bandwidth was 5 GB/s</a:t>
            </a:r>
          </a:p>
          <a:p>
            <a:pPr marL="342900" indent="-342900">
              <a:buFont typeface="Arial" panose="020B0604020202020204" pitchFamily="34" charset="0"/>
              <a:buChar char="•"/>
            </a:pPr>
            <a:r>
              <a:rPr lang="en-US" dirty="0"/>
              <a:t>Now max bandwidth is up to 50% of the instance network </a:t>
            </a:r>
            <a:r>
              <a:rPr lang="en-US" dirty="0" err="1"/>
              <a:t>bandwith</a:t>
            </a:r>
            <a:r>
              <a:rPr lang="en-US" dirty="0"/>
              <a:t> (e.g. C5n.9xlarge has instance N/W bandwidth of 50 GB/s, so 25 GB/s to IG, </a:t>
            </a:r>
            <a:r>
              <a:rPr lang="en-US" dirty="0" err="1"/>
              <a:t>DirectConnect</a:t>
            </a:r>
            <a:r>
              <a:rPr lang="en-US" dirty="0"/>
              <a:t> and other regions</a:t>
            </a:r>
          </a:p>
        </p:txBody>
      </p:sp>
      <p:sp>
        <p:nvSpPr>
          <p:cNvPr id="4" name="Slide Number Placeholder 3"/>
          <p:cNvSpPr>
            <a:spLocks noGrp="1"/>
          </p:cNvSpPr>
          <p:nvPr>
            <p:ph type="sldNum" sz="quarter" idx="5"/>
          </p:nvPr>
        </p:nvSpPr>
        <p:spPr/>
        <p:txBody>
          <a:bodyPr/>
          <a:lstStyle/>
          <a:p>
            <a:fld id="{69C3F2ED-74C5-7D4F-8560-0CC253E9A436}" type="slidenum">
              <a:rPr lang="en-US" smtClean="0"/>
              <a:pPr/>
              <a:t>19</a:t>
            </a:fld>
            <a:endParaRPr lang="en-US" dirty="0"/>
          </a:p>
        </p:txBody>
      </p:sp>
    </p:spTree>
    <p:extLst>
      <p:ext uri="{BB962C8B-B14F-4D97-AF65-F5344CB8AC3E}">
        <p14:creationId xmlns:p14="http://schemas.microsoft.com/office/powerpoint/2010/main" val="3750443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dirty="0"/>
              <a:t>This capability compares screenshots during a canary run with a baseline for visual discrepancy</a:t>
            </a:r>
          </a:p>
        </p:txBody>
      </p:sp>
      <p:sp>
        <p:nvSpPr>
          <p:cNvPr id="4" name="Slide Number Placeholder 3"/>
          <p:cNvSpPr>
            <a:spLocks noGrp="1"/>
          </p:cNvSpPr>
          <p:nvPr>
            <p:ph type="sldNum" sz="quarter" idx="5"/>
          </p:nvPr>
        </p:nvSpPr>
        <p:spPr/>
        <p:txBody>
          <a:bodyPr/>
          <a:lstStyle/>
          <a:p>
            <a:fld id="{69C3F2ED-74C5-7D4F-8560-0CC253E9A436}" type="slidenum">
              <a:rPr lang="en-US" smtClean="0"/>
              <a:pPr/>
              <a:t>23</a:t>
            </a:fld>
            <a:endParaRPr lang="en-US" dirty="0"/>
          </a:p>
        </p:txBody>
      </p:sp>
    </p:spTree>
    <p:extLst>
      <p:ext uri="{BB962C8B-B14F-4D97-AF65-F5344CB8AC3E}">
        <p14:creationId xmlns:p14="http://schemas.microsoft.com/office/powerpoint/2010/main" val="1036212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_OneSpeaker">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a:srcRect l="15935" r="10110"/>
          <a:stretch/>
        </p:blipFill>
        <p:spPr>
          <a:xfrm>
            <a:off x="-1" y="0"/>
            <a:ext cx="14630402"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8640" y="731520"/>
            <a:ext cx="1357299" cy="811459"/>
          </a:xfrm>
          <a:prstGeom prst="rect">
            <a:avLst/>
          </a:prstGeom>
        </p:spPr>
      </p:pic>
      <p:sp>
        <p:nvSpPr>
          <p:cNvPr id="7" name="TextBox 6">
            <a:extLst>
              <a:ext uri="{FF2B5EF4-FFF2-40B4-BE49-F238E27FC236}">
                <a16:creationId xmlns:a16="http://schemas.microsoft.com/office/drawing/2014/main" id="{8FA84D03-8133-8347-8776-300EBD9F8B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341213090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TwoSpeakers">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BB242C-E142-0A43-9F1E-0928D9F8BACE}"/>
              </a:ext>
            </a:extLst>
          </p:cNvPr>
          <p:cNvPicPr>
            <a:picLocks noChangeAspect="1"/>
          </p:cNvPicPr>
          <p:nvPr userDrawn="1"/>
        </p:nvPicPr>
        <p:blipFill rotWithShape="1">
          <a:blip r:embed="rId2"/>
          <a:srcRect l="15935" r="10110"/>
          <a:stretch/>
        </p:blipFill>
        <p:spPr>
          <a:xfrm>
            <a:off x="-1" y="0"/>
            <a:ext cx="14630402"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baseline="0"/>
            </a:lvl1pPr>
          </a:lstStyle>
          <a:p>
            <a:pPr lvl="0"/>
            <a:r>
              <a:rPr lang="en-US" dirty="0"/>
              <a:t>Click to edit Master title style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Master text styles</a:t>
            </a:r>
          </a:p>
          <a:p>
            <a:pPr lvl="0"/>
            <a:r>
              <a:rPr lang="en-US" dirty="0"/>
              <a:t>Social handle</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48640" y="731520"/>
            <a:ext cx="1357299" cy="811459"/>
          </a:xfrm>
          <a:prstGeom prst="rect">
            <a:avLst/>
          </a:prstGeom>
        </p:spPr>
      </p:pic>
      <p:sp>
        <p:nvSpPr>
          <p:cNvPr id="8" name="TextBox 7">
            <a:extLst>
              <a:ext uri="{FF2B5EF4-FFF2-40B4-BE49-F238E27FC236}">
                <a16:creationId xmlns:a16="http://schemas.microsoft.com/office/drawing/2014/main" id="{F9D47D4A-FB0D-BE48-ADF8-B8DECA8916C1}"/>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20053143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_of_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993392"/>
          </a:xfrm>
        </p:spPr>
        <p:txBody>
          <a:bodyPr/>
          <a:lstStyle/>
          <a:p>
            <a:r>
              <a:rPr lang="en-US" dirty="0"/>
              <a:t>Click to edit Master title style</a:t>
            </a:r>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4686301"/>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48651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Slide_and_Subtitl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4A737D-052C-C84E-A767-DC5456E4AA50}"/>
              </a:ext>
            </a:extLst>
          </p:cNvPr>
          <p:cNvPicPr>
            <a:picLocks noChangeAspect="1"/>
          </p:cNvPicPr>
          <p:nvPr userDrawn="1"/>
        </p:nvPicPr>
        <p:blipFill rotWithShape="1">
          <a:blip r:embed="rId2"/>
          <a:srcRect l="3434"/>
          <a:stretch/>
        </p:blipFill>
        <p:spPr>
          <a:xfrm>
            <a:off x="0" y="0"/>
            <a:ext cx="14630400" cy="8229600"/>
          </a:xfrm>
          <a:prstGeom prst="rect">
            <a:avLst/>
          </a:prstGeom>
          <a:ln>
            <a:solidFill>
              <a:schemeClr val="accent4"/>
            </a:solidFill>
          </a:ln>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en-US" dirty="0"/>
              <a:t>Edit Master text styles</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_Slide">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4A737D-052C-C84E-A767-DC5456E4AA50}"/>
              </a:ext>
            </a:extLst>
          </p:cNvPr>
          <p:cNvPicPr>
            <a:picLocks noChangeAspect="1"/>
          </p:cNvPicPr>
          <p:nvPr userDrawn="1"/>
        </p:nvPicPr>
        <p:blipFill rotWithShape="1">
          <a:blip r:embed="rId2"/>
          <a:srcRect l="3434"/>
          <a:stretch/>
        </p:blipFill>
        <p:spPr>
          <a:xfrm>
            <a:off x="0" y="0"/>
            <a:ext cx="14630400" cy="8229600"/>
          </a:xfrm>
          <a:prstGeom prst="rect">
            <a:avLst/>
          </a:prstGeom>
          <a:ln>
            <a:solidFill>
              <a:schemeClr val="accent4"/>
            </a:solidFill>
          </a:ln>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6" name="Picture 5">
            <a:extLst>
              <a:ext uri="{FF2B5EF4-FFF2-40B4-BE49-F238E27FC236}">
                <a16:creationId xmlns:a16="http://schemas.microsoft.com/office/drawing/2014/main" id="{8A2B94E5-EC77-5143-891C-94FF7C49B89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4029020389"/>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_Slide_SquidInk">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DB510E-163A-A649-85E1-F07635A2E3BD}"/>
              </a:ext>
            </a:extLst>
          </p:cNvPr>
          <p:cNvPicPr>
            <a:picLocks noChangeAspect="1"/>
          </p:cNvPicPr>
          <p:nvPr userDrawn="1"/>
        </p:nvPicPr>
        <p:blipFill rotWithShape="1">
          <a:blip r:embed="rId2"/>
          <a:srcRect l="17935" r="18573"/>
          <a:stretch/>
        </p:blipFill>
        <p:spPr>
          <a:xfrm>
            <a:off x="2"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9" name="TextBox 8">
            <a:extLst>
              <a:ext uri="{FF2B5EF4-FFF2-40B4-BE49-F238E27FC236}">
                <a16:creationId xmlns:a16="http://schemas.microsoft.com/office/drawing/2014/main" id="{A7A5C8A9-88F8-344F-882F-87878685B257}"/>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46358460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_Slide_Orange">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96C4F3-CA83-2A40-9F3D-E162458BB038}"/>
              </a:ext>
            </a:extLst>
          </p:cNvPr>
          <p:cNvPicPr>
            <a:picLocks noChangeAspect="1"/>
          </p:cNvPicPr>
          <p:nvPr userDrawn="1"/>
        </p:nvPicPr>
        <p:blipFill rotWithShape="1">
          <a:blip r:embed="rId2"/>
          <a:srcRect l="16348" r="20161"/>
          <a:stretch/>
        </p:blipFill>
        <p:spPr>
          <a:xfrm>
            <a:off x="2"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73141658-2646-1048-A1DE-3FB40A06912B}"/>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146264072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_Slide_Green">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DE0CB9-C246-C948-A3A8-F1FE53173FBC}"/>
              </a:ext>
            </a:extLst>
          </p:cNvPr>
          <p:cNvPicPr>
            <a:picLocks noChangeAspect="1"/>
          </p:cNvPicPr>
          <p:nvPr userDrawn="1"/>
        </p:nvPicPr>
        <p:blipFill rotWithShape="1">
          <a:blip r:embed="rId2"/>
          <a:srcRect l="36508"/>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cap="none">
                <a:solidFill>
                  <a:schemeClr val="tx1"/>
                </a:solidFill>
              </a:defRPr>
            </a:lvl1pPr>
          </a:lstStyle>
          <a:p>
            <a:r>
              <a:rPr lang="en-US" dirty="0"/>
              <a:t>Click to edit Master title style</a:t>
            </a:r>
          </a:p>
        </p:txBody>
      </p:sp>
      <p:pic>
        <p:nvPicPr>
          <p:cNvPr id="5" name="Picture 4">
            <a:extLst>
              <a:ext uri="{FF2B5EF4-FFF2-40B4-BE49-F238E27FC236}">
                <a16:creationId xmlns:a16="http://schemas.microsoft.com/office/drawing/2014/main" id="{A82B5894-DCBD-3A4E-BD40-DCA1D16A4B4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6FEF9E69-433E-DC4C-824E-7F476DC4478C}"/>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170465183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_Bulleted_Lis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1460" cy="873186"/>
          </a:xfrm>
        </p:spPr>
        <p:txBody>
          <a:bodyPr/>
          <a:lstStyle/>
          <a:p>
            <a:r>
              <a:rPr lang="en-US" dirty="0"/>
              <a:t>Click to edit Master title style</a:t>
            </a:r>
          </a:p>
        </p:txBody>
      </p:sp>
      <p:sp>
        <p:nvSpPr>
          <p:cNvPr id="3" name="Content Placeholder 2"/>
          <p:cNvSpPr>
            <a:spLocks noGrp="1"/>
          </p:cNvSpPr>
          <p:nvPr>
            <p:ph sz="half" idx="1"/>
          </p:nvPr>
        </p:nvSpPr>
        <p:spPr>
          <a:xfrm>
            <a:off x="548640" y="1645920"/>
            <a:ext cx="13510260" cy="5431155"/>
          </a:xfrm>
          <a:prstGeom prst="rect">
            <a:avLst/>
          </a:prstGeom>
        </p:spPr>
        <p:txBody>
          <a:bodyPr>
            <a:normAutofit/>
          </a:bodyPr>
          <a:lstStyle>
            <a:lvl1pPr>
              <a:defRPr sz="3200"/>
            </a:lvl1pPr>
            <a:lvl2pPr>
              <a:defRPr sz="2900"/>
            </a:lvl2pPr>
            <a:lvl3pPr>
              <a:defRPr sz="2600"/>
            </a:lvl3pPr>
            <a:lvl4pPr marL="2194560" indent="0">
              <a:buNone/>
              <a:defRPr sz="2600"/>
            </a:lvl4pPr>
            <a:lvl5pPr>
              <a:defRPr sz="2560"/>
            </a:lvl5pPr>
            <a:lvl6pPr>
              <a:defRPr sz="2880"/>
            </a:lvl6pPr>
            <a:lvl7pPr>
              <a:defRPr sz="2880"/>
            </a:lvl7pPr>
            <a:lvl8pPr>
              <a:defRPr sz="2880"/>
            </a:lvl8pPr>
            <a:lvl9pPr>
              <a:defRPr sz="288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82639658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_Bulleted_Sections">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5pPr>
              <a:defRPr sz="19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351929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and_Imag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p>
            <a:endParaRPr lang="en-US"/>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sed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diam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spTree>
    <p:extLst>
      <p:ext uri="{BB962C8B-B14F-4D97-AF65-F5344CB8AC3E}">
        <p14:creationId xmlns:p14="http://schemas.microsoft.com/office/powerpoint/2010/main" val="1841750186"/>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Coll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endParaRPr lang="en-US"/>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endParaRPr lang="en-US"/>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endParaRPr lang="en-US"/>
          </a:p>
        </p:txBody>
      </p:sp>
    </p:spTree>
    <p:extLst>
      <p:ext uri="{BB962C8B-B14F-4D97-AF65-F5344CB8AC3E}">
        <p14:creationId xmlns:p14="http://schemas.microsoft.com/office/powerpoint/2010/main" val="290128780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_Image">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p>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p>
            <a:endParaRPr lang="en-US"/>
          </a:p>
        </p:txBody>
      </p:sp>
    </p:spTree>
    <p:extLst>
      <p:ext uri="{BB962C8B-B14F-4D97-AF65-F5344CB8AC3E}">
        <p14:creationId xmlns:p14="http://schemas.microsoft.com/office/powerpoint/2010/main" val="45102675"/>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_Image_Center">
    <p:bg>
      <p:bgRef idx="1001">
        <a:schemeClr val="bg2"/>
      </p:bgRef>
    </p:bg>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p>
            <a:endParaRPr lang="en-US"/>
          </a:p>
        </p:txBody>
      </p:sp>
    </p:spTree>
    <p:extLst>
      <p:ext uri="{BB962C8B-B14F-4D97-AF65-F5344CB8AC3E}">
        <p14:creationId xmlns:p14="http://schemas.microsoft.com/office/powerpoint/2010/main" val="334530184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_Bleed_Image">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1"/>
            <a:ext cx="14630400" cy="8229598"/>
          </a:xfrm>
          <a:prstGeom prst="rect">
            <a:avLst/>
          </a:prstGeom>
        </p:spPr>
        <p:txBody>
          <a:bodyPr/>
          <a:lstStyle/>
          <a:p>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24351669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or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en-US"/>
              <a:t>Drag picture to placeholder or click icon to add</a:t>
            </a:r>
            <a:endParaRPr lang="en-US" dirty="0"/>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en-US" dirty="0"/>
              <a:t>Drag picture to placeholder or click icon to add</a:t>
            </a:r>
          </a:p>
        </p:txBody>
      </p:sp>
    </p:spTree>
    <p:extLst>
      <p:ext uri="{BB962C8B-B14F-4D97-AF65-F5344CB8AC3E}">
        <p14:creationId xmlns:p14="http://schemas.microsoft.com/office/powerpoint/2010/main" val="230250567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hite_Logo_Customer_Wall">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en-US" dirty="0"/>
              <a:t>Click to edit Master title style</a:t>
            </a:r>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en-US" dirty="0"/>
              <a:t>Drag picture to placeholder or click icon to add</a:t>
            </a:r>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en-US"/>
              <a:t>Drag picture to placeholder or click icon to add</a:t>
            </a:r>
            <a:endParaRPr lang="en-US" dirty="0"/>
          </a:p>
        </p:txBody>
      </p:sp>
    </p:spTree>
    <p:extLst>
      <p:ext uri="{BB962C8B-B14F-4D97-AF65-F5344CB8AC3E}">
        <p14:creationId xmlns:p14="http://schemas.microsoft.com/office/powerpoint/2010/main" val="3273093039"/>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a:solidFill>
                  <a:schemeClr val="tx1"/>
                </a:solidFill>
              </a:defRPr>
            </a:lvl1pPr>
          </a:lstStyle>
          <a:p>
            <a:r>
              <a:rPr lang="en-US" dirty="0"/>
              <a:t>Click to edit Master title style</a:t>
            </a:r>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p>
            <a:endParaRPr lang="en-US" dirty="0"/>
          </a:p>
        </p:txBody>
      </p:sp>
    </p:spTree>
    <p:extLst>
      <p:ext uri="{BB962C8B-B14F-4D97-AF65-F5344CB8AC3E}">
        <p14:creationId xmlns:p14="http://schemas.microsoft.com/office/powerpoint/2010/main" val="2636968817"/>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ar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a:solidFill>
                  <a:schemeClr val="tx1"/>
                </a:solidFill>
              </a:defRPr>
            </a:lvl1pPr>
          </a:lstStyle>
          <a:p>
            <a:r>
              <a:rPr lang="en-US" dirty="0"/>
              <a:t>Click to edit Master title style</a:t>
            </a:r>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154736194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p>
            <a:r>
              <a:rPr lang="en-US" dirty="0"/>
              <a:t>Click to edit Master title style</a:t>
            </a:r>
          </a:p>
        </p:txBody>
      </p:sp>
      <p:sp>
        <p:nvSpPr>
          <p:cNvPr id="6" name="Chart Placeholder 5">
            <a:extLst>
              <a:ext uri="{FF2B5EF4-FFF2-40B4-BE49-F238E27FC236}">
                <a16:creationId xmlns:a16="http://schemas.microsoft.com/office/drawing/2014/main" id="{A878172D-692F-8A47-81EA-89C129774DB9}"/>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467069072"/>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ne_Char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p>
            <a:r>
              <a:rPr lang="en-US" dirty="0"/>
              <a:t>Click to edit Master title style</a:t>
            </a:r>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endParaRPr lang="en-US" dirty="0"/>
          </a:p>
        </p:txBody>
      </p:sp>
    </p:spTree>
    <p:extLst>
      <p:ext uri="{BB962C8B-B14F-4D97-AF65-F5344CB8AC3E}">
        <p14:creationId xmlns:p14="http://schemas.microsoft.com/office/powerpoint/2010/main" val="308330463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amp;A">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pic>
        <p:nvPicPr>
          <p:cNvPr id="7" name="Picture 6">
            <a:extLst>
              <a:ext uri="{FF2B5EF4-FFF2-40B4-BE49-F238E27FC236}">
                <a16:creationId xmlns:a16="http://schemas.microsoft.com/office/drawing/2014/main" id="{94053231-B084-9A4B-85F1-9250CD176FC1}"/>
              </a:ext>
            </a:extLst>
          </p:cNvPr>
          <p:cNvPicPr>
            <a:picLocks noChangeAspect="1"/>
          </p:cNvPicPr>
          <p:nvPr userDrawn="1"/>
        </p:nvPicPr>
        <p:blipFill rotWithShape="1">
          <a:blip r:embed="rId2"/>
          <a:srcRect l="23063" r="13445"/>
          <a:stretch/>
        </p:blipFill>
        <p:spPr>
          <a:xfrm>
            <a:off x="0" y="0"/>
            <a:ext cx="14630400" cy="8229600"/>
          </a:xfrm>
          <a:prstGeom prst="rect">
            <a:avLst/>
          </a:prstGeom>
        </p:spPr>
      </p:pic>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10" name="Title 1"/>
          <p:cNvSpPr>
            <a:spLocks noGrp="1"/>
          </p:cNvSpPr>
          <p:nvPr>
            <p:ph type="title"/>
          </p:nvPr>
        </p:nvSpPr>
        <p:spPr>
          <a:xfrm>
            <a:off x="548640" y="2589430"/>
            <a:ext cx="10660674" cy="1127019"/>
          </a:xfrm>
        </p:spPr>
        <p:txBody>
          <a:bodyPr anchor="ctr" anchorCtr="0">
            <a:noAutofit/>
          </a:bodyPr>
          <a:lstStyle>
            <a:lvl1pPr algn="l">
              <a:defRPr sz="6400"/>
            </a:lvl1pPr>
          </a:lstStyle>
          <a:p>
            <a:r>
              <a:rPr lang="en-US" dirty="0"/>
              <a:t>Click to edit Master title style</a:t>
            </a:r>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3" name="Text Placeholder 2">
            <a:extLst>
              <a:ext uri="{FF2B5EF4-FFF2-40B4-BE49-F238E27FC236}">
                <a16:creationId xmlns:a16="http://schemas.microsoft.com/office/drawing/2014/main" id="{9976E15E-156A-6740-8723-C74DD4148FEE}"/>
              </a:ext>
            </a:extLst>
          </p:cNvPr>
          <p:cNvSpPr>
            <a:spLocks noGrp="1"/>
          </p:cNvSpPr>
          <p:nvPr>
            <p:ph type="body" sz="quarter" idx="10"/>
          </p:nvPr>
        </p:nvSpPr>
        <p:spPr>
          <a:xfrm>
            <a:off x="548640" y="3716448"/>
            <a:ext cx="6380480" cy="792480"/>
          </a:xfrm>
          <a:prstGeom prst="rect">
            <a:avLst/>
          </a:prstGeom>
        </p:spPr>
        <p:txBody>
          <a:bodyPr/>
          <a:lstStyle/>
          <a:p>
            <a:pPr lvl="0"/>
            <a:r>
              <a:rPr lang="en-US" dirty="0"/>
              <a:t>Edit Master text styles</a:t>
            </a:r>
          </a:p>
        </p:txBody>
      </p:sp>
      <p:sp>
        <p:nvSpPr>
          <p:cNvPr id="14" name="Text Placeholder 11">
            <a:extLst>
              <a:ext uri="{FF2B5EF4-FFF2-40B4-BE49-F238E27FC236}">
                <a16:creationId xmlns:a16="http://schemas.microsoft.com/office/drawing/2014/main" id="{2B3CA729-7DC1-3A41-B24F-C56CB70A70FE}"/>
              </a:ext>
            </a:extLst>
          </p:cNvPr>
          <p:cNvSpPr>
            <a:spLocks noGrp="1"/>
          </p:cNvSpPr>
          <p:nvPr>
            <p:ph type="body" sz="quarter" idx="11"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Date, location</a:t>
            </a:r>
          </a:p>
        </p:txBody>
      </p:sp>
      <p:sp>
        <p:nvSpPr>
          <p:cNvPr id="11" name="TextBox 10">
            <a:extLst>
              <a:ext uri="{FF2B5EF4-FFF2-40B4-BE49-F238E27FC236}">
                <a16:creationId xmlns:a16="http://schemas.microsoft.com/office/drawing/2014/main" id="{F8B67D2B-BBD1-B546-A8C7-1FAD2B60374A}"/>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hank_You">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D519FF-1BA2-9B41-8FA0-19EC8D679C9A}"/>
              </a:ext>
            </a:extLst>
          </p:cNvPr>
          <p:cNvPicPr>
            <a:picLocks noChangeAspect="1"/>
          </p:cNvPicPr>
          <p:nvPr userDrawn="1"/>
        </p:nvPicPr>
        <p:blipFill rotWithShape="1">
          <a:blip r:embed="rId2"/>
          <a:srcRect l="25044" r="11463"/>
          <a:stretch/>
        </p:blipFill>
        <p:spPr>
          <a:xfrm>
            <a:off x="0" y="0"/>
            <a:ext cx="14630400" cy="8229600"/>
          </a:xfrm>
          <a:prstGeom prst="rect">
            <a:avLst/>
          </a:prstGeom>
        </p:spPr>
      </p:pic>
      <p:sp>
        <p:nvSpPr>
          <p:cNvPr id="2" name="Title 1"/>
          <p:cNvSpPr>
            <a:spLocks noGrp="1"/>
          </p:cNvSpPr>
          <p:nvPr>
            <p:ph type="title" hasCustomPrompt="1"/>
          </p:nvPr>
        </p:nvSpPr>
        <p:spPr>
          <a:xfrm>
            <a:off x="548640" y="2481329"/>
            <a:ext cx="12435840" cy="1634490"/>
          </a:xfrm>
        </p:spPr>
        <p:txBody>
          <a:bodyPr anchor="ctr">
            <a:noAutofit/>
          </a:bodyPr>
          <a:lstStyle>
            <a:lvl1pPr algn="l">
              <a:defRPr sz="6400" b="1" cap="none">
                <a:solidFill>
                  <a:schemeClr val="tx1"/>
                </a:solidFill>
              </a:defRPr>
            </a:lvl1pPr>
          </a:lstStyle>
          <a:p>
            <a:r>
              <a:rPr lang="en-US" dirty="0"/>
              <a:t>Thank you!</a:t>
            </a:r>
          </a:p>
        </p:txBody>
      </p:sp>
      <p:sp>
        <p:nvSpPr>
          <p:cNvPr id="3" name="Text Placeholder 11"/>
          <p:cNvSpPr>
            <a:spLocks noGrp="1"/>
          </p:cNvSpPr>
          <p:nvPr>
            <p:ph type="body" sz="quarter" idx="10"/>
          </p:nvPr>
        </p:nvSpPr>
        <p:spPr>
          <a:xfrm>
            <a:off x="548640" y="4115820"/>
            <a:ext cx="5892800" cy="693419"/>
          </a:xfrm>
          <a:prstGeom prst="rect">
            <a:avLst/>
          </a:prstGeom>
        </p:spPr>
        <p:txBody>
          <a:bodyPr>
            <a:normAutofit/>
          </a:bodyPr>
          <a:lstStyle>
            <a:lvl1pPr marL="0" indent="0" algn="l">
              <a:buNone/>
              <a:defRPr sz="2600" baseline="0"/>
            </a:lvl1pPr>
          </a:lstStyle>
          <a:p>
            <a:pPr lvl="0"/>
            <a:r>
              <a:rPr lang="en-US" dirty="0"/>
              <a:t>Click to edit Master text styles</a:t>
            </a:r>
          </a:p>
        </p:txBody>
      </p:sp>
      <p:pic>
        <p:nvPicPr>
          <p:cNvPr id="7" name="Picture 6">
            <a:extLst>
              <a:ext uri="{FF2B5EF4-FFF2-40B4-BE49-F238E27FC236}">
                <a16:creationId xmlns:a16="http://schemas.microsoft.com/office/drawing/2014/main" id="{4440B841-0DCE-4646-9E0E-B1E464D98E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
        <p:nvSpPr>
          <p:cNvPr id="8" name="TextBox 7">
            <a:extLst>
              <a:ext uri="{FF2B5EF4-FFF2-40B4-BE49-F238E27FC236}">
                <a16:creationId xmlns:a16="http://schemas.microsoft.com/office/drawing/2014/main" id="{8EC9990E-A3D8-4641-B99A-B31E88C6D0B8}"/>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Blank_Pag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p>
            <a:r>
              <a:rPr lang="en-US" dirty="0"/>
              <a:t>Click to edit Master title style</a:t>
            </a:r>
          </a:p>
        </p:txBody>
      </p:sp>
    </p:spTree>
    <p:extLst>
      <p:ext uri="{BB962C8B-B14F-4D97-AF65-F5344CB8AC3E}">
        <p14:creationId xmlns:p14="http://schemas.microsoft.com/office/powerpoint/2010/main" val="2381838818"/>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able_of_Content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4832" cy="873186"/>
          </a:xfrm>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544947" y="1645920"/>
            <a:ext cx="13514832" cy="5686282"/>
          </a:xfrm>
          <a:prstGeom prst="rect">
            <a:avLst/>
          </a:prstGeom>
        </p:spPr>
        <p:txBody>
          <a:bodyPr/>
          <a:lstStyle>
            <a:lvl1pPr marL="0" indent="0">
              <a:buNone/>
              <a:defRPr>
                <a:solidFill>
                  <a:schemeClr val="tx2"/>
                </a:solidFill>
              </a:defRPr>
            </a:lvl1pPr>
            <a:lvl2pPr marL="1188720" indent="-457200">
              <a:buFont typeface="Arial"/>
              <a:buChar char="•"/>
              <a:defRPr>
                <a:solidFill>
                  <a:schemeClr val="tx2"/>
                </a:solidFill>
              </a:defRPr>
            </a:lvl2pPr>
            <a:lvl3pPr marL="1828800" indent="-365760">
              <a:buFont typeface="Arial"/>
              <a:buChar cha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9559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ow_to_Use">
    <p:bg>
      <p:bgRef idx="1001">
        <a:schemeClr val="bg2"/>
      </p:bgRef>
    </p:bg>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pic>
        <p:nvPicPr>
          <p:cNvPr id="8" name="Picture 7">
            <a:extLst>
              <a:ext uri="{FF2B5EF4-FFF2-40B4-BE49-F238E27FC236}">
                <a16:creationId xmlns:a16="http://schemas.microsoft.com/office/drawing/2014/main" id="{ED771130-A3F1-D24E-A5F9-FD45DA62A9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50240" y="7531058"/>
            <a:ext cx="709381" cy="424102"/>
          </a:xfrm>
          <a:prstGeom prst="rect">
            <a:avLst/>
          </a:prstGeom>
        </p:spPr>
      </p:pic>
      <p:sp>
        <p:nvSpPr>
          <p:cNvPr id="7" name="TextBox 6">
            <a:extLst>
              <a:ext uri="{FF2B5EF4-FFF2-40B4-BE49-F238E27FC236}">
                <a16:creationId xmlns:a16="http://schemas.microsoft.com/office/drawing/2014/main" id="{ACF59969-BB76-0545-A5CB-3D34504EB147}"/>
              </a:ext>
            </a:extLst>
          </p:cNvPr>
          <p:cNvSpPr txBox="1"/>
          <p:nvPr userDrawn="1"/>
        </p:nvSpPr>
        <p:spPr>
          <a:xfrm>
            <a:off x="538863" y="7695476"/>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spTree>
    <p:extLst>
      <p:ext uri="{BB962C8B-B14F-4D97-AF65-F5344CB8AC3E}">
        <p14:creationId xmlns:p14="http://schemas.microsoft.com/office/powerpoint/2010/main" val="426676074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p:cNvSpPr>
            <a:spLocks noGrp="1"/>
          </p:cNvSpPr>
          <p:nvPr>
            <p:ph type="dt" sz="half" idx="10"/>
          </p:nvPr>
        </p:nvSpPr>
        <p:spPr/>
        <p:txBody>
          <a:bodyPr/>
          <a:lstStyle/>
          <a:p>
            <a:fld id="{6704E1F7-E333-4846-A6DF-8FA46494B7FD}" type="datetimeFigureOut">
              <a:rPr lang="en-US" smtClean="0"/>
              <a:t>9/18/21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21292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9/18/21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338178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8"/>
            <a:ext cx="12618720" cy="3423284"/>
          </a:xfrm>
        </p:spPr>
        <p:txBody>
          <a:bodyPr anchor="b"/>
          <a:lstStyle>
            <a:lvl1pPr>
              <a:defRPr sz="7200"/>
            </a:lvl1pPr>
          </a:lstStyle>
          <a:p>
            <a:r>
              <a:rPr lang="en-US"/>
              <a:t>Click to edit Master title style</a:t>
            </a:r>
          </a:p>
        </p:txBody>
      </p:sp>
      <p:sp>
        <p:nvSpPr>
          <p:cNvPr id="3" name="Text Placeholder 2"/>
          <p:cNvSpPr>
            <a:spLocks noGrp="1"/>
          </p:cNvSpPr>
          <p:nvPr>
            <p:ph type="body" idx="1"/>
          </p:nvPr>
        </p:nvSpPr>
        <p:spPr>
          <a:xfrm>
            <a:off x="998220" y="5507358"/>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704E1F7-E333-4846-A6DF-8FA46494B7FD}" type="datetimeFigureOut">
              <a:rPr lang="en-US" smtClean="0"/>
              <a:t>9/18/21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7521586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058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06640" y="2190750"/>
            <a:ext cx="6217920" cy="52216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04E1F7-E333-4846-A6DF-8FA46494B7FD}" type="datetimeFigureOut">
              <a:rPr lang="en-US" smtClean="0"/>
              <a:t>9/18/21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6609772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2"/>
            <a:ext cx="12618720" cy="1590676"/>
          </a:xfrm>
        </p:spPr>
        <p:txBody>
          <a:bodyPr/>
          <a:lstStyle/>
          <a:p>
            <a:r>
              <a:rPr lang="en-US"/>
              <a:t>Click to edit Master title style</a:t>
            </a:r>
          </a:p>
        </p:txBody>
      </p:sp>
      <p:sp>
        <p:nvSpPr>
          <p:cNvPr id="3" name="Text Placeholder 2"/>
          <p:cNvSpPr>
            <a:spLocks noGrp="1"/>
          </p:cNvSpPr>
          <p:nvPr>
            <p:ph type="body" idx="1"/>
          </p:nvPr>
        </p:nvSpPr>
        <p:spPr>
          <a:xfrm>
            <a:off x="1007748"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4" name="Content Placeholder 3"/>
          <p:cNvSpPr>
            <a:spLocks noGrp="1"/>
          </p:cNvSpPr>
          <p:nvPr>
            <p:ph sz="half" idx="2"/>
          </p:nvPr>
        </p:nvSpPr>
        <p:spPr>
          <a:xfrm>
            <a:off x="1007748" y="3006090"/>
            <a:ext cx="6189344"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Edit Master text styles</a:t>
            </a:r>
          </a:p>
        </p:txBody>
      </p:sp>
      <p:sp>
        <p:nvSpPr>
          <p:cNvPr id="6" name="Content Placeholder 5"/>
          <p:cNvSpPr>
            <a:spLocks noGrp="1"/>
          </p:cNvSpPr>
          <p:nvPr>
            <p:ph sz="quarter" idx="4"/>
          </p:nvPr>
        </p:nvSpPr>
        <p:spPr>
          <a:xfrm>
            <a:off x="7406640" y="3006090"/>
            <a:ext cx="6219826" cy="44215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04E1F7-E333-4846-A6DF-8FA46494B7FD}" type="datetimeFigureOut">
              <a:rPr lang="en-US" smtClean="0"/>
              <a:t>9/18/21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581273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04E1F7-E333-4846-A6DF-8FA46494B7FD}" type="datetimeFigureOut">
              <a:rPr lang="en-US" smtClean="0"/>
              <a:t>9/18/21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8746123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4E1F7-E333-4846-A6DF-8FA46494B7FD}" type="datetimeFigureOut">
              <a:rPr lang="en-US" smtClean="0"/>
              <a:t>9/18/21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5617533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8" y="548640"/>
            <a:ext cx="4718684" cy="1920240"/>
          </a:xfrm>
        </p:spPr>
        <p:txBody>
          <a:bodyPr anchor="b"/>
          <a:lstStyle>
            <a:lvl1pPr>
              <a:defRPr sz="3840"/>
            </a:lvl1pPr>
          </a:lstStyle>
          <a:p>
            <a:r>
              <a:rPr lang="en-US"/>
              <a:t>Click to edit Master title style</a:t>
            </a:r>
          </a:p>
        </p:txBody>
      </p:sp>
      <p:sp>
        <p:nvSpPr>
          <p:cNvPr id="3" name="Content Placeholder 2"/>
          <p:cNvSpPr>
            <a:spLocks noGrp="1"/>
          </p:cNvSpPr>
          <p:nvPr>
            <p:ph idx="1"/>
          </p:nvPr>
        </p:nvSpPr>
        <p:spPr>
          <a:xfrm>
            <a:off x="6219826" y="1184912"/>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07748"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6704E1F7-E333-4846-A6DF-8FA46494B7FD}" type="datetimeFigureOut">
              <a:rPr lang="en-US" smtClean="0"/>
              <a:t>9/18/21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20053144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8" y="548640"/>
            <a:ext cx="4718684" cy="1920240"/>
          </a:xfrm>
        </p:spPr>
        <p:txBody>
          <a:bodyPr anchor="b"/>
          <a:lstStyle>
            <a:lvl1pPr>
              <a:defRPr sz="3840"/>
            </a:lvl1pPr>
          </a:lstStyle>
          <a:p>
            <a:r>
              <a:rPr lang="en-US"/>
              <a:t>Click to edit Master title style</a:t>
            </a:r>
          </a:p>
        </p:txBody>
      </p:sp>
      <p:sp>
        <p:nvSpPr>
          <p:cNvPr id="3" name="Picture Placeholder 2"/>
          <p:cNvSpPr>
            <a:spLocks noGrp="1"/>
          </p:cNvSpPr>
          <p:nvPr>
            <p:ph type="pic" idx="1"/>
          </p:nvPr>
        </p:nvSpPr>
        <p:spPr>
          <a:xfrm>
            <a:off x="6219826" y="1184912"/>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p:cNvSpPr>
            <a:spLocks noGrp="1"/>
          </p:cNvSpPr>
          <p:nvPr>
            <p:ph type="body" sz="half" idx="2"/>
          </p:nvPr>
        </p:nvSpPr>
        <p:spPr>
          <a:xfrm>
            <a:off x="1007748"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6704E1F7-E333-4846-A6DF-8FA46494B7FD}" type="datetimeFigureOut">
              <a:rPr lang="en-US" smtClean="0"/>
              <a:t>9/18/21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1289210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9/18/21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1879767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4E1F7-E333-4846-A6DF-8FA46494B7FD}" type="datetimeFigureOut">
              <a:rPr lang="en-US" smtClean="0"/>
              <a:t>9/18/21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96E381-4743-46AE-8912-83F5743ED2C9}" type="slidenum">
              <a:rPr lang="en-US" smtClean="0"/>
              <a:t>‹#›</a:t>
            </a:fld>
            <a:endParaRPr lang="en-US"/>
          </a:p>
        </p:txBody>
      </p:sp>
    </p:spTree>
    <p:extLst>
      <p:ext uri="{BB962C8B-B14F-4D97-AF65-F5344CB8AC3E}">
        <p14:creationId xmlns:p14="http://schemas.microsoft.com/office/powerpoint/2010/main" val="428627292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asic Text">
    <p:spTree>
      <p:nvGrpSpPr>
        <p:cNvPr id="1" name=""/>
        <p:cNvGrpSpPr/>
        <p:nvPr/>
      </p:nvGrpSpPr>
      <p:grpSpPr>
        <a:xfrm>
          <a:off x="0" y="0"/>
          <a:ext cx="0" cy="0"/>
          <a:chOff x="0" y="0"/>
          <a:chExt cx="0" cy="0"/>
        </a:xfrm>
      </p:grpSpPr>
      <p:sp>
        <p:nvSpPr>
          <p:cNvPr id="69" name="Shape 69"/>
          <p:cNvSpPr/>
          <p:nvPr/>
        </p:nvSpPr>
        <p:spPr>
          <a:xfrm rot="5400000">
            <a:off x="13818870" y="293372"/>
            <a:ext cx="518160" cy="510541"/>
          </a:xfrm>
          <a:custGeom>
            <a:avLst/>
            <a:gdLst/>
            <a:ahLst/>
            <a:cxnLst>
              <a:cxn ang="0">
                <a:pos x="wd2" y="hd2"/>
              </a:cxn>
              <a:cxn ang="5400000">
                <a:pos x="wd2" y="hd2"/>
              </a:cxn>
              <a:cxn ang="10800000">
                <a:pos x="wd2" y="hd2"/>
              </a:cxn>
              <a:cxn ang="16200000">
                <a:pos x="wd2" y="hd2"/>
              </a:cxn>
            </a:cxnLst>
            <a:rect l="0" t="0" r="r" b="b"/>
            <a:pathLst>
              <a:path w="21600" h="21600" extrusionOk="0">
                <a:moveTo>
                  <a:pt x="16686" y="21600"/>
                </a:moveTo>
                <a:lnTo>
                  <a:pt x="21600" y="10800"/>
                </a:lnTo>
                <a:lnTo>
                  <a:pt x="16686" y="0"/>
                </a:lnTo>
                <a:lnTo>
                  <a:pt x="0" y="0"/>
                </a:lnTo>
                <a:lnTo>
                  <a:pt x="0" y="21600"/>
                </a:lnTo>
                <a:lnTo>
                  <a:pt x="16686" y="21600"/>
                </a:lnTo>
                <a:close/>
              </a:path>
            </a:pathLst>
          </a:custGeom>
          <a:solidFill>
            <a:schemeClr val="accent3">
              <a:lumOff val="5155"/>
            </a:schemeClr>
          </a:solidFill>
          <a:ln w="12700">
            <a:miter lim="400000"/>
          </a:ln>
        </p:spPr>
        <p:txBody>
          <a:bodyPr lIns="27432" rIns="27432"/>
          <a:lstStyle/>
          <a:p>
            <a:pPr>
              <a:defRPr sz="5600">
                <a:solidFill>
                  <a:srgbClr val="000000"/>
                </a:solidFill>
                <a:latin typeface="Gill Sans"/>
                <a:ea typeface="Gill Sans"/>
                <a:cs typeface="Gill Sans"/>
                <a:sym typeface="Gill Sans"/>
              </a:defRPr>
            </a:pPr>
            <a:endParaRPr sz="3360" dirty="0"/>
          </a:p>
        </p:txBody>
      </p:sp>
      <p:sp>
        <p:nvSpPr>
          <p:cNvPr id="72" name="Shape 72"/>
          <p:cNvSpPr>
            <a:spLocks noGrp="1"/>
          </p:cNvSpPr>
          <p:nvPr>
            <p:ph type="sldNum" sz="quarter" idx="2"/>
          </p:nvPr>
        </p:nvSpPr>
        <p:spPr>
          <a:prstGeom prst="rect">
            <a:avLst/>
          </a:prstGeom>
        </p:spPr>
        <p:txBody>
          <a:bodyPr/>
          <a:lstStyle/>
          <a:p>
            <a:fld id="{86CB4B4D-7CA3-9044-876B-883B54F8677D}" type="slidenum">
              <a:t>‹#›</a:t>
            </a:fld>
            <a:endParaRPr dirty="0"/>
          </a:p>
        </p:txBody>
      </p:sp>
      <p:sp>
        <p:nvSpPr>
          <p:cNvPr id="2" name="TextBox 1"/>
          <p:cNvSpPr txBox="1"/>
          <p:nvPr userDrawn="1"/>
        </p:nvSpPr>
        <p:spPr>
          <a:xfrm>
            <a:off x="1005512" y="2275680"/>
            <a:ext cx="61620" cy="874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0480" tIns="30480" rIns="30480" bIns="30480" numCol="1" spcCol="38100" rtlCol="0" anchor="ctr">
            <a:spAutoFit/>
          </a:bodyPr>
          <a:lstStyle/>
          <a:p>
            <a:pPr marL="0" marR="0" indent="0" algn="ctr" defTabSz="548640" rtl="0" fontAlgn="auto" latinLnBrk="0" hangingPunct="0">
              <a:lnSpc>
                <a:spcPct val="100000"/>
              </a:lnSpc>
              <a:spcBef>
                <a:spcPts val="0"/>
              </a:spcBef>
              <a:spcAft>
                <a:spcPts val="0"/>
              </a:spcAft>
              <a:buClrTx/>
              <a:buSzTx/>
              <a:buFontTx/>
              <a:buNone/>
              <a:tabLst/>
            </a:pPr>
            <a:endParaRPr kumimoji="0" lang="en-US" sz="5280" b="0" i="0" u="none" strike="noStrike" cap="none" spc="0" normalizeH="0" baseline="0" dirty="0">
              <a:ln>
                <a:noFill/>
              </a:ln>
              <a:solidFill>
                <a:srgbClr val="33B1DD"/>
              </a:solidFill>
              <a:effectLst/>
              <a:uFillTx/>
              <a:latin typeface="+mn-lt"/>
              <a:ea typeface="+mn-ea"/>
              <a:cs typeface="+mn-cs"/>
              <a:sym typeface="Helvetica"/>
            </a:endParaRPr>
          </a:p>
        </p:txBody>
      </p:sp>
    </p:spTree>
    <p:extLst>
      <p:ext uri="{BB962C8B-B14F-4D97-AF65-F5344CB8AC3E}">
        <p14:creationId xmlns:p14="http://schemas.microsoft.com/office/powerpoint/2010/main" val="429269135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2.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39" y="183898"/>
            <a:ext cx="13514832" cy="137160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48639" y="1645920"/>
            <a:ext cx="13514832" cy="568628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Box 5"/>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2020, Amazon Web Services, Inc. or its Affiliates. </a:t>
            </a:r>
          </a:p>
        </p:txBody>
      </p:sp>
      <p:pic>
        <p:nvPicPr>
          <p:cNvPr id="7" name="Picture 6"/>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3349519" y="7531058"/>
            <a:ext cx="709381" cy="424102"/>
          </a:xfrm>
          <a:prstGeom prst="rect">
            <a:avLst/>
          </a:prstGeom>
        </p:spPr>
      </p:pic>
    </p:spTree>
    <p:extLst>
      <p:ext uri="{BB962C8B-B14F-4D97-AF65-F5344CB8AC3E}">
        <p14:creationId xmlns:p14="http://schemas.microsoft.com/office/powerpoint/2010/main" val="14311777"/>
      </p:ext>
    </p:extLst>
  </p:cSld>
  <p:clrMap bg1="dk1" tx1="lt1" bg2="dk2" tx2="lt2" accent1="accent1" accent2="accent2" accent3="accent3" accent4="accent4" accent5="accent5" accent6="accent6" hlink="hlink" folHlink="folHlink"/>
  <p:sldLayoutIdLst>
    <p:sldLayoutId id="2147483708" r:id="rId1"/>
    <p:sldLayoutId id="2147483675" r:id="rId2"/>
    <p:sldLayoutId id="2147483696" r:id="rId3"/>
    <p:sldLayoutId id="2147483677" r:id="rId4"/>
    <p:sldLayoutId id="2147483700" r:id="rId5"/>
    <p:sldLayoutId id="2147483697" r:id="rId6"/>
    <p:sldLayoutId id="2147483698" r:id="rId7"/>
    <p:sldLayoutId id="2147483699" r:id="rId8"/>
    <p:sldLayoutId id="2147483689" r:id="rId9"/>
    <p:sldLayoutId id="2147483678" r:id="rId10"/>
    <p:sldLayoutId id="2147483707" r:id="rId11"/>
    <p:sldLayoutId id="2147483679" r:id="rId12"/>
    <p:sldLayoutId id="2147483703" r:id="rId13"/>
    <p:sldLayoutId id="2147483704" r:id="rId14"/>
    <p:sldLayoutId id="2147483705" r:id="rId15"/>
    <p:sldLayoutId id="2147483690" r:id="rId16"/>
    <p:sldLayoutId id="2147483691" r:id="rId17"/>
    <p:sldLayoutId id="2147483692" r:id="rId18"/>
    <p:sldLayoutId id="2147483702" r:id="rId19"/>
    <p:sldLayoutId id="2147483680" r:id="rId20"/>
    <p:sldLayoutId id="2147483701" r:id="rId21"/>
    <p:sldLayoutId id="2147483693" r:id="rId22"/>
    <p:sldLayoutId id="2147483687" r:id="rId23"/>
    <p:sldLayoutId id="2147483706" r:id="rId24"/>
    <p:sldLayoutId id="2147483709" r:id="rId25"/>
    <p:sldLayoutId id="2147483710" r:id="rId26"/>
  </p:sldLayoutIdLst>
  <p:txStyles>
    <p:titleStyle>
      <a:lvl1pPr algn="l" defTabSz="731520" rtl="0" eaLnBrk="1" latinLnBrk="0" hangingPunct="1">
        <a:spcBef>
          <a:spcPct val="0"/>
        </a:spcBef>
        <a:buNone/>
        <a:defRPr sz="3800" b="1" i="0" kern="1200">
          <a:solidFill>
            <a:schemeClr val="tx1"/>
          </a:solidFill>
          <a:latin typeface="Amazon Ember Regular" charset="0"/>
          <a:ea typeface="+mj-ea"/>
          <a:cs typeface="Amazon Ember Regular" charset="0"/>
        </a:defRPr>
      </a:lvl1pPr>
    </p:titleStyle>
    <p:bodyStyle>
      <a:lvl1pPr marL="0" indent="0" algn="l" defTabSz="731520" rtl="0" eaLnBrk="1" latinLnBrk="0" hangingPunct="1">
        <a:spcBef>
          <a:spcPct val="20000"/>
        </a:spcBef>
        <a:buFontTx/>
        <a:buNone/>
        <a:defRPr sz="2900" b="0" i="0" kern="1200">
          <a:solidFill>
            <a:schemeClr val="tx1"/>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tx1"/>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tx1"/>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tx1"/>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tx1"/>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856" userDrawn="1">
          <p15:clr>
            <a:srgbClr val="F26B43"/>
          </p15:clr>
        </p15:guide>
        <p15:guide id="3" orient="horz" pos="103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2"/>
            <a:ext cx="1261872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05840" y="7627622"/>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6704E1F7-E333-4846-A6DF-8FA46494B7FD}" type="datetimeFigureOut">
              <a:rPr lang="en-US" smtClean="0"/>
              <a:t>9/18/21</a:t>
            </a:fld>
            <a:endParaRPr lang="en-US"/>
          </a:p>
        </p:txBody>
      </p:sp>
      <p:sp>
        <p:nvSpPr>
          <p:cNvPr id="5" name="Footer Placeholder 4"/>
          <p:cNvSpPr>
            <a:spLocks noGrp="1"/>
          </p:cNvSpPr>
          <p:nvPr>
            <p:ph type="ftr" sz="quarter" idx="3"/>
          </p:nvPr>
        </p:nvSpPr>
        <p:spPr>
          <a:xfrm>
            <a:off x="4846320" y="7627622"/>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332720" y="7627622"/>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9696E381-4743-46AE-8912-83F5743ED2C9}" type="slidenum">
              <a:rPr lang="en-US" smtClean="0"/>
              <a:t>‹#›</a:t>
            </a:fld>
            <a:endParaRPr lang="en-US"/>
          </a:p>
        </p:txBody>
      </p:sp>
    </p:spTree>
    <p:extLst>
      <p:ext uri="{BB962C8B-B14F-4D97-AF65-F5344CB8AC3E}">
        <p14:creationId xmlns:p14="http://schemas.microsoft.com/office/powerpoint/2010/main" val="4010961308"/>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3" Type="http://schemas.openxmlformats.org/officeDocument/2006/relationships/image" Target="../media/image19.png"/><Relationship Id="rId18" Type="http://schemas.openxmlformats.org/officeDocument/2006/relationships/image" Target="../media/image24.png"/><Relationship Id="rId26" Type="http://schemas.openxmlformats.org/officeDocument/2006/relationships/image" Target="../media/image32.png"/><Relationship Id="rId21" Type="http://schemas.openxmlformats.org/officeDocument/2006/relationships/image" Target="../media/image27.png"/><Relationship Id="rId34" Type="http://schemas.openxmlformats.org/officeDocument/2006/relationships/image" Target="../media/image40.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33" Type="http://schemas.openxmlformats.org/officeDocument/2006/relationships/image" Target="../media/image39.png"/><Relationship Id="rId2" Type="http://schemas.openxmlformats.org/officeDocument/2006/relationships/notesSlide" Target="../notesSlides/notesSlide2.xml"/><Relationship Id="rId16" Type="http://schemas.openxmlformats.org/officeDocument/2006/relationships/image" Target="../media/image22.png"/><Relationship Id="rId20" Type="http://schemas.openxmlformats.org/officeDocument/2006/relationships/image" Target="../media/image26.png"/><Relationship Id="rId29" Type="http://schemas.openxmlformats.org/officeDocument/2006/relationships/image" Target="../media/image35.png"/><Relationship Id="rId1" Type="http://schemas.openxmlformats.org/officeDocument/2006/relationships/slideLayout" Target="../slideLayouts/slideLayout38.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32" Type="http://schemas.openxmlformats.org/officeDocument/2006/relationships/image" Target="../media/image38.png"/><Relationship Id="rId37" Type="http://schemas.openxmlformats.org/officeDocument/2006/relationships/image" Target="../media/image43.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28" Type="http://schemas.openxmlformats.org/officeDocument/2006/relationships/image" Target="../media/image34.png"/><Relationship Id="rId36" Type="http://schemas.openxmlformats.org/officeDocument/2006/relationships/image" Target="../media/image42.png"/><Relationship Id="rId10" Type="http://schemas.openxmlformats.org/officeDocument/2006/relationships/image" Target="../media/image16.png"/><Relationship Id="rId19" Type="http://schemas.openxmlformats.org/officeDocument/2006/relationships/image" Target="../media/image25.png"/><Relationship Id="rId31" Type="http://schemas.openxmlformats.org/officeDocument/2006/relationships/image" Target="../media/image37.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8" Type="http://schemas.openxmlformats.org/officeDocument/2006/relationships/image" Target="../media/image14.png"/><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hyperlink" Target="https://aws.amazon.com/about-aws/whats-new/2021/09/amazon-elastic-file-system-intelligent-tiering/" TargetMode="Externa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aws.amazon.com/about-aws/whats-new/2021/07/aws-announces-general-availability-amazon-ebs-block-express-volumes/" TargetMode="External"/><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hyperlink" Target="https://aws.amazon.com/about-aws/whats-new/2021/08/aws-backup-audit-manager/" TargetMode="Externa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s://aws.amazon.com/about-aws/whats-new/2021/07/aws-lowers-data-processing-charges-aws-privatelink/" TargetMode="Externa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hyperlink" Target="https://aws.amazon.com/about-aws/whats-new/2021/08/aws-optimizer-migrating-graviton2-Instances/"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aws.amazon.com/memorydb/" TargetMode="External"/><Relationship Id="rId2" Type="http://schemas.openxmlformats.org/officeDocument/2006/relationships/hyperlink" Target="https://aws.amazon.com/about-aws/whats-new/2021/08/amazon-memorydb-redis/" TargetMode="External"/><Relationship Id="rId1" Type="http://schemas.openxmlformats.org/officeDocument/2006/relationships/slideLayout" Target="../slideLayouts/slideLayout9.xml"/><Relationship Id="rId4" Type="http://schemas.openxmlformats.org/officeDocument/2006/relationships/hyperlink" Target="https://aws.amazon.com/redis/"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aws.amazon.com/about-aws/whats-new/2021/08/aws-database-migration-service-supports-redis-target/" TargetMode="Externa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hyperlink" Target="https://aws.amazon.com/about-aws/whats-new/2021/08/amazon-elasticache-redis/" TargetMode="Externa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hyperlink" Target="https://aws.amazon.com/about-aws/whats-new/2021/08/amazon-aurora-postgresql-13/" TargetMode="Externa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s://aws.amazon.com/about-aws/whats-new/2021/07/amazon-neptune-supports-opencypher/"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hyperlink" Target="https://aws.amazon.com/about-aws/whats-new/2021/07/amazon-neptune-ml-generally-available-support-edge-predictions-automation-and-more/"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hyperlink" Target="https://aws.amazon.com/about-aws/whats-new/2021/08/amazon-rds-proxy-created-shared-virtual-private-cloud-vpc/"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hyperlink" Target="https://aws.amazon.com/about-aws/whats-new/2021/09/amazon-elasticsearch-service-amazon-opensearch-service-opensearch-1-0/" TargetMode="Externa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hyperlink" Target="https://aws.amazon.com/about-aws/whats-new/2021/07/aws-appsync-supports-custom-authorization-with-aws-lambda-graphsql-apis/" TargetMode="Externa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aws.amazon.com/about-aws/whats-new/2021/09/amazon-ec2-increases-instance-network-bandwith/" TargetMode="External"/><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hyperlink" Target="https://aws.amazon.com/about-aws/whats-new/2021/08/amazon-managed-grafana-saml-2-0-grafana-v-8-0/" TargetMode="Externa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hyperlink" Target="https://aws.amazon.com/about-aws/whats-new/2021/08/spark-3-1-runtime-aws-glue-3-0/" TargetMode="Externa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hyperlink" Target="https://aws.amazon.com/about-aws/whats-new/2021/08/announcing-amazon-cloudwatch-cross-account-alarms/"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aws.amazon.com/about-aws/whats-new/2021/08/amazon-cloudwatch-synthetics-supports-visual-monitoring/"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hyperlink" Target="https://aws.amazon.com/about-aws/whats-new/2021/07/announcing-cdk-pipelines-ga-ci-cd-cdk-apps/" TargetMode="Externa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about-aws/whats-new/2021/07/aws-network-firewall-achieves-pci-dss-compliance/" TargetMode="Externa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hyperlink" Target="https://aws.amazon.com/about-aws/whats-new/2021/07/aws-lambda-now-supports-amazon-mq-for-rabbitmq-as-an-event-source/" TargetMode="Externa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hyperlink" Target="https://aws.amazon.com/about-aws/whats-new/2021/06/the-bottlerocket-ami-for-amazon-ecs-is-now-generally-available/" TargetMode="Externa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hyperlink" Target="https://aws.amazon.com/about-aws/whats-new/2021/07/aws-deepracer-announces-deepracer-live-races/" TargetMode="Externa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hyperlink" Target="https://aws.amazon.com/about-aws/whats-new/2021/08/amazon-data-lifecycle-manager-automates-deprecation-ami/" TargetMode="Externa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hyperlink" Target="https://aws.amazon.com/about-aws/whats-new/2021/08/customizable-action-space-aws-deepracer-console/" TargetMode="Externa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hyperlink" Target="https://aws.amazon.com/about-aws/whats-new/2021/07/amazon-route-53-announces-route-53-application-recovery-controller/" TargetMode="Externa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hyperlink" Target="https://aws.amazon.com/about-aws/whats-new/2021/09/amazon-s3-intelligent-tiering-automates-storage-savings/" TargetMode="Externa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hyperlink" Target="https://aws.amazon.com/about-aws/whats-new/2021/07/amazon-s3-access-points-aliases-allow-application-requires-s3-bucket-name-easily-use-access-point/" TargetMode="Externa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hyperlink" Target="https://aws.amazon.com/about-aws/whats-new/2021/08/aws-distro-opentelemetry-amazon-ecs-cloudwatch-lambda-prometheus/" TargetMode="Externa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hyperlink" Target="https://aws.amazon.com/about-aws/whats-new/2021/07/new-exam-for-aws-certified-sysops-administrator-associate/" TargetMode="Externa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hyperlink" Target="https://aws.amazon.com/about-aws/whats-new/2021/07/aws-distro-for-opentelemetry-adds-support-for-container-metrics-in-amazon-cloudwatch-container-insights-preview/" TargetMode="Externa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hyperlink" Target="https://aws.amazon.com/about-aws/whats-new/2021/09/new-capabilities-amazon-neptune/" TargetMode="Externa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hyperlink" Target="https://aws.amazon.com/about-aws/whats-new/2021/09/aws-database-migration-service-mongodb-source/" TargetMode="Externa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hyperlink" Target="https://aws.amazon.com/about-aws/whats-new/2021/07/announcing-availability-event-driven-workflows-aws-glue-amazon-eventbridge/" TargetMode="Externa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hyperlink" Target="https://aws.amazon.com/about-aws/whats-new/2021/09/amazon-cdk-versions-amazon-kinesis-cloudfront-cognito/" TargetMode="Externa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hyperlink" Target="https://aws.amazon.com/about-aws/whats-new/2021/09/acm-private-ca-online-certificate-ocsp/" TargetMode="Externa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hyperlink" Target="https://aws.amazon.com/about-aws/whats-new/2021/09/aws-security-hub-automated-response-remediation-pci-dss-v3-2-1-security-standard/"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hyperlink" Target="https://aws.amazon.com/about-aws/whats-new/2021/08/aws-copilot-pub-sub-architectures/" TargetMode="Externa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hyperlink" Target="https://aws.amazon.com/about-aws/whats-new/2021/08/aws-database-migration-segmentation-mongodb/" TargetMode="Externa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hyperlink" Target="https://aws.amazon.com/about-aws/whats-new/2021/08/amazon-aurora-supports-postgresql-new-versions/" TargetMode="Externa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hyperlink" Target="https://aws.amazon.com/about-aws/whats-new/2021/07/amazon-qldb-supports-customer-managed-kms-keys/" TargetMode="Externa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hyperlink" Target="https://aws.amazon.com/about-aws/whats-new/2021/06/aws-cloudformation-now-supports-more-stacks-per-aws-account/" TargetMode="Externa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hyperlink" Target="https://aws.amazon.com/about-aws/whats-new/2021/07/aws-firewall-manager-supports-central-monitoring-of-vpc-routes-for-aws-network-firewall/" TargetMode="Externa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hyperlink" Target="https://aws.amazon.com/about-aws/whats-new/2021/09/amazon-cloudwatch-metrics-s3-access-points/" TargetMode="Externa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hyperlink" Target="https://aws.amazon.com/about-aws/whats-new/2021/08/introducing-dynamic-partitioning-amazon-kinesis-data-firehose/" TargetMode="Externa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hyperlink" Target="https://aws.amazon.com/about-aws/whats-new/2021/08/custom-widgets-amazon-cloudwatch-dashboards/" TargetMode="Externa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hyperlink" Target="https://aws.amazon.com/about-aws/whats-new/2021/08/ec2-vm-import-export-unified-extensible-firmware-interface-aws/" TargetMode="Externa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hyperlink" Target="https://aws.amazon.com/about-aws/whats-new/2021/08/amazon-cloudwatch-logs-now-supports-usage-metrics/" TargetMode="Externa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hyperlink" Target="https://aws.amazon.com/about-aws/whats-new/2021/07/amazon-keyspaces-for-apache-cassandra-now-automatically-optimi/" TargetMode="Externa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hyperlink" Target="https://aws.amazon.com/about-aws/whats-new/2021/07/aws-organizations-increases-quotas-tag-policies/" TargetMode="Externa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hyperlink" Target="https://aws.amazon.com/about-aws/whats-new/2021/07/amazon-ecs-supports-additional-configurations-for-scheduled-and-event-driven-tasks/" TargetMode="Externa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hyperlink" Target="https://aws.amazon.com/about-aws/whats-new/2021/07/amazon-athena-adds-parameterized-queries-to-improve-reusability-and-security/" TargetMode="Externa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hyperlink" Target="https://aws.amazon.com/about-aws/whats-new/2021/09/amazon-cloudwatch-aws-systems-manager-combine/" TargetMode="Externa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hyperlink" Target="https://aws.amazon.com/about-aws/whats-new/2021/09/amazon-aurora-supports-aws-graviton2-based-x2g-instances/" TargetMode="Externa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hyperlink" Target="https://aws.amazon.com/about-aws/whats-new/2021/09/aws-firewall-manager-automations-aws-organizations-v1-1/" TargetMode="Externa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hyperlink" Target="https://aws.amazon.com/about-aws/whats-new/2021/09/aws-firewall-manager-aws-waf-log-filtering/" TargetMode="Externa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hyperlink" Target="https://aws.amazon.com/about-aws/whats-new/2021/08/amazon-emr-amazon-s3-access-points/" TargetMode="Externa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hyperlink" Target="https://aws.amazon.com/about-aws/whats-new/2021/08/aws-copilot-supports-custom-domain-names-app-runner-services-other-enhancements/" TargetMode="Externa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hyperlink" Target="https://aws.amazon.com/about-aws/whats-new/2021/08/aws-config-support-aws-backup-services/" TargetMode="Externa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hyperlink" Target="https://aws.amazon.com/about-aws/whats-new/2021/07/amazon-neptune-announces-support-sparql-1-1-graph-store-http-protocol/" TargetMode="Externa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hyperlink" Target="https://aws.amazon.com/about-aws/whats-new/2021/09/amazon-aurora-supports-aws-graviton2-based-t4g-instances/" TargetMode="Externa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hyperlink" Target="https://aws.amazon.com/about-aws/whats-new/2021/09/cross-account-discovery-amazon-eventbridge-schema/" TargetMode="Externa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hyperlink" Target="https://aws.amazon.com/about-aws/whats-new/2021/08/ec2-image-builder-amazon-eventbridge/" TargetMode="Externa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hyperlink" Target="https://aws.amazon.com/about-aws/whats-new/2021/08/aws-cloudformation-troubleshoot-errors/" TargetMode="Externa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hyperlink" Target="https://aws.amazon.com/about-aws/whats-new/2021/08/amazon-sagemaker-notebook-amazon-linux-2/" TargetMode="Externa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hyperlink" Target="https://aws.amazon.com/about-aws/whats-new/2021/08/aws-lambda-adds-support-python-3-9/" TargetMode="Externa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hyperlink" Target="https://aws.amazon.com/about-aws/whats-new/2021/08/athena-can-write-query-results-parquet-avro-orc-json-formats/" TargetMode="Externa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hyperlink" Target="https://aws.amazon.com/about-aws/whats-new/2021/07/amazon-dynamodb-accelerator-dax-sdk-for-java-2-x-is-available/" TargetMode="Externa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hyperlink" Target="https://aws.amazon.com/about-aws/whats-new/2021/07/simplify-ci-cd-configuration-serverless-applications-your-favorite-ci-cd-system-public-preview/" TargetMode="Externa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2" Type="http://schemas.openxmlformats.org/officeDocument/2006/relationships/hyperlink" Target="https://aws.amazon.com/about-aws/whats-new/2021/07/aws-cloud-map-supports-configuring-negative-caching-for-dns-queries/" TargetMode="Externa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2" Type="http://schemas.openxmlformats.org/officeDocument/2006/relationships/hyperlink" Target="https://aws.amazon.com/about-aws/whats-new/2021/07/aws-shield-advanced-no-longer-requires-aws-waf-logging-web-application-layer-event-response/" TargetMode="Externa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hyperlink" Target="https://aws.amazon.com/about-aws/whats-new/2021/09/aws-firewall-manager-waf-rate-based-rules/" TargetMode="Externa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hyperlink" Target="https://aws.amazon.com/about-aws/whats-new/2021/09/aws-codebuild-small-arm-machine-type/" TargetMode="Externa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hyperlink" Target="https://aws.amazon.com/about-aws/whats-new/2021/09/amazon-aurora-serverless-v1-autoscaling-timeout/" TargetMode="Externa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hyperlink" Target="https://aws.amazon.com/about-aws/whats-new/2021/09/amazon-opensearch-index-transforms/" TargetMode="Externa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hyperlink" Target="https://aws.amazon.com/about-aws/whats-new/2021/09/amazon-opensearch-1-0-elasticsearch-data-streams/" TargetMode="Externa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hyperlink" Target="https://aws.amazon.com/about-aws/whats-new/2021/09/amazon-eks-connector-public-preview/" TargetMode="Externa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hyperlink" Target="https://aws.amazon.com/about-aws/whats-new/2021/09/amazon-mq-rabbitmq-version-3-8-22/" TargetMode="Externa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hyperlink" Target="https://aws.amazon.com/about-aws/whats-new/2021/09/opensearch-dashboards-notebooks-amazon-opensearch-service/" TargetMode="Externa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hyperlink" Target="https://aws.amazon.com/about-aws/whats-new/2021/09/amazon-codeguru-reviewer-inconsistency-detectors/" TargetMode="Externa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hyperlink" Target="https://aws.amazon.com/about-aws/whats-new/2021/09/amazon-detective-splunk-integration/" TargetMode="Externa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2" Type="http://schemas.openxmlformats.org/officeDocument/2006/relationships/hyperlink" Target="https://aws.amazon.com/about-aws/whats-new/2021/09/aws-transfer-family-managed-workflows/" TargetMode="Externa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hyperlink" Target="https://aws.amazon.com/about-aws/whats-new/2021/09/amazon-s3-multi-region-access-points-replicated-data-sets/" TargetMode="Externa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hyperlink" Target="https://aws.amazon.com/about-aws/whats-new/2021/08/amazon-vpc-subnets/" TargetMode="Externa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hyperlink" Target="https://aws.amazon.com/about-aws/whats-new/2021/08/amazon-vpc-resize-prefix-list/" TargetMode="Externa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hyperlink" Target="https://aws.amazon.com/about-aws/whats-new/2021/08/Ipv6-amazon-ec2-metadata-time-sync-vpc-dns/" TargetMode="Externa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hyperlink" Target="https://aws.amazon.com/about-aws/whats-new/2021/08/iam-access-analyzer-expands-services/" TargetMode="Externa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hyperlink" Target="https://aws.amazon.com/about-aws/whats-new/2021/08/amazon-msk-adds-metrics-increased-visibility-capacity/" TargetMode="Externa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hyperlink" Target="https://aws.amazon.com/about-aws/whats-new/2021/08/aws-database-migration-service-mongodb-4-2-and-4-4/" TargetMode="Externa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2" Type="http://schemas.openxmlformats.org/officeDocument/2006/relationships/hyperlink" Target="https://aws.amazon.com/about-aws/whats-new/2021/08/aws-database-migration-service-redshift-target/" TargetMode="Externa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2" Type="http://schemas.openxmlformats.org/officeDocument/2006/relationships/hyperlink" Target="https://aws.amazon.com/about-aws/whats-new/2021/08/iam-access-analyzer-generate-iam-policies/" TargetMode="Externa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hyperlink" Target="https://aws.amazon.com/about-aws/whats-new/2021/08/aws-security-hub-adds-18-new-controls-foundational-security-best-practices-standard-8-new-partners-enhanced-cloud-security-posture-monitoring/" TargetMode="Externa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hyperlink" Target="https://aws.amazon.com/about-aws/whats-new/2021/08/codeguru-extends-capability-application-profile/" TargetMode="Externa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2" Type="http://schemas.openxmlformats.org/officeDocument/2006/relationships/hyperlink" Target="https://aws.amazon.com/about-aws/whats-new/2021/08/aws-cdk-testing-support-cdk-pipelines/" TargetMode="External"/><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2" Type="http://schemas.openxmlformats.org/officeDocument/2006/relationships/hyperlink" Target="https://aws.amazon.com/about-aws/whats-new/2021/08/aws-systems-manager-fleet-manager-managed-instances/" TargetMode="External"/><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2" Type="http://schemas.openxmlformats.org/officeDocument/2006/relationships/hyperlink" Target="https://aws.amazon.com/about-aws/whats-new/2021/08/amazon-ec2-m6i-instances/" TargetMode="Externa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hyperlink" Target="https://aws.amazon.com/about-aws/whats-new/2021/08/amazon-ec2-inf1-instances-supports-tensorflow-2/" TargetMode="External"/><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2" Type="http://schemas.openxmlformats.org/officeDocument/2006/relationships/hyperlink" Target="https://aws.amazon.com/about-aws/whats-new/2021/08/announcing-general-availability-amazon-redshift-cross-account-data-sharing/" TargetMode="External"/><Relationship Id="rId1" Type="http://schemas.openxmlformats.org/officeDocument/2006/relationships/slideLayout" Target="../slideLayouts/slideLayout9.xml"/></Relationships>
</file>

<file path=ppt/slides/_rels/slide106.xml.rels><?xml version="1.0" encoding="UTF-8" standalone="yes"?>
<Relationships xmlns="http://schemas.openxmlformats.org/package/2006/relationships"><Relationship Id="rId2" Type="http://schemas.openxmlformats.org/officeDocument/2006/relationships/hyperlink" Target="https://aws.amazon.com/about-aws/whats-new/2021/08/amazon-api-gateway-now-supports-mutual-tls-certificates-from-third-party-cas-and-acm-private-ca/" TargetMode="Externa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2" Type="http://schemas.openxmlformats.org/officeDocument/2006/relationships/hyperlink" Target="https://aws.amazon.com/about-aws/whats-new/2021/08/amazon-codeguru-profiler-recommendation-support-python-applications/" TargetMode="Externa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2" Type="http://schemas.openxmlformats.org/officeDocument/2006/relationships/hyperlink" Target="https://aws.amazon.com/about-aws/whats-new/2021/08/amazon-emr-allows-easily-identify-latest-releases-applications/" TargetMode="Externa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2" Type="http://schemas.openxmlformats.org/officeDocument/2006/relationships/hyperlink" Target="https://aws.amazon.com/about-aws/whats-new/2021/08/aws-app-runner-aws-toolkit-vs-code/" TargetMode="External"/><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hyperlink" Target="https://aws.amazon.com/about-aws/whats-new/2021/08/amazon-ec2-auto-scaling-enhances-instance-refresh-configuration-checks-launch-template-validation-amazon-eventbridge-notifications/" TargetMode="Externa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hyperlink" Target="https://aws.amazon.com/about-aws/whats-new/2021/08/introducing-79-new-resource-types-cloudformation-registry/" TargetMode="External"/><Relationship Id="rId1" Type="http://schemas.openxmlformats.org/officeDocument/2006/relationships/slideLayout" Target="../slideLayouts/slideLayout9.xml"/></Relationships>
</file>

<file path=ppt/slides/_rels/slide112.xml.rels><?xml version="1.0" encoding="UTF-8" standalone="yes"?>
<Relationships xmlns="http://schemas.openxmlformats.org/package/2006/relationships"><Relationship Id="rId2" Type="http://schemas.openxmlformats.org/officeDocument/2006/relationships/hyperlink" Target="https://aws.amazon.com/about-aws/whats-new/2021/08/aws-cloud9-introduces-features-browse-cloudwatch-logs-s3-ec2-instance-profiles/" TargetMode="Externa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2" Type="http://schemas.openxmlformats.org/officeDocument/2006/relationships/hyperlink" Target="https://aws.amazon.com/about-aws/whats-new/2021/08/amazon-sagemaker-pipelines-supports-invoking-aws-lambda-functions/" TargetMode="External"/><Relationship Id="rId1" Type="http://schemas.openxmlformats.org/officeDocument/2006/relationships/slideLayout" Target="../slideLayouts/slideLayout9.xml"/></Relationships>
</file>

<file path=ppt/slides/_rels/slide114.xml.rels><?xml version="1.0" encoding="UTF-8" standalone="yes"?>
<Relationships xmlns="http://schemas.openxmlformats.org/package/2006/relationships"><Relationship Id="rId2" Type="http://schemas.openxmlformats.org/officeDocument/2006/relationships/hyperlink" Target="https://aws.amazon.com/about-aws/whats-new/2021/08/aws-license-manager-supports-delegated-administrator/" TargetMode="Externa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hyperlink" Target="https://aws.amazon.com/about-aws/whats-new/2021/08/amazon-eks-now-supports-multus/" TargetMode="External"/><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2" Type="http://schemas.openxmlformats.org/officeDocument/2006/relationships/hyperlink" Target="https://aws.amazon.com/about-aws/whats-new/2021/08/amazon-redshift-automatic-table-optimization-column-compression-encoding/" TargetMode="Externa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2" Type="http://schemas.openxmlformats.org/officeDocument/2006/relationships/hyperlink" Target="https://aws.amazon.com/about-aws/whats-new/2021/07/amazon-elastic-block-store-now-supports-indempotent-volume-creation/" TargetMode="External"/><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2" Type="http://schemas.openxmlformats.org/officeDocument/2006/relationships/hyperlink" Target="https://aws.amazon.com/about-aws/whats-new/2021/07/aws-security-hub-adds-10-controls-foundational-security-best-practices-standard-enhanced-cloud-security-posture-monitoring/" TargetMode="Externa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2" Type="http://schemas.openxmlformats.org/officeDocument/2006/relationships/hyperlink" Target="https://aws.amazon.com/about-aws/whats-new/2021/07/amazon-ec2-auto-scaling-now-lets-you-control-which-instances-to-terminate-on-scale-in/" TargetMode="External"/><Relationship Id="rId1" Type="http://schemas.openxmlformats.org/officeDocument/2006/relationships/slideLayout" Target="../slideLayouts/slideLayout9.xml"/></Relationships>
</file>

<file path=ppt/slides/_rels/slide120.xml.rels><?xml version="1.0" encoding="UTF-8" standalone="yes"?>
<Relationships xmlns="http://schemas.openxmlformats.org/package/2006/relationships"><Relationship Id="rId2" Type="http://schemas.openxmlformats.org/officeDocument/2006/relationships/hyperlink" Target="https://aws.amazon.com/about-aws/whats-new/2021/07/amazon-cloudwatch-supports-trimmed-mean-statistics/" TargetMode="External"/><Relationship Id="rId1" Type="http://schemas.openxmlformats.org/officeDocument/2006/relationships/slideLayout" Target="../slideLayouts/slideLayout9.xml"/></Relationships>
</file>

<file path=ppt/slides/_rels/slide121.xml.rels><?xml version="1.0" encoding="UTF-8" standalone="yes"?>
<Relationships xmlns="http://schemas.openxmlformats.org/package/2006/relationships"><Relationship Id="rId2" Type="http://schemas.openxmlformats.org/officeDocument/2006/relationships/hyperlink" Target="https://aws.amazon.com/about-aws/whats-new/2021/07/aws-control-tower-provides-support-kms-encryption/" TargetMode="Externa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hyperlink" Target="https://aws.amazon.com/about-aws/whats-new/2021/07/you-can-now-import-your-aws-cloudformation-stacks-into-a-cloudformation-stack-set/" TargetMode="Externa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hyperlink" Target="https://aws.amazon.com/about-aws/whats-new/2021/07/amazon-codeguru-profiler-announces-automated-onboarding-process-aws-lambda-functions/" TargetMode="External"/><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hyperlink" Target="https://aws.amazon.com/about-aws/whats-new/2021/07/amazon-vpc-cni-plugin-increases-pods-per-node-limits/" TargetMode="External"/><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2" Type="http://schemas.openxmlformats.org/officeDocument/2006/relationships/hyperlink" Target="https://aws.amazon.com/about-aws/whats-new/2021/07/aws-glue-databrew-supports-writing-prepared-data-directly-into-jdbc-supported-destinations/" TargetMode="External"/><Relationship Id="rId1" Type="http://schemas.openxmlformats.org/officeDocument/2006/relationships/slideLayout" Target="../slideLayouts/slideLayout9.xml"/></Relationships>
</file>

<file path=ppt/slides/_rels/slide126.xml.rels><?xml version="1.0" encoding="UTF-8" standalone="yes"?>
<Relationships xmlns="http://schemas.openxmlformats.org/package/2006/relationships"><Relationship Id="rId2" Type="http://schemas.openxmlformats.org/officeDocument/2006/relationships/hyperlink" Target="https://aws.amazon.com/about-aws/whats-new/2021/07/aws-glue-databrew-adds-ability-specify-which-data-quality-statistics-generated-datasets/" TargetMode="External"/><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2" Type="http://schemas.openxmlformats.org/officeDocument/2006/relationships/hyperlink" Target="https://aws.amazon.com/about-aws/whats-new/2021/07/amazon-virtual-private-cloud-vpc-customers-can-assign-ip-prefixes-ec2-instances/" TargetMode="Externa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2" Type="http://schemas.openxmlformats.org/officeDocument/2006/relationships/hyperlink" Target="https://aws.amazon.com/about-aws/whats-new/2021/07/enable-aws-config-recording-deploy-conformance-packs-across-your-organization-quick-setup/" TargetMode="External"/><Relationship Id="rId1" Type="http://schemas.openxmlformats.org/officeDocument/2006/relationships/slideLayout" Target="../slideLayouts/slideLayout9.xml"/></Relationships>
</file>

<file path=ppt/slides/_rels/slide129.xml.rels><?xml version="1.0" encoding="UTF-8" standalone="yes"?>
<Relationships xmlns="http://schemas.openxmlformats.org/package/2006/relationships"><Relationship Id="rId2" Type="http://schemas.openxmlformats.org/officeDocument/2006/relationships/hyperlink" Target="https://aws.amazon.com/about-aws/whats-new/2021/07/amazon-eks-eks-distro-support-kubernetes/" TargetMode="Externa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2" Type="http://schemas.openxmlformats.org/officeDocument/2006/relationships/hyperlink" Target="https://aws.amazon.com/about-aws/whats-new/2021/07/amazon-mq-supports-updating-maintenance-window-time/" TargetMode="External"/><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2" Type="http://schemas.openxmlformats.org/officeDocument/2006/relationships/hyperlink" Target="https://aws.amazon.com/about-aws/whats-new/2021/07/acm-private-certificate-authority-introduces-integration-with-kubernetes/" TargetMode="External"/><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2" Type="http://schemas.openxmlformats.org/officeDocument/2006/relationships/hyperlink" Target="https://aws.amazon.com/about-aws/whats-new/2021/07/aws-app-mesh-constructs-for-aws-cdk-are-now-generally-available/" TargetMode="Externa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2" Type="http://schemas.openxmlformats.org/officeDocument/2006/relationships/hyperlink" Target="https://aws.amazon.com/about-aws/whats-new/2021/07/amazon-ec2-supports-custom-time-windows-scheduled-events/" TargetMode="Externa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2" Type="http://schemas.openxmlformats.org/officeDocument/2006/relationships/hyperlink" Target="https://aws.amazon.com/about-aws/whats-new/2021/07/aws-certificate-manager-provides-expanded-usage-imported-ecdsa-rsa-certificates/" TargetMode="External"/><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2" Type="http://schemas.openxmlformats.org/officeDocument/2006/relationships/hyperlink" Target="https://aws.amazon.com/about-aws/whats-new/2021/07/mark-individual-best-practices-as-not-applicable-within-the-aws-well-architected-tool/" TargetMode="Externa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2" Type="http://schemas.openxmlformats.org/officeDocument/2006/relationships/hyperlink" Target="https://aws.amazon.com/about-aws/whats-new/2021/07/now-view-inventory-and-patch-compliance-of-stopped-instances-using-aws-systems-manager/" TargetMode="External"/><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2" Type="http://schemas.openxmlformats.org/officeDocument/2006/relationships/hyperlink" Target="https://aws.amazon.com/about-aws/whats-new/2021/07/nosql-workbench-for-amazon-dynamodb-now-helps-you-run-frequent-o/" TargetMode="Externa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2" Type="http://schemas.openxmlformats.org/officeDocument/2006/relationships/hyperlink" Target="https://aws.amazon.com/about-aws/whats-new/2021/07/now-easily-enable-amazon-devops-guru-across-your-organization-with-quick-setup/" TargetMode="External"/><Relationship Id="rId1" Type="http://schemas.openxmlformats.org/officeDocument/2006/relationships/slideLayout" Target="../slideLayouts/slideLayout9.xml"/></Relationships>
</file>

<file path=ppt/slides/_rels/slide139.xml.rels><?xml version="1.0" encoding="UTF-8" standalone="yes"?>
<Relationships xmlns="http://schemas.openxmlformats.org/package/2006/relationships"><Relationship Id="rId2" Type="http://schemas.openxmlformats.org/officeDocument/2006/relationships/hyperlink" Target="https://aws.amazon.com/about-aws/whats-new/2021/07/amazon-appstream-2-0-adds-support-for-real-time-audio-video-using-a-web-browser/" TargetMode="External"/><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2" Type="http://schemas.openxmlformats.org/officeDocument/2006/relationships/hyperlink" Target="https://aws.amazon.com/about-aws/whats-new/2021/07/amazon-ec2-adds-resource-identifiers-tags-vpc-security-groups-rules/" TargetMode="Externa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2" Type="http://schemas.openxmlformats.org/officeDocument/2006/relationships/hyperlink" Target="https://aws.amazon.com/about-aws/whats-new/2021/07/amazon-mq-for-rabbitmq-now-supports-the-consistent-hash-exchange-type/" TargetMode="External"/><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2" Type="http://schemas.openxmlformats.org/officeDocument/2006/relationships/hyperlink" Target="https://aws.amazon.com/about-aws/whats-new/2021/07/amazon-eks-managed-node-groups-now-supports-parallel-node-upgrades/" TargetMode="External"/><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2" Type="http://schemas.openxmlformats.org/officeDocument/2006/relationships/hyperlink" Target="https://aws.amazon.com/about-aws/whats-new/2021/06/aws-glue-schema-registry-now-supports-json-schema/" TargetMode="External"/><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2" Type="http://schemas.openxmlformats.org/officeDocument/2006/relationships/hyperlink" Target="https://aws.amazon.com/about-aws/whats-new/2021/06/aws-introduces-framework-specific-deep-learning-amis-backwards-compatible-images/" TargetMode="Externa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2" Type="http://schemas.openxmlformats.org/officeDocument/2006/relationships/hyperlink" Target="https://aws.amazon.com/about-aws/whats-new/2021/06/aws-glue-databrew-adds-for-support-14-new-advanced-data-types-for-data-preparation/" TargetMode="Externa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2" Type="http://schemas.openxmlformats.org/officeDocument/2006/relationships/hyperlink" Target="https://aws.amazon.com/about-aws/whats-new/2021/06/iam-access-analyzer-adds-new-policy-checks-help-validate-conditions-during-iam-policy-authoring/" TargetMode="External"/><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2" Type="http://schemas.openxmlformats.org/officeDocument/2006/relationships/hyperlink" Target="https://aws.amazon.com/about-aws/whats-new/2021/09/amazon-msk-multiple-authentication-modes-tls-encryption-settings/" TargetMode="External"/><Relationship Id="rId1" Type="http://schemas.openxmlformats.org/officeDocument/2006/relationships/slideLayout" Target="../slideLayouts/slideLayout9.xml"/></Relationships>
</file>

<file path=ppt/slides/_rels/slide149.xml.rels><?xml version="1.0" encoding="UTF-8" standalone="yes"?>
<Relationships xmlns="http://schemas.openxmlformats.org/package/2006/relationships"><Relationship Id="rId2" Type="http://schemas.openxmlformats.org/officeDocument/2006/relationships/hyperlink" Target="https://aws.amazon.com/about-aws/whats-new/2021/09/amazon-quicksight-dataset-source/" TargetMode="External"/><Relationship Id="rId1" Type="http://schemas.openxmlformats.org/officeDocument/2006/relationships/slideLayout" Target="../slideLayouts/slideLayout9.xml"/></Relationships>
</file>

<file path=ppt/slides/_rels/slide150.xml.rels><?xml version="1.0" encoding="UTF-8" standalone="yes"?>
<Relationships xmlns="http://schemas.openxmlformats.org/package/2006/relationships"><Relationship Id="rId2" Type="http://schemas.openxmlformats.org/officeDocument/2006/relationships/hyperlink" Target="https://aws.amazon.com/about-aws/whats-new/2021/09/aws-robomaker-supports-container-images-simulation/" TargetMode="External"/><Relationship Id="rId1" Type="http://schemas.openxmlformats.org/officeDocument/2006/relationships/slideLayout" Target="../slideLayouts/slideLayout9.xml"/></Relationships>
</file>

<file path=ppt/slides/_rels/slide151.xml.rels><?xml version="1.0" encoding="UTF-8" standalone="yes"?>
<Relationships xmlns="http://schemas.openxmlformats.org/package/2006/relationships"><Relationship Id="rId2" Type="http://schemas.openxmlformats.org/officeDocument/2006/relationships/hyperlink" Target="https://aws.amazon.com/about-aws/whats-new/2021/09/aws-codecommit-africa-cape-town-region/" TargetMode="External"/><Relationship Id="rId1" Type="http://schemas.openxmlformats.org/officeDocument/2006/relationships/slideLayout" Target="../slideLayouts/slideLayout9.xml"/></Relationships>
</file>

<file path=ppt/slides/_rels/slide152.xml.rels><?xml version="1.0" encoding="UTF-8" standalone="yes"?>
<Relationships xmlns="http://schemas.openxmlformats.org/package/2006/relationships"><Relationship Id="rId2" Type="http://schemas.openxmlformats.org/officeDocument/2006/relationships/hyperlink" Target="https://aws.amazon.com/about-aws/whats-new/2021/09/aws-iq-aws-certified-experts-consulting-firms-uk-france/" TargetMode="External"/><Relationship Id="rId1" Type="http://schemas.openxmlformats.org/officeDocument/2006/relationships/slideLayout" Target="../slideLayouts/slideLayout9.xml"/></Relationships>
</file>

<file path=ppt/slides/_rels/slide153.xml.rels><?xml version="1.0" encoding="UTF-8" standalone="yes"?>
<Relationships xmlns="http://schemas.openxmlformats.org/package/2006/relationships"><Relationship Id="rId2" Type="http://schemas.openxmlformats.org/officeDocument/2006/relationships/hyperlink" Target="https://aws.amazon.com/about-aws/whats-new/2021/09/amazon-cloudwatch-application-insights-account-application-health-dashboard/" TargetMode="External"/><Relationship Id="rId1" Type="http://schemas.openxmlformats.org/officeDocument/2006/relationships/slideLayout" Target="../slideLayouts/slideLayout9.xml"/></Relationships>
</file>

<file path=ppt/slides/_rels/slide154.xml.rels><?xml version="1.0" encoding="UTF-8" standalone="yes"?>
<Relationships xmlns="http://schemas.openxmlformats.org/package/2006/relationships"><Relationship Id="rId2" Type="http://schemas.openxmlformats.org/officeDocument/2006/relationships/hyperlink" Target="https://aws.amazon.com/about-aws/whats-new/2021/09/amazon-corretto-17-now-available/" TargetMode="External"/><Relationship Id="rId1" Type="http://schemas.openxmlformats.org/officeDocument/2006/relationships/slideLayout" Target="../slideLayouts/slideLayout9.xml"/></Relationships>
</file>

<file path=ppt/slides/_rels/slide155.xml.rels><?xml version="1.0" encoding="UTF-8" standalone="yes"?>
<Relationships xmlns="http://schemas.openxmlformats.org/package/2006/relationships"><Relationship Id="rId2" Type="http://schemas.openxmlformats.org/officeDocument/2006/relationships/hyperlink" Target="https://aws.amazon.com/about-aws/whats-new/2021/09/amazon-msk-connect-run-serverless-scalable-kafka-connect-clusters-amazon-msk/" TargetMode="External"/><Relationship Id="rId1" Type="http://schemas.openxmlformats.org/officeDocument/2006/relationships/slideLayout" Target="../slideLayouts/slideLayout9.xml"/></Relationships>
</file>

<file path=ppt/slides/_rels/slide156.xml.rels><?xml version="1.0" encoding="UTF-8" standalone="yes"?>
<Relationships xmlns="http://schemas.openxmlformats.org/package/2006/relationships"><Relationship Id="rId2" Type="http://schemas.openxmlformats.org/officeDocument/2006/relationships/hyperlink" Target="https://aws.amazon.com/about-aws/whats-new/2021/09/amazon-rds-t4g-mysql-mariadb-postgresql/" TargetMode="External"/><Relationship Id="rId1" Type="http://schemas.openxmlformats.org/officeDocument/2006/relationships/slideLayout" Target="../slideLayouts/slideLayout9.xml"/></Relationships>
</file>

<file path=ppt/slides/_rels/slide157.xml.rels><?xml version="1.0" encoding="UTF-8" standalone="yes"?>
<Relationships xmlns="http://schemas.openxmlformats.org/package/2006/relationships"><Relationship Id="rId2" Type="http://schemas.openxmlformats.org/officeDocument/2006/relationships/hyperlink" Target="https://aws.amazon.com/about-aws/whats-new/2021/09/announcing-build-aws-startups/" TargetMode="External"/><Relationship Id="rId1" Type="http://schemas.openxmlformats.org/officeDocument/2006/relationships/slideLayout" Target="../slideLayouts/slideLayout9.xml"/></Relationships>
</file>

<file path=ppt/slides/_rels/slide158.xml.rels><?xml version="1.0" encoding="UTF-8" standalone="yes"?>
<Relationships xmlns="http://schemas.openxmlformats.org/package/2006/relationships"><Relationship Id="rId2" Type="http://schemas.openxmlformats.org/officeDocument/2006/relationships/hyperlink" Target="https://aws.amazon.com/about-aws/whats-new/2021/09/route-53-resolver-dns-firewall-asia-pacific-osaka-region/" TargetMode="External"/><Relationship Id="rId1" Type="http://schemas.openxmlformats.org/officeDocument/2006/relationships/slideLayout" Target="../slideLayouts/slideLayout9.xml"/></Relationships>
</file>

<file path=ppt/slides/_rels/slide159.xml.rels><?xml version="1.0" encoding="UTF-8" standalone="yes"?>
<Relationships xmlns="http://schemas.openxmlformats.org/package/2006/relationships"><Relationship Id="rId2" Type="http://schemas.openxmlformats.org/officeDocument/2006/relationships/hyperlink" Target="https://aws.amazon.com/about-aws/whats-new/2021/09/amazon-rds-x2g-mysql-mariadb-postgresql/" TargetMode="External"/><Relationship Id="rId1" Type="http://schemas.openxmlformats.org/officeDocument/2006/relationships/slideLayout" Target="../slideLayouts/slideLayout9.xml"/></Relationships>
</file>

<file path=ppt/slides/_rels/slide160.xml.rels><?xml version="1.0" encoding="UTF-8" standalone="yes"?>
<Relationships xmlns="http://schemas.openxmlformats.org/package/2006/relationships"><Relationship Id="rId2" Type="http://schemas.openxmlformats.org/officeDocument/2006/relationships/hyperlink" Target="https://aws.amazon.com/about-aws/whats-new/2021/09/amazon-rds-r5b-mysql-postgresql-databases/" TargetMode="External"/><Relationship Id="rId1" Type="http://schemas.openxmlformats.org/officeDocument/2006/relationships/slideLayout" Target="../slideLayouts/slideLayout9.xml"/></Relationships>
</file>

<file path=ppt/slides/_rels/slide161.xml.rels><?xml version="1.0" encoding="UTF-8" standalone="yes"?>
<Relationships xmlns="http://schemas.openxmlformats.org/package/2006/relationships"><Relationship Id="rId2" Type="http://schemas.openxmlformats.org/officeDocument/2006/relationships/hyperlink" Target="https://aws.amazon.com/about-aws/whats-new/2021/09/aws-service-connector-servicenow-aws-catalog-appregistry/" TargetMode="External"/><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2" Type="http://schemas.openxmlformats.org/officeDocument/2006/relationships/hyperlink" Target="https://aws.amazon.com/about-aws/whats-new/2021/09/amazon-sagemaker-studio-inference-endpoint-testing/" TargetMode="External"/><Relationship Id="rId1" Type="http://schemas.openxmlformats.org/officeDocument/2006/relationships/slideLayout" Target="../slideLayouts/slideLayout9.xml"/></Relationships>
</file>

<file path=ppt/slides/_rels/slide163.xml.rels><?xml version="1.0" encoding="UTF-8" standalone="yes"?>
<Relationships xmlns="http://schemas.openxmlformats.org/package/2006/relationships"><Relationship Id="rId2" Type="http://schemas.openxmlformats.org/officeDocument/2006/relationships/hyperlink" Target="https://aws.amazon.com/about-aws/whats-new/2021/09/amazon-comprehend-extract-entities-native-format/" TargetMode="External"/><Relationship Id="rId1" Type="http://schemas.openxmlformats.org/officeDocument/2006/relationships/slideLayout" Target="../slideLayouts/slideLayout9.xml"/></Relationships>
</file>

<file path=ppt/slides/_rels/slide164.xml.rels><?xml version="1.0" encoding="UTF-8" standalone="yes"?>
<Relationships xmlns="http://schemas.openxmlformats.org/package/2006/relationships"><Relationship Id="rId2" Type="http://schemas.openxmlformats.org/officeDocument/2006/relationships/hyperlink" Target="https://aws.amazon.com/about-aws/whats-new/2021/09/amazon-redshift-rsql-amazon-redshift-clusters-databases/" TargetMode="External"/><Relationship Id="rId1" Type="http://schemas.openxmlformats.org/officeDocument/2006/relationships/slideLayout" Target="../slideLayouts/slideLayout9.xml"/></Relationships>
</file>

<file path=ppt/slides/_rels/slide165.xml.rels><?xml version="1.0" encoding="UTF-8" standalone="yes"?>
<Relationships xmlns="http://schemas.openxmlformats.org/package/2006/relationships"><Relationship Id="rId2" Type="http://schemas.openxmlformats.org/officeDocument/2006/relationships/hyperlink" Target="https://aws.amazon.com/about-aws/whats-new/2021/09/amazon-timestream-scope-aws-soc-reports/" TargetMode="External"/><Relationship Id="rId1" Type="http://schemas.openxmlformats.org/officeDocument/2006/relationships/slideLayout" Target="../slideLayouts/slideLayout9.xml"/></Relationships>
</file>

<file path=ppt/slides/_rels/slide166.xml.rels><?xml version="1.0" encoding="UTF-8" standalone="yes"?>
<Relationships xmlns="http://schemas.openxmlformats.org/package/2006/relationships"><Relationship Id="rId2" Type="http://schemas.openxmlformats.org/officeDocument/2006/relationships/hyperlink" Target="https://aws.amazon.com/about-aws/whats-new/2021/09/aws-lake-formation-asia-pacific-osaka/" TargetMode="External"/><Relationship Id="rId1" Type="http://schemas.openxmlformats.org/officeDocument/2006/relationships/slideLayout" Target="../slideLayouts/slideLayout9.xml"/></Relationships>
</file>

<file path=ppt/slides/_rels/slide167.xml.rels><?xml version="1.0" encoding="UTF-8" standalone="yes"?>
<Relationships xmlns="http://schemas.openxmlformats.org/package/2006/relationships"><Relationship Id="rId2" Type="http://schemas.openxmlformats.org/officeDocument/2006/relationships/hyperlink" Target="https://aws.amazon.com/about-aws/whats-new/2021/09/amazon-ec2-t3-instances-hosts-regions/" TargetMode="External"/><Relationship Id="rId1" Type="http://schemas.openxmlformats.org/officeDocument/2006/relationships/slideLayout" Target="../slideLayouts/slideLayout9.xml"/></Relationships>
</file>

<file path=ppt/slides/_rels/slide168.xml.rels><?xml version="1.0" encoding="UTF-8" standalone="yes"?>
<Relationships xmlns="http://schemas.openxmlformats.org/package/2006/relationships"><Relationship Id="rId2" Type="http://schemas.openxmlformats.org/officeDocument/2006/relationships/hyperlink" Target="https://aws.amazon.com/about-aws/whats-new/2021/09/amazon-transcribe-pii-streaming-transcriptions/" TargetMode="External"/><Relationship Id="rId1" Type="http://schemas.openxmlformats.org/officeDocument/2006/relationships/slideLayout" Target="../slideLayouts/slideLayout9.xml"/></Relationships>
</file>

<file path=ppt/slides/_rels/slide169.xml.rels><?xml version="1.0" encoding="UTF-8" standalone="yes"?>
<Relationships xmlns="http://schemas.openxmlformats.org/package/2006/relationships"><Relationship Id="rId2" Type="http://schemas.openxmlformats.org/officeDocument/2006/relationships/hyperlink" Target="https://aws.amazon.com/about-aws/whats-new/2021/09/amazon-codeguru-reviewer-security-github-fields-cwe-tags/" TargetMode="External"/><Relationship Id="rId1" Type="http://schemas.openxmlformats.org/officeDocument/2006/relationships/slideLayout" Target="../slideLayouts/slideLayout9.xml"/></Relationships>
</file>

<file path=ppt/slides/_rels/slide170.xml.rels><?xml version="1.0" encoding="UTF-8" standalone="yes"?>
<Relationships xmlns="http://schemas.openxmlformats.org/package/2006/relationships"><Relationship Id="rId2" Type="http://schemas.openxmlformats.org/officeDocument/2006/relationships/hyperlink" Target="https://aws.amazon.com/about-aws/whats-new/2021/09/amazon-ec2-vt1-instances-video-transcoding/" TargetMode="External"/><Relationship Id="rId1" Type="http://schemas.openxmlformats.org/officeDocument/2006/relationships/slideLayout" Target="../slideLayouts/slideLayout9.xml"/></Relationships>
</file>

<file path=ppt/slides/_rels/slide171.xml.rels><?xml version="1.0" encoding="UTF-8" standalone="yes"?>
<Relationships xmlns="http://schemas.openxmlformats.org/package/2006/relationships"><Relationship Id="rId2" Type="http://schemas.openxmlformats.org/officeDocument/2006/relationships/hyperlink" Target="https://aws.amazon.com/about-aws/whats-new/2021/09/amazon-connect-real-time-insights-canada-central-region/" TargetMode="External"/><Relationship Id="rId1" Type="http://schemas.openxmlformats.org/officeDocument/2006/relationships/slideLayout" Target="../slideLayouts/slideLayout9.xml"/></Relationships>
</file>

<file path=ppt/slides/_rels/slide172.xml.rels><?xml version="1.0" encoding="UTF-8" standalone="yes"?>
<Relationships xmlns="http://schemas.openxmlformats.org/package/2006/relationships"><Relationship Id="rId2" Type="http://schemas.openxmlformats.org/officeDocument/2006/relationships/hyperlink" Target="https://aws.amazon.com/about-aws/whats-new/2021/09/contact-lens-amazon-connect-adds-languages/" TargetMode="External"/><Relationship Id="rId1" Type="http://schemas.openxmlformats.org/officeDocument/2006/relationships/slideLayout" Target="../slideLayouts/slideLayout9.xml"/></Relationships>
</file>

<file path=ppt/slides/_rels/slide173.xml.rels><?xml version="1.0" encoding="UTF-8" standalone="yes"?>
<Relationships xmlns="http://schemas.openxmlformats.org/package/2006/relationships"><Relationship Id="rId2" Type="http://schemas.openxmlformats.org/officeDocument/2006/relationships/hyperlink" Target="https://aws.amazon.com/about-aws/whats-new/2021/09/aws-health-aware-organizational-personal-aws-accounts-aws-health-alerts/" TargetMode="External"/><Relationship Id="rId1" Type="http://schemas.openxmlformats.org/officeDocument/2006/relationships/slideLayout" Target="../slideLayouts/slideLayout9.xml"/></Relationships>
</file>

<file path=ppt/slides/_rels/slide174.xml.rels><?xml version="1.0" encoding="UTF-8" standalone="yes"?>
<Relationships xmlns="http://schemas.openxmlformats.org/package/2006/relationships"><Relationship Id="rId2" Type="http://schemas.openxmlformats.org/officeDocument/2006/relationships/hyperlink" Target="https://aws.amazon.com/about-aws/whats-new/2021/09/amazon-ses-emails-message-40mb/" TargetMode="External"/><Relationship Id="rId1" Type="http://schemas.openxmlformats.org/officeDocument/2006/relationships/slideLayout" Target="../slideLayouts/slideLayout9.xml"/></Relationships>
</file>

<file path=ppt/slides/_rels/slide175.xml.rels><?xml version="1.0" encoding="UTF-8" standalone="yes"?>
<Relationships xmlns="http://schemas.openxmlformats.org/package/2006/relationships"><Relationship Id="rId2" Type="http://schemas.openxmlformats.org/officeDocument/2006/relationships/hyperlink" Target="https://aws.amazon.com/about-aws/whats-new/2021/09/amazon-ec2-d3-hdd-storage-mumbai-region/" TargetMode="External"/><Relationship Id="rId1" Type="http://schemas.openxmlformats.org/officeDocument/2006/relationships/slideLayout" Target="../slideLayouts/slideLayout9.xml"/></Relationships>
</file>

<file path=ppt/slides/_rels/slide176.xml.rels><?xml version="1.0" encoding="UTF-8" standalone="yes"?>
<Relationships xmlns="http://schemas.openxmlformats.org/package/2006/relationships"><Relationship Id="rId2" Type="http://schemas.openxmlformats.org/officeDocument/2006/relationships/hyperlink" Target="https://aws.amazon.com/about-aws/whats-new/2021/09/aws-parallelcluster-cluster-management-api-gateway/" TargetMode="External"/><Relationship Id="rId1" Type="http://schemas.openxmlformats.org/officeDocument/2006/relationships/slideLayout" Target="../slideLayouts/slideLayout9.xml"/></Relationships>
</file>

<file path=ppt/slides/_rels/slide177.xml.rels><?xml version="1.0" encoding="UTF-8" standalone="yes"?>
<Relationships xmlns="http://schemas.openxmlformats.org/package/2006/relationships"><Relationship Id="rId2" Type="http://schemas.openxmlformats.org/officeDocument/2006/relationships/hyperlink" Target="https://aws.amazon.com/about-aws/whats-new/2021/09/aws-amplify-command-hooks-custom-scripts-cli/" TargetMode="External"/><Relationship Id="rId1" Type="http://schemas.openxmlformats.org/officeDocument/2006/relationships/slideLayout" Target="../slideLayouts/slideLayout9.xml"/></Relationships>
</file>

<file path=ppt/slides/_rels/slide178.xml.rels><?xml version="1.0" encoding="UTF-8" standalone="yes"?>
<Relationships xmlns="http://schemas.openxmlformats.org/package/2006/relationships"><Relationship Id="rId2" Type="http://schemas.openxmlformats.org/officeDocument/2006/relationships/hyperlink" Target="https://aws.amazon.com/about-aws/whats-new/2021/09/amazon-ec2-hibernation-red-hat-enterprise-linux-8-centos-8-fedora-34/" TargetMode="External"/><Relationship Id="rId1" Type="http://schemas.openxmlformats.org/officeDocument/2006/relationships/slideLayout" Target="../slideLayouts/slideLayout9.xml"/></Relationships>
</file>

<file path=ppt/slides/_rels/slide179.xml.rels><?xml version="1.0" encoding="UTF-8" standalone="yes"?>
<Relationships xmlns="http://schemas.openxmlformats.org/package/2006/relationships"><Relationship Id="rId2" Type="http://schemas.openxmlformats.org/officeDocument/2006/relationships/hyperlink" Target="https://aws.amazon.com/about-aws/whats-new/2021/09/amazon-braket-verbatim-compilation-quantum-circuits/" TargetMode="External"/><Relationship Id="rId1" Type="http://schemas.openxmlformats.org/officeDocument/2006/relationships/slideLayout" Target="../slideLayouts/slideLayout9.xml"/></Relationships>
</file>

<file path=ppt/slides/_rels/slide180.xml.rels><?xml version="1.0" encoding="UTF-8" standalone="yes"?>
<Relationships xmlns="http://schemas.openxmlformats.org/package/2006/relationships"><Relationship Id="rId2" Type="http://schemas.openxmlformats.org/officeDocument/2006/relationships/hyperlink" Target="https://aws.amazon.com/about-aws/whats-new/2021/09/dns-elastic-ip-addresses-virtual-private-cloud/" TargetMode="External"/><Relationship Id="rId1" Type="http://schemas.openxmlformats.org/officeDocument/2006/relationships/slideLayout" Target="../slideLayouts/slideLayout9.xml"/></Relationships>
</file>

<file path=ppt/slides/_rels/slide181.xml.rels><?xml version="1.0" encoding="UTF-8" standalone="yes"?>
<Relationships xmlns="http://schemas.openxmlformats.org/package/2006/relationships"><Relationship Id="rId2" Type="http://schemas.openxmlformats.org/officeDocument/2006/relationships/hyperlink" Target="https://aws.amazon.com/about-aws/whats-new/2021/09/amazon-lex-launches-support-korean/" TargetMode="Externa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2" Type="http://schemas.openxmlformats.org/officeDocument/2006/relationships/hyperlink" Target="https://aws.amazon.com/about-aws/whats-new/2021/09/aws-enhancements-marketplace-consulting-partner-private-offer/" TargetMode="External"/><Relationship Id="rId1" Type="http://schemas.openxmlformats.org/officeDocument/2006/relationships/slideLayout" Target="../slideLayouts/slideLayout9.xml"/></Relationships>
</file>

<file path=ppt/slides/_rels/slide183.xml.rels><?xml version="1.0" encoding="UTF-8" standalone="yes"?>
<Relationships xmlns="http://schemas.openxmlformats.org/package/2006/relationships"><Relationship Id="rId2" Type="http://schemas.openxmlformats.org/officeDocument/2006/relationships/hyperlink" Target="https://aws.amazon.com/about-aws/whats-new/2021/09/aws-cloud-map-aws-govcloud-us-regions/" TargetMode="External"/><Relationship Id="rId1" Type="http://schemas.openxmlformats.org/officeDocument/2006/relationships/slideLayout" Target="../slideLayouts/slideLayout9.xml"/></Relationships>
</file>

<file path=ppt/slides/_rels/slide184.xml.rels><?xml version="1.0" encoding="UTF-8" standalone="yes"?>
<Relationships xmlns="http://schemas.openxmlformats.org/package/2006/relationships"><Relationship Id="rId2" Type="http://schemas.openxmlformats.org/officeDocument/2006/relationships/hyperlink" Target="https://aws.amazon.com/about-aws/whats-new/2021/09/amazon-ec2-i3en-instances-aws-regions/" TargetMode="External"/><Relationship Id="rId1" Type="http://schemas.openxmlformats.org/officeDocument/2006/relationships/slideLayout" Target="../slideLayouts/slideLayout9.xml"/></Relationships>
</file>

<file path=ppt/slides/_rels/slide185.xml.rels><?xml version="1.0" encoding="UTF-8" standalone="yes"?>
<Relationships xmlns="http://schemas.openxmlformats.org/package/2006/relationships"><Relationship Id="rId2" Type="http://schemas.openxmlformats.org/officeDocument/2006/relationships/hyperlink" Target="https://aws.amazon.com/about-aws/whats-new/2021/09/aws-managed-services-ams-catalog-operational-on-demand/" TargetMode="External"/><Relationship Id="rId1" Type="http://schemas.openxmlformats.org/officeDocument/2006/relationships/slideLayout" Target="../slideLayouts/slideLayout9.xml"/></Relationships>
</file>

<file path=ppt/slides/_rels/slide186.xml.rels><?xml version="1.0" encoding="UTF-8" standalone="yes"?>
<Relationships xmlns="http://schemas.openxmlformats.org/package/2006/relationships"><Relationship Id="rId2" Type="http://schemas.openxmlformats.org/officeDocument/2006/relationships/hyperlink" Target="https://aws.amazon.com/about-aws/whats-new/2021/09/general-availability-aws-local-zones/" TargetMode="External"/><Relationship Id="rId1" Type="http://schemas.openxmlformats.org/officeDocument/2006/relationships/slideLayout" Target="../slideLayouts/slideLayout9.xml"/></Relationships>
</file>

<file path=ppt/slides/_rels/slide187.xml.rels><?xml version="1.0" encoding="UTF-8" standalone="yes"?>
<Relationships xmlns="http://schemas.openxmlformats.org/package/2006/relationships"><Relationship Id="rId2" Type="http://schemas.openxmlformats.org/officeDocument/2006/relationships/hyperlink" Target="https://aws.amazon.com/about-aws/whats-new/2021/09/amazon-elastic-kubernetes-service/" TargetMode="External"/><Relationship Id="rId1" Type="http://schemas.openxmlformats.org/officeDocument/2006/relationships/slideLayout" Target="../slideLayouts/slideLayout9.xml"/></Relationships>
</file>

<file path=ppt/slides/_rels/slide188.xml.rels><?xml version="1.0" encoding="UTF-8" standalone="yes"?>
<Relationships xmlns="http://schemas.openxmlformats.org/package/2006/relationships"><Relationship Id="rId2" Type="http://schemas.openxmlformats.org/officeDocument/2006/relationships/hyperlink" Target="https://aws.amazon.com/about-aws/whats-new/2021/09/aws-marketplace-ami-products/" TargetMode="External"/><Relationship Id="rId1" Type="http://schemas.openxmlformats.org/officeDocument/2006/relationships/slideLayout" Target="../slideLayouts/slideLayout9.xml"/></Relationships>
</file>

<file path=ppt/slides/_rels/slide189.xml.rels><?xml version="1.0" encoding="UTF-8" standalone="yes"?>
<Relationships xmlns="http://schemas.openxmlformats.org/package/2006/relationships"><Relationship Id="rId2" Type="http://schemas.openxmlformats.org/officeDocument/2006/relationships/hyperlink" Target="https://aws.amazon.com/about-aws/whats-new/2021/09/aws-launch-wizard-sap-deployment-accounts-aws-managed-services/" TargetMode="External"/><Relationship Id="rId1" Type="http://schemas.openxmlformats.org/officeDocument/2006/relationships/slideLayout" Target="../slideLayouts/slideLayout9.xml"/></Relationships>
</file>

<file path=ppt/slides/_rels/slide190.xml.rels><?xml version="1.0" encoding="UTF-8" standalone="yes"?>
<Relationships xmlns="http://schemas.openxmlformats.org/package/2006/relationships"><Relationship Id="rId2" Type="http://schemas.openxmlformats.org/officeDocument/2006/relationships/hyperlink" Target="https://aws.amazon.com/about-aws/whats-new/2021/09/aws-systems-calender-third-party-imports/" TargetMode="External"/><Relationship Id="rId1" Type="http://schemas.openxmlformats.org/officeDocument/2006/relationships/slideLayout" Target="../slideLayouts/slideLayout9.xml"/></Relationships>
</file>

<file path=ppt/slides/_rels/slide191.xml.rels><?xml version="1.0" encoding="UTF-8" standalone="yes"?>
<Relationships xmlns="http://schemas.openxmlformats.org/package/2006/relationships"><Relationship Id="rId2" Type="http://schemas.openxmlformats.org/officeDocument/2006/relationships/hyperlink" Target="https://aws.amazon.com/about-aws/whats-new/2021/09/amazon-pinpoint-encrypted-sns-topics-inbound-sms/" TargetMode="External"/><Relationship Id="rId1" Type="http://schemas.openxmlformats.org/officeDocument/2006/relationships/slideLayout" Target="../slideLayouts/slideLayout9.xml"/></Relationships>
</file>

<file path=ppt/slides/_rels/slide192.xml.rels><?xml version="1.0" encoding="UTF-8" standalone="yes"?>
<Relationships xmlns="http://schemas.openxmlformats.org/package/2006/relationships"><Relationship Id="rId2" Type="http://schemas.openxmlformats.org/officeDocument/2006/relationships/hyperlink" Target="https://aws.amazon.com/about-aws/whats-new/2021/09/multi-key-encryption-aws-elemental-mediapackage-speke-2-0/" TargetMode="External"/><Relationship Id="rId1" Type="http://schemas.openxmlformats.org/officeDocument/2006/relationships/slideLayout" Target="../slideLayouts/slideLayout9.xml"/></Relationships>
</file>

<file path=ppt/slides/_rels/slide193.xml.rels><?xml version="1.0" encoding="UTF-8" standalone="yes"?>
<Relationships xmlns="http://schemas.openxmlformats.org/package/2006/relationships"><Relationship Id="rId2" Type="http://schemas.openxmlformats.org/officeDocument/2006/relationships/hyperlink" Target="https://aws.amazon.com/about-aws/whats-new/2021/09/aws-network-firewall-hipaa-eligible/" TargetMode="External"/><Relationship Id="rId1" Type="http://schemas.openxmlformats.org/officeDocument/2006/relationships/slideLayout" Target="../slideLayouts/slideLayout9.xml"/></Relationships>
</file>

<file path=ppt/slides/_rels/slide194.xml.rels><?xml version="1.0" encoding="UTF-8" standalone="yes"?>
<Relationships xmlns="http://schemas.openxmlformats.org/package/2006/relationships"><Relationship Id="rId2" Type="http://schemas.openxmlformats.org/officeDocument/2006/relationships/hyperlink" Target="https://aws.amazon.com/about-aws/whats-new/2021/09/cloud9-available-more-regions/" TargetMode="External"/><Relationship Id="rId1" Type="http://schemas.openxmlformats.org/officeDocument/2006/relationships/slideLayout" Target="../slideLayouts/slideLayout9.xml"/></Relationships>
</file>

<file path=ppt/slides/_rels/slide195.xml.rels><?xml version="1.0" encoding="UTF-8" standalone="yes"?>
<Relationships xmlns="http://schemas.openxmlformats.org/package/2006/relationships"><Relationship Id="rId2" Type="http://schemas.openxmlformats.org/officeDocument/2006/relationships/hyperlink" Target="https://aws.amazon.com/about-aws/whats-new/2021/09/amazon-rds-sql-server-msdtc-jdbc-xa-sql-server-2017-cu16-plus-sql-server-2019/" TargetMode="External"/><Relationship Id="rId1" Type="http://schemas.openxmlformats.org/officeDocument/2006/relationships/slideLayout" Target="../slideLayouts/slideLayout9.xml"/></Relationships>
</file>

<file path=ppt/slides/_rels/slide196.xml.rels><?xml version="1.0" encoding="UTF-8" standalone="yes"?>
<Relationships xmlns="http://schemas.openxmlformats.org/package/2006/relationships"><Relationship Id="rId2" Type="http://schemas.openxmlformats.org/officeDocument/2006/relationships/hyperlink" Target="https://aws.amazon.com/about-aws/whats-new/2021/09/amazon-aurora-postgresql-oracle-fdw-aws-govcloud-us-regions/" TargetMode="External"/><Relationship Id="rId1" Type="http://schemas.openxmlformats.org/officeDocument/2006/relationships/slideLayout" Target="../slideLayouts/slideLayout9.xml"/></Relationships>
</file>

<file path=ppt/slides/_rels/slide197.xml.rels><?xml version="1.0" encoding="UTF-8" standalone="yes"?>
<Relationships xmlns="http://schemas.openxmlformats.org/package/2006/relationships"><Relationship Id="rId2" Type="http://schemas.openxmlformats.org/officeDocument/2006/relationships/hyperlink" Target="https://aws.amazon.com/about-aws/whats-new/2021/09/amazon-aurora-supports-postgresql-versions-aws-govcloud-regions/" TargetMode="External"/><Relationship Id="rId1" Type="http://schemas.openxmlformats.org/officeDocument/2006/relationships/slideLayout" Target="../slideLayouts/slideLayout9.xml"/></Relationships>
</file>

<file path=ppt/slides/_rels/slide198.xml.rels><?xml version="1.0" encoding="UTF-8" standalone="yes"?>
<Relationships xmlns="http://schemas.openxmlformats.org/package/2006/relationships"><Relationship Id="rId2" Type="http://schemas.openxmlformats.org/officeDocument/2006/relationships/hyperlink" Target="https://aws.amazon.com/about-aws/whats-new/2021/09/amazon-emr-studio-hipaa-hitrust/" TargetMode="External"/><Relationship Id="rId1" Type="http://schemas.openxmlformats.org/officeDocument/2006/relationships/slideLayout" Target="../slideLayouts/slideLayout9.xml"/></Relationships>
</file>

<file path=ppt/slides/_rels/slide199.xml.rels><?xml version="1.0" encoding="UTF-8" standalone="yes"?>
<Relationships xmlns="http://schemas.openxmlformats.org/package/2006/relationships"><Relationship Id="rId2" Type="http://schemas.openxmlformats.org/officeDocument/2006/relationships/hyperlink" Target="https://aws.amazon.com/about-aws/whats-new/2021/09/amazon-monitron-ethernet-gateway-device/" TargetMode="External"/><Relationship Id="rId1" Type="http://schemas.openxmlformats.org/officeDocument/2006/relationships/slideLayout" Target="../slideLayouts/slideLayout9.xml"/></Relationships>
</file>

<file path=ppt/slides/_rels/slide200.xml.rels><?xml version="1.0" encoding="UTF-8" standalone="yes"?>
<Relationships xmlns="http://schemas.openxmlformats.org/package/2006/relationships"><Relationship Id="rId2" Type="http://schemas.openxmlformats.org/officeDocument/2006/relationships/hyperlink" Target="https://aws.amazon.com/about-aws/whats-new/2021/09/amazon-rds-mariadb-new-minor-versions/" TargetMode="External"/><Relationship Id="rId1" Type="http://schemas.openxmlformats.org/officeDocument/2006/relationships/slideLayout" Target="../slideLayouts/slideLayout9.xml"/></Relationships>
</file>

<file path=ppt/slides/_rels/slide201.xml.rels><?xml version="1.0" encoding="UTF-8" standalone="yes"?>
<Relationships xmlns="http://schemas.openxmlformats.org/package/2006/relationships"><Relationship Id="rId2" Type="http://schemas.openxmlformats.org/officeDocument/2006/relationships/hyperlink" Target="https://aws.amazon.com/about-aws/whats-new/2021/09/aws-solutions-implementation-aws-cloudendure-migration-factory-solution/" TargetMode="External"/><Relationship Id="rId1" Type="http://schemas.openxmlformats.org/officeDocument/2006/relationships/slideLayout" Target="../slideLayouts/slideLayout9.xml"/></Relationships>
</file>

<file path=ppt/slides/_rels/slide202.xml.rels><?xml version="1.0" encoding="UTF-8" standalone="yes"?>
<Relationships xmlns="http://schemas.openxmlformats.org/package/2006/relationships"><Relationship Id="rId2" Type="http://schemas.openxmlformats.org/officeDocument/2006/relationships/hyperlink" Target="https://aws.amazon.com/about-aws/whats-new/2021/09/amazon-fsx-netapp-ontap/" TargetMode="External"/><Relationship Id="rId1" Type="http://schemas.openxmlformats.org/officeDocument/2006/relationships/slideLayout" Target="../slideLayouts/slideLayout9.xml"/></Relationships>
</file>

<file path=ppt/slides/_rels/slide203.xml.rels><?xml version="1.0" encoding="UTF-8" standalone="yes"?>
<Relationships xmlns="http://schemas.openxmlformats.org/package/2006/relationships"><Relationship Id="rId2" Type="http://schemas.openxmlformats.org/officeDocument/2006/relationships/hyperlink" Target="https://aws.amazon.com/about-aws/whats-new/2021/09/amazon-sagemaker-aws-asia-pacific-osaka-region/" TargetMode="External"/><Relationship Id="rId1" Type="http://schemas.openxmlformats.org/officeDocument/2006/relationships/slideLayout" Target="../slideLayouts/slideLayout9.xml"/></Relationships>
</file>

<file path=ppt/slides/_rels/slide204.xml.rels><?xml version="1.0" encoding="UTF-8" standalone="yes"?>
<Relationships xmlns="http://schemas.openxmlformats.org/package/2006/relationships"><Relationship Id="rId2" Type="http://schemas.openxmlformats.org/officeDocument/2006/relationships/hyperlink" Target="https://aws.amazon.com/about-aws/whats-new/2021/09/amazon-ebs-apis-ebs-snapshots/" TargetMode="External"/><Relationship Id="rId1" Type="http://schemas.openxmlformats.org/officeDocument/2006/relationships/slideLayout" Target="../slideLayouts/slideLayout9.xml"/></Relationships>
</file>

<file path=ppt/slides/_rels/slide205.xml.rels><?xml version="1.0" encoding="UTF-8" standalone="yes"?>
<Relationships xmlns="http://schemas.openxmlformats.org/package/2006/relationships"><Relationship Id="rId2" Type="http://schemas.openxmlformats.org/officeDocument/2006/relationships/hyperlink" Target="https://aws.amazon.com/about-aws/whats-new/2021/09/nice-dcv-web-client-sdk-1-0-3/" TargetMode="External"/><Relationship Id="rId1" Type="http://schemas.openxmlformats.org/officeDocument/2006/relationships/slideLayout" Target="../slideLayouts/slideLayout9.xml"/></Relationships>
</file>

<file path=ppt/slides/_rels/slide206.xml.rels><?xml version="1.0" encoding="UTF-8" standalone="yes"?>
<Relationships xmlns="http://schemas.openxmlformats.org/package/2006/relationships"><Relationship Id="rId2" Type="http://schemas.openxmlformats.org/officeDocument/2006/relationships/hyperlink" Target="https://aws.amazon.com/about-aws/whats-new/2021/09/amazon-nice-dcv-version-2021-2/" TargetMode="External"/><Relationship Id="rId1" Type="http://schemas.openxmlformats.org/officeDocument/2006/relationships/slideLayout" Target="../slideLayouts/slideLayout9.xml"/></Relationships>
</file>

<file path=ppt/slides/_rels/slide207.xml.rels><?xml version="1.0" encoding="UTF-8" standalone="yes"?>
<Relationships xmlns="http://schemas.openxmlformats.org/package/2006/relationships"><Relationship Id="rId2" Type="http://schemas.openxmlformats.org/officeDocument/2006/relationships/hyperlink" Target="https://aws.amazon.com/about-aws/whats-new/2021/09/aws-lambda-privatelink-zones/" TargetMode="External"/><Relationship Id="rId1" Type="http://schemas.openxmlformats.org/officeDocument/2006/relationships/slideLayout" Target="../slideLayouts/slideLayout9.xml"/></Relationships>
</file>

<file path=ppt/slides/_rels/slide208.xml.rels><?xml version="1.0" encoding="UTF-8" standalone="yes"?>
<Relationships xmlns="http://schemas.openxmlformats.org/package/2006/relationships"><Relationship Id="rId2" Type="http://schemas.openxmlformats.org/officeDocument/2006/relationships/hyperlink" Target="https://aws.amazon.com/about-aws/whats-new/2021/09/amazon-polly-aws-africa-cape-town-region/" TargetMode="External"/><Relationship Id="rId1" Type="http://schemas.openxmlformats.org/officeDocument/2006/relationships/slideLayout" Target="../slideLayouts/slideLayout9.xml"/></Relationships>
</file>

<file path=ppt/slides/_rels/slide209.xml.rels><?xml version="1.0" encoding="UTF-8" standalone="yes"?>
<Relationships xmlns="http://schemas.openxmlformats.org/package/2006/relationships"><Relationship Id="rId2" Type="http://schemas.openxmlformats.org/officeDocument/2006/relationships/hyperlink" Target="https://aws.amazon.com/about-aws/whats-new/2021/09/amazon-cloudwatch-application-insights-microsoft-sql-server-fci-fsx-storage/" TargetMode="External"/><Relationship Id="rId1" Type="http://schemas.openxmlformats.org/officeDocument/2006/relationships/slideLayout" Target="../slideLayouts/slideLayout9.xml"/></Relationships>
</file>

<file path=ppt/slides/_rels/slide210.xml.rels><?xml version="1.0" encoding="UTF-8" standalone="yes"?>
<Relationships xmlns="http://schemas.openxmlformats.org/package/2006/relationships"><Relationship Id="rId2" Type="http://schemas.openxmlformats.org/officeDocument/2006/relationships/hyperlink" Target="https://aws.amazon.com/about-aws/whats-new/2021/09/aws-elemental-mediatailor-channel-assembly-streams/" TargetMode="External"/><Relationship Id="rId1" Type="http://schemas.openxmlformats.org/officeDocument/2006/relationships/slideLayout" Target="../slideLayouts/slideLayout9.xml"/></Relationships>
</file>

<file path=ppt/slides/_rels/slide211.xml.rels><?xml version="1.0" encoding="UTF-8" standalone="yes"?>
<Relationships xmlns="http://schemas.openxmlformats.org/package/2006/relationships"><Relationship Id="rId2" Type="http://schemas.openxmlformats.org/officeDocument/2006/relationships/hyperlink" Target="https://aws.amazon.com/about-aws/whats-new/2021/09/amazon-sagemaker-supports-m5d-r5-p3dn-instances-sagemaker-studio-notebooks/" TargetMode="External"/><Relationship Id="rId1" Type="http://schemas.openxmlformats.org/officeDocument/2006/relationships/slideLayout" Target="../slideLayouts/slideLayout9.xml"/></Relationships>
</file>

<file path=ppt/slides/_rels/slide212.xml.rels><?xml version="1.0" encoding="UTF-8" standalone="yes"?>
<Relationships xmlns="http://schemas.openxmlformats.org/package/2006/relationships"><Relationship Id="rId2" Type="http://schemas.openxmlformats.org/officeDocument/2006/relationships/hyperlink" Target="https://aws.amazon.com/about-aws/whats-new/2021/08/aws-launch-wizard-deployment-capabilities-expanded/" TargetMode="External"/><Relationship Id="rId1" Type="http://schemas.openxmlformats.org/officeDocument/2006/relationships/slideLayout" Target="../slideLayouts/slideLayout9.xml"/></Relationships>
</file>

<file path=ppt/slides/_rels/slide213.xml.rels><?xml version="1.0" encoding="UTF-8" standalone="yes"?>
<Relationships xmlns="http://schemas.openxmlformats.org/package/2006/relationships"><Relationship Id="rId2" Type="http://schemas.openxmlformats.org/officeDocument/2006/relationships/hyperlink" Target="https://aws.amazon.com/about-aws/whats-new/2021/08/amazon-rds-oracle-psu-12-1-ru-12-2-19c/" TargetMode="External"/><Relationship Id="rId1" Type="http://schemas.openxmlformats.org/officeDocument/2006/relationships/slideLayout" Target="../slideLayouts/slideLayout9.xml"/></Relationships>
</file>

<file path=ppt/slides/_rels/slide214.xml.rels><?xml version="1.0" encoding="UTF-8" standalone="yes"?>
<Relationships xmlns="http://schemas.openxmlformats.org/package/2006/relationships"><Relationship Id="rId2" Type="http://schemas.openxmlformats.org/officeDocument/2006/relationships/hyperlink" Target="https://aws.amazon.com/about-aws/whats-new/2021/08/aws-systems-manager-application-management-capabilities/" TargetMode="External"/><Relationship Id="rId1" Type="http://schemas.openxmlformats.org/officeDocument/2006/relationships/slideLayout" Target="../slideLayouts/slideLayout9.xml"/></Relationships>
</file>

<file path=ppt/slides/_rels/slide215.xml.rels><?xml version="1.0" encoding="UTF-8" standalone="yes"?>
<Relationships xmlns="http://schemas.openxmlformats.org/package/2006/relationships"><Relationship Id="rId2" Type="http://schemas.openxmlformats.org/officeDocument/2006/relationships/hyperlink" Target="https://aws.amazon.com/about-aws/whats-new/2021/08/aws-iot-device-management-fleet-monitoring/" TargetMode="External"/><Relationship Id="rId1" Type="http://schemas.openxmlformats.org/officeDocument/2006/relationships/slideLayout" Target="../slideLayouts/slideLayout9.xml"/></Relationships>
</file>

<file path=ppt/slides/_rels/slide216.xml.rels><?xml version="1.0" encoding="UTF-8" standalone="yes"?>
<Relationships xmlns="http://schemas.openxmlformats.org/package/2006/relationships"><Relationship Id="rId2" Type="http://schemas.openxmlformats.org/officeDocument/2006/relationships/hyperlink" Target="https://aws.amazon.com/about-aws/whats-new/2021/08/amazon-managed-workflows-apache-airflow-mwaa/" TargetMode="External"/><Relationship Id="rId1" Type="http://schemas.openxmlformats.org/officeDocument/2006/relationships/slideLayout" Target="../slideLayouts/slideLayout9.xml"/></Relationships>
</file>

<file path=ppt/slides/_rels/slide217.xml.rels><?xml version="1.0" encoding="UTF-8" standalone="yes"?>
<Relationships xmlns="http://schemas.openxmlformats.org/package/2006/relationships"><Relationship Id="rId2" Type="http://schemas.openxmlformats.org/officeDocument/2006/relationships/hyperlink" Target="https://aws.amazon.com/about-aws/whats-new/2021/08/amazon-aurora-postgresql-13-3-govcloud/" TargetMode="External"/><Relationship Id="rId1" Type="http://schemas.openxmlformats.org/officeDocument/2006/relationships/slideLayout" Target="../slideLayouts/slideLayout9.xml"/></Relationships>
</file>

<file path=ppt/slides/_rels/slide218.xml.rels><?xml version="1.0" encoding="UTF-8" standalone="yes"?>
<Relationships xmlns="http://schemas.openxmlformats.org/package/2006/relationships"><Relationship Id="rId2" Type="http://schemas.openxmlformats.org/officeDocument/2006/relationships/hyperlink" Target="https://aws.amazon.com/about-aws/whats-new/2021/08/aws-backint-agent-amazon-s3-intelligent-tiering-ansible/" TargetMode="External"/><Relationship Id="rId1" Type="http://schemas.openxmlformats.org/officeDocument/2006/relationships/slideLayout" Target="../slideLayouts/slideLayout9.xml"/></Relationships>
</file>

<file path=ppt/slides/_rels/slide219.xml.rels><?xml version="1.0" encoding="UTF-8" standalone="yes"?>
<Relationships xmlns="http://schemas.openxmlformats.org/package/2006/relationships"><Relationship Id="rId2" Type="http://schemas.openxmlformats.org/officeDocument/2006/relationships/hyperlink" Target="https://aws.amazon.com/about-aws/whats-new/2021/08/amazon-transcribe-speech-text-new-languages/" TargetMode="External"/><Relationship Id="rId1" Type="http://schemas.openxmlformats.org/officeDocument/2006/relationships/slideLayout" Target="../slideLayouts/slideLayout9.xml"/></Relationships>
</file>

<file path=ppt/slides/_rels/slide220.xml.rels><?xml version="1.0" encoding="UTF-8" standalone="yes"?>
<Relationships xmlns="http://schemas.openxmlformats.org/package/2006/relationships"><Relationship Id="rId2" Type="http://schemas.openxmlformats.org/officeDocument/2006/relationships/hyperlink" Target="https://aws.amazon.com/about-aws/whats-new/2021/08/aws-glue-databrew-aws-govcloud-us-west-region/" TargetMode="External"/><Relationship Id="rId1" Type="http://schemas.openxmlformats.org/officeDocument/2006/relationships/slideLayout" Target="../slideLayouts/slideLayout9.xml"/></Relationships>
</file>

<file path=ppt/slides/_rels/slide221.xml.rels><?xml version="1.0" encoding="UTF-8" standalone="yes"?>
<Relationships xmlns="http://schemas.openxmlformats.org/package/2006/relationships"><Relationship Id="rId2" Type="http://schemas.openxmlformats.org/officeDocument/2006/relationships/hyperlink" Target="https://aws.amazon.com/about-aws/whats-new/2021/08/amazon-sagemaker-model-registry-inference-pipelines/" TargetMode="External"/><Relationship Id="rId1" Type="http://schemas.openxmlformats.org/officeDocument/2006/relationships/slideLayout" Target="../slideLayouts/slideLayout9.xml"/></Relationships>
</file>

<file path=ppt/slides/_rels/slide222.xml.rels><?xml version="1.0" encoding="UTF-8" standalone="yes"?>
<Relationships xmlns="http://schemas.openxmlformats.org/package/2006/relationships"><Relationship Id="rId2" Type="http://schemas.openxmlformats.org/officeDocument/2006/relationships/hyperlink" Target="https://aws.amazon.com/about-aws/whats-new/2021/08/amazon-textract-reduced-pricing-analyzedocument-detectdocumenttext-region-expansion/" TargetMode="External"/><Relationship Id="rId1" Type="http://schemas.openxmlformats.org/officeDocument/2006/relationships/slideLayout" Target="../slideLayouts/slideLayout9.xml"/></Relationships>
</file>

<file path=ppt/slides/_rels/slide223.xml.rels><?xml version="1.0" encoding="UTF-8" standalone="yes"?>
<Relationships xmlns="http://schemas.openxmlformats.org/package/2006/relationships"><Relationship Id="rId2" Type="http://schemas.openxmlformats.org/officeDocument/2006/relationships/hyperlink" Target="https://aws.amazon.com/about-aws/whats-new/2021/08/aws-snowcone-aws-asia-pacific/" TargetMode="External"/><Relationship Id="rId1" Type="http://schemas.openxmlformats.org/officeDocument/2006/relationships/slideLayout" Target="../slideLayouts/slideLayout9.xml"/></Relationships>
</file>

<file path=ppt/slides/_rels/slide224.xml.rels><?xml version="1.0" encoding="UTF-8" standalone="yes"?>
<Relationships xmlns="http://schemas.openxmlformats.org/package/2006/relationships"><Relationship Id="rId2" Type="http://schemas.openxmlformats.org/officeDocument/2006/relationships/hyperlink" Target="https://aws.amazon.com/about-aws/whats-new/2021/08/amazon-rekognition-improves-celebrity-recognition-attributes/" TargetMode="External"/><Relationship Id="rId1" Type="http://schemas.openxmlformats.org/officeDocument/2006/relationships/slideLayout" Target="../slideLayouts/slideLayout9.xml"/></Relationships>
</file>

<file path=ppt/slides/_rels/slide225.xml.rels><?xml version="1.0" encoding="UTF-8" standalone="yes"?>
<Relationships xmlns="http://schemas.openxmlformats.org/package/2006/relationships"><Relationship Id="rId2" Type="http://schemas.openxmlformats.org/officeDocument/2006/relationships/hyperlink" Target="https://aws.amazon.com/about-aws/whats-new/2021/08/amazon-elasticsearch-service-availability-zone-deployments-aws-govcloud-us-east-region/" TargetMode="External"/><Relationship Id="rId1" Type="http://schemas.openxmlformats.org/officeDocument/2006/relationships/slideLayout" Target="../slideLayouts/slideLayout9.xml"/></Relationships>
</file>

<file path=ppt/slides/_rels/slide226.xml.rels><?xml version="1.0" encoding="UTF-8" standalone="yes"?>
<Relationships xmlns="http://schemas.openxmlformats.org/package/2006/relationships"><Relationship Id="rId2" Type="http://schemas.openxmlformats.org/officeDocument/2006/relationships/hyperlink" Target="https://aws.amazon.com/about-aws/whats-new/2021/08/aws-datasync-task-filtering-queuing/" TargetMode="External"/><Relationship Id="rId1" Type="http://schemas.openxmlformats.org/officeDocument/2006/relationships/slideLayout" Target="../slideLayouts/slideLayout9.xml"/></Relationships>
</file>

<file path=ppt/slides/_rels/slide227.xml.rels><?xml version="1.0" encoding="UTF-8" standalone="yes"?>
<Relationships xmlns="http://schemas.openxmlformats.org/package/2006/relationships"><Relationship Id="rId2" Type="http://schemas.openxmlformats.org/officeDocument/2006/relationships/hyperlink" Target="https://aws.amazon.com/about-aws/whats-new/2021/08/amazon-dynamodb-console-manage-data-resources/" TargetMode="External"/><Relationship Id="rId1" Type="http://schemas.openxmlformats.org/officeDocument/2006/relationships/slideLayout" Target="../slideLayouts/slideLayout9.xml"/></Relationships>
</file>

<file path=ppt/slides/_rels/slide228.xml.rels><?xml version="1.0" encoding="UTF-8" standalone="yes"?>
<Relationships xmlns="http://schemas.openxmlformats.org/package/2006/relationships"><Relationship Id="rId2" Type="http://schemas.openxmlformats.org/officeDocument/2006/relationships/hyperlink" Target="https://aws.amazon.com/about-aws/whats-new/2021/08/comprehend-launches-support-tagging-analysis-jobs/" TargetMode="External"/><Relationship Id="rId1" Type="http://schemas.openxmlformats.org/officeDocument/2006/relationships/slideLayout" Target="../slideLayouts/slideLayout9.xml"/></Relationships>
</file>

<file path=ppt/slides/_rels/slide229.xml.rels><?xml version="1.0" encoding="UTF-8" standalone="yes"?>
<Relationships xmlns="http://schemas.openxmlformats.org/package/2006/relationships"><Relationship Id="rId2" Type="http://schemas.openxmlformats.org/officeDocument/2006/relationships/hyperlink" Target="https://aws.amazon.com/about-aws/whats-new/2021/08/amazon-rds-postgresql-boolean-parameter/" TargetMode="External"/><Relationship Id="rId1" Type="http://schemas.openxmlformats.org/officeDocument/2006/relationships/slideLayout" Target="../slideLayouts/slideLayout9.xml"/></Relationships>
</file>

<file path=ppt/slides/_rels/slide230.xml.rels><?xml version="1.0" encoding="UTF-8" standalone="yes"?>
<Relationships xmlns="http://schemas.openxmlformats.org/package/2006/relationships"><Relationship Id="rId2" Type="http://schemas.openxmlformats.org/officeDocument/2006/relationships/hyperlink" Target="https://aws.amazon.com/about-aws/whats-new/2021/08/aws-level-1-mssp-competency/" TargetMode="External"/><Relationship Id="rId1" Type="http://schemas.openxmlformats.org/officeDocument/2006/relationships/slideLayout" Target="../slideLayouts/slideLayout9.xml"/></Relationships>
</file>

<file path=ppt/slides/_rels/slide231.xml.rels><?xml version="1.0" encoding="UTF-8" standalone="yes"?>
<Relationships xmlns="http://schemas.openxmlformats.org/package/2006/relationships"><Relationship Id="rId2" Type="http://schemas.openxmlformats.org/officeDocument/2006/relationships/hyperlink" Target="https://aws.amazon.com/about-aws/whats-new/2021/08/amazon-transcribe-resource-tagging/" TargetMode="External"/><Relationship Id="rId1" Type="http://schemas.openxmlformats.org/officeDocument/2006/relationships/slideLayout" Target="../slideLayouts/slideLayout9.xml"/></Relationships>
</file>

<file path=ppt/slides/_rels/slide232.xml.rels><?xml version="1.0" encoding="UTF-8" standalone="yes"?>
<Relationships xmlns="http://schemas.openxmlformats.org/package/2006/relationships"><Relationship Id="rId2" Type="http://schemas.openxmlformats.org/officeDocument/2006/relationships/hyperlink" Target="https://aws.amazon.com/about-aws/whats-new/2021/08/amazon-polly-launches-aria-new-zealand-english-neural-text-speech-voice/" TargetMode="External"/><Relationship Id="rId1" Type="http://schemas.openxmlformats.org/officeDocument/2006/relationships/slideLayout" Target="../slideLayouts/slideLayout9.xml"/></Relationships>
</file>

<file path=ppt/slides/_rels/slide233.xml.rels><?xml version="1.0" encoding="UTF-8" standalone="yes"?>
<Relationships xmlns="http://schemas.openxmlformats.org/package/2006/relationships"><Relationship Id="rId2" Type="http://schemas.openxmlformats.org/officeDocument/2006/relationships/hyperlink" Target="https://aws.amazon.com/about-aws/whats-new/2021/08/aws-iot-core-supports-mqtt-retained-messages/" TargetMode="External"/><Relationship Id="rId1" Type="http://schemas.openxmlformats.org/officeDocument/2006/relationships/slideLayout" Target="../slideLayouts/slideLayout9.xml"/></Relationships>
</file>

<file path=ppt/slides/_rels/slide234.xml.rels><?xml version="1.0" encoding="UTF-8" standalone="yes"?>
<Relationships xmlns="http://schemas.openxmlformats.org/package/2006/relationships"><Relationship Id="rId2" Type="http://schemas.openxmlformats.org/officeDocument/2006/relationships/hyperlink" Target="https://aws.amazon.com/about-aws/whats-new/2021/08/amazon-ec2-m6i-instances-us-west-asia-pacific/" TargetMode="External"/><Relationship Id="rId1" Type="http://schemas.openxmlformats.org/officeDocument/2006/relationships/slideLayout" Target="../slideLayouts/slideLayout9.xml"/></Relationships>
</file>

<file path=ppt/slides/_rels/slide235.xml.rels><?xml version="1.0" encoding="UTF-8" standalone="yes"?>
<Relationships xmlns="http://schemas.openxmlformats.org/package/2006/relationships"><Relationship Id="rId2" Type="http://schemas.openxmlformats.org/officeDocument/2006/relationships/hyperlink" Target="https://aws.amazon.com/about-aws/whats-new/2021/08/aws-iot-greengrass-v-2-4/" TargetMode="External"/><Relationship Id="rId1" Type="http://schemas.openxmlformats.org/officeDocument/2006/relationships/slideLayout" Target="../slideLayouts/slideLayout9.xml"/></Relationships>
</file>

<file path=ppt/slides/_rels/slide236.xml.rels><?xml version="1.0" encoding="UTF-8" standalone="yes"?>
<Relationships xmlns="http://schemas.openxmlformats.org/package/2006/relationships"><Relationship Id="rId2" Type="http://schemas.openxmlformats.org/officeDocument/2006/relationships/hyperlink" Target="https://aws.amazon.com/about-aws/whats-new/2021/08/sap-applications-aws-services-amazon-appflow/" TargetMode="External"/><Relationship Id="rId1" Type="http://schemas.openxmlformats.org/officeDocument/2006/relationships/slideLayout" Target="../slideLayouts/slideLayout9.xml"/></Relationships>
</file>

<file path=ppt/slides/_rels/slide237.xml.rels><?xml version="1.0" encoding="UTF-8" standalone="yes"?>
<Relationships xmlns="http://schemas.openxmlformats.org/package/2006/relationships"><Relationship Id="rId2" Type="http://schemas.openxmlformats.org/officeDocument/2006/relationships/hyperlink" Target="https://aws.amazon.com/about-aws/whats-new/2021/08/amazon-aurora-postgresql-supports-oracle-fdw-extension/" TargetMode="External"/><Relationship Id="rId1" Type="http://schemas.openxmlformats.org/officeDocument/2006/relationships/slideLayout" Target="../slideLayouts/slideLayout9.xml"/></Relationships>
</file>

<file path=ppt/slides/_rels/slide238.xml.rels><?xml version="1.0" encoding="UTF-8" standalone="yes"?>
<Relationships xmlns="http://schemas.openxmlformats.org/package/2006/relationships"><Relationship Id="rId2" Type="http://schemas.openxmlformats.org/officeDocument/2006/relationships/hyperlink" Target="https://aws.amazon.com/about-aws/whats-new/2021/08/amazon-forecast-weather-index-asia-pacific/" TargetMode="External"/><Relationship Id="rId1" Type="http://schemas.openxmlformats.org/officeDocument/2006/relationships/slideLayout" Target="../slideLayouts/slideLayout9.xml"/></Relationships>
</file>

<file path=ppt/slides/_rels/slide239.xml.rels><?xml version="1.0" encoding="UTF-8" standalone="yes"?>
<Relationships xmlns="http://schemas.openxmlformats.org/package/2006/relationships"><Relationship Id="rId2" Type="http://schemas.openxmlformats.org/officeDocument/2006/relationships/hyperlink" Target="https://aws.amazon.com/about-aws/whats-new/2021/08/amazon-sagemaker-asynchronous-new-inference-option/" TargetMode="External"/><Relationship Id="rId1" Type="http://schemas.openxmlformats.org/officeDocument/2006/relationships/slideLayout" Target="../slideLayouts/slideLayout9.xml"/></Relationships>
</file>

<file path=ppt/slides/_rels/slide240.xml.rels><?xml version="1.0" encoding="UTF-8" standalone="yes"?>
<Relationships xmlns="http://schemas.openxmlformats.org/package/2006/relationships"><Relationship Id="rId2" Type="http://schemas.openxmlformats.org/officeDocument/2006/relationships/hyperlink" Target="https://aws.amazon.com/about-aws/whats-new/2021/08/amazon-ec2-hibernation-c5d-m5d-r5d-instances/" TargetMode="External"/><Relationship Id="rId1" Type="http://schemas.openxmlformats.org/officeDocument/2006/relationships/slideLayout" Target="../slideLayouts/slideLayout9.xml"/></Relationships>
</file>

<file path=ppt/slides/_rels/slide241.xml.rels><?xml version="1.0" encoding="UTF-8" standalone="yes"?>
<Relationships xmlns="http://schemas.openxmlformats.org/package/2006/relationships"><Relationship Id="rId2" Type="http://schemas.openxmlformats.org/officeDocument/2006/relationships/hyperlink" Target="https://aws.amazon.com/about-aws/whats-new/2021/08/cost-categories-split-charge-rules-allocation/" TargetMode="External"/><Relationship Id="rId1" Type="http://schemas.openxmlformats.org/officeDocument/2006/relationships/slideLayout" Target="../slideLayouts/slideLayout9.xml"/></Relationships>
</file>

<file path=ppt/slides/_rels/slide242.xml.rels><?xml version="1.0" encoding="UTF-8" standalone="yes"?>
<Relationships xmlns="http://schemas.openxmlformats.org/package/2006/relationships"><Relationship Id="rId2" Type="http://schemas.openxmlformats.org/officeDocument/2006/relationships/hyperlink" Target="https://aws.amazon.com/about-aws/whats-new/2021/08/redshift-spatial-performance-spatial-functions/" TargetMode="External"/><Relationship Id="rId1" Type="http://schemas.openxmlformats.org/officeDocument/2006/relationships/slideLayout" Target="../slideLayouts/slideLayout9.xml"/></Relationships>
</file>

<file path=ppt/slides/_rels/slide243.xml.rels><?xml version="1.0" encoding="UTF-8" standalone="yes"?>
<Relationships xmlns="http://schemas.openxmlformats.org/package/2006/relationships"><Relationship Id="rId2" Type="http://schemas.openxmlformats.org/officeDocument/2006/relationships/hyperlink" Target="https://aws.amazon.com/about-aws/whats-new/2021/08/aws-managed-services-accelerate-operations-plan-aws-europe-stockholm-region/" TargetMode="External"/><Relationship Id="rId1" Type="http://schemas.openxmlformats.org/officeDocument/2006/relationships/slideLayout" Target="../slideLayouts/slideLayout9.xml"/></Relationships>
</file>

<file path=ppt/slides/_rels/slide244.xml.rels><?xml version="1.0" encoding="UTF-8" standalone="yes"?>
<Relationships xmlns="http://schemas.openxmlformats.org/package/2006/relationships"><Relationship Id="rId2" Type="http://schemas.openxmlformats.org/officeDocument/2006/relationships/hyperlink" Target="https://aws.amazon.com/about-aws/whats-new/2021/08/announcing-regional-launch-iot-analytics-asia-pacific-mumbai-region/" TargetMode="External"/><Relationship Id="rId1" Type="http://schemas.openxmlformats.org/officeDocument/2006/relationships/slideLayout" Target="../slideLayouts/slideLayout9.xml"/></Relationships>
</file>

<file path=ppt/slides/_rels/slide245.xml.rels><?xml version="1.0" encoding="UTF-8" standalone="yes"?>
<Relationships xmlns="http://schemas.openxmlformats.org/package/2006/relationships"><Relationship Id="rId2" Type="http://schemas.openxmlformats.org/officeDocument/2006/relationships/hyperlink" Target="https://aws.amazon.com/about-aws/whats-new/2021/08/amazon-connect-customer-profiles-hipaa-eligible/" TargetMode="External"/><Relationship Id="rId1" Type="http://schemas.openxmlformats.org/officeDocument/2006/relationships/slideLayout" Target="../slideLayouts/slideLayout9.xml"/></Relationships>
</file>

<file path=ppt/slides/_rels/slide246.xml.rels><?xml version="1.0" encoding="UTF-8" standalone="yes"?>
<Relationships xmlns="http://schemas.openxmlformats.org/package/2006/relationships"><Relationship Id="rId2" Type="http://schemas.openxmlformats.org/officeDocument/2006/relationships/hyperlink" Target="https://aws.amazon.com/about-aws/whats-new/2021/08/aws-glue-studio-now-available-aws-govcloud-us-regions/" TargetMode="External"/><Relationship Id="rId1" Type="http://schemas.openxmlformats.org/officeDocument/2006/relationships/slideLayout" Target="../slideLayouts/slideLayout9.xml"/></Relationships>
</file>

<file path=ppt/slides/_rels/slide247.xml.rels><?xml version="1.0" encoding="UTF-8" standalone="yes"?>
<Relationships xmlns="http://schemas.openxmlformats.org/package/2006/relationships"><Relationship Id="rId2" Type="http://schemas.openxmlformats.org/officeDocument/2006/relationships/hyperlink" Target="https://aws.amazon.com/about-aws/whats-new/2021/08/amazon-workspaces-renews-windows-desktop-experience-windows-server-2019-bundles-64-bit-microsoft-office-2019/" TargetMode="External"/><Relationship Id="rId1" Type="http://schemas.openxmlformats.org/officeDocument/2006/relationships/slideLayout" Target="../slideLayouts/slideLayout9.xml"/></Relationships>
</file>

<file path=ppt/slides/_rels/slide248.xml.rels><?xml version="1.0" encoding="UTF-8" standalone="yes"?>
<Relationships xmlns="http://schemas.openxmlformats.org/package/2006/relationships"><Relationship Id="rId2" Type="http://schemas.openxmlformats.org/officeDocument/2006/relationships/hyperlink" Target="https://aws.amazon.com/about-aws/whats-new/2021/08/aws-marketplace-enhances-isv-self-service-authorization-consulting-partners/" TargetMode="External"/><Relationship Id="rId1" Type="http://schemas.openxmlformats.org/officeDocument/2006/relationships/slideLayout" Target="../slideLayouts/slideLayout9.xml"/></Relationships>
</file>

<file path=ppt/slides/_rels/slide249.xml.rels><?xml version="1.0" encoding="UTF-8" standalone="yes"?>
<Relationships xmlns="http://schemas.openxmlformats.org/package/2006/relationships"><Relationship Id="rId2" Type="http://schemas.openxmlformats.org/officeDocument/2006/relationships/hyperlink" Target="https://aws.amazon.com/about-aws/whats-new/2021/08/aws-iot-sdk-embedded-c/" TargetMode="External"/><Relationship Id="rId1" Type="http://schemas.openxmlformats.org/officeDocument/2006/relationships/slideLayout" Target="../slideLayouts/slideLayout9.xml"/></Relationships>
</file>

<file path=ppt/slides/_rels/slide250.xml.rels><?xml version="1.0" encoding="UTF-8" standalone="yes"?>
<Relationships xmlns="http://schemas.openxmlformats.org/package/2006/relationships"><Relationship Id="rId2" Type="http://schemas.openxmlformats.org/officeDocument/2006/relationships/hyperlink" Target="https://aws.amazon.com/about-aws/whats-new/2021/08/aws-transfer-family-ftps-ftp-clients-number-servers/" TargetMode="External"/><Relationship Id="rId1" Type="http://schemas.openxmlformats.org/officeDocument/2006/relationships/slideLayout" Target="../slideLayouts/slideLayout9.xml"/></Relationships>
</file>

<file path=ppt/slides/_rels/slide251.xml.rels><?xml version="1.0" encoding="UTF-8" standalone="yes"?>
<Relationships xmlns="http://schemas.openxmlformats.org/package/2006/relationships"><Relationship Id="rId2" Type="http://schemas.openxmlformats.org/officeDocument/2006/relationships/hyperlink" Target="https://aws.amazon.com/about-aws/whats-new/2021/08/amazon-ec2-customers-ed25519-keys-authentication/" TargetMode="External"/><Relationship Id="rId1" Type="http://schemas.openxmlformats.org/officeDocument/2006/relationships/slideLayout" Target="../slideLayouts/slideLayout9.xml"/></Relationships>
</file>

<file path=ppt/slides/_rels/slide252.xml.rels><?xml version="1.0" encoding="UTF-8" standalone="yes"?>
<Relationships xmlns="http://schemas.openxmlformats.org/package/2006/relationships"><Relationship Id="rId2" Type="http://schemas.openxmlformats.org/officeDocument/2006/relationships/hyperlink" Target="https://aws.amazon.com/about-aws/whats-new/2021/08/aws-elastic-beanstalk-capacity-rebalancing-amazon-ec2-spot-instances/" TargetMode="External"/><Relationship Id="rId1" Type="http://schemas.openxmlformats.org/officeDocument/2006/relationships/slideLayout" Target="../slideLayouts/slideLayout9.xml"/></Relationships>
</file>

<file path=ppt/slides/_rels/slide253.xml.rels><?xml version="1.0" encoding="UTF-8" standalone="yes"?>
<Relationships xmlns="http://schemas.openxmlformats.org/package/2006/relationships"><Relationship Id="rId2" Type="http://schemas.openxmlformats.org/officeDocument/2006/relationships/hyperlink" Target="https://aws.amazon.com/about-aws/whats-new/2021/08/detect-multicollinearity-amazon-sagemaker-data-wrangler/" TargetMode="External"/><Relationship Id="rId1" Type="http://schemas.openxmlformats.org/officeDocument/2006/relationships/slideLayout" Target="../slideLayouts/slideLayout9.xml"/></Relationships>
</file>

<file path=ppt/slides/_rels/slide254.xml.rels><?xml version="1.0" encoding="UTF-8" standalone="yes"?>
<Relationships xmlns="http://schemas.openxmlformats.org/package/2006/relationships"><Relationship Id="rId2" Type="http://schemas.openxmlformats.org/officeDocument/2006/relationships/hyperlink" Target="https://aws.amazon.com/about-aws/whats-new/2021/08/aws-directory-service-supports-smart-card-authentication-ad-connector-amazon-workspaces-additional-aws-regions/" TargetMode="External"/><Relationship Id="rId1" Type="http://schemas.openxmlformats.org/officeDocument/2006/relationships/slideLayout" Target="../slideLayouts/slideLayout9.xml"/></Relationships>
</file>

<file path=ppt/slides/_rels/slide255.xml.rels><?xml version="1.0" encoding="UTF-8" standalone="yes"?>
<Relationships xmlns="http://schemas.openxmlformats.org/package/2006/relationships"><Relationship Id="rId2" Type="http://schemas.openxmlformats.org/officeDocument/2006/relationships/hyperlink" Target="https://aws.amazon.com/about-aws/whats-new/2021/08/amazon-rds-sql-server-supports-automatic-minor-version-upgrades/" TargetMode="External"/><Relationship Id="rId1" Type="http://schemas.openxmlformats.org/officeDocument/2006/relationships/slideLayout" Target="../slideLayouts/slideLayout9.xml"/></Relationships>
</file>

<file path=ppt/slides/_rels/slide256.xml.rels><?xml version="1.0" encoding="UTF-8" standalone="yes"?>
<Relationships xmlns="http://schemas.openxmlformats.org/package/2006/relationships"><Relationship Id="rId2" Type="http://schemas.openxmlformats.org/officeDocument/2006/relationships/hyperlink" Target="https://aws.amazon.com/about-aws/whats-new/2021/08/aws-glue-databrew-supports-numerical-format-transformations/" TargetMode="External"/><Relationship Id="rId1" Type="http://schemas.openxmlformats.org/officeDocument/2006/relationships/slideLayout" Target="../slideLayouts/slideLayout9.xml"/></Relationships>
</file>

<file path=ppt/slides/_rels/slide257.xml.rels><?xml version="1.0" encoding="UTF-8" standalone="yes"?>
<Relationships xmlns="http://schemas.openxmlformats.org/package/2006/relationships"><Relationship Id="rId2" Type="http://schemas.openxmlformats.org/officeDocument/2006/relationships/hyperlink" Target="https://aws.amazon.com/about-aws/whats-new/2021/08/announcing-s3-transfer-manager-preview-release-in-the-aws-sdk-for-java/" TargetMode="External"/><Relationship Id="rId1" Type="http://schemas.openxmlformats.org/officeDocument/2006/relationships/slideLayout" Target="../slideLayouts/slideLayout9.xml"/></Relationships>
</file>

<file path=ppt/slides/_rels/slide258.xml.rels><?xml version="1.0" encoding="UTF-8" standalone="yes"?>
<Relationships xmlns="http://schemas.openxmlformats.org/package/2006/relationships"><Relationship Id="rId2" Type="http://schemas.openxmlformats.org/officeDocument/2006/relationships/hyperlink" Target="https://aws.amazon.com/about-aws/whats-new/2021/08/aws-glue-databrew-lake-formation-aws-glue-data-catalog-tables/" TargetMode="External"/><Relationship Id="rId1" Type="http://schemas.openxmlformats.org/officeDocument/2006/relationships/slideLayout" Target="../slideLayouts/slideLayout9.xml"/></Relationships>
</file>

<file path=ppt/slides/_rels/slide259.xml.rels><?xml version="1.0" encoding="UTF-8" standalone="yes"?>
<Relationships xmlns="http://schemas.openxmlformats.org/package/2006/relationships"><Relationship Id="rId2" Type="http://schemas.openxmlformats.org/officeDocument/2006/relationships/hyperlink" Target="https://aws.amazon.com/about-aws/whats-new/2021/08/aws-snow-family-monitor-operate-snowcone-devices/" TargetMode="External"/><Relationship Id="rId1" Type="http://schemas.openxmlformats.org/officeDocument/2006/relationships/slideLayout" Target="../slideLayouts/slideLayout9.xml"/></Relationships>
</file>

<file path=ppt/slides/_rels/slide260.xml.rels><?xml version="1.0" encoding="UTF-8" standalone="yes"?>
<Relationships xmlns="http://schemas.openxmlformats.org/package/2006/relationships"><Relationship Id="rId2" Type="http://schemas.openxmlformats.org/officeDocument/2006/relationships/hyperlink" Target="https://aws.amazon.com/about-aws/whats-new/2021/08/aws-glue-databrew-logical-conditions-transformations/" TargetMode="External"/><Relationship Id="rId1" Type="http://schemas.openxmlformats.org/officeDocument/2006/relationships/slideLayout" Target="../slideLayouts/slideLayout9.xml"/></Relationships>
</file>

<file path=ppt/slides/_rels/slide261.xml.rels><?xml version="1.0" encoding="UTF-8" standalone="yes"?>
<Relationships xmlns="http://schemas.openxmlformats.org/package/2006/relationships"><Relationship Id="rId2" Type="http://schemas.openxmlformats.org/officeDocument/2006/relationships/hyperlink" Target="https://aws.amazon.com/about-aws/whats-new/2021/08/aws-glue-databrew-tableau-hyper-format/" TargetMode="External"/><Relationship Id="rId1" Type="http://schemas.openxmlformats.org/officeDocument/2006/relationships/slideLayout" Target="../slideLayouts/slideLayout9.xml"/></Relationships>
</file>

<file path=ppt/slides/_rels/slide262.xml.rels><?xml version="1.0" encoding="UTF-8" standalone="yes"?>
<Relationships xmlns="http://schemas.openxmlformats.org/package/2006/relationships"><Relationship Id="rId2" Type="http://schemas.openxmlformats.org/officeDocument/2006/relationships/hyperlink" Target="https://aws.amazon.com/about-aws/whats-new/2021/08/new-aws-solutions-implementation-aws-innovation-sandbox/" TargetMode="External"/><Relationship Id="rId1" Type="http://schemas.openxmlformats.org/officeDocument/2006/relationships/slideLayout" Target="../slideLayouts/slideLayout9.xml"/></Relationships>
</file>

<file path=ppt/slides/_rels/slide263.xml.rels><?xml version="1.0" encoding="UTF-8" standalone="yes"?>
<Relationships xmlns="http://schemas.openxmlformats.org/package/2006/relationships"><Relationship Id="rId2" Type="http://schemas.openxmlformats.org/officeDocument/2006/relationships/hyperlink" Target="https://aws.amazon.com/about-aws/whats-new/2021/08/aws-systems-manager-change-manager-supports-aws-iam-roles-approvers/" TargetMode="External"/><Relationship Id="rId1" Type="http://schemas.openxmlformats.org/officeDocument/2006/relationships/slideLayout" Target="../slideLayouts/slideLayout9.xml"/></Relationships>
</file>

<file path=ppt/slides/_rels/slide264.xml.rels><?xml version="1.0" encoding="UTF-8" standalone="yes"?>
<Relationships xmlns="http://schemas.openxmlformats.org/package/2006/relationships"><Relationship Id="rId2" Type="http://schemas.openxmlformats.org/officeDocument/2006/relationships/hyperlink" Target="https://aws.amazon.com/about-aws/whats-new/2021/08/codebuild-supports-publicly-viewable-build-results/" TargetMode="External"/><Relationship Id="rId1" Type="http://schemas.openxmlformats.org/officeDocument/2006/relationships/slideLayout" Target="../slideLayouts/slideLayout9.xml"/></Relationships>
</file>

<file path=ppt/slides/_rels/slide265.xml.rels><?xml version="1.0" encoding="UTF-8" standalone="yes"?>
<Relationships xmlns="http://schemas.openxmlformats.org/package/2006/relationships"><Relationship Id="rId2" Type="http://schemas.openxmlformats.org/officeDocument/2006/relationships/hyperlink" Target="https://aws.amazon.com/about-aws/whats-new/2021/08/amazon-connect-amazon-lex-v2-console-apis/" TargetMode="External"/><Relationship Id="rId1" Type="http://schemas.openxmlformats.org/officeDocument/2006/relationships/slideLayout" Target="../slideLayouts/slideLayout9.xml"/></Relationships>
</file>

<file path=ppt/slides/_rels/slide266.xml.rels><?xml version="1.0" encoding="UTF-8" standalone="yes"?>
<Relationships xmlns="http://schemas.openxmlformats.org/package/2006/relationships"><Relationship Id="rId2" Type="http://schemas.openxmlformats.org/officeDocument/2006/relationships/hyperlink" Target="https://aws.amazon.com/about-aws/whats-new/2021/08/postgresql-14-beta-2-amazon-rds-database-preview-environment/" TargetMode="External"/><Relationship Id="rId1" Type="http://schemas.openxmlformats.org/officeDocument/2006/relationships/slideLayout" Target="../slideLayouts/slideLayout9.xml"/></Relationships>
</file>

<file path=ppt/slides/_rels/slide267.xml.rels><?xml version="1.0" encoding="UTF-8" standalone="yes"?>
<Relationships xmlns="http://schemas.openxmlformats.org/package/2006/relationships"><Relationship Id="rId2" Type="http://schemas.openxmlformats.org/officeDocument/2006/relationships/hyperlink" Target="https://aws.amazon.com/about-aws/whats-new/2021/08/aws-snow-family-ml-inference-amazon-sagemaker-edge-manager-aws-iot-greengrass/" TargetMode="External"/><Relationship Id="rId1" Type="http://schemas.openxmlformats.org/officeDocument/2006/relationships/slideLayout" Target="../slideLayouts/slideLayout9.xml"/></Relationships>
</file>

<file path=ppt/slides/_rels/slide268.xml.rels><?xml version="1.0" encoding="UTF-8" standalone="yes"?>
<Relationships xmlns="http://schemas.openxmlformats.org/package/2006/relationships"><Relationship Id="rId2" Type="http://schemas.openxmlformats.org/officeDocument/2006/relationships/hyperlink" Target="https://aws.amazon.com/about-aws/whats-new/2021/08/aws-snowball-edge-storage-optimized-nfs-data-transfer/" TargetMode="External"/><Relationship Id="rId1" Type="http://schemas.openxmlformats.org/officeDocument/2006/relationships/slideLayout" Target="../slideLayouts/slideLayout9.xml"/></Relationships>
</file>

<file path=ppt/slides/_rels/slide269.xml.rels><?xml version="1.0" encoding="UTF-8" standalone="yes"?>
<Relationships xmlns="http://schemas.openxmlformats.org/package/2006/relationships"><Relationship Id="rId2" Type="http://schemas.openxmlformats.org/officeDocument/2006/relationships/hyperlink" Target="https://aws.amazon.com/about-aws/whats-new/2021/08/aws-iot-sitewise-timestamp-pretrigger/" TargetMode="External"/><Relationship Id="rId1" Type="http://schemas.openxmlformats.org/officeDocument/2006/relationships/slideLayout" Target="../slideLayouts/slideLayout9.xml"/></Relationships>
</file>

<file path=ppt/slides/_rels/slide270.xml.rels><?xml version="1.0" encoding="UTF-8" standalone="yes"?>
<Relationships xmlns="http://schemas.openxmlformats.org/package/2006/relationships"><Relationship Id="rId2" Type="http://schemas.openxmlformats.org/officeDocument/2006/relationships/hyperlink" Target="https://aws.amazon.com/about-aws/whats-new/2021/08/amazon-chime-sdk-amazon-transcribe-amazon-transcribe-medical/" TargetMode="External"/><Relationship Id="rId1" Type="http://schemas.openxmlformats.org/officeDocument/2006/relationships/slideLayout" Target="../slideLayouts/slideLayout9.xml"/></Relationships>
</file>

<file path=ppt/slides/_rels/slide271.xml.rels><?xml version="1.0" encoding="UTF-8" standalone="yes"?>
<Relationships xmlns="http://schemas.openxmlformats.org/package/2006/relationships"><Relationship Id="rId2" Type="http://schemas.openxmlformats.org/officeDocument/2006/relationships/hyperlink" Target="https://aws.amazon.com/about-aws/whats-new/2021/08/aws-amplify-hosting-support-next-js-version-11/" TargetMode="External"/><Relationship Id="rId1" Type="http://schemas.openxmlformats.org/officeDocument/2006/relationships/slideLayout" Target="../slideLayouts/slideLayout9.xml"/></Relationships>
</file>

<file path=ppt/slides/_rels/slide272.xml.rels><?xml version="1.0" encoding="UTF-8" standalone="yes"?>
<Relationships xmlns="http://schemas.openxmlformats.org/package/2006/relationships"><Relationship Id="rId2" Type="http://schemas.openxmlformats.org/officeDocument/2006/relationships/hyperlink" Target="https://aws.amazon.com/about-aws/whats-new/2021/08/aws-interactive-ec2-serial-console-available-commercial-regions-aws-govcloud-us-regions/" TargetMode="External"/><Relationship Id="rId1" Type="http://schemas.openxmlformats.org/officeDocument/2006/relationships/slideLayout" Target="../slideLayouts/slideLayout9.xml"/></Relationships>
</file>

<file path=ppt/slides/_rels/slide273.xml.rels><?xml version="1.0" encoding="UTF-8" standalone="yes"?>
<Relationships xmlns="http://schemas.openxmlformats.org/package/2006/relationships"><Relationship Id="rId2" Type="http://schemas.openxmlformats.org/officeDocument/2006/relationships/hyperlink" Target="https://aws.amazon.com/about-aws/whats-new/2021/08/amazon-sagemaker-one-click-model-inference-fine-tuning-hugging-face-models-amazon-sagemaker-jumpstart/" TargetMode="External"/><Relationship Id="rId1" Type="http://schemas.openxmlformats.org/officeDocument/2006/relationships/slideLayout" Target="../slideLayouts/slideLayout9.xml"/></Relationships>
</file>

<file path=ppt/slides/_rels/slide274.xml.rels><?xml version="1.0" encoding="UTF-8" standalone="yes"?>
<Relationships xmlns="http://schemas.openxmlformats.org/package/2006/relationships"><Relationship Id="rId2" Type="http://schemas.openxmlformats.org/officeDocument/2006/relationships/hyperlink" Target="https://aws.amazon.com/about-aws/whats-new/2021/08/enable-auto-approval-change-requests-expedite-changes-aws-systems-manager-change-manager/" TargetMode="External"/><Relationship Id="rId1" Type="http://schemas.openxmlformats.org/officeDocument/2006/relationships/slideLayout" Target="../slideLayouts/slideLayout9.xml"/></Relationships>
</file>

<file path=ppt/slides/_rels/slide275.xml.rels><?xml version="1.0" encoding="UTF-8" standalone="yes"?>
<Relationships xmlns="http://schemas.openxmlformats.org/package/2006/relationships"><Relationship Id="rId2" Type="http://schemas.openxmlformats.org/officeDocument/2006/relationships/hyperlink" Target="https://aws.amazon.com/about-aws/whats-new/2021/08/aws-waf-offers-managed-rule-group-versioning/" TargetMode="External"/><Relationship Id="rId1" Type="http://schemas.openxmlformats.org/officeDocument/2006/relationships/slideLayout" Target="../slideLayouts/slideLayout9.xml"/></Relationships>
</file>

<file path=ppt/slides/_rels/slide276.xml.rels><?xml version="1.0" encoding="UTF-8" standalone="yes"?>
<Relationships xmlns="http://schemas.openxmlformats.org/package/2006/relationships"><Relationship Id="rId2" Type="http://schemas.openxmlformats.org/officeDocument/2006/relationships/hyperlink" Target="https://aws.amazon.com/about-aws/whats-new/2021/08/aws-systems-manager-opscenter-operational-insights-identify-duplicate-items-event-sources-unusual-activity/" TargetMode="External"/><Relationship Id="rId1" Type="http://schemas.openxmlformats.org/officeDocument/2006/relationships/slideLayout" Target="../slideLayouts/slideLayout9.xml"/></Relationships>
</file>

<file path=ppt/slides/_rels/slide277.xml.rels><?xml version="1.0" encoding="UTF-8" standalone="yes"?>
<Relationships xmlns="http://schemas.openxmlformats.org/package/2006/relationships"><Relationship Id="rId2" Type="http://schemas.openxmlformats.org/officeDocument/2006/relationships/hyperlink" Target="https://aws.amazon.com/about-aws/whats-new/2021/08/train-custom-entity-recognition-models-fewer-training-documents-amazon-comprehend/" TargetMode="External"/><Relationship Id="rId1" Type="http://schemas.openxmlformats.org/officeDocument/2006/relationships/slideLayout" Target="../slideLayouts/slideLayout9.xml"/></Relationships>
</file>

<file path=ppt/slides/_rels/slide278.xml.rels><?xml version="1.0" encoding="UTF-8" standalone="yes"?>
<Relationships xmlns="http://schemas.openxmlformats.org/package/2006/relationships"><Relationship Id="rId2" Type="http://schemas.openxmlformats.org/officeDocument/2006/relationships/hyperlink" Target="https://aws.amazon.com/about-aws/whats-new/2021/08/amazon-workspaces-availability-quota-information-through-service-quotas/" TargetMode="External"/><Relationship Id="rId1" Type="http://schemas.openxmlformats.org/officeDocument/2006/relationships/slideLayout" Target="../slideLayouts/slideLayout9.xml"/></Relationships>
</file>

<file path=ppt/slides/_rels/slide279.xml.rels><?xml version="1.0" encoding="UTF-8" standalone="yes"?>
<Relationships xmlns="http://schemas.openxmlformats.org/package/2006/relationships"><Relationship Id="rId2" Type="http://schemas.openxmlformats.org/officeDocument/2006/relationships/hyperlink" Target="https://aws.amazon.com/about-aws/whats-new/2021/08/amazon-rekognition-video-segment-detection-supports-new-segment-types-improves-accuracy/" TargetMode="External"/><Relationship Id="rId1" Type="http://schemas.openxmlformats.org/officeDocument/2006/relationships/slideLayout" Target="../slideLayouts/slideLayout9.xml"/></Relationships>
</file>

<file path=ppt/slides/_rels/slide280.xml.rels><?xml version="1.0" encoding="UTF-8" standalone="yes"?>
<Relationships xmlns="http://schemas.openxmlformats.org/package/2006/relationships"><Relationship Id="rId2" Type="http://schemas.openxmlformats.org/officeDocument/2006/relationships/hyperlink" Target="https://aws.amazon.com/about-aws/whats-new/2021/08/contact-lens-amazon-connect-categorize-contacts-contact-attributes-integrates-tasks-eventbridge/" TargetMode="External"/><Relationship Id="rId1" Type="http://schemas.openxmlformats.org/officeDocument/2006/relationships/slideLayout" Target="../slideLayouts/slideLayout9.xml"/></Relationships>
</file>

<file path=ppt/slides/_rels/slide281.xml.rels><?xml version="1.0" encoding="UTF-8" standalone="yes"?>
<Relationships xmlns="http://schemas.openxmlformats.org/package/2006/relationships"><Relationship Id="rId2" Type="http://schemas.openxmlformats.org/officeDocument/2006/relationships/hyperlink" Target="https://aws.amazon.com/about-aws/whats-new/2021/08/amazon-athena-available-aws-asia-pacific-osaka-region/" TargetMode="External"/><Relationship Id="rId1" Type="http://schemas.openxmlformats.org/officeDocument/2006/relationships/slideLayout" Target="../slideLayouts/slideLayout9.xml"/></Relationships>
</file>

<file path=ppt/slides/_rels/slide282.xml.rels><?xml version="1.0" encoding="UTF-8" standalone="yes"?>
<Relationships xmlns="http://schemas.openxmlformats.org/package/2006/relationships"><Relationship Id="rId2" Type="http://schemas.openxmlformats.org/officeDocument/2006/relationships/hyperlink" Target="https://aws.amazon.com/about-aws/whats-new/2021/08/amazon-s3-outposts-supports-sharing-across-multiple-accounts/" TargetMode="External"/><Relationship Id="rId1" Type="http://schemas.openxmlformats.org/officeDocument/2006/relationships/slideLayout" Target="../slideLayouts/slideLayout9.xml"/></Relationships>
</file>

<file path=ppt/slides/_rels/slide283.xml.rels><?xml version="1.0" encoding="UTF-8" standalone="yes"?>
<Relationships xmlns="http://schemas.openxmlformats.org/package/2006/relationships"><Relationship Id="rId2" Type="http://schemas.openxmlformats.org/officeDocument/2006/relationships/hyperlink" Target="https://aws.amazon.com/about-aws/whats-new/2021/08/amazon-fsx-is-now-available-in-the-aws-asia-pacific-osaka-region/" TargetMode="External"/><Relationship Id="rId1" Type="http://schemas.openxmlformats.org/officeDocument/2006/relationships/slideLayout" Target="../slideLayouts/slideLayout9.xml"/></Relationships>
</file>

<file path=ppt/slides/_rels/slide284.xml.rels><?xml version="1.0" encoding="UTF-8" standalone="yes"?>
<Relationships xmlns="http://schemas.openxmlformats.org/package/2006/relationships"><Relationship Id="rId2" Type="http://schemas.openxmlformats.org/officeDocument/2006/relationships/hyperlink" Target="https://aws.amazon.com/about-aws/whats-new/2021/08/aws-lambda-supports-10-gb-memory-6-vcpu-cores-aws-govcloud-us-regions/" TargetMode="External"/><Relationship Id="rId1" Type="http://schemas.openxmlformats.org/officeDocument/2006/relationships/slideLayout" Target="../slideLayouts/slideLayout9.xml"/></Relationships>
</file>

<file path=ppt/slides/_rels/slide285.xml.rels><?xml version="1.0" encoding="UTF-8" standalone="yes"?>
<Relationships xmlns="http://schemas.openxmlformats.org/package/2006/relationships"><Relationship Id="rId2" Type="http://schemas.openxmlformats.org/officeDocument/2006/relationships/hyperlink" Target="https://aws.amazon.com/about-aws/whats-new/2021/08/optimize-personalized-recommendations-business-metric-choice-amazon-personalize/" TargetMode="External"/><Relationship Id="rId1" Type="http://schemas.openxmlformats.org/officeDocument/2006/relationships/slideLayout" Target="../slideLayouts/slideLayout9.xml"/></Relationships>
</file>

<file path=ppt/slides/_rels/slide286.xml.rels><?xml version="1.0" encoding="UTF-8" standalone="yes"?>
<Relationships xmlns="http://schemas.openxmlformats.org/package/2006/relationships"><Relationship Id="rId2" Type="http://schemas.openxmlformats.org/officeDocument/2006/relationships/hyperlink" Target="https://aws.amazon.com/about-aws/whats-new/2021/08/announcing-new-aws-wavelength-zones-chicago-houston-phoenix/" TargetMode="External"/><Relationship Id="rId1" Type="http://schemas.openxmlformats.org/officeDocument/2006/relationships/slideLayout" Target="../slideLayouts/slideLayout9.xml"/></Relationships>
</file>

<file path=ppt/slides/_rels/slide287.xml.rels><?xml version="1.0" encoding="UTF-8" standalone="yes"?>
<Relationships xmlns="http://schemas.openxmlformats.org/package/2006/relationships"><Relationship Id="rId2" Type="http://schemas.openxmlformats.org/officeDocument/2006/relationships/hyperlink" Target="https://aws.amazon.com/about-aws/whats-new/2021/08/private-connectivity-aws-nat-gateway-available-aws-govcloud-us-regions/" TargetMode="External"/><Relationship Id="rId1" Type="http://schemas.openxmlformats.org/officeDocument/2006/relationships/slideLayout" Target="../slideLayouts/slideLayout9.xml"/></Relationships>
</file>

<file path=ppt/slides/_rels/slide288.xml.rels><?xml version="1.0" encoding="UTF-8" standalone="yes"?>
<Relationships xmlns="http://schemas.openxmlformats.org/package/2006/relationships"><Relationship Id="rId2" Type="http://schemas.openxmlformats.org/officeDocument/2006/relationships/hyperlink" Target="https://aws.amazon.com/about-aws/whats-new/2021/08/introducing-machine-cloud-connectivity-framework-v3-0/" TargetMode="External"/><Relationship Id="rId1" Type="http://schemas.openxmlformats.org/officeDocument/2006/relationships/slideLayout" Target="../slideLayouts/slideLayout9.xml"/></Relationships>
</file>

<file path=ppt/slides/_rels/slide289.xml.rels><?xml version="1.0" encoding="UTF-8" standalone="yes"?>
<Relationships xmlns="http://schemas.openxmlformats.org/package/2006/relationships"><Relationship Id="rId2" Type="http://schemas.openxmlformats.org/officeDocument/2006/relationships/hyperlink" Target="https://aws.amazon.com/about-aws/whats-new/2021/08/amazon-gamelift-announces-general-availability-game-server-hosting-multiplayer-services-aws-china-ningxia-region/" TargetMode="External"/><Relationship Id="rId1" Type="http://schemas.openxmlformats.org/officeDocument/2006/relationships/slideLayout" Target="../slideLayouts/slideLayout9.xml"/></Relationships>
</file>

<file path=ppt/slides/_rels/slide290.xml.rels><?xml version="1.0" encoding="UTF-8" standalone="yes"?>
<Relationships xmlns="http://schemas.openxmlformats.org/package/2006/relationships"><Relationship Id="rId2" Type="http://schemas.openxmlformats.org/officeDocument/2006/relationships/hyperlink" Target="https://aws.amazon.com/about-aws/whats-new/2021/08/announcing-amazon-transcribe-call-analytics-api-conversation-insights/" TargetMode="External"/><Relationship Id="rId1" Type="http://schemas.openxmlformats.org/officeDocument/2006/relationships/slideLayout" Target="../slideLayouts/slideLayout9.xml"/></Relationships>
</file>

<file path=ppt/slides/_rels/slide291.xml.rels><?xml version="1.0" encoding="UTF-8" standalone="yes"?>
<Relationships xmlns="http://schemas.openxmlformats.org/package/2006/relationships"><Relationship Id="rId2" Type="http://schemas.openxmlformats.org/officeDocument/2006/relationships/hyperlink" Target="https://aws.amazon.com/about-aws/whats-new/2021/08/aws-data-streaming-solution-amazon-msk-support-aws-iam-streamline-access-control-management/" TargetMode="External"/><Relationship Id="rId1" Type="http://schemas.openxmlformats.org/officeDocument/2006/relationships/slideLayout" Target="../slideLayouts/slideLayout9.xml"/></Relationships>
</file>

<file path=ppt/slides/_rels/slide292.xml.rels><?xml version="1.0" encoding="UTF-8" standalone="yes"?>
<Relationships xmlns="http://schemas.openxmlformats.org/package/2006/relationships"><Relationship Id="rId2" Type="http://schemas.openxmlformats.org/officeDocument/2006/relationships/hyperlink" Target="https://aws.amazon.com/about-aws/whats-new/2021/08/new-aws-solutions-implementation-sql-based-etl-apache-spark-amazon-eks/" TargetMode="External"/><Relationship Id="rId1" Type="http://schemas.openxmlformats.org/officeDocument/2006/relationships/slideLayout" Target="../slideLayouts/slideLayout9.xml"/></Relationships>
</file>

<file path=ppt/slides/_rels/slide293.xml.rels><?xml version="1.0" encoding="UTF-8" standalone="yes"?>
<Relationships xmlns="http://schemas.openxmlformats.org/package/2006/relationships"><Relationship Id="rId2" Type="http://schemas.openxmlformats.org/officeDocument/2006/relationships/hyperlink" Target="https://aws.amazon.com/about-aws/whats-new/2021/08/managed-entitlements-available-aws-data-exchange-products-aws-license-manager/" TargetMode="External"/><Relationship Id="rId1" Type="http://schemas.openxmlformats.org/officeDocument/2006/relationships/slideLayout" Target="../slideLayouts/slideLayout9.xml"/></Relationships>
</file>

<file path=ppt/slides/_rels/slide294.xml.rels><?xml version="1.0" encoding="UTF-8" standalone="yes"?>
<Relationships xmlns="http://schemas.openxmlformats.org/package/2006/relationships"><Relationship Id="rId2" Type="http://schemas.openxmlformats.org/officeDocument/2006/relationships/hyperlink" Target="https://aws.amazon.com/about-aws/whats-new/2021/08/aws-sitewise-supports-custom-time-intervals-metric-aggregations/" TargetMode="External"/><Relationship Id="rId1" Type="http://schemas.openxmlformats.org/officeDocument/2006/relationships/slideLayout" Target="../slideLayouts/slideLayout9.xml"/></Relationships>
</file>

<file path=ppt/slides/_rels/slide295.xml.rels><?xml version="1.0" encoding="UTF-8" standalone="yes"?>
<Relationships xmlns="http://schemas.openxmlformats.org/package/2006/relationships"><Relationship Id="rId2" Type="http://schemas.openxmlformats.org/officeDocument/2006/relationships/hyperlink" Target="https://aws.amazon.com/about-aws/whats-new/2021/08/aws-control-tower-available-sao-paulo-paris-provides-region-deselection/" TargetMode="External"/><Relationship Id="rId1" Type="http://schemas.openxmlformats.org/officeDocument/2006/relationships/slideLayout" Target="../slideLayouts/slideLayout9.xml"/></Relationships>
</file>

<file path=ppt/slides/_rels/slide296.xml.rels><?xml version="1.0" encoding="UTF-8" standalone="yes"?>
<Relationships xmlns="http://schemas.openxmlformats.org/package/2006/relationships"><Relationship Id="rId2" Type="http://schemas.openxmlformats.org/officeDocument/2006/relationships/hyperlink" Target="https://aws.amazon.com/about-aws/whats-new/2021/08/amazon-sagemaker-supports-m5d-r5-p3dn-g4dn-instances-sagemaker-notebook-instances/" TargetMode="External"/><Relationship Id="rId1" Type="http://schemas.openxmlformats.org/officeDocument/2006/relationships/slideLayout" Target="../slideLayouts/slideLayout9.xml"/></Relationships>
</file>

<file path=ppt/slides/_rels/slide297.xml.rels><?xml version="1.0" encoding="UTF-8" standalone="yes"?>
<Relationships xmlns="http://schemas.openxmlformats.org/package/2006/relationships"><Relationship Id="rId2" Type="http://schemas.openxmlformats.org/officeDocument/2006/relationships/hyperlink" Target="https://aws.amazon.com/about-aws/whats-new/2021/08/announcing-amplify-geo-developer-preview-aws-amplify/" TargetMode="External"/><Relationship Id="rId1" Type="http://schemas.openxmlformats.org/officeDocument/2006/relationships/slideLayout" Target="../slideLayouts/slideLayout9.xml"/></Relationships>
</file>

<file path=ppt/slides/_rels/slide298.xml.rels><?xml version="1.0" encoding="UTF-8" standalone="yes"?>
<Relationships xmlns="http://schemas.openxmlformats.org/package/2006/relationships"><Relationship Id="rId2" Type="http://schemas.openxmlformats.org/officeDocument/2006/relationships/hyperlink" Target="https://aws.amazon.com/about-aws/whats-new/2021/08/aws-storage-gateway-supports-quest-netvault-backup-13-tape-gateway/" TargetMode="External"/><Relationship Id="rId1" Type="http://schemas.openxmlformats.org/officeDocument/2006/relationships/slideLayout" Target="../slideLayouts/slideLayout9.xml"/></Relationships>
</file>

<file path=ppt/slides/_rels/slide299.xml.rels><?xml version="1.0" encoding="UTF-8" standalone="yes"?>
<Relationships xmlns="http://schemas.openxmlformats.org/package/2006/relationships"><Relationship Id="rId2" Type="http://schemas.openxmlformats.org/officeDocument/2006/relationships/hyperlink" Target="https://aws.amazon.com/about-aws/whats-new/2021/08/amazon-redshift-simplifies-use-jdbc-odbc-authentication-profile/" TargetMode="External"/><Relationship Id="rId1" Type="http://schemas.openxmlformats.org/officeDocument/2006/relationships/slideLayout" Target="../slideLayouts/slideLayout9.xml"/></Relationships>
</file>

<file path=ppt/slides/_rels/slide300.xml.rels><?xml version="1.0" encoding="UTF-8" standalone="yes"?>
<Relationships xmlns="http://schemas.openxmlformats.org/package/2006/relationships"><Relationship Id="rId2" Type="http://schemas.openxmlformats.org/officeDocument/2006/relationships/hyperlink" Target="https://aws.amazon.com/about-aws/whats-new/2021/08/amazon-kendra-now-irap-assessed-protected-level/" TargetMode="External"/><Relationship Id="rId1" Type="http://schemas.openxmlformats.org/officeDocument/2006/relationships/slideLayout" Target="../slideLayouts/slideLayout9.xml"/></Relationships>
</file>

<file path=ppt/slides/_rels/slide301.xml.rels><?xml version="1.0" encoding="UTF-8" standalone="yes"?>
<Relationships xmlns="http://schemas.openxmlformats.org/package/2006/relationships"><Relationship Id="rId2" Type="http://schemas.openxmlformats.org/officeDocument/2006/relationships/hyperlink" Target="https://aws.amazon.com/about-aws/whats-new/2021/07/amazon-rds-sql-server-supports-two-new-parameter-changes-full-text-search/" TargetMode="External"/><Relationship Id="rId1" Type="http://schemas.openxmlformats.org/officeDocument/2006/relationships/slideLayout" Target="../slideLayouts/slideLayout9.xml"/></Relationships>
</file>

<file path=ppt/slides/_rels/slide302.xml.rels><?xml version="1.0" encoding="UTF-8" standalone="yes"?>
<Relationships xmlns="http://schemas.openxmlformats.org/package/2006/relationships"><Relationship Id="rId2" Type="http://schemas.openxmlformats.org/officeDocument/2006/relationships/hyperlink" Target="https://aws.amazon.com/about-aws/whats-new/2021/07/aws-control-tower-announces-improvements-guardrail-naming-descriptions/" TargetMode="External"/><Relationship Id="rId1" Type="http://schemas.openxmlformats.org/officeDocument/2006/relationships/slideLayout" Target="../slideLayouts/slideLayout9.xml"/></Relationships>
</file>

<file path=ppt/slides/_rels/slide303.xml.rels><?xml version="1.0" encoding="UTF-8" standalone="yes"?>
<Relationships xmlns="http://schemas.openxmlformats.org/package/2006/relationships"><Relationship Id="rId2" Type="http://schemas.openxmlformats.org/officeDocument/2006/relationships/hyperlink" Target="https://aws.amazon.com/about-aws/whats-new/2021/07/aws-iot-core-credential-provider-supports-security-tokens-valid-12-hours/" TargetMode="External"/><Relationship Id="rId1" Type="http://schemas.openxmlformats.org/officeDocument/2006/relationships/slideLayout" Target="../slideLayouts/slideLayout9.xml"/></Relationships>
</file>

<file path=ppt/slides/_rels/slide304.xml.rels><?xml version="1.0" encoding="UTF-8" standalone="yes"?>
<Relationships xmlns="http://schemas.openxmlformats.org/package/2006/relationships"><Relationship Id="rId2" Type="http://schemas.openxmlformats.org/officeDocument/2006/relationships/hyperlink" Target="https://aws.amazon.com/about-aws/whats-new/2021/07/amazon-rds-oracle-supports-oracle-time-zone-file-auto-upgrade/" TargetMode="External"/><Relationship Id="rId1" Type="http://schemas.openxmlformats.org/officeDocument/2006/relationships/slideLayout" Target="../slideLayouts/slideLayout9.xml"/></Relationships>
</file>

<file path=ppt/slides/_rels/slide305.xml.rels><?xml version="1.0" encoding="UTF-8" standalone="yes"?>
<Relationships xmlns="http://schemas.openxmlformats.org/package/2006/relationships"><Relationship Id="rId2" Type="http://schemas.openxmlformats.org/officeDocument/2006/relationships/hyperlink" Target="https://aws.amazon.com/about-aws/whats-new/2021/07/amazon-workspaces-now-offers-web-access-with-workspaces-streaming-protocol-wsp/" TargetMode="External"/><Relationship Id="rId1" Type="http://schemas.openxmlformats.org/officeDocument/2006/relationships/slideLayout" Target="../slideLayouts/slideLayout9.xml"/></Relationships>
</file>

<file path=ppt/slides/_rels/slide306.xml.rels><?xml version="1.0" encoding="UTF-8" standalone="yes"?>
<Relationships xmlns="http://schemas.openxmlformats.org/package/2006/relationships"><Relationship Id="rId2" Type="http://schemas.openxmlformats.org/officeDocument/2006/relationships/hyperlink" Target="https://aws.amazon.com/about-aws/whats-new/2021/07/agents-set-next-status-while-on-active-contact-amazon-connect/" TargetMode="External"/><Relationship Id="rId1" Type="http://schemas.openxmlformats.org/officeDocument/2006/relationships/slideLayout" Target="../slideLayouts/slideLayout9.xml"/></Relationships>
</file>

<file path=ppt/slides/_rels/slide307.xml.rels><?xml version="1.0" encoding="UTF-8" standalone="yes"?>
<Relationships xmlns="http://schemas.openxmlformats.org/package/2006/relationships"><Relationship Id="rId2" Type="http://schemas.openxmlformats.org/officeDocument/2006/relationships/hyperlink" Target="https://aws.amazon.com/about-aws/whats-new/2021/07/amazon-workspaces-support-usb-yubikey-universal-second-factor-u2f-authentication-pcoip-windows-workspaces/" TargetMode="External"/><Relationship Id="rId1" Type="http://schemas.openxmlformats.org/officeDocument/2006/relationships/slideLayout" Target="../slideLayouts/slideLayout9.xml"/></Relationships>
</file>

<file path=ppt/slides/_rels/slide308.xml.rels><?xml version="1.0" encoding="UTF-8" standalone="yes"?>
<Relationships xmlns="http://schemas.openxmlformats.org/package/2006/relationships"><Relationship Id="rId2" Type="http://schemas.openxmlformats.org/officeDocument/2006/relationships/hyperlink" Target="https://aws.amazon.com/about-aws/whats-new/2021/07/amazon-s3-outposts-adds-two-larger-storage-tiers/" TargetMode="External"/><Relationship Id="rId1" Type="http://schemas.openxmlformats.org/officeDocument/2006/relationships/slideLayout" Target="../slideLayouts/slideLayout9.xml"/></Relationships>
</file>

<file path=ppt/slides/_rels/slide309.xml.rels><?xml version="1.0" encoding="UTF-8" standalone="yes"?>
<Relationships xmlns="http://schemas.openxmlformats.org/package/2006/relationships"><Relationship Id="rId2" Type="http://schemas.openxmlformats.org/officeDocument/2006/relationships/hyperlink" Target="https://aws.amazon.com/about-aws/whats-new/2021/07/amazon-mq-supports-rabbitmq-version-3-8-17/" TargetMode="External"/><Relationship Id="rId1" Type="http://schemas.openxmlformats.org/officeDocument/2006/relationships/slideLayout" Target="../slideLayouts/slideLayout9.xml"/></Relationships>
</file>

<file path=ppt/slides/_rels/slide310.xml.rels><?xml version="1.0" encoding="UTF-8" standalone="yes"?>
<Relationships xmlns="http://schemas.openxmlformats.org/package/2006/relationships"><Relationship Id="rId2" Type="http://schemas.openxmlformats.org/officeDocument/2006/relationships/hyperlink" Target="https://aws.amazon.com/about-aws/whats-new/2021/07/amazon-rekognition-custom-labels-customers-learn-train-machine-learning-models-providing-tutorial-videos-sample-datasets/" TargetMode="External"/><Relationship Id="rId1" Type="http://schemas.openxmlformats.org/officeDocument/2006/relationships/slideLayout" Target="../slideLayouts/slideLayout9.xml"/></Relationships>
</file>

<file path=ppt/slides/_rels/slide311.xml.rels><?xml version="1.0" encoding="UTF-8" standalone="yes"?>
<Relationships xmlns="http://schemas.openxmlformats.org/package/2006/relationships"><Relationship Id="rId2" Type="http://schemas.openxmlformats.org/officeDocument/2006/relationships/hyperlink" Target="https://aws.amazon.com/about-aws/whats-new/2021/07/amazon-s3-outposts-supports-direct-access-applications-running-outside-outposts-vpc/" TargetMode="External"/><Relationship Id="rId1" Type="http://schemas.openxmlformats.org/officeDocument/2006/relationships/slideLayout" Target="../slideLayouts/slideLayout9.xml"/></Relationships>
</file>

<file path=ppt/slides/_rels/slide312.xml.rels><?xml version="1.0" encoding="UTF-8" standalone="yes"?>
<Relationships xmlns="http://schemas.openxmlformats.org/package/2006/relationships"><Relationship Id="rId2" Type="http://schemas.openxmlformats.org/officeDocument/2006/relationships/hyperlink" Target="https://aws.amazon.com/about-aws/whats-new/2021/07/aws-iot-sitewise-edge-now-generally-available/" TargetMode="External"/><Relationship Id="rId1" Type="http://schemas.openxmlformats.org/officeDocument/2006/relationships/slideLayout" Target="../slideLayouts/slideLayout9.xml"/></Relationships>
</file>

<file path=ppt/slides/_rels/slide313.xml.rels><?xml version="1.0" encoding="UTF-8" standalone="yes"?>
<Relationships xmlns="http://schemas.openxmlformats.org/package/2006/relationships"><Relationship Id="rId2" Type="http://schemas.openxmlformats.org/officeDocument/2006/relationships/hyperlink" Target="https://aws.amazon.com/about-aws/whats-new/2021/07/amazon-ec2-d3-instances-dense-local-hdd-storage-available-europe-london-region/" TargetMode="External"/><Relationship Id="rId1" Type="http://schemas.openxmlformats.org/officeDocument/2006/relationships/slideLayout" Target="../slideLayouts/slideLayout9.xml"/></Relationships>
</file>

<file path=ppt/slides/_rels/slide314.xml.rels><?xml version="1.0" encoding="UTF-8" standalone="yes"?>
<Relationships xmlns="http://schemas.openxmlformats.org/package/2006/relationships"><Relationship Id="rId2" Type="http://schemas.openxmlformats.org/officeDocument/2006/relationships/hyperlink" Target="https://aws.amazon.com/about-aws/whats-new/2021/07/introducing-new-amazon-ec2-g4ad-instance-sizes/" TargetMode="External"/><Relationship Id="rId1" Type="http://schemas.openxmlformats.org/officeDocument/2006/relationships/slideLayout" Target="../slideLayouts/slideLayout9.xml"/></Relationships>
</file>

<file path=ppt/slides/_rels/slide315.xml.rels><?xml version="1.0" encoding="UTF-8" standalone="yes"?>
<Relationships xmlns="http://schemas.openxmlformats.org/package/2006/relationships"><Relationship Id="rId2" Type="http://schemas.openxmlformats.org/officeDocument/2006/relationships/hyperlink" Target="https://aws.amazon.com/about-aws/whats-new/2021/07/amazon-dynamodb-accelerator-dax-is-now-available-in-the-china-beijing-region/" TargetMode="External"/><Relationship Id="rId1" Type="http://schemas.openxmlformats.org/officeDocument/2006/relationships/slideLayout" Target="../slideLayouts/slideLayout9.xml"/></Relationships>
</file>

<file path=ppt/slides/_rels/slide316.xml.rels><?xml version="1.0" encoding="UTF-8" standalone="yes"?>
<Relationships xmlns="http://schemas.openxmlformats.org/package/2006/relationships"><Relationship Id="rId2" Type="http://schemas.openxmlformats.org/officeDocument/2006/relationships/hyperlink" Target="https://aws.amazon.com/about-aws/whats-new/2021/07/aws-lambda-supports-10-gb-memory-6-vcpu-cores-bahrain-osaka-hong-kong-regions/" TargetMode="External"/><Relationship Id="rId1" Type="http://schemas.openxmlformats.org/officeDocument/2006/relationships/slideLayout" Target="../slideLayouts/slideLayout9.xml"/></Relationships>
</file>

<file path=ppt/slides/_rels/slide317.xml.rels><?xml version="1.0" encoding="UTF-8" standalone="yes"?>
<Relationships xmlns="http://schemas.openxmlformats.org/package/2006/relationships"><Relationship Id="rId2" Type="http://schemas.openxmlformats.org/officeDocument/2006/relationships/hyperlink" Target="https://aws.amazon.com/about-aws/whats-new/2021/07/aws-datasync-now-available-aws-osaka-region/" TargetMode="External"/><Relationship Id="rId1" Type="http://schemas.openxmlformats.org/officeDocument/2006/relationships/slideLayout" Target="../slideLayouts/slideLayout9.xml"/></Relationships>
</file>

<file path=ppt/slides/_rels/slide318.xml.rels><?xml version="1.0" encoding="UTF-8" standalone="yes"?>
<Relationships xmlns="http://schemas.openxmlformats.org/package/2006/relationships"><Relationship Id="rId2" Type="http://schemas.openxmlformats.org/officeDocument/2006/relationships/hyperlink" Target="https://aws.amazon.com/about-aws/whats-new/2021/07/announcing-new-aws-developer-specializations-on-coursera/" TargetMode="External"/><Relationship Id="rId1" Type="http://schemas.openxmlformats.org/officeDocument/2006/relationships/slideLayout" Target="../slideLayouts/slideLayout9.xml"/></Relationships>
</file>

<file path=ppt/slides/_rels/slide319.xml.rels><?xml version="1.0" encoding="UTF-8" standalone="yes"?>
<Relationships xmlns="http://schemas.openxmlformats.org/package/2006/relationships"><Relationship Id="rId2" Type="http://schemas.openxmlformats.org/officeDocument/2006/relationships/hyperlink" Target="https://aws.amazon.com/about-aws/whats-new/2021/07/amazon-dynamodb-global-tables-are-now-available-in-the-asia-paci/" TargetMode="External"/><Relationship Id="rId1" Type="http://schemas.openxmlformats.org/officeDocument/2006/relationships/slideLayout" Target="../slideLayouts/slideLayout9.xml"/></Relationships>
</file>

<file path=ppt/slides/_rels/slide320.xml.rels><?xml version="1.0" encoding="UTF-8" standalone="yes"?>
<Relationships xmlns="http://schemas.openxmlformats.org/package/2006/relationships"><Relationship Id="rId2" Type="http://schemas.openxmlformats.org/officeDocument/2006/relationships/hyperlink" Target="https://aws.amazon.com/about-aws/whats-new/2021/07/aws-glue-databrew-is-now-available-in-aws-europe-milan-region/" TargetMode="External"/><Relationship Id="rId1" Type="http://schemas.openxmlformats.org/officeDocument/2006/relationships/slideLayout" Target="../slideLayouts/slideLayout9.xml"/></Relationships>
</file>

<file path=ppt/slides/_rels/slide321.xml.rels><?xml version="1.0" encoding="UTF-8" standalone="yes"?>
<Relationships xmlns="http://schemas.openxmlformats.org/package/2006/relationships"><Relationship Id="rId2" Type="http://schemas.openxmlformats.org/officeDocument/2006/relationships/hyperlink" Target="https://aws.amazon.com/about-aws/whats-new/2021/07/amazon-data-lifecycle-manager-supports-cloudwatch-metrics/" TargetMode="External"/><Relationship Id="rId1" Type="http://schemas.openxmlformats.org/officeDocument/2006/relationships/slideLayout" Target="../slideLayouts/slideLayout9.xml"/></Relationships>
</file>

<file path=ppt/slides/_rels/slide322.xml.rels><?xml version="1.0" encoding="UTF-8" standalone="yes"?>
<Relationships xmlns="http://schemas.openxmlformats.org/package/2006/relationships"><Relationship Id="rId2" Type="http://schemas.openxmlformats.org/officeDocument/2006/relationships/hyperlink" Target="https://aws.amazon.com/about-aws/whats-new/2021/07/aws-amplify-now-supports-sign-in-with-apple/" TargetMode="External"/><Relationship Id="rId1" Type="http://schemas.openxmlformats.org/officeDocument/2006/relationships/slideLayout" Target="../slideLayouts/slideLayout9.xml"/></Relationships>
</file>

<file path=ppt/slides/_rels/slide323.xml.rels><?xml version="1.0" encoding="UTF-8" standalone="yes"?>
<Relationships xmlns="http://schemas.openxmlformats.org/package/2006/relationships"><Relationship Id="rId2" Type="http://schemas.openxmlformats.org/officeDocument/2006/relationships/hyperlink" Target="https://aws.amazon.com/about-aws/whats-new/2021/07/announcing-availability-aws-outposts-argentina-chile-peru/" TargetMode="External"/><Relationship Id="rId1" Type="http://schemas.openxmlformats.org/officeDocument/2006/relationships/slideLayout" Target="../slideLayouts/slideLayout9.xml"/></Relationships>
</file>

<file path=ppt/slides/_rels/slide324.xml.rels><?xml version="1.0" encoding="UTF-8" standalone="yes"?>
<Relationships xmlns="http://schemas.openxmlformats.org/package/2006/relationships"><Relationship Id="rId2" Type="http://schemas.openxmlformats.org/officeDocument/2006/relationships/hyperlink" Target="https://aws.amazon.com/about-aws/whats-new/2021/07/amazon-ec2-placement-groups-are-now-available-on-aws-outposts/" TargetMode="External"/><Relationship Id="rId1" Type="http://schemas.openxmlformats.org/officeDocument/2006/relationships/slideLayout" Target="../slideLayouts/slideLayout9.xml"/></Relationships>
</file>

<file path=ppt/slides/_rels/slide325.xml.rels><?xml version="1.0" encoding="UTF-8" standalone="yes"?>
<Relationships xmlns="http://schemas.openxmlformats.org/package/2006/relationships"><Relationship Id="rId2" Type="http://schemas.openxmlformats.org/officeDocument/2006/relationships/hyperlink" Target="https://aws.amazon.com/about-aws/whats-new/2021/07/amazon-redshift-data-api-adds-support-multi-statement-query-execution-parameters/" TargetMode="External"/><Relationship Id="rId1" Type="http://schemas.openxmlformats.org/officeDocument/2006/relationships/slideLayout" Target="../slideLayouts/slideLayout9.xml"/></Relationships>
</file>

<file path=ppt/slides/_rels/slide326.xml.rels><?xml version="1.0" encoding="UTF-8" standalone="yes"?>
<Relationships xmlns="http://schemas.openxmlformats.org/package/2006/relationships"><Relationship Id="rId2" Type="http://schemas.openxmlformats.org/officeDocument/2006/relationships/hyperlink" Target="https://aws.amazon.com/about-aws/whats-new/2021/07/aws-service-catalog-announces-improvements-getting-started-library/" TargetMode="External"/><Relationship Id="rId1" Type="http://schemas.openxmlformats.org/officeDocument/2006/relationships/slideLayout" Target="../slideLayouts/slideLayout9.xml"/></Relationships>
</file>

<file path=ppt/slides/_rels/slide327.xml.rels><?xml version="1.0" encoding="UTF-8" standalone="yes"?>
<Relationships xmlns="http://schemas.openxmlformats.org/package/2006/relationships"><Relationship Id="rId2" Type="http://schemas.openxmlformats.org/officeDocument/2006/relationships/hyperlink" Target="https://aws.amazon.com/about-aws/whats-new/2021/07/amazon-interactive-video-service-adds-live-broadcasting-ios-android/" TargetMode="External"/><Relationship Id="rId1" Type="http://schemas.openxmlformats.org/officeDocument/2006/relationships/slideLayout" Target="../slideLayouts/slideLayout9.xml"/></Relationships>
</file>

<file path=ppt/slides/_rels/slide328.xml.rels><?xml version="1.0" encoding="UTF-8" standalone="yes"?>
<Relationships xmlns="http://schemas.openxmlformats.org/package/2006/relationships"><Relationship Id="rId2" Type="http://schemas.openxmlformats.org/officeDocument/2006/relationships/hyperlink" Target="https://aws.amazon.com/about-aws/whats-new/2021/07/aws-mlops-framework-solution-supports-amazon-sagemaker-model-registry-aws-organizations-delegated-administrator-account/" TargetMode="External"/><Relationship Id="rId1" Type="http://schemas.openxmlformats.org/officeDocument/2006/relationships/slideLayout" Target="../slideLayouts/slideLayout9.xml"/></Relationships>
</file>

<file path=ppt/slides/_rels/slide329.xml.rels><?xml version="1.0" encoding="UTF-8" standalone="yes"?>
<Relationships xmlns="http://schemas.openxmlformats.org/package/2006/relationships"><Relationship Id="rId2" Type="http://schemas.openxmlformats.org/officeDocument/2006/relationships/hyperlink" Target="https://aws.amazon.com/about-aws/whats-new/2021/07/new-course-available-mlops-engineering-on-aws/" TargetMode="External"/><Relationship Id="rId1" Type="http://schemas.openxmlformats.org/officeDocument/2006/relationships/slideLayout" Target="../slideLayouts/slideLayout9.xml"/></Relationships>
</file>

<file path=ppt/slides/_rels/slide330.xml.rels><?xml version="1.0" encoding="UTF-8" standalone="yes"?>
<Relationships xmlns="http://schemas.openxmlformats.org/package/2006/relationships"><Relationship Id="rId2" Type="http://schemas.openxmlformats.org/officeDocument/2006/relationships/hyperlink" Target="https://aws.amazon.com/about-aws/whats-new/2021/07/aws-snowcone-now-supports-multicast-streams-and-routing-by-providing-instances-with-direct-access-to-external-networks/" TargetMode="External"/><Relationship Id="rId1" Type="http://schemas.openxmlformats.org/officeDocument/2006/relationships/slideLayout" Target="../slideLayouts/slideLayout9.xml"/></Relationships>
</file>

<file path=ppt/slides/_rels/slide331.xml.rels><?xml version="1.0" encoding="UTF-8" standalone="yes"?>
<Relationships xmlns="http://schemas.openxmlformats.org/package/2006/relationships"><Relationship Id="rId2" Type="http://schemas.openxmlformats.org/officeDocument/2006/relationships/hyperlink" Target="https://aws.amazon.com/about-aws/whats-new/2021/07/amazon-virtual-andon-2-2-digital-notification-system-manufacturers/" TargetMode="External"/><Relationship Id="rId1" Type="http://schemas.openxmlformats.org/officeDocument/2006/relationships/slideLayout" Target="../slideLayouts/slideLayout9.xml"/></Relationships>
</file>

<file path=ppt/slides/_rels/slide332.xml.rels><?xml version="1.0" encoding="UTF-8" standalone="yes"?>
<Relationships xmlns="http://schemas.openxmlformats.org/package/2006/relationships"><Relationship Id="rId2" Type="http://schemas.openxmlformats.org/officeDocument/2006/relationships/hyperlink" Target="https://aws.amazon.com/about-aws/whats-new/2021/07/announcing-support-exporting-data-aws-iot-sitewise-amazon-s3/" TargetMode="External"/><Relationship Id="rId1" Type="http://schemas.openxmlformats.org/officeDocument/2006/relationships/slideLayout" Target="../slideLayouts/slideLayout9.xml"/></Relationships>
</file>

<file path=ppt/slides/_rels/slide333.xml.rels><?xml version="1.0" encoding="UTF-8" standalone="yes"?>
<Relationships xmlns="http://schemas.openxmlformats.org/package/2006/relationships"><Relationship Id="rId2" Type="http://schemas.openxmlformats.org/officeDocument/2006/relationships/hyperlink" Target="https://aws.amazon.com/about-aws/whats-new/2021/07/new-amazon-sagemaker-pipelines-integrations-with-popular-third-party-tools/" TargetMode="External"/><Relationship Id="rId1" Type="http://schemas.openxmlformats.org/officeDocument/2006/relationships/slideLayout" Target="../slideLayouts/slideLayout9.xml"/></Relationships>
</file>

<file path=ppt/slides/_rels/slide334.xml.rels><?xml version="1.0" encoding="UTF-8" standalone="yes"?>
<Relationships xmlns="http://schemas.openxmlformats.org/package/2006/relationships"><Relationship Id="rId2" Type="http://schemas.openxmlformats.org/officeDocument/2006/relationships/hyperlink" Target="https://aws.amazon.com/about-aws/whats-new/2021/07/announcing-support-join-operation-aws-iot-analytics-data-stores/" TargetMode="External"/><Relationship Id="rId1" Type="http://schemas.openxmlformats.org/officeDocument/2006/relationships/slideLayout" Target="../slideLayouts/slideLayout9.xml"/></Relationships>
</file>

<file path=ppt/slides/_rels/slide335.xml.rels><?xml version="1.0" encoding="UTF-8" standalone="yes"?>
<Relationships xmlns="http://schemas.openxmlformats.org/package/2006/relationships"><Relationship Id="rId2" Type="http://schemas.openxmlformats.org/officeDocument/2006/relationships/hyperlink" Target="https://aws.amazon.com/about-aws/whats-new/2021/07/amazon-textract-announces-specialized-support-automated-processing-invoices-receipts/" TargetMode="External"/><Relationship Id="rId1" Type="http://schemas.openxmlformats.org/officeDocument/2006/relationships/slideLayout" Target="../slideLayouts/slideLayout9.xml"/></Relationships>
</file>

<file path=ppt/slides/_rels/slide336.xml.rels><?xml version="1.0" encoding="UTF-8" standalone="yes"?>
<Relationships xmlns="http://schemas.openxmlformats.org/package/2006/relationships"><Relationship Id="rId2" Type="http://schemas.openxmlformats.org/officeDocument/2006/relationships/hyperlink" Target="https://aws.amazon.com/about-aws/whats-new/2021/07/aws-batch-listjobs-filtering-enhancements/" TargetMode="External"/><Relationship Id="rId1" Type="http://schemas.openxmlformats.org/officeDocument/2006/relationships/slideLayout" Target="../slideLayouts/slideLayout9.xml"/></Relationships>
</file>

<file path=ppt/slides/_rels/slide337.xml.rels><?xml version="1.0" encoding="UTF-8" standalone="yes"?>
<Relationships xmlns="http://schemas.openxmlformats.org/package/2006/relationships"><Relationship Id="rId2" Type="http://schemas.openxmlformats.org/officeDocument/2006/relationships/hyperlink" Target="https://aws.amazon.com/about-aws/whats-new/2021/07/amazon-aurora-postgresql-supports-the-pgproctab-extension-to-access-postgresql-system-stats-in-aws-govcloud-us-regions/" TargetMode="External"/><Relationship Id="rId1" Type="http://schemas.openxmlformats.org/officeDocument/2006/relationships/slideLayout" Target="../slideLayouts/slideLayout9.xml"/></Relationships>
</file>

<file path=ppt/slides/_rels/slide338.xml.rels><?xml version="1.0" encoding="UTF-8" standalone="yes"?>
<Relationships xmlns="http://schemas.openxmlformats.org/package/2006/relationships"><Relationship Id="rId2" Type="http://schemas.openxmlformats.org/officeDocument/2006/relationships/hyperlink" Target="https://aws.amazon.com/about-aws/whats-new/2021/07/amazon-connect-cti-adapter-salesforce-chat--user-interface-support-salesforce-experience-cloud/" TargetMode="External"/><Relationship Id="rId1" Type="http://schemas.openxmlformats.org/officeDocument/2006/relationships/slideLayout" Target="../slideLayouts/slideLayout9.xml"/></Relationships>
</file>

<file path=ppt/slides/_rels/slide339.xml.rels><?xml version="1.0" encoding="UTF-8" standalone="yes"?>
<Relationships xmlns="http://schemas.openxmlformats.org/package/2006/relationships"><Relationship Id="rId2" Type="http://schemas.openxmlformats.org/officeDocument/2006/relationships/hyperlink" Target="https://aws.amazon.com/about-aws/whats-new/2021/07/aws-snowball-supports-multicast-streams-routing-providing-instances-direct-access-external-networks/" TargetMode="External"/><Relationship Id="rId1" Type="http://schemas.openxmlformats.org/officeDocument/2006/relationships/slideLayout" Target="../slideLayouts/slideLayout9.xml"/></Relationships>
</file>

<file path=ppt/slides/_rels/slide340.xml.rels><?xml version="1.0" encoding="UTF-8" standalone="yes"?>
<Relationships xmlns="http://schemas.openxmlformats.org/package/2006/relationships"><Relationship Id="rId2" Type="http://schemas.openxmlformats.org/officeDocument/2006/relationships/hyperlink" Target="https://aws.amazon.com/about-aws/whats-new/2021/07/announcing-the-general-availability-of-aws-local-zones-in-denver/" TargetMode="External"/><Relationship Id="rId1" Type="http://schemas.openxmlformats.org/officeDocument/2006/relationships/slideLayout" Target="../slideLayouts/slideLayout9.xml"/></Relationships>
</file>

<file path=ppt/slides/_rels/slide341.xml.rels><?xml version="1.0" encoding="UTF-8" standalone="yes"?>
<Relationships xmlns="http://schemas.openxmlformats.org/package/2006/relationships"><Relationship Id="rId2" Type="http://schemas.openxmlformats.org/officeDocument/2006/relationships/hyperlink" Target="https://aws.amazon.com/about-aws/whats-new/2021/07/aws-single-sign-on-is-now-available-in-the-europe-paris-region/" TargetMode="External"/><Relationship Id="rId1" Type="http://schemas.openxmlformats.org/officeDocument/2006/relationships/slideLayout" Target="../slideLayouts/slideLayout9.xml"/></Relationships>
</file>

<file path=ppt/slides/_rels/slide342.xml.rels><?xml version="1.0" encoding="UTF-8" standalone="yes"?>
<Relationships xmlns="http://schemas.openxmlformats.org/package/2006/relationships"><Relationship Id="rId2" Type="http://schemas.openxmlformats.org/officeDocument/2006/relationships/hyperlink" Target="https://aws.amazon.com/about-aws/whats-new/2021/07/amazon-lex-announces-support-uk-postal-code-built-in-slot-type/" TargetMode="External"/><Relationship Id="rId1" Type="http://schemas.openxmlformats.org/officeDocument/2006/relationships/slideLayout" Target="../slideLayouts/slideLayout9.xml"/></Relationships>
</file>

<file path=ppt/slides/_rels/slide343.xml.rels><?xml version="1.0" encoding="UTF-8" standalone="yes"?>
<Relationships xmlns="http://schemas.openxmlformats.org/package/2006/relationships"><Relationship Id="rId2" Type="http://schemas.openxmlformats.org/officeDocument/2006/relationships/hyperlink" Target="https://aws.amazon.com/about-aws/whats-new/2021/07/aws-cloudtrail-supports-logging-data-events-amazon-ebs-direct-apis/" TargetMode="External"/><Relationship Id="rId1" Type="http://schemas.openxmlformats.org/officeDocument/2006/relationships/slideLayout" Target="../slideLayouts/slideLayout9.xml"/></Relationships>
</file>

<file path=ppt/slides/_rels/slide344.xml.rels><?xml version="1.0" encoding="UTF-8" standalone="yes"?>
<Relationships xmlns="http://schemas.openxmlformats.org/package/2006/relationships"><Relationship Id="rId2" Type="http://schemas.openxmlformats.org/officeDocument/2006/relationships/hyperlink" Target="https://aws.amazon.com/about-aws/whats-new/2021/07/freertos-202107-00-includes-sntp-library-time-information-tot-applications/" TargetMode="External"/><Relationship Id="rId1" Type="http://schemas.openxmlformats.org/officeDocument/2006/relationships/slideLayout" Target="../slideLayouts/slideLayout9.xml"/></Relationships>
</file>

<file path=ppt/slides/_rels/slide345.xml.rels><?xml version="1.0" encoding="UTF-8" standalone="yes"?>
<Relationships xmlns="http://schemas.openxmlformats.org/package/2006/relationships"><Relationship Id="rId2" Type="http://schemas.openxmlformats.org/officeDocument/2006/relationships/hyperlink" Target="https://aws.amazon.com/about-aws/whats-new/2021/07/amazon-connect-cti-adapter-for-salesforce-now-provides-guided-setup/" TargetMode="External"/><Relationship Id="rId1" Type="http://schemas.openxmlformats.org/officeDocument/2006/relationships/slideLayout" Target="../slideLayouts/slideLayout9.xml"/></Relationships>
</file>

<file path=ppt/slides/_rels/slide346.xml.rels><?xml version="1.0" encoding="UTF-8" standalone="yes"?>
<Relationships xmlns="http://schemas.openxmlformats.org/package/2006/relationships"><Relationship Id="rId2" Type="http://schemas.openxmlformats.org/officeDocument/2006/relationships/hyperlink" Target="https://aws.amazon.com/about-aws/whats-new/2021/07/aws-app2container-now-supports-containerization-of-complex-multi-tier-windows-applications/" TargetMode="External"/><Relationship Id="rId1" Type="http://schemas.openxmlformats.org/officeDocument/2006/relationships/slideLayout" Target="../slideLayouts/slideLayout9.xml"/></Relationships>
</file>

<file path=ppt/slides/_rels/slide347.xml.rels><?xml version="1.0" encoding="UTF-8" standalone="yes"?>
<Relationships xmlns="http://schemas.openxmlformats.org/package/2006/relationships"><Relationship Id="rId2" Type="http://schemas.openxmlformats.org/officeDocument/2006/relationships/hyperlink" Target="https://aws.amazon.com/about-aws/whats-new/2021/07/amazon-aurora-postgresql-supports-pg-partman-extension-managing-time-serial-id-base-table-partitioning-govcloud-regions/" TargetMode="External"/><Relationship Id="rId1" Type="http://schemas.openxmlformats.org/officeDocument/2006/relationships/slideLayout" Target="../slideLayouts/slideLayout9.xml"/></Relationships>
</file>

<file path=ppt/slides/_rels/slide348.xml.rels><?xml version="1.0" encoding="UTF-8" standalone="yes"?>
<Relationships xmlns="http://schemas.openxmlformats.org/package/2006/relationships"><Relationship Id="rId2" Type="http://schemas.openxmlformats.org/officeDocument/2006/relationships/hyperlink" Target="https://aws.amazon.com/about-aws/whats-new/2021/07/amazon-sagemaker-autopilot-automatic-model-tuning-support-refined-access-control-using-condition-key-policies/" TargetMode="External"/><Relationship Id="rId1" Type="http://schemas.openxmlformats.org/officeDocument/2006/relationships/slideLayout" Target="../slideLayouts/slideLayout9.xml"/></Relationships>
</file>

<file path=ppt/slides/_rels/slide349.xml.rels><?xml version="1.0" encoding="UTF-8" standalone="yes"?>
<Relationships xmlns="http://schemas.openxmlformats.org/package/2006/relationships"><Relationship Id="rId2" Type="http://schemas.openxmlformats.org/officeDocument/2006/relationships/hyperlink" Target="https://aws.amazon.com/about-aws/whats-new/2021/07/updated-versions-aws-iot-device-tester-freertos-aws-iot-device-tester-aws-iot-greengrass-available/" TargetMode="External"/><Relationship Id="rId1" Type="http://schemas.openxmlformats.org/officeDocument/2006/relationships/slideLayout" Target="../slideLayouts/slideLayout9.xml"/></Relationships>
</file>

<file path=ppt/slides/_rels/slide350.xml.rels><?xml version="1.0" encoding="UTF-8" standalone="yes"?>
<Relationships xmlns="http://schemas.openxmlformats.org/package/2006/relationships"><Relationship Id="rId2" Type="http://schemas.openxmlformats.org/officeDocument/2006/relationships/hyperlink" Target="https://aws.amazon.com/about-aws/whats-new/2021/07/amazon-sagemaker-jumpstart-introduces-new-vision-models-image-feature-vector-extraction-object-detection/" TargetMode="External"/><Relationship Id="rId1" Type="http://schemas.openxmlformats.org/officeDocument/2006/relationships/slideLayout" Target="../slideLayouts/slideLayout9.xml"/></Relationships>
</file>

<file path=ppt/slides/_rels/slide351.xml.rels><?xml version="1.0" encoding="UTF-8" standalone="yes"?>
<Relationships xmlns="http://schemas.openxmlformats.org/package/2006/relationships"><Relationship Id="rId2" Type="http://schemas.openxmlformats.org/officeDocument/2006/relationships/hyperlink" Target="https://aws.amazon.com/about-aws/whats-new/2021/07/amazon-kendra-releases-workdocs-connector/" TargetMode="External"/><Relationship Id="rId1" Type="http://schemas.openxmlformats.org/officeDocument/2006/relationships/slideLayout" Target="../slideLayouts/slideLayout9.xml"/></Relationships>
</file>

<file path=ppt/slides/_rels/slide352.xml.rels><?xml version="1.0" encoding="UTF-8" standalone="yes"?>
<Relationships xmlns="http://schemas.openxmlformats.org/package/2006/relationships"><Relationship Id="rId2" Type="http://schemas.openxmlformats.org/officeDocument/2006/relationships/hyperlink" Target="https://aws.amazon.com/about-aws/whats-new/2021/07/discovering-hot-topics-using-machine-learning-solution-allows-businesses-analyze-news-article-content-sentiment-topic-analysis/" TargetMode="External"/><Relationship Id="rId1" Type="http://schemas.openxmlformats.org/officeDocument/2006/relationships/slideLayout" Target="../slideLayouts/slideLayout9.xml"/></Relationships>
</file>

<file path=ppt/slides/_rels/slide353.xml.rels><?xml version="1.0" encoding="UTF-8" standalone="yes"?>
<Relationships xmlns="http://schemas.openxmlformats.org/package/2006/relationships"><Relationship Id="rId2" Type="http://schemas.openxmlformats.org/officeDocument/2006/relationships/hyperlink" Target="https://aws.amazon.com/about-aws/whats-new/2021/07/amazon-aurora-supports-postgresql-12-6-11-11-10-16-and-9-6-21-in-aws-govcloud-us-regions/" TargetMode="External"/><Relationship Id="rId1" Type="http://schemas.openxmlformats.org/officeDocument/2006/relationships/slideLayout" Target="../slideLayouts/slideLayout9.xml"/></Relationships>
</file>

<file path=ppt/slides/_rels/slide354.xml.rels><?xml version="1.0" encoding="UTF-8" standalone="yes"?>
<Relationships xmlns="http://schemas.openxmlformats.org/package/2006/relationships"><Relationship Id="rId2" Type="http://schemas.openxmlformats.org/officeDocument/2006/relationships/hyperlink" Target="https://aws.amazon.com/about-aws/whats-new/2021/07/amazon-aurora-postgresql-supports-pg-cron-extension-scheduling-database-jobs-aws-govcloud-us-regions/" TargetMode="External"/><Relationship Id="rId1" Type="http://schemas.openxmlformats.org/officeDocument/2006/relationships/slideLayout" Target="../slideLayouts/slideLayout9.xml"/></Relationships>
</file>

<file path=ppt/slides/_rels/slide355.xml.rels><?xml version="1.0" encoding="UTF-8" standalone="yes"?>
<Relationships xmlns="http://schemas.openxmlformats.org/package/2006/relationships"><Relationship Id="rId2" Type="http://schemas.openxmlformats.org/officeDocument/2006/relationships/hyperlink" Target="https://aws.amazon.com/about-aws/whats-new/2021/07/amazon-aurora-postgresql-supports-the-pg-bigm-extension-for-faster-full-text-search-in-aws-govcloud-us-regions/" TargetMode="External"/><Relationship Id="rId1" Type="http://schemas.openxmlformats.org/officeDocument/2006/relationships/slideLayout" Target="../slideLayouts/slideLayout9.xml"/></Relationships>
</file>

<file path=ppt/slides/_rels/slide356.xml.rels><?xml version="1.0" encoding="UTF-8" standalone="yes"?>
<Relationships xmlns="http://schemas.openxmlformats.org/package/2006/relationships"><Relationship Id="rId2" Type="http://schemas.openxmlformats.org/officeDocument/2006/relationships/hyperlink" Target="https://aws.amazon.com/about-aws/whats-new/2021/07/announcing-automatic-revision-publishing-aws-data-exchange/" TargetMode="External"/><Relationship Id="rId1" Type="http://schemas.openxmlformats.org/officeDocument/2006/relationships/slideLayout" Target="../slideLayouts/slideLayout9.xml"/></Relationships>
</file>

<file path=ppt/slides/_rels/slide357.xml.rels><?xml version="1.0" encoding="UTF-8" standalone="yes"?>
<Relationships xmlns="http://schemas.openxmlformats.org/package/2006/relationships"><Relationship Id="rId2" Type="http://schemas.openxmlformats.org/officeDocument/2006/relationships/hyperlink" Target="https://aws.amazon.com/about-aws/whats-new/2021/07/amazon-athena-announces-data-source-connector-for-power-bi/" TargetMode="External"/><Relationship Id="rId1" Type="http://schemas.openxmlformats.org/officeDocument/2006/relationships/slideLayout" Target="../slideLayouts/slideLayout9.xml"/></Relationships>
</file>

<file path=ppt/slides/_rels/slide358.xml.rels><?xml version="1.0" encoding="UTF-8" standalone="yes"?>
<Relationships xmlns="http://schemas.openxmlformats.org/package/2006/relationships"><Relationship Id="rId2" Type="http://schemas.openxmlformats.org/officeDocument/2006/relationships/hyperlink" Target="https://aws.amazon.com/about-aws/whats-new/2021/07/amazon-connect-adds-colombia-phone-numbers/" TargetMode="External"/><Relationship Id="rId1" Type="http://schemas.openxmlformats.org/officeDocument/2006/relationships/slideLayout" Target="../slideLayouts/slideLayout9.xml"/></Relationships>
</file>

<file path=ppt/slides/_rels/slide359.xml.rels><?xml version="1.0" encoding="UTF-8" standalone="yes"?>
<Relationships xmlns="http://schemas.openxmlformats.org/package/2006/relationships"><Relationship Id="rId2" Type="http://schemas.openxmlformats.org/officeDocument/2006/relationships/hyperlink" Target="https://aws.amazon.com/about-aws/whats-new/2021/07/aws-announces-a-new-aws-training-partner-program/" TargetMode="External"/><Relationship Id="rId1" Type="http://schemas.openxmlformats.org/officeDocument/2006/relationships/slideLayout" Target="../slideLayouts/slideLayout9.xml"/></Relationships>
</file>

<file path=ppt/slides/_rels/slide360.xml.rels><?xml version="1.0" encoding="UTF-8" standalone="yes"?>
<Relationships xmlns="http://schemas.openxmlformats.org/package/2006/relationships"><Relationship Id="rId2" Type="http://schemas.openxmlformats.org/officeDocument/2006/relationships/hyperlink" Target="https://aws.amazon.com/about-aws/whats-new/2021/07/amazon-rds-cross-region-automated-backups-regional-expansion/" TargetMode="External"/><Relationship Id="rId1" Type="http://schemas.openxmlformats.org/officeDocument/2006/relationships/slideLayout" Target="../slideLayouts/slideLayout9.xml"/></Relationships>
</file>

<file path=ppt/slides/_rels/slide361.xml.rels><?xml version="1.0" encoding="UTF-8" standalone="yes"?>
<Relationships xmlns="http://schemas.openxmlformats.org/package/2006/relationships"><Relationship Id="rId2" Type="http://schemas.openxmlformats.org/officeDocument/2006/relationships/hyperlink" Target="https://aws.amazon.com/about-aws/whats-new/2021/07/amazon-redshift-data-sharing-available-aws-govcloud-us-regions/" TargetMode="External"/><Relationship Id="rId1" Type="http://schemas.openxmlformats.org/officeDocument/2006/relationships/slideLayout" Target="../slideLayouts/slideLayout9.xml"/></Relationships>
</file>

<file path=ppt/slides/_rels/slide362.xml.rels><?xml version="1.0" encoding="UTF-8" standalone="yes"?>
<Relationships xmlns="http://schemas.openxmlformats.org/package/2006/relationships"><Relationship Id="rId2" Type="http://schemas.openxmlformats.org/officeDocument/2006/relationships/hyperlink" Target="https://aws.amazon.com/about-aws/whats-new/2021/07/aws-robomaker-worldforge-supports-adding-doors-indoor-residential-simulation-worlds/" TargetMode="External"/><Relationship Id="rId1" Type="http://schemas.openxmlformats.org/officeDocument/2006/relationships/slideLayout" Target="../slideLayouts/slideLayout9.xml"/></Relationships>
</file>

<file path=ppt/slides/_rels/slide363.xml.rels><?xml version="1.0" encoding="UTF-8" standalone="yes"?>
<Relationships xmlns="http://schemas.openxmlformats.org/package/2006/relationships"><Relationship Id="rId2" Type="http://schemas.openxmlformats.org/officeDocument/2006/relationships/hyperlink" Target="https://aws.amazon.com/about-aws/whats-new/2021/07/aws-codebuild-is-now-available-in-aws-asia-pacific-osaka-region/" TargetMode="External"/><Relationship Id="rId1" Type="http://schemas.openxmlformats.org/officeDocument/2006/relationships/slideLayout" Target="../slideLayouts/slideLayout9.xml"/></Relationships>
</file>

<file path=ppt/slides/_rels/slide364.xml.rels><?xml version="1.0" encoding="UTF-8" standalone="yes"?>
<Relationships xmlns="http://schemas.openxmlformats.org/package/2006/relationships"><Relationship Id="rId2" Type="http://schemas.openxmlformats.org/officeDocument/2006/relationships/hyperlink" Target="https://aws.amazon.com/about-aws/whats-new/2021/07/aws-glue-schema-registry-available-aws-govcloud-us-regions/" TargetMode="External"/><Relationship Id="rId1" Type="http://schemas.openxmlformats.org/officeDocument/2006/relationships/slideLayout" Target="../slideLayouts/slideLayout9.xml"/></Relationships>
</file>

<file path=ppt/slides/_rels/slide365.xml.rels><?xml version="1.0" encoding="UTF-8" standalone="yes"?>
<Relationships xmlns="http://schemas.openxmlformats.org/package/2006/relationships"><Relationship Id="rId2" Type="http://schemas.openxmlformats.org/officeDocument/2006/relationships/hyperlink" Target="https://aws.amazon.com/about-aws/whats-new/2021/07/introducing-aws-edit-in-the-cloud/" TargetMode="External"/><Relationship Id="rId1" Type="http://schemas.openxmlformats.org/officeDocument/2006/relationships/slideLayout" Target="../slideLayouts/slideLayout9.xml"/></Relationships>
</file>

<file path=ppt/slides/_rels/slide366.xml.rels><?xml version="1.0" encoding="UTF-8" standalone="yes"?>
<Relationships xmlns="http://schemas.openxmlformats.org/package/2006/relationships"><Relationship Id="rId2" Type="http://schemas.openxmlformats.org/officeDocument/2006/relationships/hyperlink" Target="https://aws.amazon.com/about-aws/whats-new/2021/07/amazon-rds-sql-server-supports-new-minor-versions/" TargetMode="External"/><Relationship Id="rId1" Type="http://schemas.openxmlformats.org/officeDocument/2006/relationships/slideLayout" Target="../slideLayouts/slideLayout9.xml"/></Relationships>
</file>

<file path=ppt/slides/_rels/slide367.xml.rels><?xml version="1.0" encoding="UTF-8" standalone="yes"?>
<Relationships xmlns="http://schemas.openxmlformats.org/package/2006/relationships"><Relationship Id="rId2" Type="http://schemas.openxmlformats.org/officeDocument/2006/relationships/hyperlink" Target="https://aws.amazon.com/about-aws/whats-new/2021/07/announcing-availability-red-hat-enterprise-linux-microsoft-sql-server-amazon-ec2/" TargetMode="External"/><Relationship Id="rId1" Type="http://schemas.openxmlformats.org/officeDocument/2006/relationships/slideLayout" Target="../slideLayouts/slideLayout9.xml"/></Relationships>
</file>

<file path=ppt/slides/_rels/slide368.xml.rels><?xml version="1.0" encoding="UTF-8" standalone="yes"?>
<Relationships xmlns="http://schemas.openxmlformats.org/package/2006/relationships"><Relationship Id="rId2" Type="http://schemas.openxmlformats.org/officeDocument/2006/relationships/hyperlink" Target="https://aws.amazon.com/about-aws/whats-new/2021/07/aws-iq-supports-chat-response-directly-through-email/" TargetMode="External"/><Relationship Id="rId1" Type="http://schemas.openxmlformats.org/officeDocument/2006/relationships/slideLayout" Target="../slideLayouts/slideLayout9.xml"/></Relationships>
</file>

<file path=ppt/slides/_rels/slide369.xml.rels><?xml version="1.0" encoding="UTF-8" standalone="yes"?>
<Relationships xmlns="http://schemas.openxmlformats.org/package/2006/relationships"><Relationship Id="rId2" Type="http://schemas.openxmlformats.org/officeDocument/2006/relationships/hyperlink" Target="https://aws.amazon.com/about-aws/whats-new/2021/07/amazon-transcribe-now-supports-streaming-transcription-amazon-web-services-china/" TargetMode="External"/><Relationship Id="rId1" Type="http://schemas.openxmlformats.org/officeDocument/2006/relationships/slideLayout" Target="../slideLayouts/slideLayout9.xml"/></Relationships>
</file>

<file path=ppt/slides/_rels/slide370.xml.rels><?xml version="1.0" encoding="UTF-8" standalone="yes"?>
<Relationships xmlns="http://schemas.openxmlformats.org/package/2006/relationships"><Relationship Id="rId2" Type="http://schemas.openxmlformats.org/officeDocument/2006/relationships/hyperlink" Target="https://aws.amazon.com/about-aws/whats-new/2021/07/aws-solutions-implementation-tamper-proof-quality-data-using-amazon-qldb/" TargetMode="External"/><Relationship Id="rId1" Type="http://schemas.openxmlformats.org/officeDocument/2006/relationships/slideLayout" Target="../slideLayouts/slideLayout9.xml"/></Relationships>
</file>

<file path=ppt/slides/_rels/slide371.xml.rels><?xml version="1.0" encoding="UTF-8" standalone="yes"?>
<Relationships xmlns="http://schemas.openxmlformats.org/package/2006/relationships"><Relationship Id="rId2" Type="http://schemas.openxmlformats.org/officeDocument/2006/relationships/hyperlink" Target="https://aws.amazon.com/about-aws/whats-new/2021/07/aws-systems-manager-automation-supports-upgrade-sql-server/" TargetMode="External"/><Relationship Id="rId1" Type="http://schemas.openxmlformats.org/officeDocument/2006/relationships/slideLayout" Target="../slideLayouts/slideLayout9.xml"/></Relationships>
</file>

<file path=ppt/slides/_rels/slide372.xml.rels><?xml version="1.0" encoding="UTF-8" standalone="yes"?>
<Relationships xmlns="http://schemas.openxmlformats.org/package/2006/relationships"><Relationship Id="rId2" Type="http://schemas.openxmlformats.org/officeDocument/2006/relationships/hyperlink" Target="https://aws.amazon.com/about-aws/whats-new/2021/07/aws-customers-view-all-labels-supported-amazon-rekognition/" TargetMode="External"/><Relationship Id="rId1" Type="http://schemas.openxmlformats.org/officeDocument/2006/relationships/slideLayout" Target="../slideLayouts/slideLayout9.xml"/></Relationships>
</file>

<file path=ppt/slides/_rels/slide373.xml.rels><?xml version="1.0" encoding="UTF-8" standalone="yes"?>
<Relationships xmlns="http://schemas.openxmlformats.org/package/2006/relationships"><Relationship Id="rId2" Type="http://schemas.openxmlformats.org/officeDocument/2006/relationships/hyperlink" Target="https://aws.amazon.com/about-aws/whats-new/2021/07/aws-license-manager-announces-distribution-aws-organizations-id-aws-marketplace-customers/" TargetMode="External"/><Relationship Id="rId1" Type="http://schemas.openxmlformats.org/officeDocument/2006/relationships/slideLayout" Target="../slideLayouts/slideLayout9.xml"/></Relationships>
</file>

<file path=ppt/slides/_rels/slide374.xml.rels><?xml version="1.0" encoding="UTF-8" standalone="yes"?>
<Relationships xmlns="http://schemas.openxmlformats.org/package/2006/relationships"><Relationship Id="rId2" Type="http://schemas.openxmlformats.org/officeDocument/2006/relationships/hyperlink" Target="https://aws.amazon.com/about-aws/whats-new/2021/07/amazon-athena-expands-apache-hudi-support/" TargetMode="External"/><Relationship Id="rId1" Type="http://schemas.openxmlformats.org/officeDocument/2006/relationships/slideLayout" Target="../slideLayouts/slideLayout9.xml"/></Relationships>
</file>

<file path=ppt/slides/_rels/slide375.xml.rels><?xml version="1.0" encoding="UTF-8" standalone="yes"?>
<Relationships xmlns="http://schemas.openxmlformats.org/package/2006/relationships"><Relationship Id="rId2" Type="http://schemas.openxmlformats.org/officeDocument/2006/relationships/hyperlink" Target="https://aws.amazon.com/about-aws/whats-new/2021/07/aws-glue-databrew-hipaa-eligible/" TargetMode="External"/><Relationship Id="rId1" Type="http://schemas.openxmlformats.org/officeDocument/2006/relationships/slideLayout" Target="../slideLayouts/slideLayout9.xml"/></Relationships>
</file>

<file path=ppt/slides/_rels/slide376.xml.rels><?xml version="1.0" encoding="UTF-8" standalone="yes"?>
<Relationships xmlns="http://schemas.openxmlformats.org/package/2006/relationships"><Relationship Id="rId2" Type="http://schemas.openxmlformats.org/officeDocument/2006/relationships/hyperlink" Target="https://aws.amazon.com/about-aws/whats-new/2021/07/amazon-sagemaker-edge-manager-integrates-aws-iot-greengrass-simplify-deployment-fleets-edge-devices/" TargetMode="External"/><Relationship Id="rId1" Type="http://schemas.openxmlformats.org/officeDocument/2006/relationships/slideLayout" Target="../slideLayouts/slideLayout9.xml"/></Relationships>
</file>

<file path=ppt/slides/_rels/slide377.xml.rels><?xml version="1.0" encoding="UTF-8" standalone="yes"?>
<Relationships xmlns="http://schemas.openxmlformats.org/package/2006/relationships"><Relationship Id="rId2" Type="http://schemas.openxmlformats.org/officeDocument/2006/relationships/hyperlink" Target="https://aws.amazon.com/about-aws/whats-new/2021/07/amazon-healthlake-generally-available/" TargetMode="External"/><Relationship Id="rId1" Type="http://schemas.openxmlformats.org/officeDocument/2006/relationships/slideLayout" Target="../slideLayouts/slideLayout9.xml"/></Relationships>
</file>

<file path=ppt/slides/_rels/slide378.xml.rels><?xml version="1.0" encoding="UTF-8" standalone="yes"?>
<Relationships xmlns="http://schemas.openxmlformats.org/package/2006/relationships"><Relationship Id="rId2" Type="http://schemas.openxmlformats.org/officeDocument/2006/relationships/hyperlink" Target="https://aws.amazon.com/about-aws/whats-new/2021/07/amazon-lex-launches-support-indian-english/" TargetMode="External"/><Relationship Id="rId1" Type="http://schemas.openxmlformats.org/officeDocument/2006/relationships/slideLayout" Target="../slideLayouts/slideLayout9.xml"/></Relationships>
</file>

<file path=ppt/slides/_rels/slide379.xml.rels><?xml version="1.0" encoding="UTF-8" standalone="yes"?>
<Relationships xmlns="http://schemas.openxmlformats.org/package/2006/relationships"><Relationship Id="rId2" Type="http://schemas.openxmlformats.org/officeDocument/2006/relationships/hyperlink" Target="https://aws.amazon.com/about-aws/whats-new/2021/07/aws-solutions-implementation-simple-file-manager-amazon-efs/" TargetMode="External"/><Relationship Id="rId1" Type="http://schemas.openxmlformats.org/officeDocument/2006/relationships/slideLayout" Target="../slideLayouts/slideLayout9.xml"/></Relationships>
</file>

<file path=ppt/slides/_rels/slide380.xml.rels><?xml version="1.0" encoding="UTF-8" standalone="yes"?>
<Relationships xmlns="http://schemas.openxmlformats.org/package/2006/relationships"><Relationship Id="rId2" Type="http://schemas.openxmlformats.org/officeDocument/2006/relationships/hyperlink" Target="https://aws.amazon.com/about-aws/whats-new/2021/07/freertos-aws-reference-integrations-now-include-freertos-lts-libraries/" TargetMode="External"/><Relationship Id="rId1" Type="http://schemas.openxmlformats.org/officeDocument/2006/relationships/slideLayout" Target="../slideLayouts/slideLayout9.xml"/></Relationships>
</file>

<file path=ppt/slides/_rels/slide381.xml.rels><?xml version="1.0" encoding="UTF-8" standalone="yes"?>
<Relationships xmlns="http://schemas.openxmlformats.org/package/2006/relationships"><Relationship Id="rId2" Type="http://schemas.openxmlformats.org/officeDocument/2006/relationships/hyperlink" Target="https://aws.amazon.com/about-aws/whats-new/2021/07/aws-iot-core-supports-vpc-endpoints/" TargetMode="External"/><Relationship Id="rId1" Type="http://schemas.openxmlformats.org/officeDocument/2006/relationships/slideLayout" Target="../slideLayouts/slideLayout9.xml"/></Relationships>
</file>

<file path=ppt/slides/_rels/slide382.xml.rels><?xml version="1.0" encoding="UTF-8" standalone="yes"?>
<Relationships xmlns="http://schemas.openxmlformats.org/package/2006/relationships"><Relationship Id="rId2" Type="http://schemas.openxmlformats.org/officeDocument/2006/relationships/hyperlink" Target="https://aws.amazon.com/about-aws/whats-new/2021/07/aws-iot-sitewise-expanding-transforms-formula-expressions-capabilities/" TargetMode="External"/><Relationship Id="rId1" Type="http://schemas.openxmlformats.org/officeDocument/2006/relationships/slideLayout" Target="../slideLayouts/slideLayout9.xml"/></Relationships>
</file>

<file path=ppt/slides/_rels/slide383.xml.rels><?xml version="1.0" encoding="UTF-8" standalone="yes"?>
<Relationships xmlns="http://schemas.openxmlformats.org/package/2006/relationships"><Relationship Id="rId2" Type="http://schemas.openxmlformats.org/officeDocument/2006/relationships/hyperlink" Target="https://aws.amazon.com/about-aws/whats-new/2021/07/new-public-datasets-available/" TargetMode="External"/><Relationship Id="rId1" Type="http://schemas.openxmlformats.org/officeDocument/2006/relationships/slideLayout" Target="../slideLayouts/slideLayout9.xml"/></Relationships>
</file>

<file path=ppt/slides/_rels/slide384.xml.rels><?xml version="1.0" encoding="UTF-8" standalone="yes"?>
<Relationships xmlns="http://schemas.openxmlformats.org/package/2006/relationships"><Relationship Id="rId2" Type="http://schemas.openxmlformats.org/officeDocument/2006/relationships/hyperlink" Target="https://aws.amazon.com/about-aws/whats-new/2021/07/amazon-data-lifecycle-manager-launches-new-console-experience/" TargetMode="External"/><Relationship Id="rId1" Type="http://schemas.openxmlformats.org/officeDocument/2006/relationships/slideLayout" Target="../slideLayouts/slideLayout9.xml"/></Relationships>
</file>

<file path=ppt/slides/_rels/slide385.xml.rels><?xml version="1.0" encoding="UTF-8" standalone="yes"?>
<Relationships xmlns="http://schemas.openxmlformats.org/package/2006/relationships"><Relationship Id="rId2" Type="http://schemas.openxmlformats.org/officeDocument/2006/relationships/hyperlink" Target="https://aws.amazon.com/about-aws/whats-new/2021/07/introducing-aws-for-health/" TargetMode="External"/><Relationship Id="rId1" Type="http://schemas.openxmlformats.org/officeDocument/2006/relationships/slideLayout" Target="../slideLayouts/slideLayout9.xml"/></Relationships>
</file>

<file path=ppt/slides/_rels/slide386.xml.rels><?xml version="1.0" encoding="UTF-8" standalone="yes"?>
<Relationships xmlns="http://schemas.openxmlformats.org/package/2006/relationships"><Relationship Id="rId2" Type="http://schemas.openxmlformats.org/officeDocument/2006/relationships/hyperlink" Target="https://aws.amazon.com/about-aws/whats-new/2021/07/aws-iot-sitewise-launches-support-aws-privatelink-control-plane-apis/" TargetMode="External"/><Relationship Id="rId1" Type="http://schemas.openxmlformats.org/officeDocument/2006/relationships/slideLayout" Target="../slideLayouts/slideLayout9.xml"/></Relationships>
</file>

<file path=ppt/slides/_rels/slide387.xml.rels><?xml version="1.0" encoding="UTF-8" standalone="yes"?>
<Relationships xmlns="http://schemas.openxmlformats.org/package/2006/relationships"><Relationship Id="rId2" Type="http://schemas.openxmlformats.org/officeDocument/2006/relationships/hyperlink" Target="https://aws.amazon.com/about-aws/whats-new/2021/07/aws-elemental-mediapackage-available-east-ohio-region/" TargetMode="External"/><Relationship Id="rId1" Type="http://schemas.openxmlformats.org/officeDocument/2006/relationships/slideLayout" Target="../slideLayouts/slideLayout9.xml"/></Relationships>
</file>

<file path=ppt/slides/_rels/slide388.xml.rels><?xml version="1.0" encoding="UTF-8" standalone="yes"?>
<Relationships xmlns="http://schemas.openxmlformats.org/package/2006/relationships"><Relationship Id="rId2" Type="http://schemas.openxmlformats.org/officeDocument/2006/relationships/hyperlink" Target="https://aws.amazon.com/about-aws/whats-new/2021/07/amazon-kendra-releases-principal-store-secure-search/" TargetMode="External"/><Relationship Id="rId1" Type="http://schemas.openxmlformats.org/officeDocument/2006/relationships/slideLayout" Target="../slideLayouts/slideLayout9.xml"/></Relationships>
</file>

<file path=ppt/slides/_rels/slide389.xml.rels><?xml version="1.0" encoding="UTF-8" standalone="yes"?>
<Relationships xmlns="http://schemas.openxmlformats.org/package/2006/relationships"><Relationship Id="rId2" Type="http://schemas.openxmlformats.org/officeDocument/2006/relationships/hyperlink" Target="https://aws.amazon.com/about-aws/whats-new/2021/07/amazon-lex-announces-tooling-to-migrate-bots-from-lex-v1-console-to-lex-v2-console/" TargetMode="External"/><Relationship Id="rId1" Type="http://schemas.openxmlformats.org/officeDocument/2006/relationships/slideLayout" Target="../slideLayouts/slideLayout9.xml"/></Relationships>
</file>

<file path=ppt/slides/_rels/slide390.xml.rels><?xml version="1.0" encoding="UTF-8" standalone="yes"?>
<Relationships xmlns="http://schemas.openxmlformats.org/package/2006/relationships"><Relationship Id="rId2" Type="http://schemas.openxmlformats.org/officeDocument/2006/relationships/hyperlink" Target="https://aws.amazon.com/about-aws/whats-new/2021/06/amazon-lightsail-now-offers-object-storage-for-storing-static-content/" TargetMode="External"/><Relationship Id="rId1" Type="http://schemas.openxmlformats.org/officeDocument/2006/relationships/slideLayout" Target="../slideLayouts/slideLayout9.xml"/></Relationships>
</file>

<file path=ppt/slides/_rels/slide391.xml.rels><?xml version="1.0" encoding="UTF-8" standalone="yes"?>
<Relationships xmlns="http://schemas.openxmlformats.org/package/2006/relationships"><Relationship Id="rId2" Type="http://schemas.openxmlformats.org/officeDocument/2006/relationships/hyperlink" Target="https://aws.amazon.com/about-aws/whats-new/2021/07/amazon-cloudfront-now-supports-ecdsa-certificates-for-https-connections-to-viewers/" TargetMode="External"/><Relationship Id="rId1" Type="http://schemas.openxmlformats.org/officeDocument/2006/relationships/slideLayout" Target="../slideLayouts/slideLayout9.xml"/></Relationships>
</file>

<file path=ppt/slides/_rels/slide392.xml.rels><?xml version="1.0" encoding="UTF-8" standalone="yes"?>
<Relationships xmlns="http://schemas.openxmlformats.org/package/2006/relationships"><Relationship Id="rId2" Type="http://schemas.openxmlformats.org/officeDocument/2006/relationships/hyperlink" Target="https://aws.amazon.com/about-aws/whats-new/2021/07/aws-directory-service-microsoft-active-directory-ad-connector-available-aws-asia-pacific-osaka-region/" TargetMode="External"/><Relationship Id="rId1" Type="http://schemas.openxmlformats.org/officeDocument/2006/relationships/slideLayout" Target="../slideLayouts/slideLayout9.xml"/></Relationships>
</file>

<file path=ppt/slides/_rels/slide393.xml.rels><?xml version="1.0" encoding="UTF-8" standalone="yes"?>
<Relationships xmlns="http://schemas.openxmlformats.org/package/2006/relationships"><Relationship Id="rId2" Type="http://schemas.openxmlformats.org/officeDocument/2006/relationships/hyperlink" Target="https://aws.amazon.com/about-aws/whats-new/2021/07/ec2-image-builder-supports-parameters-components-creating-custom-images/" TargetMode="External"/><Relationship Id="rId1" Type="http://schemas.openxmlformats.org/officeDocument/2006/relationships/slideLayout" Target="../slideLayouts/slideLayout9.xml"/></Relationships>
</file>

<file path=ppt/slides/_rels/slide394.xml.rels><?xml version="1.0" encoding="UTF-8" standalone="yes"?>
<Relationships xmlns="http://schemas.openxmlformats.org/package/2006/relationships"><Relationship Id="rId2" Type="http://schemas.openxmlformats.org/officeDocument/2006/relationships/hyperlink" Target="https://aws.amazon.com/about-aws/whats-new/2021/07/amazon-sagemaker-pipeline-introduces-a-automatic-hyperparameter-tuning-step/" TargetMode="External"/><Relationship Id="rId1" Type="http://schemas.openxmlformats.org/officeDocument/2006/relationships/slideLayout" Target="../slideLayouts/slideLayout9.xml"/></Relationships>
</file>

<file path=ppt/slides/_rels/slide395.xml.rels><?xml version="1.0" encoding="UTF-8" standalone="yes"?>
<Relationships xmlns="http://schemas.openxmlformats.org/package/2006/relationships"><Relationship Id="rId2" Type="http://schemas.openxmlformats.org/officeDocument/2006/relationships/hyperlink" Target="https://aws.amazon.com/about-aws/whats-new/2021/07/aws-glue-databrew-available-aws-asia-pacific-hong-kong-region/" TargetMode="External"/><Relationship Id="rId1" Type="http://schemas.openxmlformats.org/officeDocument/2006/relationships/slideLayout" Target="../slideLayouts/slideLayout9.xml"/></Relationships>
</file>

<file path=ppt/slides/_rels/slide396.xml.rels><?xml version="1.0" encoding="UTF-8" standalone="yes"?>
<Relationships xmlns="http://schemas.openxmlformats.org/package/2006/relationships"><Relationship Id="rId2" Type="http://schemas.openxmlformats.org/officeDocument/2006/relationships/hyperlink" Target="https://aws.amazon.com/about-aws/whats-new/2021/07/aws-iot-core-lorawan-supports-vpc-endpoints/" TargetMode="External"/><Relationship Id="rId1" Type="http://schemas.openxmlformats.org/officeDocument/2006/relationships/slideLayout" Target="../slideLayouts/slideLayout9.xml"/></Relationships>
</file>

<file path=ppt/slides/_rels/slide397.xml.rels><?xml version="1.0" encoding="UTF-8" standalone="yes"?>
<Relationships xmlns="http://schemas.openxmlformats.org/package/2006/relationships"><Relationship Id="rId2" Type="http://schemas.openxmlformats.org/officeDocument/2006/relationships/hyperlink" Target="https://aws.amazon.com/about-aws/whats-new/2021/07/amazon-announces-new-aws-deep-learning-containers-to-deploy-hugging-face-models-faster-on-amazon-sagemaker/" TargetMode="External"/><Relationship Id="rId1" Type="http://schemas.openxmlformats.org/officeDocument/2006/relationships/slideLayout" Target="../slideLayouts/slideLayout9.xml"/></Relationships>
</file>

<file path=ppt/slides/_rels/slide398.xml.rels><?xml version="1.0" encoding="UTF-8" standalone="yes"?>
<Relationships xmlns="http://schemas.openxmlformats.org/package/2006/relationships"><Relationship Id="rId2" Type="http://schemas.openxmlformats.org/officeDocument/2006/relationships/hyperlink" Target="https://aws.amazon.com/about-aws/whats-new/2021/07/amazon-ml-inf1-instances-available-amazon-sagemaker-4-additional-aws-regions/" TargetMode="External"/><Relationship Id="rId1" Type="http://schemas.openxmlformats.org/officeDocument/2006/relationships/slideLayout" Target="../slideLayouts/slideLayout9.xml"/></Relationships>
</file>

<file path=ppt/slides/_rels/slide399.xml.rels><?xml version="1.0" encoding="UTF-8" standalone="yes"?>
<Relationships xmlns="http://schemas.openxmlformats.org/package/2006/relationships"><Relationship Id="rId2" Type="http://schemas.openxmlformats.org/officeDocument/2006/relationships/hyperlink" Target="https://aws.amazon.com/about-aws/whats-new/2021/07/amazon-rds-for-postgresql-supports-new-minor-versions/" TargetMode="External"/><Relationship Id="rId1" Type="http://schemas.openxmlformats.org/officeDocument/2006/relationships/slideLayout" Target="../slideLayouts/slideLayout9.xml"/></Relationships>
</file>

<file path=ppt/slides/_rels/slide400.xml.rels><?xml version="1.0" encoding="UTF-8" standalone="yes"?>
<Relationships xmlns="http://schemas.openxmlformats.org/package/2006/relationships"><Relationship Id="rId2" Type="http://schemas.openxmlformats.org/officeDocument/2006/relationships/hyperlink" Target="https://aws.amazon.com/about-aws/whats-new/2021/07/amazon-pinpoint-announces-lower-transaction-per-second-sending-limits/" TargetMode="External"/><Relationship Id="rId1" Type="http://schemas.openxmlformats.org/officeDocument/2006/relationships/slideLayout" Target="../slideLayouts/slideLayout9.xml"/></Relationships>
</file>

<file path=ppt/slides/_rels/slide401.xml.rels><?xml version="1.0" encoding="UTF-8" standalone="yes"?>
<Relationships xmlns="http://schemas.openxmlformats.org/package/2006/relationships"><Relationship Id="rId2" Type="http://schemas.openxmlformats.org/officeDocument/2006/relationships/hyperlink" Target="https://aws.amazon.com/about-aws/whats-new/2021/07/the-amazon-redshift-data-api-is-now-available-in-the-aws-asia-pacific-osaka-region/" TargetMode="External"/><Relationship Id="rId1" Type="http://schemas.openxmlformats.org/officeDocument/2006/relationships/slideLayout" Target="../slideLayouts/slideLayout9.xml"/></Relationships>
</file>

<file path=ppt/slides/_rels/slide402.xml.rels><?xml version="1.0" encoding="UTF-8" standalone="yes"?>
<Relationships xmlns="http://schemas.openxmlformats.org/package/2006/relationships"><Relationship Id="rId2" Type="http://schemas.openxmlformats.org/officeDocument/2006/relationships/hyperlink" Target="https://aws.amazon.com/about-aws/whats-new/2021/07/aws-appsync-now-available-in-asia-pacific-osaka/" TargetMode="External"/><Relationship Id="rId1" Type="http://schemas.openxmlformats.org/officeDocument/2006/relationships/slideLayout" Target="../slideLayouts/slideLayout9.xml"/></Relationships>
</file>

<file path=ppt/slides/_rels/slide403.xml.rels><?xml version="1.0" encoding="UTF-8" standalone="yes"?>
<Relationships xmlns="http://schemas.openxmlformats.org/package/2006/relationships"><Relationship Id="rId2" Type="http://schemas.openxmlformats.org/officeDocument/2006/relationships/hyperlink" Target="https://aws.amazon.com/about-aws/whats-new/2021/07/amplify-flutter-now-supports-null-safety/" TargetMode="External"/><Relationship Id="rId1" Type="http://schemas.openxmlformats.org/officeDocument/2006/relationships/slideLayout" Target="../slideLayouts/slideLayout9.xml"/></Relationships>
</file>

<file path=ppt/slides/_rels/slide404.xml.rels><?xml version="1.0" encoding="UTF-8" standalone="yes"?>
<Relationships xmlns="http://schemas.openxmlformats.org/package/2006/relationships"><Relationship Id="rId2" Type="http://schemas.openxmlformats.org/officeDocument/2006/relationships/hyperlink" Target="https://aws.amazon.com/about-aws/whats-new/2021/07/aws-single-sign-on-available-south-america-sao-paulo-region/" TargetMode="External"/><Relationship Id="rId1" Type="http://schemas.openxmlformats.org/officeDocument/2006/relationships/slideLayout" Target="../slideLayouts/slideLayout9.xml"/></Relationships>
</file>

<file path=ppt/slides/_rels/slide405.xml.rels><?xml version="1.0" encoding="UTF-8" standalone="yes"?>
<Relationships xmlns="http://schemas.openxmlformats.org/package/2006/relationships"><Relationship Id="rId2" Type="http://schemas.openxmlformats.org/officeDocument/2006/relationships/hyperlink" Target="https://aws.amazon.com/about-aws/whats-new/2021/07/aws-allows-customers-pay-their-usage-in-advance/" TargetMode="External"/><Relationship Id="rId1" Type="http://schemas.openxmlformats.org/officeDocument/2006/relationships/slideLayout" Target="../slideLayouts/slideLayout9.xml"/></Relationships>
</file>

<file path=ppt/slides/_rels/slide406.xml.rels><?xml version="1.0" encoding="UTF-8" standalone="yes"?>
<Relationships xmlns="http://schemas.openxmlformats.org/package/2006/relationships"><Relationship Id="rId2" Type="http://schemas.openxmlformats.org/officeDocument/2006/relationships/hyperlink" Target="https://aws.amazon.com/about-aws/whats-new/2021/07/announcing-model-variable-importance-for-amazon-fraud-detector/" TargetMode="External"/><Relationship Id="rId1" Type="http://schemas.openxmlformats.org/officeDocument/2006/relationships/slideLayout" Target="../slideLayouts/slideLayout9.xml"/></Relationships>
</file>

<file path=ppt/slides/_rels/slide407.xml.rels><?xml version="1.0" encoding="UTF-8" standalone="yes"?>
<Relationships xmlns="http://schemas.openxmlformats.org/package/2006/relationships"><Relationship Id="rId2" Type="http://schemas.openxmlformats.org/officeDocument/2006/relationships/hyperlink" Target="https://aws.amazon.com/about-aws/whats-new/2021/07/amazon-fraud-detector-supports-pci-dss-compliance-to-help-run-payment-fraud-workloads-easily/" TargetMode="External"/><Relationship Id="rId1" Type="http://schemas.openxmlformats.org/officeDocument/2006/relationships/slideLayout" Target="../slideLayouts/slideLayout9.xml"/></Relationships>
</file>

<file path=ppt/slides/_rels/slide408.xml.rels><?xml version="1.0" encoding="UTF-8" standalone="yes"?>
<Relationships xmlns="http://schemas.openxmlformats.org/package/2006/relationships"><Relationship Id="rId2" Type="http://schemas.openxmlformats.org/officeDocument/2006/relationships/hyperlink" Target="https://aws.amazon.com/about-aws/whats-new/2021/07/amazon-rds-for-mysql-supports-new-minor-versions-5-7-34-and-8-0-25/" TargetMode="External"/><Relationship Id="rId1" Type="http://schemas.openxmlformats.org/officeDocument/2006/relationships/slideLayout" Target="../slideLayouts/slideLayout9.xml"/></Relationships>
</file>

<file path=ppt/slides/_rels/slide409.xml.rels><?xml version="1.0" encoding="UTF-8" standalone="yes"?>
<Relationships xmlns="http://schemas.openxmlformats.org/package/2006/relationships"><Relationship Id="rId2" Type="http://schemas.openxmlformats.org/officeDocument/2006/relationships/hyperlink" Target="https://aws.amazon.com/about-aws/whats-new/2021/07/amazon-rds-for-postgresql-supports-oracle-fdw-extension-for-accessing-data-in-oracle-databases/" TargetMode="External"/><Relationship Id="rId1" Type="http://schemas.openxmlformats.org/officeDocument/2006/relationships/slideLayout" Target="../slideLayouts/slideLayout9.xml"/></Relationships>
</file>

<file path=ppt/slides/_rels/slide410.xml.rels><?xml version="1.0" encoding="UTF-8" standalone="yes"?>
<Relationships xmlns="http://schemas.openxmlformats.org/package/2006/relationships"><Relationship Id="rId2" Type="http://schemas.openxmlformats.org/officeDocument/2006/relationships/hyperlink" Target="https://aws.amazon.com/about-aws/whats-new/2021/07/new-digital-course-amazon-s3-business-continuity-and-disaster-recovery/" TargetMode="External"/><Relationship Id="rId1" Type="http://schemas.openxmlformats.org/officeDocument/2006/relationships/slideLayout" Target="../slideLayouts/slideLayout9.xml"/></Relationships>
</file>

<file path=ppt/slides/_rels/slide411.xml.rels><?xml version="1.0" encoding="UTF-8" standalone="yes"?>
<Relationships xmlns="http://schemas.openxmlformats.org/package/2006/relationships"><Relationship Id="rId2" Type="http://schemas.openxmlformats.org/officeDocument/2006/relationships/hyperlink" Target="https://aws.amazon.com/about-aws/whats-new/2021/07/aws-amplify-mix-match-authorization-modes-datastore/" TargetMode="External"/><Relationship Id="rId1" Type="http://schemas.openxmlformats.org/officeDocument/2006/relationships/slideLayout" Target="../slideLayouts/slideLayout9.xml"/></Relationships>
</file>

<file path=ppt/slides/_rels/slide412.xml.rels><?xml version="1.0" encoding="UTF-8" standalone="yes"?>
<Relationships xmlns="http://schemas.openxmlformats.org/package/2006/relationships"><Relationship Id="rId2" Type="http://schemas.openxmlformats.org/officeDocument/2006/relationships/hyperlink" Target="https://aws.amazon.com/about-aws/whats-new/2021/07/aws-iot-core-for-lorawan-is-now-available-in-sydney-tokyo-and-oregon-aws-regions/" TargetMode="External"/><Relationship Id="rId1" Type="http://schemas.openxmlformats.org/officeDocument/2006/relationships/slideLayout" Target="../slideLayouts/slideLayout9.xml"/></Relationships>
</file>

<file path=ppt/slides/_rels/slide413.xml.rels><?xml version="1.0" encoding="UTF-8" standalone="yes"?>
<Relationships xmlns="http://schemas.openxmlformats.org/package/2006/relationships"><Relationship Id="rId2" Type="http://schemas.openxmlformats.org/officeDocument/2006/relationships/hyperlink" Target="https://aws.amazon.com/about-aws/whats-new/2021/07/amazon-textract-announces-improvements-detection-handwritten-text-digits-dates-phone-numbers/" TargetMode="External"/><Relationship Id="rId1" Type="http://schemas.openxmlformats.org/officeDocument/2006/relationships/slideLayout" Target="../slideLayouts/slideLayout9.xml"/></Relationships>
</file>

<file path=ppt/slides/_rels/slide414.xml.rels><?xml version="1.0" encoding="UTF-8" standalone="yes"?>
<Relationships xmlns="http://schemas.openxmlformats.org/package/2006/relationships"><Relationship Id="rId2" Type="http://schemas.openxmlformats.org/officeDocument/2006/relationships/hyperlink" Target="https://aws.amazon.com/about-aws/whats-new/2021/07/aws-storage-gateway-adds-supports-aws-privatelink-amazon-s3-amazon-s3-access-points/" TargetMode="External"/><Relationship Id="rId1" Type="http://schemas.openxmlformats.org/officeDocument/2006/relationships/slideLayout" Target="../slideLayouts/slideLayout9.xml"/></Relationships>
</file>

<file path=ppt/slides/_rels/slide415.xml.rels><?xml version="1.0" encoding="UTF-8" standalone="yes"?>
<Relationships xmlns="http://schemas.openxmlformats.org/package/2006/relationships"><Relationship Id="rId2" Type="http://schemas.openxmlformats.org/officeDocument/2006/relationships/hyperlink" Target="https://aws.amazon.com/about-aws/whats-new/2021/07/amazon-cloudfront-announces-new-apis-to-locate-and-move-alternate-domain-names-cnames/" TargetMode="External"/><Relationship Id="rId1" Type="http://schemas.openxmlformats.org/officeDocument/2006/relationships/slideLayout" Target="../slideLayouts/slideLayout9.xml"/></Relationships>
</file>

<file path=ppt/slides/_rels/slide416.xml.rels><?xml version="1.0" encoding="UTF-8" standalone="yes"?>
<Relationships xmlns="http://schemas.openxmlformats.org/package/2006/relationships"><Relationship Id="rId2" Type="http://schemas.openxmlformats.org/officeDocument/2006/relationships/hyperlink" Target="https://aws.amazon.com/about-aws/whats-new/2021/07/aws-systems-manager-application-manager-now-supports-full-lifecycle-management-of-aws-cloudformation-templates-and-stacks/" TargetMode="External"/><Relationship Id="rId1" Type="http://schemas.openxmlformats.org/officeDocument/2006/relationships/slideLayout" Target="../slideLayouts/slideLayout9.xml"/></Relationships>
</file>

<file path=ppt/slides/_rels/slide417.xml.rels><?xml version="1.0" encoding="UTF-8" standalone="yes"?>
<Relationships xmlns="http://schemas.openxmlformats.org/package/2006/relationships"><Relationship Id="rId2" Type="http://schemas.openxmlformats.org/officeDocument/2006/relationships/hyperlink" Target="https://aws.amazon.com/about-aws/whats-new/2021/07/announcing-the-general-availability-of-aws-local-zones-in-dallas-and-philadelphia/" TargetMode="External"/><Relationship Id="rId1" Type="http://schemas.openxmlformats.org/officeDocument/2006/relationships/slideLayout" Target="../slideLayouts/slideLayout9.xml"/></Relationships>
</file>

<file path=ppt/slides/_rels/slide418.xml.rels><?xml version="1.0" encoding="UTF-8" standalone="yes"?>
<Relationships xmlns="http://schemas.openxmlformats.org/package/2006/relationships"><Relationship Id="rId2" Type="http://schemas.openxmlformats.org/officeDocument/2006/relationships/hyperlink" Target="https://aws.amazon.com/about-aws/whats-new/2021/07/aws-application-migration-service-is-now-available-in-the-us-west-northern-california-asia-pacific-osaka-canada-central-and-south-america-sao-paulo-regions/" TargetMode="External"/><Relationship Id="rId1" Type="http://schemas.openxmlformats.org/officeDocument/2006/relationships/slideLayout" Target="../slideLayouts/slideLayout9.xml"/></Relationships>
</file>

<file path=ppt/slides/_rels/slide419.xml.rels><?xml version="1.0" encoding="UTF-8" standalone="yes"?>
<Relationships xmlns="http://schemas.openxmlformats.org/package/2006/relationships"><Relationship Id="rId2" Type="http://schemas.openxmlformats.org/officeDocument/2006/relationships/hyperlink" Target="https://aws.amazon.com/about-aws/whats-new/2021/07/the-amazon-chime-sdk-adds-media-capture-pipelines-to-enable-capture-of-meeting-video-audio-and-content-streams/" TargetMode="External"/><Relationship Id="rId1" Type="http://schemas.openxmlformats.org/officeDocument/2006/relationships/slideLayout" Target="../slideLayouts/slideLayout9.xml"/></Relationships>
</file>

<file path=ppt/slides/_rels/slide420.xml.rels><?xml version="1.0" encoding="UTF-8" standalone="yes"?>
<Relationships xmlns="http://schemas.openxmlformats.org/package/2006/relationships"><Relationship Id="rId2" Type="http://schemas.openxmlformats.org/officeDocument/2006/relationships/hyperlink" Target="https://aws.amazon.com/about-aws/whats-new/2021/07/announcing-workflow-studio-a-new-low-code-visual-workflow-designer-for-aws-step-functions/" TargetMode="External"/><Relationship Id="rId1" Type="http://schemas.openxmlformats.org/officeDocument/2006/relationships/slideLayout" Target="../slideLayouts/slideLayout9.xml"/></Relationships>
</file>

<file path=ppt/slides/_rels/slide421.xml.rels><?xml version="1.0" encoding="UTF-8" standalone="yes"?>
<Relationships xmlns="http://schemas.openxmlformats.org/package/2006/relationships"><Relationship Id="rId2" Type="http://schemas.openxmlformats.org/officeDocument/2006/relationships/hyperlink" Target="https://aws.amazon.com/about-aws/whats-new/2021/07/aws-appconfig-now-enables-customers-to-compare-two-application-configuration-versions/" TargetMode="External"/><Relationship Id="rId1" Type="http://schemas.openxmlformats.org/officeDocument/2006/relationships/slideLayout" Target="../slideLayouts/slideLayout9.xml"/></Relationships>
</file>

<file path=ppt/slides/_rels/slide422.xml.rels><?xml version="1.0" encoding="UTF-8" standalone="yes"?>
<Relationships xmlns="http://schemas.openxmlformats.org/package/2006/relationships"><Relationship Id="rId2" Type="http://schemas.openxmlformats.org/officeDocument/2006/relationships/hyperlink" Target="https://aws.amazon.com/about-aws/whats-new/2021/07/aws-graviton2-m6g-c6g-r6g-t4g-instances-available-eu-paris-milan-regions-m6g-instance-available-middle-east-bahrain-regions/" TargetMode="External"/><Relationship Id="rId1" Type="http://schemas.openxmlformats.org/officeDocument/2006/relationships/slideLayout" Target="../slideLayouts/slideLayout9.xml"/></Relationships>
</file>

<file path=ppt/slides/_rels/slide423.xml.rels><?xml version="1.0" encoding="UTF-8" standalone="yes"?>
<Relationships xmlns="http://schemas.openxmlformats.org/package/2006/relationships"><Relationship Id="rId2" Type="http://schemas.openxmlformats.org/officeDocument/2006/relationships/hyperlink" Target="https://aws.amazon.com/about-aws/whats-new/2021/07/amazon-kendra-releases-web-crawler-to-enable-web-site-search/" TargetMode="External"/><Relationship Id="rId1" Type="http://schemas.openxmlformats.org/officeDocument/2006/relationships/slideLayout" Target="../slideLayouts/slideLayout9.xml"/></Relationships>
</file>

<file path=ppt/slides/_rels/slide424.xml.rels><?xml version="1.0" encoding="UTF-8" standalone="yes"?>
<Relationships xmlns="http://schemas.openxmlformats.org/package/2006/relationships"><Relationship Id="rId2" Type="http://schemas.openxmlformats.org/officeDocument/2006/relationships/hyperlink" Target="https://aws.amazon.com/about-aws/whats-new/2021/07/amazon-rds-oracle-supports-oracle-management-agent-version-13-5-for-oracle-enterprise-manager-cloud-control-13cr5/" TargetMode="External"/><Relationship Id="rId1" Type="http://schemas.openxmlformats.org/officeDocument/2006/relationships/slideLayout" Target="../slideLayouts/slideLayout9.xml"/></Relationships>
</file>

<file path=ppt/slides/_rels/slide425.xml.rels><?xml version="1.0" encoding="UTF-8" standalone="yes"?>
<Relationships xmlns="http://schemas.openxmlformats.org/package/2006/relationships"><Relationship Id="rId2" Type="http://schemas.openxmlformats.org/officeDocument/2006/relationships/hyperlink" Target="https://aws.amazon.com/about-aws/whats-new/2021/07/amplify-admin-ui-now-supports-importing-existing-amazon-cognito-user-pools-and-identity-pools/" TargetMode="External"/><Relationship Id="rId1" Type="http://schemas.openxmlformats.org/officeDocument/2006/relationships/slideLayout" Target="../slideLayouts/slideLayout9.xml"/></Relationships>
</file>

<file path=ppt/slides/_rels/slide426.xml.rels><?xml version="1.0" encoding="UTF-8" standalone="yes"?>
<Relationships xmlns="http://schemas.openxmlformats.org/package/2006/relationships"><Relationship Id="rId2" Type="http://schemas.openxmlformats.org/officeDocument/2006/relationships/hyperlink" Target="https://aws.amazon.com/about-aws/whats-new/2021/07/cloudwatch-container-insights-for-amazon-ecs-available-in-aws-middle-east-bahrain-region/" TargetMode="External"/><Relationship Id="rId1" Type="http://schemas.openxmlformats.org/officeDocument/2006/relationships/slideLayout" Target="../slideLayouts/slideLayout9.xml"/></Relationships>
</file>

<file path=ppt/slides/_rels/slide427.xml.rels><?xml version="1.0" encoding="UTF-8" standalone="yes"?>
<Relationships xmlns="http://schemas.openxmlformats.org/package/2006/relationships"><Relationship Id="rId2" Type="http://schemas.openxmlformats.org/officeDocument/2006/relationships/hyperlink" Target="https://aws.amazon.com/about-aws/whats-new/2021/07/aws-elemental-mediapackage-extends-its-metadata-passthrough-capabilities/" TargetMode="External"/><Relationship Id="rId1" Type="http://schemas.openxmlformats.org/officeDocument/2006/relationships/slideLayout" Target="../slideLayouts/slideLayout9.xml"/></Relationships>
</file>

<file path=ppt/slides/_rels/slide428.xml.rels><?xml version="1.0" encoding="UTF-8" standalone="yes"?>
<Relationships xmlns="http://schemas.openxmlformats.org/package/2006/relationships"><Relationship Id="rId2" Type="http://schemas.openxmlformats.org/officeDocument/2006/relationships/hyperlink" Target="https://aws.amazon.com/about-aws/whats-new/2021/07/aws-glue-studio-now-provides-data-previews-during-visual-job-authoring/" TargetMode="External"/><Relationship Id="rId1" Type="http://schemas.openxmlformats.org/officeDocument/2006/relationships/slideLayout" Target="../slideLayouts/slideLayout9.xml"/></Relationships>
</file>

<file path=ppt/slides/_rels/slide429.xml.rels><?xml version="1.0" encoding="UTF-8" standalone="yes"?>
<Relationships xmlns="http://schemas.openxmlformats.org/package/2006/relationships"><Relationship Id="rId2" Type="http://schemas.openxmlformats.org/officeDocument/2006/relationships/hyperlink" Target="https://aws.amazon.com/about-aws/whats-new/2021/07/amazon-redshift-launches-ra3-in-hong-kong-and-china-regions-beijing-ningxia/" TargetMode="External"/><Relationship Id="rId1" Type="http://schemas.openxmlformats.org/officeDocument/2006/relationships/slideLayout" Target="../slideLayouts/slideLayout9.xml"/></Relationships>
</file>

<file path=ppt/slides/_rels/slide430.xml.rels><?xml version="1.0" encoding="UTF-8" standalone="yes"?>
<Relationships xmlns="http://schemas.openxmlformats.org/package/2006/relationships"><Relationship Id="rId2" Type="http://schemas.openxmlformats.org/officeDocument/2006/relationships/hyperlink" Target="https://aws.amazon.com/about-aws/whats-new/2021/07/aws-amplify-cli-adds-support-for-storing-environment-variables-and-secrets-accessed-by-aws-lambda-functions/" TargetMode="External"/><Relationship Id="rId1" Type="http://schemas.openxmlformats.org/officeDocument/2006/relationships/slideLayout" Target="../slideLayouts/slideLayout9.xml"/></Relationships>
</file>

<file path=ppt/slides/_rels/slide431.xml.rels><?xml version="1.0" encoding="UTF-8" standalone="yes"?>
<Relationships xmlns="http://schemas.openxmlformats.org/package/2006/relationships"><Relationship Id="rId2" Type="http://schemas.openxmlformats.org/officeDocument/2006/relationships/hyperlink" Target="https://aws.amazon.com/about-aws/whats-new/2021/07/aws-parallelcluster-now-supports-ubuntu/" TargetMode="External"/><Relationship Id="rId1" Type="http://schemas.openxmlformats.org/officeDocument/2006/relationships/slideLayout" Target="../slideLayouts/slideLayout9.xml"/></Relationships>
</file>

<file path=ppt/slides/_rels/slide432.xml.rels><?xml version="1.0" encoding="UTF-8" standalone="yes"?>
<Relationships xmlns="http://schemas.openxmlformats.org/package/2006/relationships"><Relationship Id="rId2" Type="http://schemas.openxmlformats.org/officeDocument/2006/relationships/hyperlink" Target="https://aws.amazon.com/about-aws/whats-new/2021/07/announcing-amazon-kendra-smaller-units-and-price-drop/" TargetMode="External"/><Relationship Id="rId1" Type="http://schemas.openxmlformats.org/officeDocument/2006/relationships/slideLayout" Target="../slideLayouts/slideLayout9.xml"/></Relationships>
</file>

<file path=ppt/slides/_rels/slide433.xml.rels><?xml version="1.0" encoding="UTF-8" standalone="yes"?>
<Relationships xmlns="http://schemas.openxmlformats.org/package/2006/relationships"><Relationship Id="rId2" Type="http://schemas.openxmlformats.org/officeDocument/2006/relationships/hyperlink" Target="https://aws.amazon.com/about-aws/whats-new/2021/07/aws-amplify-launches-new-full-stack-ci-cd-capabilities/" TargetMode="External"/><Relationship Id="rId1" Type="http://schemas.openxmlformats.org/officeDocument/2006/relationships/slideLayout" Target="../slideLayouts/slideLayout9.xml"/></Relationships>
</file>

<file path=ppt/slides/_rels/slide434.xml.rels><?xml version="1.0" encoding="UTF-8" standalone="yes"?>
<Relationships xmlns="http://schemas.openxmlformats.org/package/2006/relationships"><Relationship Id="rId2" Type="http://schemas.openxmlformats.org/officeDocument/2006/relationships/hyperlink" Target="https://aws.amazon.com/about-aws/whats-new/2021/06/amazon-appstream-is-now-available-in-the-aws-europe-london-region/" TargetMode="External"/><Relationship Id="rId1" Type="http://schemas.openxmlformats.org/officeDocument/2006/relationships/slideLayout" Target="../slideLayouts/slideLayout9.xml"/></Relationships>
</file>

<file path=ppt/slides/_rels/slide435.xml.rels><?xml version="1.0" encoding="UTF-8" standalone="yes"?>
<Relationships xmlns="http://schemas.openxmlformats.org/package/2006/relationships"><Relationship Id="rId2" Type="http://schemas.openxmlformats.org/officeDocument/2006/relationships/hyperlink" Target="https://aws.amazon.com/about-aws/whats-new/2021/06/aws-iq-now-supports-attachments/" TargetMode="External"/><Relationship Id="rId1" Type="http://schemas.openxmlformats.org/officeDocument/2006/relationships/slideLayout" Target="../slideLayouts/slideLayout9.xml"/></Relationships>
</file>

<file path=ppt/slides/_rels/slide436.xml.rels><?xml version="1.0" encoding="UTF-8" standalone="yes"?>
<Relationships xmlns="http://schemas.openxmlformats.org/package/2006/relationships"><Relationship Id="rId2" Type="http://schemas.openxmlformats.org/officeDocument/2006/relationships/hyperlink" Target="https://aws.amazon.com/about-aws/whats-new/2021/06/new-aws-solutions-implementation-tag-tamer/" TargetMode="External"/><Relationship Id="rId1" Type="http://schemas.openxmlformats.org/officeDocument/2006/relationships/slideLayout" Target="../slideLayouts/slideLayout9.xml"/></Relationships>
</file>

<file path=ppt/slides/_rels/slide437.xml.rels><?xml version="1.0" encoding="UTF-8" standalone="yes"?>
<Relationships xmlns="http://schemas.openxmlformats.org/package/2006/relationships"><Relationship Id="rId2" Type="http://schemas.openxmlformats.org/officeDocument/2006/relationships/hyperlink" Target="https://aws.amazon.com/about-aws/whats-new/2021/06/amazon-ebs-now-supports-gp3-st1-and-sc1-volume-types-in-the-los-angeles-aws-local-zones/" TargetMode="External"/><Relationship Id="rId1" Type="http://schemas.openxmlformats.org/officeDocument/2006/relationships/slideLayout" Target="../slideLayouts/slideLayout9.xml"/></Relationships>
</file>

<file path=ppt/slides/_rels/slide438.xml.rels><?xml version="1.0" encoding="UTF-8" standalone="yes"?>
<Relationships xmlns="http://schemas.openxmlformats.org/package/2006/relationships"><Relationship Id="rId2" Type="http://schemas.openxmlformats.org/officeDocument/2006/relationships/hyperlink" Target="https://aws.amazon.com/about-aws/whats-new/2021/06/aws-storage-gateway-is-now-available-in-the-aws-asia-pacific-osaka-region/" TargetMode="External"/><Relationship Id="rId1" Type="http://schemas.openxmlformats.org/officeDocument/2006/relationships/slideLayout" Target="../slideLayouts/slideLayout9.xml"/></Relationships>
</file>

<file path=ppt/slides/_rels/slide439.xml.rels><?xml version="1.0" encoding="UTF-8" standalone="yes"?>
<Relationships xmlns="http://schemas.openxmlformats.org/package/2006/relationships"><Relationship Id="rId2" Type="http://schemas.openxmlformats.org/officeDocument/2006/relationships/hyperlink" Target="https://aws.amazon.com/about-aws/whats-new/2021/06/aws-datasync-can-now-copy-system-access-control-lists-sacls-to-amazon-fsx-for-windows-file-server/" TargetMode="External"/><Relationship Id="rId1" Type="http://schemas.openxmlformats.org/officeDocument/2006/relationships/slideLayout" Target="../slideLayouts/slideLayout9.xml"/></Relationships>
</file>

<file path=ppt/slides/_rels/slide440.xml.rels><?xml version="1.0" encoding="UTF-8" standalone="yes"?>
<Relationships xmlns="http://schemas.openxmlformats.org/package/2006/relationships"><Relationship Id="rId2" Type="http://schemas.openxmlformats.org/officeDocument/2006/relationships/hyperlink" Target="https://aws.amazon.com/about-aws/whats-new/2021/06/aws-glue-databrew-now-supports-writing-datasets-from-jobs-directly-into-the-aws-glue-data-catalog/" TargetMode="External"/><Relationship Id="rId1" Type="http://schemas.openxmlformats.org/officeDocument/2006/relationships/slideLayout" Target="../slideLayouts/slideLayout9.xml"/></Relationships>
</file>

<file path=ppt/slides/_rels/slide441.xml.rels><?xml version="1.0" encoding="UTF-8" standalone="yes"?>
<Relationships xmlns="http://schemas.openxmlformats.org/package/2006/relationships"><Relationship Id="rId2" Type="http://schemas.openxmlformats.org/officeDocument/2006/relationships/hyperlink" Target="https://aws.amazon.com/about-aws/whats-new/2021/06/aws-glue-databrew-adds-support-for-backslash-delimiter-in-csv-datasets/" TargetMode="External"/><Relationship Id="rId1" Type="http://schemas.openxmlformats.org/officeDocument/2006/relationships/slideLayout" Target="../slideLayouts/slideLayout9.xml"/></Relationships>
</file>

<file path=ppt/slides/_rels/slide442.xml.rels><?xml version="1.0" encoding="UTF-8" standalone="yes"?>
<Relationships xmlns="http://schemas.openxmlformats.org/package/2006/relationships"><Relationship Id="rId2" Type="http://schemas.openxmlformats.org/officeDocument/2006/relationships/hyperlink" Target="https://aws.amazon.com/about-aws/whats-new/2021/06/amazon-gamelift-announces-batchdistance-rule-update-to-flexmatch/" TargetMode="External"/><Relationship Id="rId1" Type="http://schemas.openxmlformats.org/officeDocument/2006/relationships/slideLayout" Target="../slideLayouts/slideLayout9.xml"/></Relationships>
</file>

<file path=ppt/slides/_rels/slide443.xml.rels><?xml version="1.0" encoding="UTF-8" standalone="yes"?>
<Relationships xmlns="http://schemas.openxmlformats.org/package/2006/relationships"><Relationship Id="rId2" Type="http://schemas.openxmlformats.org/officeDocument/2006/relationships/hyperlink" Target="https://aws.amazon.com/about-aws/whats-new/2021/06/self-service-features-trusted-device-support-available-on-amazon-workspaces-android-client-app/" TargetMode="External"/><Relationship Id="rId1" Type="http://schemas.openxmlformats.org/officeDocument/2006/relationships/slideLayout" Target="../slideLayouts/slideLayout9.xml"/></Relationships>
</file>

<file path=ppt/slides/_rels/slide444.xml.rels><?xml version="1.0" encoding="UTF-8" standalone="yes"?>
<Relationships xmlns="http://schemas.openxmlformats.org/package/2006/relationships"><Relationship Id="rId2" Type="http://schemas.openxmlformats.org/officeDocument/2006/relationships/hyperlink" Target="https://aws.amazon.com/about-aws/whats-new/2021/05/amazon-rds-for-mariadb-supports-new-minor-versions/" TargetMode="External"/><Relationship Id="rId1" Type="http://schemas.openxmlformats.org/officeDocument/2006/relationships/slideLayout" Target="../slideLayouts/slideLayout9.xml"/></Relationships>
</file>

<file path=ppt/slides/_rels/slide445.xml.rels><?xml version="1.0" encoding="UTF-8" standalone="yes"?>
<Relationships xmlns="http://schemas.openxmlformats.org/package/2006/relationships"><Relationship Id="rId2" Type="http://schemas.openxmlformats.org/officeDocument/2006/relationships/hyperlink" Target="https://aws.amazon.com/about-aws/whats-new/2021/06/aws-lambda-now-supports-sasl-plain-authentication-for-functions-triggered-from-self-managed-apache-kafka/" TargetMode="External"/><Relationship Id="rId1" Type="http://schemas.openxmlformats.org/officeDocument/2006/relationships/slideLayout" Target="../slideLayouts/slideLayout9.xml"/></Relationships>
</file>

<file path=ppt/slides/_rels/slide446.xml.rels><?xml version="1.0" encoding="UTF-8" standalone="yes"?>
<Relationships xmlns="http://schemas.openxmlformats.org/package/2006/relationships"><Relationship Id="rId2" Type="http://schemas.openxmlformats.org/officeDocument/2006/relationships/hyperlink" Target="https://aws.amazon.com/about-aws/whats-new/2021/06/support-for-additional-mfx-mezzanine-output-formats-available-with-aws-elemental-mediaconvert/" TargetMode="External"/><Relationship Id="rId1" Type="http://schemas.openxmlformats.org/officeDocument/2006/relationships/slideLayout" Target="../slideLayouts/slideLayout9.xml"/></Relationships>
</file>

<file path=ppt/slides/_rels/slide447.xml.rels><?xml version="1.0" encoding="UTF-8" standalone="yes"?>
<Relationships xmlns="http://schemas.openxmlformats.org/package/2006/relationships"><Relationship Id="rId2" Type="http://schemas.openxmlformats.org/officeDocument/2006/relationships/hyperlink" Target="https://aws.amazon.com/about-aws/whats-new/2021/06/aws-firewall-manager-is-now-available-in-asia-pacific-osaka-region/" TargetMode="External"/><Relationship Id="rId1" Type="http://schemas.openxmlformats.org/officeDocument/2006/relationships/slideLayout" Target="../slideLayouts/slideLayout9.xml"/></Relationships>
</file>

<file path=ppt/slides/_rels/slide448.xml.rels><?xml version="1.0" encoding="UTF-8" standalone="yes"?>
<Relationships xmlns="http://schemas.openxmlformats.org/package/2006/relationships"><Relationship Id="rId2" Type="http://schemas.openxmlformats.org/officeDocument/2006/relationships/hyperlink" Target="https://aws.amazon.com/about-aws/whats-new/2021/06/support-for-hdr10plus-for-hevc-outputs-available-with-aws-elemental-mediaconvert/" TargetMode="External"/><Relationship Id="rId1" Type="http://schemas.openxmlformats.org/officeDocument/2006/relationships/slideLayout" Target="../slideLayouts/slideLayout9.xml"/></Relationships>
</file>

<file path=ppt/slides/_rels/slide449.xml.rels><?xml version="1.0" encoding="UTF-8" standalone="yes"?>
<Relationships xmlns="http://schemas.openxmlformats.org/package/2006/relationships"><Relationship Id="rId2" Type="http://schemas.openxmlformats.org/officeDocument/2006/relationships/hyperlink" Target="https://aws.amazon.com/about-aws/whats-new/2021/06/aws-cloudformation-modules-are-now-available-in-aws-govcloud-us/" TargetMode="External"/><Relationship Id="rId1" Type="http://schemas.openxmlformats.org/officeDocument/2006/relationships/slideLayout" Target="../slideLayouts/slideLayout9.xml"/></Relationships>
</file>

<file path=ppt/slides/_rels/slide450.xml.rels><?xml version="1.0" encoding="UTF-8" standalone="yes"?>
<Relationships xmlns="http://schemas.openxmlformats.org/package/2006/relationships"><Relationship Id="rId2" Type="http://schemas.openxmlformats.org/officeDocument/2006/relationships/hyperlink" Target="https://aws.amazon.com/about-aws/whats-new/2021/06/aws-systems-manager-supports-free-text-search-for-node-in-session-manager-console/"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normAutofit fontScale="77500" lnSpcReduction="20000"/>
          </a:bodyPr>
          <a:lstStyle/>
          <a:p>
            <a:r>
              <a:rPr lang="en-US" dirty="0"/>
              <a:t>Stan Guillory</a:t>
            </a:r>
          </a:p>
          <a:p>
            <a:r>
              <a:rPr lang="en-US" dirty="0"/>
              <a:t>Senior Solutions Architect</a:t>
            </a:r>
          </a:p>
          <a:p>
            <a:r>
              <a:rPr lang="en-US" dirty="0"/>
              <a:t>9/20/2021</a:t>
            </a:r>
          </a:p>
        </p:txBody>
      </p:sp>
      <p:sp>
        <p:nvSpPr>
          <p:cNvPr id="4" name="Text Placeholder 3"/>
          <p:cNvSpPr>
            <a:spLocks noGrp="1"/>
          </p:cNvSpPr>
          <p:nvPr>
            <p:ph type="body" sz="quarter" idx="12"/>
          </p:nvPr>
        </p:nvSpPr>
        <p:spPr/>
        <p:txBody>
          <a:bodyPr/>
          <a:lstStyle/>
          <a:p>
            <a:r>
              <a:rPr lang="en-US" dirty="0"/>
              <a:t>What’s New at AWS</a:t>
            </a:r>
          </a:p>
        </p:txBody>
      </p:sp>
      <p:sp>
        <p:nvSpPr>
          <p:cNvPr id="8" name="Text Placeholder 7">
            <a:extLst>
              <a:ext uri="{FF2B5EF4-FFF2-40B4-BE49-F238E27FC236}">
                <a16:creationId xmlns:a16="http://schemas.microsoft.com/office/drawing/2014/main" id="{74CEB05D-0914-CF46-9930-3938AF512487}"/>
              </a:ext>
            </a:extLst>
          </p:cNvPr>
          <p:cNvSpPr>
            <a:spLocks noGrp="1"/>
          </p:cNvSpPr>
          <p:nvPr>
            <p:ph type="body" sz="quarter" idx="13"/>
          </p:nvPr>
        </p:nvSpPr>
        <p:spPr/>
        <p:txBody>
          <a:bodyPr/>
          <a:lstStyle/>
          <a:p>
            <a:endParaRPr lang="en-US" dirty="0"/>
          </a:p>
        </p:txBody>
      </p:sp>
    </p:spTree>
    <p:extLst>
      <p:ext uri="{BB962C8B-B14F-4D97-AF65-F5344CB8AC3E}">
        <p14:creationId xmlns:p14="http://schemas.microsoft.com/office/powerpoint/2010/main" val="330344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E702E280-D2CF-5D46-A064-FE55F672979B}"/>
              </a:ext>
            </a:extLst>
          </p:cNvPr>
          <p:cNvSpPr txBox="1"/>
          <p:nvPr/>
        </p:nvSpPr>
        <p:spPr>
          <a:xfrm>
            <a:off x="102938" y="7224100"/>
            <a:ext cx="5336556" cy="1126462"/>
          </a:xfrm>
          <a:prstGeom prst="rect">
            <a:avLst/>
          </a:prstGeom>
          <a:noFill/>
        </p:spPr>
        <p:txBody>
          <a:bodyPr wrap="square" rtlCol="0" anchor="ctr">
            <a:spAutoFit/>
          </a:bodyPr>
          <a:lstStyle/>
          <a:p>
            <a:pPr defTabSz="1097280"/>
            <a:r>
              <a:rPr lang="en-US" sz="6720" b="1" dirty="0">
                <a:solidFill>
                  <a:prstClr val="white">
                    <a:lumMod val="85000"/>
                  </a:prstClr>
                </a:solidFill>
                <a:latin typeface="Calibri" panose="020F0502020204030204" pitchFamily="34" charset="0"/>
                <a:ea typeface="Arial Black" charset="0"/>
                <a:cs typeface="Calibri" panose="020F0502020204030204" pitchFamily="34" charset="0"/>
                <a:sym typeface="Helvetica"/>
              </a:rPr>
              <a:t>Account Team</a:t>
            </a:r>
          </a:p>
        </p:txBody>
      </p:sp>
      <p:pic>
        <p:nvPicPr>
          <p:cNvPr id="16" name="Picture 15">
            <a:extLst>
              <a:ext uri="{FF2B5EF4-FFF2-40B4-BE49-F238E27FC236}">
                <a16:creationId xmlns:a16="http://schemas.microsoft.com/office/drawing/2014/main" id="{6361B181-52BE-AE48-8C0B-B0E03C5137FD}"/>
              </a:ext>
            </a:extLst>
          </p:cNvPr>
          <p:cNvPicPr>
            <a:picLocks noChangeAspect="1"/>
          </p:cNvPicPr>
          <p:nvPr/>
        </p:nvPicPr>
        <p:blipFill>
          <a:blip r:embed="rId3"/>
          <a:stretch>
            <a:fillRect/>
          </a:stretch>
        </p:blipFill>
        <p:spPr>
          <a:xfrm>
            <a:off x="5447035" y="7477492"/>
            <a:ext cx="1721321" cy="619675"/>
          </a:xfrm>
          <a:prstGeom prst="rect">
            <a:avLst/>
          </a:prstGeom>
        </p:spPr>
      </p:pic>
      <p:grpSp>
        <p:nvGrpSpPr>
          <p:cNvPr id="43" name="Group 42"/>
          <p:cNvGrpSpPr/>
          <p:nvPr/>
        </p:nvGrpSpPr>
        <p:grpSpPr>
          <a:xfrm>
            <a:off x="248088" y="959749"/>
            <a:ext cx="1798903" cy="2894162"/>
            <a:chOff x="206740" y="350211"/>
            <a:chExt cx="1499086" cy="2411802"/>
          </a:xfrm>
        </p:grpSpPr>
        <p:sp>
          <p:nvSpPr>
            <p:cNvPr id="20" name="TextBox 19">
              <a:extLst>
                <a:ext uri="{FF2B5EF4-FFF2-40B4-BE49-F238E27FC236}">
                  <a16:creationId xmlns:a16="http://schemas.microsoft.com/office/drawing/2014/main" id="{5D7D0791-62D6-2946-A2C2-544B0067DC54}"/>
                </a:ext>
              </a:extLst>
            </p:cNvPr>
            <p:cNvSpPr txBox="1"/>
            <p:nvPr/>
          </p:nvSpPr>
          <p:spPr>
            <a:xfrm>
              <a:off x="206741" y="660650"/>
              <a:ext cx="1303273" cy="2154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Strategy and direction.</a:t>
              </a:r>
            </a:p>
          </p:txBody>
        </p:sp>
        <p:sp>
          <p:nvSpPr>
            <p:cNvPr id="19" name="Rounded Rectangle 4">
              <a:extLst>
                <a:ext uri="{FF2B5EF4-FFF2-40B4-BE49-F238E27FC236}">
                  <a16:creationId xmlns:a16="http://schemas.microsoft.com/office/drawing/2014/main" id="{2E9372C6-DE8D-E84F-8D34-21F18EC8EBB4}"/>
                </a:ext>
              </a:extLst>
            </p:cNvPr>
            <p:cNvSpPr/>
            <p:nvPr/>
          </p:nvSpPr>
          <p:spPr>
            <a:xfrm>
              <a:off x="206740" y="350211"/>
              <a:ext cx="1499086" cy="3285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Executive Sponsor</a:t>
              </a:r>
            </a:p>
          </p:txBody>
        </p:sp>
        <p:pic>
          <p:nvPicPr>
            <p:cNvPr id="34" name="Picture 33">
              <a:extLst>
                <a:ext uri="{FF2B5EF4-FFF2-40B4-BE49-F238E27FC236}">
                  <a16:creationId xmlns:a16="http://schemas.microsoft.com/office/drawing/2014/main" id="{7AD3C699-7647-E146-99BD-2AA995718FA8}"/>
                </a:ext>
              </a:extLst>
            </p:cNvPr>
            <p:cNvPicPr>
              <a:picLocks noChangeAspect="1"/>
            </p:cNvPicPr>
            <p:nvPr/>
          </p:nvPicPr>
          <p:blipFill>
            <a:blip r:embed="rId4"/>
            <a:stretch>
              <a:fillRect/>
            </a:stretch>
          </p:blipFill>
          <p:spPr>
            <a:xfrm>
              <a:off x="275322" y="1025182"/>
              <a:ext cx="582799" cy="1269508"/>
            </a:xfrm>
            <a:prstGeom prst="rect">
              <a:avLst/>
            </a:prstGeom>
          </p:spPr>
        </p:pic>
        <p:sp>
          <p:nvSpPr>
            <p:cNvPr id="35" name="TextBox 34">
              <a:extLst>
                <a:ext uri="{FF2B5EF4-FFF2-40B4-BE49-F238E27FC236}">
                  <a16:creationId xmlns:a16="http://schemas.microsoft.com/office/drawing/2014/main" id="{B7A65602-49C1-7E4B-9A34-88652642700C}"/>
                </a:ext>
              </a:extLst>
            </p:cNvPr>
            <p:cNvSpPr txBox="1"/>
            <p:nvPr/>
          </p:nvSpPr>
          <p:spPr>
            <a:xfrm>
              <a:off x="224299" y="2315737"/>
              <a:ext cx="98058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awssteve@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Chief Information  Security Officer</a:t>
              </a:r>
              <a:endParaRPr lang="en-US" sz="1440" dirty="0">
                <a:solidFill>
                  <a:prstClr val="black"/>
                </a:solidFill>
                <a:latin typeface="Calibri" panose="020F0502020204030204"/>
                <a:sym typeface="Helvetica"/>
              </a:endParaRPr>
            </a:p>
          </p:txBody>
        </p:sp>
      </p:grpSp>
      <p:sp>
        <p:nvSpPr>
          <p:cNvPr id="96" name="Shape 272">
            <a:extLst>
              <a:ext uri="{FF2B5EF4-FFF2-40B4-BE49-F238E27FC236}">
                <a16:creationId xmlns:a16="http://schemas.microsoft.com/office/drawing/2014/main" id="{74AD4591-BC09-D842-802F-A98F885EA534}"/>
              </a:ext>
            </a:extLst>
          </p:cNvPr>
          <p:cNvSpPr txBox="1">
            <a:spLocks/>
          </p:cNvSpPr>
          <p:nvPr/>
        </p:nvSpPr>
        <p:spPr>
          <a:xfrm>
            <a:off x="13156760" y="505066"/>
            <a:ext cx="208578" cy="320040"/>
          </a:xfrm>
          <a:prstGeom prst="rect">
            <a:avLst/>
          </a:prstGeom>
          <a:extLst>
            <a:ext uri="{C572A759-6A51-4108-AA02-DFA0A04FC94B}">
              <ma14:wrappingTextBoxFlag xmlns=""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5pPr>
            <a:lvl6pPr marL="0" marR="0" indent="22860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6pPr>
            <a:lvl7pPr marL="0" marR="0" indent="27432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7pPr>
            <a:lvl8pPr marL="0" marR="0" indent="32004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8pPr>
            <a:lvl9pPr marL="0" marR="0" indent="3657600" algn="ctr" defTabSz="914400" rtl="0" fontAlgn="auto" latinLnBrk="0" hangingPunct="0">
              <a:lnSpc>
                <a:spcPct val="100000"/>
              </a:lnSpc>
              <a:spcBef>
                <a:spcPts val="0"/>
              </a:spcBef>
              <a:spcAft>
                <a:spcPts val="0"/>
              </a:spcAft>
              <a:buClrTx/>
              <a:buSzTx/>
              <a:buFontTx/>
              <a:buNone/>
              <a:tabLst/>
              <a:defRPr kumimoji="0" sz="8800" b="0" i="0" u="none" strike="noStrike" cap="none" spc="0" normalizeH="0" baseline="0">
                <a:ln>
                  <a:noFill/>
                </a:ln>
                <a:solidFill>
                  <a:srgbClr val="33B1DD"/>
                </a:solidFill>
                <a:effectLst/>
                <a:uFillTx/>
                <a:latin typeface="+mn-lt"/>
                <a:ea typeface="+mn-ea"/>
                <a:cs typeface="+mn-cs"/>
                <a:sym typeface="Helvetica"/>
              </a:defRPr>
            </a:lvl9pPr>
          </a:lstStyle>
          <a:p>
            <a:pPr defTabSz="1097280"/>
            <a:fld id="{86CB4B4D-7CA3-9044-876B-883B54F8677D}" type="slidenum">
              <a:rPr lang="en-US" sz="1680" b="1">
                <a:solidFill>
                  <a:prstClr val="white"/>
                </a:solidFill>
                <a:latin typeface="Calibri" panose="020F0502020204030204"/>
              </a:rPr>
              <a:pPr defTabSz="1097280"/>
              <a:t>2</a:t>
            </a:fld>
            <a:endParaRPr lang="en-US" sz="1680" b="1" dirty="0">
              <a:solidFill>
                <a:prstClr val="white"/>
              </a:solidFill>
              <a:latin typeface="Calibri" panose="020F0502020204030204"/>
            </a:endParaRPr>
          </a:p>
        </p:txBody>
      </p:sp>
      <p:sp>
        <p:nvSpPr>
          <p:cNvPr id="100" name="Shape 272">
            <a:extLst>
              <a:ext uri="{FF2B5EF4-FFF2-40B4-BE49-F238E27FC236}">
                <a16:creationId xmlns:a16="http://schemas.microsoft.com/office/drawing/2014/main" id="{BC3F5968-B495-4B40-88E8-DB0E89B9D60F}"/>
              </a:ext>
            </a:extLst>
          </p:cNvPr>
          <p:cNvSpPr>
            <a:spLocks noGrp="1"/>
          </p:cNvSpPr>
          <p:nvPr>
            <p:ph type="sldNum" sz="quarter" idx="2"/>
          </p:nvPr>
        </p:nvSpPr>
        <p:spPr>
          <a:xfrm>
            <a:off x="13971283" y="354330"/>
            <a:ext cx="208578" cy="320040"/>
          </a:xfrm>
          <a:prstGeom prst="rect">
            <a:avLst/>
          </a:prstGeom>
          <a:extLst>
            <a:ext uri="{C572A759-6A51-4108-AA02-DFA0A04FC94B}">
              <ma14:wrappingTextBoxFlag xmlns:ma14="http://schemas.microsoft.com/office/mac/drawingml/2011/main" xmlns="" val="1"/>
            </a:ext>
          </a:extLst>
        </p:spPr>
        <p:txBody>
          <a:bodyPr/>
          <a:lstStyle/>
          <a:p>
            <a:pPr defTabSz="1097280"/>
            <a:fld id="{86CB4B4D-7CA3-9044-876B-883B54F8677D}" type="slidenum">
              <a:rPr>
                <a:solidFill>
                  <a:prstClr val="black">
                    <a:tint val="75000"/>
                  </a:prstClr>
                </a:solidFill>
                <a:latin typeface="Calibri" panose="020F0502020204030204"/>
                <a:sym typeface="Helvetica"/>
              </a:rPr>
              <a:pPr defTabSz="1097280"/>
              <a:t>2</a:t>
            </a:fld>
            <a:endParaRPr dirty="0">
              <a:solidFill>
                <a:prstClr val="black">
                  <a:tint val="75000"/>
                </a:prstClr>
              </a:solidFill>
              <a:latin typeface="Calibri" panose="020F0502020204030204"/>
              <a:sym typeface="Helvetica"/>
            </a:endParaRPr>
          </a:p>
        </p:txBody>
      </p:sp>
      <p:sp>
        <p:nvSpPr>
          <p:cNvPr id="3" name="Rectangle 2"/>
          <p:cNvSpPr/>
          <p:nvPr/>
        </p:nvSpPr>
        <p:spPr>
          <a:xfrm>
            <a:off x="8283730" y="7542770"/>
            <a:ext cx="2430415" cy="276999"/>
          </a:xfrm>
          <a:prstGeom prst="rect">
            <a:avLst/>
          </a:prstGeom>
          <a:ln>
            <a:solidFill>
              <a:schemeClr val="accent1"/>
            </a:solidFill>
          </a:ln>
        </p:spPr>
        <p:txBody>
          <a:bodyPr wrap="square">
            <a:spAutoFit/>
          </a:bodyPr>
          <a:lstStyle/>
          <a:p>
            <a:pPr defTabSz="1097280"/>
            <a:r>
              <a:rPr lang="en-US" sz="1200" dirty="0">
                <a:solidFill>
                  <a:prstClr val="black"/>
                </a:solidFill>
                <a:latin typeface="Calibri" panose="020F0502020204030204" pitchFamily="34" charset="0"/>
                <a:cs typeface="Calibri" panose="020F0502020204030204" pitchFamily="34" charset="0"/>
                <a:sym typeface="Helvetica"/>
              </a:rPr>
              <a:t>Email addresses @amazon.com</a:t>
            </a:r>
          </a:p>
        </p:txBody>
      </p:sp>
      <p:pic>
        <p:nvPicPr>
          <p:cNvPr id="91" name="Picture 90">
            <a:extLst>
              <a:ext uri="{FF2B5EF4-FFF2-40B4-BE49-F238E27FC236}">
                <a16:creationId xmlns:a16="http://schemas.microsoft.com/office/drawing/2014/main" id="{30229C60-74A5-F840-A0CF-9C34A276B8E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58825" y="42747"/>
            <a:ext cx="1794104" cy="941905"/>
          </a:xfrm>
          <a:prstGeom prst="rect">
            <a:avLst/>
          </a:prstGeom>
        </p:spPr>
      </p:pic>
      <p:grpSp>
        <p:nvGrpSpPr>
          <p:cNvPr id="52" name="Group 51"/>
          <p:cNvGrpSpPr/>
          <p:nvPr/>
        </p:nvGrpSpPr>
        <p:grpSpPr>
          <a:xfrm>
            <a:off x="6066576" y="4142121"/>
            <a:ext cx="6380940" cy="3031119"/>
            <a:chOff x="4464930" y="3451768"/>
            <a:chExt cx="5317450" cy="2525933"/>
          </a:xfrm>
        </p:grpSpPr>
        <p:pic>
          <p:nvPicPr>
            <p:cNvPr id="21" name="Picture 20"/>
            <p:cNvPicPr>
              <a:picLocks noChangeAspect="1"/>
            </p:cNvPicPr>
            <p:nvPr/>
          </p:nvPicPr>
          <p:blipFill>
            <a:blip r:embed="rId6"/>
            <a:stretch>
              <a:fillRect/>
            </a:stretch>
          </p:blipFill>
          <p:spPr>
            <a:xfrm>
              <a:off x="8535734" y="4157291"/>
              <a:ext cx="575226" cy="1238956"/>
            </a:xfrm>
            <a:prstGeom prst="rect">
              <a:avLst/>
            </a:prstGeom>
          </p:spPr>
        </p:pic>
        <p:grpSp>
          <p:nvGrpSpPr>
            <p:cNvPr id="24" name="Group 23"/>
            <p:cNvGrpSpPr/>
            <p:nvPr/>
          </p:nvGrpSpPr>
          <p:grpSpPr>
            <a:xfrm>
              <a:off x="4464930" y="3451768"/>
              <a:ext cx="5317450" cy="2525933"/>
              <a:chOff x="4464930" y="3451768"/>
              <a:chExt cx="5317450" cy="2525933"/>
            </a:xfrm>
          </p:grpSpPr>
          <p:sp>
            <p:nvSpPr>
              <p:cNvPr id="12" name="Rounded Rectangle 4">
                <a:extLst>
                  <a:ext uri="{FF2B5EF4-FFF2-40B4-BE49-F238E27FC236}">
                    <a16:creationId xmlns:a16="http://schemas.microsoft.com/office/drawing/2014/main" id="{CB062CEA-8278-D444-B15E-03541C4B458D}"/>
                  </a:ext>
                </a:extLst>
              </p:cNvPr>
              <p:cNvSpPr/>
              <p:nvPr/>
            </p:nvSpPr>
            <p:spPr>
              <a:xfrm>
                <a:off x="4464930" y="3451768"/>
                <a:ext cx="2147198" cy="25305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Technical Account Manager (TAM)</a:t>
                </a:r>
              </a:p>
            </p:txBody>
          </p:sp>
          <p:sp>
            <p:nvSpPr>
              <p:cNvPr id="13" name="TextBox 12">
                <a:extLst>
                  <a:ext uri="{FF2B5EF4-FFF2-40B4-BE49-F238E27FC236}">
                    <a16:creationId xmlns:a16="http://schemas.microsoft.com/office/drawing/2014/main" id="{DC3B9369-7720-2A4F-BC02-6A4AF17DADB5}"/>
                  </a:ext>
                </a:extLst>
              </p:cNvPr>
              <p:cNvSpPr txBox="1"/>
              <p:nvPr/>
            </p:nvSpPr>
            <p:spPr>
              <a:xfrm>
                <a:off x="4464930" y="3759254"/>
                <a:ext cx="5123451" cy="215443"/>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Technical support &amp; escalations, and customer advocate.</a:t>
                </a:r>
              </a:p>
            </p:txBody>
          </p:sp>
          <p:pic>
            <p:nvPicPr>
              <p:cNvPr id="63" name="Picture 62">
                <a:extLst>
                  <a:ext uri="{FF2B5EF4-FFF2-40B4-BE49-F238E27FC236}">
                    <a16:creationId xmlns:a16="http://schemas.microsoft.com/office/drawing/2014/main" id="{3BE87BD7-D646-974B-9A2D-E8769A786126}"/>
                  </a:ext>
                </a:extLst>
              </p:cNvPr>
              <p:cNvPicPr>
                <a:picLocks noChangeAspect="1"/>
              </p:cNvPicPr>
              <p:nvPr/>
            </p:nvPicPr>
            <p:blipFill>
              <a:blip r:embed="rId7"/>
              <a:stretch>
                <a:fillRect/>
              </a:stretch>
            </p:blipFill>
            <p:spPr>
              <a:xfrm>
                <a:off x="4464931" y="4141342"/>
                <a:ext cx="596080" cy="1254905"/>
              </a:xfrm>
              <a:prstGeom prst="rect">
                <a:avLst/>
              </a:prstGeom>
            </p:spPr>
          </p:pic>
          <p:pic>
            <p:nvPicPr>
              <p:cNvPr id="65" name="Picture 64">
                <a:extLst>
                  <a:ext uri="{FF2B5EF4-FFF2-40B4-BE49-F238E27FC236}">
                    <a16:creationId xmlns:a16="http://schemas.microsoft.com/office/drawing/2014/main" id="{E62447A7-919E-2B45-95C4-AFE620959724}"/>
                  </a:ext>
                </a:extLst>
              </p:cNvPr>
              <p:cNvPicPr>
                <a:picLocks noChangeAspect="1"/>
              </p:cNvPicPr>
              <p:nvPr/>
            </p:nvPicPr>
            <p:blipFill>
              <a:blip r:embed="rId8"/>
              <a:stretch>
                <a:fillRect/>
              </a:stretch>
            </p:blipFill>
            <p:spPr>
              <a:xfrm>
                <a:off x="5647694" y="4141342"/>
                <a:ext cx="571624" cy="1254905"/>
              </a:xfrm>
              <a:prstGeom prst="rect">
                <a:avLst/>
              </a:prstGeom>
            </p:spPr>
          </p:pic>
          <p:pic>
            <p:nvPicPr>
              <p:cNvPr id="66" name="Picture 65">
                <a:extLst>
                  <a:ext uri="{FF2B5EF4-FFF2-40B4-BE49-F238E27FC236}">
                    <a16:creationId xmlns:a16="http://schemas.microsoft.com/office/drawing/2014/main" id="{2279B60B-0069-CB47-A409-E7F3D1A3D15F}"/>
                  </a:ext>
                </a:extLst>
              </p:cNvPr>
              <p:cNvPicPr>
                <a:picLocks noChangeAspect="1"/>
              </p:cNvPicPr>
              <p:nvPr/>
            </p:nvPicPr>
            <p:blipFill>
              <a:blip r:embed="rId9"/>
              <a:stretch>
                <a:fillRect/>
              </a:stretch>
            </p:blipFill>
            <p:spPr>
              <a:xfrm>
                <a:off x="6217179" y="4141342"/>
                <a:ext cx="578500" cy="1254905"/>
              </a:xfrm>
              <a:prstGeom prst="rect">
                <a:avLst/>
              </a:prstGeom>
            </p:spPr>
          </p:pic>
          <p:pic>
            <p:nvPicPr>
              <p:cNvPr id="68" name="Picture 67">
                <a:extLst>
                  <a:ext uri="{FF2B5EF4-FFF2-40B4-BE49-F238E27FC236}">
                    <a16:creationId xmlns:a16="http://schemas.microsoft.com/office/drawing/2014/main" id="{6FE9E163-E45E-E040-8938-145780CFB80C}"/>
                  </a:ext>
                </a:extLst>
              </p:cNvPr>
              <p:cNvPicPr>
                <a:picLocks noChangeAspect="1"/>
              </p:cNvPicPr>
              <p:nvPr/>
            </p:nvPicPr>
            <p:blipFill>
              <a:blip r:embed="rId10"/>
              <a:stretch>
                <a:fillRect/>
              </a:stretch>
            </p:blipFill>
            <p:spPr>
              <a:xfrm>
                <a:off x="7379630" y="4148112"/>
                <a:ext cx="581876" cy="1248135"/>
              </a:xfrm>
              <a:prstGeom prst="rect">
                <a:avLst/>
              </a:prstGeom>
            </p:spPr>
          </p:pic>
          <p:pic>
            <p:nvPicPr>
              <p:cNvPr id="70" name="Picture 69">
                <a:extLst>
                  <a:ext uri="{FF2B5EF4-FFF2-40B4-BE49-F238E27FC236}">
                    <a16:creationId xmlns:a16="http://schemas.microsoft.com/office/drawing/2014/main" id="{CE21B7B9-4994-1B47-B93F-468F60173F4D}"/>
                  </a:ext>
                </a:extLst>
              </p:cNvPr>
              <p:cNvPicPr>
                <a:picLocks noChangeAspect="1"/>
              </p:cNvPicPr>
              <p:nvPr/>
            </p:nvPicPr>
            <p:blipFill>
              <a:blip r:embed="rId11"/>
              <a:stretch>
                <a:fillRect/>
              </a:stretch>
            </p:blipFill>
            <p:spPr>
              <a:xfrm>
                <a:off x="7956583" y="4157291"/>
                <a:ext cx="585930" cy="1238956"/>
              </a:xfrm>
              <a:prstGeom prst="rect">
                <a:avLst/>
              </a:prstGeom>
            </p:spPr>
          </p:pic>
          <p:pic>
            <p:nvPicPr>
              <p:cNvPr id="82" name="Picture 81">
                <a:extLst>
                  <a:ext uri="{FF2B5EF4-FFF2-40B4-BE49-F238E27FC236}">
                    <a16:creationId xmlns:a16="http://schemas.microsoft.com/office/drawing/2014/main" id="{DA9CC63C-3604-284F-AD97-6E8C39633683}"/>
                  </a:ext>
                </a:extLst>
              </p:cNvPr>
              <p:cNvPicPr>
                <a:picLocks noChangeAspect="1"/>
              </p:cNvPicPr>
              <p:nvPr/>
            </p:nvPicPr>
            <p:blipFill>
              <a:blip r:embed="rId12"/>
              <a:stretch>
                <a:fillRect/>
              </a:stretch>
            </p:blipFill>
            <p:spPr>
              <a:xfrm>
                <a:off x="6798763" y="4152930"/>
                <a:ext cx="572464" cy="1243317"/>
              </a:xfrm>
              <a:prstGeom prst="rect">
                <a:avLst/>
              </a:prstGeom>
            </p:spPr>
          </p:pic>
          <p:sp>
            <p:nvSpPr>
              <p:cNvPr id="53" name="TextBox 52">
                <a:extLst>
                  <a:ext uri="{FF2B5EF4-FFF2-40B4-BE49-F238E27FC236}">
                    <a16:creationId xmlns:a16="http://schemas.microsoft.com/office/drawing/2014/main" id="{CA6038A9-90E7-A043-93BD-E51720A56CF0}"/>
                  </a:ext>
                </a:extLst>
              </p:cNvPr>
              <p:cNvSpPr txBox="1"/>
              <p:nvPr/>
            </p:nvSpPr>
            <p:spPr>
              <a:xfrm>
                <a:off x="4481252" y="5393129"/>
                <a:ext cx="653968"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robbu@</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Manager</a:t>
                </a:r>
                <a:endParaRPr lang="en-US" sz="1440" dirty="0">
                  <a:solidFill>
                    <a:prstClr val="black"/>
                  </a:solidFill>
                  <a:latin typeface="Calibri" panose="020F0502020204030204"/>
                  <a:sym typeface="Helvetica"/>
                </a:endParaRPr>
              </a:p>
            </p:txBody>
          </p:sp>
          <p:sp>
            <p:nvSpPr>
              <p:cNvPr id="54" name="TextBox 53">
                <a:extLst>
                  <a:ext uri="{FF2B5EF4-FFF2-40B4-BE49-F238E27FC236}">
                    <a16:creationId xmlns:a16="http://schemas.microsoft.com/office/drawing/2014/main" id="{A407B360-5F3C-314D-A1E9-9DF7F3A6D9E2}"/>
                  </a:ext>
                </a:extLst>
              </p:cNvPr>
              <p:cNvSpPr txBox="1"/>
              <p:nvPr/>
            </p:nvSpPr>
            <p:spPr>
              <a:xfrm>
                <a:off x="5069540" y="5393129"/>
                <a:ext cx="66892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muratore@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Cyber, PowerUP</a:t>
                </a:r>
                <a:endParaRPr lang="en-US" sz="1440" dirty="0">
                  <a:solidFill>
                    <a:prstClr val="black"/>
                  </a:solidFill>
                  <a:latin typeface="Calibri" panose="020F0502020204030204"/>
                  <a:sym typeface="Helvetica"/>
                </a:endParaRPr>
              </a:p>
            </p:txBody>
          </p:sp>
          <p:sp>
            <p:nvSpPr>
              <p:cNvPr id="55" name="TextBox 54">
                <a:extLst>
                  <a:ext uri="{FF2B5EF4-FFF2-40B4-BE49-F238E27FC236}">
                    <a16:creationId xmlns:a16="http://schemas.microsoft.com/office/drawing/2014/main" id="{97E6F346-0F28-174A-808A-9612DAC07F2C}"/>
                  </a:ext>
                </a:extLst>
              </p:cNvPr>
              <p:cNvSpPr txBox="1"/>
              <p:nvPr/>
            </p:nvSpPr>
            <p:spPr>
              <a:xfrm>
                <a:off x="5642106" y="5393129"/>
                <a:ext cx="697206"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pietes@</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EP2T</a:t>
                </a:r>
                <a:endParaRPr lang="en-US" sz="1440" dirty="0">
                  <a:solidFill>
                    <a:prstClr val="black"/>
                  </a:solidFill>
                  <a:latin typeface="Calibri" panose="020F0502020204030204"/>
                  <a:sym typeface="Helvetica"/>
                </a:endParaRPr>
              </a:p>
            </p:txBody>
          </p:sp>
          <p:sp>
            <p:nvSpPr>
              <p:cNvPr id="56" name="TextBox 55">
                <a:extLst>
                  <a:ext uri="{FF2B5EF4-FFF2-40B4-BE49-F238E27FC236}">
                    <a16:creationId xmlns:a16="http://schemas.microsoft.com/office/drawing/2014/main" id="{DB48E4EA-871B-834F-AE7E-756EF7EC108C}"/>
                  </a:ext>
                </a:extLst>
              </p:cNvPr>
              <p:cNvSpPr txBox="1"/>
              <p:nvPr/>
            </p:nvSpPr>
            <p:spPr>
              <a:xfrm>
                <a:off x="6222951" y="5393129"/>
                <a:ext cx="70059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pankagni@</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FS, Retail, Commercial</a:t>
                </a:r>
                <a:endParaRPr lang="en-US" sz="1440" dirty="0">
                  <a:solidFill>
                    <a:prstClr val="black"/>
                  </a:solidFill>
                  <a:latin typeface="Calibri" panose="020F0502020204030204"/>
                  <a:sym typeface="Helvetica"/>
                </a:endParaRPr>
              </a:p>
            </p:txBody>
          </p:sp>
          <p:sp>
            <p:nvSpPr>
              <p:cNvPr id="57" name="TextBox 56">
                <a:extLst>
                  <a:ext uri="{FF2B5EF4-FFF2-40B4-BE49-F238E27FC236}">
                    <a16:creationId xmlns:a16="http://schemas.microsoft.com/office/drawing/2014/main" id="{8104B6D9-5852-4445-8353-531BE0F15089}"/>
                  </a:ext>
                </a:extLst>
              </p:cNvPr>
              <p:cNvSpPr txBox="1"/>
              <p:nvPr/>
            </p:nvSpPr>
            <p:spPr>
              <a:xfrm>
                <a:off x="7387560" y="5393129"/>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ea typeface="Helvetica Neue"/>
                    <a:cs typeface="Helvetica Neue"/>
                    <a:sym typeface="Helvetica Neue"/>
                  </a:rPr>
                  <a:t>porchri@</a:t>
                </a:r>
                <a:br>
                  <a:rPr lang="en-US" sz="960" dirty="0">
                    <a:solidFill>
                      <a:prstClr val="black"/>
                    </a:solidFill>
                    <a:latin typeface="Calibri" panose="020F0502020204030204"/>
                    <a:ea typeface="Helvetica Neue"/>
                    <a:cs typeface="Helvetica Neue"/>
                    <a:sym typeface="Helvetica Neue"/>
                  </a:rPr>
                </a:br>
                <a:r>
                  <a:rPr lang="en-US" sz="960" dirty="0">
                    <a:solidFill>
                      <a:prstClr val="black"/>
                    </a:solidFill>
                    <a:latin typeface="Calibri" panose="020F0502020204030204"/>
                    <a:sym typeface="Helvetica"/>
                  </a:rPr>
                  <a:t>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TOC</a:t>
                </a:r>
                <a:endParaRPr lang="en-US" sz="1440" dirty="0">
                  <a:solidFill>
                    <a:prstClr val="black"/>
                  </a:solidFill>
                  <a:latin typeface="Calibri" panose="020F0502020204030204"/>
                  <a:sym typeface="Helvetica"/>
                </a:endParaRPr>
              </a:p>
            </p:txBody>
          </p:sp>
          <p:sp>
            <p:nvSpPr>
              <p:cNvPr id="60" name="TextBox 59">
                <a:extLst>
                  <a:ext uri="{FF2B5EF4-FFF2-40B4-BE49-F238E27FC236}">
                    <a16:creationId xmlns:a16="http://schemas.microsoft.com/office/drawing/2014/main" id="{267ABDC6-C838-EC46-8A3F-B9CC1F685135}"/>
                  </a:ext>
                </a:extLst>
              </p:cNvPr>
              <p:cNvSpPr txBox="1"/>
              <p:nvPr/>
            </p:nvSpPr>
            <p:spPr>
              <a:xfrm>
                <a:off x="7956533" y="5408314"/>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chappy@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Contact Centers</a:t>
                </a:r>
                <a:endParaRPr lang="en-US" sz="1440" dirty="0">
                  <a:solidFill>
                    <a:prstClr val="black"/>
                  </a:solidFill>
                  <a:latin typeface="Calibri" panose="020F0502020204030204"/>
                  <a:sym typeface="Helvetica"/>
                </a:endParaRPr>
              </a:p>
            </p:txBody>
          </p:sp>
          <p:sp>
            <p:nvSpPr>
              <p:cNvPr id="62" name="TextBox 61">
                <a:extLst>
                  <a:ext uri="{FF2B5EF4-FFF2-40B4-BE49-F238E27FC236}">
                    <a16:creationId xmlns:a16="http://schemas.microsoft.com/office/drawing/2014/main" id="{66D14C51-AB07-2942-85F7-D5BDF76D2AF4}"/>
                  </a:ext>
                </a:extLst>
              </p:cNvPr>
              <p:cNvSpPr txBox="1"/>
              <p:nvPr/>
            </p:nvSpPr>
            <p:spPr>
              <a:xfrm>
                <a:off x="6813286" y="5401592"/>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fenchell@</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TOC</a:t>
                </a:r>
                <a:endParaRPr lang="en-US" sz="1440" dirty="0">
                  <a:solidFill>
                    <a:prstClr val="black"/>
                  </a:solidFill>
                  <a:latin typeface="Calibri" panose="020F0502020204030204"/>
                  <a:sym typeface="Helvetica"/>
                </a:endParaRPr>
              </a:p>
            </p:txBody>
          </p:sp>
          <p:sp>
            <p:nvSpPr>
              <p:cNvPr id="109" name="TextBox 108">
                <a:extLst>
                  <a:ext uri="{FF2B5EF4-FFF2-40B4-BE49-F238E27FC236}">
                    <a16:creationId xmlns:a16="http://schemas.microsoft.com/office/drawing/2014/main" id="{267ABDC6-C838-EC46-8A3F-B9CC1F685135}"/>
                  </a:ext>
                </a:extLst>
              </p:cNvPr>
              <p:cNvSpPr txBox="1"/>
              <p:nvPr/>
            </p:nvSpPr>
            <p:spPr>
              <a:xfrm>
                <a:off x="9124454" y="5417541"/>
                <a:ext cx="657926"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billcan@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UK</a:t>
                </a:r>
                <a:endParaRPr lang="en-US" sz="1440" dirty="0">
                  <a:solidFill>
                    <a:prstClr val="black"/>
                  </a:solidFill>
                  <a:latin typeface="Calibri" panose="020F0502020204030204"/>
                  <a:sym typeface="Helvetica"/>
                </a:endParaRPr>
              </a:p>
            </p:txBody>
          </p:sp>
          <p:pic>
            <p:nvPicPr>
              <p:cNvPr id="141" name="Picture 140"/>
              <p:cNvPicPr>
                <a:picLocks noChangeAspect="1"/>
              </p:cNvPicPr>
              <p:nvPr/>
            </p:nvPicPr>
            <p:blipFill>
              <a:blip r:embed="rId13"/>
              <a:stretch>
                <a:fillRect/>
              </a:stretch>
            </p:blipFill>
            <p:spPr>
              <a:xfrm>
                <a:off x="5056659" y="4148112"/>
                <a:ext cx="581563" cy="1248135"/>
              </a:xfrm>
              <a:prstGeom prst="rect">
                <a:avLst/>
              </a:prstGeom>
            </p:spPr>
          </p:pic>
          <p:sp>
            <p:nvSpPr>
              <p:cNvPr id="97" name="TextBox 96">
                <a:extLst>
                  <a:ext uri="{FF2B5EF4-FFF2-40B4-BE49-F238E27FC236}">
                    <a16:creationId xmlns:a16="http://schemas.microsoft.com/office/drawing/2014/main" id="{267ABDC6-C838-EC46-8A3F-B9CC1F685135}"/>
                  </a:ext>
                </a:extLst>
              </p:cNvPr>
              <p:cNvSpPr txBox="1"/>
              <p:nvPr/>
            </p:nvSpPr>
            <p:spPr>
              <a:xfrm>
                <a:off x="8544685" y="5417295"/>
                <a:ext cx="701614"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dmernst@</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TAM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Card</a:t>
                </a:r>
                <a:endParaRPr lang="en-US" sz="1440" dirty="0">
                  <a:solidFill>
                    <a:prstClr val="black"/>
                  </a:solidFill>
                  <a:latin typeface="Calibri" panose="020F0502020204030204"/>
                  <a:sym typeface="Helvetica"/>
                </a:endParaRPr>
              </a:p>
            </p:txBody>
          </p:sp>
          <p:pic>
            <p:nvPicPr>
              <p:cNvPr id="4" name="Picture 3"/>
              <p:cNvPicPr>
                <a:picLocks noChangeAspect="1"/>
              </p:cNvPicPr>
              <p:nvPr/>
            </p:nvPicPr>
            <p:blipFill>
              <a:blip r:embed="rId14"/>
              <a:stretch>
                <a:fillRect/>
              </a:stretch>
            </p:blipFill>
            <p:spPr>
              <a:xfrm>
                <a:off x="9110598" y="4169231"/>
                <a:ext cx="563697" cy="1219874"/>
              </a:xfrm>
              <a:prstGeom prst="rect">
                <a:avLst/>
              </a:prstGeom>
            </p:spPr>
          </p:pic>
        </p:grpSp>
      </p:grpSp>
      <p:grpSp>
        <p:nvGrpSpPr>
          <p:cNvPr id="41" name="Group 40"/>
          <p:cNvGrpSpPr/>
          <p:nvPr/>
        </p:nvGrpSpPr>
        <p:grpSpPr>
          <a:xfrm>
            <a:off x="8961770" y="901005"/>
            <a:ext cx="2441460" cy="2981982"/>
            <a:chOff x="10296624" y="3363796"/>
            <a:chExt cx="2034550" cy="2484985"/>
          </a:xfrm>
        </p:grpSpPr>
        <p:sp>
          <p:nvSpPr>
            <p:cNvPr id="9" name="Rounded Rectangle 4">
              <a:extLst>
                <a:ext uri="{FF2B5EF4-FFF2-40B4-BE49-F238E27FC236}">
                  <a16:creationId xmlns:a16="http://schemas.microsoft.com/office/drawing/2014/main" id="{1E8244EE-BB2E-3C44-8B26-3CF507960FD6}"/>
                </a:ext>
              </a:extLst>
            </p:cNvPr>
            <p:cNvSpPr/>
            <p:nvPr/>
          </p:nvSpPr>
          <p:spPr>
            <a:xfrm>
              <a:off x="10320043" y="3363796"/>
              <a:ext cx="2011131" cy="22562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Professional Services (ProServ)</a:t>
              </a:r>
            </a:p>
          </p:txBody>
        </p:sp>
        <p:sp>
          <p:nvSpPr>
            <p:cNvPr id="18" name="TextBox 17">
              <a:extLst>
                <a:ext uri="{FF2B5EF4-FFF2-40B4-BE49-F238E27FC236}">
                  <a16:creationId xmlns:a16="http://schemas.microsoft.com/office/drawing/2014/main" id="{38B48B5E-6F24-EA44-8856-2FBF87B00B29}"/>
                </a:ext>
              </a:extLst>
            </p:cNvPr>
            <p:cNvSpPr txBox="1"/>
            <p:nvPr/>
          </p:nvSpPr>
          <p:spPr>
            <a:xfrm>
              <a:off x="10296624" y="3605289"/>
              <a:ext cx="1973993" cy="3539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Partners with SA and customers to design and deploy solutions.</a:t>
              </a:r>
            </a:p>
          </p:txBody>
        </p:sp>
        <p:pic>
          <p:nvPicPr>
            <p:cNvPr id="49" name="Picture 48">
              <a:extLst>
                <a:ext uri="{FF2B5EF4-FFF2-40B4-BE49-F238E27FC236}">
                  <a16:creationId xmlns:a16="http://schemas.microsoft.com/office/drawing/2014/main" id="{77B1FA5D-00BD-CC4D-89B2-D342FF2DFF69}"/>
                </a:ext>
              </a:extLst>
            </p:cNvPr>
            <p:cNvPicPr>
              <a:picLocks noChangeAspect="1"/>
            </p:cNvPicPr>
            <p:nvPr/>
          </p:nvPicPr>
          <p:blipFill>
            <a:blip r:embed="rId15"/>
            <a:stretch>
              <a:fillRect/>
            </a:stretch>
          </p:blipFill>
          <p:spPr>
            <a:xfrm>
              <a:off x="10296624" y="4110361"/>
              <a:ext cx="598207" cy="1287756"/>
            </a:xfrm>
            <a:prstGeom prst="rect">
              <a:avLst/>
            </a:prstGeom>
          </p:spPr>
        </p:pic>
        <p:sp>
          <p:nvSpPr>
            <p:cNvPr id="47" name="TextBox 46">
              <a:extLst>
                <a:ext uri="{FF2B5EF4-FFF2-40B4-BE49-F238E27FC236}">
                  <a16:creationId xmlns:a16="http://schemas.microsoft.com/office/drawing/2014/main" id="{88F144D1-582F-084F-8051-26346873C82F}"/>
                </a:ext>
              </a:extLst>
            </p:cNvPr>
            <p:cNvSpPr txBox="1"/>
            <p:nvPr/>
          </p:nvSpPr>
          <p:spPr>
            <a:xfrm>
              <a:off x="10320044" y="541638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mitckemp@</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Manager</a:t>
              </a:r>
              <a:endParaRPr lang="en-US" sz="1440" dirty="0">
                <a:solidFill>
                  <a:prstClr val="black"/>
                </a:solidFill>
                <a:latin typeface="Calibri" panose="020F0502020204030204"/>
                <a:sym typeface="Helvetica"/>
              </a:endParaRPr>
            </a:p>
          </p:txBody>
        </p:sp>
        <p:pic>
          <p:nvPicPr>
            <p:cNvPr id="106" name="Picture 105">
              <a:extLst>
                <a:ext uri="{FF2B5EF4-FFF2-40B4-BE49-F238E27FC236}">
                  <a16:creationId xmlns:a16="http://schemas.microsoft.com/office/drawing/2014/main" id="{C67775BF-A4B6-8843-B2B8-523A8C6FC625}"/>
                </a:ext>
              </a:extLst>
            </p:cNvPr>
            <p:cNvPicPr>
              <a:picLocks noChangeAspect="1"/>
            </p:cNvPicPr>
            <p:nvPr/>
          </p:nvPicPr>
          <p:blipFill>
            <a:blip r:embed="rId16"/>
            <a:stretch>
              <a:fillRect/>
            </a:stretch>
          </p:blipFill>
          <p:spPr>
            <a:xfrm>
              <a:off x="10891071" y="4110361"/>
              <a:ext cx="607080" cy="1287756"/>
            </a:xfrm>
            <a:prstGeom prst="rect">
              <a:avLst/>
            </a:prstGeom>
          </p:spPr>
        </p:pic>
        <p:sp>
          <p:nvSpPr>
            <p:cNvPr id="107" name="TextBox 106">
              <a:extLst>
                <a:ext uri="{FF2B5EF4-FFF2-40B4-BE49-F238E27FC236}">
                  <a16:creationId xmlns:a16="http://schemas.microsoft.com/office/drawing/2014/main" id="{E8F360FC-FB08-B043-9254-89911D631D69}"/>
                </a:ext>
              </a:extLst>
            </p:cNvPr>
            <p:cNvSpPr txBox="1"/>
            <p:nvPr/>
          </p:nvSpPr>
          <p:spPr>
            <a:xfrm>
              <a:off x="10913075" y="5401659"/>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panten@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Services Manager</a:t>
              </a:r>
              <a:endParaRPr lang="en-US" sz="1440" dirty="0">
                <a:solidFill>
                  <a:prstClr val="black"/>
                </a:solidFill>
                <a:latin typeface="Calibri" panose="020F0502020204030204"/>
                <a:sym typeface="Helvetica"/>
              </a:endParaRPr>
            </a:p>
          </p:txBody>
        </p:sp>
        <p:pic>
          <p:nvPicPr>
            <p:cNvPr id="37" name="Picture 36"/>
            <p:cNvPicPr>
              <a:picLocks noChangeAspect="1"/>
            </p:cNvPicPr>
            <p:nvPr/>
          </p:nvPicPr>
          <p:blipFill>
            <a:blip r:embed="rId17"/>
            <a:stretch>
              <a:fillRect/>
            </a:stretch>
          </p:blipFill>
          <p:spPr>
            <a:xfrm>
              <a:off x="11489530" y="4129406"/>
              <a:ext cx="598120" cy="1279058"/>
            </a:xfrm>
            <a:prstGeom prst="rect">
              <a:avLst/>
            </a:prstGeom>
          </p:spPr>
        </p:pic>
        <p:sp>
          <p:nvSpPr>
            <p:cNvPr id="103" name="TextBox 102">
              <a:extLst>
                <a:ext uri="{FF2B5EF4-FFF2-40B4-BE49-F238E27FC236}">
                  <a16:creationId xmlns:a16="http://schemas.microsoft.com/office/drawing/2014/main" id="{88F144D1-582F-084F-8051-26346873C82F}"/>
                </a:ext>
              </a:extLst>
            </p:cNvPr>
            <p:cNvSpPr txBox="1"/>
            <p:nvPr/>
          </p:nvSpPr>
          <p:spPr>
            <a:xfrm>
              <a:off x="11513281" y="5402505"/>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ssemple@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Program Manager</a:t>
              </a:r>
              <a:endParaRPr lang="en-US" sz="1440" dirty="0">
                <a:solidFill>
                  <a:prstClr val="black"/>
                </a:solidFill>
                <a:latin typeface="Calibri" panose="020F0502020204030204"/>
                <a:sym typeface="Helvetica"/>
              </a:endParaRPr>
            </a:p>
          </p:txBody>
        </p:sp>
      </p:grpSp>
      <p:grpSp>
        <p:nvGrpSpPr>
          <p:cNvPr id="30" name="Group 29"/>
          <p:cNvGrpSpPr/>
          <p:nvPr/>
        </p:nvGrpSpPr>
        <p:grpSpPr>
          <a:xfrm>
            <a:off x="6271768" y="850004"/>
            <a:ext cx="2813634" cy="2898694"/>
            <a:chOff x="8077923" y="3322080"/>
            <a:chExt cx="2344695" cy="2415579"/>
          </a:xfrm>
        </p:grpSpPr>
        <p:sp>
          <p:nvSpPr>
            <p:cNvPr id="14" name="Rounded Rectangle 4">
              <a:extLst>
                <a:ext uri="{FF2B5EF4-FFF2-40B4-BE49-F238E27FC236}">
                  <a16:creationId xmlns:a16="http://schemas.microsoft.com/office/drawing/2014/main" id="{62D2D091-CB07-834D-A32F-6E23273BBB0E}"/>
                </a:ext>
              </a:extLst>
            </p:cNvPr>
            <p:cNvSpPr/>
            <p:nvPr/>
          </p:nvSpPr>
          <p:spPr>
            <a:xfrm>
              <a:off x="8077923" y="3322080"/>
              <a:ext cx="2344695" cy="3049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Customer Solutions Manager (CSM)</a:t>
              </a:r>
            </a:p>
          </p:txBody>
        </p:sp>
        <p:sp>
          <p:nvSpPr>
            <p:cNvPr id="17" name="TextBox 16">
              <a:extLst>
                <a:ext uri="{FF2B5EF4-FFF2-40B4-BE49-F238E27FC236}">
                  <a16:creationId xmlns:a16="http://schemas.microsoft.com/office/drawing/2014/main" id="{4EC76E36-BD09-F74F-9CD0-92FD52B10674}"/>
                </a:ext>
              </a:extLst>
            </p:cNvPr>
            <p:cNvSpPr txBox="1"/>
            <p:nvPr/>
          </p:nvSpPr>
          <p:spPr>
            <a:xfrm>
              <a:off x="8077923" y="3605289"/>
              <a:ext cx="1974127" cy="4924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Drives service adoption, program execution, customer education, PFRs, and Reference/Analyst. </a:t>
              </a:r>
            </a:p>
          </p:txBody>
        </p:sp>
        <p:sp>
          <p:nvSpPr>
            <p:cNvPr id="38" name="TextBox 37">
              <a:extLst>
                <a:ext uri="{FF2B5EF4-FFF2-40B4-BE49-F238E27FC236}">
                  <a16:creationId xmlns:a16="http://schemas.microsoft.com/office/drawing/2014/main" id="{4908D521-9046-E747-8398-F7BD08719952}"/>
                </a:ext>
              </a:extLst>
            </p:cNvPr>
            <p:cNvSpPr txBox="1"/>
            <p:nvPr/>
          </p:nvSpPr>
          <p:spPr>
            <a:xfrm>
              <a:off x="8180003" y="5410035"/>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rreffner@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Manager</a:t>
              </a:r>
              <a:endParaRPr lang="en-US" sz="1440" dirty="0">
                <a:solidFill>
                  <a:prstClr val="black"/>
                </a:solidFill>
                <a:latin typeface="Calibri" panose="020F0502020204030204"/>
                <a:sym typeface="Helvetica"/>
              </a:endParaRPr>
            </a:p>
          </p:txBody>
        </p:sp>
        <p:sp>
          <p:nvSpPr>
            <p:cNvPr id="40" name="TextBox 39">
              <a:extLst>
                <a:ext uri="{FF2B5EF4-FFF2-40B4-BE49-F238E27FC236}">
                  <a16:creationId xmlns:a16="http://schemas.microsoft.com/office/drawing/2014/main" id="{0C7AF4D9-F65C-1B49-85A3-D74FA2645022}"/>
                </a:ext>
              </a:extLst>
            </p:cNvPr>
            <p:cNvSpPr txBox="1"/>
            <p:nvPr/>
          </p:nvSpPr>
          <p:spPr>
            <a:xfrm>
              <a:off x="9368061" y="541003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dueling@</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CSM</a:t>
              </a:r>
              <a:endParaRPr lang="en-US" sz="1440" dirty="0">
                <a:solidFill>
                  <a:prstClr val="black"/>
                </a:solidFill>
                <a:latin typeface="Calibri" panose="020F0502020204030204"/>
                <a:sym typeface="Helvetica"/>
              </a:endParaRPr>
            </a:p>
          </p:txBody>
        </p:sp>
        <p:pic>
          <p:nvPicPr>
            <p:cNvPr id="22" name="Picture 21"/>
            <p:cNvPicPr>
              <a:picLocks noChangeAspect="1"/>
            </p:cNvPicPr>
            <p:nvPr/>
          </p:nvPicPr>
          <p:blipFill>
            <a:blip r:embed="rId18"/>
            <a:stretch>
              <a:fillRect/>
            </a:stretch>
          </p:blipFill>
          <p:spPr>
            <a:xfrm>
              <a:off x="8756913" y="4122052"/>
              <a:ext cx="603094" cy="1294332"/>
            </a:xfrm>
            <a:prstGeom prst="rect">
              <a:avLst/>
            </a:prstGeom>
          </p:spPr>
        </p:pic>
        <p:sp>
          <p:nvSpPr>
            <p:cNvPr id="99" name="TextBox 98">
              <a:extLst>
                <a:ext uri="{FF2B5EF4-FFF2-40B4-BE49-F238E27FC236}">
                  <a16:creationId xmlns:a16="http://schemas.microsoft.com/office/drawing/2014/main" id="{4908D521-9046-E747-8398-F7BD08719952}"/>
                </a:ext>
              </a:extLst>
            </p:cNvPr>
            <p:cNvSpPr txBox="1"/>
            <p:nvPr/>
          </p:nvSpPr>
          <p:spPr>
            <a:xfrm>
              <a:off x="8762606" y="5414494"/>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sunwaa@</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Lead CSM</a:t>
              </a:r>
              <a:endParaRPr lang="en-US" sz="1440" dirty="0">
                <a:solidFill>
                  <a:prstClr val="black"/>
                </a:solidFill>
                <a:latin typeface="Calibri" panose="020F0502020204030204"/>
                <a:sym typeface="Helvetica"/>
              </a:endParaRPr>
            </a:p>
          </p:txBody>
        </p:sp>
        <p:pic>
          <p:nvPicPr>
            <p:cNvPr id="36" name="Picture 35"/>
            <p:cNvPicPr>
              <a:picLocks noChangeAspect="1"/>
            </p:cNvPicPr>
            <p:nvPr/>
          </p:nvPicPr>
          <p:blipFill>
            <a:blip r:embed="rId19"/>
            <a:stretch>
              <a:fillRect/>
            </a:stretch>
          </p:blipFill>
          <p:spPr>
            <a:xfrm>
              <a:off x="8163769" y="4122052"/>
              <a:ext cx="590181" cy="1286411"/>
            </a:xfrm>
            <a:prstGeom prst="rect">
              <a:avLst/>
            </a:prstGeom>
          </p:spPr>
        </p:pic>
        <p:pic>
          <p:nvPicPr>
            <p:cNvPr id="25" name="Picture 24"/>
            <p:cNvPicPr>
              <a:picLocks noChangeAspect="1"/>
            </p:cNvPicPr>
            <p:nvPr/>
          </p:nvPicPr>
          <p:blipFill>
            <a:blip r:embed="rId20"/>
            <a:stretch>
              <a:fillRect/>
            </a:stretch>
          </p:blipFill>
          <p:spPr>
            <a:xfrm>
              <a:off x="9363076" y="4133220"/>
              <a:ext cx="580350" cy="1275243"/>
            </a:xfrm>
            <a:prstGeom prst="rect">
              <a:avLst/>
            </a:prstGeom>
          </p:spPr>
        </p:pic>
      </p:grpSp>
      <p:grpSp>
        <p:nvGrpSpPr>
          <p:cNvPr id="69" name="Group 68"/>
          <p:cNvGrpSpPr/>
          <p:nvPr/>
        </p:nvGrpSpPr>
        <p:grpSpPr>
          <a:xfrm>
            <a:off x="2122668" y="959750"/>
            <a:ext cx="3996516" cy="3303706"/>
            <a:chOff x="1418370" y="799791"/>
            <a:chExt cx="3330430" cy="2753088"/>
          </a:xfrm>
        </p:grpSpPr>
        <p:pic>
          <p:nvPicPr>
            <p:cNvPr id="135" name="Picture 134"/>
            <p:cNvPicPr>
              <a:picLocks noChangeAspect="1"/>
            </p:cNvPicPr>
            <p:nvPr/>
          </p:nvPicPr>
          <p:blipFill>
            <a:blip r:embed="rId21"/>
            <a:stretch>
              <a:fillRect/>
            </a:stretch>
          </p:blipFill>
          <p:spPr>
            <a:xfrm>
              <a:off x="2083894" y="1474763"/>
              <a:ext cx="593655" cy="1269508"/>
            </a:xfrm>
            <a:prstGeom prst="rect">
              <a:avLst/>
            </a:prstGeom>
          </p:spPr>
        </p:pic>
        <p:grpSp>
          <p:nvGrpSpPr>
            <p:cNvPr id="67" name="Group 66"/>
            <p:cNvGrpSpPr/>
            <p:nvPr/>
          </p:nvGrpSpPr>
          <p:grpSpPr>
            <a:xfrm>
              <a:off x="1418370" y="799791"/>
              <a:ext cx="3330430" cy="2753088"/>
              <a:chOff x="1418370" y="799791"/>
              <a:chExt cx="3330430" cy="2753088"/>
            </a:xfrm>
          </p:grpSpPr>
          <p:sp>
            <p:nvSpPr>
              <p:cNvPr id="5" name="TextBox 4">
                <a:extLst>
                  <a:ext uri="{FF2B5EF4-FFF2-40B4-BE49-F238E27FC236}">
                    <a16:creationId xmlns:a16="http://schemas.microsoft.com/office/drawing/2014/main" id="{8A0F92D9-3CEB-494C-A99F-2AB8F523E70E}"/>
                  </a:ext>
                </a:extLst>
              </p:cNvPr>
              <p:cNvSpPr txBox="1"/>
              <p:nvPr/>
            </p:nvSpPr>
            <p:spPr>
              <a:xfrm>
                <a:off x="1418372" y="1107797"/>
                <a:ext cx="2988506" cy="353943"/>
              </a:xfrm>
              <a:prstGeom prst="rect">
                <a:avLst/>
              </a:prstGeom>
              <a:noFill/>
            </p:spPr>
            <p:txBody>
              <a:bodyPr wrap="square" rtlCol="0">
                <a:spAutoFit/>
              </a:bodyPr>
              <a:lstStyle/>
              <a:p>
                <a:pPr defTabSz="822919">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Steward of the relationship &amp; partnership between Capital One and Amazon.</a:t>
                </a:r>
              </a:p>
            </p:txBody>
          </p:sp>
          <p:sp>
            <p:nvSpPr>
              <p:cNvPr id="6" name="Rounded Rectangle 4">
                <a:extLst>
                  <a:ext uri="{FF2B5EF4-FFF2-40B4-BE49-F238E27FC236}">
                    <a16:creationId xmlns:a16="http://schemas.microsoft.com/office/drawing/2014/main" id="{7F2A2E91-0A83-7347-9F70-FF0822B99C44}"/>
                  </a:ext>
                </a:extLst>
              </p:cNvPr>
              <p:cNvSpPr/>
              <p:nvPr/>
            </p:nvSpPr>
            <p:spPr>
              <a:xfrm>
                <a:off x="1418370" y="799791"/>
                <a:ext cx="1776878" cy="32854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Account Manager (AM)</a:t>
                </a:r>
              </a:p>
            </p:txBody>
          </p:sp>
          <p:pic>
            <p:nvPicPr>
              <p:cNvPr id="29" name="Picture 28">
                <a:extLst>
                  <a:ext uri="{FF2B5EF4-FFF2-40B4-BE49-F238E27FC236}">
                    <a16:creationId xmlns:a16="http://schemas.microsoft.com/office/drawing/2014/main" id="{766C65E8-DDC4-824C-A1BB-624AC2745BA5}"/>
                  </a:ext>
                </a:extLst>
              </p:cNvPr>
              <p:cNvPicPr>
                <a:picLocks noChangeAspect="1"/>
              </p:cNvPicPr>
              <p:nvPr/>
            </p:nvPicPr>
            <p:blipFill>
              <a:blip r:embed="rId22"/>
              <a:stretch>
                <a:fillRect/>
              </a:stretch>
            </p:blipFill>
            <p:spPr>
              <a:xfrm>
                <a:off x="1500232" y="1464770"/>
                <a:ext cx="587386" cy="1279500"/>
              </a:xfrm>
              <a:prstGeom prst="rect">
                <a:avLst/>
              </a:prstGeom>
            </p:spPr>
          </p:pic>
          <p:pic>
            <p:nvPicPr>
              <p:cNvPr id="32" name="Picture 31">
                <a:extLst>
                  <a:ext uri="{FF2B5EF4-FFF2-40B4-BE49-F238E27FC236}">
                    <a16:creationId xmlns:a16="http://schemas.microsoft.com/office/drawing/2014/main" id="{7DB32F22-5BB8-9043-917A-2D7A28F90572}"/>
                  </a:ext>
                </a:extLst>
              </p:cNvPr>
              <p:cNvPicPr>
                <a:picLocks noChangeAspect="1"/>
              </p:cNvPicPr>
              <p:nvPr/>
            </p:nvPicPr>
            <p:blipFill>
              <a:blip r:embed="rId23"/>
              <a:stretch>
                <a:fillRect/>
              </a:stretch>
            </p:blipFill>
            <p:spPr>
              <a:xfrm>
                <a:off x="3258906" y="1483821"/>
                <a:ext cx="594213" cy="1260450"/>
              </a:xfrm>
              <a:prstGeom prst="rect">
                <a:avLst/>
              </a:prstGeom>
            </p:spPr>
          </p:pic>
          <p:sp>
            <p:nvSpPr>
              <p:cNvPr id="23" name="TextBox 22">
                <a:extLst>
                  <a:ext uri="{FF2B5EF4-FFF2-40B4-BE49-F238E27FC236}">
                    <a16:creationId xmlns:a16="http://schemas.microsoft.com/office/drawing/2014/main" id="{33E7896B-B261-5F47-85F2-28045D979D11}"/>
                  </a:ext>
                </a:extLst>
              </p:cNvPr>
              <p:cNvSpPr txBox="1"/>
              <p:nvPr/>
            </p:nvSpPr>
            <p:spPr>
              <a:xfrm>
                <a:off x="1495367" y="2737272"/>
                <a:ext cx="69568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bentzen@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Client Director  Sr. Manager </a:t>
                </a:r>
                <a:endParaRPr lang="en-US" sz="1440" dirty="0">
                  <a:solidFill>
                    <a:prstClr val="black"/>
                  </a:solidFill>
                  <a:latin typeface="Calibri" panose="020F0502020204030204"/>
                  <a:sym typeface="Helvetica"/>
                </a:endParaRPr>
              </a:p>
            </p:txBody>
          </p:sp>
          <p:sp>
            <p:nvSpPr>
              <p:cNvPr id="26" name="TextBox 25">
                <a:extLst>
                  <a:ext uri="{FF2B5EF4-FFF2-40B4-BE49-F238E27FC236}">
                    <a16:creationId xmlns:a16="http://schemas.microsoft.com/office/drawing/2014/main" id="{193EDD8E-8552-2F4A-B751-27917B96994E}"/>
                  </a:ext>
                </a:extLst>
              </p:cNvPr>
              <p:cNvSpPr txBox="1"/>
              <p:nvPr/>
            </p:nvSpPr>
            <p:spPr>
              <a:xfrm>
                <a:off x="2091640" y="2737272"/>
                <a:ext cx="629409" cy="81560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jasonkid@</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 PowerUP, Cyber</a:t>
                </a:r>
                <a:endParaRPr lang="en-US" sz="1440" dirty="0">
                  <a:solidFill>
                    <a:prstClr val="black"/>
                  </a:solidFill>
                  <a:latin typeface="Calibri" panose="020F0502020204030204"/>
                  <a:sym typeface="Helvetica"/>
                </a:endParaRPr>
              </a:p>
              <a:p>
                <a:pPr defTabSz="1097280"/>
                <a:endParaRPr lang="en-US" sz="960" dirty="0">
                  <a:solidFill>
                    <a:prstClr val="black"/>
                  </a:solidFill>
                  <a:latin typeface="Calibri" panose="020F0502020204030204"/>
                  <a:sym typeface="Helvetica"/>
                </a:endParaRPr>
              </a:p>
            </p:txBody>
          </p:sp>
          <p:sp>
            <p:nvSpPr>
              <p:cNvPr id="27" name="TextBox 26">
                <a:extLst>
                  <a:ext uri="{FF2B5EF4-FFF2-40B4-BE49-F238E27FC236}">
                    <a16:creationId xmlns:a16="http://schemas.microsoft.com/office/drawing/2014/main" id="{6EBAA5CC-760A-474C-8764-3A5A169C57B8}"/>
                  </a:ext>
                </a:extLst>
              </p:cNvPr>
              <p:cNvSpPr txBox="1"/>
              <p:nvPr/>
            </p:nvSpPr>
            <p:spPr>
              <a:xfrm>
                <a:off x="3268472" y="2743622"/>
                <a:ext cx="765886"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karsco@</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Commercial </a:t>
                </a:r>
                <a:endParaRPr lang="en-US" sz="1440" dirty="0">
                  <a:solidFill>
                    <a:prstClr val="black"/>
                  </a:solidFill>
                  <a:latin typeface="Calibri" panose="020F0502020204030204"/>
                  <a:sym typeface="Helvetica"/>
                </a:endParaRPr>
              </a:p>
            </p:txBody>
          </p:sp>
          <p:pic>
            <p:nvPicPr>
              <p:cNvPr id="28" name="Picture 27"/>
              <p:cNvPicPr>
                <a:picLocks noChangeAspect="1"/>
              </p:cNvPicPr>
              <p:nvPr/>
            </p:nvPicPr>
            <p:blipFill>
              <a:blip r:embed="rId24"/>
              <a:stretch>
                <a:fillRect/>
              </a:stretch>
            </p:blipFill>
            <p:spPr>
              <a:xfrm>
                <a:off x="2689105" y="1483147"/>
                <a:ext cx="583222" cy="1261123"/>
              </a:xfrm>
              <a:prstGeom prst="rect">
                <a:avLst/>
              </a:prstGeom>
            </p:spPr>
          </p:pic>
          <p:sp>
            <p:nvSpPr>
              <p:cNvPr id="101" name="TextBox 100">
                <a:extLst>
                  <a:ext uri="{FF2B5EF4-FFF2-40B4-BE49-F238E27FC236}">
                    <a16:creationId xmlns:a16="http://schemas.microsoft.com/office/drawing/2014/main" id="{193EDD8E-8552-2F4A-B751-27917B96994E}"/>
                  </a:ext>
                </a:extLst>
              </p:cNvPr>
              <p:cNvSpPr txBox="1"/>
              <p:nvPr/>
            </p:nvSpPr>
            <p:spPr>
              <a:xfrm>
                <a:off x="2694555" y="2749972"/>
                <a:ext cx="676994"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sidnaz@</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Card</a:t>
                </a:r>
              </a:p>
            </p:txBody>
          </p:sp>
          <p:pic>
            <p:nvPicPr>
              <p:cNvPr id="39" name="Picture 38"/>
              <p:cNvPicPr>
                <a:picLocks noChangeAspect="1"/>
              </p:cNvPicPr>
              <p:nvPr/>
            </p:nvPicPr>
            <p:blipFill>
              <a:blip r:embed="rId25"/>
              <a:stretch>
                <a:fillRect/>
              </a:stretch>
            </p:blipFill>
            <p:spPr>
              <a:xfrm>
                <a:off x="3851357" y="1492617"/>
                <a:ext cx="581693" cy="1253453"/>
              </a:xfrm>
              <a:prstGeom prst="rect">
                <a:avLst/>
              </a:prstGeom>
            </p:spPr>
          </p:pic>
          <p:sp>
            <p:nvSpPr>
              <p:cNvPr id="102" name="TextBox 101">
                <a:extLst>
                  <a:ext uri="{FF2B5EF4-FFF2-40B4-BE49-F238E27FC236}">
                    <a16:creationId xmlns:a16="http://schemas.microsoft.com/office/drawing/2014/main" id="{6EBAA5CC-760A-474C-8764-3A5A169C57B8}"/>
                  </a:ext>
                </a:extLst>
              </p:cNvPr>
              <p:cNvSpPr txBox="1"/>
              <p:nvPr/>
            </p:nvSpPr>
            <p:spPr>
              <a:xfrm>
                <a:off x="3850217" y="2749972"/>
                <a:ext cx="898583"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mbrouwnkf@</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Account Manager UK</a:t>
                </a:r>
                <a:endParaRPr lang="en-US" sz="1440" dirty="0">
                  <a:solidFill>
                    <a:prstClr val="black"/>
                  </a:solidFill>
                  <a:latin typeface="Calibri" panose="020F0502020204030204"/>
                  <a:sym typeface="Helvetica"/>
                </a:endParaRPr>
              </a:p>
            </p:txBody>
          </p:sp>
        </p:grpSp>
      </p:grpSp>
      <p:grpSp>
        <p:nvGrpSpPr>
          <p:cNvPr id="51" name="Group 50"/>
          <p:cNvGrpSpPr/>
          <p:nvPr/>
        </p:nvGrpSpPr>
        <p:grpSpPr>
          <a:xfrm>
            <a:off x="11522396" y="852749"/>
            <a:ext cx="3159246" cy="3122862"/>
            <a:chOff x="9791408" y="3363796"/>
            <a:chExt cx="2632705" cy="2602385"/>
          </a:xfrm>
        </p:grpSpPr>
        <p:pic>
          <p:nvPicPr>
            <p:cNvPr id="80" name="Picture 79">
              <a:extLst>
                <a:ext uri="{FF2B5EF4-FFF2-40B4-BE49-F238E27FC236}">
                  <a16:creationId xmlns:a16="http://schemas.microsoft.com/office/drawing/2014/main" id="{8D23C444-C99C-564C-BEC9-DD2115F20993}"/>
                </a:ext>
              </a:extLst>
            </p:cNvPr>
            <p:cNvPicPr>
              <a:picLocks noChangeAspect="1"/>
            </p:cNvPicPr>
            <p:nvPr/>
          </p:nvPicPr>
          <p:blipFill>
            <a:blip r:embed="rId26"/>
            <a:stretch>
              <a:fillRect/>
            </a:stretch>
          </p:blipFill>
          <p:spPr>
            <a:xfrm>
              <a:off x="9791760" y="4145195"/>
              <a:ext cx="579895" cy="1253463"/>
            </a:xfrm>
            <a:prstGeom prst="rect">
              <a:avLst/>
            </a:prstGeom>
          </p:spPr>
        </p:pic>
        <p:grpSp>
          <p:nvGrpSpPr>
            <p:cNvPr id="50" name="Group 49"/>
            <p:cNvGrpSpPr/>
            <p:nvPr/>
          </p:nvGrpSpPr>
          <p:grpSpPr>
            <a:xfrm>
              <a:off x="9791408" y="3363796"/>
              <a:ext cx="2632705" cy="2602385"/>
              <a:chOff x="9791408" y="3363796"/>
              <a:chExt cx="2632705" cy="2602385"/>
            </a:xfrm>
          </p:grpSpPr>
          <p:sp>
            <p:nvSpPr>
              <p:cNvPr id="10" name="Rounded Rectangle 4">
                <a:extLst>
                  <a:ext uri="{FF2B5EF4-FFF2-40B4-BE49-F238E27FC236}">
                    <a16:creationId xmlns:a16="http://schemas.microsoft.com/office/drawing/2014/main" id="{FB137ED5-C818-6544-8C55-DCB66E4A5E64}"/>
                  </a:ext>
                </a:extLst>
              </p:cNvPr>
              <p:cNvSpPr/>
              <p:nvPr/>
            </p:nvSpPr>
            <p:spPr>
              <a:xfrm>
                <a:off x="9791408" y="3363796"/>
                <a:ext cx="2530109" cy="241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Billing Support &amp; Concierge (CS)</a:t>
                </a:r>
              </a:p>
            </p:txBody>
          </p:sp>
          <p:sp>
            <p:nvSpPr>
              <p:cNvPr id="11" name="TextBox 10">
                <a:extLst>
                  <a:ext uri="{FF2B5EF4-FFF2-40B4-BE49-F238E27FC236}">
                    <a16:creationId xmlns:a16="http://schemas.microsoft.com/office/drawing/2014/main" id="{97B9FBD5-2BB4-0840-800A-17E8D7A3D1F2}"/>
                  </a:ext>
                </a:extLst>
              </p:cNvPr>
              <p:cNvSpPr txBox="1"/>
              <p:nvPr/>
            </p:nvSpPr>
            <p:spPr>
              <a:xfrm>
                <a:off x="9804662" y="3613401"/>
                <a:ext cx="2619451" cy="3539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Provides support, analysis, and execution for purchasing &amp; billing.</a:t>
                </a:r>
              </a:p>
            </p:txBody>
          </p:sp>
          <p:pic>
            <p:nvPicPr>
              <p:cNvPr id="79" name="Picture 78">
                <a:extLst>
                  <a:ext uri="{FF2B5EF4-FFF2-40B4-BE49-F238E27FC236}">
                    <a16:creationId xmlns:a16="http://schemas.microsoft.com/office/drawing/2014/main" id="{0A6B1CC1-CE3D-9840-8EA2-104F5A25A8BD}"/>
                  </a:ext>
                </a:extLst>
              </p:cNvPr>
              <p:cNvPicPr>
                <a:picLocks noChangeAspect="1"/>
              </p:cNvPicPr>
              <p:nvPr/>
            </p:nvPicPr>
            <p:blipFill>
              <a:blip r:embed="rId27"/>
              <a:stretch>
                <a:fillRect/>
              </a:stretch>
            </p:blipFill>
            <p:spPr>
              <a:xfrm>
                <a:off x="11519480" y="4153497"/>
                <a:ext cx="575469" cy="1244620"/>
              </a:xfrm>
              <a:prstGeom prst="rect">
                <a:avLst/>
              </a:prstGeom>
            </p:spPr>
          </p:pic>
          <p:sp>
            <p:nvSpPr>
              <p:cNvPr id="75" name="TextBox 74">
                <a:extLst>
                  <a:ext uri="{FF2B5EF4-FFF2-40B4-BE49-F238E27FC236}">
                    <a16:creationId xmlns:a16="http://schemas.microsoft.com/office/drawing/2014/main" id="{0C1A8762-A162-564C-AB96-5D6DDCA0EA6C}"/>
                  </a:ext>
                </a:extLst>
              </p:cNvPr>
              <p:cNvSpPr txBox="1"/>
              <p:nvPr/>
            </p:nvSpPr>
            <p:spPr>
              <a:xfrm>
                <a:off x="9804390" y="5393618"/>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maybry@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Reserved Instances</a:t>
                </a:r>
                <a:endParaRPr lang="en-US" sz="1440" dirty="0">
                  <a:solidFill>
                    <a:prstClr val="black"/>
                  </a:solidFill>
                  <a:latin typeface="Calibri" panose="020F0502020204030204"/>
                  <a:sym typeface="Helvetica"/>
                </a:endParaRPr>
              </a:p>
            </p:txBody>
          </p:sp>
          <p:sp>
            <p:nvSpPr>
              <p:cNvPr id="77" name="TextBox 76">
                <a:extLst>
                  <a:ext uri="{FF2B5EF4-FFF2-40B4-BE49-F238E27FC236}">
                    <a16:creationId xmlns:a16="http://schemas.microsoft.com/office/drawing/2014/main" id="{CF89599C-FB94-7748-AAFB-EF5CA615422B}"/>
                  </a:ext>
                </a:extLst>
              </p:cNvPr>
              <p:cNvSpPr txBox="1"/>
              <p:nvPr/>
            </p:nvSpPr>
            <p:spPr>
              <a:xfrm>
                <a:off x="10375288" y="5396796"/>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ea typeface="Helvetica Neue"/>
                    <a:cs typeface="Helvetica Neue"/>
                    <a:sym typeface="Helvetica Neue"/>
                  </a:rPr>
                  <a:t>iiiati@</a:t>
                </a:r>
                <a:br>
                  <a:rPr lang="en-US" sz="960" dirty="0">
                    <a:solidFill>
                      <a:prstClr val="black"/>
                    </a:solidFill>
                    <a:latin typeface="Calibri" panose="020F0502020204030204"/>
                    <a:ea typeface="Helvetica Neue"/>
                    <a:cs typeface="Helvetica Neue"/>
                    <a:sym typeface="Helvetica Neue"/>
                  </a:rPr>
                </a:br>
                <a:r>
                  <a:rPr lang="en-US" sz="960" dirty="0">
                    <a:solidFill>
                      <a:prstClr val="black"/>
                    </a:solidFill>
                    <a:latin typeface="Calibri" panose="020F0502020204030204"/>
                    <a:sym typeface="Helvetica"/>
                  </a:rPr>
                  <a:t>Sr. Concierge</a:t>
                </a:r>
                <a:endParaRPr lang="en-US" sz="1440" dirty="0">
                  <a:solidFill>
                    <a:prstClr val="black"/>
                  </a:solidFill>
                  <a:latin typeface="Calibri" panose="020F0502020204030204"/>
                  <a:sym typeface="Helvetica"/>
                </a:endParaRPr>
              </a:p>
            </p:txBody>
          </p:sp>
          <p:sp>
            <p:nvSpPr>
              <p:cNvPr id="78" name="TextBox 77">
                <a:extLst>
                  <a:ext uri="{FF2B5EF4-FFF2-40B4-BE49-F238E27FC236}">
                    <a16:creationId xmlns:a16="http://schemas.microsoft.com/office/drawing/2014/main" id="{423ABB6C-0B7C-EF45-9813-02C74AA1516A}"/>
                  </a:ext>
                </a:extLst>
              </p:cNvPr>
              <p:cNvSpPr txBox="1"/>
              <p:nvPr/>
            </p:nvSpPr>
            <p:spPr>
              <a:xfrm>
                <a:off x="10946562" y="5396794"/>
                <a:ext cx="696173"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thalem@</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Custom Billing Analyst</a:t>
                </a:r>
                <a:endParaRPr lang="en-US" sz="1440" dirty="0">
                  <a:solidFill>
                    <a:prstClr val="black"/>
                  </a:solidFill>
                  <a:latin typeface="Calibri" panose="020F0502020204030204"/>
                  <a:sym typeface="Helvetica"/>
                </a:endParaRPr>
              </a:p>
            </p:txBody>
          </p:sp>
          <p:pic>
            <p:nvPicPr>
              <p:cNvPr id="2" name="Picture 1"/>
              <p:cNvPicPr>
                <a:picLocks noChangeAspect="1"/>
              </p:cNvPicPr>
              <p:nvPr/>
            </p:nvPicPr>
            <p:blipFill>
              <a:blip r:embed="rId28"/>
              <a:stretch>
                <a:fillRect/>
              </a:stretch>
            </p:blipFill>
            <p:spPr>
              <a:xfrm>
                <a:off x="10935633" y="4145385"/>
                <a:ext cx="583963" cy="1253273"/>
              </a:xfrm>
              <a:prstGeom prst="rect">
                <a:avLst/>
              </a:prstGeom>
            </p:spPr>
          </p:pic>
          <p:sp>
            <p:nvSpPr>
              <p:cNvPr id="83" name="TextBox 82">
                <a:extLst>
                  <a:ext uri="{FF2B5EF4-FFF2-40B4-BE49-F238E27FC236}">
                    <a16:creationId xmlns:a16="http://schemas.microsoft.com/office/drawing/2014/main" id="{423ABB6C-0B7C-EF45-9813-02C74AA1516A}"/>
                  </a:ext>
                </a:extLst>
              </p:cNvPr>
              <p:cNvSpPr txBox="1"/>
              <p:nvPr/>
            </p:nvSpPr>
            <p:spPr>
              <a:xfrm>
                <a:off x="11530896" y="5394717"/>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weaky@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Demand Generation</a:t>
                </a:r>
                <a:endParaRPr lang="en-US" sz="1440" dirty="0">
                  <a:solidFill>
                    <a:prstClr val="black"/>
                  </a:solidFill>
                  <a:latin typeface="Calibri" panose="020F0502020204030204"/>
                  <a:sym typeface="Helvetica"/>
                </a:endParaRPr>
              </a:p>
            </p:txBody>
          </p:sp>
          <p:pic>
            <p:nvPicPr>
              <p:cNvPr id="48" name="Picture 47"/>
              <p:cNvPicPr>
                <a:picLocks noChangeAspect="1"/>
              </p:cNvPicPr>
              <p:nvPr/>
            </p:nvPicPr>
            <p:blipFill>
              <a:blip r:embed="rId29"/>
              <a:stretch>
                <a:fillRect/>
              </a:stretch>
            </p:blipFill>
            <p:spPr>
              <a:xfrm>
                <a:off x="10369306" y="4157290"/>
                <a:ext cx="565806" cy="1235839"/>
              </a:xfrm>
              <a:prstGeom prst="rect">
                <a:avLst/>
              </a:prstGeom>
            </p:spPr>
          </p:pic>
        </p:grpSp>
      </p:grpSp>
      <p:grpSp>
        <p:nvGrpSpPr>
          <p:cNvPr id="61" name="Group 60"/>
          <p:cNvGrpSpPr/>
          <p:nvPr/>
        </p:nvGrpSpPr>
        <p:grpSpPr>
          <a:xfrm>
            <a:off x="317292" y="4036554"/>
            <a:ext cx="5154008" cy="3421132"/>
            <a:chOff x="197734" y="3363795"/>
            <a:chExt cx="4295007" cy="2850943"/>
          </a:xfrm>
        </p:grpSpPr>
        <p:pic>
          <p:nvPicPr>
            <p:cNvPr id="98" name="Picture 97"/>
            <p:cNvPicPr>
              <a:picLocks noChangeAspect="1"/>
            </p:cNvPicPr>
            <p:nvPr/>
          </p:nvPicPr>
          <p:blipFill>
            <a:blip r:embed="rId30"/>
            <a:stretch>
              <a:fillRect/>
            </a:stretch>
          </p:blipFill>
          <p:spPr>
            <a:xfrm>
              <a:off x="275191" y="4143737"/>
              <a:ext cx="577771" cy="1264726"/>
            </a:xfrm>
            <a:prstGeom prst="rect">
              <a:avLst/>
            </a:prstGeom>
          </p:spPr>
        </p:pic>
        <p:grpSp>
          <p:nvGrpSpPr>
            <p:cNvPr id="59" name="Group 58"/>
            <p:cNvGrpSpPr/>
            <p:nvPr/>
          </p:nvGrpSpPr>
          <p:grpSpPr>
            <a:xfrm>
              <a:off x="197734" y="3363795"/>
              <a:ext cx="4295007" cy="2850943"/>
              <a:chOff x="197734" y="3363795"/>
              <a:chExt cx="4295007" cy="2850943"/>
            </a:xfrm>
          </p:grpSpPr>
          <p:pic>
            <p:nvPicPr>
              <p:cNvPr id="94" name="Picture 93">
                <a:extLst>
                  <a:ext uri="{FF2B5EF4-FFF2-40B4-BE49-F238E27FC236}">
                    <a16:creationId xmlns:a16="http://schemas.microsoft.com/office/drawing/2014/main" id="{62940BB3-10D4-9C43-A4F5-FF988ADE5575}"/>
                  </a:ext>
                </a:extLst>
              </p:cNvPr>
              <p:cNvPicPr>
                <a:picLocks noChangeAspect="1"/>
              </p:cNvPicPr>
              <p:nvPr/>
            </p:nvPicPr>
            <p:blipFill>
              <a:blip r:embed="rId31"/>
              <a:stretch>
                <a:fillRect/>
              </a:stretch>
            </p:blipFill>
            <p:spPr>
              <a:xfrm>
                <a:off x="2007613" y="4145932"/>
                <a:ext cx="581310" cy="1262531"/>
              </a:xfrm>
              <a:prstGeom prst="rect">
                <a:avLst/>
              </a:prstGeom>
            </p:spPr>
          </p:pic>
          <p:sp>
            <p:nvSpPr>
              <p:cNvPr id="7" name="TextBox 6">
                <a:extLst>
                  <a:ext uri="{FF2B5EF4-FFF2-40B4-BE49-F238E27FC236}">
                    <a16:creationId xmlns:a16="http://schemas.microsoft.com/office/drawing/2014/main" id="{96E33D09-CDC0-1244-B162-517BA75DEF29}"/>
                  </a:ext>
                </a:extLst>
              </p:cNvPr>
              <p:cNvSpPr txBox="1"/>
              <p:nvPr/>
            </p:nvSpPr>
            <p:spPr>
              <a:xfrm>
                <a:off x="235636" y="3605289"/>
                <a:ext cx="3285335" cy="353943"/>
              </a:xfrm>
              <a:prstGeom prst="rect">
                <a:avLst/>
              </a:prstGeom>
              <a:noFill/>
            </p:spPr>
            <p:txBody>
              <a:bodyPr wrap="square" rtlCol="0">
                <a:spAutoFit/>
              </a:bodyPr>
              <a:lstStyle/>
              <a:p>
                <a:pPr defTabSz="617190">
                  <a:defRPr/>
                </a:pPr>
                <a:r>
                  <a:rPr lang="en-US" sz="1080" dirty="0">
                    <a:solidFill>
                      <a:prstClr val="white">
                        <a:lumMod val="50000"/>
                      </a:prstClr>
                    </a:solidFill>
                    <a:latin typeface="Calibri" panose="020F0502020204030204" pitchFamily="34" charset="0"/>
                    <a:cs typeface="Calibri" panose="020F0502020204030204" pitchFamily="34" charset="0"/>
                    <a:sym typeface="Helvetica"/>
                  </a:rPr>
                  <a:t>Provide customers with technical direction, architectural guidance, and well-architected solutions.</a:t>
                </a:r>
              </a:p>
            </p:txBody>
          </p:sp>
          <p:sp>
            <p:nvSpPr>
              <p:cNvPr id="8" name="Rounded Rectangle 4">
                <a:extLst>
                  <a:ext uri="{FF2B5EF4-FFF2-40B4-BE49-F238E27FC236}">
                    <a16:creationId xmlns:a16="http://schemas.microsoft.com/office/drawing/2014/main" id="{158368F0-D940-0040-ADB8-BCEF8DC4984B}"/>
                  </a:ext>
                </a:extLst>
              </p:cNvPr>
              <p:cNvSpPr/>
              <p:nvPr/>
            </p:nvSpPr>
            <p:spPr>
              <a:xfrm>
                <a:off x="238230" y="3363795"/>
                <a:ext cx="2472167" cy="22155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Solutions Architect (SA)</a:t>
                </a:r>
              </a:p>
            </p:txBody>
          </p:sp>
          <p:pic>
            <p:nvPicPr>
              <p:cNvPr id="92" name="Picture 91">
                <a:extLst>
                  <a:ext uri="{FF2B5EF4-FFF2-40B4-BE49-F238E27FC236}">
                    <a16:creationId xmlns:a16="http://schemas.microsoft.com/office/drawing/2014/main" id="{94898629-D9C9-4D4D-898F-E6C847BF80B3}"/>
                  </a:ext>
                </a:extLst>
              </p:cNvPr>
              <p:cNvPicPr>
                <a:picLocks noChangeAspect="1"/>
              </p:cNvPicPr>
              <p:nvPr/>
            </p:nvPicPr>
            <p:blipFill>
              <a:blip r:embed="rId32"/>
              <a:stretch>
                <a:fillRect/>
              </a:stretch>
            </p:blipFill>
            <p:spPr>
              <a:xfrm>
                <a:off x="1433965" y="4137982"/>
                <a:ext cx="590189" cy="1270481"/>
              </a:xfrm>
              <a:prstGeom prst="rect">
                <a:avLst/>
              </a:prstGeom>
            </p:spPr>
          </p:pic>
          <p:pic>
            <p:nvPicPr>
              <p:cNvPr id="93" name="Picture 92">
                <a:extLst>
                  <a:ext uri="{FF2B5EF4-FFF2-40B4-BE49-F238E27FC236}">
                    <a16:creationId xmlns:a16="http://schemas.microsoft.com/office/drawing/2014/main" id="{6F63563D-B7E5-2443-8171-1E9A241B7DCB}"/>
                  </a:ext>
                </a:extLst>
              </p:cNvPr>
              <p:cNvPicPr>
                <a:picLocks noChangeAspect="1"/>
              </p:cNvPicPr>
              <p:nvPr/>
            </p:nvPicPr>
            <p:blipFill>
              <a:blip r:embed="rId33"/>
              <a:stretch>
                <a:fillRect/>
              </a:stretch>
            </p:blipFill>
            <p:spPr>
              <a:xfrm>
                <a:off x="852069" y="4137982"/>
                <a:ext cx="582873" cy="1270481"/>
              </a:xfrm>
              <a:prstGeom prst="rect">
                <a:avLst/>
              </a:prstGeom>
            </p:spPr>
          </p:pic>
          <p:sp>
            <p:nvSpPr>
              <p:cNvPr id="86" name="TextBox 85">
                <a:extLst>
                  <a:ext uri="{FF2B5EF4-FFF2-40B4-BE49-F238E27FC236}">
                    <a16:creationId xmlns:a16="http://schemas.microsoft.com/office/drawing/2014/main" id="{DD65F559-51D0-CE42-AFBD-6C42A824760A}"/>
                  </a:ext>
                </a:extLst>
              </p:cNvPr>
              <p:cNvSpPr txBox="1"/>
              <p:nvPr/>
            </p:nvSpPr>
            <p:spPr>
              <a:xfrm>
                <a:off x="197734" y="5399132"/>
                <a:ext cx="731210" cy="323165"/>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eribecky@</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Manager</a:t>
                </a:r>
                <a:endParaRPr lang="en-US" sz="1440" dirty="0">
                  <a:solidFill>
                    <a:prstClr val="black"/>
                  </a:solidFill>
                  <a:latin typeface="Calibri" panose="020F0502020204030204"/>
                  <a:sym typeface="Helvetica"/>
                </a:endParaRPr>
              </a:p>
            </p:txBody>
          </p:sp>
          <p:sp>
            <p:nvSpPr>
              <p:cNvPr id="87" name="TextBox 86">
                <a:extLst>
                  <a:ext uri="{FF2B5EF4-FFF2-40B4-BE49-F238E27FC236}">
                    <a16:creationId xmlns:a16="http://schemas.microsoft.com/office/drawing/2014/main" id="{AE8903BC-8C4F-3646-A61C-97FCF100754A}"/>
                  </a:ext>
                </a:extLst>
              </p:cNvPr>
              <p:cNvSpPr txBox="1"/>
              <p:nvPr/>
            </p:nvSpPr>
            <p:spPr>
              <a:xfrm>
                <a:off x="1451625" y="5399131"/>
                <a:ext cx="653541" cy="81560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donbarb@</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Principal Solutions Architect</a:t>
                </a:r>
              </a:p>
              <a:p>
                <a:pPr defTabSz="1097280"/>
                <a:r>
                  <a:rPr lang="en-US" sz="960" dirty="0" err="1">
                    <a:solidFill>
                      <a:prstClr val="black"/>
                    </a:solidFill>
                    <a:latin typeface="Calibri" panose="020F0502020204030204"/>
                    <a:sym typeface="Helvetica"/>
                  </a:rPr>
                  <a:t>PowerUP</a:t>
                </a:r>
                <a:r>
                  <a:rPr lang="en-US" sz="960" dirty="0">
                    <a:solidFill>
                      <a:prstClr val="black"/>
                    </a:solidFill>
                    <a:latin typeface="Calibri" panose="020F0502020204030204"/>
                    <a:sym typeface="Helvetica"/>
                  </a:rPr>
                  <a:t>, EP2T</a:t>
                </a:r>
                <a:endParaRPr lang="en-US" sz="1440" dirty="0">
                  <a:solidFill>
                    <a:prstClr val="black"/>
                  </a:solidFill>
                  <a:latin typeface="Calibri" panose="020F0502020204030204"/>
                  <a:sym typeface="Helvetica"/>
                </a:endParaRPr>
              </a:p>
            </p:txBody>
          </p:sp>
          <p:sp>
            <p:nvSpPr>
              <p:cNvPr id="88" name="TextBox 87">
                <a:extLst>
                  <a:ext uri="{FF2B5EF4-FFF2-40B4-BE49-F238E27FC236}">
                    <a16:creationId xmlns:a16="http://schemas.microsoft.com/office/drawing/2014/main" id="{08B282AB-099D-EF41-9940-6C22F030E233}"/>
                  </a:ext>
                </a:extLst>
              </p:cNvPr>
              <p:cNvSpPr txBox="1"/>
              <p:nvPr/>
            </p:nvSpPr>
            <p:spPr>
              <a:xfrm>
                <a:off x="859019" y="5399131"/>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mhaken@</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Principal Technologist</a:t>
                </a:r>
                <a:endParaRPr lang="en-US" sz="1440" dirty="0">
                  <a:solidFill>
                    <a:prstClr val="black"/>
                  </a:solidFill>
                  <a:latin typeface="Calibri" panose="020F0502020204030204"/>
                  <a:sym typeface="Helvetica"/>
                </a:endParaRPr>
              </a:p>
            </p:txBody>
          </p:sp>
          <p:sp>
            <p:nvSpPr>
              <p:cNvPr id="89" name="TextBox 88">
                <a:extLst>
                  <a:ext uri="{FF2B5EF4-FFF2-40B4-BE49-F238E27FC236}">
                    <a16:creationId xmlns:a16="http://schemas.microsoft.com/office/drawing/2014/main" id="{59CCC3A3-6708-AF45-BCEB-B05DC05CB9A5}"/>
                  </a:ext>
                </a:extLst>
              </p:cNvPr>
              <p:cNvSpPr txBox="1"/>
              <p:nvPr/>
            </p:nvSpPr>
            <p:spPr>
              <a:xfrm>
                <a:off x="2026710" y="5399131"/>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stanaws@</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FS, Retail</a:t>
                </a:r>
                <a:endParaRPr lang="en-US" sz="1440" dirty="0">
                  <a:solidFill>
                    <a:prstClr val="black"/>
                  </a:solidFill>
                  <a:latin typeface="Calibri" panose="020F0502020204030204"/>
                  <a:sym typeface="Helvetica"/>
                </a:endParaRPr>
              </a:p>
            </p:txBody>
          </p:sp>
          <p:sp>
            <p:nvSpPr>
              <p:cNvPr id="90" name="TextBox 89">
                <a:extLst>
                  <a:ext uri="{FF2B5EF4-FFF2-40B4-BE49-F238E27FC236}">
                    <a16:creationId xmlns:a16="http://schemas.microsoft.com/office/drawing/2014/main" id="{84C3653F-C084-4C42-9FEF-B35FDA7E35A9}"/>
                  </a:ext>
                </a:extLst>
              </p:cNvPr>
              <p:cNvSpPr txBox="1"/>
              <p:nvPr/>
            </p:nvSpPr>
            <p:spPr>
              <a:xfrm>
                <a:off x="3761531" y="5399131"/>
                <a:ext cx="731210" cy="446276"/>
              </a:xfrm>
              <a:prstGeom prst="rect">
                <a:avLst/>
              </a:prstGeom>
              <a:noFill/>
            </p:spPr>
            <p:txBody>
              <a:bodyPr wrap="square" rtlCol="0">
                <a:spAutoFit/>
              </a:bodyPr>
              <a:lstStyle/>
              <a:p>
                <a:pPr defTabSz="1097280"/>
                <a:r>
                  <a:rPr lang="en-US" sz="960" dirty="0">
                    <a:solidFill>
                      <a:prstClr val="black"/>
                    </a:solidFill>
                    <a:latin typeface="Calibri" panose="020F0502020204030204"/>
                  </a:rPr>
                  <a:t>amirnyc</a:t>
                </a:r>
                <a:r>
                  <a:rPr lang="en-US" sz="960" dirty="0">
                    <a:solidFill>
                      <a:prstClr val="black"/>
                    </a:solidFill>
                    <a:latin typeface="Calibri" panose="020F0502020204030204"/>
                    <a:sym typeface="Helvetica"/>
                  </a:rPr>
                  <a:t>@</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endParaRPr lang="en-US" sz="1440" dirty="0">
                  <a:solidFill>
                    <a:prstClr val="black"/>
                  </a:solidFill>
                  <a:latin typeface="Calibri" panose="020F0502020204030204"/>
                  <a:sym typeface="Helvetica"/>
                </a:endParaRPr>
              </a:p>
            </p:txBody>
          </p:sp>
          <p:pic>
            <p:nvPicPr>
              <p:cNvPr id="111" name="Picture 110"/>
              <p:cNvPicPr>
                <a:picLocks noChangeAspect="1"/>
              </p:cNvPicPr>
              <p:nvPr/>
            </p:nvPicPr>
            <p:blipFill>
              <a:blip r:embed="rId34"/>
              <a:stretch>
                <a:fillRect/>
              </a:stretch>
            </p:blipFill>
            <p:spPr>
              <a:xfrm>
                <a:off x="2588488" y="4144472"/>
                <a:ext cx="588957" cy="1263991"/>
              </a:xfrm>
              <a:prstGeom prst="rect">
                <a:avLst/>
              </a:prstGeom>
            </p:spPr>
          </p:pic>
          <p:sp>
            <p:nvSpPr>
              <p:cNvPr id="112" name="TextBox 111">
                <a:extLst>
                  <a:ext uri="{FF2B5EF4-FFF2-40B4-BE49-F238E27FC236}">
                    <a16:creationId xmlns:a16="http://schemas.microsoft.com/office/drawing/2014/main" id="{59CCC3A3-6708-AF45-BCEB-B05DC05CB9A5}"/>
                  </a:ext>
                </a:extLst>
              </p:cNvPr>
              <p:cNvSpPr txBox="1"/>
              <p:nvPr/>
            </p:nvSpPr>
            <p:spPr>
              <a:xfrm>
                <a:off x="2605893" y="5399131"/>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castelha@</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Card, Cyber</a:t>
                </a:r>
                <a:endParaRPr lang="en-US" sz="1440" dirty="0">
                  <a:solidFill>
                    <a:prstClr val="black"/>
                  </a:solidFill>
                  <a:latin typeface="Calibri" panose="020F0502020204030204"/>
                  <a:sym typeface="Helvetica"/>
                </a:endParaRPr>
              </a:p>
            </p:txBody>
          </p:sp>
          <p:pic>
            <p:nvPicPr>
              <p:cNvPr id="58" name="Picture 57"/>
              <p:cNvPicPr>
                <a:picLocks noChangeAspect="1"/>
              </p:cNvPicPr>
              <p:nvPr/>
            </p:nvPicPr>
            <p:blipFill>
              <a:blip r:embed="rId35"/>
              <a:stretch>
                <a:fillRect/>
              </a:stretch>
            </p:blipFill>
            <p:spPr>
              <a:xfrm>
                <a:off x="3171792" y="4150324"/>
                <a:ext cx="576265" cy="1257990"/>
              </a:xfrm>
              <a:prstGeom prst="rect">
                <a:avLst/>
              </a:prstGeom>
            </p:spPr>
          </p:pic>
          <p:sp>
            <p:nvSpPr>
              <p:cNvPr id="116" name="TextBox 115">
                <a:extLst>
                  <a:ext uri="{FF2B5EF4-FFF2-40B4-BE49-F238E27FC236}">
                    <a16:creationId xmlns:a16="http://schemas.microsoft.com/office/drawing/2014/main" id="{59CCC3A3-6708-AF45-BCEB-B05DC05CB9A5}"/>
                  </a:ext>
                </a:extLst>
              </p:cNvPr>
              <p:cNvSpPr txBox="1"/>
              <p:nvPr/>
            </p:nvSpPr>
            <p:spPr>
              <a:xfrm>
                <a:off x="3177404" y="5403884"/>
                <a:ext cx="731210" cy="569387"/>
              </a:xfrm>
              <a:prstGeom prst="rect">
                <a:avLst/>
              </a:prstGeom>
              <a:noFill/>
            </p:spPr>
            <p:txBody>
              <a:bodyPr wrap="square" rtlCol="0">
                <a:spAutoFit/>
              </a:bodyPr>
              <a:lstStyle/>
              <a:p>
                <a:pPr defTabSz="1097280"/>
                <a:r>
                  <a:rPr lang="en-US" sz="960" dirty="0">
                    <a:solidFill>
                      <a:prstClr val="black"/>
                    </a:solidFill>
                    <a:latin typeface="Calibri" panose="020F0502020204030204"/>
                    <a:sym typeface="Helvetica"/>
                  </a:rPr>
                  <a:t>baananth@</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Solutions Architect</a:t>
                </a:r>
              </a:p>
              <a:p>
                <a:pPr defTabSz="1097280"/>
                <a:r>
                  <a:rPr lang="en-US" sz="960" dirty="0">
                    <a:solidFill>
                      <a:prstClr val="black"/>
                    </a:solidFill>
                    <a:latin typeface="Calibri" panose="020F0502020204030204"/>
                    <a:sym typeface="Helvetica"/>
                  </a:rPr>
                  <a:t>UK</a:t>
                </a:r>
                <a:endParaRPr lang="en-US" sz="1440" dirty="0">
                  <a:solidFill>
                    <a:prstClr val="black"/>
                  </a:solidFill>
                  <a:latin typeface="Calibri" panose="020F0502020204030204"/>
                  <a:sym typeface="Helvetica"/>
                </a:endParaRPr>
              </a:p>
            </p:txBody>
          </p:sp>
        </p:grpSp>
      </p:grpSp>
      <p:grpSp>
        <p:nvGrpSpPr>
          <p:cNvPr id="42" name="Group 41"/>
          <p:cNvGrpSpPr/>
          <p:nvPr/>
        </p:nvGrpSpPr>
        <p:grpSpPr>
          <a:xfrm>
            <a:off x="12895765" y="4142122"/>
            <a:ext cx="1853483" cy="2894459"/>
            <a:chOff x="10251170" y="3451768"/>
            <a:chExt cx="1544569" cy="2412049"/>
          </a:xfrm>
        </p:grpSpPr>
        <p:sp>
          <p:nvSpPr>
            <p:cNvPr id="104" name="Rounded Rectangle 4">
              <a:extLst>
                <a:ext uri="{FF2B5EF4-FFF2-40B4-BE49-F238E27FC236}">
                  <a16:creationId xmlns:a16="http://schemas.microsoft.com/office/drawing/2014/main" id="{FB137ED5-C818-6544-8C55-DCB66E4A5E64}"/>
                </a:ext>
              </a:extLst>
            </p:cNvPr>
            <p:cNvSpPr/>
            <p:nvPr/>
          </p:nvSpPr>
          <p:spPr>
            <a:xfrm>
              <a:off x="10306066" y="3451768"/>
              <a:ext cx="1166539" cy="2414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4864" tIns="54864" rIns="54864" bIns="54864" numCol="1" spcCol="1270" anchor="ctr" anchorCtr="0">
              <a:noAutofit/>
            </a:bodyPr>
            <a:lstStyle/>
            <a:p>
              <a:pPr defTabSz="960048">
                <a:lnSpc>
                  <a:spcPct val="90000"/>
                </a:lnSpc>
                <a:spcBef>
                  <a:spcPct val="0"/>
                </a:spcBef>
                <a:spcAft>
                  <a:spcPct val="35000"/>
                </a:spcAft>
              </a:pPr>
              <a:r>
                <a:rPr lang="en-US" sz="1200" b="1" dirty="0">
                  <a:solidFill>
                    <a:prstClr val="white">
                      <a:lumMod val="50000"/>
                    </a:prstClr>
                  </a:solidFill>
                  <a:latin typeface="Calibri" panose="020F0502020204030204" pitchFamily="34" charset="0"/>
                  <a:cs typeface="Calibri" panose="020F0502020204030204" pitchFamily="34" charset="0"/>
                  <a:sym typeface="Helvetica"/>
                </a:rPr>
                <a:t>Partner Success Manager (PSM)</a:t>
              </a:r>
            </a:p>
          </p:txBody>
        </p:sp>
        <p:sp>
          <p:nvSpPr>
            <p:cNvPr id="105" name="TextBox 104">
              <a:extLst>
                <a:ext uri="{FF2B5EF4-FFF2-40B4-BE49-F238E27FC236}">
                  <a16:creationId xmlns:a16="http://schemas.microsoft.com/office/drawing/2014/main" id="{97B9FBD5-2BB4-0840-800A-17E8D7A3D1F2}"/>
                </a:ext>
              </a:extLst>
            </p:cNvPr>
            <p:cNvSpPr txBox="1"/>
            <p:nvPr/>
          </p:nvSpPr>
          <p:spPr>
            <a:xfrm>
              <a:off x="10251170" y="3759254"/>
              <a:ext cx="1544569" cy="353943"/>
            </a:xfrm>
            <a:prstGeom prst="rect">
              <a:avLst/>
            </a:prstGeom>
            <a:noFill/>
          </p:spPr>
          <p:txBody>
            <a:bodyPr wrap="square" rtlCol="0">
              <a:spAutoFit/>
            </a:bodyPr>
            <a:lstStyle/>
            <a:p>
              <a:pPr defTabSz="822919"/>
              <a:r>
                <a:rPr lang="en-US" sz="1080" dirty="0">
                  <a:solidFill>
                    <a:prstClr val="white">
                      <a:lumMod val="50000"/>
                    </a:prstClr>
                  </a:solidFill>
                  <a:latin typeface="Calibri" panose="020F0502020204030204" pitchFamily="34" charset="0"/>
                  <a:cs typeface="Calibri" panose="020F0502020204030204" pitchFamily="34" charset="0"/>
                  <a:sym typeface="Helvetica"/>
                </a:rPr>
                <a:t>Managing consulting and technical partners.</a:t>
              </a:r>
            </a:p>
          </p:txBody>
        </p:sp>
        <p:pic>
          <p:nvPicPr>
            <p:cNvPr id="46" name="Picture 45"/>
            <p:cNvPicPr>
              <a:picLocks noChangeAspect="1"/>
            </p:cNvPicPr>
            <p:nvPr/>
          </p:nvPicPr>
          <p:blipFill>
            <a:blip r:embed="rId36"/>
            <a:stretch>
              <a:fillRect/>
            </a:stretch>
          </p:blipFill>
          <p:spPr>
            <a:xfrm>
              <a:off x="10331060" y="4153451"/>
              <a:ext cx="570019" cy="1235654"/>
            </a:xfrm>
            <a:prstGeom prst="rect">
              <a:avLst/>
            </a:prstGeom>
          </p:spPr>
        </p:pic>
        <p:sp>
          <p:nvSpPr>
            <p:cNvPr id="117" name="TextBox 116">
              <a:extLst>
                <a:ext uri="{FF2B5EF4-FFF2-40B4-BE49-F238E27FC236}">
                  <a16:creationId xmlns:a16="http://schemas.microsoft.com/office/drawing/2014/main" id="{88F144D1-582F-084F-8051-26346873C82F}"/>
                </a:ext>
              </a:extLst>
            </p:cNvPr>
            <p:cNvSpPr txBox="1"/>
            <p:nvPr/>
          </p:nvSpPr>
          <p:spPr>
            <a:xfrm>
              <a:off x="10355544" y="5417541"/>
              <a:ext cx="731210" cy="446276"/>
            </a:xfrm>
            <a:prstGeom prst="rect">
              <a:avLst/>
            </a:prstGeom>
            <a:noFill/>
          </p:spPr>
          <p:txBody>
            <a:bodyPr wrap="square" rtlCol="0">
              <a:spAutoFit/>
            </a:bodyPr>
            <a:lstStyle/>
            <a:p>
              <a:pPr defTabSz="1097280"/>
              <a:r>
                <a:rPr lang="en-US" sz="960">
                  <a:solidFill>
                    <a:prstClr val="black"/>
                  </a:solidFill>
                  <a:latin typeface="Calibri" panose="020F0502020204030204"/>
                  <a:sym typeface="Helvetica"/>
                </a:rPr>
                <a:t>rhoweave@</a:t>
              </a:r>
              <a:br>
                <a:rPr lang="en-US" sz="960" dirty="0">
                  <a:solidFill>
                    <a:prstClr val="black"/>
                  </a:solidFill>
                  <a:latin typeface="Calibri" panose="020F0502020204030204"/>
                  <a:sym typeface="Helvetica"/>
                </a:rPr>
              </a:br>
              <a:r>
                <a:rPr lang="en-US" sz="960" dirty="0">
                  <a:solidFill>
                    <a:prstClr val="black"/>
                  </a:solidFill>
                  <a:latin typeface="Calibri" panose="020F0502020204030204"/>
                  <a:sym typeface="Helvetica"/>
                </a:rPr>
                <a:t>Sr. Program Manager</a:t>
              </a:r>
              <a:endParaRPr lang="en-US" sz="1440" dirty="0">
                <a:solidFill>
                  <a:prstClr val="black"/>
                </a:solidFill>
                <a:latin typeface="Calibri" panose="020F0502020204030204"/>
                <a:sym typeface="Helvetica"/>
              </a:endParaRPr>
            </a:p>
          </p:txBody>
        </p:sp>
      </p:grpSp>
      <p:pic>
        <p:nvPicPr>
          <p:cNvPr id="64" name="Picture 63"/>
          <p:cNvPicPr>
            <a:picLocks noChangeAspect="1"/>
          </p:cNvPicPr>
          <p:nvPr/>
        </p:nvPicPr>
        <p:blipFill>
          <a:blip r:embed="rId37"/>
          <a:stretch>
            <a:fillRect/>
          </a:stretch>
        </p:blipFill>
        <p:spPr>
          <a:xfrm>
            <a:off x="4587195" y="4983517"/>
            <a:ext cx="696640" cy="1501145"/>
          </a:xfrm>
          <a:prstGeom prst="rect">
            <a:avLst/>
          </a:prstGeom>
        </p:spPr>
      </p:pic>
    </p:spTree>
    <p:extLst>
      <p:ext uri="{BB962C8B-B14F-4D97-AF65-F5344CB8AC3E}">
        <p14:creationId xmlns:p14="http://schemas.microsoft.com/office/powerpoint/2010/main" val="65837351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6D91-10F3-314B-9C62-316FFC780B9E}"/>
              </a:ext>
            </a:extLst>
          </p:cNvPr>
          <p:cNvSpPr>
            <a:spLocks noGrp="1"/>
          </p:cNvSpPr>
          <p:nvPr>
            <p:ph type="title"/>
          </p:nvPr>
        </p:nvSpPr>
        <p:spPr/>
        <p:txBody>
          <a:bodyPr/>
          <a:lstStyle/>
          <a:p>
            <a:r>
              <a:rPr lang="en-US" dirty="0"/>
              <a:t>Since Last PI</a:t>
            </a:r>
          </a:p>
        </p:txBody>
      </p:sp>
      <p:sp>
        <p:nvSpPr>
          <p:cNvPr id="3" name="Text Placeholder 2">
            <a:extLst>
              <a:ext uri="{FF2B5EF4-FFF2-40B4-BE49-F238E27FC236}">
                <a16:creationId xmlns:a16="http://schemas.microsoft.com/office/drawing/2014/main" id="{70AEB07B-DC11-EB4F-A241-081BFF9346A7}"/>
              </a:ext>
            </a:extLst>
          </p:cNvPr>
          <p:cNvSpPr>
            <a:spLocks noGrp="1"/>
          </p:cNvSpPr>
          <p:nvPr>
            <p:ph type="body" sz="quarter" idx="10"/>
          </p:nvPr>
        </p:nvSpPr>
        <p:spPr/>
        <p:txBody>
          <a:bodyPr/>
          <a:lstStyle/>
          <a:p>
            <a:r>
              <a:rPr lang="en-US" dirty="0"/>
              <a:t>Last PI was June 28</a:t>
            </a:r>
          </a:p>
          <a:p>
            <a:r>
              <a:rPr lang="en-US" dirty="0"/>
              <a:t>411 Product and feature announcements </a:t>
            </a:r>
          </a:p>
          <a:p>
            <a:r>
              <a:rPr lang="en-US"/>
              <a:t>Review 24</a:t>
            </a:r>
          </a:p>
          <a:p>
            <a:r>
              <a:rPr lang="en-US"/>
              <a:t>10 </a:t>
            </a:r>
            <a:r>
              <a:rPr lang="en-US" dirty="0"/>
              <a:t>minutes</a:t>
            </a:r>
          </a:p>
          <a:p>
            <a:endParaRPr lang="en-US" dirty="0"/>
          </a:p>
          <a:p>
            <a:r>
              <a:rPr lang="en-US" dirty="0"/>
              <a:t>Talk more? </a:t>
            </a:r>
            <a:r>
              <a:rPr lang="en-US" dirty="0" err="1"/>
              <a:t>stanaws@amazon.com</a:t>
            </a:r>
            <a:endParaRPr lang="en-US" dirty="0"/>
          </a:p>
          <a:p>
            <a:endParaRPr lang="en-US" dirty="0"/>
          </a:p>
        </p:txBody>
      </p:sp>
    </p:spTree>
    <p:extLst>
      <p:ext uri="{BB962C8B-B14F-4D97-AF65-F5344CB8AC3E}">
        <p14:creationId xmlns:p14="http://schemas.microsoft.com/office/powerpoint/2010/main" val="427262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File System introduces Intelligent-Tiering to automatically optimize storage costs</a:t>
            </a:r>
          </a:p>
        </p:txBody>
      </p:sp>
      <p:sp>
        <p:nvSpPr>
          <p:cNvPr id="3" name="Content Placeholder 2"/>
          <p:cNvSpPr>
            <a:spLocks noGrp="1"/>
          </p:cNvSpPr>
          <p:nvPr>
            <p:ph sz="half" idx="1"/>
          </p:nvPr>
        </p:nvSpPr>
        <p:spPr/>
        <p:txBody>
          <a:bodyPr/>
          <a:lstStyle/>
          <a:p>
            <a:r>
              <a:t>02 Sep</a:t>
            </a:r>
          </a:p>
          <a:p>
            <a:endParaRPr/>
          </a:p>
          <a:p>
            <a:r>
              <a:t>Amazon Elastic File System (EFS) now supports Intelligent-Tiering, a new capability that makes it easier for you to optimize costs for shared file storage, even when access patterns change. EFS Intelligent-Tiering is designed to help you achieve the right price and performance blend for your application file data by placing your file data in a storage class based on file access patterns.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Announces General Availability of Amazon EBS io2 Block Express Volumes</a:t>
            </a:r>
          </a:p>
        </p:txBody>
      </p:sp>
      <p:sp>
        <p:nvSpPr>
          <p:cNvPr id="3" name="Content Placeholder 2"/>
          <p:cNvSpPr>
            <a:spLocks noGrp="1"/>
          </p:cNvSpPr>
          <p:nvPr>
            <p:ph sz="half" idx="1"/>
          </p:nvPr>
        </p:nvSpPr>
        <p:spPr/>
        <p:txBody>
          <a:bodyPr>
            <a:normAutofit fontScale="92500" lnSpcReduction="20000"/>
          </a:bodyPr>
          <a:lstStyle/>
          <a:p>
            <a:r>
              <a:t>19 Jul</a:t>
            </a:r>
          </a:p>
          <a:p>
            <a:endParaRPr/>
          </a:p>
          <a:p>
            <a:r>
              <a:t>Today AWS announced general availability of io2 Block Express volumes that deliver up to 4x higher throughput, IOPS, and capacity than io2 volumes, and are designed to deliver sub-millisecond latency and 99.999% durability. io2 Block Express refers to io2 volumes running on the EBS Block Express architecture, and supports standard io2 features such as Multi-Attach and Elastic Volumes. io2 Block Express volumes are available first with Amazon EC2 R5b instances, which delivers the highest EBS-optimized performance, with support for other instances coming soon. Using R5b instances customers can now provision a single io2 volume with up to 256,000 IOPS, 4000 MB/s of throughput, and storage capacity of 64 TiB. This makes io2 Block Express and R5b instance combination ideal for your largest, most I/O intensive, and mission critical deployments of Oracle, SAP HANA, Microsoft SQL Server, and SAS Analytics.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Backup Audit Manager</a:t>
            </a:r>
          </a:p>
        </p:txBody>
      </p:sp>
      <p:sp>
        <p:nvSpPr>
          <p:cNvPr id="3" name="Content Placeholder 2"/>
          <p:cNvSpPr>
            <a:spLocks noGrp="1"/>
          </p:cNvSpPr>
          <p:nvPr>
            <p:ph sz="half" idx="1"/>
          </p:nvPr>
        </p:nvSpPr>
        <p:spPr/>
        <p:txBody>
          <a:bodyPr>
            <a:normAutofit lnSpcReduction="10000"/>
          </a:bodyPr>
          <a:lstStyle/>
          <a:p>
            <a:r>
              <a:t>24 Aug</a:t>
            </a:r>
          </a:p>
          <a:p>
            <a:endParaRPr/>
          </a:p>
          <a:p>
            <a:r>
              <a:t>AWS Backup announces AWS Backup Audit Manager, a new feature within the AWS Backup service that allows you to audit and report on the compliance of your data protection policies to help you meet your business and regulatory needs. AWS Backup enables you to centralize and automate data protection policies across AWS services based on organizational best practices and regulatory standards, and AWS Backup Audit Manager helps you maintain and demonstrate compliance with those policies. AWS Backup Audit Manager is also integrated with AWS Audit Manager, an AWS service that helps customers with overall audit readiness.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lowers data processing charges for AWS PrivateLink</a:t>
            </a:r>
          </a:p>
        </p:txBody>
      </p:sp>
      <p:sp>
        <p:nvSpPr>
          <p:cNvPr id="3" name="Content Placeholder 2"/>
          <p:cNvSpPr>
            <a:spLocks noGrp="1"/>
          </p:cNvSpPr>
          <p:nvPr>
            <p:ph sz="half" idx="1"/>
          </p:nvPr>
        </p:nvSpPr>
        <p:spPr/>
        <p:txBody>
          <a:bodyPr/>
          <a:lstStyle/>
          <a:p>
            <a:r>
              <a:t>08 Jul</a:t>
            </a:r>
          </a:p>
          <a:p>
            <a:endParaRPr/>
          </a:p>
          <a:p>
            <a:r>
              <a:t>Effective July 1, 2021, AWS is reducing data processing charges for VPC Interface Endpoints (powered by AWS PrivateLink). The new tiered pricing will reduce the costs for accessing high-volume, data intensive services over AWS PrivateLink. AWS PrivateLink enables customers to access AWS services or any other service hosted on AWS in a secure and scalable manner, while keeping all the network traffic within the AWS network.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AWS Compute Optimizer Now Helps Customers Understand Impact of Migrating to Graviton2-based Instances</a:t>
            </a:r>
          </a:p>
        </p:txBody>
      </p:sp>
      <p:sp>
        <p:nvSpPr>
          <p:cNvPr id="3" name="Content Placeholder 2"/>
          <p:cNvSpPr>
            <a:spLocks noGrp="1"/>
          </p:cNvSpPr>
          <p:nvPr>
            <p:ph sz="half" idx="1"/>
          </p:nvPr>
        </p:nvSpPr>
        <p:spPr/>
        <p:txBody>
          <a:bodyPr/>
          <a:lstStyle/>
          <a:p>
            <a:r>
              <a:t>26 Aug</a:t>
            </a:r>
          </a:p>
          <a:p>
            <a:endParaRPr/>
          </a:p>
          <a:p>
            <a:r>
              <a:t>AWS Compute Optimizer now helps customers understand impact of migrating to Graviton2-based instances by recommending up to 3 Graviton2-based instance type options for x86-based Linux instances.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hlinkClick r:id="rId2"/>
              </a:rPr>
              <a:t>Announcing Amazon MemoryDB for Redis</a:t>
            </a:r>
          </a:p>
        </p:txBody>
      </p:sp>
      <p:sp>
        <p:nvSpPr>
          <p:cNvPr id="3" name="Content Placeholder 2"/>
          <p:cNvSpPr>
            <a:spLocks noGrp="1"/>
          </p:cNvSpPr>
          <p:nvPr>
            <p:ph sz="half" idx="1"/>
          </p:nvPr>
        </p:nvSpPr>
        <p:spPr/>
        <p:txBody>
          <a:bodyPr>
            <a:normAutofit fontScale="92500"/>
          </a:bodyPr>
          <a:lstStyle/>
          <a:p>
            <a:r>
              <a:rPr dirty="0"/>
              <a:t>19 Aug</a:t>
            </a:r>
          </a:p>
          <a:p>
            <a:r>
              <a:rPr lang="en-US" dirty="0">
                <a:hlinkClick r:id="rId3"/>
              </a:rPr>
              <a:t>Amazon MemoryDB for Redis</a:t>
            </a:r>
            <a:r>
              <a:rPr lang="en-US" dirty="0"/>
              <a:t> is a new Redis-compatible, durable, in-memory database service that delivers ultra-fast performance. It is purpose-built for modern applications with microservices architectures. Amazon </a:t>
            </a:r>
            <a:r>
              <a:rPr lang="en-US" dirty="0" err="1"/>
              <a:t>MemoryDB</a:t>
            </a:r>
            <a:r>
              <a:rPr lang="en-US" dirty="0"/>
              <a:t> is compatible with </a:t>
            </a:r>
            <a:r>
              <a:rPr lang="en-US" dirty="0">
                <a:hlinkClick r:id="rId4"/>
              </a:rPr>
              <a:t>Redis</a:t>
            </a:r>
            <a:r>
              <a:rPr lang="en-US" dirty="0"/>
              <a:t>, a popular open source data store, enabling customers to quickly build applications using the same flexible and friendly Redis data structures, APIs, and commands that they already use today. With Amazon </a:t>
            </a:r>
            <a:r>
              <a:rPr lang="en-US" dirty="0" err="1"/>
              <a:t>MemoryDB</a:t>
            </a:r>
            <a:r>
              <a:rPr lang="en-US" dirty="0"/>
              <a:t>, all of your data is stored in memory, which enables you to achieve microsecond read and single-digit millisecond write latency and high throughput. Amazon </a:t>
            </a:r>
            <a:r>
              <a:rPr lang="en-US" dirty="0" err="1"/>
              <a:t>MemoryDB</a:t>
            </a:r>
            <a:r>
              <a:rPr lang="en-US" dirty="0"/>
              <a:t> also stores data durably across multiple Availability Zones (AZs) using a Multi-AZ transactional log to enable fast failover, database recovery, and node restarts.</a:t>
            </a:r>
            <a:endParaRPr dirty="0"/>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Redis as a target</a:t>
            </a:r>
          </a:p>
        </p:txBody>
      </p:sp>
      <p:sp>
        <p:nvSpPr>
          <p:cNvPr id="3" name="Content Placeholder 2"/>
          <p:cNvSpPr>
            <a:spLocks noGrp="1"/>
          </p:cNvSpPr>
          <p:nvPr>
            <p:ph sz="half" idx="1"/>
          </p:nvPr>
        </p:nvSpPr>
        <p:spPr/>
        <p:txBody>
          <a:bodyPr>
            <a:normAutofit fontScale="92500" lnSpcReduction="20000"/>
          </a:bodyPr>
          <a:lstStyle/>
          <a:p>
            <a:r>
              <a:t>30 Aug</a:t>
            </a:r>
          </a:p>
          <a:p>
            <a:endParaRPr/>
          </a:p>
          <a:p>
            <a:r>
              <a:t>AWS Database Migration Service (AWS DMS) expands functionality by adding support for Redis, Amazon ElastiCache for Redis, and Amazon MemoryDB for Redis as targets. Redis is a fast, open-source, in-memory key-value data store for use as a cache, database, message broker, and queue. Amazon ElastiCache for Redis is a fully managed caching service that combines the speed, simplicity, and versatility of open-source Redis with manageability, security, and scalability from Amazon to power the most demanding real-time applications. Amazon MemoryDB for Redis is a Redis-compatible, durable, in-memory database service that delivers ultra-fast performance for modern, microservices applications. Using AWS DMS, you can now migrate data live from any AWS DMS supported sources  to Redis data stores with minimal downtime.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ElastiCache for Redis now supports auto scaling</a:t>
            </a:r>
          </a:p>
        </p:txBody>
      </p:sp>
      <p:sp>
        <p:nvSpPr>
          <p:cNvPr id="3" name="Content Placeholder 2"/>
          <p:cNvSpPr>
            <a:spLocks noGrp="1"/>
          </p:cNvSpPr>
          <p:nvPr>
            <p:ph sz="half" idx="1"/>
          </p:nvPr>
        </p:nvSpPr>
        <p:spPr/>
        <p:txBody>
          <a:bodyPr/>
          <a:lstStyle/>
          <a:p>
            <a:r>
              <a:t>20 Aug</a:t>
            </a:r>
          </a:p>
          <a:p>
            <a:endParaRPr/>
          </a:p>
          <a:p>
            <a:r>
              <a:t>Amazon ElastiCache for Redis now supports auto scaling to automatically adjust capacity to maintain steady, predictable performance at the lowest possible cost. You can automatically scale your cluster horizontally by adding or removing shards or replica nodes. ElastiCache for Redis uses AWS Application Auto Scaling to manage scaling and Amazon CloudWatch metrics to determine when it is time to scale up or down.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13</a:t>
            </a:r>
          </a:p>
        </p:txBody>
      </p:sp>
      <p:sp>
        <p:nvSpPr>
          <p:cNvPr id="3" name="Content Placeholder 2"/>
          <p:cNvSpPr>
            <a:spLocks noGrp="1"/>
          </p:cNvSpPr>
          <p:nvPr>
            <p:ph sz="half" idx="1"/>
          </p:nvPr>
        </p:nvSpPr>
        <p:spPr/>
        <p:txBody>
          <a:bodyPr/>
          <a:lstStyle/>
          <a:p>
            <a:r>
              <a:t>26 Aug</a:t>
            </a:r>
          </a:p>
          <a:p>
            <a:endParaRPr/>
          </a:p>
          <a:p>
            <a:r>
              <a:t>Amazon Aurora PostgreSQL-Compatible Edition now supports PostgreSQL major version 13. PostgreSQL 13  includes improved functionality and performance from enhancements such as de-duplication of B-tree index entries, improved performance for queries that use partitioned tables, incremental sorting to accelerate data sorts, parallel processing of indexes with the VACUUM command, more ways to monitor activity within a PostgreSQL database, new security capabilities, and more. This release also adds support for bool_plperl, which simplifies writing Perl procedures.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Neptune now supports the openCypher query language</a:t>
            </a:r>
          </a:p>
        </p:txBody>
      </p:sp>
      <p:sp>
        <p:nvSpPr>
          <p:cNvPr id="3" name="Content Placeholder 2"/>
          <p:cNvSpPr>
            <a:spLocks noGrp="1"/>
          </p:cNvSpPr>
          <p:nvPr>
            <p:ph sz="half" idx="1"/>
          </p:nvPr>
        </p:nvSpPr>
        <p:spPr/>
        <p:txBody>
          <a:bodyPr/>
          <a:lstStyle/>
          <a:p>
            <a:r>
              <a:t>29 Jul</a:t>
            </a:r>
          </a:p>
          <a:p>
            <a:endParaRPr/>
          </a:p>
          <a:p>
            <a:r>
              <a:t>Amazon Neptune announced support for openCypher , a popular query language for building applications with graph databases. Developers can now use openCypher with Amazon Neptune, giving them more choices to build or migrate graph applications to a highly available, secure, and fully managed graph database. Support for openCypher is compatible with our customers’ existing property graphs and developers can use both Apache TinkerPop Gremlin and openCypher queries within the same graph.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Neptune ML is now generally available with support for edge predictions, automation, and more</a:t>
            </a:r>
          </a:p>
        </p:txBody>
      </p:sp>
      <p:sp>
        <p:nvSpPr>
          <p:cNvPr id="3" name="Content Placeholder 2"/>
          <p:cNvSpPr>
            <a:spLocks noGrp="1"/>
          </p:cNvSpPr>
          <p:nvPr>
            <p:ph sz="half" idx="1"/>
          </p:nvPr>
        </p:nvSpPr>
        <p:spPr/>
        <p:txBody>
          <a:bodyPr/>
          <a:lstStyle/>
          <a:p>
            <a:r>
              <a:t>29 Jul</a:t>
            </a:r>
          </a:p>
          <a:p>
            <a:endParaRPr/>
          </a:p>
          <a:p>
            <a:r>
              <a:t>Amazon Neptune ML, a machine learning capability for graphs that uses Graph Neural Networks (GNNs), is now generally available in all regions where Amazon Neptune is available. Using the Deep Graph Library (DGL), an open-source library to which AWS contributes, Neptune ML automates the heavy lifting of selecting and training the best ML model for graph data. With Neptune ML, you can improve the accuracy of most predictions for graphs by over 50% when compared to making predictions using non-graph methods.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Proxy can now be created in a shared Virtual Private Cloud (VPC)</a:t>
            </a:r>
          </a:p>
        </p:txBody>
      </p:sp>
      <p:sp>
        <p:nvSpPr>
          <p:cNvPr id="3" name="Content Placeholder 2"/>
          <p:cNvSpPr>
            <a:spLocks noGrp="1"/>
          </p:cNvSpPr>
          <p:nvPr>
            <p:ph sz="half" idx="1"/>
          </p:nvPr>
        </p:nvSpPr>
        <p:spPr/>
        <p:txBody>
          <a:bodyPr/>
          <a:lstStyle/>
          <a:p>
            <a:r>
              <a:t>06 Aug</a:t>
            </a:r>
          </a:p>
          <a:p>
            <a:endParaRPr/>
          </a:p>
          <a:p>
            <a:r>
              <a:t>Amazon RDS Proxy now enables you to create Proxies in a shared, centrally-managed Amazon Virtual Private Cloud (VPC). VPC sharing allows teams, each with their AWS accounts, to create resources into a centrally-managed VPC. This reduces the number of VPCs that you need to create and manage, while using separate accounts for billing and access control. To learn more about VPC sharing, see our documentation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is now Amazon OpenSearch Service; adds support for OpenSearch 1.0</a:t>
            </a:r>
          </a:p>
        </p:txBody>
      </p:sp>
      <p:sp>
        <p:nvSpPr>
          <p:cNvPr id="3" name="Content Placeholder 2"/>
          <p:cNvSpPr>
            <a:spLocks noGrp="1"/>
          </p:cNvSpPr>
          <p:nvPr>
            <p:ph sz="half" idx="1"/>
          </p:nvPr>
        </p:nvSpPr>
        <p:spPr/>
        <p:txBody>
          <a:bodyPr/>
          <a:lstStyle/>
          <a:p>
            <a:r>
              <a:t>08 Sep</a:t>
            </a:r>
          </a:p>
          <a:p>
            <a:endParaRPr/>
          </a:p>
          <a:p>
            <a:r>
              <a:t>Amazon Elasticsearch Service has a new name: Amazon OpenSearch Service. This change, which was previously announced here, coincides with the addition of support for OpenSearch 1.0. You can now run and scale both OpenSearch and Elasticsearch (until version 7.10) clusters on Amazon OpenSearch Service and get all of the same benefits you have enjoyed so far from Amazon Elasticsearch Service.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AppSync now supports custom authorization with AWS Lambda for GraphQL APIs</a:t>
            </a:r>
          </a:p>
        </p:txBody>
      </p:sp>
      <p:sp>
        <p:nvSpPr>
          <p:cNvPr id="3" name="Content Placeholder 2"/>
          <p:cNvSpPr>
            <a:spLocks noGrp="1"/>
          </p:cNvSpPr>
          <p:nvPr>
            <p:ph sz="half" idx="1"/>
          </p:nvPr>
        </p:nvSpPr>
        <p:spPr/>
        <p:txBody>
          <a:bodyPr/>
          <a:lstStyle/>
          <a:p>
            <a:r>
              <a:t>30 Jul</a:t>
            </a:r>
          </a:p>
          <a:p>
            <a:endParaRPr/>
          </a:p>
          <a:p>
            <a:r>
              <a:t>Today we’re releasing a flexible and simple way to implement custom authorization logic with AWS Lambda for AWS AppSync GraphQL API calls.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EC2 announces increases for instance network bandwidth</a:t>
            </a:r>
          </a:p>
        </p:txBody>
      </p:sp>
      <p:sp>
        <p:nvSpPr>
          <p:cNvPr id="3" name="Content Placeholder 2"/>
          <p:cNvSpPr>
            <a:spLocks noGrp="1"/>
          </p:cNvSpPr>
          <p:nvPr>
            <p:ph sz="half" idx="1"/>
          </p:nvPr>
        </p:nvSpPr>
        <p:spPr/>
        <p:txBody>
          <a:bodyPr/>
          <a:lstStyle/>
          <a:p>
            <a:r>
              <a:t>09 Sep</a:t>
            </a:r>
          </a:p>
          <a:p>
            <a:endParaRPr/>
          </a:p>
          <a:p>
            <a:r>
              <a:t>Amazon EC2 now offers increased instance bandwidth from AWS region to traffic destined towards Internet Gateway, Direct Connect and between regions for the current generation of instances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General Availability of Amazon Managed Grafana with SAML 2.0 and Grafana v8.0 features</a:t>
            </a:r>
          </a:p>
        </p:txBody>
      </p:sp>
      <p:sp>
        <p:nvSpPr>
          <p:cNvPr id="3" name="Content Placeholder 2"/>
          <p:cNvSpPr>
            <a:spLocks noGrp="1"/>
          </p:cNvSpPr>
          <p:nvPr>
            <p:ph sz="half" idx="1"/>
          </p:nvPr>
        </p:nvSpPr>
        <p:spPr/>
        <p:txBody>
          <a:bodyPr/>
          <a:lstStyle/>
          <a:p>
            <a:r>
              <a:t>31 Aug</a:t>
            </a:r>
          </a:p>
          <a:p>
            <a:endParaRPr/>
          </a:p>
          <a:p>
            <a:r>
              <a:t>Amazon Managed Grafana is now generally available. Amazon Managed Grafana is a fully managed, secure data visualization service that enables customers to query, correlate, and visualize operational metrics, logs, and traces for their applications across multiple data sources. Developed in collaboration with Grafana Labs, Amazon Managed Grafana manages the provisioning, setup, scaling, and maintenance of Grafana servers, eliminating the need for customers to do this themselves.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optimized Spark 3.1 runtime for data integration with AWS Glue 3.0</a:t>
            </a:r>
          </a:p>
        </p:txBody>
      </p:sp>
      <p:sp>
        <p:nvSpPr>
          <p:cNvPr id="3" name="Content Placeholder 2"/>
          <p:cNvSpPr>
            <a:spLocks noGrp="1"/>
          </p:cNvSpPr>
          <p:nvPr>
            <p:ph sz="half" idx="1"/>
          </p:nvPr>
        </p:nvSpPr>
        <p:spPr/>
        <p:txBody>
          <a:bodyPr>
            <a:normAutofit fontScale="70000" lnSpcReduction="20000"/>
          </a:bodyPr>
          <a:lstStyle/>
          <a:p>
            <a:r>
              <a:t>19 Aug</a:t>
            </a:r>
          </a:p>
          <a:p>
            <a:endParaRPr/>
          </a:p>
          <a:p>
            <a:r>
              <a:t>Today, we’re pleased to announce AWS Glue version 3.0, a new version of AWS Glue Spark for your batch and streaming jobs that accelerates your data integration workloads in AWS. AWS Glue 3.0 introduces a performance-optimized Spark runtime that includes optimizations from AWS Glue and Amazon EMR, and is based on open-source Apache Spark 3.1.1 . The AWS Glue 3.0 runtime optimizes both read and write access to Amazon Simple Storage Service (Amazon S3), using faster vectorized readers  and Amazon S3 optimized output committers. It also optimizes access to the AWS Glue Data Catalog  with the use of partition predicates. For highly partitioned datasets, Glue 3.0 improves the execution speed by filtering out unnecessary partitions using partition indexes . AWS Glue 3.0 runtime is also fully integrated with AWS Lake Formation, so you can secure your data access in different granularities like database-, table-, column-, row-, and cell-level access control using resource names and AWS Lake Formation tag based access control . With AWS Glue 3.0, we also bring in new capabilities to improve user experience for monitoring, debugging, and tuning Spark applications. Spark 3.1.1 enables an improved Spark UI experience  that includes new Spark executor memory metrics  and Spark Structured Streaming metrics  that are useful for AWS Glue streaming jobs. Similar to AWS Glue 2.0, AWS Glue 3.0 reduces startup latency and improve the overall job completion times.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CloudWatch cross account alarms</a:t>
            </a:r>
          </a:p>
        </p:txBody>
      </p:sp>
      <p:sp>
        <p:nvSpPr>
          <p:cNvPr id="3" name="Content Placeholder 2"/>
          <p:cNvSpPr>
            <a:spLocks noGrp="1"/>
          </p:cNvSpPr>
          <p:nvPr>
            <p:ph sz="half" idx="1"/>
          </p:nvPr>
        </p:nvSpPr>
        <p:spPr/>
        <p:txBody>
          <a:bodyPr>
            <a:normAutofit lnSpcReduction="10000"/>
          </a:bodyPr>
          <a:lstStyle/>
          <a:p>
            <a:r>
              <a:t>05 Aug</a:t>
            </a:r>
          </a:p>
          <a:p>
            <a:endParaRPr/>
          </a:p>
          <a:p>
            <a:r>
              <a:t>Amazon CloudWatch announces cross account alarms, a new feature that enables customers to set alerts and take actions based on changes to metrics in other AWS accounts. Cross account alarms provide alerting based on trends in metrics in different AWS accounts and can be used in combination with existing cross account dashboards to setup operational visibility in a centralized monitoring account. With cross account alarms, you can be alerted when a trending metric in a different AWS account indicates that further investigation is required before the trend starts to cause operational issues or impacts the end user experience.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3"/>
              </a:rPr>
              <a:t>Amazon CloudWatch Synthetics supports visual monitoring</a:t>
            </a:r>
          </a:p>
        </p:txBody>
      </p:sp>
      <p:sp>
        <p:nvSpPr>
          <p:cNvPr id="3" name="Content Placeholder 2"/>
          <p:cNvSpPr>
            <a:spLocks noGrp="1"/>
          </p:cNvSpPr>
          <p:nvPr>
            <p:ph sz="half" idx="1"/>
          </p:nvPr>
        </p:nvSpPr>
        <p:spPr/>
        <p:txBody>
          <a:bodyPr/>
          <a:lstStyle/>
          <a:p>
            <a:r>
              <a:t>05 Aug</a:t>
            </a:r>
          </a:p>
          <a:p>
            <a:endParaRPr/>
          </a:p>
          <a:p>
            <a:r>
              <a:t>CloudWatch Synthetics now supports visual monitoring, allowing you to catch visual defects on your web application’s end user experience. CloudWatch Synthetics supports monitoring your REST APIs, URLs, and website content by running scripts 24/7. The new visual monitoring feature makes it possible to catch visual defects that cannot be scripted.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CDK Pipelines GA, CI/CD for CDK Apps</a:t>
            </a:r>
          </a:p>
        </p:txBody>
      </p:sp>
      <p:sp>
        <p:nvSpPr>
          <p:cNvPr id="3" name="Content Placeholder 2"/>
          <p:cNvSpPr>
            <a:spLocks noGrp="1"/>
          </p:cNvSpPr>
          <p:nvPr>
            <p:ph sz="half" idx="1"/>
          </p:nvPr>
        </p:nvSpPr>
        <p:spPr/>
        <p:txBody>
          <a:bodyPr/>
          <a:lstStyle/>
          <a:p>
            <a:r>
              <a:t>28 Jul</a:t>
            </a:r>
          </a:p>
          <a:p>
            <a:endParaRPr/>
          </a:p>
          <a:p>
            <a:r>
              <a:t>CDK Pipelines  is a construct library for the AWS Cloud Development Kit (AWS CDK) that makes it easy to set up simple or complex continuous delivery pipelines with AWS CodePipeline. With CDK Pipelines, development teams can define and share “pipelines-as-code” patterns for deploying their applications. Teams can easily add stages to their pipeline to deploy their applications across multiple AWS accounts or additional AWS Regions.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achieves PCI DSS Compliance</a:t>
            </a:r>
          </a:p>
        </p:txBody>
      </p:sp>
      <p:sp>
        <p:nvSpPr>
          <p:cNvPr id="3" name="Content Placeholder 2"/>
          <p:cNvSpPr>
            <a:spLocks noGrp="1"/>
          </p:cNvSpPr>
          <p:nvPr>
            <p:ph sz="half" idx="1"/>
          </p:nvPr>
        </p:nvSpPr>
        <p:spPr/>
        <p:txBody>
          <a:bodyPr/>
          <a:lstStyle/>
          <a:p>
            <a:r>
              <a:t>27 Jul</a:t>
            </a:r>
          </a:p>
          <a:p>
            <a:endParaRPr/>
          </a:p>
          <a:p>
            <a:r>
              <a:t>AWS Network Firewall is now a Payment Card Industry Data Security Standard (PCI DSS) compliant service. AWS Network Firewall is a managed firewall service that makes it easy to deploy essential network protections for all your Amazon Virtual Private Clouds (VPCs). The service automatically scales with network traffic volume to provide high-availability protections without the need to set up or maintain the underlying infrastructure. AWS Network Firewall is integrated with AWS Firewall Manager to provide you with central visibility and control of your firewall policies across multiple AWS accounts.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now supports Amazon MQ for RabbitMQ as an event source</a:t>
            </a:r>
          </a:p>
        </p:txBody>
      </p:sp>
      <p:sp>
        <p:nvSpPr>
          <p:cNvPr id="3" name="Content Placeholder 2"/>
          <p:cNvSpPr>
            <a:spLocks noGrp="1"/>
          </p:cNvSpPr>
          <p:nvPr>
            <p:ph sz="half" idx="1"/>
          </p:nvPr>
        </p:nvSpPr>
        <p:spPr/>
        <p:txBody>
          <a:bodyPr/>
          <a:lstStyle/>
          <a:p>
            <a:r>
              <a:t>07 Jul</a:t>
            </a:r>
          </a:p>
          <a:p>
            <a:endParaRPr/>
          </a:p>
          <a:p>
            <a:r>
              <a:t>AWS Lambda now supports Amazon MQ for RabbitMQ  as an event source, allowing customers to quickly and easily build applications that are triggered from messages in their RabbitMQ queue. Amazon MQ is a managed message broker service for Apache ActiveMQ and RabbitMQ that makes it easy to set up and operate message brokers in the cloud. Customers can build applications quickly and easily with Lambda functions that are invoked based on messages posted to Amazon MQ message brokers without needing to worry about provisioning or managing servers.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Bottlerocket AMI for Amazon ECS is now Generally Available</a:t>
            </a:r>
          </a:p>
        </p:txBody>
      </p:sp>
      <p:sp>
        <p:nvSpPr>
          <p:cNvPr id="3" name="Content Placeholder 2"/>
          <p:cNvSpPr>
            <a:spLocks noGrp="1"/>
          </p:cNvSpPr>
          <p:nvPr>
            <p:ph sz="half" idx="1"/>
          </p:nvPr>
        </p:nvSpPr>
        <p:spPr/>
        <p:txBody>
          <a:bodyPr>
            <a:normAutofit lnSpcReduction="10000"/>
          </a:bodyPr>
          <a:lstStyle/>
          <a:p>
            <a:r>
              <a:t>30 Jun</a:t>
            </a:r>
          </a:p>
          <a:p>
            <a:endParaRPr/>
          </a:p>
          <a:p>
            <a:r>
              <a:t>Today, Amazon Web Services (AWS) announced the General Availability of the Amazon ECS-optimized Bottlerocket Amazon Machine Image (AMI). Bottlerocket is an open source Linux-based Operating System (OS) that is purpose-built to run containers. Bottlerocket includes only the software needed to run containers and comes with a single step update mechanism. This enables you to improve security posture and reduce maintenance overhead for your Amazon ECS clusters. With this release, Amazon ECS also helps you automate OS updates for Bottlerocket, helping you improve application availability and reduce disruption during updates.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DeepRacer announces DeepRacer LIVE races</a:t>
            </a:r>
          </a:p>
        </p:txBody>
      </p:sp>
      <p:sp>
        <p:nvSpPr>
          <p:cNvPr id="3" name="Content Placeholder 2"/>
          <p:cNvSpPr>
            <a:spLocks noGrp="1"/>
          </p:cNvSpPr>
          <p:nvPr>
            <p:ph sz="half" idx="1"/>
          </p:nvPr>
        </p:nvSpPr>
        <p:spPr/>
        <p:txBody>
          <a:bodyPr/>
          <a:lstStyle/>
          <a:p>
            <a:r>
              <a:t>14 Jul</a:t>
            </a:r>
          </a:p>
          <a:p>
            <a:endParaRPr/>
          </a:p>
          <a:p>
            <a:r>
              <a:t>Starting today, racers from anywhere in the world can compete with each other virtually and in real-time from within the AWS DeepRacer Console while colleagues, friends, and family watch a LIVE broadcast of the event online. Previously only available to qualifiers in the AWS DeepRacer League’s monthly Pro Division finale, this new LIVE event option for Community Races gives every participant a chance to post fastest lap time while manually managing their agent’s speed within the AWS DeepRacer simulation.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7327925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Good to know</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Data Lifecycle Manager now automates deprecation of Amazon Machine Images (AMIs)</a:t>
            </a:r>
          </a:p>
        </p:txBody>
      </p:sp>
      <p:sp>
        <p:nvSpPr>
          <p:cNvPr id="3" name="Content Placeholder 2"/>
          <p:cNvSpPr>
            <a:spLocks noGrp="1"/>
          </p:cNvSpPr>
          <p:nvPr>
            <p:ph sz="half" idx="1"/>
          </p:nvPr>
        </p:nvSpPr>
        <p:spPr/>
        <p:txBody>
          <a:bodyPr/>
          <a:lstStyle/>
          <a:p>
            <a:r>
              <a:t>23 Aug</a:t>
            </a:r>
          </a:p>
          <a:p>
            <a:endParaRPr/>
          </a:p>
          <a:p>
            <a:r>
              <a:t>Starting today, customers will be able to automatically deprecate their Amazon Machine Images (AMIs) with Amazon Data Lifecycle Manager (Amazon DLM). Deprecating an AMI prevents outdated images from being accessed by new users after a specific time, helping to ensure that any new EC2 Instances are launched from only the most up-to-date AMIs. With Amazon DLM, customers can automate when to deprecate their AMIs, removing the need for complicated custom scripts.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Fully customizable action space now available in AWS DeepRacer Console</a:t>
            </a:r>
          </a:p>
        </p:txBody>
      </p:sp>
      <p:sp>
        <p:nvSpPr>
          <p:cNvPr id="3" name="Content Placeholder 2"/>
          <p:cNvSpPr>
            <a:spLocks noGrp="1"/>
          </p:cNvSpPr>
          <p:nvPr>
            <p:ph sz="half" idx="1"/>
          </p:nvPr>
        </p:nvSpPr>
        <p:spPr/>
        <p:txBody>
          <a:bodyPr>
            <a:normAutofit fontScale="92500"/>
          </a:bodyPr>
          <a:lstStyle/>
          <a:p>
            <a:r>
              <a:t>17 Aug</a:t>
            </a:r>
          </a:p>
          <a:p>
            <a:endParaRPr/>
          </a:p>
          <a:p>
            <a:r>
              <a:t>Today, we are excited to announce AWS DeepRacer model action space is now fully customizable. AWS DeepRacer is the fastest way to get started with machine learning (ML) through a fully autonomous 1/18th scale race car driven by reinforcement learning, a 3D racing simulator, and a global racing league. Until now, AWS DeepRacer customers were modifying the steering angle and speed beyond the 20 options available in console by downloading, editing offline, and importing back into the console to improve their model’s performance. With a fully customizable action space, AWS DeepRacer console users can now specify both provided actions and add actions of their own to push their models performance to its limits!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Route 53 announces Route 53 Application Recovery Controller</a:t>
            </a:r>
          </a:p>
        </p:txBody>
      </p:sp>
      <p:sp>
        <p:nvSpPr>
          <p:cNvPr id="3" name="Content Placeholder 2"/>
          <p:cNvSpPr>
            <a:spLocks noGrp="1"/>
          </p:cNvSpPr>
          <p:nvPr>
            <p:ph sz="half" idx="1"/>
          </p:nvPr>
        </p:nvSpPr>
        <p:spPr/>
        <p:txBody>
          <a:bodyPr>
            <a:normAutofit fontScale="92500" lnSpcReduction="20000"/>
          </a:bodyPr>
          <a:lstStyle/>
          <a:p>
            <a:r>
              <a:t>27 Jul</a:t>
            </a:r>
          </a:p>
          <a:p>
            <a:endParaRPr/>
          </a:p>
          <a:p>
            <a:r>
              <a:t>Today, AWS announced the general availability of Amazon Route 53 Application Recovery Controller, a new capability in Route 53 that makes it easy for developers to continuously monitor their applications’ ability to recover from failures and control their recovery across AWS Regions, Availability Zones, and on-premises infrastructure. Amazon Route 53 is a highly available and scalable cloud Domain Name Service that routes end-user and application requests to internet applications. Application Recovery Controller triggers traffic failovers between redundant application copies, or replicas, running in separate AWS or on-premises locations. Application Recovery Controller also monitors AWS resource configurations and routing policies associated with your applications and alerts you when changes are made that affect the ability of your applications to recover using replicas.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Intelligent-Tiering further automates storage cost savings by removing the minimum storage duration and monitoring and automation charge for small objects</a:t>
            </a:r>
          </a:p>
        </p:txBody>
      </p:sp>
      <p:sp>
        <p:nvSpPr>
          <p:cNvPr id="3" name="Content Placeholder 2"/>
          <p:cNvSpPr>
            <a:spLocks noGrp="1"/>
          </p:cNvSpPr>
          <p:nvPr>
            <p:ph sz="half" idx="1"/>
          </p:nvPr>
        </p:nvSpPr>
        <p:spPr/>
        <p:txBody>
          <a:bodyPr>
            <a:normAutofit fontScale="92500" lnSpcReduction="20000"/>
          </a:bodyPr>
          <a:lstStyle/>
          <a:p>
            <a:r>
              <a:rPr dirty="0"/>
              <a:t>02 Sep</a:t>
            </a:r>
          </a:p>
          <a:p>
            <a:endParaRPr dirty="0"/>
          </a:p>
          <a:p>
            <a:r>
              <a:rPr dirty="0"/>
              <a:t>The Amazon S3 Intelligent-Tiering storage class automates storage cost savings for a wider range of workloads by eliminating the minimum storage duration, and removing the low per-object monitoring and automation charges for objects smaller than 128 KB. S3 Intelligent-Tiering is the only cloud storage class that delivers automatic storage cost savings when data access patterns change, without performance impact or operational overhead. Previously, S3 Intelligent-Tiering was optimized for long-lived objects stored for a minimum of 30 days and objects larger than 128 KB. With these changes, S3 Intelligent-Tiering is the ideal storage class for data with unknown, changing, or unpredictable access patterns, independent of object size or retention period. You can use S3 Intelligent-Tiering as the default storage class for data lakes, analytics, and new applications.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Access Points aliases allow any application that requires an S3 bucket name to easily use an access point</a:t>
            </a:r>
          </a:p>
        </p:txBody>
      </p:sp>
      <p:sp>
        <p:nvSpPr>
          <p:cNvPr id="3" name="Content Placeholder 2"/>
          <p:cNvSpPr>
            <a:spLocks noGrp="1"/>
          </p:cNvSpPr>
          <p:nvPr>
            <p:ph sz="half" idx="1"/>
          </p:nvPr>
        </p:nvSpPr>
        <p:spPr/>
        <p:txBody>
          <a:bodyPr>
            <a:normAutofit lnSpcReduction="10000"/>
          </a:bodyPr>
          <a:lstStyle/>
          <a:p>
            <a:r>
              <a:t>26 Jul</a:t>
            </a:r>
          </a:p>
          <a:p>
            <a:endParaRPr/>
          </a:p>
          <a:p>
            <a:r>
              <a:t>Amazon S3 Access Points aliases allow any application that requires an S3 bucket name to easily use an access point. With S3 Access Points, you can create hundreds of unique policies to easily control access to shared datasets. Now, you can use S3 Access Point aliases anywhere you use S3 bucket names to access data in S3. With this update, you can use S3 Access Point aliases with AWS services, including Amazon EMR, Amazon Storage Gateway, and Amazon Athena, open-source packages, such as Apache Spark and Apache Hive, and Amazon Partner Network (APN) solutions without any code changes and at no additional cost.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Distro for OpenTelemetry adds support for Amazon ECS in Amazon CloudWatch Container Insights and metrics support for AWS Lambda applications in Amazon Managed Prometheus (Preview)</a:t>
            </a:r>
          </a:p>
        </p:txBody>
      </p:sp>
      <p:sp>
        <p:nvSpPr>
          <p:cNvPr id="3" name="Content Placeholder 2"/>
          <p:cNvSpPr>
            <a:spLocks noGrp="1"/>
          </p:cNvSpPr>
          <p:nvPr>
            <p:ph sz="half" idx="1"/>
          </p:nvPr>
        </p:nvSpPr>
        <p:spPr/>
        <p:txBody>
          <a:bodyPr/>
          <a:lstStyle/>
          <a:p>
            <a:r>
              <a:t>31 Aug</a:t>
            </a:r>
          </a:p>
          <a:p>
            <a:endParaRPr/>
          </a:p>
          <a:p>
            <a:r>
              <a:t>Today, AWS Distro for OpenTelemetry (ADOT) adds support for Amazon Elastic Container Service (ECS) metrics running on Amazon Elastic Cloud Compute (EC2) in Amazon CloudWatch Container Insights (preview), enabling customers to easily collect container metrics and analyze them along with other metrics in Amazon CloudWatch. You can also collect AWS Lambda application metrics and send them to Amazon Managed Service for Prometheus (preview).</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exam for AWS Certified SysOps Administrator - Associate</a:t>
            </a:r>
          </a:p>
        </p:txBody>
      </p:sp>
      <p:sp>
        <p:nvSpPr>
          <p:cNvPr id="3" name="Content Placeholder 2"/>
          <p:cNvSpPr>
            <a:spLocks noGrp="1"/>
          </p:cNvSpPr>
          <p:nvPr>
            <p:ph sz="half" idx="1"/>
          </p:nvPr>
        </p:nvSpPr>
        <p:spPr/>
        <p:txBody>
          <a:bodyPr/>
          <a:lstStyle/>
          <a:p>
            <a:r>
              <a:t>27 Jul</a:t>
            </a:r>
          </a:p>
          <a:p>
            <a:endParaRPr/>
          </a:p>
          <a:p>
            <a:r>
              <a:t>Today, we are announcing that a new version of the AWS Certified SysOps Administrator - Associate exam is now available. This is the first AWS Certification exam to allow candidates to demonstrate skills with exam labs. AWS Certified SysOps Administrator – Associate is intended for system administrators in cloud operations roles to validate technical skills.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Distro for OpenTelemetry adds support for Container metrics in Amazon CloudWatch Container Insights (Preview)</a:t>
            </a:r>
          </a:p>
        </p:txBody>
      </p:sp>
      <p:sp>
        <p:nvSpPr>
          <p:cNvPr id="3" name="Content Placeholder 2"/>
          <p:cNvSpPr>
            <a:spLocks noGrp="1"/>
          </p:cNvSpPr>
          <p:nvPr>
            <p:ph sz="half" idx="1"/>
          </p:nvPr>
        </p:nvSpPr>
        <p:spPr/>
        <p:txBody>
          <a:bodyPr/>
          <a:lstStyle/>
          <a:p>
            <a:r>
              <a:t>08 Jul</a:t>
            </a:r>
          </a:p>
          <a:p>
            <a:endParaRPr/>
          </a:p>
          <a:p>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full-text search non-string indexing capabilities for Amazon Neptune</a:t>
            </a:r>
          </a:p>
        </p:txBody>
      </p:sp>
      <p:sp>
        <p:nvSpPr>
          <p:cNvPr id="3" name="Content Placeholder 2"/>
          <p:cNvSpPr>
            <a:spLocks noGrp="1"/>
          </p:cNvSpPr>
          <p:nvPr>
            <p:ph sz="half" idx="1"/>
          </p:nvPr>
        </p:nvSpPr>
        <p:spPr/>
        <p:txBody>
          <a:bodyPr/>
          <a:lstStyle/>
          <a:p>
            <a:r>
              <a:t>03 Sep</a:t>
            </a:r>
          </a:p>
          <a:p>
            <a:endParaRPr/>
          </a:p>
          <a:p>
            <a:r>
              <a:t>Amazon Neptune now supports searching on new data types, such as numbers and dates, in addition to strings when using the full-text search integration with Elasticsearch. This improvement allows Neptune customers to replicate non-string values into an Elasticsearch cluster, such as provided by the Amazon Elasticsearch Service, to run Gremlin or SPARQL queries searching on these values.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migrating multiple databases in one task using MongoDB as a source</a:t>
            </a:r>
          </a:p>
        </p:txBody>
      </p:sp>
      <p:sp>
        <p:nvSpPr>
          <p:cNvPr id="3" name="Content Placeholder 2"/>
          <p:cNvSpPr>
            <a:spLocks noGrp="1"/>
          </p:cNvSpPr>
          <p:nvPr>
            <p:ph sz="half" idx="1"/>
          </p:nvPr>
        </p:nvSpPr>
        <p:spPr/>
        <p:txBody>
          <a:bodyPr/>
          <a:lstStyle/>
          <a:p>
            <a:r>
              <a:t>02 Sep</a:t>
            </a:r>
          </a:p>
          <a:p>
            <a:endParaRPr/>
          </a:p>
          <a:p>
            <a:r>
              <a:t>AWS Database Migration Service (AWS DMS) expands functionality by adding support for migrating multiple databases in one task using MongoDB and Amazon DocumentDB (with MongoDB compatibility) as a source. Using AWS DMS, you can now group multiple databases of a MongoDB cluster and migrate them using one DMS task to any AWS DMS supported targets  including Amazon DocumentDB (with MongoDB compatibility) with minimal downtime.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availability of event-driven workflows with AWS Glue and Amazon EventBridge</a:t>
            </a:r>
          </a:p>
        </p:txBody>
      </p:sp>
      <p:sp>
        <p:nvSpPr>
          <p:cNvPr id="3" name="Content Placeholder 2"/>
          <p:cNvSpPr>
            <a:spLocks noGrp="1"/>
          </p:cNvSpPr>
          <p:nvPr>
            <p:ph sz="half" idx="1"/>
          </p:nvPr>
        </p:nvSpPr>
        <p:spPr/>
        <p:txBody>
          <a:bodyPr>
            <a:normAutofit lnSpcReduction="10000"/>
          </a:bodyPr>
          <a:lstStyle/>
          <a:p>
            <a:r>
              <a:t>15 Jul</a:t>
            </a:r>
          </a:p>
          <a:p>
            <a:endParaRPr/>
          </a:p>
          <a:p>
            <a:r>
              <a:t>Customers use AWS Glue workflows  tocreate and visualize complex extract, transform, and load (ETL) activities involving multiple crawlers, jobs, and triggers. AWS Glue now supports event-driven workflows, a new capability that lets customers start AWS Glue workflows based on events delivered by Amazon EventBridge. With this new integration, you can trigger a data integration workflow using events generated from your applications, integrated Software-as-a-Service (SaaS) applications, and AWS services. For example, customers can trigger a data integration workflow as soon as a hundred files land in an S3 bucket.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CDK releases v1.117.0 - v1.120.0 with improved support for Amazon Kinesis Firehose, Amazon CloudFront, Amazon Cognito, and more</a:t>
            </a:r>
          </a:p>
        </p:txBody>
      </p:sp>
      <p:sp>
        <p:nvSpPr>
          <p:cNvPr id="3" name="Content Placeholder 2"/>
          <p:cNvSpPr>
            <a:spLocks noGrp="1"/>
          </p:cNvSpPr>
          <p:nvPr>
            <p:ph sz="half" idx="1"/>
          </p:nvPr>
        </p:nvSpPr>
        <p:spPr/>
        <p:txBody>
          <a:bodyPr>
            <a:normAutofit fontScale="92500" lnSpcReduction="10000"/>
          </a:bodyPr>
          <a:lstStyle/>
          <a:p>
            <a:r>
              <a:t>08 Sep</a:t>
            </a:r>
          </a:p>
          <a:p>
            <a:endParaRPr/>
          </a:p>
          <a:p>
            <a:r>
              <a:t>During August, 2021, 4 new versions of the AWS Cloud Development Kit (CDK) for JavaScript, TypeScript, Java, Python, .NET and Go were released (v1.117.0 through v1.120.0). These releases include multiple additions to the Kinesis Firehose Construct Library , including compression and prefixes on S3 delivery stream destinations, delivery stream metrics, S3 source backups, AWS Lambda-based data processors and more. Additionally, CloudFront Construct Library  now supports Origin Shield, CloudWatch  supports defining alarms across AWS accounts, and Cognito User Pools  support Device Tracking. These releases resolve 28 issues and introduce 37 new features that span 30 different modules across the library. Many of these changes were contributed by the developer community.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ACM Private CA now supports the Online Certificate Status Protocol (OCSP)</a:t>
            </a:r>
          </a:p>
        </p:txBody>
      </p:sp>
      <p:sp>
        <p:nvSpPr>
          <p:cNvPr id="3" name="Content Placeholder 2"/>
          <p:cNvSpPr>
            <a:spLocks noGrp="1"/>
          </p:cNvSpPr>
          <p:nvPr>
            <p:ph sz="half" idx="1"/>
          </p:nvPr>
        </p:nvSpPr>
        <p:spPr/>
        <p:txBody>
          <a:bodyPr/>
          <a:lstStyle/>
          <a:p>
            <a:r>
              <a:t>03 Sep</a:t>
            </a:r>
          </a:p>
          <a:p>
            <a:endParaRPr/>
          </a:p>
          <a:p>
            <a:r>
              <a:t>AWS Certificate Manager (ACM) Private Certificate Authority (CA) announces the availability of Online Certificate Status Protocol (OCSP) for distributing certificate revocation information. When establishing an encrypted TLS connection, endpoints can use OCSP to query, in near real time, if a certificate has been revoked. Thus alerting the endpoint that the certificate should not be trusted. This feature provides a fully managed OCSP solution for notifying endpoints that certificates have been revoked without the need to manage or operate infrastructure themselves.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Automated Response and Remediation adds support for PCI-DSS v3.2.1 Security Standard</a:t>
            </a:r>
          </a:p>
        </p:txBody>
      </p:sp>
      <p:sp>
        <p:nvSpPr>
          <p:cNvPr id="3" name="Content Placeholder 2"/>
          <p:cNvSpPr>
            <a:spLocks noGrp="1"/>
          </p:cNvSpPr>
          <p:nvPr>
            <p:ph sz="half" idx="1"/>
          </p:nvPr>
        </p:nvSpPr>
        <p:spPr/>
        <p:txBody>
          <a:bodyPr/>
          <a:lstStyle/>
          <a:p>
            <a:r>
              <a:t>01 Sep</a:t>
            </a:r>
          </a:p>
          <a:p>
            <a:endParaRPr/>
          </a:p>
          <a:p>
            <a:r>
              <a:t>AWS Security Hub Automated Response &amp; Remediation solution is a reference implementation that includes a library of automated security response and remediation actions to common security findings. The solution makes it easier for customers to resolve common security findings and improve their security posture in AWS.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Copilot now supports Pub/Sub architectures</a:t>
            </a:r>
          </a:p>
        </p:txBody>
      </p:sp>
      <p:sp>
        <p:nvSpPr>
          <p:cNvPr id="3" name="Content Placeholder 2"/>
          <p:cNvSpPr>
            <a:spLocks noGrp="1"/>
          </p:cNvSpPr>
          <p:nvPr>
            <p:ph sz="half" idx="1"/>
          </p:nvPr>
        </p:nvSpPr>
        <p:spPr/>
        <p:txBody>
          <a:bodyPr/>
          <a:lstStyle/>
          <a:p>
            <a:r>
              <a:t>31 Aug</a:t>
            </a:r>
          </a:p>
          <a:p>
            <a:endParaRPr/>
          </a:p>
          <a:p>
            <a:r>
              <a:t>Today, we are excited to announce the release of version 1.10 of AWS Copilot with support for publish/subscribe architectures that customers can use to decouple microservices and consume events asynchronously. Customers can now use AWS Copilot to build event-driven architectures or to decouple services in order to increase performance, reliability, and scalability.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automatic segmentation using MongoDB and Amazon DocumentDB (with MongoDB compatibility) as a source</a:t>
            </a:r>
          </a:p>
        </p:txBody>
      </p:sp>
      <p:sp>
        <p:nvSpPr>
          <p:cNvPr id="3" name="Content Placeholder 2"/>
          <p:cNvSpPr>
            <a:spLocks noGrp="1"/>
          </p:cNvSpPr>
          <p:nvPr>
            <p:ph sz="half" idx="1"/>
          </p:nvPr>
        </p:nvSpPr>
        <p:spPr/>
        <p:txBody>
          <a:bodyPr/>
          <a:lstStyle/>
          <a:p>
            <a:r>
              <a:t>23 Aug</a:t>
            </a:r>
          </a:p>
          <a:p>
            <a:endParaRPr/>
          </a:p>
          <a:p>
            <a:r>
              <a:t>AWS Database Migration Service (AWS DMS) expands functionality by supporting automatic segmentation using MongoDB and Amazon DocumentDB (with MongoDB compatibility) as a source. Using AWS DMS, you can configure DMS tasks to segment the collection of a MongoDB cluster automatically and migrate them in parallel to any AWS DMS supported target  including Amazon DocumentDB (with MongoDB compatibility) with minimal downtime.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9.6.22, 10.17, 11.12, and 12.7</a:t>
            </a:r>
          </a:p>
        </p:txBody>
      </p:sp>
      <p:sp>
        <p:nvSpPr>
          <p:cNvPr id="3" name="Content Placeholder 2"/>
          <p:cNvSpPr>
            <a:spLocks noGrp="1"/>
          </p:cNvSpPr>
          <p:nvPr>
            <p:ph sz="half" idx="1"/>
          </p:nvPr>
        </p:nvSpPr>
        <p:spPr/>
        <p:txBody>
          <a:bodyPr/>
          <a:lstStyle/>
          <a:p>
            <a:r>
              <a:t>20 Aug</a:t>
            </a:r>
          </a:p>
          <a:p>
            <a:endParaRPr/>
          </a:p>
          <a:p>
            <a:r>
              <a:t>Following the announcement of updates to the PostgreSQL database  by the open source community, we have updated Amazon Aurora PostgreSQL-Compatible Edition to support PostgreSQL versions 9.6.22, 10.17, 11.12, and 12.7. These releases contain bug fixes and improvements by the PostgreSQL community. As a reminder, Amazon Aurora PostgreSQL 9.6 will reach end of life on January 31, 2022. Minor version 9.6.22 is limited to upgrades for clusters already running Aurora PostgreSQL 9.6.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QLDB supports customer managed KMS keys</a:t>
            </a:r>
          </a:p>
        </p:txBody>
      </p:sp>
      <p:sp>
        <p:nvSpPr>
          <p:cNvPr id="3" name="Content Placeholder 2"/>
          <p:cNvSpPr>
            <a:spLocks noGrp="1"/>
          </p:cNvSpPr>
          <p:nvPr>
            <p:ph sz="half" idx="1"/>
          </p:nvPr>
        </p:nvSpPr>
        <p:spPr/>
        <p:txBody>
          <a:bodyPr>
            <a:normAutofit lnSpcReduction="10000"/>
          </a:bodyPr>
          <a:lstStyle/>
          <a:p>
            <a:r>
              <a:t>23 Jul</a:t>
            </a:r>
          </a:p>
          <a:p>
            <a:endParaRPr/>
          </a:p>
          <a:p>
            <a:r>
              <a:t>Amazon Quantum Ledger Database (QLDB) now supports customer managed AWS Key Management Service (AWS KMS) keys to encrypt data at rest. Starting today, customers can encrypt QLDB Ledgers with keys created and controlled exclusively in their account, with key policy, audits, and key lifecycle managed by the customer. With this feature, QLDB customers can meet data security standards that require encryption using customer managed keys. New ledgers with customer managed KMS key support can be easily created with a single click in the AWS Management Console, the AWS Command Line Interface (AWS CLI), or an API call in AWS CloudFormation.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now supports more stacks per AWS account</a:t>
            </a:r>
          </a:p>
        </p:txBody>
      </p:sp>
      <p:sp>
        <p:nvSpPr>
          <p:cNvPr id="3" name="Content Placeholder 2"/>
          <p:cNvSpPr>
            <a:spLocks noGrp="1"/>
          </p:cNvSpPr>
          <p:nvPr>
            <p:ph sz="half" idx="1"/>
          </p:nvPr>
        </p:nvSpPr>
        <p:spPr/>
        <p:txBody>
          <a:bodyPr/>
          <a:lstStyle/>
          <a:p>
            <a:r>
              <a:t>15 Jul</a:t>
            </a:r>
          </a:p>
          <a:p>
            <a:endParaRPr/>
          </a:p>
          <a:p>
            <a:r>
              <a:t>AWS CloudFormation now supports increased limits on the default number of stacks allowed per AWS account. The number of stacks that can be created in an account is now 2000 (previously 200).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now supports central monitoring of VPC routes for AWS Network Firewall</a:t>
            </a:r>
          </a:p>
        </p:txBody>
      </p:sp>
      <p:sp>
        <p:nvSpPr>
          <p:cNvPr id="3" name="Content Placeholder 2"/>
          <p:cNvSpPr>
            <a:spLocks noGrp="1"/>
          </p:cNvSpPr>
          <p:nvPr>
            <p:ph sz="half" idx="1"/>
          </p:nvPr>
        </p:nvSpPr>
        <p:spPr/>
        <p:txBody>
          <a:bodyPr/>
          <a:lstStyle/>
          <a:p>
            <a:r>
              <a:t>08 Jul</a:t>
            </a:r>
          </a:p>
          <a:p>
            <a:endParaRPr/>
          </a:p>
          <a:p>
            <a:r>
              <a:t>Starting today, AWS Firewall Manager allows customers to centrally monitor route configurations for AWS Network Firewall, and get alerts on routes non-compliant with their configuration. With this launch, customers can now monitor VPC routes to ensure traffic egressing through Internet Gateway (IGW) is inspected by the Network Firewall deployed by Firewall Manager in each VPC. Customers get alerted on route configurations that are non-compliant, such as, routes that bypass firewall inspection, or routes that lead to asymmetric traffic, and get suggestions to remediate the routes.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request metrics for Amazon S3 Access Points now available</a:t>
            </a:r>
          </a:p>
        </p:txBody>
      </p:sp>
      <p:sp>
        <p:nvSpPr>
          <p:cNvPr id="3" name="Content Placeholder 2"/>
          <p:cNvSpPr>
            <a:spLocks noGrp="1"/>
          </p:cNvSpPr>
          <p:nvPr>
            <p:ph sz="half" idx="1"/>
          </p:nvPr>
        </p:nvSpPr>
        <p:spPr/>
        <p:txBody>
          <a:bodyPr>
            <a:normAutofit fontScale="92500"/>
          </a:bodyPr>
          <a:lstStyle/>
          <a:p>
            <a:r>
              <a:t>17 Sep</a:t>
            </a:r>
          </a:p>
          <a:p>
            <a:endParaRPr/>
          </a:p>
          <a:p>
            <a:r>
              <a:t>Amazon S3 Access Points customers can now configure Amazon CloudWatch request metrics. With this launch, S3 request metrics can now be generated for all objects in a bucket, or you can generate metrics for specific combinations of prefix, object tags, or access points. With S3 Access Points, you can easily build the right access controls to shared dataset and now with the support of filtering by access points, you can monitor the request patterns by access controls. You can use the S3 Management Console, SDK, API, or AWS CloudFormation to enable S3 request metrics. The metrics are available at 1-minute intervals and can be monitored on both the Amazon S3 Console or on Amazon CloudWatch Console.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Dynamic Partitioning in Amazon Kinesis Data Firehose</a:t>
            </a:r>
          </a:p>
        </p:txBody>
      </p:sp>
      <p:sp>
        <p:nvSpPr>
          <p:cNvPr id="3" name="Content Placeholder 2"/>
          <p:cNvSpPr>
            <a:spLocks noGrp="1"/>
          </p:cNvSpPr>
          <p:nvPr>
            <p:ph sz="half" idx="1"/>
          </p:nvPr>
        </p:nvSpPr>
        <p:spPr/>
        <p:txBody>
          <a:bodyPr/>
          <a:lstStyle/>
          <a:p>
            <a:r>
              <a:t>31 Aug</a:t>
            </a:r>
          </a:p>
          <a:p>
            <a:endParaRPr/>
          </a:p>
          <a:p>
            <a:r>
              <a:t>Today we announced Dynamic Partitioning in Amazon Kinesis Data Firehose. With Dynamic Partitioning, you can continuously partition streaming data in Kinesis Data Firehose using keys within data like “customer_id” or “transaction_id” and deliver data grouped by these keys into corresponding Amazon Simple Storage Service (Amazon S3) prefixes, making it easier for you to run high performance, cost-efficient analytics on streaming data in Amazon S3 using Amazon Athena, Amazon EMR, and Amazon Redshift Spectrum.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custom widgets for CloudWatch dashboards</a:t>
            </a:r>
          </a:p>
        </p:txBody>
      </p:sp>
      <p:sp>
        <p:nvSpPr>
          <p:cNvPr id="3" name="Content Placeholder 2"/>
          <p:cNvSpPr>
            <a:spLocks noGrp="1"/>
          </p:cNvSpPr>
          <p:nvPr>
            <p:ph sz="half" idx="1"/>
          </p:nvPr>
        </p:nvSpPr>
        <p:spPr/>
        <p:txBody>
          <a:bodyPr/>
          <a:lstStyle/>
          <a:p>
            <a:r>
              <a:t>27 Aug</a:t>
            </a:r>
          </a:p>
          <a:p>
            <a:endParaRPr/>
          </a:p>
          <a:p>
            <a:r>
              <a:t>Amazon CloudWatch announces the immediate availability of custom widgets, a new feature that enables you to gain operational visibility and agility by customizing the content of your CloudWatch dashboard such as adding visualizations, displaying information from multiple data sources or adding controls like buttons to take remediation actions. A set of templates and a sample library is provided to help you get started.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EC2 VM Import/Export now supports migration of virtual machines with Unified Extensible Firmware Interface (UEFI) boot to AWS</a:t>
            </a:r>
          </a:p>
        </p:txBody>
      </p:sp>
      <p:sp>
        <p:nvSpPr>
          <p:cNvPr id="3" name="Content Placeholder 2"/>
          <p:cNvSpPr>
            <a:spLocks noGrp="1"/>
          </p:cNvSpPr>
          <p:nvPr>
            <p:ph sz="half" idx="1"/>
          </p:nvPr>
        </p:nvSpPr>
        <p:spPr/>
        <p:txBody>
          <a:bodyPr/>
          <a:lstStyle/>
          <a:p>
            <a:r>
              <a:t>19 Aug</a:t>
            </a:r>
          </a:p>
          <a:p>
            <a:endParaRPr/>
          </a:p>
          <a:p>
            <a:r>
              <a:t>EC2 VM Import/Export now supports migration of virtual machines that use Unified Extensible Firmware Interface (UEFI) boot. UEFI is a modern firmware that initializes your operating system. You can now use EC2 VM Import/Export APIs to bring your UEFI based virtual machines directly to AWS EC2 without converting to legacy BIOS.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Logs now supports Usage Metrics</a:t>
            </a:r>
          </a:p>
        </p:txBody>
      </p:sp>
      <p:sp>
        <p:nvSpPr>
          <p:cNvPr id="3" name="Content Placeholder 2"/>
          <p:cNvSpPr>
            <a:spLocks noGrp="1"/>
          </p:cNvSpPr>
          <p:nvPr>
            <p:ph sz="half" idx="1"/>
          </p:nvPr>
        </p:nvSpPr>
        <p:spPr/>
        <p:txBody>
          <a:bodyPr/>
          <a:lstStyle/>
          <a:p>
            <a:r>
              <a:t>10 Aug</a:t>
            </a:r>
          </a:p>
          <a:p>
            <a:endParaRPr/>
          </a:p>
          <a:p>
            <a:r>
              <a:t>Amazon CloudWatch Logs now supports CloudWatch usage metrics, enabling you to monitor your CloudWatch Logs API Usage. Using usage metrics, you can create alarms to be notified when you're approaching a CloudWatch Logs API service quota  and visualize your usage on CloudWatch dashboards.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Keyspaces (for Apache Cassandra) now automatically optimizes client connections made through AWS PrivateLink to improve availability and read/write throughput</a:t>
            </a:r>
          </a:p>
        </p:txBody>
      </p:sp>
      <p:sp>
        <p:nvSpPr>
          <p:cNvPr id="3" name="Content Placeholder 2"/>
          <p:cNvSpPr>
            <a:spLocks noGrp="1"/>
          </p:cNvSpPr>
          <p:nvPr>
            <p:ph sz="half" idx="1"/>
          </p:nvPr>
        </p:nvSpPr>
        <p:spPr/>
        <p:txBody>
          <a:bodyPr/>
          <a:lstStyle/>
          <a:p>
            <a:r>
              <a:t>29 Jul</a:t>
            </a:r>
          </a:p>
          <a:p>
            <a:endParaRPr/>
          </a:p>
          <a:p>
            <a:r>
              <a:t>Amazon Keyspaces (for Apache Cassandra), a scalable, highly available, and fully managed Apache Cassandra–compatible database service, now automatically optimizes client connections made through AWS PrivateLink to improve availability and read/write throughput.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Organizations increases quotas for tag policies</a:t>
            </a:r>
          </a:p>
        </p:txBody>
      </p:sp>
      <p:sp>
        <p:nvSpPr>
          <p:cNvPr id="3" name="Content Placeholder 2"/>
          <p:cNvSpPr>
            <a:spLocks noGrp="1"/>
          </p:cNvSpPr>
          <p:nvPr>
            <p:ph sz="half" idx="1"/>
          </p:nvPr>
        </p:nvSpPr>
        <p:spPr/>
        <p:txBody>
          <a:bodyPr/>
          <a:lstStyle/>
          <a:p>
            <a:r>
              <a:t>12 Jul</a:t>
            </a:r>
          </a:p>
          <a:p>
            <a:endParaRPr/>
          </a:p>
          <a:p>
            <a:r>
              <a:t>Tag policies help you govern tag consistency across resources in your organization's accounts. For example, with tag policies, you can define rules on tag keys, including how they should be capitalized and their allowed values. With this release, the maximum size of a tag policy document has been increased from 2.5k to 10k characters for both new and existing tag policies. The number of allowed policies has also been increased from 5 to 10.</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ECS supports additional configurations for scheduled and event-driven tasks</a:t>
            </a:r>
          </a:p>
        </p:txBody>
      </p:sp>
      <p:sp>
        <p:nvSpPr>
          <p:cNvPr id="3" name="Content Placeholder 2"/>
          <p:cNvSpPr>
            <a:spLocks noGrp="1"/>
          </p:cNvSpPr>
          <p:nvPr>
            <p:ph sz="half" idx="1"/>
          </p:nvPr>
        </p:nvSpPr>
        <p:spPr/>
        <p:txBody>
          <a:bodyPr/>
          <a:lstStyle/>
          <a:p>
            <a:r>
              <a:t>09 Jul</a:t>
            </a:r>
          </a:p>
          <a:p>
            <a:endParaRPr/>
          </a:p>
          <a:p>
            <a:r>
              <a:t>Amazon ECS today announced a new feature that provides greater configurability for Amazon ECS Tasks that run on a periodic or scheduled basis, or are triggered by Amazon EventBridge (EventBridge) events. Customers now have access to the same rich configurations for scheduled and event-driven Tasks as they do for Tasks launched directly using the Amazon ECS run-Task API.</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adds parameterized queries to improve reusability and security</a:t>
            </a:r>
          </a:p>
        </p:txBody>
      </p:sp>
      <p:sp>
        <p:nvSpPr>
          <p:cNvPr id="3" name="Content Placeholder 2"/>
          <p:cNvSpPr>
            <a:spLocks noGrp="1"/>
          </p:cNvSpPr>
          <p:nvPr>
            <p:ph sz="half" idx="1"/>
          </p:nvPr>
        </p:nvSpPr>
        <p:spPr/>
        <p:txBody>
          <a:bodyPr/>
          <a:lstStyle/>
          <a:p>
            <a:r>
              <a:t>06 Jul</a:t>
            </a:r>
          </a:p>
          <a:p>
            <a:endParaRPr/>
          </a:p>
          <a:p>
            <a:r>
              <a:t>Amazon Athena users can now leverage the reusability, simplification, and security benefits of parameterized queries. Available today, analysts can save time and eliminate errors by converting queries that have frequently modified criteria, such as date filters or aggregation periods, into a parameterized query that serves multiple use cases. Application developers can use them to safeguard against SQL injection risks and simplify application integrations that generate SQL based on a user’s selections.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Application Insights and AWS Systems Manager Application Manager combine to offer an integrated application management experience</a:t>
            </a:r>
          </a:p>
        </p:txBody>
      </p:sp>
      <p:sp>
        <p:nvSpPr>
          <p:cNvPr id="3" name="Content Placeholder 2"/>
          <p:cNvSpPr>
            <a:spLocks noGrp="1"/>
          </p:cNvSpPr>
          <p:nvPr>
            <p:ph sz="half" idx="1"/>
          </p:nvPr>
        </p:nvSpPr>
        <p:spPr/>
        <p:txBody>
          <a:bodyPr>
            <a:normAutofit fontScale="92500"/>
          </a:bodyPr>
          <a:lstStyle/>
          <a:p>
            <a:r>
              <a:t>09 Sep</a:t>
            </a:r>
          </a:p>
          <a:p>
            <a:endParaRPr/>
          </a:p>
          <a:p>
            <a:r>
              <a:t>Manage and monitor your applications on AWS seamlessly and easily with new service integrations for AWS Systems Manager Application Manager and CloudWatch Application Insights. AWS Systems Manager Application Manager is a service in AWS Systems Manager which brings together operations information from multiple AWS services so customers can investigate and remediate issues. CloudWatch Application Insights is a service that helps customers easily setup monitoring and troubleshoot their enterprise applications running on AWS resources. Together, the two services provide a combined view of your application health and an ability to dive deep into problems to quickly resolve issues.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now supports AWS Graviton2-based X2g instances</a:t>
            </a:r>
          </a:p>
        </p:txBody>
      </p:sp>
      <p:sp>
        <p:nvSpPr>
          <p:cNvPr id="3" name="Content Placeholder 2"/>
          <p:cNvSpPr>
            <a:spLocks noGrp="1"/>
          </p:cNvSpPr>
          <p:nvPr>
            <p:ph sz="half" idx="1"/>
          </p:nvPr>
        </p:nvSpPr>
        <p:spPr/>
        <p:txBody>
          <a:bodyPr/>
          <a:lstStyle/>
          <a:p>
            <a:r>
              <a:t>10 Sep</a:t>
            </a:r>
          </a:p>
          <a:p>
            <a:endParaRPr/>
          </a:p>
          <a:p>
            <a:r>
              <a:t>Amazon Aurora now supports AWS Graviton2-based X2g database instances. Customers can now get double the memory per vCPU compared to R6g instances. X2g instances provide the highest memory per vCPU at the lowest cost per GiB of memory for Amazon Aurora. X2g instances are available when using both Amazon Aurora MySQL-Compatible Edition and Amazon Aurora PostgreSQL-Compatible Edition.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Automations for AWS Organizations v1.1 is now available</a:t>
            </a:r>
          </a:p>
        </p:txBody>
      </p:sp>
      <p:sp>
        <p:nvSpPr>
          <p:cNvPr id="3" name="Content Placeholder 2"/>
          <p:cNvSpPr>
            <a:spLocks noGrp="1"/>
          </p:cNvSpPr>
          <p:nvPr>
            <p:ph sz="half" idx="1"/>
          </p:nvPr>
        </p:nvSpPr>
        <p:spPr/>
        <p:txBody>
          <a:bodyPr/>
          <a:lstStyle/>
          <a:p>
            <a:r>
              <a:t>08 Sep</a:t>
            </a:r>
          </a:p>
          <a:p>
            <a:endParaRPr/>
          </a:p>
          <a:p>
            <a:r>
              <a:t>The AWS Firewall Manager Automations for AWS Organizations solution allows you to centrally configure, manage, and audit firewall rules across all your accounts and resources in AWS Organizations. This solution is a reference implementation to automate the process to setup AWS Firewall Manager security policies. This solution supersedes AWS Centralized WAF and VPC Security Group Management solution.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now supports AWS WAF log filtering</a:t>
            </a:r>
          </a:p>
        </p:txBody>
      </p:sp>
      <p:sp>
        <p:nvSpPr>
          <p:cNvPr id="3" name="Content Placeholder 2"/>
          <p:cNvSpPr>
            <a:spLocks noGrp="1"/>
          </p:cNvSpPr>
          <p:nvPr>
            <p:ph sz="half" idx="1"/>
          </p:nvPr>
        </p:nvSpPr>
        <p:spPr/>
        <p:txBody>
          <a:bodyPr/>
          <a:lstStyle/>
          <a:p>
            <a:r>
              <a:t>01 Sep</a:t>
            </a:r>
          </a:p>
          <a:p>
            <a:endParaRPr/>
          </a:p>
          <a:p>
            <a:r>
              <a:t>AWS Firewall Manager now enables security administrators to specify which web requests to log and which requests to exclude from logs when using AWS WAF to inspect web traffic. If you use Firewall Manager security policies to centralize AWS WAF logging, you can now log only the information you want to analyze. By reducing the amount of log data stored, you can reduce your log delivery and storage costs.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supports Amazon S3 Access Points to simplify access control</a:t>
            </a:r>
          </a:p>
        </p:txBody>
      </p:sp>
      <p:sp>
        <p:nvSpPr>
          <p:cNvPr id="3" name="Content Placeholder 2"/>
          <p:cNvSpPr>
            <a:spLocks noGrp="1"/>
          </p:cNvSpPr>
          <p:nvPr>
            <p:ph sz="half" idx="1"/>
          </p:nvPr>
        </p:nvSpPr>
        <p:spPr/>
        <p:txBody>
          <a:bodyPr/>
          <a:lstStyle/>
          <a:p>
            <a:r>
              <a:t>11 Aug</a:t>
            </a:r>
          </a:p>
          <a:p>
            <a:endParaRPr/>
          </a:p>
          <a:p>
            <a:r>
              <a:t>Amazon EMR now supports Amazon S3 Access Points, a feature of Amazon S3 that allows you to easily manage access for shared data lakes. Using your S3 Access Point alias, you can simplify your data access at scale on Amazon EMR.</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Copilot now supports custom domain names for App Runner Services and other enhancements</a:t>
            </a:r>
          </a:p>
        </p:txBody>
      </p:sp>
      <p:sp>
        <p:nvSpPr>
          <p:cNvPr id="3" name="Content Placeholder 2"/>
          <p:cNvSpPr>
            <a:spLocks noGrp="1"/>
          </p:cNvSpPr>
          <p:nvPr>
            <p:ph sz="half" idx="1"/>
          </p:nvPr>
        </p:nvSpPr>
        <p:spPr/>
        <p:txBody>
          <a:bodyPr/>
          <a:lstStyle/>
          <a:p>
            <a:r>
              <a:t>04 Aug</a:t>
            </a:r>
          </a:p>
          <a:p>
            <a:endParaRPr/>
          </a:p>
          <a:p>
            <a:r>
              <a:t>Today, AWS Copilot announced the release of version 1.9. With this release, AWS Copilot now allows you to configure a friendly DNS name for your request driven web services deployed with AWS App Runner. This feature was already available for load balanced web services deployed with Amazon Elastic Container Service (Amazon ECS). Customers using AWS App Runner can now provide a friendly DNS name, such as api.example.com, directly in the manifest file and AWS Copilot will provision and manage the necessary infrastructure to associate the domain name with the customer’s service deployed with App Runner.</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Config support for AWS Backup Services</a:t>
            </a:r>
          </a:p>
        </p:txBody>
      </p:sp>
      <p:sp>
        <p:nvSpPr>
          <p:cNvPr id="3" name="Content Placeholder 2"/>
          <p:cNvSpPr>
            <a:spLocks noGrp="1"/>
          </p:cNvSpPr>
          <p:nvPr>
            <p:ph sz="half" idx="1"/>
          </p:nvPr>
        </p:nvSpPr>
        <p:spPr/>
        <p:txBody>
          <a:bodyPr>
            <a:normAutofit fontScale="92500" lnSpcReduction="10000"/>
          </a:bodyPr>
          <a:lstStyle/>
          <a:p>
            <a:r>
              <a:t>02 Aug</a:t>
            </a:r>
          </a:p>
          <a:p>
            <a:endParaRPr/>
          </a:p>
          <a:p>
            <a:r>
              <a:t>AWS Config now supports AWS Backup resource types (AWS::Backup::BackupPlan, AWS::Backup::BackupSelection, AWS::Backup::BackupVault and AWS::Backup::RecoveryPoint) in all AWS Regions. AWS Config provides a detailed view of the configuration of AWS resources in your AWS account. This includes how the resources are related to one another and how they were configured. This enables you to see how the configurations and relationships have changed over time. For example, you can now use AWS Config to monitor changes to your backup plan that defines when and how you want to back up your AWS resources, monitor the resource assignment to the backup plan, track changes to the backup vault configuration or monitor changes to the recovery points for different resource types.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Neptune announces support for SPARQL 1.1 Graph Store HTTP Protocol</a:t>
            </a:r>
          </a:p>
        </p:txBody>
      </p:sp>
      <p:sp>
        <p:nvSpPr>
          <p:cNvPr id="3" name="Content Placeholder 2"/>
          <p:cNvSpPr>
            <a:spLocks noGrp="1"/>
          </p:cNvSpPr>
          <p:nvPr>
            <p:ph sz="half" idx="1"/>
          </p:nvPr>
        </p:nvSpPr>
        <p:spPr/>
        <p:txBody>
          <a:bodyPr/>
          <a:lstStyle/>
          <a:p>
            <a:r>
              <a:t>29 Jul</a:t>
            </a:r>
          </a:p>
          <a:p>
            <a:endParaRPr/>
          </a:p>
          <a:p>
            <a:r>
              <a:t>Amazon Neptune announces support for SPARQL 1.1 Graph Store HTTP Protocol (GSP)   for graphs using W3C’s Resource Description Framework (RDF). Using GSP on SPARQL 1.1 endpoints, customers now have an efficient method to interact with complete named graphs within a graph store. This can streamline building graph applications using Amazon Neptune and tools that support the W3C Recommendation GSP such as Apache Jena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now supports AWS Graviton2-based T4g instances</a:t>
            </a:r>
          </a:p>
        </p:txBody>
      </p:sp>
      <p:sp>
        <p:nvSpPr>
          <p:cNvPr id="3" name="Content Placeholder 2"/>
          <p:cNvSpPr>
            <a:spLocks noGrp="1"/>
          </p:cNvSpPr>
          <p:nvPr>
            <p:ph sz="half" idx="1"/>
          </p:nvPr>
        </p:nvSpPr>
        <p:spPr/>
        <p:txBody>
          <a:bodyPr/>
          <a:lstStyle/>
          <a:p>
            <a:r>
              <a:t>10 Sep</a:t>
            </a:r>
          </a:p>
          <a:p>
            <a:endParaRPr/>
          </a:p>
          <a:p>
            <a:r>
              <a:t>Amazon Aurora now supports AWS Graviton2-based T4g database instances. Graviton2 T4g database instances deliver a performance improvement of up to 49% over comparable current generation x86-based database instances. You can launch these database instances when using Amazon Aurora MySQL-Compatible Edition and Amazon Aurora PostgreSQL-Compatible Edition.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Cross-account event discovery for Amazon EventBridge schema registry</a:t>
            </a:r>
          </a:p>
        </p:txBody>
      </p:sp>
      <p:sp>
        <p:nvSpPr>
          <p:cNvPr id="3" name="Content Placeholder 2"/>
          <p:cNvSpPr>
            <a:spLocks noGrp="1"/>
          </p:cNvSpPr>
          <p:nvPr>
            <p:ph sz="half" idx="1"/>
          </p:nvPr>
        </p:nvSpPr>
        <p:spPr/>
        <p:txBody>
          <a:bodyPr/>
          <a:lstStyle/>
          <a:p>
            <a:r>
              <a:t>03 Sep</a:t>
            </a:r>
          </a:p>
          <a:p>
            <a:endParaRPr/>
          </a:p>
          <a:p>
            <a:r>
              <a:t>Amazon EventBridge schema registry now supports discovery of cross-account events published to an event bus. The EventBridge schema registry stores event structure - or schema - in a shared central location and maps those schemas to code for Java, Python, and Typescript to use events as objects in your code. Schemas from your event bus are automatically added to the registry when you turn on the schema discovery feature. You can connect to and interact with the schema registry from the AWS console, APIs, or through the SDK Toolkits for Jetbrains (Intellij, PyCharm, Webstorm, Rider) and VS Code.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EC2 Image Builder supports Amazon EventBridge notifications</a:t>
            </a:r>
          </a:p>
        </p:txBody>
      </p:sp>
      <p:sp>
        <p:nvSpPr>
          <p:cNvPr id="3" name="Content Placeholder 2"/>
          <p:cNvSpPr>
            <a:spLocks noGrp="1"/>
          </p:cNvSpPr>
          <p:nvPr>
            <p:ph sz="half" idx="1"/>
          </p:nvPr>
        </p:nvSpPr>
        <p:spPr/>
        <p:txBody>
          <a:bodyPr/>
          <a:lstStyle/>
          <a:p>
            <a:r>
              <a:t>30 Aug</a:t>
            </a:r>
          </a:p>
          <a:p>
            <a:endParaRPr/>
          </a:p>
          <a:p>
            <a:r>
              <a:t>Now on EC2 Image Builder, customers can use events to trigger an image build schedule in their event-driven architectures. Integrate your image build schedule with your events from AWS services, our SaaS partners, and custom events, via Amazon EventBridge. You can also create rules for event patterns, such as listening for a specific variable, and configure those rules to initiate image builds using EC2 Image Builder.</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introduces the option to troubleshoot provisioning errors before rollback, accelerating deployments</a:t>
            </a:r>
          </a:p>
        </p:txBody>
      </p:sp>
      <p:sp>
        <p:nvSpPr>
          <p:cNvPr id="3" name="Content Placeholder 2"/>
          <p:cNvSpPr>
            <a:spLocks noGrp="1"/>
          </p:cNvSpPr>
          <p:nvPr>
            <p:ph sz="half" idx="1"/>
          </p:nvPr>
        </p:nvSpPr>
        <p:spPr/>
        <p:txBody>
          <a:bodyPr/>
          <a:lstStyle/>
          <a:p>
            <a:r>
              <a:t>30 Aug</a:t>
            </a:r>
          </a:p>
          <a:p>
            <a:endParaRPr/>
          </a:p>
          <a:p>
            <a:r>
              <a:t>AWS CloudFormation users can now choose to preserve the state of successfully deployed resources in the event of CloudFormation stack operation errors. Using this feature, you can retry the operation using an updated CloudFormation template and quickly iterate through feedback loops, shortening development cycles.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notebook instance now supports Amazon Linux 2</a:t>
            </a:r>
          </a:p>
        </p:txBody>
      </p:sp>
      <p:sp>
        <p:nvSpPr>
          <p:cNvPr id="3" name="Content Placeholder 2"/>
          <p:cNvSpPr>
            <a:spLocks noGrp="1"/>
          </p:cNvSpPr>
          <p:nvPr>
            <p:ph sz="half" idx="1"/>
          </p:nvPr>
        </p:nvSpPr>
        <p:spPr/>
        <p:txBody>
          <a:bodyPr/>
          <a:lstStyle/>
          <a:p>
            <a:r>
              <a:t>19 Aug</a:t>
            </a:r>
          </a:p>
          <a:p>
            <a:endParaRPr/>
          </a:p>
          <a:p>
            <a:r>
              <a:t>Today, we are excited to announce that Amazon SageMaker notebook instance supports Amazon Linux 2. You can now choose Amazon Linux 2 for your new Amazon SageMaker notebook instance to take advantage of the latest update and support provided by Amazon Linux 2.</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adds support for Python 3.9</a:t>
            </a:r>
          </a:p>
        </p:txBody>
      </p:sp>
      <p:sp>
        <p:nvSpPr>
          <p:cNvPr id="3" name="Content Placeholder 2"/>
          <p:cNvSpPr>
            <a:spLocks noGrp="1"/>
          </p:cNvSpPr>
          <p:nvPr>
            <p:ph sz="half" idx="1"/>
          </p:nvPr>
        </p:nvSpPr>
        <p:spPr/>
        <p:txBody>
          <a:bodyPr/>
          <a:lstStyle/>
          <a:p>
            <a:r>
              <a:t>16 Aug</a:t>
            </a:r>
          </a:p>
          <a:p>
            <a:endParaRPr/>
          </a:p>
          <a:p>
            <a:r>
              <a:t>AWS Lambda now supports Python 3.9 as both a managed runtime and a container base image. You can now author AWS Lambda functions in Python 3.9 and use its new features, such as support for TLS 1.3, new string and dictionary operations, and improved time zone support. Python 3.9 also includes performance optimizations that you can benefit from without making any code changes. For more information on Lambda’s support for Python 3.9, see our blog post at Python 3.9 runtime now available in AWS Lambda.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Athena can now write query results in Parquet, Avro, ORC and JSON formats</a:t>
            </a:r>
          </a:p>
        </p:txBody>
      </p:sp>
      <p:sp>
        <p:nvSpPr>
          <p:cNvPr id="3" name="Content Placeholder 2"/>
          <p:cNvSpPr>
            <a:spLocks noGrp="1"/>
          </p:cNvSpPr>
          <p:nvPr>
            <p:ph sz="half" idx="1"/>
          </p:nvPr>
        </p:nvSpPr>
        <p:spPr/>
        <p:txBody>
          <a:bodyPr/>
          <a:lstStyle/>
          <a:p>
            <a:r>
              <a:t>05 Aug</a:t>
            </a:r>
          </a:p>
          <a:p>
            <a:endParaRPr/>
          </a:p>
          <a:p>
            <a:r>
              <a:t>Amazon Athena now lets you store results in the format that best fits your analytics use case. Using Athena's new UNLOAD statement, you can format results in your choice of Parquet, Avro, ORC, JSON or delimited text. Athena's SQL-based interface and support for open formats are well suited for creating extract, transform, and load (ETL) pipelines that prepare your data for downstream analytics processing.</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Amazon DynamoDB Accelerator (DAX) SDK for Java 2.x is now available</a:t>
            </a:r>
          </a:p>
        </p:txBody>
      </p:sp>
      <p:sp>
        <p:nvSpPr>
          <p:cNvPr id="3" name="Content Placeholder 2"/>
          <p:cNvSpPr>
            <a:spLocks noGrp="1"/>
          </p:cNvSpPr>
          <p:nvPr>
            <p:ph sz="half" idx="1"/>
          </p:nvPr>
        </p:nvSpPr>
        <p:spPr/>
        <p:txBody>
          <a:bodyPr/>
          <a:lstStyle/>
          <a:p>
            <a:r>
              <a:t>29 Jul</a:t>
            </a:r>
          </a:p>
          <a:p>
            <a:endParaRPr/>
          </a:p>
          <a:p>
            <a:r>
              <a:t>The Amazon DynamoDB Accelerator (DAX) SDK for Java 2.x is now available and is compatible with the AWS SDK for Java 2.x. You can build Java applications with accelerated access to DynamoDB and benefit from non-blocking I/O and other features of the latest AWS SDK for Java.</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Simplify CI/CD configuration for serverless applications and your favorite CI/CD system — Public Preview</a:t>
            </a:r>
          </a:p>
        </p:txBody>
      </p:sp>
      <p:sp>
        <p:nvSpPr>
          <p:cNvPr id="3" name="Content Placeholder 2"/>
          <p:cNvSpPr>
            <a:spLocks noGrp="1"/>
          </p:cNvSpPr>
          <p:nvPr>
            <p:ph sz="half" idx="1"/>
          </p:nvPr>
        </p:nvSpPr>
        <p:spPr/>
        <p:txBody>
          <a:bodyPr>
            <a:normAutofit fontScale="92500" lnSpcReduction="10000"/>
          </a:bodyPr>
          <a:lstStyle/>
          <a:p>
            <a:r>
              <a:t>22 Jul</a:t>
            </a:r>
          </a:p>
          <a:p>
            <a:endParaRPr/>
          </a:p>
          <a:p>
            <a:r>
              <a:t>You can now create secure continuous integration and deployment (CI/CD) pipelines that follow your organization’s best practices with a new pipeline configuration capability for serverless applications. AWS Serverless Application Model Pipelines (AWS SAM Pipelines) is a new feature of AWS SAM CLI that gives you access to benefits of CI/CD in minutes, such as accelerating deployment frequency, shortening lead time for changes, and reducing deployment errors. AWS SAM Pipelines comes with a set of default pipeline templates for popular CI/CD systems such as CloudBees CI/Jenkins, GitLab CI/CD, GitHubActions, and AWS CodeBuild/CodePipeline that follow AWS’ deployment best practices. The AWS SAM CLI is a developer tool that makes it easier to build, locally test, package, and deploy serverless applications.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Map supports configuring negative caching for DNS queries</a:t>
            </a:r>
          </a:p>
        </p:txBody>
      </p:sp>
      <p:sp>
        <p:nvSpPr>
          <p:cNvPr id="3" name="Content Placeholder 2"/>
          <p:cNvSpPr>
            <a:spLocks noGrp="1"/>
          </p:cNvSpPr>
          <p:nvPr>
            <p:ph sz="half" idx="1"/>
          </p:nvPr>
        </p:nvSpPr>
        <p:spPr/>
        <p:txBody>
          <a:bodyPr/>
          <a:lstStyle/>
          <a:p>
            <a:r>
              <a:t>12 Jul</a:t>
            </a:r>
          </a:p>
          <a:p>
            <a:endParaRPr/>
          </a:p>
          <a:p>
            <a:r>
              <a:t>AWS Cloud Map now provides the ability to configure the negative caching for DNS queries. AWS Cloud Map is a cloud resource discovery service that allows customers to define custom names for their application resources, such as Amazon Elastic Container Services (ECS) tasks, Amazon Elastic Compute Cloud (EC2) instances, Amazon DynamoDB tables, or any other cloud resource. They can then use these custom names to discover the network location and metadata of these cloud resources from their applications using AWS SDK and authenticated API queries.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Shield Advanced no longer requires AWS WAF logging for web-application layer event response</a:t>
            </a:r>
          </a:p>
        </p:txBody>
      </p:sp>
      <p:sp>
        <p:nvSpPr>
          <p:cNvPr id="3" name="Content Placeholder 2"/>
          <p:cNvSpPr>
            <a:spLocks noGrp="1"/>
          </p:cNvSpPr>
          <p:nvPr>
            <p:ph sz="half" idx="1"/>
          </p:nvPr>
        </p:nvSpPr>
        <p:spPr/>
        <p:txBody>
          <a:bodyPr/>
          <a:lstStyle/>
          <a:p>
            <a:r>
              <a:t>09 Jul</a:t>
            </a:r>
          </a:p>
          <a:p>
            <a:endParaRPr/>
          </a:p>
          <a:p>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now supports AWS WAF rate-based rules</a:t>
            </a:r>
          </a:p>
        </p:txBody>
      </p:sp>
      <p:sp>
        <p:nvSpPr>
          <p:cNvPr id="3" name="Content Placeholder 2"/>
          <p:cNvSpPr>
            <a:spLocks noGrp="1"/>
          </p:cNvSpPr>
          <p:nvPr>
            <p:ph sz="half" idx="1"/>
          </p:nvPr>
        </p:nvSpPr>
        <p:spPr/>
        <p:txBody>
          <a:bodyPr/>
          <a:lstStyle/>
          <a:p>
            <a:r>
              <a:t>13 Sep</a:t>
            </a:r>
          </a:p>
          <a:p>
            <a:endParaRPr/>
          </a:p>
          <a:p>
            <a:r>
              <a:t>AWS Firewall Manager now enables customers to centrally deploy AWS WAF rate-based rules  across accounts in their organization. An AWS WAF rate-based rule allows customers to track the rate of requests for each originating IP address and trigger a rule action on IPs once it goes over the limit. With this launch, security administrators on AWS Firewall Manager can now deploy rate-based rules across accounts, mandating request limits per account, using Firewall Manager security policy for AWS WAF.</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CodeBuild now supports a small ARM machine type</a:t>
            </a:r>
          </a:p>
        </p:txBody>
      </p:sp>
      <p:sp>
        <p:nvSpPr>
          <p:cNvPr id="3" name="Content Placeholder 2"/>
          <p:cNvSpPr>
            <a:spLocks noGrp="1"/>
          </p:cNvSpPr>
          <p:nvPr>
            <p:ph sz="half" idx="1"/>
          </p:nvPr>
        </p:nvSpPr>
        <p:spPr/>
        <p:txBody>
          <a:bodyPr/>
          <a:lstStyle/>
          <a:p>
            <a:r>
              <a:t>13 Sep</a:t>
            </a:r>
          </a:p>
          <a:p>
            <a:endParaRPr/>
          </a:p>
          <a:p>
            <a:r>
              <a:t>AWS CodeBuild’s support for Arm-based workloads now run on an additional AWS Graviton2 machine type suited for less-resource intensive workloads.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Serverless v1 supports configurable autoscaling timeout</a:t>
            </a:r>
          </a:p>
        </p:txBody>
      </p:sp>
      <p:sp>
        <p:nvSpPr>
          <p:cNvPr id="3" name="Content Placeholder 2"/>
          <p:cNvSpPr>
            <a:spLocks noGrp="1"/>
          </p:cNvSpPr>
          <p:nvPr>
            <p:ph sz="half" idx="1"/>
          </p:nvPr>
        </p:nvSpPr>
        <p:spPr/>
        <p:txBody>
          <a:bodyPr/>
          <a:lstStyle/>
          <a:p>
            <a:r>
              <a:t>13 Sep</a:t>
            </a:r>
          </a:p>
          <a:p>
            <a:endParaRPr/>
          </a:p>
          <a:p>
            <a:r>
              <a:t>Amazon Aurora Serverless v1 now supports setting timeout for autoscaling. Based on your application’s needs, you can specify a timeout between 1 and 10 minutes with a default value of 5 minutes. Aurora Serverless v1 looks for a period of no activity to initiate a scaling operation. If the timeout period is reached without such a point, you can stay at the current capacity or force the capacity change. Learn more about autoscaling in the Aurora Serverless v1 documentation . To set the timeout, visit the AWS Management Console  or use the latest AWS SDK or CLI.</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OpenSearch Service (successor to Amazon Elasticsearch Service) now supports Index Transforms</a:t>
            </a:r>
          </a:p>
        </p:txBody>
      </p:sp>
      <p:sp>
        <p:nvSpPr>
          <p:cNvPr id="3" name="Content Placeholder 2"/>
          <p:cNvSpPr>
            <a:spLocks noGrp="1"/>
          </p:cNvSpPr>
          <p:nvPr>
            <p:ph sz="half" idx="1"/>
          </p:nvPr>
        </p:nvSpPr>
        <p:spPr/>
        <p:txBody>
          <a:bodyPr/>
          <a:lstStyle/>
          <a:p>
            <a:r>
              <a:t>08 Sep</a:t>
            </a:r>
          </a:p>
          <a:p>
            <a:endParaRPr/>
          </a:p>
          <a:p>
            <a:r>
              <a:t>Amazon OpenSearch Service (successor to Amazon Elasticsearch Service) now supports index transforms that enables customers to extract significant information from large data sets and store summarized views in new indices. Customers can derive new insights, further analyze, and visualize trends from the new summary index.</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OpenSearch Service (successor to Amazon Elasticsearch Service) now supports Data Streams with OpenSearch 1.0 to simplify management of time-series data</a:t>
            </a:r>
          </a:p>
        </p:txBody>
      </p:sp>
      <p:sp>
        <p:nvSpPr>
          <p:cNvPr id="3" name="Content Placeholder 2"/>
          <p:cNvSpPr>
            <a:spLocks noGrp="1"/>
          </p:cNvSpPr>
          <p:nvPr>
            <p:ph sz="half" idx="1"/>
          </p:nvPr>
        </p:nvSpPr>
        <p:spPr/>
        <p:txBody>
          <a:bodyPr/>
          <a:lstStyle/>
          <a:p>
            <a:r>
              <a:t>08 Sep</a:t>
            </a:r>
          </a:p>
          <a:p>
            <a:endParaRPr/>
          </a:p>
          <a:p>
            <a:r>
              <a:t>Amazon OpenSearch Service now supports data streams to help simplify management of time-series data such as logs, metrics, and traces. Data streams abstract the underlying indexes required for your time-series data, the rollover process, and the optimizations required to efficiently manage and query time-based data, reducing operational overhead. You can move your older rolled-over indexes that are part of a data stream to UltraWarm and beyond that to cold storage, helping you retain data for longer, cost-effectively.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Connector is now in public preview</a:t>
            </a:r>
          </a:p>
        </p:txBody>
      </p:sp>
      <p:sp>
        <p:nvSpPr>
          <p:cNvPr id="3" name="Content Placeholder 2"/>
          <p:cNvSpPr>
            <a:spLocks noGrp="1"/>
          </p:cNvSpPr>
          <p:nvPr>
            <p:ph sz="half" idx="1"/>
          </p:nvPr>
        </p:nvSpPr>
        <p:spPr/>
        <p:txBody>
          <a:bodyPr/>
          <a:lstStyle/>
          <a:p>
            <a:r>
              <a:t>08 Sep</a:t>
            </a:r>
          </a:p>
          <a:p>
            <a:endParaRPr/>
          </a:p>
          <a:p>
            <a:r>
              <a:t>Amazon Elastic Kubernetes Service (Amazon EKS) now allows you to connect any conformant Kubernetes cluster to AWS and visualize it in the Amazon EKS console. You can connect any conformant Kubernetes cluster, including Amazon EKS Anywhere clusters running on-premises, self-managed clusters on Amazon Elastic Compute Cloud (Amazon EC2), and other Kubernetes clusters running outside of AWS. Regardless where your cluster is running, you can use the Amazon EKS console to view all connected clusters and the Kubernetes resources running on them.</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now supports RabbitMQ version 3.8.22</a:t>
            </a:r>
          </a:p>
        </p:txBody>
      </p:sp>
      <p:sp>
        <p:nvSpPr>
          <p:cNvPr id="3" name="Content Placeholder 2"/>
          <p:cNvSpPr>
            <a:spLocks noGrp="1"/>
          </p:cNvSpPr>
          <p:nvPr>
            <p:ph sz="half" idx="1"/>
          </p:nvPr>
        </p:nvSpPr>
        <p:spPr/>
        <p:txBody>
          <a:bodyPr/>
          <a:lstStyle/>
          <a:p>
            <a:r>
              <a:t>08 Sep</a:t>
            </a:r>
          </a:p>
          <a:p>
            <a:endParaRPr/>
          </a:p>
          <a:p>
            <a:r>
              <a:t>You can now launch RabbitMQ 3.8.22 brokers on Amazon MQ. This release includes a fix for an issue with queues using per-message TTL (time to live) , identified in the previously supported version, RabbitMQ 3.8.17, and we recommend upgrading to RabbitMQ 3.8.22.</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OpenSearch Dashboards Notebooks, a new visual reporting feature, now available on Amazon OpenSearch Service (successor to Amazon Elasticsearch Service)</a:t>
            </a:r>
          </a:p>
        </p:txBody>
      </p:sp>
      <p:sp>
        <p:nvSpPr>
          <p:cNvPr id="3" name="Content Placeholder 2"/>
          <p:cNvSpPr>
            <a:spLocks noGrp="1"/>
          </p:cNvSpPr>
          <p:nvPr>
            <p:ph sz="half" idx="1"/>
          </p:nvPr>
        </p:nvSpPr>
        <p:spPr/>
        <p:txBody>
          <a:bodyPr>
            <a:normAutofit fontScale="92500" lnSpcReduction="20000"/>
          </a:bodyPr>
          <a:lstStyle/>
          <a:p>
            <a:r>
              <a:t>08 Sep</a:t>
            </a:r>
          </a:p>
          <a:p>
            <a:endParaRPr/>
          </a:p>
          <a:p>
            <a:r>
              <a:t>Amazon OpenSearch Service now supports OpenSearch Dashboards Notebooks, a new feature that enables OpenSearch users to interactively and collaboratively develop rich reports backed by live data and queries. A notebook is a document made up of cells or paragraphs that can combine markdown, SQL and Piped Processing Language (PPL) queries, and visualizations with support for multi-timelines so that users can easily tell a story. Notebooks can be developed, shared as an OpenSearch Dashboards link, PDF or PNG, and refreshed directly from OpenSearch Dashboards to foster data driven exploration and collaboration among OpenSearch users and their stakeholders. Common use cases for notebooks includes creating postmortem reports, designing run books, building live infrastructure reports, or even documentation.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Reviewer adds new inconsistency detectors</a:t>
            </a:r>
          </a:p>
        </p:txBody>
      </p:sp>
      <p:sp>
        <p:nvSpPr>
          <p:cNvPr id="3" name="Content Placeholder 2"/>
          <p:cNvSpPr>
            <a:spLocks noGrp="1"/>
          </p:cNvSpPr>
          <p:nvPr>
            <p:ph sz="half" idx="1"/>
          </p:nvPr>
        </p:nvSpPr>
        <p:spPr/>
        <p:txBody>
          <a:bodyPr/>
          <a:lstStyle/>
          <a:p>
            <a:r>
              <a:t>07 Sep</a:t>
            </a:r>
          </a:p>
          <a:p>
            <a:endParaRPr/>
          </a:p>
          <a:p>
            <a:r>
              <a:t>Amazon CodeGuru Reviewer is a developer tool that leverages automated reasoning and machine learning to detect potential code defects that are difficult to find and offers suggestions for improvements. Today, we are announcing the addition of a new set of detectors that can identify inconsistencies within a code repository. These inconsistency detectors are a new type of machine learning based detector that analyzes coding patterns within a developer’s repository and helps detects when there is an anomaly that deviates from their standard pattern.</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Detective offers Splunk integration</a:t>
            </a:r>
          </a:p>
        </p:txBody>
      </p:sp>
      <p:sp>
        <p:nvSpPr>
          <p:cNvPr id="3" name="Content Placeholder 2"/>
          <p:cNvSpPr>
            <a:spLocks noGrp="1"/>
          </p:cNvSpPr>
          <p:nvPr>
            <p:ph sz="half" idx="1"/>
          </p:nvPr>
        </p:nvSpPr>
        <p:spPr/>
        <p:txBody>
          <a:bodyPr/>
          <a:lstStyle/>
          <a:p>
            <a:r>
              <a:t>07 Sep</a:t>
            </a:r>
          </a:p>
          <a:p>
            <a:endParaRPr/>
          </a:p>
          <a:p>
            <a:r>
              <a:t>Amazon Detective, in coordination with the Splunk Trumpet project, has released the ability to pivot from an Amazon GuardDuty finding in Splunk directly to an Amazon Detective entity profile so that customers can quickly identify the root cause of potential security issues or suspicious activities.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Transfer Family simplifies managed file transfer workflows with low code automation</a:t>
            </a:r>
          </a:p>
        </p:txBody>
      </p:sp>
      <p:sp>
        <p:nvSpPr>
          <p:cNvPr id="3" name="Content Placeholder 2"/>
          <p:cNvSpPr>
            <a:spLocks noGrp="1"/>
          </p:cNvSpPr>
          <p:nvPr>
            <p:ph sz="half" idx="1"/>
          </p:nvPr>
        </p:nvSpPr>
        <p:spPr/>
        <p:txBody>
          <a:bodyPr/>
          <a:lstStyle/>
          <a:p>
            <a:r>
              <a:t>02 Sep</a:t>
            </a:r>
          </a:p>
          <a:p>
            <a:endParaRPr/>
          </a:p>
          <a:p>
            <a:r>
              <a:t>AWS Transfer Family now supports managed workflows that makes it easy for you to create, execute, and monitor post upload processing for file transfers over SFTP, FTPS, and FTP for Amazon S3 and Amazon EFS. Using this feature, you can save time with low code automation to coordinate all the necessary tasks such as copying and tagging. You can also configure custom logic to scan for errors in the data including Personal Identifiable Information (PII), viruses, malware, or incorrect file formats or types. With managed workflows, quickly detect anomalies and meet your compliance requirements with ease.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Multi-Region Access Points accelerate access to replicated data sets by up to 60%</a:t>
            </a:r>
          </a:p>
        </p:txBody>
      </p:sp>
      <p:sp>
        <p:nvSpPr>
          <p:cNvPr id="3" name="Content Placeholder 2"/>
          <p:cNvSpPr>
            <a:spLocks noGrp="1"/>
          </p:cNvSpPr>
          <p:nvPr>
            <p:ph sz="half" idx="1"/>
          </p:nvPr>
        </p:nvSpPr>
        <p:spPr/>
        <p:txBody>
          <a:bodyPr/>
          <a:lstStyle/>
          <a:p>
            <a:r>
              <a:t>02 Sep</a:t>
            </a:r>
          </a:p>
          <a:p>
            <a:endParaRPr/>
          </a:p>
          <a:p>
            <a:r>
              <a:t>Amazon S3 Multi-Region Access Points accelerate performance by up to 60% when accessing data sets that are replicated across multiple AWS Regions. Based on AWS Global Accelerator, S3 Multi-Region Access Points consider factors like network congestion and the location of the requesting application to dynamically route your requests over the AWS network to the lowest latency copy of your data. This automatic routing allows you to take advantage of the global infrastructure of AWS while maintaining a simple application architecture.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VPC Announces New Routing Enhancements to Make It Easy to Deploy Virtual Appliances Between Subnets In a VPC</a:t>
            </a:r>
          </a:p>
        </p:txBody>
      </p:sp>
      <p:sp>
        <p:nvSpPr>
          <p:cNvPr id="3" name="Content Placeholder 2"/>
          <p:cNvSpPr>
            <a:spLocks noGrp="1"/>
          </p:cNvSpPr>
          <p:nvPr>
            <p:ph sz="half" idx="1"/>
          </p:nvPr>
        </p:nvSpPr>
        <p:spPr/>
        <p:txBody>
          <a:bodyPr/>
          <a:lstStyle/>
          <a:p>
            <a:r>
              <a:t>31 Aug</a:t>
            </a:r>
          </a:p>
          <a:p>
            <a:endParaRPr/>
          </a:p>
          <a:p>
            <a:r>
              <a:t>You can now configure routes in your subnet route tables to forward traffic between two subnets in a VPC, via virtual appliances such as network firewalls, intrusion detection and protection systems, etc.</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Virtual Private Cloud (VPC) customers can now resize their prefix list</a:t>
            </a:r>
          </a:p>
        </p:txBody>
      </p:sp>
      <p:sp>
        <p:nvSpPr>
          <p:cNvPr id="3" name="Content Placeholder 2"/>
          <p:cNvSpPr>
            <a:spLocks noGrp="1"/>
          </p:cNvSpPr>
          <p:nvPr>
            <p:ph sz="half" idx="1"/>
          </p:nvPr>
        </p:nvSpPr>
        <p:spPr/>
        <p:txBody>
          <a:bodyPr/>
          <a:lstStyle/>
          <a:p>
            <a:r>
              <a:t>27 Aug</a:t>
            </a:r>
          </a:p>
          <a:p>
            <a:endParaRPr/>
          </a:p>
          <a:p>
            <a:r>
              <a:t>Amazon Virtual Private Cloud (VPC) now allows you to resize your VPC prefix list, making it easier to manage your security posture and routing behavior as your network grows. Prefix lists allow you to group multiple CIDR blocks into a single object, and use it as a reference to simplify network configuration. You can share your prefix list with other AWS accounts using Resource Access Manager (RAM) and use it to configure VPC routes tables, security groups, and AWS Transit Gateway (TGW) route tables.</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IPv6 endpoints are now available for the Amazon EC2 Instance Metadata Service, Amazon Time Sync Service, and Amazon VPC DNS Server</a:t>
            </a:r>
          </a:p>
        </p:txBody>
      </p:sp>
      <p:sp>
        <p:nvSpPr>
          <p:cNvPr id="3" name="Content Placeholder 2"/>
          <p:cNvSpPr>
            <a:spLocks noGrp="1"/>
          </p:cNvSpPr>
          <p:nvPr>
            <p:ph sz="half" idx="1"/>
          </p:nvPr>
        </p:nvSpPr>
        <p:spPr/>
        <p:txBody>
          <a:bodyPr>
            <a:normAutofit lnSpcReduction="10000"/>
          </a:bodyPr>
          <a:lstStyle/>
          <a:p>
            <a:r>
              <a:t>25 Aug</a:t>
            </a:r>
          </a:p>
          <a:p>
            <a:endParaRPr/>
          </a:p>
          <a:p>
            <a:r>
              <a:t>The Amazon EC2 Instance Metadata Service, Amazon Time Sync Service, and Amazon VPC DNS server can now be accessed over IPv6 endpoints by instances built on the Nitro System . These local instance services have IPv6 addresses that can be accessed from your Amazon EC2 instances. These IPv6 endpoints use Unique Local Addresses (ULA); IPv6 for local instance services is useful for running software and containers in an IPv6-only single stack configuration. Additionally, if you are starting your transition to IPv6 in a dual-stack environment, the endpoints for the Instance Metadata Service, Amazon Time Sync Service, and Amazon VPC DNS are available over both IPv4 and IPv6.</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IAM Access Analyzer helps you generate fine-grained policies that specify the required actions for more than 50 services</a:t>
            </a:r>
          </a:p>
        </p:txBody>
      </p:sp>
      <p:sp>
        <p:nvSpPr>
          <p:cNvPr id="3" name="Content Placeholder 2"/>
          <p:cNvSpPr>
            <a:spLocks noGrp="1"/>
          </p:cNvSpPr>
          <p:nvPr>
            <p:ph sz="half" idx="1"/>
          </p:nvPr>
        </p:nvSpPr>
        <p:spPr/>
        <p:txBody>
          <a:bodyPr>
            <a:normAutofit fontScale="92500" lnSpcReduction="10000"/>
          </a:bodyPr>
          <a:lstStyle/>
          <a:p>
            <a:r>
              <a:t>25 Aug</a:t>
            </a:r>
          </a:p>
          <a:p>
            <a:endParaRPr/>
          </a:p>
          <a:p>
            <a:r>
              <a:t>IAM Access Analyzer helps you achieve least privilege by generating fine-grained policies that specify the required actions for more than 50 services. In April 2021, IAM Access Analyzer added policy generation to help you create IAM policies based on your AWS CloudTrail activity. Now, we are extending policy generation to identify actions used for more than 50 services such as Amazon ECR, Amazon Athena, and AWS Security Hub. When you request a policy, IAM Access Analyzer gets to work and generates a policy by analyzing your AWS CloudTrail logs to identify actions used. For other services, IAM Access Analyzer helps you by identifying the services used and guides you to add the necessary actions. The generated policy makes it easier to grant only the required permissions for your workloads.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MSK adds metrics for increased visibility of capacity</a:t>
            </a:r>
          </a:p>
        </p:txBody>
      </p:sp>
      <p:sp>
        <p:nvSpPr>
          <p:cNvPr id="3" name="Content Placeholder 2"/>
          <p:cNvSpPr>
            <a:spLocks noGrp="1"/>
          </p:cNvSpPr>
          <p:nvPr>
            <p:ph sz="half" idx="1"/>
          </p:nvPr>
        </p:nvSpPr>
        <p:spPr/>
        <p:txBody>
          <a:bodyPr/>
          <a:lstStyle/>
          <a:p>
            <a:r>
              <a:t>25 Aug</a:t>
            </a:r>
          </a:p>
          <a:p>
            <a:endParaRPr/>
          </a:p>
          <a:p>
            <a:r>
              <a:t>Amazon Managed Streaming for Apache Kafka (Amazon MSK) now offers greater insight into the usage of Amazon MSK resources through 19 new metrics published to Amazon CloudWatch. These metrics offer customers additional visibility into resource utilization across CPU, storage, and the network, enabling customers to maximize the performance and uptime of their Apache Kafka applications interacting with Amazon MSK.</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MongoDB 4.2 and 4.4 as sources</a:t>
            </a:r>
          </a:p>
        </p:txBody>
      </p:sp>
      <p:sp>
        <p:nvSpPr>
          <p:cNvPr id="3" name="Content Placeholder 2"/>
          <p:cNvSpPr>
            <a:spLocks noGrp="1"/>
          </p:cNvSpPr>
          <p:nvPr>
            <p:ph sz="half" idx="1"/>
          </p:nvPr>
        </p:nvSpPr>
        <p:spPr/>
        <p:txBody>
          <a:bodyPr/>
          <a:lstStyle/>
          <a:p>
            <a:r>
              <a:t>23 Aug</a:t>
            </a:r>
          </a:p>
          <a:p>
            <a:endParaRPr/>
          </a:p>
          <a:p>
            <a:r>
              <a:t>AWS Database Migration Service (AWS DMS) expands functionality by adding support for MongoDB 4.2 and 4.4 as a source. Using AWS DMS, you can now migrate data live from MongoDB 4.2 and 4.4 clusters to any AWS DMS supported targets  including Amazon DocumentDB (with MongoDB compatibility) with minimal downtime.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Database Migration Service now supports parallel threads when using Redshift as a target during full load</a:t>
            </a:r>
          </a:p>
        </p:txBody>
      </p:sp>
      <p:sp>
        <p:nvSpPr>
          <p:cNvPr id="3" name="Content Placeholder 2"/>
          <p:cNvSpPr>
            <a:spLocks noGrp="1"/>
          </p:cNvSpPr>
          <p:nvPr>
            <p:ph sz="half" idx="1"/>
          </p:nvPr>
        </p:nvSpPr>
        <p:spPr/>
        <p:txBody>
          <a:bodyPr/>
          <a:lstStyle/>
          <a:p>
            <a:r>
              <a:t>23 Aug</a:t>
            </a:r>
          </a:p>
          <a:p>
            <a:endParaRPr/>
          </a:p>
          <a:p>
            <a:r>
              <a:t>AWS Database Migration Service (AWS DMS) expands its functionality by supporting parallel threads when using Redshift as a target during full load. Amazon Redshift is a fully managed, petabyte-scale data warehouse service in the cloud. You can start with just a few hundred gigabytes of data and scale to a petabyte or more. By taking advantage of the multithreaded full load task settings, you can improve the performance of your initial migration from any DMS supported sources  to Amazon Redshift.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IAM Access Analyzer helps you generate IAM policies based on access activity found in your organization trail</a:t>
            </a:r>
          </a:p>
        </p:txBody>
      </p:sp>
      <p:sp>
        <p:nvSpPr>
          <p:cNvPr id="3" name="Content Placeholder 2"/>
          <p:cNvSpPr>
            <a:spLocks noGrp="1"/>
          </p:cNvSpPr>
          <p:nvPr>
            <p:ph sz="half" idx="1"/>
          </p:nvPr>
        </p:nvSpPr>
        <p:spPr/>
        <p:txBody>
          <a:bodyPr>
            <a:normAutofit fontScale="92500"/>
          </a:bodyPr>
          <a:lstStyle/>
          <a:p>
            <a:r>
              <a:t>20 Aug</a:t>
            </a:r>
          </a:p>
          <a:p>
            <a:endParaRPr/>
          </a:p>
          <a:p>
            <a:r>
              <a:t>In April 2021, IAM Access Analyzer added policy generation to help you create fine-grained policies based on AWS CloudTrail activity stored within your account. Now, we are extending policy generation to enable you to generate policies based on access activity stored in a designated account. For example, you can use AWS Organizations to define a uniform event logging strategy for your organization and store all CloudTrail logs in your management account to streamline governance activities. IAM Access Analyzer helps you by reviewing access activity stored in your designated account and generates a fine-grained IAM policy in your member accounts. This helps you to easily create policies with just the required permissions for your workloads.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adds 18 new controls to its Foundational Security Best Practices standard and 8 new partners for enhanced cloud security posture monitoring</a:t>
            </a:r>
          </a:p>
        </p:txBody>
      </p:sp>
      <p:sp>
        <p:nvSpPr>
          <p:cNvPr id="3" name="Content Placeholder 2"/>
          <p:cNvSpPr>
            <a:spLocks noGrp="1"/>
          </p:cNvSpPr>
          <p:nvPr>
            <p:ph sz="half" idx="1"/>
          </p:nvPr>
        </p:nvSpPr>
        <p:spPr/>
        <p:txBody>
          <a:bodyPr>
            <a:normAutofit lnSpcReduction="10000"/>
          </a:bodyPr>
          <a:lstStyle/>
          <a:p>
            <a:r>
              <a:t>18 Aug</a:t>
            </a:r>
          </a:p>
          <a:p>
            <a:endParaRPr/>
          </a:p>
          <a:p>
            <a:r>
              <a:t>AWS Security Hub has released 18 new controls for its Foundational Security Best Practice standard  to enhance customers’ cloud security posture monitoring. These controls conduct fully-automatic checks against security best practices for Amazon API Gateway, Amazon EC2, Amazon ECS, Elastic Load Balancing, Amazon Elasticsearch Service, Amazon RDS, Amazon Redshift, and Amazon SQS. If you have Security Hub set to automatically enable new controls and are already using AWS Foundational Security Best Practices, these controls are enabled by default. Security Hub now supports 159 security controls to automatically check your security posture in AWS.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Profiler extends visualizations capability with a new compare option for application profile</a:t>
            </a:r>
          </a:p>
        </p:txBody>
      </p:sp>
      <p:sp>
        <p:nvSpPr>
          <p:cNvPr id="3" name="Content Placeholder 2"/>
          <p:cNvSpPr>
            <a:spLocks noGrp="1"/>
          </p:cNvSpPr>
          <p:nvPr>
            <p:ph sz="half" idx="1"/>
          </p:nvPr>
        </p:nvSpPr>
        <p:spPr/>
        <p:txBody>
          <a:bodyPr/>
          <a:lstStyle/>
          <a:p>
            <a:r>
              <a:t>17 Aug</a:t>
            </a:r>
          </a:p>
          <a:p>
            <a:endParaRPr/>
          </a:p>
          <a:p>
            <a:r>
              <a:t>Amazon CodeGuru is a developer tool powered by machine learning that provides intelligent recommendations for improving code quality and identifying an application’s most expensive lines of code. Developers can use Amazon CodeGuru Profiler to understand the runtime behavior of their applications, identify and remove code inefficiencies, improve performance, and significantly decrease compute costs.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CDK releases v1.111.0 - v1.116.0 with updates for unit testing and CDK Pipelines support</a:t>
            </a:r>
          </a:p>
        </p:txBody>
      </p:sp>
      <p:sp>
        <p:nvSpPr>
          <p:cNvPr id="3" name="Content Placeholder 2"/>
          <p:cNvSpPr>
            <a:spLocks noGrp="1"/>
          </p:cNvSpPr>
          <p:nvPr>
            <p:ph sz="half" idx="1"/>
          </p:nvPr>
        </p:nvSpPr>
        <p:spPr/>
        <p:txBody>
          <a:bodyPr>
            <a:normAutofit fontScale="92500"/>
          </a:bodyPr>
          <a:lstStyle/>
          <a:p>
            <a:r>
              <a:t>17 Aug</a:t>
            </a:r>
          </a:p>
          <a:p>
            <a:endParaRPr/>
          </a:p>
          <a:p>
            <a:r>
              <a:t>During July, 2021, 6 new versions of the AWS Cloud Development Kit (CDK) for JavaScript, TypeScript, Java, Python, .NET and Go were released (v1.111.0 through v1.116.0). With these releases, CDK Pipelines  is generally available with a new API which makes it easier to define multi-environment deployment pipelines for cloud applications in all shapes and sizes. Additionally, the new assertions  library, which is available in all CDK languages, now includes some new cloud testing primitives such as findResources() . These releases also include 24 bugs fixes and 50 new features that span 30 different modules across the library. Many of these changes were contributed by the developer community.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Fleet Manager now offers report generation for Managed Instances</a:t>
            </a:r>
          </a:p>
        </p:txBody>
      </p:sp>
      <p:sp>
        <p:nvSpPr>
          <p:cNvPr id="3" name="Content Placeholder 2"/>
          <p:cNvSpPr>
            <a:spLocks noGrp="1"/>
          </p:cNvSpPr>
          <p:nvPr>
            <p:ph sz="half" idx="1"/>
          </p:nvPr>
        </p:nvSpPr>
        <p:spPr/>
        <p:txBody>
          <a:bodyPr/>
          <a:lstStyle/>
          <a:p>
            <a:r>
              <a:t>17 Aug</a:t>
            </a:r>
          </a:p>
          <a:p>
            <a:endParaRPr/>
          </a:p>
          <a:p>
            <a:r>
              <a:t>AWS Systems Manager Fleet Manager, a capability in AWS Systems Manager (SSM) that helps you streamline and scale your remote server management processes, now offers the ability to generate at-a glance reporting on your SSM Managed Instances. The new feature enables you to customize the Fleet Manager information panel in which you can view alerts, status, and details of managed instances and download it for local viewing and analysis.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EC2 M6i instances</a:t>
            </a:r>
          </a:p>
        </p:txBody>
      </p:sp>
      <p:sp>
        <p:nvSpPr>
          <p:cNvPr id="3" name="Content Placeholder 2"/>
          <p:cNvSpPr>
            <a:spLocks noGrp="1"/>
          </p:cNvSpPr>
          <p:nvPr>
            <p:ph sz="half" idx="1"/>
          </p:nvPr>
        </p:nvSpPr>
        <p:spPr/>
        <p:txBody>
          <a:bodyPr>
            <a:normAutofit fontScale="85000" lnSpcReduction="20000"/>
          </a:bodyPr>
          <a:lstStyle/>
          <a:p>
            <a:r>
              <a:t>16 Aug</a:t>
            </a:r>
          </a:p>
          <a:p>
            <a:endParaRPr/>
          </a:p>
          <a:p>
            <a:r>
              <a:t>Amazon Web Services (AWS) announces the general availability of Amazon EC2 M6i instances, expanding the 6th generation EC2 instance portfolio to include x86-based compute options. Designed to provide a balance of compute, memory, storage, and network resources, M6i instances are built on the AWS Nitro System, a combination of dedicated hardware and lightweight hypervisor, which delivers practically all of the compute and memory resources of the host hardware to your instances. M6i instances are powered by 3rd generation Intel Xeon Scalable processors (code named Ice Lake) with an all-core turbo frequency of 3.5 GHz, offer up to 15% better compute price performance over M5 instances, and always-on memory encryption using Intel Total Memory Encryption (TME). These instances are SAP-Certified and are ideal for workloads such as web and application servers, back-end servers supporting enterprise applications (e.g. Microsoft Exchange Server and SharePoint Server, SAP Business Suite, MySQL, Microsoft SQL Server, and PostgreSQL databases), gaming servers, caching fleets, as well as for application development environments.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Inf1 instances now supports TensorFlow 2</a:t>
            </a:r>
          </a:p>
        </p:txBody>
      </p:sp>
      <p:sp>
        <p:nvSpPr>
          <p:cNvPr id="3" name="Content Placeholder 2"/>
          <p:cNvSpPr>
            <a:spLocks noGrp="1"/>
          </p:cNvSpPr>
          <p:nvPr>
            <p:ph sz="half" idx="1"/>
          </p:nvPr>
        </p:nvSpPr>
        <p:spPr/>
        <p:txBody>
          <a:bodyPr/>
          <a:lstStyle/>
          <a:p>
            <a:r>
              <a:t>13 Aug</a:t>
            </a:r>
          </a:p>
          <a:p>
            <a:endParaRPr/>
          </a:p>
          <a:p>
            <a:r>
              <a:t>AWS Neuron, the SDK for running machine learning inference on AWS Inferentia-based Amazon EC2 Inf1 instances now supports TensorFlow 2. Starting with Neuron 1.15.0 you can execute your TensorFlow 2 BERT based models on Inf1 instances with support for additional models coming soon. To learn more about Neuron TensorFlow 2 support, visit our TensorFlow 2 FAQ  page.</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Redshift Cross-account Data Sharing</a:t>
            </a:r>
          </a:p>
        </p:txBody>
      </p:sp>
      <p:sp>
        <p:nvSpPr>
          <p:cNvPr id="3" name="Content Placeholder 2"/>
          <p:cNvSpPr>
            <a:spLocks noGrp="1"/>
          </p:cNvSpPr>
          <p:nvPr>
            <p:ph sz="half" idx="1"/>
          </p:nvPr>
        </p:nvSpPr>
        <p:spPr/>
        <p:txBody>
          <a:bodyPr/>
          <a:lstStyle/>
          <a:p>
            <a:r>
              <a:t>13 Aug</a:t>
            </a:r>
          </a:p>
          <a:p>
            <a:endParaRPr/>
          </a:p>
          <a:p>
            <a:r>
              <a:t>Amazon Redshift data sharing allows you to share live, transactionally consistent data across different Redshift clusters without the complexity and delays associated with data copies and data movement. Ability to share data across clusters that are in the same AWS account  is already available. Now sharing data across Redshift clusters in different AWS accounts is also generally available. Cross-account data sharing is supported on all Redshift RA3 node types. There is no additional cost to use cross-account sharing on your Amazon Redshift clusters.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API Gateway now supports mutual TLS with certificates from third-party CAs and ACM Private CA</a:t>
            </a:r>
          </a:p>
        </p:txBody>
      </p:sp>
      <p:sp>
        <p:nvSpPr>
          <p:cNvPr id="3" name="Content Placeholder 2"/>
          <p:cNvSpPr>
            <a:spLocks noGrp="1"/>
          </p:cNvSpPr>
          <p:nvPr>
            <p:ph sz="half" idx="1"/>
          </p:nvPr>
        </p:nvSpPr>
        <p:spPr/>
        <p:txBody>
          <a:bodyPr/>
          <a:lstStyle/>
          <a:p>
            <a:r>
              <a:t>13 Aug</a:t>
            </a:r>
          </a:p>
          <a:p>
            <a:endParaRPr/>
          </a:p>
          <a:p>
            <a:r>
              <a:t>Amazon API Gateway enables customers to authenticate clients using certificate-based mutual TLS, where digital certificates are exchanged between the client and API Gateway before a secure connection is established. Previously, only certificates issued by AWS Certificate Manager (ACM) could be used as the server certificate when configuring mutual TLS in API Gateway. Starting today, customers can use a server certificate issued by a third-party certificate authority (CA) or ACM Private CA.</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Profiler adds recommendation support for Python applications</a:t>
            </a:r>
          </a:p>
        </p:txBody>
      </p:sp>
      <p:sp>
        <p:nvSpPr>
          <p:cNvPr id="3" name="Content Placeholder 2"/>
          <p:cNvSpPr>
            <a:spLocks noGrp="1"/>
          </p:cNvSpPr>
          <p:nvPr>
            <p:ph sz="half" idx="1"/>
          </p:nvPr>
        </p:nvSpPr>
        <p:spPr/>
        <p:txBody>
          <a:bodyPr/>
          <a:lstStyle/>
          <a:p>
            <a:r>
              <a:t>12 Aug</a:t>
            </a:r>
          </a:p>
          <a:p>
            <a:endParaRPr/>
          </a:p>
          <a:p>
            <a:r>
              <a:t>Amazon CodeGuru is a developer tool powered by machine learning that provides intelligent recommendations for improving code quality and identifying an application’s most expensive lines of code. Developers can use Amazon CodeGuru Profiler to understand the runtime behavior of their applications, identify and remove code inefficiencies, improve performance, and significantly decrease compute costs.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now allows you to easily identify latest releases that have the applications you need</a:t>
            </a:r>
          </a:p>
        </p:txBody>
      </p:sp>
      <p:sp>
        <p:nvSpPr>
          <p:cNvPr id="3" name="Content Placeholder 2"/>
          <p:cNvSpPr>
            <a:spLocks noGrp="1"/>
          </p:cNvSpPr>
          <p:nvPr>
            <p:ph sz="half" idx="1"/>
          </p:nvPr>
        </p:nvSpPr>
        <p:spPr/>
        <p:txBody>
          <a:bodyPr/>
          <a:lstStyle/>
          <a:p>
            <a:r>
              <a:t>11 Aug</a:t>
            </a:r>
          </a:p>
          <a:p>
            <a:endParaRPr/>
          </a:p>
          <a:p>
            <a:r>
              <a:t>You can now easily list Amazon EMR releases available in an Amazon region and describe the applications available with any Amazon EMR release. Previously, if you were looking to launch Amazon EMR clusters in new regions, or with the latest version of an application, you had to read the release notes and manually update your cluster launch workflow. The new API parameters now allow you to programmatically identify this information, enabling you to automate your cluster launch workflows.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App Runner integration in the AWS Toolkit for VS Code</a:t>
            </a:r>
          </a:p>
        </p:txBody>
      </p:sp>
      <p:sp>
        <p:nvSpPr>
          <p:cNvPr id="3" name="Content Placeholder 2"/>
          <p:cNvSpPr>
            <a:spLocks noGrp="1"/>
          </p:cNvSpPr>
          <p:nvPr>
            <p:ph sz="half" idx="1"/>
          </p:nvPr>
        </p:nvSpPr>
        <p:spPr/>
        <p:txBody>
          <a:bodyPr/>
          <a:lstStyle/>
          <a:p>
            <a:r>
              <a:t>11 Aug</a:t>
            </a:r>
          </a:p>
          <a:p>
            <a:endParaRPr/>
          </a:p>
          <a:p>
            <a:r>
              <a:t>The AWS Toolkit for VS Code now provides developers with convenient IDE functionality to create and manage deployments from their code or image repositories using AWS App Runner. AWS App Runner is a fully managed service that makes it easy for customers without any prior containers or infrastructure experience to build, deploy, and run containerized web applications and APIs in just a few clicks.</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enhances Instance Refresh with configuration checks, Launch Template validation, and Amazon EventBridge notifications</a:t>
            </a:r>
          </a:p>
        </p:txBody>
      </p:sp>
      <p:sp>
        <p:nvSpPr>
          <p:cNvPr id="3" name="Content Placeholder 2"/>
          <p:cNvSpPr>
            <a:spLocks noGrp="1"/>
          </p:cNvSpPr>
          <p:nvPr>
            <p:ph sz="half" idx="1"/>
          </p:nvPr>
        </p:nvSpPr>
        <p:spPr/>
        <p:txBody>
          <a:bodyPr/>
          <a:lstStyle/>
          <a:p>
            <a:r>
              <a:t>05 Aug</a:t>
            </a:r>
          </a:p>
          <a:p>
            <a:endParaRPr/>
          </a:p>
          <a:p>
            <a:r>
              <a:t>Amazon EC2 Auto Scaling Instance Refresh now supports performing updates to the Auto Scaling group (ASG) configuration as well as the ability to skip replacing already updated instances during an Instance Refresh. These new capabilities make it easier to deploy changes to an Amazon Machine Image (AMI) or install additional software in a controlled manner. To help you further deploy updates on Auto Scaling instances, we are also announcing four new Instance Refresh-based event notifications available through Amazon EventBridge.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79 new resource types in the CloudFormation Registry</a:t>
            </a:r>
          </a:p>
        </p:txBody>
      </p:sp>
      <p:sp>
        <p:nvSpPr>
          <p:cNvPr id="3" name="Content Placeholder 2"/>
          <p:cNvSpPr>
            <a:spLocks noGrp="1"/>
          </p:cNvSpPr>
          <p:nvPr>
            <p:ph sz="half" idx="1"/>
          </p:nvPr>
        </p:nvSpPr>
        <p:spPr/>
        <p:txBody>
          <a:bodyPr>
            <a:normAutofit fontScale="85000" lnSpcReduction="20000"/>
          </a:bodyPr>
          <a:lstStyle/>
          <a:p>
            <a:r>
              <a:t>05 Aug</a:t>
            </a:r>
          </a:p>
          <a:p>
            <a:endParaRPr/>
          </a:p>
          <a:p>
            <a:r>
              <a:t>Since our last update in March 2021, AWS CloudFormation has expanded the CloudFormation Registry  to support 79 new resource types between April and July 2021 (see the complete list at the end of this post). A resource type includes schema (resource properties and handler permissions) and handlers that control API interactions with the underlying AWS or third-party services. Out of these 79, AWS has published 56 and AWS Partner Network (APN) Partners have 23. Customers can now configure, provision, and manage these newly supported resources through CloudFormation in a predictable and reliable way. Among the AWS resources, we are pleased to announce that 8 new AWS services added launch day CloudFormation support. These services include: Amazon Interactive Video Service (IVS), Amazon Nimble Studio, AWS IoT Device Management, Amazon FinSpace, Amazon Fraud Detector, Amazon Location Services, AWS App Runner, and Amazon Lookout for Equipment. CloudFormation now supports 775 AWS resource types across 160 AWS services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Cloud9 introduces new features to browse CloudWatch Logs, S3, and use EC2 instance profiles</a:t>
            </a:r>
          </a:p>
        </p:txBody>
      </p:sp>
      <p:sp>
        <p:nvSpPr>
          <p:cNvPr id="3" name="Content Placeholder 2"/>
          <p:cNvSpPr>
            <a:spLocks noGrp="1"/>
          </p:cNvSpPr>
          <p:nvPr>
            <p:ph sz="half" idx="1"/>
          </p:nvPr>
        </p:nvSpPr>
        <p:spPr/>
        <p:txBody>
          <a:bodyPr/>
          <a:lstStyle/>
          <a:p>
            <a:r>
              <a:t>04 Aug</a:t>
            </a:r>
          </a:p>
          <a:p>
            <a:endParaRPr/>
          </a:p>
          <a:p>
            <a:r>
              <a:t>AWS Cloud9 introduces 3 new features, including support for CloudWatch Logs , S3  and EC2 instance profiles . Cloud9 users can now list their log groups and view log streams instantly without leaving their IDE. In addition, the S3 integration has improved performance in VPCs and now supports a new “Upload current file” feature. Finally, Cloud9 users using multi-factor authentication (MFA) and private VPCs can automatically authenticate via EC2 instance metadata and environment variable credentials sources.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Pipelines now supports invoking AWS Lambda Functions</a:t>
            </a:r>
          </a:p>
        </p:txBody>
      </p:sp>
      <p:sp>
        <p:nvSpPr>
          <p:cNvPr id="3" name="Content Placeholder 2"/>
          <p:cNvSpPr>
            <a:spLocks noGrp="1"/>
          </p:cNvSpPr>
          <p:nvPr>
            <p:ph sz="half" idx="1"/>
          </p:nvPr>
        </p:nvSpPr>
        <p:spPr/>
        <p:txBody>
          <a:bodyPr>
            <a:normAutofit fontScale="92500" lnSpcReduction="20000"/>
          </a:bodyPr>
          <a:lstStyle/>
          <a:p>
            <a:r>
              <a:t>04 Aug</a:t>
            </a:r>
          </a:p>
          <a:p>
            <a:endParaRPr/>
          </a:p>
          <a:p>
            <a:r>
              <a:t>Amazon SageMaker Pipelines, the first purpose-built continuous integration and continuous delivery (CI/CD) service for machine learning (ML), now supports a LambdaStep that allows customers to directly invoke an AWS Lambda function as a step in the ML model building pipeline. Customers can use the new LambdaStep to run any tasks or jobs on AWS Lambda such as splitting datasets or sending custom notifications, as long as the processing can be completed within 10 minutes. Customers can either write the Lambda function in their preferred language including Python and provide it as a file or provide us a .zip package that contains the code, compiled programs and any depenencies . SageMaker Pipelines will automatically create a new Lambda function and run it as part of the LambdaStep execution. Alternatively, if customers have a Lambda function that has already been created, they can choose to invoke it in the LambdaStep execution.</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License Manager now supports Delegated Administrator</a:t>
            </a:r>
          </a:p>
        </p:txBody>
      </p:sp>
      <p:sp>
        <p:nvSpPr>
          <p:cNvPr id="3" name="Content Placeholder 2"/>
          <p:cNvSpPr>
            <a:spLocks noGrp="1"/>
          </p:cNvSpPr>
          <p:nvPr>
            <p:ph sz="half" idx="1"/>
          </p:nvPr>
        </p:nvSpPr>
        <p:spPr/>
        <p:txBody>
          <a:bodyPr/>
          <a:lstStyle/>
          <a:p>
            <a:r>
              <a:t>04 Aug</a:t>
            </a:r>
          </a:p>
          <a:p>
            <a:endParaRPr/>
          </a:p>
          <a:p>
            <a:r>
              <a:t>AWS License Manager announces support for Delegated Administrator, a feature that allows license administrators to manage and distribute licenses across all of their AWS accounts from a delegated account other than the central payer account. Using delegated administrator, you can discover licenses running across all accounts and track license usage centrally. Delegated Administrator provides you flexibility to separate license management from the billing activities. </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now supports Multus</a:t>
            </a:r>
          </a:p>
        </p:txBody>
      </p:sp>
      <p:sp>
        <p:nvSpPr>
          <p:cNvPr id="3" name="Content Placeholder 2"/>
          <p:cNvSpPr>
            <a:spLocks noGrp="1"/>
          </p:cNvSpPr>
          <p:nvPr>
            <p:ph sz="half" idx="1"/>
          </p:nvPr>
        </p:nvSpPr>
        <p:spPr/>
        <p:txBody>
          <a:bodyPr/>
          <a:lstStyle/>
          <a:p>
            <a:r>
              <a:t>03 Aug</a:t>
            </a:r>
          </a:p>
          <a:p>
            <a:endParaRPr/>
          </a:p>
          <a:p>
            <a:r>
              <a:t>Amazon Elastic Kubernetes Service (EKS) now supports the Multus  Container Networking Interface (CNI) plugin, enabling pods running in EKS clusters to attach multiple network interfaces in support of advanced networking configurations.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extends Automatic Table Optimization to support Column Compression Encoding</a:t>
            </a:r>
          </a:p>
        </p:txBody>
      </p:sp>
      <p:sp>
        <p:nvSpPr>
          <p:cNvPr id="3" name="Content Placeholder 2"/>
          <p:cNvSpPr>
            <a:spLocks noGrp="1"/>
          </p:cNvSpPr>
          <p:nvPr>
            <p:ph sz="half" idx="1"/>
          </p:nvPr>
        </p:nvSpPr>
        <p:spPr/>
        <p:txBody>
          <a:bodyPr/>
          <a:lstStyle/>
          <a:p>
            <a:r>
              <a:t>03 Aug</a:t>
            </a:r>
          </a:p>
          <a:p>
            <a:endParaRPr/>
          </a:p>
          <a:p>
            <a:r>
              <a:t>Amazon Web Services, Inc. (AWS), an Amazon.com company (NASDAQ: AMZN), extends Automatic Table Optimization to modify column compression encodings. This new capability maintains the optimal compression encodings in Amazon Redshift database tables on an ongoing basis to achieve high performance and reduce the storage utilization. By using automation to manage column compression, customers can ensure that column compression encodings are always optimized in order to get the best possible performance.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Block Store now supports idempotent volume creation</a:t>
            </a:r>
          </a:p>
        </p:txBody>
      </p:sp>
      <p:sp>
        <p:nvSpPr>
          <p:cNvPr id="3" name="Content Placeholder 2"/>
          <p:cNvSpPr>
            <a:spLocks noGrp="1"/>
          </p:cNvSpPr>
          <p:nvPr>
            <p:ph sz="half" idx="1"/>
          </p:nvPr>
        </p:nvSpPr>
        <p:spPr/>
        <p:txBody>
          <a:bodyPr/>
          <a:lstStyle/>
          <a:p>
            <a:r>
              <a:t>30 Jul</a:t>
            </a:r>
          </a:p>
          <a:p>
            <a:endParaRPr/>
          </a:p>
          <a:p>
            <a:r>
              <a:t>Amazon Elastic Block Store (EBS) now supports idempotent creation of EBS Volumes, allowing you to safely retry volume creation without additional side effects. Idempotent creation of EBS Volumes is intended for customers that have higher level processes such as container orchestration systems or automation scripts that create EBS volumes as part of a workflow.</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Security Hub adds 10 new controls to its Foundational Security Best Practices standard for enhanced cloud security posture monitoring</a:t>
            </a:r>
          </a:p>
        </p:txBody>
      </p:sp>
      <p:sp>
        <p:nvSpPr>
          <p:cNvPr id="3" name="Content Placeholder 2"/>
          <p:cNvSpPr>
            <a:spLocks noGrp="1"/>
          </p:cNvSpPr>
          <p:nvPr>
            <p:ph sz="half" idx="1"/>
          </p:nvPr>
        </p:nvSpPr>
        <p:spPr/>
        <p:txBody>
          <a:bodyPr>
            <a:normAutofit fontScale="92500" lnSpcReduction="20000"/>
          </a:bodyPr>
          <a:lstStyle/>
          <a:p>
            <a:r>
              <a:t>30 Jul</a:t>
            </a:r>
          </a:p>
          <a:p>
            <a:endParaRPr/>
          </a:p>
          <a:p>
            <a:r>
              <a:t>AWS Security Hub has released 10 new controls for its Foundational Security Best Practice standard  to enhance customers’ cloud security posture monitoring. These controls conduct fully-automatic checks against security best practices for Amazon API Gateway (APIGateway.4), Amazon CloudFront (CloudFront.5, CloudFront.6), Amazon EC2 (EC2.17, EC2.18), Amazon Elastic Container Service (ECS.1), Amazon Elasticsearch Service (ES.4), AWS Identity and Access Management (IAM.21), Amazon Relational Database Service (RDS.15), and Amazon Simple Storage Service (S3.8). ). If you have Security Hub set to automatically enable new controls and are already using AWS Foundational Security Best Practices, these controls are enabled by default. Security Hub now supports 141 security controls to automatically check your security posture in AWS.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Auto Scaling now lets you control which instances to terminate on scale-in</a:t>
            </a:r>
          </a:p>
        </p:txBody>
      </p:sp>
      <p:sp>
        <p:nvSpPr>
          <p:cNvPr id="3" name="Content Placeholder 2"/>
          <p:cNvSpPr>
            <a:spLocks noGrp="1"/>
          </p:cNvSpPr>
          <p:nvPr>
            <p:ph sz="half" idx="1"/>
          </p:nvPr>
        </p:nvSpPr>
        <p:spPr/>
        <p:txBody>
          <a:bodyPr>
            <a:normAutofit fontScale="92500"/>
          </a:bodyPr>
          <a:lstStyle/>
          <a:p>
            <a:r>
              <a:t>29 Jul</a:t>
            </a:r>
          </a:p>
          <a:p>
            <a:endParaRPr/>
          </a:p>
          <a:p>
            <a:r>
              <a:t>Amazon EC2 Auto Scaling now lets you control which instances to terminate during a scale-in event by allowing you to provide a custom function that selects which instances to terminate. Previously, you could use one of the predefined termination policies to determine which instances Auto Scaling would terminate. (For example, the OldestLaunchTemplate termination policy would terminate instances in order of their launch template age, oldest first.) Now, you can provide a custom Lambda function that indicates which instances are safe to terminate on scale in. This feature is useful for stateful applications where you want to control which instances Auto Scaling terminates so that your application is not disrupted on scale in.</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adds support for trimmed mean statistics</a:t>
            </a:r>
          </a:p>
        </p:txBody>
      </p:sp>
      <p:sp>
        <p:nvSpPr>
          <p:cNvPr id="3" name="Content Placeholder 2"/>
          <p:cNvSpPr>
            <a:spLocks noGrp="1"/>
          </p:cNvSpPr>
          <p:nvPr>
            <p:ph sz="half" idx="1"/>
          </p:nvPr>
        </p:nvSpPr>
        <p:spPr/>
        <p:txBody>
          <a:bodyPr/>
          <a:lstStyle/>
          <a:p>
            <a:r>
              <a:t>29 Jul</a:t>
            </a:r>
          </a:p>
          <a:p>
            <a:endParaRPr/>
          </a:p>
          <a:p>
            <a:r>
              <a:t>Amazon CloudWatch announces support for the trimmed mean statistic on CloudWatch Metrics. With trimmed mean statistics, customers gain visibility on the average performance of a metric without the noise of outliers. Trends in average performance represented by the trimmed mean can be visualized on CloudWatch Dashboards or used to set thresholds in alarms for proactive alerting.</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provides support for KMS Encryption</a:t>
            </a:r>
          </a:p>
        </p:txBody>
      </p:sp>
      <p:sp>
        <p:nvSpPr>
          <p:cNvPr id="3" name="Content Placeholder 2"/>
          <p:cNvSpPr>
            <a:spLocks noGrp="1"/>
          </p:cNvSpPr>
          <p:nvPr>
            <p:ph sz="half" idx="1"/>
          </p:nvPr>
        </p:nvSpPr>
        <p:spPr/>
        <p:txBody>
          <a:bodyPr/>
          <a:lstStyle/>
          <a:p>
            <a:r>
              <a:t>28 Jul</a:t>
            </a:r>
          </a:p>
          <a:p>
            <a:endParaRPr/>
          </a:p>
          <a:p>
            <a:r>
              <a:t>Today, we are announcing new functionality in AWS Control Tower that provides you the option to use a single customer provided AWS Key Management Service (AWS KMS) key to secure the AWS Control Tower deployed services (AWS CloudTrail, AWS Config) and the associated AWS S3 data. The use of AWS KMS encryption gives you enhanced encryption over the default SSE-S3 encryption used by AWS Control Tower.</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You can now import your AWS CloudFormation stacks into a CloudFormation stack set</a:t>
            </a:r>
          </a:p>
        </p:txBody>
      </p:sp>
      <p:sp>
        <p:nvSpPr>
          <p:cNvPr id="3" name="Content Placeholder 2"/>
          <p:cNvSpPr>
            <a:spLocks noGrp="1"/>
          </p:cNvSpPr>
          <p:nvPr>
            <p:ph sz="half" idx="1"/>
          </p:nvPr>
        </p:nvSpPr>
        <p:spPr/>
        <p:txBody>
          <a:bodyPr>
            <a:normAutofit fontScale="92500" lnSpcReduction="20000"/>
          </a:bodyPr>
          <a:lstStyle/>
          <a:p>
            <a:r>
              <a:t>28 Jul</a:t>
            </a:r>
          </a:p>
          <a:p>
            <a:endParaRPr/>
          </a:p>
          <a:p>
            <a:r>
              <a:t>Starting today, AWS CloudFormation StackSets  enables you to import existing CloudFormation stacks into a stack set. StackSets extend the functionality of stacks letting you create, update, or delete stacks across multiple AWS accounts and regions with a single operation. You can now bring your existing CloudFormation stacks into the management purview of a new or an existing stack set to easily create resources, applications or environments in other AWS accounts and AWS Regions. That way you can avoid the process of manually replicating and managing the infrastructure in each account and region individually. For example, you can import security resources such as AWS IAM roles described in CloudFormation into a stack set and then centrally manage and deploy those IAM roles across multiple accounts to achieve a consistent organization-wide security compliance in a scalable manner.</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Profiler announces new automated onboarding process for AWS Lambda functions</a:t>
            </a:r>
          </a:p>
        </p:txBody>
      </p:sp>
      <p:sp>
        <p:nvSpPr>
          <p:cNvPr id="3" name="Content Placeholder 2"/>
          <p:cNvSpPr>
            <a:spLocks noGrp="1"/>
          </p:cNvSpPr>
          <p:nvPr>
            <p:ph sz="half" idx="1"/>
          </p:nvPr>
        </p:nvSpPr>
        <p:spPr/>
        <p:txBody>
          <a:bodyPr/>
          <a:lstStyle/>
          <a:p>
            <a:r>
              <a:t>28 Jul</a:t>
            </a:r>
          </a:p>
          <a:p>
            <a:endParaRPr/>
          </a:p>
          <a:p>
            <a:r>
              <a:t>Today, we are excited to announce that you can now automatically setup Amazon CodeGuru Profiler on your Lambda functions from within the Lambda console. This makes it easier for you to understand your Lambda function’s runtime and optimize their performance and costs.</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VPC CNI plugin increases pods per node limits</a:t>
            </a:r>
          </a:p>
        </p:txBody>
      </p:sp>
      <p:sp>
        <p:nvSpPr>
          <p:cNvPr id="3" name="Content Placeholder 2"/>
          <p:cNvSpPr>
            <a:spLocks noGrp="1"/>
          </p:cNvSpPr>
          <p:nvPr>
            <p:ph sz="half" idx="1"/>
          </p:nvPr>
        </p:nvSpPr>
        <p:spPr/>
        <p:txBody>
          <a:bodyPr/>
          <a:lstStyle/>
          <a:p>
            <a:r>
              <a:t>27 Jul</a:t>
            </a:r>
          </a:p>
          <a:p>
            <a:endParaRPr/>
          </a:p>
          <a:p>
            <a:r>
              <a:t>The Amazon VPC Container Networking Interface (CNI) Plugin  now supports running more pods per node on AWS Nitro based EC2 instance types. To achieve higher pod density, the VPC CNI plugin leverages a new VPC capability  that enables IP address prefixes to be attached to EC2 instances.</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writing prepared data directly into JDBC-supported destinations</a:t>
            </a:r>
          </a:p>
        </p:txBody>
      </p:sp>
      <p:sp>
        <p:nvSpPr>
          <p:cNvPr id="3" name="Content Placeholder 2"/>
          <p:cNvSpPr>
            <a:spLocks noGrp="1"/>
          </p:cNvSpPr>
          <p:nvPr>
            <p:ph sz="half" idx="1"/>
          </p:nvPr>
        </p:nvSpPr>
        <p:spPr/>
        <p:txBody>
          <a:bodyPr/>
          <a:lstStyle/>
          <a:p>
            <a:r>
              <a:t>23 Jul</a:t>
            </a:r>
          </a:p>
          <a:p>
            <a:endParaRPr/>
          </a:p>
          <a:p>
            <a:r>
              <a:t>AWS Glue DataBrew now supports writing cleaned and normalized data directly into JDBC-supported databases and data warehouses without requiring customers to move large amounts of data into intermediary data stores. In just a few clicks, customers can configure their recipe jobs to specify the following output destinations - Amazon Redshift, Snowflake, Microsoft SQL Server, MySQL, Oracle Database, and PostgreSQL.</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adds the ability to specify which data quality statistics are generated for your datasets</a:t>
            </a:r>
          </a:p>
        </p:txBody>
      </p:sp>
      <p:sp>
        <p:nvSpPr>
          <p:cNvPr id="3" name="Content Placeholder 2"/>
          <p:cNvSpPr>
            <a:spLocks noGrp="1"/>
          </p:cNvSpPr>
          <p:nvPr>
            <p:ph sz="half" idx="1"/>
          </p:nvPr>
        </p:nvSpPr>
        <p:spPr/>
        <p:txBody>
          <a:bodyPr/>
          <a:lstStyle/>
          <a:p>
            <a:r>
              <a:t>23 Jul</a:t>
            </a:r>
          </a:p>
          <a:p>
            <a:endParaRPr/>
          </a:p>
          <a:p>
            <a:r>
              <a:t>AWS Glue DataBrew now allows customers to specify which data quality statistics to auto-generate for datasets when running a profile job. This allows users to customize data profile statistics such as determining duplicate values, correlations, and outliers based on the nature and size of their datasets, and create a custom data profile overview with only the statistics that meet their needs.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Virtual Private Cloud (VPC) customers can now assign IP prefixes to their EC2 instances</a:t>
            </a:r>
          </a:p>
        </p:txBody>
      </p:sp>
      <p:sp>
        <p:nvSpPr>
          <p:cNvPr id="3" name="Content Placeholder 2"/>
          <p:cNvSpPr>
            <a:spLocks noGrp="1"/>
          </p:cNvSpPr>
          <p:nvPr>
            <p:ph sz="half" idx="1"/>
          </p:nvPr>
        </p:nvSpPr>
        <p:spPr/>
        <p:txBody>
          <a:bodyPr/>
          <a:lstStyle/>
          <a:p>
            <a:r>
              <a:t>22 Jul</a:t>
            </a:r>
          </a:p>
          <a:p>
            <a:endParaRPr/>
          </a:p>
          <a:p>
            <a:r>
              <a:t>Amazon Virtual Private Cloud (VPC) now allows you to assign IPv4 and IPv6 prefixes to your EC2 instances, enabling you to scale and simplify the management of your container and networking applications that require multiple IP addresses on an instance.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Easily enable AWS Config recording and deploy Conformance Packs across your organization using Quick Setup</a:t>
            </a:r>
          </a:p>
        </p:txBody>
      </p:sp>
      <p:sp>
        <p:nvSpPr>
          <p:cNvPr id="3" name="Content Placeholder 2"/>
          <p:cNvSpPr>
            <a:spLocks noGrp="1"/>
          </p:cNvSpPr>
          <p:nvPr>
            <p:ph sz="half" idx="1"/>
          </p:nvPr>
        </p:nvSpPr>
        <p:spPr/>
        <p:txBody>
          <a:bodyPr/>
          <a:lstStyle/>
          <a:p>
            <a:r>
              <a:t>21 Jul</a:t>
            </a:r>
          </a:p>
          <a:p>
            <a:endParaRPr/>
          </a:p>
          <a:p>
            <a:r>
              <a:t>Today, AWS Systems Manager Quick Setup announces support for AWS Config, allowing you to enable AWS Config recording and deploy conformance packs across all the accounts and Regions in your organization – with a few clicks. Quick Setup also lets you customize the types of resources to record and conformance packs to deploy for different groups of organizational units (OUs).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and EKS Distro now support Kubernetes version 1.21</a:t>
            </a:r>
          </a:p>
        </p:txBody>
      </p:sp>
      <p:sp>
        <p:nvSpPr>
          <p:cNvPr id="3" name="Content Placeholder 2"/>
          <p:cNvSpPr>
            <a:spLocks noGrp="1"/>
          </p:cNvSpPr>
          <p:nvPr>
            <p:ph sz="half" idx="1"/>
          </p:nvPr>
        </p:nvSpPr>
        <p:spPr/>
        <p:txBody>
          <a:bodyPr/>
          <a:lstStyle/>
          <a:p>
            <a:r>
              <a:t>20 Jul</a:t>
            </a:r>
          </a:p>
          <a:p>
            <a:endParaRPr/>
          </a:p>
          <a:p>
            <a:r>
              <a:t>You can now use Amazon EKS and Amazon EKS Distro to run Kubernetes v1.21 , which is currently the latest available stable version of upstream Kubernetes. Highlights of the Kubernetes version 1.21 release include Cronjobs  and Immutable Secrets and ConfigMaps  reaching stable status, and Graceful Node Shutdown  graduating to beta. You can find more details about Kubernetes 1.21 release in EKS blog post and in Kubernetes project release notes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now supports updating the maintenance window time</a:t>
            </a:r>
          </a:p>
        </p:txBody>
      </p:sp>
      <p:sp>
        <p:nvSpPr>
          <p:cNvPr id="3" name="Content Placeholder 2"/>
          <p:cNvSpPr>
            <a:spLocks noGrp="1"/>
          </p:cNvSpPr>
          <p:nvPr>
            <p:ph sz="half" idx="1"/>
          </p:nvPr>
        </p:nvSpPr>
        <p:spPr/>
        <p:txBody>
          <a:bodyPr/>
          <a:lstStyle/>
          <a:p>
            <a:r>
              <a:t>16 Jul</a:t>
            </a:r>
          </a:p>
          <a:p>
            <a:endParaRPr/>
          </a:p>
          <a:p>
            <a:r>
              <a:t>You can now update the maintenance window start time for your Amazon MQ brokers. Every Amazon MQ broker has a weekly 2 hour maintenance window during which changes are applied. These changes can include broker version updates, configuration changes, or patching of the operating system and other system software. The maintenance window gives you control over when these changes occur, in the event either are requested or required. You can minimize downtime during maintenance by using Multi-AZ brokers. The maintenance window start time can be changed using the console, CLI, or API.</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ACM Private Certificate Authority introduces integration with Kubernetes</a:t>
            </a:r>
          </a:p>
        </p:txBody>
      </p:sp>
      <p:sp>
        <p:nvSpPr>
          <p:cNvPr id="3" name="Content Placeholder 2"/>
          <p:cNvSpPr>
            <a:spLocks noGrp="1"/>
          </p:cNvSpPr>
          <p:nvPr>
            <p:ph sz="half" idx="1"/>
          </p:nvPr>
        </p:nvSpPr>
        <p:spPr/>
        <p:txBody>
          <a:bodyPr>
            <a:normAutofit lnSpcReduction="10000"/>
          </a:bodyPr>
          <a:lstStyle/>
          <a:p>
            <a:r>
              <a:t>15 Jul</a:t>
            </a:r>
          </a:p>
          <a:p>
            <a:endParaRPr/>
          </a:p>
          <a:p>
            <a:r>
              <a:t>ACM Private Certificate Authority (CA) now supports an open source plugin for cert-manager that offers a more secure certificate authority solution for Kubernetes containers. cert-manager is a widely-adopted solution for TLS certificate management in Kubernetes. Customers who use cert-manager for application certificate lifecycle management can now use this solution to improve security over the default cert-manager CA, which stores keys in plaintext in server memory. Customers with regulatory requirements for controlling access to and auditing their CA operations can use this solution to improve auditability and support compliance.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 Mesh Constructs for AWS CDK are now generally available</a:t>
            </a:r>
          </a:p>
        </p:txBody>
      </p:sp>
      <p:sp>
        <p:nvSpPr>
          <p:cNvPr id="3" name="Content Placeholder 2"/>
          <p:cNvSpPr>
            <a:spLocks noGrp="1"/>
          </p:cNvSpPr>
          <p:nvPr>
            <p:ph sz="half" idx="1"/>
          </p:nvPr>
        </p:nvSpPr>
        <p:spPr/>
        <p:txBody>
          <a:bodyPr/>
          <a:lstStyle/>
          <a:p>
            <a:r>
              <a:t>15 Jul</a:t>
            </a:r>
          </a:p>
          <a:p>
            <a:endParaRPr/>
          </a:p>
          <a:p>
            <a:r>
              <a:t>The AWS App Mesh constructs module for AWS Cloud Development Kit (AWS CDK) is now generally available. The new AWS App Mesh service construct for AWS CDK simplifies provisioning of AWS App Mesh resources into your CDK infrastructure stacks. Strongly typed interfaces make it easy to select the appropriate configurations for your mesh, as well as integrate with other supported AWS Services.</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now supports custom time windows for Scheduled Events</a:t>
            </a:r>
          </a:p>
        </p:txBody>
      </p:sp>
      <p:sp>
        <p:nvSpPr>
          <p:cNvPr id="3" name="Content Placeholder 2"/>
          <p:cNvSpPr>
            <a:spLocks noGrp="1"/>
          </p:cNvSpPr>
          <p:nvPr>
            <p:ph sz="half" idx="1"/>
          </p:nvPr>
        </p:nvSpPr>
        <p:spPr/>
        <p:txBody>
          <a:bodyPr>
            <a:normAutofit fontScale="92500"/>
          </a:bodyPr>
          <a:lstStyle/>
          <a:p>
            <a:r>
              <a:t>15 Jul</a:t>
            </a:r>
          </a:p>
          <a:p>
            <a:endParaRPr/>
          </a:p>
          <a:p>
            <a:r>
              <a:t>Amazon EC2 now provides customers the flexibility to specify weekly recurring time window(s) for Scheduled Events  that reboot, stop or terminate EC2 instances. AWS schedules infrequent events, such as a reboot, stop, or termination, for EC2 instances when it detects irreparable failure of the underlying host or when it must perform tasks such as maintaining the underlying host. With the flexibility to specify event windows, customers can set up Scheduled Events for their EC2 instances to occur during off-peak periods. Customers can also align these time windows with their internal maintenance schedules. Software vendors can leverage this capability to customize time windows for scheduled events based on their customers’ preferences.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Certificate Manager provides expanded usage of imported ECDSA and RSA Certificates</a:t>
            </a:r>
          </a:p>
        </p:txBody>
      </p:sp>
      <p:sp>
        <p:nvSpPr>
          <p:cNvPr id="3" name="Content Placeholder 2"/>
          <p:cNvSpPr>
            <a:spLocks noGrp="1"/>
          </p:cNvSpPr>
          <p:nvPr>
            <p:ph sz="half" idx="1"/>
          </p:nvPr>
        </p:nvSpPr>
        <p:spPr/>
        <p:txBody>
          <a:bodyPr/>
          <a:lstStyle/>
          <a:p>
            <a:r>
              <a:t>14 Jul</a:t>
            </a:r>
          </a:p>
          <a:p>
            <a:endParaRPr/>
          </a:p>
          <a:p>
            <a:r>
              <a:t>AWS Certificate Manager (ACM) now allows you to import Secure Sockets Layer/Transport Layer Security (SSL/TLS) X.509 certificates of additional key types and key sizes, including Elliptic Curve Digital Signature Algorithm (ECDSA) and RSA 3072 and 4096 keys and bind them with integrated services like Amazon CloudFront and Application Load Balancer. Previously, you could use AWS Identity and Access Management (IAM) to import and use these certificate types as ACM only supported usage of imported RSA 1024 or RSA 2048 key certificates.</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Mark individual best practices as not applicable within the AWS Well-Architected Tool</a:t>
            </a:r>
          </a:p>
        </p:txBody>
      </p:sp>
      <p:sp>
        <p:nvSpPr>
          <p:cNvPr id="3" name="Content Placeholder 2"/>
          <p:cNvSpPr>
            <a:spLocks noGrp="1"/>
          </p:cNvSpPr>
          <p:nvPr>
            <p:ph sz="half" idx="1"/>
          </p:nvPr>
        </p:nvSpPr>
        <p:spPr/>
        <p:txBody>
          <a:bodyPr/>
          <a:lstStyle/>
          <a:p>
            <a:r>
              <a:t>14 Jul</a:t>
            </a:r>
          </a:p>
          <a:p>
            <a:endParaRPr/>
          </a:p>
          <a:p>
            <a:r>
              <a:t>The AWS Well-Architected Tool (AWS WA Tool) now offers the ability for customers and AWS Partners to mark individual best practices as not applicable during their workload review.</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view inventory and patch compliance of stopped instances using AWS Systems Manager</a:t>
            </a:r>
          </a:p>
        </p:txBody>
      </p:sp>
      <p:sp>
        <p:nvSpPr>
          <p:cNvPr id="3" name="Content Placeholder 2"/>
          <p:cNvSpPr>
            <a:spLocks noGrp="1"/>
          </p:cNvSpPr>
          <p:nvPr>
            <p:ph sz="half" idx="1"/>
          </p:nvPr>
        </p:nvSpPr>
        <p:spPr/>
        <p:txBody>
          <a:bodyPr/>
          <a:lstStyle/>
          <a:p>
            <a:r>
              <a:t>13 Jul</a:t>
            </a:r>
          </a:p>
          <a:p>
            <a:endParaRPr/>
          </a:p>
          <a:p>
            <a:r>
              <a:t>Patch Manager, a feature of AWS Systems Manager, now provides a more holistic view of the patch compliance and inventory of your fleet of instances by additionally reporting on stopped instances. This feature helps you to further simplify patch compliance and inventory reporting because information is now readily available for stopped instances.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NoSQL Workbench for Amazon DynamoDB now helps you run frequent operations more easily to modify and access table data</a:t>
            </a:r>
          </a:p>
        </p:txBody>
      </p:sp>
      <p:sp>
        <p:nvSpPr>
          <p:cNvPr id="3" name="Content Placeholder 2"/>
          <p:cNvSpPr>
            <a:spLocks noGrp="1"/>
          </p:cNvSpPr>
          <p:nvPr>
            <p:ph sz="half" idx="1"/>
          </p:nvPr>
        </p:nvSpPr>
        <p:spPr/>
        <p:txBody>
          <a:bodyPr/>
          <a:lstStyle/>
          <a:p>
            <a:r>
              <a:t>12 Jul</a:t>
            </a:r>
          </a:p>
          <a:p>
            <a:endParaRPr/>
          </a:p>
          <a:p>
            <a:r>
              <a:t>NoSQL Workbench for DynamoDB , a client-side tool that helps you design, visualize, and query nonrelational data models by using a point-and-click interface, now helps you run frequent data-plane operations more easily to modify and access table data. Now, you can save or bookmark as many as 50 DynamoDB data-plane operations in the NoSQL Workbench operation builder.</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easily enable Amazon DevOps Guru across your organization with Quick Setup</a:t>
            </a:r>
          </a:p>
        </p:txBody>
      </p:sp>
      <p:sp>
        <p:nvSpPr>
          <p:cNvPr id="3" name="Content Placeholder 2"/>
          <p:cNvSpPr>
            <a:spLocks noGrp="1"/>
          </p:cNvSpPr>
          <p:nvPr>
            <p:ph sz="half" idx="1"/>
          </p:nvPr>
        </p:nvSpPr>
        <p:spPr/>
        <p:txBody>
          <a:bodyPr/>
          <a:lstStyle/>
          <a:p>
            <a:r>
              <a:t>09 Jul</a:t>
            </a:r>
          </a:p>
          <a:p>
            <a:endParaRPr/>
          </a:p>
          <a:p>
            <a:r>
              <a:t>Today, AWS Systems Manager Quick Setup announces support for Amazon DevOps Guru, enabling you to set up Amazon DevOps Guru across the accounts and Regions in your organization with a few clicks. By setting up Amazon DevOps Guru across your organization, you can identify any operational issue long before it impacts your customers.</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AppStream 2.0 adds support for real-time audio-video using a web browser</a:t>
            </a:r>
          </a:p>
        </p:txBody>
      </p:sp>
      <p:sp>
        <p:nvSpPr>
          <p:cNvPr id="3" name="Content Placeholder 2"/>
          <p:cNvSpPr>
            <a:spLocks noGrp="1"/>
          </p:cNvSpPr>
          <p:nvPr>
            <p:ph sz="half" idx="1"/>
          </p:nvPr>
        </p:nvSpPr>
        <p:spPr/>
        <p:txBody>
          <a:bodyPr>
            <a:normAutofit lnSpcReduction="10000"/>
          </a:bodyPr>
          <a:lstStyle/>
          <a:p>
            <a:r>
              <a:t>08 Jul</a:t>
            </a:r>
          </a:p>
          <a:p>
            <a:endParaRPr/>
          </a:p>
          <a:p>
            <a:r>
              <a:t>Amazon AppStream 2.0 now supports real-time audio-video (AV) by seamlessly redirecting local webcam video input to AppStream 2.0 streaming sessions using a web browser. Previously, this feature was available only for the AppStream 2.0 client for Windows. With real-time AV support available in the web browser, your users can use AV collaboration and media applications within their AppStream 2.0 streaming sessions, and connect from a broad range of client devices, including Windows PCs, Macs, Chromebooks, and thin clients. Your users can collaborate without having to leave their AppStream 2.0 sessions, and without additional client software to manage.</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adds Resource Identifiers and Tags for VPC Security Group Rules</a:t>
            </a:r>
          </a:p>
        </p:txBody>
      </p:sp>
      <p:sp>
        <p:nvSpPr>
          <p:cNvPr id="3" name="Content Placeholder 2"/>
          <p:cNvSpPr>
            <a:spLocks noGrp="1"/>
          </p:cNvSpPr>
          <p:nvPr>
            <p:ph sz="half" idx="1"/>
          </p:nvPr>
        </p:nvSpPr>
        <p:spPr/>
        <p:txBody>
          <a:bodyPr/>
          <a:lstStyle/>
          <a:p>
            <a:r>
              <a:t>07 Jul</a:t>
            </a:r>
          </a:p>
          <a:p>
            <a:endParaRPr/>
          </a:p>
          <a:p>
            <a:r>
              <a:t>Amazon Virtual Private Cloud (VPC) now supports resource identifiers and tags for security group rules. You can now manage VPC security group rules using the assigned rule IDs and resource tags.</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for RabbitMQ now supports the consistent hash exchange type</a:t>
            </a:r>
          </a:p>
        </p:txBody>
      </p:sp>
      <p:sp>
        <p:nvSpPr>
          <p:cNvPr id="3" name="Content Placeholder 2"/>
          <p:cNvSpPr>
            <a:spLocks noGrp="1"/>
          </p:cNvSpPr>
          <p:nvPr>
            <p:ph sz="half" idx="1"/>
          </p:nvPr>
        </p:nvSpPr>
        <p:spPr/>
        <p:txBody>
          <a:bodyPr/>
          <a:lstStyle/>
          <a:p>
            <a:r>
              <a:t>06 Jul</a:t>
            </a:r>
          </a:p>
          <a:p>
            <a:endParaRPr/>
          </a:p>
          <a:p>
            <a:r>
              <a:t>You can now use the consistent hash exchange type on your Amazon MQ for RabbitMQ brokers. This exchange type uses consistent hashing to uniformly distribute messages across queues. Consistent hash exchanges are useful in applications like transaction processing to maintain the order of dependent messages while scaling up the number of consumers.</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EKS managed node groups now supports parallel node upgrades</a:t>
            </a:r>
          </a:p>
        </p:txBody>
      </p:sp>
      <p:sp>
        <p:nvSpPr>
          <p:cNvPr id="3" name="Content Placeholder 2"/>
          <p:cNvSpPr>
            <a:spLocks noGrp="1"/>
          </p:cNvSpPr>
          <p:nvPr>
            <p:ph sz="half" idx="1"/>
          </p:nvPr>
        </p:nvSpPr>
        <p:spPr/>
        <p:txBody>
          <a:bodyPr/>
          <a:lstStyle/>
          <a:p>
            <a:r>
              <a:t>02 Jul</a:t>
            </a:r>
          </a:p>
          <a:p>
            <a:endParaRPr/>
          </a:p>
          <a:p>
            <a:r>
              <a:t>Amazon Elastic Kubernetes Service (EKS) managed node groups now supports upgrading multiple nodes in parallel.</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Schema Registry now supports JSON Schema</a:t>
            </a:r>
          </a:p>
        </p:txBody>
      </p:sp>
      <p:sp>
        <p:nvSpPr>
          <p:cNvPr id="3" name="Content Placeholder 2"/>
          <p:cNvSpPr>
            <a:spLocks noGrp="1"/>
          </p:cNvSpPr>
          <p:nvPr>
            <p:ph sz="half" idx="1"/>
          </p:nvPr>
        </p:nvSpPr>
        <p:spPr/>
        <p:txBody>
          <a:bodyPr/>
          <a:lstStyle/>
          <a:p>
            <a:r>
              <a:t>30 Jun</a:t>
            </a:r>
          </a:p>
          <a:p>
            <a:endParaRPr/>
          </a:p>
          <a:p>
            <a:r>
              <a:t>AWS Glue Schema Registry  now supports defining schemas in JSON Schema format in addition to Apache Avro, allowing customers who choose JSON Schema as the format for their streaming data to centrally control the evolution of data streams and avoid having to manage their own registries. Through Apache-licensed serializers and deserializers, Glue Schema Registry integrates with Java applications developed for Apache Kafka/Amazon Managed Streaming for Apache Kafka (Amazon MSK), Amazon Kinesis Data Streams, Apache Flink/Amazon Kinesis Data Analytics for Apache Flink, and AWS Lambda.</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introduces new framework-specific Deep Learning AMIs and backwards-compatible images</a:t>
            </a:r>
          </a:p>
        </p:txBody>
      </p:sp>
      <p:sp>
        <p:nvSpPr>
          <p:cNvPr id="3" name="Content Placeholder 2"/>
          <p:cNvSpPr>
            <a:spLocks noGrp="1"/>
          </p:cNvSpPr>
          <p:nvPr>
            <p:ph sz="half" idx="1"/>
          </p:nvPr>
        </p:nvSpPr>
        <p:spPr/>
        <p:txBody>
          <a:bodyPr>
            <a:normAutofit fontScale="92500"/>
          </a:bodyPr>
          <a:lstStyle/>
          <a:p>
            <a:r>
              <a:t>30 Jun</a:t>
            </a:r>
          </a:p>
          <a:p>
            <a:endParaRPr/>
          </a:p>
          <a:p>
            <a:r>
              <a:t>We are excited to announce that AWS now offers new framework-specific Deep Learning AMI (DLAMI). Today we launched framework-specific DLAMIs for PyTorch 1.9.0 and TensorFlow 2.5.0, with support for Amazon Linux 2, Ubuntu 18.04, and Ubuntu 20.04. The AWS DLAMIs provide machine learning practitioners and researchers with the infrastructure and tools to accelerate deep learning in the cloud, at any scale. These optimized new images are up to 60% smaller in size, accelerating the time for machine learning practitioners to launch DLAMIs on AWS. We will continue to release and support DLAMI in the previous format that includes multiple frameworks and operating systems within a single AMI.</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adds support for 14 new advanced data types for data preparation</a:t>
            </a:r>
          </a:p>
        </p:txBody>
      </p:sp>
      <p:sp>
        <p:nvSpPr>
          <p:cNvPr id="3" name="Content Placeholder 2"/>
          <p:cNvSpPr>
            <a:spLocks noGrp="1"/>
          </p:cNvSpPr>
          <p:nvPr>
            <p:ph sz="half" idx="1"/>
          </p:nvPr>
        </p:nvSpPr>
        <p:spPr/>
        <p:txBody>
          <a:bodyPr/>
          <a:lstStyle/>
          <a:p>
            <a:r>
              <a:t>30 Jun</a:t>
            </a:r>
          </a:p>
          <a:p>
            <a:endParaRPr/>
          </a:p>
          <a:p>
            <a:r>
              <a:t>As you prepare your data, AWS Glue DataBrew adds support to automatically identify and mark advanced data types for columns, making it easy to normalize columns containing data of types: Social Security Number (SSN), Email Address, Phone Number, Gender, Credit Card, URL, IP Address, Date and Time, Currency, Zip Code, Country, Region, State, and City. Additionally, DataBrew visually marks columns containing Personally Identifiable Information (PII), allowing you to easily scan for all PII columns in your dataset and apply transformations. Learn more about all supported advanced datatypes .</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IAM Access Analyzer adds new policy checks to help validate conditions during IAM policy authoring</a:t>
            </a:r>
          </a:p>
        </p:txBody>
      </p:sp>
      <p:sp>
        <p:nvSpPr>
          <p:cNvPr id="3" name="Content Placeholder 2"/>
          <p:cNvSpPr>
            <a:spLocks noGrp="1"/>
          </p:cNvSpPr>
          <p:nvPr>
            <p:ph sz="half" idx="1"/>
          </p:nvPr>
        </p:nvSpPr>
        <p:spPr/>
        <p:txBody>
          <a:bodyPr>
            <a:normAutofit fontScale="92500" lnSpcReduction="10000"/>
          </a:bodyPr>
          <a:lstStyle/>
          <a:p>
            <a:r>
              <a:t>29 Jun</a:t>
            </a:r>
          </a:p>
          <a:p>
            <a:endParaRPr/>
          </a:p>
          <a:p>
            <a:r>
              <a:t>AWS Identity and Access Management (IAM) Access Analyzer makes it easier for customers to author secure and functional permissions by providing over 100 policy checks with actionable recommendations during policy authoring. Now, IAM Access Analyzer extended policy validation by adding new policy checks that validate conditions included in IAM policies. These checks analyze the condition block in your policy statement and report security warnings, errors, and suggestions along with actionable recommendations. These checks help you set fine-grained permissions by guiding you to apply conditions in a secure and functional way. For example, IAM Access Analyzer validates that policies that specify tagging conditions include the required tag information in the condition. </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Less Relevant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MSK now supports running multiple authentication modes and updates to TLS encryption settings</a:t>
            </a:r>
          </a:p>
        </p:txBody>
      </p:sp>
      <p:sp>
        <p:nvSpPr>
          <p:cNvPr id="3" name="Content Placeholder 2"/>
          <p:cNvSpPr>
            <a:spLocks noGrp="1"/>
          </p:cNvSpPr>
          <p:nvPr>
            <p:ph sz="half" idx="1"/>
          </p:nvPr>
        </p:nvSpPr>
        <p:spPr/>
        <p:txBody>
          <a:bodyPr/>
          <a:lstStyle/>
          <a:p>
            <a:r>
              <a:t>17 Sep</a:t>
            </a:r>
          </a:p>
          <a:p>
            <a:endParaRPr/>
          </a:p>
          <a:p>
            <a:r>
              <a:t>Amazon Managed Streaming for Apache Kafka (Amazon MSK) now supports the simultaneous use of multiple authentication modes and updates to encryption-in-transit settings for Amazon MSK clusters. These features allow you to migrate your clients seamlessly from one authentication mode to another and update encryption settings to match those changes. </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QuickSight launches Dataset-as-a-Source</a:t>
            </a:r>
          </a:p>
        </p:txBody>
      </p:sp>
      <p:sp>
        <p:nvSpPr>
          <p:cNvPr id="3" name="Content Placeholder 2"/>
          <p:cNvSpPr>
            <a:spLocks noGrp="1"/>
          </p:cNvSpPr>
          <p:nvPr>
            <p:ph sz="half" idx="1"/>
          </p:nvPr>
        </p:nvSpPr>
        <p:spPr/>
        <p:txBody>
          <a:bodyPr>
            <a:normAutofit fontScale="92500" lnSpcReduction="20000"/>
          </a:bodyPr>
          <a:lstStyle/>
          <a:p>
            <a:r>
              <a:t>17 Sep</a:t>
            </a:r>
          </a:p>
          <a:p>
            <a:endParaRPr/>
          </a:p>
          <a:p>
            <a:r>
              <a:t>Amazon QuickSight announced Dataset-as-a-Source, a new feature that saves customers time and improves data governance. Dataset-as-a-Source allows users to create a new dataset using one or more existing datasets as input, and combine it with brand new data sources, such as other databases, CSV files, and apps like Twitter. Curators can create central datasets that Authors can reuse to create their own. Curators can control the definitions of business metrics in the central datasets, and Authors save time by getting a starting point to create new datasets themselves. If the dataset’s definition needs to be updated, Curators can make changes to the central datasets and dependent datasets get automatically updated. Dataset-as-a-Source can be used to combine datasets with Direct Query, SPICE, or a combination of the two. To learn more, visit here .</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RoboMaker now supports container images in simulation</a:t>
            </a:r>
          </a:p>
        </p:txBody>
      </p:sp>
      <p:sp>
        <p:nvSpPr>
          <p:cNvPr id="3" name="Content Placeholder 2"/>
          <p:cNvSpPr>
            <a:spLocks noGrp="1"/>
          </p:cNvSpPr>
          <p:nvPr>
            <p:ph sz="half" idx="1"/>
          </p:nvPr>
        </p:nvSpPr>
        <p:spPr/>
        <p:txBody>
          <a:bodyPr/>
          <a:lstStyle/>
          <a:p>
            <a:r>
              <a:t>17 Sep</a:t>
            </a:r>
          </a:p>
          <a:p>
            <a:endParaRPr/>
          </a:p>
          <a:p>
            <a:r>
              <a:t>AWS RoboMaker, a service that allows customers to simulate robotics applications at cloud scale, now supports container images. This feature enables customers to use the container tools that they are already familiar with to build and package their code for running simulations in RoboMaker.  </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CodeCommit is Now Available in the Africa (Cape Town) Region</a:t>
            </a:r>
          </a:p>
        </p:txBody>
      </p:sp>
      <p:sp>
        <p:nvSpPr>
          <p:cNvPr id="3" name="Content Placeholder 2"/>
          <p:cNvSpPr>
            <a:spLocks noGrp="1"/>
          </p:cNvSpPr>
          <p:nvPr>
            <p:ph sz="half" idx="1"/>
          </p:nvPr>
        </p:nvSpPr>
        <p:spPr/>
        <p:txBody>
          <a:bodyPr/>
          <a:lstStyle/>
          <a:p>
            <a:r>
              <a:t>16 Sep</a:t>
            </a:r>
          </a:p>
          <a:p>
            <a:endParaRPr/>
          </a:p>
          <a:p>
            <a:r>
              <a:t>AWS CodeCommit is now available in the Africa (Cape Town) region. AWS CodeCommit is a secure, highly scalable, managed source control service that hosts private Git repositories. CodeCommit eliminates the need for you to manage your own source control system or worry about scaling its infrastructure. You can use CodeCommit to store anything from code to binaries. It supports the standard functionality of Git, so it works seamlessly with your existing Git-based tools.</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IQ now supports AWS Certified experts and consulting firms located in the UK &amp; France</a:t>
            </a:r>
          </a:p>
        </p:txBody>
      </p:sp>
      <p:sp>
        <p:nvSpPr>
          <p:cNvPr id="3" name="Content Placeholder 2"/>
          <p:cNvSpPr>
            <a:spLocks noGrp="1"/>
          </p:cNvSpPr>
          <p:nvPr>
            <p:ph sz="half" idx="1"/>
          </p:nvPr>
        </p:nvSpPr>
        <p:spPr/>
        <p:txBody>
          <a:bodyPr/>
          <a:lstStyle/>
          <a:p>
            <a:r>
              <a:t>16 Sep</a:t>
            </a:r>
          </a:p>
          <a:p>
            <a:endParaRPr/>
          </a:p>
          <a:p>
            <a:r>
              <a:t>AWS IQ now supports AWS Certified experts and consulting firms located in the UK &amp; France. Quickly find, engage, &amp; get help from experts and consulting firms in UK and France for on-demand work.</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Application Insights adds account application auto-discovery and new health dashboard</a:t>
            </a:r>
          </a:p>
        </p:txBody>
      </p:sp>
      <p:sp>
        <p:nvSpPr>
          <p:cNvPr id="3" name="Content Placeholder 2"/>
          <p:cNvSpPr>
            <a:spLocks noGrp="1"/>
          </p:cNvSpPr>
          <p:nvPr>
            <p:ph sz="half" idx="1"/>
          </p:nvPr>
        </p:nvSpPr>
        <p:spPr/>
        <p:txBody>
          <a:bodyPr>
            <a:normAutofit lnSpcReduction="10000"/>
          </a:bodyPr>
          <a:lstStyle/>
          <a:p>
            <a:r>
              <a:t>16 Sep</a:t>
            </a:r>
          </a:p>
          <a:p>
            <a:endParaRPr/>
          </a:p>
          <a:p>
            <a:r>
              <a:t>Setting up monitoring and managing the health of your business applications is now even easier with the ability to discover the applications and resources in your account even without a Resource Group, automatically set up monitoring for them and see their health at a glance in a summary health dashboard presented when you complete setup or open CloudWatch Application Insights. CloudWatch Application Insights is a service that helps customers easily setup monitoring and troubleshoot their enterprise applications running on AWS resources. The new feature makes setting up monitoring for all the resources in your account a truly one step process.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Corretto 17 is now generally available</a:t>
            </a:r>
          </a:p>
        </p:txBody>
      </p:sp>
      <p:sp>
        <p:nvSpPr>
          <p:cNvPr id="3" name="Content Placeholder 2"/>
          <p:cNvSpPr>
            <a:spLocks noGrp="1"/>
          </p:cNvSpPr>
          <p:nvPr>
            <p:ph sz="half" idx="1"/>
          </p:nvPr>
        </p:nvSpPr>
        <p:spPr/>
        <p:txBody>
          <a:bodyPr/>
          <a:lstStyle/>
          <a:p>
            <a:r>
              <a:t>16 Sep</a:t>
            </a:r>
          </a:p>
          <a:p>
            <a:endParaRPr/>
          </a:p>
          <a:p>
            <a:r>
              <a:t>Amazon Corretto 17 is now generally available. This version supports the latest Java feature release JDK 17 and is available on Linux, Windows, and macOS. You can download Corretto 17 from the downloads page . </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MSK Connect: Run serverless, scalable Kafka Connect clusters in Amazon MSK</a:t>
            </a:r>
          </a:p>
        </p:txBody>
      </p:sp>
      <p:sp>
        <p:nvSpPr>
          <p:cNvPr id="3" name="Content Placeholder 2"/>
          <p:cNvSpPr>
            <a:spLocks noGrp="1"/>
          </p:cNvSpPr>
          <p:nvPr>
            <p:ph sz="half" idx="1"/>
          </p:nvPr>
        </p:nvSpPr>
        <p:spPr/>
        <p:txBody>
          <a:bodyPr>
            <a:normAutofit fontScale="92500" lnSpcReduction="10000"/>
          </a:bodyPr>
          <a:lstStyle/>
          <a:p>
            <a:r>
              <a:t>16 Sep</a:t>
            </a:r>
          </a:p>
          <a:p>
            <a:endParaRPr/>
          </a:p>
          <a:p>
            <a:r>
              <a:t>Amazon MSK Connect is now available, enabling you to run fully managed Kafka Connect clusters with Amazon Managed Streaming for Apache Kafka (Amazon MSK). With a few clicks, MSK Connect allows you to easily deploy, monitor, and scale connectors that move data in and out of Apache Kafka and Amazon MSK clusters from external systems such as databases, file systems, and search indices. MSK Connect eliminates the need to provision and maintain cluster infrastructure. Connectors scale automatically in response to increases in usage and you pay only for the resources you use. With full compatibility with Kafka Connect, it is easy to migrate workloads without code changes. MSK Connect will support both Amazon MSK-managed and self-managed Apache Kafka clusters.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now supports T4g instances for MySQL, MariaDB, and PostgreSQL databases.</a:t>
            </a:r>
          </a:p>
        </p:txBody>
      </p:sp>
      <p:sp>
        <p:nvSpPr>
          <p:cNvPr id="3" name="Content Placeholder 2"/>
          <p:cNvSpPr>
            <a:spLocks noGrp="1"/>
          </p:cNvSpPr>
          <p:nvPr>
            <p:ph sz="half" idx="1"/>
          </p:nvPr>
        </p:nvSpPr>
        <p:spPr/>
        <p:txBody>
          <a:bodyPr/>
          <a:lstStyle/>
          <a:p>
            <a:r>
              <a:t>16 Sep</a:t>
            </a:r>
          </a:p>
          <a:p>
            <a:endParaRPr/>
          </a:p>
          <a:p>
            <a:r>
              <a:t>Amazon Relational Database Service (Amazon RDS) now supports AWS Graviton2-based T4g database (DB) instances for MySQL, MariaDB, and PostgreSQL  databases. T4g DB instances offer up to 36% better price performance over comparable current generation x86-based T3 DB instances depending on the workload characteristics.</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Build on AWS for Startups</a:t>
            </a:r>
          </a:p>
        </p:txBody>
      </p:sp>
      <p:sp>
        <p:nvSpPr>
          <p:cNvPr id="3" name="Content Placeholder 2"/>
          <p:cNvSpPr>
            <a:spLocks noGrp="1"/>
          </p:cNvSpPr>
          <p:nvPr>
            <p:ph sz="half" idx="1"/>
          </p:nvPr>
        </p:nvSpPr>
        <p:spPr/>
        <p:txBody>
          <a:bodyPr>
            <a:normAutofit fontScale="92500"/>
          </a:bodyPr>
          <a:lstStyle/>
          <a:p>
            <a:r>
              <a:t>16 Sep</a:t>
            </a:r>
          </a:p>
          <a:p>
            <a:endParaRPr/>
          </a:p>
          <a:p>
            <a:r>
              <a:t>Amazon Web Services (AWS) announces the general availability of Build on AWS, a new offering from AWS Activate designed to help startups build their infrastructure on AWS in minutes. Build on AWS is a collection of infrastructure templates and reference architectures covering a wide variety of solutions curated specifically for startups. These solutions are built by experts at AWS and based on AWS best practices. This enables startups to focus on building their core product knowing they’re using AWS best practices for their underlying cloud infrastructure. With the launch of Build on AWS, we’ve simplified the first steps of launching scalable, reliable, secure, and optimized infrastructure tailored to startups’ industry or use case.</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Route 53 Resolver DNS Firewall Now Available in Asia Pacific (Osaka) Region</a:t>
            </a:r>
          </a:p>
        </p:txBody>
      </p:sp>
      <p:sp>
        <p:nvSpPr>
          <p:cNvPr id="3" name="Content Placeholder 2"/>
          <p:cNvSpPr>
            <a:spLocks noGrp="1"/>
          </p:cNvSpPr>
          <p:nvPr>
            <p:ph sz="half" idx="1"/>
          </p:nvPr>
        </p:nvSpPr>
        <p:spPr/>
        <p:txBody>
          <a:bodyPr/>
          <a:lstStyle/>
          <a:p>
            <a:r>
              <a:t>16 Sep</a:t>
            </a:r>
          </a:p>
          <a:p>
            <a:endParaRPr/>
          </a:p>
          <a:p>
            <a:r>
              <a:t>Today, we are pleased to announced that the Route 53 Resolver DNS Firewall is now generally available in the Asia Pacific (Osaka) Region. The Route 53 Resolver DNS Firewall is a managed firewall that allows customers to block DNS queries made for known malicious domains and to allow queries for trusted domains.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now supports X2g instances for MySQL, MariaDB, and PostgreSQL databases.</a:t>
            </a:r>
          </a:p>
        </p:txBody>
      </p:sp>
      <p:sp>
        <p:nvSpPr>
          <p:cNvPr id="3" name="Content Placeholder 2"/>
          <p:cNvSpPr>
            <a:spLocks noGrp="1"/>
          </p:cNvSpPr>
          <p:nvPr>
            <p:ph sz="half" idx="1"/>
          </p:nvPr>
        </p:nvSpPr>
        <p:spPr/>
        <p:txBody>
          <a:bodyPr/>
          <a:lstStyle/>
          <a:p>
            <a:r>
              <a:t>16 Sep</a:t>
            </a:r>
          </a:p>
          <a:p>
            <a:endParaRPr/>
          </a:p>
          <a:p>
            <a:r>
              <a:t>Amazon Relational Database Service (Amazon RDS) now supports AWS Graviton2-based X2g database (DB) instances for MySQL, MariaDB, and PostgreSQL databases. X2g DB instances offer double the memory per vCPU compared to R6g/R5 instances and the lowest cost per GiB of memory in Amazon RDS for MySQL, MariaDB, and PostgreSQL databases. The X2g.16xl DB instance has 33% more memory than previously available in Amazon RDS DB instances for MySQL, MariaDB, and PostgreSQL databases and is a great choice for memory-intensive DB workloads.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now supports R5b instances for MySQL and PostgreSQL databases</a:t>
            </a:r>
          </a:p>
        </p:txBody>
      </p:sp>
      <p:sp>
        <p:nvSpPr>
          <p:cNvPr id="3" name="Content Placeholder 2"/>
          <p:cNvSpPr>
            <a:spLocks noGrp="1"/>
          </p:cNvSpPr>
          <p:nvPr>
            <p:ph sz="half" idx="1"/>
          </p:nvPr>
        </p:nvSpPr>
        <p:spPr/>
        <p:txBody>
          <a:bodyPr/>
          <a:lstStyle/>
          <a:p>
            <a:r>
              <a:t>16 Sep</a:t>
            </a:r>
          </a:p>
          <a:p>
            <a:endParaRPr/>
          </a:p>
          <a:p>
            <a:r>
              <a:t>Amazon Relational Database Service (Amazon RDS) now supports R5b database (DB) instances for MySQL and PostgreSQL databases. R5b DB instances support up to 3x the I/O operations per second (IOPS) and 3x the bandwidth on Amazon Elastic Block Store (Amazon EBS) compared to the latest x86-based memory-optimized DB instances (R5) available in Amazon RDS for MySQL and PostgreSQL databases. R5b DB instances are a great choice for IO-intensive DB workloads.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Service Management Connector for ServiceNow supports AWS Service Catalog AppRegistry</a:t>
            </a:r>
          </a:p>
        </p:txBody>
      </p:sp>
      <p:sp>
        <p:nvSpPr>
          <p:cNvPr id="3" name="Content Placeholder 2"/>
          <p:cNvSpPr>
            <a:spLocks noGrp="1"/>
          </p:cNvSpPr>
          <p:nvPr>
            <p:ph sz="half" idx="1"/>
          </p:nvPr>
        </p:nvSpPr>
        <p:spPr/>
        <p:txBody>
          <a:bodyPr>
            <a:normAutofit fontScale="92500" lnSpcReduction="20000"/>
          </a:bodyPr>
          <a:lstStyle/>
          <a:p>
            <a:r>
              <a:t>16 Sep</a:t>
            </a:r>
          </a:p>
          <a:p>
            <a:endParaRPr/>
          </a:p>
          <a:p>
            <a:r>
              <a:t>Starting today, customers can view their registered applications on AWS Service Catalog AppRegistry in their ServiceNow CMDB leveraging the AWS Service Management Connector for ServiceNow. Organizations are creating, migrating, and managing applications on AWS that are associated with multiple AWS resources. Customers define applications within AppRegistry by providing a name, description, and associations to the AWS CloudFormation stacks and application metadata that constitute their application. With this integration, customers can view AWS applications in their ServiceNow system of record and operational tooling. Customers can then relate ITSM process such as change requests, incidents/problem at the Application level in ServiceNow. This will allow for streamlined impact analysis and operational investigation of AWS applications.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supports inference endpoint testing from SageMaker Studio</a:t>
            </a:r>
          </a:p>
        </p:txBody>
      </p:sp>
      <p:sp>
        <p:nvSpPr>
          <p:cNvPr id="3" name="Content Placeholder 2"/>
          <p:cNvSpPr>
            <a:spLocks noGrp="1"/>
          </p:cNvSpPr>
          <p:nvPr>
            <p:ph sz="half" idx="1"/>
          </p:nvPr>
        </p:nvSpPr>
        <p:spPr/>
        <p:txBody>
          <a:bodyPr/>
          <a:lstStyle/>
          <a:p>
            <a:r>
              <a:t>16 Sep</a:t>
            </a:r>
          </a:p>
          <a:p>
            <a:endParaRPr/>
          </a:p>
          <a:p>
            <a:r>
              <a:t>You can now get real-time inference results from your models hosted by Amazon SageMaker directly from Amazon SageMaker Studio.</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Extract custom entities from documents in their native format with Amazon Comprehend</a:t>
            </a:r>
          </a:p>
        </p:txBody>
      </p:sp>
      <p:sp>
        <p:nvSpPr>
          <p:cNvPr id="3" name="Content Placeholder 2"/>
          <p:cNvSpPr>
            <a:spLocks noGrp="1"/>
          </p:cNvSpPr>
          <p:nvPr>
            <p:ph sz="half" idx="1"/>
          </p:nvPr>
        </p:nvSpPr>
        <p:spPr/>
        <p:txBody>
          <a:bodyPr/>
          <a:lstStyle/>
          <a:p>
            <a:r>
              <a:t>15 Sep</a:t>
            </a:r>
          </a:p>
          <a:p>
            <a:endParaRPr/>
          </a:p>
          <a:p>
            <a:r>
              <a:t>Amazon Comprehend, a natural-language processing (NLP) service that uses machine learning to uncover information in text, now allows you to extract custom entities from documents in a variety of formats (PDF, Word, plain text) and layouts (e.g., bullets, lists). This enables you to more easily extract insights and further automate your document processing workflows.</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Redshift RSQL, a command line client for interacting with Amazon Redshift clusters and databases</a:t>
            </a:r>
          </a:p>
        </p:txBody>
      </p:sp>
      <p:sp>
        <p:nvSpPr>
          <p:cNvPr id="3" name="Content Placeholder 2"/>
          <p:cNvSpPr>
            <a:spLocks noGrp="1"/>
          </p:cNvSpPr>
          <p:nvPr>
            <p:ph sz="half" idx="1"/>
          </p:nvPr>
        </p:nvSpPr>
        <p:spPr/>
        <p:txBody>
          <a:bodyPr/>
          <a:lstStyle/>
          <a:p>
            <a:r>
              <a:t>15 Sep</a:t>
            </a:r>
          </a:p>
          <a:p>
            <a:endParaRPr/>
          </a:p>
          <a:p>
            <a:r>
              <a:t>Amazon Redshift, a fully-managed cloud data warehouse, announces availability of Amazon Redshift RSQL, a command line client for interacting with Amazon Redshift clusters and databases. With Amazon Redshift RSQL, you connect to an Amazon Redshift cluster, describe database objects, query data, and view query results in various output formats.</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Timestream is now in scope for AWS SOC Reports</a:t>
            </a:r>
          </a:p>
        </p:txBody>
      </p:sp>
      <p:sp>
        <p:nvSpPr>
          <p:cNvPr id="3" name="Content Placeholder 2"/>
          <p:cNvSpPr>
            <a:spLocks noGrp="1"/>
          </p:cNvSpPr>
          <p:nvPr>
            <p:ph sz="half" idx="1"/>
          </p:nvPr>
        </p:nvSpPr>
        <p:spPr/>
        <p:txBody>
          <a:bodyPr/>
          <a:lstStyle/>
          <a:p>
            <a:r>
              <a:t>15 Sep</a:t>
            </a:r>
          </a:p>
          <a:p>
            <a:endParaRPr/>
          </a:p>
          <a:p>
            <a:r>
              <a:t>You can now use Amazon Timestream in applications that are subject to System and Organization Control (SOC) compliance. Amazon Timestream is a fast, scalable, secure, and purpose-built time series database for application monitoring, IoT, and real-time analytics workloads that can scale to process trillions of time series events per day.</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Lake Formation is now available in Asia Pacific (Osaka)</a:t>
            </a:r>
          </a:p>
        </p:txBody>
      </p:sp>
      <p:sp>
        <p:nvSpPr>
          <p:cNvPr id="3" name="Content Placeholder 2"/>
          <p:cNvSpPr>
            <a:spLocks noGrp="1"/>
          </p:cNvSpPr>
          <p:nvPr>
            <p:ph sz="half" idx="1"/>
          </p:nvPr>
        </p:nvSpPr>
        <p:spPr/>
        <p:txBody>
          <a:bodyPr/>
          <a:lstStyle/>
          <a:p>
            <a:r>
              <a:t>15 Sep</a:t>
            </a:r>
          </a:p>
          <a:p>
            <a:endParaRPr/>
          </a:p>
          <a:p>
            <a:r>
              <a:t>You can now use AWS Lake Formation in the Asia Pacific (Osaka) AWS region.</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T3 instances are now supported on EC2 Dedicated Hosts in multiple AWS Regions</a:t>
            </a:r>
          </a:p>
        </p:txBody>
      </p:sp>
      <p:sp>
        <p:nvSpPr>
          <p:cNvPr id="3" name="Content Placeholder 2"/>
          <p:cNvSpPr>
            <a:spLocks noGrp="1"/>
          </p:cNvSpPr>
          <p:nvPr>
            <p:ph sz="half" idx="1"/>
          </p:nvPr>
        </p:nvSpPr>
        <p:spPr/>
        <p:txBody>
          <a:bodyPr>
            <a:normAutofit fontScale="92500"/>
          </a:bodyPr>
          <a:lstStyle/>
          <a:p>
            <a:r>
              <a:t>14 Sep</a:t>
            </a:r>
          </a:p>
          <a:p>
            <a:endParaRPr/>
          </a:p>
          <a:p>
            <a:r>
              <a:t>Amazon Web Services (AWS) announces the general availability of the Amazon EC2 T3 instances on EC2 Dedicated Hosts, designed to provide the most cost-efficient way for customers to run their eligible Bring Your Own Licenses (BYOL) software on AWS. With T3 Dedicated Hosts, customers can run up to 4 times more instances per host than comparable EC2 general purpose Dedicated Hosts, and reduce their infrastructure footprint and license costs by up to 70%. T3 Dedicated Hosts are best suited for running BYOL software with low-to-moderate CPU utilization and eligible per-socket, per-core or per-VM software licenses including Microsoft Windows Desktop, Windows Server and SQL Server, and Oracle Database.</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now supports redaction of personal identifiable information (PII) for streaming transcriptions</a:t>
            </a:r>
          </a:p>
        </p:txBody>
      </p:sp>
      <p:sp>
        <p:nvSpPr>
          <p:cNvPr id="3" name="Content Placeholder 2"/>
          <p:cNvSpPr>
            <a:spLocks noGrp="1"/>
          </p:cNvSpPr>
          <p:nvPr>
            <p:ph sz="half" idx="1"/>
          </p:nvPr>
        </p:nvSpPr>
        <p:spPr/>
        <p:txBody>
          <a:bodyPr>
            <a:normAutofit fontScale="92500" lnSpcReduction="10000"/>
          </a:bodyPr>
          <a:lstStyle/>
          <a:p>
            <a:r>
              <a:t>14 Sep</a:t>
            </a:r>
          </a:p>
          <a:p>
            <a:endParaRPr/>
          </a:p>
          <a:p>
            <a:r>
              <a:t>Amazon Transcribe is an automatic speech recognition service that you can use to add speech-to-text capability to your applications. Starting today, you can utilize Amazon Transcribe to automatically remove personal identifiable information (PII) from your streaming transcription results. Amazon Transcribe uses state-of-the-art machine learning technology to help identify sensitive information such as Social Security number, credit card/bank account information, and contact information (i.e. name, email address, phone number and mailing address). With this feature, companies can provide their contact center agents with valuable transcripts for on-going conversation while maintaining privacy standards. These transcripts can then be used to help supervisors extract real-time insights and identify calls that require attention.</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CodeGuru Reviewer enhances security findings generated by GitHub Action by adding severity fields and CWE tags</a:t>
            </a:r>
          </a:p>
        </p:txBody>
      </p:sp>
      <p:sp>
        <p:nvSpPr>
          <p:cNvPr id="3" name="Content Placeholder 2"/>
          <p:cNvSpPr>
            <a:spLocks noGrp="1"/>
          </p:cNvSpPr>
          <p:nvPr>
            <p:ph sz="half" idx="1"/>
          </p:nvPr>
        </p:nvSpPr>
        <p:spPr/>
        <p:txBody>
          <a:bodyPr/>
          <a:lstStyle/>
          <a:p>
            <a:r>
              <a:t>13 Sep</a:t>
            </a:r>
          </a:p>
          <a:p>
            <a:endParaRPr/>
          </a:p>
          <a:p>
            <a:r>
              <a:t>Today, we are announcing the enhancement of security findings generated by CodeGuru Reviewer’s GitHub action by adding severity fields and CWE (Common Weakness Enumerations)  tags. Customers can use these new features to sort, filter, and prioritize their backlog of security vulnerabilities within GitHub’s user interface.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general availability of Amazon EC2 VT1 instances - the first EC2 instance optimized for video transcoding</a:t>
            </a:r>
          </a:p>
        </p:txBody>
      </p:sp>
      <p:sp>
        <p:nvSpPr>
          <p:cNvPr id="3" name="Content Placeholder 2"/>
          <p:cNvSpPr>
            <a:spLocks noGrp="1"/>
          </p:cNvSpPr>
          <p:nvPr>
            <p:ph sz="half" idx="1"/>
          </p:nvPr>
        </p:nvSpPr>
        <p:spPr/>
        <p:txBody>
          <a:bodyPr/>
          <a:lstStyle/>
          <a:p>
            <a:r>
              <a:t>13 Sep</a:t>
            </a:r>
          </a:p>
          <a:p>
            <a:endParaRPr/>
          </a:p>
          <a:p>
            <a:r>
              <a:t>Amazon Web Services (AWS) announces the general availability of Amazon EC2 VT1 instances powered by Xilinx® Alveo™ U30 media accelerators for video transcoding. VT1 instances are AWS’s first EC2 instances that feature hardware acceleration for video transcoding and are optimized for workloads such as live broadcast, video conferencing, and just-in-time transcoding. These instances deliver up to 30% lower cost per stream than Amazon EC2 G4dn GPU-based instances and up to 60% lower cost per stream than Amazon EC2 C5 CPU-based instances.</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adds near real-time insights into voice call, chat, and task activity in the Canada (Central) region</a:t>
            </a:r>
          </a:p>
        </p:txBody>
      </p:sp>
      <p:sp>
        <p:nvSpPr>
          <p:cNvPr id="3" name="Content Placeholder 2"/>
          <p:cNvSpPr>
            <a:spLocks noGrp="1"/>
          </p:cNvSpPr>
          <p:nvPr>
            <p:ph sz="half" idx="1"/>
          </p:nvPr>
        </p:nvSpPr>
        <p:spPr/>
        <p:txBody>
          <a:bodyPr>
            <a:normAutofit fontScale="92500" lnSpcReduction="20000"/>
          </a:bodyPr>
          <a:lstStyle/>
          <a:p>
            <a:r>
              <a:t>13 Sep</a:t>
            </a:r>
          </a:p>
          <a:p>
            <a:endParaRPr/>
          </a:p>
          <a:p>
            <a:r>
              <a:t>Amazon Connect now allows customers to subscribe to a near real-time stream of contact (voice calls, chat, and task) events (e.g., call is queued) in your Amazon Connect contact center in the Canada (Central) region. These events include when a voice call, chat, or task is initiated, queued to be assigned to an agent, connected to an agent, transferred to another agent or queue, and disconnected. Contact events can be used to create analytics dashboards to monitor and track contact activity, integrate into workforce management (WFM) solutions to better understand contact center performance, or to integrate applications that react to events (e.g., call disconnected) in real-time. Amazon Connect contact events are published via Amazon EventBridge, and can be set up in a couple of clicks by going to the Amazon EventBridge AWS console and creating a new rule.</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Contact Lens for Amazon Connect adds support for 8 languages</a:t>
            </a:r>
          </a:p>
        </p:txBody>
      </p:sp>
      <p:sp>
        <p:nvSpPr>
          <p:cNvPr id="3" name="Content Placeholder 2"/>
          <p:cNvSpPr>
            <a:spLocks noGrp="1"/>
          </p:cNvSpPr>
          <p:nvPr>
            <p:ph sz="half" idx="1"/>
          </p:nvPr>
        </p:nvSpPr>
        <p:spPr/>
        <p:txBody>
          <a:bodyPr/>
          <a:lstStyle/>
          <a:p>
            <a:r>
              <a:t>13 Sep</a:t>
            </a:r>
          </a:p>
          <a:p>
            <a:endParaRPr/>
          </a:p>
          <a:p>
            <a:r>
              <a:t>Contact Lens for Amazon Connect has now launched both post-call and real-time analytics support for 3 new languages, Korean (South Korea), Japanese (Japan), and Mandarin (Mainland China). In addition, 5 languages, French (Canada), French (France), Portuguese (Brazil), German (Germany), and Italian (Italy), that were already supported for post-call analysis, are now also supported for real-time analytics. With this launch, Contact Lens now supports 21 languages for post-call analytics and 12 languages for both post-call and real-time analytics .</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Health Aware (AHA) is now available for Organizational and Personal AWS Accounts to customize Health Alerts</a:t>
            </a:r>
          </a:p>
        </p:txBody>
      </p:sp>
      <p:sp>
        <p:nvSpPr>
          <p:cNvPr id="3" name="Content Placeholder 2"/>
          <p:cNvSpPr>
            <a:spLocks noGrp="1"/>
          </p:cNvSpPr>
          <p:nvPr>
            <p:ph sz="half" idx="1"/>
          </p:nvPr>
        </p:nvSpPr>
        <p:spPr/>
        <p:txBody>
          <a:bodyPr>
            <a:normAutofit fontScale="92500"/>
          </a:bodyPr>
          <a:lstStyle/>
          <a:p>
            <a:r>
              <a:t>13 Sep</a:t>
            </a:r>
          </a:p>
          <a:p>
            <a:endParaRPr/>
          </a:p>
          <a:p>
            <a:r>
              <a:t>AWS Health Aware or AHA, is an incident management &amp; communication framework to ingest proactive and real-time alerts from AWS Health to a customer’s preferred communication channels. Customers using AWS Organizations can get aggregated active account level alerts from impacted accounts across their organization. Alerts can be configured to endpoint(s) such as Slack, Microsoft Teams, Amazon Chime and Email Alerts. AHA can also be integrated with a broad range of other endpoints during configuration. These alerts are targeted to give customers event visibility and guidance to help quickly diagnose and resolve issues that are impacting our customer’s applications or workloads.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SES now supports emails with a message size of up to 40MB</a:t>
            </a:r>
          </a:p>
        </p:txBody>
      </p:sp>
      <p:sp>
        <p:nvSpPr>
          <p:cNvPr id="3" name="Content Placeholder 2"/>
          <p:cNvSpPr>
            <a:spLocks noGrp="1"/>
          </p:cNvSpPr>
          <p:nvPr>
            <p:ph sz="half" idx="1"/>
          </p:nvPr>
        </p:nvSpPr>
        <p:spPr/>
        <p:txBody>
          <a:bodyPr/>
          <a:lstStyle/>
          <a:p>
            <a:r>
              <a:t>13 Sep</a:t>
            </a:r>
          </a:p>
          <a:p>
            <a:endParaRPr/>
          </a:p>
          <a:p>
            <a:r>
              <a:t>Amazon Simple Email Service (Amazon SES) customers can now request a limit increase to send and receive emails with a message size of up to 40MB.</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D3 instances with dense local HDD storage now available in India (Mumbai) Region</a:t>
            </a:r>
          </a:p>
        </p:txBody>
      </p:sp>
      <p:sp>
        <p:nvSpPr>
          <p:cNvPr id="3" name="Content Placeholder 2"/>
          <p:cNvSpPr>
            <a:spLocks noGrp="1"/>
          </p:cNvSpPr>
          <p:nvPr>
            <p:ph sz="half" idx="1"/>
          </p:nvPr>
        </p:nvSpPr>
        <p:spPr/>
        <p:txBody>
          <a:bodyPr/>
          <a:lstStyle/>
          <a:p>
            <a:r>
              <a:t>10 Sep</a:t>
            </a:r>
          </a:p>
          <a:p>
            <a:endParaRPr/>
          </a:p>
          <a:p>
            <a:r>
              <a:t>Starting today, Amazon EC2 D3 instances, the latest generation of the dense HDD-storage instances, are available in the Asia Pacific (Mumbai) Region.</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ParallelCluster now supports cluster management through Amazon API Gateway</a:t>
            </a:r>
          </a:p>
        </p:txBody>
      </p:sp>
      <p:sp>
        <p:nvSpPr>
          <p:cNvPr id="3" name="Content Placeholder 2"/>
          <p:cNvSpPr>
            <a:spLocks noGrp="1"/>
          </p:cNvSpPr>
          <p:nvPr>
            <p:ph sz="half" idx="1"/>
          </p:nvPr>
        </p:nvSpPr>
        <p:spPr/>
        <p:txBody>
          <a:bodyPr/>
          <a:lstStyle/>
          <a:p>
            <a:r>
              <a:t>10 Sep</a:t>
            </a:r>
          </a:p>
          <a:p>
            <a:endParaRPr/>
          </a:p>
          <a:p>
            <a:r>
              <a:t>Amazon ParallelCluster is a fully supported and maintained open source cluster management tool that makes it easier for scientists, researchers, and IT administrators to deploy and manage high performance computing (HPC) clusters on Amazon Web Services. HPC clusters are traditionally collections of tightly coupled compute, storage, and networking resources that enable customers to run large scale scientific and engineering workloads.</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announces command hooks to execute custom scripts when running Amplify CLI commands</a:t>
            </a:r>
          </a:p>
        </p:txBody>
      </p:sp>
      <p:sp>
        <p:nvSpPr>
          <p:cNvPr id="3" name="Content Placeholder 2"/>
          <p:cNvSpPr>
            <a:spLocks noGrp="1"/>
          </p:cNvSpPr>
          <p:nvPr>
            <p:ph sz="half" idx="1"/>
          </p:nvPr>
        </p:nvSpPr>
        <p:spPr/>
        <p:txBody>
          <a:bodyPr>
            <a:normAutofit fontScale="92500" lnSpcReduction="10000"/>
          </a:bodyPr>
          <a:lstStyle/>
          <a:p>
            <a:r>
              <a:t>09 Sep</a:t>
            </a:r>
          </a:p>
          <a:p>
            <a:endParaRPr/>
          </a:p>
          <a:p>
            <a:r>
              <a:t>With today’s launch, customers can execute custom scripts before, during, and after Amplify CLI commands (“amplify push”, “amplify api gql-compile”, and more). This allows you to extend Amplify’s best-practice defaults to meet your organization’s specific security guidelines and operational requirements. AWS Amplify CLI is a command line toolchain that helps frontend web and mobile developers create cloud backends and connect them to their app for common use cases. To create a command hook, customers place their bash shell scripts into the “amplify/hooks" folder with the associated Amplify CLI command as the script file name, such as "post-push.sh" or "pre-add-function.sh”. Command hooks support bash scripts by-default but customers can extend it with their preferred scripting runtime.</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Hibernation adds support for Red Hat Enterprise Linux 8, CentOS 8, and Fedora 34</a:t>
            </a:r>
          </a:p>
        </p:txBody>
      </p:sp>
      <p:sp>
        <p:nvSpPr>
          <p:cNvPr id="3" name="Content Placeholder 2"/>
          <p:cNvSpPr>
            <a:spLocks noGrp="1"/>
          </p:cNvSpPr>
          <p:nvPr>
            <p:ph sz="half" idx="1"/>
          </p:nvPr>
        </p:nvSpPr>
        <p:spPr/>
        <p:txBody>
          <a:bodyPr>
            <a:normAutofit lnSpcReduction="10000"/>
          </a:bodyPr>
          <a:lstStyle/>
          <a:p>
            <a:r>
              <a:t>09 Sep</a:t>
            </a:r>
          </a:p>
          <a:p>
            <a:endParaRPr/>
          </a:p>
          <a:p>
            <a:r>
              <a:t>Amazon EC2 now supports Hibernation for On-Demand Nitro-based instances running Red Hat Enterprise Linux (RHEL) version 8, CentOS version 8, and Fedora version 34 onwards. Hibernation allows you to pause your EC2 Instances and resume them at a later time, rather than fully terminating and restarting them. Resuming your instance lets your applications continue from where they left off so that you don’t have to restart your OS and application from scratch. Hibernation is useful for cases where rebuilding application state is time-consuming (e.g., developer desktops) or an application’s start-up steps can be prepared in advance of a scale-out.</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Braket introduces verbatim compilation for quantum circuits</a:t>
            </a:r>
          </a:p>
        </p:txBody>
      </p:sp>
      <p:sp>
        <p:nvSpPr>
          <p:cNvPr id="3" name="Content Placeholder 2"/>
          <p:cNvSpPr>
            <a:spLocks noGrp="1"/>
          </p:cNvSpPr>
          <p:nvPr>
            <p:ph sz="half" idx="1"/>
          </p:nvPr>
        </p:nvSpPr>
        <p:spPr/>
        <p:txBody>
          <a:bodyPr/>
          <a:lstStyle/>
          <a:p>
            <a:r>
              <a:t>09 Sep</a:t>
            </a:r>
          </a:p>
          <a:p>
            <a:endParaRPr/>
          </a:p>
          <a:p>
            <a:r>
              <a:t>Amazon Braket, the AWS quantum computing service, now offers greater control over how quantum circuits are executed on quantum computers. With the new verbatim compilation feature, customers can now specify their circuits to run exactly as defined without any modification during the compilation process.</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Ability to customize reverse DNS for Elastic IP addresses now available in additional regions for Virtual Private Cloud customers</a:t>
            </a:r>
          </a:p>
        </p:txBody>
      </p:sp>
      <p:sp>
        <p:nvSpPr>
          <p:cNvPr id="3" name="Content Placeholder 2"/>
          <p:cNvSpPr>
            <a:spLocks noGrp="1"/>
          </p:cNvSpPr>
          <p:nvPr>
            <p:ph sz="half" idx="1"/>
          </p:nvPr>
        </p:nvSpPr>
        <p:spPr/>
        <p:txBody>
          <a:bodyPr/>
          <a:lstStyle/>
          <a:p>
            <a:r>
              <a:t>09 Sep</a:t>
            </a:r>
          </a:p>
          <a:p>
            <a:endParaRPr/>
          </a:p>
          <a:p>
            <a:r>
              <a:t>Starting today, the ability to customize reverse DNS for Elastic IP addresses for Virtual Private Clouds (VPC) is available in 16 additional regions. These AWS Regions are US East (N. Virginia), US West (N. California, Oregon), Asia Pacific (Hong Kong, Osaka, Seoul, Singapore, Sydney, Tokyo), Europe (Frankfurt, Ireland, London, Paris, Stockholm), Middle East (Bahrain), and South America (São Paulo). With today’s launch, this feature is available in all commercial regions.</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launches support for Korean</a:t>
            </a:r>
          </a:p>
        </p:txBody>
      </p:sp>
      <p:sp>
        <p:nvSpPr>
          <p:cNvPr id="3" name="Content Placeholder 2"/>
          <p:cNvSpPr>
            <a:spLocks noGrp="1"/>
          </p:cNvSpPr>
          <p:nvPr>
            <p:ph sz="half" idx="1"/>
          </p:nvPr>
        </p:nvSpPr>
        <p:spPr/>
        <p:txBody>
          <a:bodyPr>
            <a:normAutofit lnSpcReduction="10000"/>
          </a:bodyPr>
          <a:lstStyle/>
          <a:p>
            <a:r>
              <a:t>09 Sep</a:t>
            </a:r>
          </a:p>
          <a:p>
            <a:endParaRPr/>
          </a:p>
          <a:p>
            <a:r>
              <a:t>We are delighted to announce that Amazon Lex now supports Korean. Amazon Lex is a service for building conversational interfaces into any application using voice and text. Amazon Lex provides deep learning powered automatic speech recognition (ASR) for converting speech to text and natural language understanding (NLU) capabilities to recognize the intent of the text, enabling you to build applications with lifelike conversational interactions. Now you can deliver a robust and localized conversational experience that understands Korean. You can also respond to users with natural sounding Amazon Polly Korean voices and provide a fully localized, voice experience.</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enhancements to the AWS Marketplace Consulting Partner Private Offer self-service experience.</a:t>
            </a:r>
          </a:p>
        </p:txBody>
      </p:sp>
      <p:sp>
        <p:nvSpPr>
          <p:cNvPr id="3" name="Content Placeholder 2"/>
          <p:cNvSpPr>
            <a:spLocks noGrp="1"/>
          </p:cNvSpPr>
          <p:nvPr>
            <p:ph sz="half" idx="1"/>
          </p:nvPr>
        </p:nvSpPr>
        <p:spPr/>
        <p:txBody>
          <a:bodyPr>
            <a:normAutofit fontScale="92500" lnSpcReduction="10000"/>
          </a:bodyPr>
          <a:lstStyle/>
          <a:p>
            <a:r>
              <a:t>09 Sep</a:t>
            </a:r>
          </a:p>
          <a:p>
            <a:endParaRPr/>
          </a:p>
          <a:p>
            <a:r>
              <a:t>Today, AWS Marketplace announced a new feature the enables Consulting Partners the ability to easily view and create offers from Independent Software Vendors' (ISV) resell authorization opportunities in the AWS Marketplace Management Portal (AMMP). With this launch, Consulting Partners can now review all resell Opportunities ISVs have granted them, and quickly create a Consulting Partner Private Offer (CPPO)  from the Opportunity. A CPPO allows customers to purchase software solutions in AWS Marketplace directly from Consulting Partners with custom terms and pricing not publicly available. With the improved transparency of resell opportunities and streamlined private offer creation process, Consulting Partners can reduce operational load while accelerating deal delivery.</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 Map now available in the AWS GovCloud (US) Regions</a:t>
            </a:r>
          </a:p>
        </p:txBody>
      </p:sp>
      <p:sp>
        <p:nvSpPr>
          <p:cNvPr id="3" name="Content Placeholder 2"/>
          <p:cNvSpPr>
            <a:spLocks noGrp="1"/>
          </p:cNvSpPr>
          <p:nvPr>
            <p:ph sz="half" idx="1"/>
          </p:nvPr>
        </p:nvSpPr>
        <p:spPr/>
        <p:txBody>
          <a:bodyPr/>
          <a:lstStyle/>
          <a:p>
            <a:r>
              <a:t>09 Sep</a:t>
            </a:r>
          </a:p>
          <a:p>
            <a:endParaRPr/>
          </a:p>
          <a:p>
            <a:r>
              <a:t>AWS Cloud Map is now available in both AWS GovCloud (US) Regions.</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I3en Instances are Now Available in AWS Regions in the Middle East (Bahrain), South Africa (Cape Town), and Europe (Milan)</a:t>
            </a:r>
          </a:p>
        </p:txBody>
      </p:sp>
      <p:sp>
        <p:nvSpPr>
          <p:cNvPr id="3" name="Content Placeholder 2"/>
          <p:cNvSpPr>
            <a:spLocks noGrp="1"/>
          </p:cNvSpPr>
          <p:nvPr>
            <p:ph sz="half" idx="1"/>
          </p:nvPr>
        </p:nvSpPr>
        <p:spPr/>
        <p:txBody>
          <a:bodyPr/>
          <a:lstStyle/>
          <a:p>
            <a:r>
              <a:t>09 Sep</a:t>
            </a:r>
          </a:p>
          <a:p>
            <a:endParaRPr/>
          </a:p>
          <a:p>
            <a:r>
              <a:t>Starting today, Amazon EC2 I3en Instances are Now Available in Amazon Web Services regions in the Middle East (Bahrain), South Africa (Cape Town), and Europe (Milan). I3en instances offer up to 60 TB of low latency NVMe SSD instance storage and up to 50% lower cost per GB over I3 instances.</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Managed Services (AMS) now offers a catalog of operational offerings with Operations on Demand</a:t>
            </a:r>
          </a:p>
        </p:txBody>
      </p:sp>
      <p:sp>
        <p:nvSpPr>
          <p:cNvPr id="3" name="Content Placeholder 2"/>
          <p:cNvSpPr>
            <a:spLocks noGrp="1"/>
          </p:cNvSpPr>
          <p:nvPr>
            <p:ph sz="half" idx="1"/>
          </p:nvPr>
        </p:nvSpPr>
        <p:spPr/>
        <p:txBody>
          <a:bodyPr>
            <a:normAutofit fontScale="77500" lnSpcReduction="20000"/>
          </a:bodyPr>
          <a:lstStyle/>
          <a:p>
            <a:r>
              <a:t>08 Sep</a:t>
            </a:r>
          </a:p>
          <a:p>
            <a:endParaRPr/>
          </a:p>
          <a:p>
            <a:r>
              <a:t>AWS Managed Services (AMS) is excited to announce Operations on Demand, a flexible and scalable option to gain access to additional skilled AMS operations capacity, skills, and experience. Operations on Demand gives customers access to a full range of operational capabilities above and beyond the extensive scope provided by AMS Operations Plans . Customers choose from a curated and continually expanding catalog of operational offerings which are delivered by a combination of automation and highly skilled AMS resources. The catalog includes a mix of short-term and ongoing operational use cases and can be used to supplement your existing operations or fill a knowledge or capacity gap. Examples of catalog offerings include assisting with the maintenance of Amazon Elastic Kubernetes Service (EKS), operations of AWS Control Tower, management of SAP clusters, and performing in-place upgrades of instances running out-of-support operating systems. Customers pay for what they use in blocks of hours, and can unsubscribe from a catalog offering at any time. Please see our public documentation for a listing of current catalog offerings . The Operations on Demand feature is available for both the AMS Advanced and Accelerate Operations Plans in all regions where AMS is available.</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General Availability of AWS Local Zones in Chicago, Kansas City, and Minneapolis</a:t>
            </a:r>
          </a:p>
        </p:txBody>
      </p:sp>
      <p:sp>
        <p:nvSpPr>
          <p:cNvPr id="3" name="Content Placeholder 2"/>
          <p:cNvSpPr>
            <a:spLocks noGrp="1"/>
          </p:cNvSpPr>
          <p:nvPr>
            <p:ph sz="half" idx="1"/>
          </p:nvPr>
        </p:nvSpPr>
        <p:spPr/>
        <p:txBody>
          <a:bodyPr/>
          <a:lstStyle/>
          <a:p>
            <a:r>
              <a:t>08 Sep</a:t>
            </a:r>
          </a:p>
          <a:p>
            <a:endParaRPr/>
          </a:p>
          <a:p>
            <a:r>
              <a:t>Today we are announcing the general availability of AWS Local Zones in Chicago, Kansas City, and Minneapolis. Customers can now use these new Local Zones to deliver applications that require single-digit millisecond latency to end-users or for on-premises installations in these three metro areas.</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 Kubernetes Service Anywhere is now generally available</a:t>
            </a:r>
          </a:p>
        </p:txBody>
      </p:sp>
      <p:sp>
        <p:nvSpPr>
          <p:cNvPr id="3" name="Content Placeholder 2"/>
          <p:cNvSpPr>
            <a:spLocks noGrp="1"/>
          </p:cNvSpPr>
          <p:nvPr>
            <p:ph sz="half" idx="1"/>
          </p:nvPr>
        </p:nvSpPr>
        <p:spPr/>
        <p:txBody>
          <a:bodyPr/>
          <a:lstStyle/>
          <a:p>
            <a:r>
              <a:t>08 Sep</a:t>
            </a:r>
          </a:p>
          <a:p>
            <a:endParaRPr/>
          </a:p>
          <a:p>
            <a:r>
              <a:t>Today, we are excited to announce the general availability of Amazon Elastic Kubernetes Service (Amazon EKS) Anywhere, a new deployment option for Amazon EKS that allows customers to create and operate Kubernetes clusters on customer-managed infrastructure, supported by AWS. Customers can now run Amazon EKS Anywhere on their own on-premises infrastructure using VMware vSphere starting today, with support for other deployment targets in the near future, including support for bare metal coming in 2022.</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Marketplace launches aliases for all single AMI products</a:t>
            </a:r>
          </a:p>
        </p:txBody>
      </p:sp>
      <p:sp>
        <p:nvSpPr>
          <p:cNvPr id="3" name="Content Placeholder 2"/>
          <p:cNvSpPr>
            <a:spLocks noGrp="1"/>
          </p:cNvSpPr>
          <p:nvPr>
            <p:ph sz="half" idx="1"/>
          </p:nvPr>
        </p:nvSpPr>
        <p:spPr/>
        <p:txBody>
          <a:bodyPr>
            <a:normAutofit fontScale="92500" lnSpcReduction="10000"/>
          </a:bodyPr>
          <a:lstStyle/>
          <a:p>
            <a:r>
              <a:t>08 Sep</a:t>
            </a:r>
          </a:p>
          <a:p>
            <a:endParaRPr/>
          </a:p>
          <a:p>
            <a:r>
              <a:t>Today, AWS announced that customers can use aliases to refer to Amazon Machine Images (AMI) purchased from AWS Marketplace. AMI aliases are unique identifiers that be used instead of an AMI ID in deployment scripts. Starting today, aliases are available for all single AMI products on AWS Marketplace. This simplifies launching new AMIs as customers don’t have to change AMI IDs for each region every time there is a version update. Customers can rather use a single alias that will auto-resolve to current AWS region. Additionally, customers can always refer to the latest version by using the ‘latest’ alias for a given AMI product. This will automate deployment pipelines and reduce the manual steps required to upgrade to a new version of AMI purchased from AWS Marketplace.</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now supports SAP deployment from accounts using AWS Managed Services</a:t>
            </a:r>
          </a:p>
        </p:txBody>
      </p:sp>
      <p:sp>
        <p:nvSpPr>
          <p:cNvPr id="3" name="Content Placeholder 2"/>
          <p:cNvSpPr>
            <a:spLocks noGrp="1"/>
          </p:cNvSpPr>
          <p:nvPr>
            <p:ph sz="half" idx="1"/>
          </p:nvPr>
        </p:nvSpPr>
        <p:spPr/>
        <p:txBody>
          <a:bodyPr/>
          <a:lstStyle/>
          <a:p>
            <a:r>
              <a:t>08 Sep</a:t>
            </a:r>
          </a:p>
          <a:p>
            <a:endParaRPr/>
          </a:p>
          <a:p>
            <a:r>
              <a:t>AWS Managed Services (AMS) now allows customers to deploy SAP HANA-based workloads using AWS Launch Wizard. </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Change Calendar now supports third-party calendar imports, giving you a more holistic view of events</a:t>
            </a:r>
          </a:p>
        </p:txBody>
      </p:sp>
      <p:sp>
        <p:nvSpPr>
          <p:cNvPr id="3" name="Content Placeholder 2"/>
          <p:cNvSpPr>
            <a:spLocks noGrp="1"/>
          </p:cNvSpPr>
          <p:nvPr>
            <p:ph sz="half" idx="1"/>
          </p:nvPr>
        </p:nvSpPr>
        <p:spPr/>
        <p:txBody>
          <a:bodyPr/>
          <a:lstStyle/>
          <a:p>
            <a:r>
              <a:t>07 Sep</a:t>
            </a:r>
          </a:p>
          <a:p>
            <a:endParaRPr/>
          </a:p>
          <a:p>
            <a:r>
              <a:t>Change Calendar, a capability of AWS Systems Manager, now supports importing of third-party calendars, such as Microsoft Outlook calendars, thereby enabling you to view all your events centrally and control what changes can be made to your AWS resources during those events.</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Pinpoint now supports encrypted SNS topics for inbound SMS</a:t>
            </a:r>
          </a:p>
        </p:txBody>
      </p:sp>
      <p:sp>
        <p:nvSpPr>
          <p:cNvPr id="3" name="Content Placeholder 2"/>
          <p:cNvSpPr>
            <a:spLocks noGrp="1"/>
          </p:cNvSpPr>
          <p:nvPr>
            <p:ph sz="half" idx="1"/>
          </p:nvPr>
        </p:nvSpPr>
        <p:spPr/>
        <p:txBody>
          <a:bodyPr/>
          <a:lstStyle/>
          <a:p>
            <a:r>
              <a:t>07 Sep</a:t>
            </a:r>
          </a:p>
          <a:p>
            <a:endParaRPr/>
          </a:p>
          <a:p>
            <a:r>
              <a:t>Amazon Pinpoint now supports encrypted SNS topics as destinations for incoming SMS text messages. This enables you to add another layer of protection when using Amazon Pinpoint for two-way SMS text messaging. When you enable two-way SMS messaging, you can publish inbound messages to encrypted SNS topics for retrieval and processing. Amazon SNS uses an AWS Key Management Service (AWS KMS) key to encrypt the messages that it sends to these topics.</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multi-key encryption now available with AWS Elemental MediaPackage and SPEKE v2.0</a:t>
            </a:r>
          </a:p>
        </p:txBody>
      </p:sp>
      <p:sp>
        <p:nvSpPr>
          <p:cNvPr id="3" name="Content Placeholder 2"/>
          <p:cNvSpPr>
            <a:spLocks noGrp="1"/>
          </p:cNvSpPr>
          <p:nvPr>
            <p:ph sz="half" idx="1"/>
          </p:nvPr>
        </p:nvSpPr>
        <p:spPr/>
        <p:txBody>
          <a:bodyPr/>
          <a:lstStyle/>
          <a:p>
            <a:r>
              <a:t>07 Sep</a:t>
            </a:r>
          </a:p>
          <a:p>
            <a:endParaRPr/>
          </a:p>
          <a:p>
            <a:r>
              <a:t>AWS Elemental MediaPackage now supports version 2.0 of the Secure Packager and Encoder Key Exchange (SPEKE) API. SPEKE v2 makes it possible to use native Content Protection Information Exchange Format (CPIX) 2.3 documents which allows for the use of multiple encryption keys for different media tracks. With MediaPackage and SPEKE v2 you can now use two keys, one for audio tracks and one for video tracks with live DASH and CMAF streams, with support for more complex encryption models for content protection requirements to follow.</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Network Firewall is Now HIPAA Eligible</a:t>
            </a:r>
          </a:p>
        </p:txBody>
      </p:sp>
      <p:sp>
        <p:nvSpPr>
          <p:cNvPr id="3" name="Content Placeholder 2"/>
          <p:cNvSpPr>
            <a:spLocks noGrp="1"/>
          </p:cNvSpPr>
          <p:nvPr>
            <p:ph sz="half" idx="1"/>
          </p:nvPr>
        </p:nvSpPr>
        <p:spPr/>
        <p:txBody>
          <a:bodyPr/>
          <a:lstStyle/>
          <a:p>
            <a:r>
              <a:t>07 Sep</a:t>
            </a:r>
          </a:p>
          <a:p>
            <a:endParaRPr/>
          </a:p>
          <a:p>
            <a:r>
              <a:t>Starting today, AWS Network Firewall is a HIPAA eligible service. This means you can use AWS Network Firewall to secure and inspect protected health information (PHI) stored in your accounts.</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Cloud9 is now available in 2 more regions</a:t>
            </a:r>
          </a:p>
        </p:txBody>
      </p:sp>
      <p:sp>
        <p:nvSpPr>
          <p:cNvPr id="3" name="Content Placeholder 2"/>
          <p:cNvSpPr>
            <a:spLocks noGrp="1"/>
          </p:cNvSpPr>
          <p:nvPr>
            <p:ph sz="half" idx="1"/>
          </p:nvPr>
        </p:nvSpPr>
        <p:spPr/>
        <p:txBody>
          <a:bodyPr/>
          <a:lstStyle/>
          <a:p>
            <a:r>
              <a:t>07 Sep</a:t>
            </a:r>
          </a:p>
          <a:p>
            <a:endParaRPr/>
          </a:p>
          <a:p>
            <a:r>
              <a:t>AWS Cloud9 is now available in Asia Pacific (Osaka) and Africa (Cape Town). AWS Cloud9 is a cloud-based integrated development environment (IDE) that lets you write, run, and debug your code with just a browser.</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MSDTC JDBC XA for SQL Server 2017 CU16+ and SQL Server 2019</a:t>
            </a:r>
          </a:p>
        </p:txBody>
      </p:sp>
      <p:sp>
        <p:nvSpPr>
          <p:cNvPr id="3" name="Content Placeholder 2"/>
          <p:cNvSpPr>
            <a:spLocks noGrp="1"/>
          </p:cNvSpPr>
          <p:nvPr>
            <p:ph sz="half" idx="1"/>
          </p:nvPr>
        </p:nvSpPr>
        <p:spPr/>
        <p:txBody>
          <a:bodyPr/>
          <a:lstStyle/>
          <a:p>
            <a:r>
              <a:t>07 Sep</a:t>
            </a:r>
          </a:p>
          <a:p>
            <a:endParaRPr/>
          </a:p>
          <a:p>
            <a:r>
              <a:t>Amazon RDS for SQL Server now supports MSDTC JDBC XA transactions. With MSDTC you can either execute the transaction using SQL Server as the Transaction manager using linked servers, or you can promote MSDTC running on the same host as the Client application to the role of Transaction manager.</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now supports oracle_fdw extension in AWS GovCloud (US) Regions</a:t>
            </a:r>
          </a:p>
        </p:txBody>
      </p:sp>
      <p:sp>
        <p:nvSpPr>
          <p:cNvPr id="3" name="Content Placeholder 2"/>
          <p:cNvSpPr>
            <a:spLocks noGrp="1"/>
          </p:cNvSpPr>
          <p:nvPr>
            <p:ph sz="half" idx="1"/>
          </p:nvPr>
        </p:nvSpPr>
        <p:spPr/>
        <p:txBody>
          <a:bodyPr/>
          <a:lstStyle/>
          <a:p>
            <a:r>
              <a:t>03 Sep</a:t>
            </a:r>
          </a:p>
          <a:p>
            <a:endParaRPr/>
          </a:p>
          <a:p>
            <a:r>
              <a:t>Amazon Aurora PostgreSQL-Compatible Edition now supports the oracle_fdw extension in AWS GovCloud (US) Regions, which allows your PostgreSQL database to connect to and retrieve data stored in Oracle databases.</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9.6.22, 10.17, 11.12, and 12.7 in AWS GovCloud (US) Regions</a:t>
            </a:r>
          </a:p>
        </p:txBody>
      </p:sp>
      <p:sp>
        <p:nvSpPr>
          <p:cNvPr id="3" name="Content Placeholder 2"/>
          <p:cNvSpPr>
            <a:spLocks noGrp="1"/>
          </p:cNvSpPr>
          <p:nvPr>
            <p:ph sz="half" idx="1"/>
          </p:nvPr>
        </p:nvSpPr>
        <p:spPr/>
        <p:txBody>
          <a:bodyPr/>
          <a:lstStyle/>
          <a:p>
            <a:r>
              <a:t>03 Sep</a:t>
            </a:r>
          </a:p>
          <a:p>
            <a:endParaRPr/>
          </a:p>
          <a:p>
            <a:r>
              <a:t>Following the announcement of updates to the PostgreSQL database  by the open source community, we have updated Amazon Aurora PostgreSQL-Compatible Edition to support PostgreSQL versions 9.6.22, 10.17, 11.12, and 12.7 in AWS GovCloud (US) Regions. These releases contain bug fixes and improvements by the PostgreSQL community. As a reminder, Amazon Aurora PostgreSQL 9.6 will reach end of life on January 31, 2022. Minor version 9.6.22 is limited to upgrades for clusters already running Aurora PostgreSQL 9.6.</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EMR Studio is now HIPAA eligible and HITRUST certified</a:t>
            </a:r>
          </a:p>
        </p:txBody>
      </p:sp>
      <p:sp>
        <p:nvSpPr>
          <p:cNvPr id="3" name="Content Placeholder 2"/>
          <p:cNvSpPr>
            <a:spLocks noGrp="1"/>
          </p:cNvSpPr>
          <p:nvPr>
            <p:ph sz="half" idx="1"/>
          </p:nvPr>
        </p:nvSpPr>
        <p:spPr/>
        <p:txBody>
          <a:bodyPr/>
          <a:lstStyle/>
          <a:p>
            <a:r>
              <a:t>03 Sep</a:t>
            </a:r>
          </a:p>
          <a:p>
            <a:endParaRPr/>
          </a:p>
          <a:p>
            <a:r>
              <a:t>Amazon EMR Studio is an integrated development environment (IDE) that makes it easy for data scientists and data engineers to develop, visualize, and debug data engineering and data science applications written in R, Python, Scala, and PySpark. </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Monitron launches a new ethernet gateway device</a:t>
            </a:r>
          </a:p>
        </p:txBody>
      </p:sp>
      <p:sp>
        <p:nvSpPr>
          <p:cNvPr id="3" name="Content Placeholder 2"/>
          <p:cNvSpPr>
            <a:spLocks noGrp="1"/>
          </p:cNvSpPr>
          <p:nvPr>
            <p:ph sz="half" idx="1"/>
          </p:nvPr>
        </p:nvSpPr>
        <p:spPr/>
        <p:txBody>
          <a:bodyPr>
            <a:normAutofit fontScale="92500" lnSpcReduction="20000"/>
          </a:bodyPr>
          <a:lstStyle/>
          <a:p>
            <a:r>
              <a:t>02 Sep</a:t>
            </a:r>
          </a:p>
          <a:p>
            <a:endParaRPr/>
          </a:p>
          <a:p>
            <a:r>
              <a:t>Today, we are announcing the launch of Amazon Monitron Gateway (Ethernet) , a new gateway device that allows customers to use their ethernet network to connect Monitron to the internet. The ethernet gateway joins the Wi-Fi gateway that was launched in December 2020, giving customers even more options for Amazon Monitron internet connectivity. Amazon Monitron is an end-to-end  system that uses machine learning (ML) to detect abnormal conditions in industrial equipment, enabling you to implement predictive maintenance and reduce unplanned downtime. It includes sensors to capture vibration and temperature data from equipment, a gateway device to securely transfer data to AWS, the Amazon Monitron service that analyzes the data for abnormal equipment conditions using machine learning, and a companion mobile app to set up the devices and receive reports on operating behavior and alerts to potential failures in your equipment.</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MariaDB supports new minor versions 10.5.12, 10.4.21, 10.3.31, 10.2.40</a:t>
            </a:r>
          </a:p>
        </p:txBody>
      </p:sp>
      <p:sp>
        <p:nvSpPr>
          <p:cNvPr id="3" name="Content Placeholder 2"/>
          <p:cNvSpPr>
            <a:spLocks noGrp="1"/>
          </p:cNvSpPr>
          <p:nvPr>
            <p:ph sz="half" idx="1"/>
          </p:nvPr>
        </p:nvSpPr>
        <p:spPr/>
        <p:txBody>
          <a:bodyPr/>
          <a:lstStyle/>
          <a:p>
            <a:r>
              <a:t>02 Sep</a:t>
            </a:r>
          </a:p>
          <a:p>
            <a:endParaRPr/>
          </a:p>
          <a:p>
            <a:r>
              <a:t>Amazon Relational Database Service (Amazon RDS) for MariaDB now supports MariaDB minor versions 10.5.12 , 10.4.21 , 10.3.31 , and 10.2.40 . We recommend that you upgrade to the latest minor versions to fix known security vulnerabilities in prior versions of MariaDB, and to benefit from the numerous bug fixes, performance improvements, and new functionality added by the MariaDB community.</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AWS Solutions Implementation: AWS CloudEndure Migration Factory Solution</a:t>
            </a:r>
          </a:p>
        </p:txBody>
      </p:sp>
      <p:sp>
        <p:nvSpPr>
          <p:cNvPr id="3" name="Content Placeholder 2"/>
          <p:cNvSpPr>
            <a:spLocks noGrp="1"/>
          </p:cNvSpPr>
          <p:nvPr>
            <p:ph sz="half" idx="1"/>
          </p:nvPr>
        </p:nvSpPr>
        <p:spPr/>
        <p:txBody>
          <a:bodyPr/>
          <a:lstStyle/>
          <a:p>
            <a:r>
              <a:t>02 Sep</a:t>
            </a:r>
          </a:p>
          <a:p>
            <a:endParaRPr/>
          </a:p>
          <a:p>
            <a:r>
              <a:t>AWS CloudEndure Migration Factory Solution coordinates and automates manual processes for larger scaled migrations involving a substantial number of servers. This solutions implementation helps enterprises improve migration velocity and prevents long cutover windows by providing an orchestration and automation platform for rehosting servers to AWS at scale.</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FSx for NetApp ONTAP</a:t>
            </a:r>
          </a:p>
        </p:txBody>
      </p:sp>
      <p:sp>
        <p:nvSpPr>
          <p:cNvPr id="3" name="Content Placeholder 2"/>
          <p:cNvSpPr>
            <a:spLocks noGrp="1"/>
          </p:cNvSpPr>
          <p:nvPr>
            <p:ph sz="half" idx="1"/>
          </p:nvPr>
        </p:nvSpPr>
        <p:spPr/>
        <p:txBody>
          <a:bodyPr>
            <a:normAutofit fontScale="92500" lnSpcReduction="20000"/>
          </a:bodyPr>
          <a:lstStyle/>
          <a:p>
            <a:r>
              <a:t>02 Sep</a:t>
            </a:r>
          </a:p>
          <a:p>
            <a:endParaRPr/>
          </a:p>
          <a:p>
            <a:r>
              <a:t>Amazon Web Services (AWS) announces the general availability of Amazon FSx for NetApp ONTAP, a storage service that allows customers to launch and run complete, fully managed ONTAP file systems in the cloud for the first time. ONTAP is NetApp’s file system technology that has traditionally powered on-premises network-attached storage (NAS) and provides a widely adopted set of data access and data management capabilities. Amazon FSx for NetApp ONTAP provides the popular features, performance, and APIs of ONTAP file systems with the agility, scalability, and simplicity of a fully managed AWS service, making it easier for customers to migrate on-premises applications that rely on NAS appliances to AWS. It also provides developers with high-performance and feature-rich file storage that makes it easy to build, test, and run cloud-native applications.</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is now available in the AWS Asia Pacific (Osaka) Region</a:t>
            </a:r>
          </a:p>
        </p:txBody>
      </p:sp>
      <p:sp>
        <p:nvSpPr>
          <p:cNvPr id="3" name="Content Placeholder 2"/>
          <p:cNvSpPr>
            <a:spLocks noGrp="1"/>
          </p:cNvSpPr>
          <p:nvPr>
            <p:ph sz="half" idx="1"/>
          </p:nvPr>
        </p:nvSpPr>
        <p:spPr/>
        <p:txBody>
          <a:bodyPr/>
          <a:lstStyle/>
          <a:p>
            <a:r>
              <a:t>02 Sep</a:t>
            </a:r>
          </a:p>
          <a:p>
            <a:endParaRPr/>
          </a:p>
          <a:p>
            <a:r>
              <a:t>Amazon SageMaker is now available in the AWS Asia Pacific (Osaka) Region. Amazon SageMaker is a fully managed service that provides every developer and data scientist with the ability to build, train, and deploy machine learning (ML) models quickly. SageMaker removes the heavy lifting from each step of the machine learning process to make it easier to develop high quality models.</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EBS direct APIs now supports creating 64 TB EBS Snapshots</a:t>
            </a:r>
          </a:p>
        </p:txBody>
      </p:sp>
      <p:sp>
        <p:nvSpPr>
          <p:cNvPr id="3" name="Content Placeholder 2"/>
          <p:cNvSpPr>
            <a:spLocks noGrp="1"/>
          </p:cNvSpPr>
          <p:nvPr>
            <p:ph sz="half" idx="1"/>
          </p:nvPr>
        </p:nvSpPr>
        <p:spPr/>
        <p:txBody>
          <a:bodyPr/>
          <a:lstStyle/>
          <a:p>
            <a:r>
              <a:t>02 Sep</a:t>
            </a:r>
          </a:p>
          <a:p>
            <a:endParaRPr/>
          </a:p>
          <a:p>
            <a:r>
              <a:t>Amazon EBS direct APIs now supports creating 64 TB EBS Snapshots directly from any block storage data, including on-premises data. With this new capability, customers can use EBS Snapshots for disaster recovery of their largest on-premises workloads and achieve business continuity in AWS at lower costs.</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NICE DCV releases web client SDK 1.0.3</a:t>
            </a:r>
          </a:p>
        </p:txBody>
      </p:sp>
      <p:sp>
        <p:nvSpPr>
          <p:cNvPr id="3" name="Content Placeholder 2"/>
          <p:cNvSpPr>
            <a:spLocks noGrp="1"/>
          </p:cNvSpPr>
          <p:nvPr>
            <p:ph sz="half" idx="1"/>
          </p:nvPr>
        </p:nvSpPr>
        <p:spPr/>
        <p:txBody>
          <a:bodyPr/>
          <a:lstStyle/>
          <a:p>
            <a:r>
              <a:t>01 Sep</a:t>
            </a:r>
          </a:p>
          <a:p>
            <a:endParaRPr/>
          </a:p>
          <a:p>
            <a:r>
              <a:t>NICE DCV is a high-performance remote display protocol that helps users to securely access remote desktop or application sessions, including 3D graphics applications hosted on servers with high-performance GPUs.</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NICE DCV releases version 2021.2</a:t>
            </a:r>
          </a:p>
        </p:txBody>
      </p:sp>
      <p:sp>
        <p:nvSpPr>
          <p:cNvPr id="3" name="Content Placeholder 2"/>
          <p:cNvSpPr>
            <a:spLocks noGrp="1"/>
          </p:cNvSpPr>
          <p:nvPr>
            <p:ph sz="half" idx="1"/>
          </p:nvPr>
        </p:nvSpPr>
        <p:spPr/>
        <p:txBody>
          <a:bodyPr/>
          <a:lstStyle/>
          <a:p>
            <a:r>
              <a:t>01 Sep</a:t>
            </a:r>
          </a:p>
          <a:p>
            <a:endParaRPr/>
          </a:p>
          <a:p>
            <a:r>
              <a:t>NICE DCV is a high-performance remote display protocol that helps customers securely access remote desktop or application sessions, including 3D graphics applications hosted on servers with high-performance GPUs.</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now supports AWS PrivateLink in previously unsupported Availability Zones</a:t>
            </a:r>
          </a:p>
        </p:txBody>
      </p:sp>
      <p:sp>
        <p:nvSpPr>
          <p:cNvPr id="3" name="Content Placeholder 2"/>
          <p:cNvSpPr>
            <a:spLocks noGrp="1"/>
          </p:cNvSpPr>
          <p:nvPr>
            <p:ph sz="half" idx="1"/>
          </p:nvPr>
        </p:nvSpPr>
        <p:spPr/>
        <p:txBody>
          <a:bodyPr/>
          <a:lstStyle/>
          <a:p>
            <a:r>
              <a:t>01 Sep</a:t>
            </a:r>
          </a:p>
          <a:p>
            <a:endParaRPr/>
          </a:p>
          <a:p>
            <a:r>
              <a:t>AWS Lambda now supports AWS PrivateLink in previously unsupported Availability Zones in US East (N. Virginia), US West (Oregon), Asia Pacific (Singapore), Asia Pacific (Tokyo), Asia Pacific (Seoul), Asia Pacific (Mumbai), South America (São Paulo), Canada (Central), and EU (London) regions. With this launch, AWS Lambda now supports AWS PrivateLink in all Availability Zones in all commercial regions, AWS GovCloud (US-East), and AWS GovCloud (US-West). </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Polly offers full support in the AWS Africa (Cape Town) Region</a:t>
            </a:r>
          </a:p>
        </p:txBody>
      </p:sp>
      <p:sp>
        <p:nvSpPr>
          <p:cNvPr id="3" name="Content Placeholder 2"/>
          <p:cNvSpPr>
            <a:spLocks noGrp="1"/>
          </p:cNvSpPr>
          <p:nvPr>
            <p:ph sz="half" idx="1"/>
          </p:nvPr>
        </p:nvSpPr>
        <p:spPr/>
        <p:txBody>
          <a:bodyPr/>
          <a:lstStyle/>
          <a:p>
            <a:r>
              <a:t>01 Sep</a:t>
            </a:r>
          </a:p>
          <a:p>
            <a:endParaRPr/>
          </a:p>
          <a:p>
            <a:r>
              <a:t>Amazon Polly, a service that turns text into speech, extends its offering to the AWS Africa (Cape Town) Region. Today, we are excited to announce the general availability of Ayanda, Polly’s first South African English Neural Text-to-Speech (NTTS) voice, as well as full support for the entire portfolio of Amazon Polly's Neural and Standard voices in the AWS Africa (Cape Town) Region. With this launch, the service now supports 31 languages including 7 different varieties of English. Neural TTS voices are available in 12 AWS Regions.</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CloudWatch Application Insights adds support for Microsoft SQL Server FCI and FSx storage</a:t>
            </a:r>
          </a:p>
        </p:txBody>
      </p:sp>
      <p:sp>
        <p:nvSpPr>
          <p:cNvPr id="3" name="Content Placeholder 2"/>
          <p:cNvSpPr>
            <a:spLocks noGrp="1"/>
          </p:cNvSpPr>
          <p:nvPr>
            <p:ph sz="half" idx="1"/>
          </p:nvPr>
        </p:nvSpPr>
        <p:spPr/>
        <p:txBody>
          <a:bodyPr/>
          <a:lstStyle/>
          <a:p>
            <a:r>
              <a:t>01 Sep</a:t>
            </a:r>
          </a:p>
          <a:p>
            <a:endParaRPr/>
          </a:p>
          <a:p>
            <a:r>
              <a:t>Now you can easily setup monitoring, alarms and dashboards for your Microsoft SQL Server Failover Cluster Instances (FCI) running on AWS and for applications using FSx managed storage with CloudWatch Application Insights. CloudWatch Application Insights is a capability that helps customers monitor and troubleshoot their enterprise applications running on AWS resources. The new feature adds automatic discovery of the database and managed storage, the FCI configuration and the underlying resources along with setting up the metrics, telemetry and logs for monitoring its health and wellness. </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MediaTailor now supports time based schedules for Channel Assembly streams</a:t>
            </a:r>
          </a:p>
        </p:txBody>
      </p:sp>
      <p:sp>
        <p:nvSpPr>
          <p:cNvPr id="3" name="Content Placeholder 2"/>
          <p:cNvSpPr>
            <a:spLocks noGrp="1"/>
          </p:cNvSpPr>
          <p:nvPr>
            <p:ph sz="half" idx="1"/>
          </p:nvPr>
        </p:nvSpPr>
        <p:spPr/>
        <p:txBody>
          <a:bodyPr/>
          <a:lstStyle/>
          <a:p>
            <a:r>
              <a:t>01 Sep</a:t>
            </a:r>
          </a:p>
          <a:p>
            <a:endParaRPr/>
          </a:p>
          <a:p>
            <a:r>
              <a:t>Channel Assembly with AWS Elemental MediaTailor now lets you schedule programs based on a wall-clock time. Using "linear mode" you have fine-grained control of when individual sources will be played and which sources are to follow on a channel output. Looping mode is also available where timing on individual programs is loosely defined to ensure that there is content always playing on a channel output.</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supports M5d, R5, and P3dn instances for SageMaker Studio Notebooks</a:t>
            </a:r>
          </a:p>
        </p:txBody>
      </p:sp>
      <p:sp>
        <p:nvSpPr>
          <p:cNvPr id="3" name="Content Placeholder 2"/>
          <p:cNvSpPr>
            <a:spLocks noGrp="1"/>
          </p:cNvSpPr>
          <p:nvPr>
            <p:ph sz="half" idx="1"/>
          </p:nvPr>
        </p:nvSpPr>
        <p:spPr/>
        <p:txBody>
          <a:bodyPr/>
          <a:lstStyle/>
          <a:p>
            <a:r>
              <a:t>01 Sep</a:t>
            </a:r>
          </a:p>
          <a:p>
            <a:endParaRPr/>
          </a:p>
          <a:p>
            <a:r>
              <a:t>Today, we are excited to announce that Amazon SageMaker Studio now supports Amazon EC2 M5d, R5, and P3dn instances. Customers can launch SageMaker Studio Notebooks with these instances types in the regions where they are available.</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Launch Wizard now supports additional deployment capabilities to meet DevOps and organizational requirements</a:t>
            </a:r>
          </a:p>
        </p:txBody>
      </p:sp>
      <p:sp>
        <p:nvSpPr>
          <p:cNvPr id="3" name="Content Placeholder 2"/>
          <p:cNvSpPr>
            <a:spLocks noGrp="1"/>
          </p:cNvSpPr>
          <p:nvPr>
            <p:ph sz="half" idx="1"/>
          </p:nvPr>
        </p:nvSpPr>
        <p:spPr/>
        <p:txBody>
          <a:bodyPr>
            <a:normAutofit fontScale="77500" lnSpcReduction="20000"/>
          </a:bodyPr>
          <a:lstStyle/>
          <a:p>
            <a:r>
              <a:t>31 Aug</a:t>
            </a:r>
          </a:p>
          <a:p>
            <a:endParaRPr/>
          </a:p>
          <a:p>
            <a:r>
              <a:t>When you deploy SAP applications with AWS Launch Wizard it now saves the CloudFormation templates and application configuration code in your S3 buckets and creates an AWS Service Catalog product when deployment is complete. This allows you to leverage Launch Wizard-generated infrastructure as code to repeat deployments with identical configuration, or customize them to meet organizational requirements. This provides a number of benefits:</a:t>
            </a:r>
          </a:p>
          <a:p>
            <a:r>
              <a:t>Choice: Use the deployment tools (e.g. ServiceNow, Jira, CloudFormation) and processes of your choice.</a:t>
            </a:r>
          </a:p>
          <a:p>
            <a:r>
              <a:t>Versioning: Adopt new Launch Wizard features and capabilities at your own pace.</a:t>
            </a:r>
          </a:p>
          <a:p>
            <a:r>
              <a:t>Simplification: This launch allows you to reduce number of inputs needed for repeat deployments of the same product/pattern. For example, when deploying multiple HANA systems of same version in the same VPC and subnet, you can default these settings in AWS ServiceCatalog/AWS CloudFormation and let the end user only interact with other inputs that change from deployment to deployment.</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July 2021 Patch Set Update (PSU) for 12.1 and Release Updates (RU) for 12.2 and 19c</a:t>
            </a:r>
          </a:p>
        </p:txBody>
      </p:sp>
      <p:sp>
        <p:nvSpPr>
          <p:cNvPr id="3" name="Content Placeholder 2"/>
          <p:cNvSpPr>
            <a:spLocks noGrp="1"/>
          </p:cNvSpPr>
          <p:nvPr>
            <p:ph sz="half" idx="1"/>
          </p:nvPr>
        </p:nvSpPr>
        <p:spPr/>
        <p:txBody>
          <a:bodyPr/>
          <a:lstStyle/>
          <a:p>
            <a:r>
              <a:t>31 Aug</a:t>
            </a:r>
          </a:p>
          <a:p>
            <a:endParaRPr/>
          </a:p>
          <a:p>
            <a:r>
              <a:t>Amazon Relational Database Service (RDS) for Oracle now supports the July 2021 Patch Set Update (PSU) for Oracle Database 12.1 and Release Updates (RU) for Oracle Database 12.2 and 19c.</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enables additional application management capabilities</a:t>
            </a:r>
          </a:p>
        </p:txBody>
      </p:sp>
      <p:sp>
        <p:nvSpPr>
          <p:cNvPr id="3" name="Content Placeholder 2"/>
          <p:cNvSpPr>
            <a:spLocks noGrp="1"/>
          </p:cNvSpPr>
          <p:nvPr>
            <p:ph sz="half" idx="1"/>
          </p:nvPr>
        </p:nvSpPr>
        <p:spPr/>
        <p:txBody>
          <a:bodyPr/>
          <a:lstStyle/>
          <a:p>
            <a:r>
              <a:t>31 Aug</a:t>
            </a:r>
          </a:p>
          <a:p>
            <a:endParaRPr/>
          </a:p>
          <a:p>
            <a:r>
              <a:t>Application Manager, a capability of AWS Systems Manager, now supports additional features that help customers to easily manage their applications end-to-end, without switching consoles. With this release, IT professionals can edit application and resource tags, and invoke appropriate runbooks based on the application type, all within the Application Manager console.</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Device Management announces new fleet monitoring enhancements</a:t>
            </a:r>
          </a:p>
        </p:txBody>
      </p:sp>
      <p:sp>
        <p:nvSpPr>
          <p:cNvPr id="3" name="Content Placeholder 2"/>
          <p:cNvSpPr>
            <a:spLocks noGrp="1"/>
          </p:cNvSpPr>
          <p:nvPr>
            <p:ph sz="half" idx="1"/>
          </p:nvPr>
        </p:nvSpPr>
        <p:spPr/>
        <p:txBody>
          <a:bodyPr/>
          <a:lstStyle/>
          <a:p>
            <a:r>
              <a:t>31 Aug</a:t>
            </a:r>
          </a:p>
          <a:p>
            <a:endParaRPr/>
          </a:p>
          <a:p>
            <a:r>
              <a:t>Today, AWS IoT is announcing the general availability of several new enhancements for AWS IoT Device Management. These new features will enable customers to better monitor characteristics of their fleet over time, diagnose connectivity issues, and perform aggregation queries to group devices across different values.</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Managed Workflows for Apache Airflow (MWAA) Available in Canada, London, Paris, Sao Paulo, Seoul, and Mumbai Regions</a:t>
            </a:r>
          </a:p>
        </p:txBody>
      </p:sp>
      <p:sp>
        <p:nvSpPr>
          <p:cNvPr id="3" name="Content Placeholder 2"/>
          <p:cNvSpPr>
            <a:spLocks noGrp="1"/>
          </p:cNvSpPr>
          <p:nvPr>
            <p:ph sz="half" idx="1"/>
          </p:nvPr>
        </p:nvSpPr>
        <p:spPr/>
        <p:txBody>
          <a:bodyPr/>
          <a:lstStyle/>
          <a:p>
            <a:r>
              <a:t>31 Aug</a:t>
            </a:r>
          </a:p>
          <a:p>
            <a:endParaRPr/>
          </a:p>
          <a:p>
            <a:r>
              <a:t>Amazon Managed Workflows for Apache Airflow (MWAA) is now available in six new AWS Regions: South America (Sao Paulo), Asia Pacific (Seoul), Asia Pacific (Mumbai), Canada (Central), EU (London), and EU (Paris).</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13 in AWS GovCloud (US) Regions</a:t>
            </a:r>
          </a:p>
        </p:txBody>
      </p:sp>
      <p:sp>
        <p:nvSpPr>
          <p:cNvPr id="3" name="Content Placeholder 2"/>
          <p:cNvSpPr>
            <a:spLocks noGrp="1"/>
          </p:cNvSpPr>
          <p:nvPr>
            <p:ph sz="half" idx="1"/>
          </p:nvPr>
        </p:nvSpPr>
        <p:spPr/>
        <p:txBody>
          <a:bodyPr/>
          <a:lstStyle/>
          <a:p>
            <a:r>
              <a:t>30 Aug</a:t>
            </a:r>
          </a:p>
          <a:p>
            <a:endParaRPr/>
          </a:p>
          <a:p>
            <a:r>
              <a:t>Amazon Aurora PostgreSQL-Compatible Edition now supports PostgreSQL major version 13 in AWS GovCloud (US) Regions. PostgreSQL 13  includes improved functionality and performance from enhancements such as de-duplication of B-tree index entries, improved performance for queries that use partitioned tables, incremental sorting to accelerate data sorts, parallel processing of indexes with the VACUUM command, more ways to monitor activity within a PostgreSQL database, new security capabilities, and more. This release also adds support for bool_plperl, which simplifies writing Perl procedures.</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Backint Agent now supports Amazon S3 Intelligent Tiering, sending log and data backups to separate folders, and Ansible</a:t>
            </a:r>
          </a:p>
        </p:txBody>
      </p:sp>
      <p:sp>
        <p:nvSpPr>
          <p:cNvPr id="3" name="Content Placeholder 2"/>
          <p:cNvSpPr>
            <a:spLocks noGrp="1"/>
          </p:cNvSpPr>
          <p:nvPr>
            <p:ph sz="half" idx="1"/>
          </p:nvPr>
        </p:nvSpPr>
        <p:spPr/>
        <p:txBody>
          <a:bodyPr/>
          <a:lstStyle/>
          <a:p>
            <a:r>
              <a:t>30 Aug</a:t>
            </a:r>
          </a:p>
          <a:p>
            <a:endParaRPr/>
          </a:p>
          <a:p>
            <a:r>
              <a:t>AWS Backint Agent now supports three new features: Amazon S3 Intelligent Tiering, the ability to send log and data backups to separate folders, and compatibility with Ansible.</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now supports speech to text in 6 new languages - Afrikaans, Danish, Mandarin Chinese (Taiwan), Thai, New Zealand English, and South African English</a:t>
            </a:r>
          </a:p>
        </p:txBody>
      </p:sp>
      <p:sp>
        <p:nvSpPr>
          <p:cNvPr id="3" name="Content Placeholder 2"/>
          <p:cNvSpPr>
            <a:spLocks noGrp="1"/>
          </p:cNvSpPr>
          <p:nvPr>
            <p:ph sz="half" idx="1"/>
          </p:nvPr>
        </p:nvSpPr>
        <p:spPr/>
        <p:txBody>
          <a:bodyPr/>
          <a:lstStyle/>
          <a:p>
            <a:r>
              <a:t>27 Aug</a:t>
            </a:r>
          </a:p>
          <a:p>
            <a:endParaRPr/>
          </a:p>
          <a:p>
            <a:r>
              <a:t>Starting today, Amazon Transcribe supports batch transcription in six new languages - Afrikaans, Danish, Mandarin Chinese (Taiwan), Thai, New Zealand English, and South African English. Amazon Transcribe is an automatic speech recognition (ASR) service that makes it easy for you to add speech to text capabilities to your applications. </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is now available in the AWS GovCloud (US-West) Region</a:t>
            </a:r>
          </a:p>
        </p:txBody>
      </p:sp>
      <p:sp>
        <p:nvSpPr>
          <p:cNvPr id="3" name="Content Placeholder 2"/>
          <p:cNvSpPr>
            <a:spLocks noGrp="1"/>
          </p:cNvSpPr>
          <p:nvPr>
            <p:ph sz="half" idx="1"/>
          </p:nvPr>
        </p:nvSpPr>
        <p:spPr/>
        <p:txBody>
          <a:bodyPr/>
          <a:lstStyle/>
          <a:p>
            <a:r>
              <a:t>27 Aug</a:t>
            </a:r>
          </a:p>
          <a:p>
            <a:endParaRPr/>
          </a:p>
          <a:p>
            <a:r>
              <a:t>AWS Glue DataBrew, a visual data preparation tool that makes it easy for data analysts and data scientists to clean and normalize data for analytics and machine learning, is now available in the AWS GovCloud (US-West) Region. Refer to AWS GovCloud documentation to learn more, and see where AWS Glue DataBrew is available by using the AWS Region Table.</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Model Registry now supports Inference Pipelines</a:t>
            </a:r>
          </a:p>
        </p:txBody>
      </p:sp>
      <p:sp>
        <p:nvSpPr>
          <p:cNvPr id="3" name="Content Placeholder 2"/>
          <p:cNvSpPr>
            <a:spLocks noGrp="1"/>
          </p:cNvSpPr>
          <p:nvPr>
            <p:ph sz="half" idx="1"/>
          </p:nvPr>
        </p:nvSpPr>
        <p:spPr/>
        <p:txBody>
          <a:bodyPr>
            <a:normAutofit fontScale="85000" lnSpcReduction="20000"/>
          </a:bodyPr>
          <a:lstStyle/>
          <a:p>
            <a:r>
              <a:t>26 Aug</a:t>
            </a:r>
          </a:p>
          <a:p>
            <a:endParaRPr/>
          </a:p>
          <a:p>
            <a:r>
              <a:t>Amazon SageMaker Pipelines, the first purpose-built continuous integration and continuous delivery (CI/CD) service for machine learning (ML), now supports registering and deploying SageMaker inference pipelines with the model registry. SageMaker Pipelines includes a model registry, which is a central repository for cataloging models for production, managing model versions, associating metadata with models, managing approval statuses of models, and automating their deployment with CI/CD. An inference pipeline is a SageMaker model that is composed of a linear sequence of two to fifteen containers that process requests for inferences on data. In the past, the model registry supported only models that were composed of a single container for processing requests for inference. Now, customers can register inference pipelines in the model registry as well. Each model package version of an inference pipeline will now jointly track all containers of the pipeline. An approved model package version can then be deployed as an inference pipeline hosted on a SageMaker inference endpoint with CI/CD.</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Textract announces reduced pricing of up to 32% on AnalyzeDocument and DetectDocumentText requests in eight global AWS Regions</a:t>
            </a:r>
          </a:p>
        </p:txBody>
      </p:sp>
      <p:sp>
        <p:nvSpPr>
          <p:cNvPr id="3" name="Content Placeholder 2"/>
          <p:cNvSpPr>
            <a:spLocks noGrp="1"/>
          </p:cNvSpPr>
          <p:nvPr>
            <p:ph sz="half" idx="1"/>
          </p:nvPr>
        </p:nvSpPr>
        <p:spPr/>
        <p:txBody>
          <a:bodyPr/>
          <a:lstStyle/>
          <a:p>
            <a:r>
              <a:t>26 Aug</a:t>
            </a:r>
          </a:p>
          <a:p>
            <a:endParaRPr/>
          </a:p>
          <a:p>
            <a:r>
              <a:t>Amazon Textract is a managed service that leverages computer vision and machine learning to automatically extract printed and handwritten text, tables and forms data from scanned documents with no machine learning experience necessary. Today, we are excited to announce that effective September 1, 2021, customers will see a price reduction of up to 32% and save even more on the use of AnalyzeDocument and DetectDocumentText requests in eight global AWS Regions.</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Snowcone is now available in the AWS Asia Pacific (Singapore) and AWS Asia Pacific (Tokyo) regions</a:t>
            </a:r>
          </a:p>
        </p:txBody>
      </p:sp>
      <p:sp>
        <p:nvSpPr>
          <p:cNvPr id="3" name="Content Placeholder 2"/>
          <p:cNvSpPr>
            <a:spLocks noGrp="1"/>
          </p:cNvSpPr>
          <p:nvPr>
            <p:ph sz="half" idx="1"/>
          </p:nvPr>
        </p:nvSpPr>
        <p:spPr/>
        <p:txBody>
          <a:bodyPr>
            <a:normAutofit fontScale="92500" lnSpcReduction="20000"/>
          </a:bodyPr>
          <a:lstStyle/>
          <a:p>
            <a:r>
              <a:t>26 Aug</a:t>
            </a:r>
          </a:p>
          <a:p>
            <a:endParaRPr/>
          </a:p>
          <a:p>
            <a:r>
              <a:t>The AWS Snowcone service is now available for customer orders in the AWS Asia Pacific (Singapore) and, AWS Asia Pacific (Tokyo) Regions. With this launch, Snowcone is now available for order in AWS Asia Pacific (Singapore), Asia Pacific (Tokyo), Canada (Central), Asia Pacific (Sydney), EU (Frankfurt), EU (Ireland), US East (N. Virginia), and US West (Oregon) Regions. AWS Snowcone is the smallest member of the AWS Snow Family of edge computing, edge storage, and data transfer devices. Snowcone is portable, rugged, and secure – small and light enough to fit in a backpack, and able to withstand harsh environments. Customers use Snowcone to deploy applications at the edge, and to collect data, process it locally, and move it to AWS either offline (by shipping the device to AWS) or online (by using AWS DataSync on Snowcone to send the data to AWS over the network).</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improves the accuracy of celebrity recognition, adds new attributes</a:t>
            </a:r>
          </a:p>
        </p:txBody>
      </p:sp>
      <p:sp>
        <p:nvSpPr>
          <p:cNvPr id="3" name="Content Placeholder 2"/>
          <p:cNvSpPr>
            <a:spLocks noGrp="1"/>
          </p:cNvSpPr>
          <p:nvPr>
            <p:ph sz="half" idx="1"/>
          </p:nvPr>
        </p:nvSpPr>
        <p:spPr/>
        <p:txBody>
          <a:bodyPr>
            <a:normAutofit fontScale="85000" lnSpcReduction="10000"/>
          </a:bodyPr>
          <a:lstStyle/>
          <a:p>
            <a:r>
              <a:t>26 Aug</a:t>
            </a:r>
          </a:p>
          <a:p>
            <a:endParaRPr/>
          </a:p>
          <a:p>
            <a:r>
              <a:t>Amazon Rekognition is a machine learning (ML) based service that can analyze images and videos to detect objects, people, faces, text, scenes, activities, and inappropriate content. Celebrity Recognition  makes it easy for customers to automatically recognize tens of thousands of well-known personalities in images and videos using ML. Celebrity recognition significantly reduces the repetitive manual effort required to tag produced media content and make it readily searchable. Starting today, customers can get higher accuracy (lower false detections and rejections) and increased coverage of global celebrities. In addition, customers get three new attributes for each celebrity recognized: presentation of gender, expression, and smile. This metadata helps further refine content search and filtering workflows. For example, customers can now easily search for images where a particular actor is smiling, or measure the coverage of female versus male celebrities in event photos to ensure fair representation.</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Elasticsearch Service now supports three Availability Zone deployments in AWS GovCloud (US-EAST) Region</a:t>
            </a:r>
          </a:p>
        </p:txBody>
      </p:sp>
      <p:sp>
        <p:nvSpPr>
          <p:cNvPr id="3" name="Content Placeholder 2"/>
          <p:cNvSpPr>
            <a:spLocks noGrp="1"/>
          </p:cNvSpPr>
          <p:nvPr>
            <p:ph sz="half" idx="1"/>
          </p:nvPr>
        </p:nvSpPr>
        <p:spPr/>
        <p:txBody>
          <a:bodyPr/>
          <a:lstStyle/>
          <a:p>
            <a:r>
              <a:t>25 Aug</a:t>
            </a:r>
          </a:p>
          <a:p>
            <a:endParaRPr/>
          </a:p>
          <a:p>
            <a:r>
              <a:t>Amazon Elasticsearch Service (Amazon ES) now enables you to deploy your instances across three Availability Zones (AZs) providing better availability for your domains. If you enable replicas for your Elasticsearch indices, Amazon Elasticsearch Service distributes the primary and replica shards across nodes in different AZs to maximize availability.</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DataSync enhances task filtering and queuing</a:t>
            </a:r>
          </a:p>
        </p:txBody>
      </p:sp>
      <p:sp>
        <p:nvSpPr>
          <p:cNvPr id="3" name="Content Placeholder 2"/>
          <p:cNvSpPr>
            <a:spLocks noGrp="1"/>
          </p:cNvSpPr>
          <p:nvPr>
            <p:ph sz="half" idx="1"/>
          </p:nvPr>
        </p:nvSpPr>
        <p:spPr/>
        <p:txBody>
          <a:bodyPr/>
          <a:lstStyle/>
          <a:p>
            <a:r>
              <a:t>25 Aug</a:t>
            </a:r>
          </a:p>
          <a:p>
            <a:endParaRPr/>
          </a:p>
          <a:p>
            <a:r>
              <a:t>When you create an AWS DataSync task to transfer your data to and from AWS Storage, you can now specify include filters as well as exclude filters, providing you with even greater control over how your data is transferred. With this enhancement, you can now schedule tasks that utilize both exclude and include filters to transfer only a subset of files in your source location. Additionally, you can now queue multiple executions of a task when the filter settings differ between executions.</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new Amazon DynamoDB console is now your default experience to help you manage data and resources more easily</a:t>
            </a:r>
          </a:p>
        </p:txBody>
      </p:sp>
      <p:sp>
        <p:nvSpPr>
          <p:cNvPr id="3" name="Content Placeholder 2"/>
          <p:cNvSpPr>
            <a:spLocks noGrp="1"/>
          </p:cNvSpPr>
          <p:nvPr>
            <p:ph sz="half" idx="1"/>
          </p:nvPr>
        </p:nvSpPr>
        <p:spPr/>
        <p:txBody>
          <a:bodyPr/>
          <a:lstStyle/>
          <a:p>
            <a:r>
              <a:t>25 Aug</a:t>
            </a:r>
          </a:p>
          <a:p>
            <a:endParaRPr/>
          </a:p>
          <a:p>
            <a:r>
              <a:t>The new Amazon DynamoDB console is now your default experience to help you manage data and resources more easily through simpler navigation and by providing you richer contextual information.</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Comprehend launches support for tagging with analysis jobs</a:t>
            </a:r>
          </a:p>
        </p:txBody>
      </p:sp>
      <p:sp>
        <p:nvSpPr>
          <p:cNvPr id="3" name="Content Placeholder 2"/>
          <p:cNvSpPr>
            <a:spLocks noGrp="1"/>
          </p:cNvSpPr>
          <p:nvPr>
            <p:ph sz="half" idx="1"/>
          </p:nvPr>
        </p:nvSpPr>
        <p:spPr/>
        <p:txBody>
          <a:bodyPr>
            <a:normAutofit fontScale="92500"/>
          </a:bodyPr>
          <a:lstStyle/>
          <a:p>
            <a:r>
              <a:t>25 Aug</a:t>
            </a:r>
          </a:p>
          <a:p>
            <a:endParaRPr/>
          </a:p>
          <a:p>
            <a:r>
              <a:t>Amazon Comprehend is a natural language processing (NLP) service that uses machine learning to analyze text documents and identify insights such as sentiment, entities, and topics in text. Today, we are announcing support for tagging with analysis jobs. In order to scale AI/ML within organizations, it is important to tag analysis jobs so that organizations can track jobs and users using the service. Now, a user can add tags during an analysis job creation in Amazon Comprehend. They can subsequently use these tags to charge back costs associated with the job to the appropriate cost center or user, analyze the number of jobs associated with a given project, or keep their AI/ML analyses organized with appropriate access control.</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Boolean DB Parameter Expressions</a:t>
            </a:r>
          </a:p>
        </p:txBody>
      </p:sp>
      <p:sp>
        <p:nvSpPr>
          <p:cNvPr id="3" name="Content Placeholder 2"/>
          <p:cNvSpPr>
            <a:spLocks noGrp="1"/>
          </p:cNvSpPr>
          <p:nvPr>
            <p:ph sz="half" idx="1"/>
          </p:nvPr>
        </p:nvSpPr>
        <p:spPr/>
        <p:txBody>
          <a:bodyPr/>
          <a:lstStyle/>
          <a:p>
            <a:r>
              <a:t>25 Aug</a:t>
            </a:r>
          </a:p>
          <a:p>
            <a:endParaRPr/>
          </a:p>
          <a:p>
            <a:r>
              <a:t>Amazon Relational Database Service (Amazon RDS) now supports Boolean DB parameter expressions in PostgreSQL parameter groups, which enables database administrators to optimize more database configurations with fewer parameter groups.</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the new AWS Level 1 MSSP Competency</a:t>
            </a:r>
          </a:p>
        </p:txBody>
      </p:sp>
      <p:sp>
        <p:nvSpPr>
          <p:cNvPr id="3" name="Content Placeholder 2"/>
          <p:cNvSpPr>
            <a:spLocks noGrp="1"/>
          </p:cNvSpPr>
          <p:nvPr>
            <p:ph sz="half" idx="1"/>
          </p:nvPr>
        </p:nvSpPr>
        <p:spPr/>
        <p:txBody>
          <a:bodyPr/>
          <a:lstStyle/>
          <a:p>
            <a:r>
              <a:t>24 Aug</a:t>
            </a:r>
          </a:p>
          <a:p>
            <a:endParaRPr/>
          </a:p>
          <a:p>
            <a:r>
              <a:t>Today, we announced the AWS Level 1 MSSP Competency to support AWS customers looking for AWS Partners with deep specialization and expertise protecting and monitoring essential AWS resources on behalf of their customers.</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now supports resource tagging for better access control</a:t>
            </a:r>
          </a:p>
        </p:txBody>
      </p:sp>
      <p:sp>
        <p:nvSpPr>
          <p:cNvPr id="3" name="Content Placeholder 2"/>
          <p:cNvSpPr>
            <a:spLocks noGrp="1"/>
          </p:cNvSpPr>
          <p:nvPr>
            <p:ph sz="half" idx="1"/>
          </p:nvPr>
        </p:nvSpPr>
        <p:spPr/>
        <p:txBody>
          <a:bodyPr/>
          <a:lstStyle/>
          <a:p>
            <a:r>
              <a:t>24 Aug</a:t>
            </a:r>
          </a:p>
          <a:p>
            <a:endParaRPr/>
          </a:p>
          <a:p>
            <a:r>
              <a:t>Amazon Transcribe is an automatic speech recognition (ASR) service that makes it easy for you to add speech-to-text capabilities to your applications. Starting today, you can assign tags to easily organize, track, or control access your resources. This can be used to allocate costs or get detailed billing reports across your Transcribe jobs. You can attach tags to resources such as transcription jobs, vocabulary, vocabulary filter, and custom language models within Transcribe.</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Polly launches Aria, a New Zealand English neural text-to-speech voice</a:t>
            </a:r>
          </a:p>
        </p:txBody>
      </p:sp>
      <p:sp>
        <p:nvSpPr>
          <p:cNvPr id="3" name="Content Placeholder 2"/>
          <p:cNvSpPr>
            <a:spLocks noGrp="1"/>
          </p:cNvSpPr>
          <p:nvPr>
            <p:ph sz="half" idx="1"/>
          </p:nvPr>
        </p:nvSpPr>
        <p:spPr/>
        <p:txBody>
          <a:bodyPr/>
          <a:lstStyle/>
          <a:p>
            <a:r>
              <a:t>24 Aug</a:t>
            </a:r>
          </a:p>
          <a:p>
            <a:endParaRPr/>
          </a:p>
          <a:p>
            <a:r>
              <a:t>Amazon Polly is a service that turns text into lifelike speech. Today, we are excited to announce the general availability of Aria, Polly’s first New Zealand English voice. Aria is a neural text-to-speech (NTTS) voice that is expressive, natural and easy to follow.</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Core now supports MQTT retained messages</a:t>
            </a:r>
          </a:p>
        </p:txBody>
      </p:sp>
      <p:sp>
        <p:nvSpPr>
          <p:cNvPr id="3" name="Content Placeholder 2"/>
          <p:cNvSpPr>
            <a:spLocks noGrp="1"/>
          </p:cNvSpPr>
          <p:nvPr>
            <p:ph sz="half" idx="1"/>
          </p:nvPr>
        </p:nvSpPr>
        <p:spPr/>
        <p:txBody>
          <a:bodyPr/>
          <a:lstStyle/>
          <a:p>
            <a:r>
              <a:t>24 Aug</a:t>
            </a:r>
          </a:p>
          <a:p>
            <a:endParaRPr/>
          </a:p>
          <a:p>
            <a:r>
              <a:t>Retained messages is a standard MQTT feature that provides an easy way for you to store the latest important message on a topic for future subscribers. With AWS IoT Core, you can now use retained messages to easily push configuration information or important updates to devices without knowing exactly when they will come online.</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M6i instances are now available in 2 additional regions</a:t>
            </a:r>
          </a:p>
        </p:txBody>
      </p:sp>
      <p:sp>
        <p:nvSpPr>
          <p:cNvPr id="3" name="Content Placeholder 2"/>
          <p:cNvSpPr>
            <a:spLocks noGrp="1"/>
          </p:cNvSpPr>
          <p:nvPr>
            <p:ph sz="half" idx="1"/>
          </p:nvPr>
        </p:nvSpPr>
        <p:spPr/>
        <p:txBody>
          <a:bodyPr>
            <a:normAutofit fontScale="92500" lnSpcReduction="10000"/>
          </a:bodyPr>
          <a:lstStyle/>
          <a:p>
            <a:r>
              <a:t>23 Aug</a:t>
            </a:r>
          </a:p>
          <a:p>
            <a:endParaRPr/>
          </a:p>
          <a:p>
            <a:r>
              <a:t>Starting today, Amazon EC2 M6i instances are available in additional AWS Regions US West (N. California) and Asia Pacific (Tokyo). Designed to provide a balance of compute, memory, storage and network resources, M6i instances are built on the AWS Nitro System, a combination of dedicated hardware and lightweight hypervisor, which delivers practically all of the compute and memory resources of the host hardware to your instances. These instances are SAP-Certified and are ideal for workloads such as web and application servers, back-end servers supporting enterprise applications (e.g. Microsoft Exchange Server and SharePoint Server, SAP Business Suite, MySQL, Microsoft SQL Server, and PostgreSQL databases), gaming servers, caching fleets, as well as for application development environments.</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Greengrass v2.4 release includes new features for provisioning large device fleets and managing device software resources</a:t>
            </a:r>
          </a:p>
        </p:txBody>
      </p:sp>
      <p:sp>
        <p:nvSpPr>
          <p:cNvPr id="3" name="Content Placeholder 2"/>
          <p:cNvSpPr>
            <a:spLocks noGrp="1"/>
          </p:cNvSpPr>
          <p:nvPr>
            <p:ph sz="half" idx="1"/>
          </p:nvPr>
        </p:nvSpPr>
        <p:spPr/>
        <p:txBody>
          <a:bodyPr/>
          <a:lstStyle/>
          <a:p>
            <a:r>
              <a:t>23 Aug</a:t>
            </a:r>
          </a:p>
          <a:p>
            <a:endParaRPr/>
          </a:p>
          <a:p>
            <a:r>
              <a:t>AWS IoT Greengrass is an Internet of Things (IoT) edge runtime and cloud service that helps customers build, deploy, and manage device software. Our version 2.4 release includes two new sets of features that simplify the provisioning of large fleets of IoT devices and allow fine-grained control of IoT device system resources from the cloud:</a:t>
            </a: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Extract data from SAP applications to AWS services using Amazon Appflow</a:t>
            </a:r>
          </a:p>
        </p:txBody>
      </p:sp>
      <p:sp>
        <p:nvSpPr>
          <p:cNvPr id="3" name="Content Placeholder 2"/>
          <p:cNvSpPr>
            <a:spLocks noGrp="1"/>
          </p:cNvSpPr>
          <p:nvPr>
            <p:ph sz="half" idx="1"/>
          </p:nvPr>
        </p:nvSpPr>
        <p:spPr/>
        <p:txBody>
          <a:bodyPr/>
          <a:lstStyle/>
          <a:p>
            <a:r>
              <a:t>23 Aug</a:t>
            </a:r>
          </a:p>
          <a:p>
            <a:endParaRPr/>
          </a:p>
          <a:p>
            <a:r>
              <a:t>You can now extract data from SAP ERP/BW applications (including ECC, BW, BW/4HANA and S/4HANA) to AWS services in just a few clicks using Amazon AppFlow and SAP OData APIs.</a:t>
            </a: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now supports oracle_fdw extension</a:t>
            </a:r>
          </a:p>
        </p:txBody>
      </p:sp>
      <p:sp>
        <p:nvSpPr>
          <p:cNvPr id="3" name="Content Placeholder 2"/>
          <p:cNvSpPr>
            <a:spLocks noGrp="1"/>
          </p:cNvSpPr>
          <p:nvPr>
            <p:ph sz="half" idx="1"/>
          </p:nvPr>
        </p:nvSpPr>
        <p:spPr/>
        <p:txBody>
          <a:bodyPr/>
          <a:lstStyle/>
          <a:p>
            <a:r>
              <a:t>20 Aug</a:t>
            </a:r>
          </a:p>
          <a:p>
            <a:endParaRPr/>
          </a:p>
          <a:p>
            <a:r>
              <a:t>Amazon Aurora PostgreSQL-Compatible Edition now supports the oracle_fdw extension, which allows your PostgreSQL database to connect to and retrieve data stored in Oracle databases.  </a:t>
            </a: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Forecast Weather Index for Asia-Pacific</a:t>
            </a:r>
          </a:p>
        </p:txBody>
      </p:sp>
      <p:sp>
        <p:nvSpPr>
          <p:cNvPr id="3" name="Content Placeholder 2"/>
          <p:cNvSpPr>
            <a:spLocks noGrp="1"/>
          </p:cNvSpPr>
          <p:nvPr>
            <p:ph sz="half" idx="1"/>
          </p:nvPr>
        </p:nvSpPr>
        <p:spPr/>
        <p:txBody>
          <a:bodyPr>
            <a:normAutofit fontScale="92500" lnSpcReduction="10000"/>
          </a:bodyPr>
          <a:lstStyle/>
          <a:p>
            <a:r>
              <a:t>20 Aug</a:t>
            </a:r>
          </a:p>
          <a:p>
            <a:endParaRPr/>
          </a:p>
          <a:p>
            <a:r>
              <a:t>We’re excited to announce that Amazon Forecast Weather Index is now also available in the Asia-Pacific region. Weather Index can increase your forecasting accuracy, by automatically including the latest local weather information in your demand forecasts with one click and at no extra cost. Weather conditions influence consumer demand patterns, product merchandizing decisions, staffing requirements and energy consumption needs – however - acquiring, cleaning, and effectively using live weather information for demand forecasting is challenging and requires ongoing maintenance. With this launch, customers who have been using Weather Index in the US, Canada, South America and Europe, can now, with one click to your demand forecast, also include 14-day weather forecasts for Asia-Pacific.</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Amazon SageMaker Asynchronous Inference, a new inference option for workloads with large payload sizes and long inference processing times</a:t>
            </a:r>
          </a:p>
        </p:txBody>
      </p:sp>
      <p:sp>
        <p:nvSpPr>
          <p:cNvPr id="3" name="Content Placeholder 2"/>
          <p:cNvSpPr>
            <a:spLocks noGrp="1"/>
          </p:cNvSpPr>
          <p:nvPr>
            <p:ph sz="half" idx="1"/>
          </p:nvPr>
        </p:nvSpPr>
        <p:spPr/>
        <p:txBody>
          <a:bodyPr/>
          <a:lstStyle/>
          <a:p>
            <a:r>
              <a:t>20 Aug</a:t>
            </a:r>
          </a:p>
          <a:p>
            <a:endParaRPr/>
          </a:p>
          <a:p>
            <a:r>
              <a:t>We are introducing Amazon SageMaker Asynchronous Inference , a new inference option in Amazon SageMaker that queues incoming requests and processes them asynchronously. This option is ideal for inferences with large payload sizes (up to 1GB) and/or long processing times (up to 15 minutes) that need to be processed as requests arrive. Asynchronous inference enables you to save on costs by autoscaling the instance count to zero when there are no requests to process, so you only pay when your endpoint is processing requests.</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Hibernation adds support for C5d, M5d, and R5d Instances</a:t>
            </a:r>
          </a:p>
        </p:txBody>
      </p:sp>
      <p:sp>
        <p:nvSpPr>
          <p:cNvPr id="3" name="Content Placeholder 2"/>
          <p:cNvSpPr>
            <a:spLocks noGrp="1"/>
          </p:cNvSpPr>
          <p:nvPr>
            <p:ph sz="half" idx="1"/>
          </p:nvPr>
        </p:nvSpPr>
        <p:spPr/>
        <p:txBody>
          <a:bodyPr/>
          <a:lstStyle/>
          <a:p>
            <a:r>
              <a:t>19 Aug</a:t>
            </a:r>
          </a:p>
          <a:p>
            <a:endParaRPr/>
          </a:p>
          <a:p>
            <a:r>
              <a:t>You can now hibernate Amazon EC2 C5d, M5d, and R5d Instances. Hibernation allows you to pause your EC2 Instances and resume them at a later time, rather than fully terminating and restarting them. Resuming your instance lets your applications continue from where they left off so that you don’t have to restart your OS and application from scratch. Hibernation is useful for cases where rebuilding application state is time-consuming (e.g., developer desktops) or an application’s start-up steps can be prepared in advance of a scale-out.</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Cost Categories introduces Split Charge rules for allocation of shared costs</a:t>
            </a:r>
          </a:p>
        </p:txBody>
      </p:sp>
      <p:sp>
        <p:nvSpPr>
          <p:cNvPr id="3" name="Content Placeholder 2"/>
          <p:cNvSpPr>
            <a:spLocks noGrp="1"/>
          </p:cNvSpPr>
          <p:nvPr>
            <p:ph sz="half" idx="1"/>
          </p:nvPr>
        </p:nvSpPr>
        <p:spPr/>
        <p:txBody>
          <a:bodyPr>
            <a:normAutofit fontScale="92500"/>
          </a:bodyPr>
          <a:lstStyle/>
          <a:p>
            <a:r>
              <a:t>19 Aug</a:t>
            </a:r>
          </a:p>
          <a:p>
            <a:endParaRPr/>
          </a:p>
          <a:p>
            <a:r>
              <a:t>Starting today, you can split your shared costs within your AWS Cost Categories  by defining Split Charge rules. AWS Cost Categories enables you to group your cost and usage information into meaningful categories based on dimensions such as accounts, tags, services, charge types, and even other Cost Categories. Every organization has a set of costs that are shared by multiple teams, business units, or financial owners, for instance, data transfer costs, enterprise support, or operational costs of a central infrastructure team. These costs are not directly attributable to a single owner, and so cannot be categorized into a singular Cost Category value. With Split Charge rules, you can now equitably allocate these costs across your Cost Category values.</a:t>
            </a: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Redshift spatial performance enhancements and new spatial functions</a:t>
            </a:r>
          </a:p>
        </p:txBody>
      </p:sp>
      <p:sp>
        <p:nvSpPr>
          <p:cNvPr id="3" name="Content Placeholder 2"/>
          <p:cNvSpPr>
            <a:spLocks noGrp="1"/>
          </p:cNvSpPr>
          <p:nvPr>
            <p:ph sz="half" idx="1"/>
          </p:nvPr>
        </p:nvSpPr>
        <p:spPr/>
        <p:txBody>
          <a:bodyPr/>
          <a:lstStyle/>
          <a:p>
            <a:r>
              <a:t>19 Aug</a:t>
            </a:r>
          </a:p>
          <a:p>
            <a:endParaRPr/>
          </a:p>
          <a:p>
            <a:r>
              <a:t>Starting today, Amazon Redshift introduces spatial query performance enhancements, 3D/4D geometries, and new spatial functions in Amazon Redshift to improve processing of spatial data.</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Managed Services (AMS) Accelerate Operations Plan is now available in the AWS Europe (Stockholm) Region</a:t>
            </a:r>
          </a:p>
        </p:txBody>
      </p:sp>
      <p:sp>
        <p:nvSpPr>
          <p:cNvPr id="3" name="Content Placeholder 2"/>
          <p:cNvSpPr>
            <a:spLocks noGrp="1"/>
          </p:cNvSpPr>
          <p:nvPr>
            <p:ph sz="half" idx="1"/>
          </p:nvPr>
        </p:nvSpPr>
        <p:spPr/>
        <p:txBody>
          <a:bodyPr/>
          <a:lstStyle/>
          <a:p>
            <a:r>
              <a:t>19 Aug</a:t>
            </a:r>
          </a:p>
          <a:p>
            <a:endParaRPr/>
          </a:p>
          <a:p>
            <a:r>
              <a:t>Amazon Managed Services (AMS) Accelerate Operations Plan now supports the AWS Europe (Stockholm) region. AMS Accelerate provides operational services including monitoring, incident management, security, patch, and backup to help you with day-to-day operations management of AWS resources so that your teams can focus on business transformation in the cloud.</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regional launch of IoT Analytics in Asia Pacific (Mumbai) region</a:t>
            </a:r>
          </a:p>
        </p:txBody>
      </p:sp>
      <p:sp>
        <p:nvSpPr>
          <p:cNvPr id="3" name="Content Placeholder 2"/>
          <p:cNvSpPr>
            <a:spLocks noGrp="1"/>
          </p:cNvSpPr>
          <p:nvPr>
            <p:ph sz="half" idx="1"/>
          </p:nvPr>
        </p:nvSpPr>
        <p:spPr/>
        <p:txBody>
          <a:bodyPr/>
          <a:lstStyle/>
          <a:p>
            <a:r>
              <a:t>18 Aug</a:t>
            </a:r>
          </a:p>
          <a:p>
            <a:endParaRPr/>
          </a:p>
          <a:p>
            <a:r>
              <a:t>AWS IoT Analytics is now available in the Asia Pacific (Mumbai) AWS Region, extending the footprint to 9 AWS Regions.</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Customer Profiles is now HIPAA eligible</a:t>
            </a:r>
          </a:p>
        </p:txBody>
      </p:sp>
      <p:sp>
        <p:nvSpPr>
          <p:cNvPr id="3" name="Content Placeholder 2"/>
          <p:cNvSpPr>
            <a:spLocks noGrp="1"/>
          </p:cNvSpPr>
          <p:nvPr>
            <p:ph sz="half" idx="1"/>
          </p:nvPr>
        </p:nvSpPr>
        <p:spPr/>
        <p:txBody>
          <a:bodyPr>
            <a:normAutofit fontScale="92500" lnSpcReduction="10000"/>
          </a:bodyPr>
          <a:lstStyle/>
          <a:p>
            <a:r>
              <a:t>18 Aug</a:t>
            </a:r>
          </a:p>
          <a:p>
            <a:endParaRPr/>
          </a:p>
          <a:p>
            <a:r>
              <a:t>Amazon Connect Customer Profiles is now HIPAA  (Health Insurance Portability and Accountability Act) eligible. Customer Profiles is designed to automatically bring together customer information from multiple applications and surface it to a contact agent at the moment they begin interacting with a customer. HIPAA eligibility means you can use Customer Profiles to provide agents with the Protected Health Information (PHI) data they need to resolve your customers’ questions or inquiries. You can ingest data from electronic health records (EHR) systems such as Epic, Cerner, and Siemens using Amazon S3 data connectors between EHR systems and Customer Profiles. Amazon Connect has been HIPAA eligible since 2017. Amazon Connect Customer Profiles is also ISO, IRAP certified.</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Studio is now available in the AWS GovCloud (US) Regions</a:t>
            </a:r>
          </a:p>
        </p:txBody>
      </p:sp>
      <p:sp>
        <p:nvSpPr>
          <p:cNvPr id="3" name="Content Placeholder 2"/>
          <p:cNvSpPr>
            <a:spLocks noGrp="1"/>
          </p:cNvSpPr>
          <p:nvPr>
            <p:ph sz="half" idx="1"/>
          </p:nvPr>
        </p:nvSpPr>
        <p:spPr/>
        <p:txBody>
          <a:bodyPr/>
          <a:lstStyle/>
          <a:p>
            <a:r>
              <a:t>18 Aug</a:t>
            </a:r>
          </a:p>
          <a:p>
            <a:endParaRPr/>
          </a:p>
          <a:p>
            <a:r>
              <a:t>AWS Glue Studio is a new visual interface for AWS Glue that makes it easy for extract-transform-and-load (ETL) developers to author, run, and monitor AWS Glue ETL jobs. You can now use a simple visual interface as well as SQL to compose jobs that move and transform data, and then run them using AWS Glue’s serverless engine. You can use AWS Glue Studio’s job run dashboard to monitor ETL job execution and confirm that your jobs are operating as intended.</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Renews Windows Desktop Experience with Windows Server 2019 bundles and 64-bit Microsoft Office 2019</a:t>
            </a:r>
          </a:p>
        </p:txBody>
      </p:sp>
      <p:sp>
        <p:nvSpPr>
          <p:cNvPr id="3" name="Content Placeholder 2"/>
          <p:cNvSpPr>
            <a:spLocks noGrp="1"/>
          </p:cNvSpPr>
          <p:nvPr>
            <p:ph sz="half" idx="1"/>
          </p:nvPr>
        </p:nvSpPr>
        <p:spPr/>
        <p:txBody>
          <a:bodyPr/>
          <a:lstStyle/>
          <a:p>
            <a:r>
              <a:t>17 Aug</a:t>
            </a:r>
          </a:p>
          <a:p>
            <a:endParaRPr/>
          </a:p>
          <a:p>
            <a:r>
              <a:t>Amazon WorkSpaces now offers new bundles powered by Windows Server 2019, providing a Windows 10 desktop experience along with a 64-bit Microsoft Office 2019 Professional Plus bundle option. The feature brings a refreshed Windows 10 desktop experience, and enables customers to run applications that require recent Windows versions.</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Marketplace enhances ISV self-service authorization of Consulting Partners</a:t>
            </a:r>
          </a:p>
        </p:txBody>
      </p:sp>
      <p:sp>
        <p:nvSpPr>
          <p:cNvPr id="3" name="Content Placeholder 2"/>
          <p:cNvSpPr>
            <a:spLocks noGrp="1"/>
          </p:cNvSpPr>
          <p:nvPr>
            <p:ph sz="half" idx="1"/>
          </p:nvPr>
        </p:nvSpPr>
        <p:spPr/>
        <p:txBody>
          <a:bodyPr>
            <a:normAutofit lnSpcReduction="10000"/>
          </a:bodyPr>
          <a:lstStyle/>
          <a:p>
            <a:r>
              <a:t>17 Aug</a:t>
            </a:r>
          </a:p>
          <a:p>
            <a:endParaRPr/>
          </a:p>
          <a:p>
            <a:r>
              <a:t>Today, AWS Marketplace announced that Independent Software Vendors (ISVs) can now add custom product dimensions and specify End User License Agreement (EULA) when authorizing their preferred consulting partners to resell their software to AWS Marketplace buyers. This launch enables ISVs and consulting partners to work together more efficiently to create a Consulting Partner Private Offer (CPPO) , which allows customers to purchase software solutions in AWS Marketplace directly from consulting partners. ISVs and consulting partners can now further simplify their operations and accelerate delivery to their customers.</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release of AWS IoT Device SDK for Embedded C simplifies authentication and provisioning of IoT devices</a:t>
            </a:r>
          </a:p>
        </p:txBody>
      </p:sp>
      <p:sp>
        <p:nvSpPr>
          <p:cNvPr id="3" name="Content Placeholder 2"/>
          <p:cNvSpPr>
            <a:spLocks noGrp="1"/>
          </p:cNvSpPr>
          <p:nvPr>
            <p:ph sz="half" idx="1"/>
          </p:nvPr>
        </p:nvSpPr>
        <p:spPr/>
        <p:txBody>
          <a:bodyPr/>
          <a:lstStyle/>
          <a:p>
            <a:r>
              <a:t>17 Aug</a:t>
            </a:r>
          </a:p>
          <a:p>
            <a:endParaRPr/>
          </a:p>
          <a:p>
            <a:r>
              <a:t>AWS IoT Device SDK for Embedded C (C-SDK) release 202108.00 includes the AWS SigV4 library and a refactored AWS IoT Fleet Provisioning client library for IoT applications. This release makes it easier for developers using C-SDK to authenticate inbound API requests to AWS services from IoT devices running HTTP, and provision IoT devices that do not have unique certificates.</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Transfer Family expands compatibility for FTPS/FTP clients and increases limit for number of servers</a:t>
            </a:r>
          </a:p>
        </p:txBody>
      </p:sp>
      <p:sp>
        <p:nvSpPr>
          <p:cNvPr id="3" name="Content Placeholder 2"/>
          <p:cNvSpPr>
            <a:spLocks noGrp="1"/>
          </p:cNvSpPr>
          <p:nvPr>
            <p:ph sz="half" idx="1"/>
          </p:nvPr>
        </p:nvSpPr>
        <p:spPr/>
        <p:txBody>
          <a:bodyPr/>
          <a:lstStyle/>
          <a:p>
            <a:r>
              <a:t>17 Aug</a:t>
            </a:r>
          </a:p>
          <a:p>
            <a:endParaRPr/>
          </a:p>
          <a:p>
            <a:r>
              <a:t>AWS Transfer Family now supports configuring a client side externally accessible IP address on an FTPS/FTP server, allowing clients behind a firewall or a NAT router to connect to the server. Additionally, customers can now easily scale up their workloads by creating up to 50 servers within AWS Transfer Family in a single AWS account and region, a fivefold increase in the previously supported limit of 10 servers.</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customers can now use ED25519 keys for authentication during instance connectivity operations</a:t>
            </a:r>
          </a:p>
        </p:txBody>
      </p:sp>
      <p:sp>
        <p:nvSpPr>
          <p:cNvPr id="3" name="Content Placeholder 2"/>
          <p:cNvSpPr>
            <a:spLocks noGrp="1"/>
          </p:cNvSpPr>
          <p:nvPr>
            <p:ph sz="half" idx="1"/>
          </p:nvPr>
        </p:nvSpPr>
        <p:spPr/>
        <p:txBody>
          <a:bodyPr/>
          <a:lstStyle/>
          <a:p>
            <a:r>
              <a:t>17 Aug</a:t>
            </a:r>
          </a:p>
          <a:p>
            <a:endParaRPr/>
          </a:p>
          <a:p>
            <a:r>
              <a:t>Starting today, AWS customers can use ED25519 keys to prove their identity when connecting to EC2 instances. ED25519 is an elliptic curve based public-key system commonly used for SSH authentication.</a:t>
            </a: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Elastic Beanstalk supports Capacity Rebalancing for Amazon EC2 Spot Instances</a:t>
            </a:r>
          </a:p>
        </p:txBody>
      </p:sp>
      <p:sp>
        <p:nvSpPr>
          <p:cNvPr id="3" name="Content Placeholder 2"/>
          <p:cNvSpPr>
            <a:spLocks noGrp="1"/>
          </p:cNvSpPr>
          <p:nvPr>
            <p:ph sz="half" idx="1"/>
          </p:nvPr>
        </p:nvSpPr>
        <p:spPr/>
        <p:txBody>
          <a:bodyPr/>
          <a:lstStyle/>
          <a:p>
            <a:r>
              <a:t>16 Aug</a:t>
            </a:r>
          </a:p>
          <a:p>
            <a:endParaRPr/>
          </a:p>
          <a:p>
            <a:r>
              <a:t>AWS Elastic Beanstalk now supports Capacity Rebalancing for Amazon EC2 Auto Scaling groups (ASG) . This feature reduces Spot Instance  interruptions to customers’ applications. When enabled, ASG Capacity Rebalancing is designed to automatically attempt to replace Spot Instances in an Auto Scaling group before they are interrupted.</a:t>
            </a: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Detect multicollinearity and easily export results in a few clicks with Amazon SageMaker Data Wrangler</a:t>
            </a:r>
          </a:p>
        </p:txBody>
      </p:sp>
      <p:sp>
        <p:nvSpPr>
          <p:cNvPr id="3" name="Content Placeholder 2"/>
          <p:cNvSpPr>
            <a:spLocks noGrp="1"/>
          </p:cNvSpPr>
          <p:nvPr>
            <p:ph sz="half" idx="1"/>
          </p:nvPr>
        </p:nvSpPr>
        <p:spPr/>
        <p:txBody>
          <a:bodyPr>
            <a:normAutofit fontScale="92500"/>
          </a:bodyPr>
          <a:lstStyle/>
          <a:p>
            <a:r>
              <a:t>16 Aug</a:t>
            </a:r>
          </a:p>
          <a:p>
            <a:endParaRPr/>
          </a:p>
          <a:p>
            <a:r>
              <a:t>Amazon SageMaker Data Wrangler reduces the time it takes to aggregate and prepare data for machine learning (ML) from weeks to minutes. With SageMaker Data Wrangler, you can simplify the process of data preparation and feature engineering, and complete each step of the data preparation workflow, including data selection, cleansing, exploration, and visualization from a single visual interface. Starting today, you can use new capabilities of Amazon SageMaker Data Wrangler that make it easier and faster to prepare data for ML including: multicollinearity detection, easy export of results to Amazon S3, support for column delimiters, and the ability to reuse the same SageMaker Data Wrangler flow on different datasets of your choice.</a:t>
            </a: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Directory Service now supports smart card authentication with AD Connector for Amazon WorkSpaces in 5 additional AWS Regions</a:t>
            </a:r>
          </a:p>
        </p:txBody>
      </p:sp>
      <p:sp>
        <p:nvSpPr>
          <p:cNvPr id="3" name="Content Placeholder 2"/>
          <p:cNvSpPr>
            <a:spLocks noGrp="1"/>
          </p:cNvSpPr>
          <p:nvPr>
            <p:ph sz="half" idx="1"/>
          </p:nvPr>
        </p:nvSpPr>
        <p:spPr/>
        <p:txBody>
          <a:bodyPr>
            <a:normAutofit fontScale="92500"/>
          </a:bodyPr>
          <a:lstStyle/>
          <a:p>
            <a:r>
              <a:t>16 Aug</a:t>
            </a:r>
          </a:p>
          <a:p>
            <a:endParaRPr/>
          </a:p>
          <a:p>
            <a:r>
              <a:t>Starting today, you can use Common Access Card (CAC) and Personal Identity Verification (PIV) smart cards to authenticate users into Amazon WorkSpaces through your self-managed Active Directory (AD) and AWS Directory Service AD Connector in US East (Northern Virginia), US West (Oregon), Europe (Ireland), Asia Pacific (Tokyo), and Asia Pacific (Sydney) Regions. Additionally, you can now use the AWS Management Console to configure smart card authentication with AWS Directory Service. Previously, smart card authentication with AD Connector for Amazon WorkSpaces was only supported in the AWS GovCloud (US-West) Region and could only be configured through the AWS Directory Service API or CLI.</a:t>
            </a: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Automatic Minor Version Upgrades</a:t>
            </a:r>
          </a:p>
        </p:txBody>
      </p:sp>
      <p:sp>
        <p:nvSpPr>
          <p:cNvPr id="3" name="Content Placeholder 2"/>
          <p:cNvSpPr>
            <a:spLocks noGrp="1"/>
          </p:cNvSpPr>
          <p:nvPr>
            <p:ph sz="half" idx="1"/>
          </p:nvPr>
        </p:nvSpPr>
        <p:spPr/>
        <p:txBody>
          <a:bodyPr/>
          <a:lstStyle/>
          <a:p>
            <a:r>
              <a:t>16 Aug</a:t>
            </a:r>
          </a:p>
          <a:p>
            <a:endParaRPr/>
          </a:p>
          <a:p>
            <a:r>
              <a:t>Amazon RDS for SQL Server now includes enhancements to the Auto Minor Version Upgrade feature for Amazon RDS for SQL Server database instances. Auto Minor Version Upgrade is a feature that you can enable to have your database automatically upgraded when a new minor database engine version is available.</a:t>
            </a: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numerical format transformations</a:t>
            </a:r>
          </a:p>
        </p:txBody>
      </p:sp>
      <p:sp>
        <p:nvSpPr>
          <p:cNvPr id="3" name="Content Placeholder 2"/>
          <p:cNvSpPr>
            <a:spLocks noGrp="1"/>
          </p:cNvSpPr>
          <p:nvPr>
            <p:ph sz="half" idx="1"/>
          </p:nvPr>
        </p:nvSpPr>
        <p:spPr/>
        <p:txBody>
          <a:bodyPr/>
          <a:lstStyle/>
          <a:p>
            <a:r>
              <a:t>13 Aug</a:t>
            </a:r>
          </a:p>
          <a:p>
            <a:endParaRPr/>
          </a:p>
          <a:p>
            <a:r>
              <a:t>AWS Glue DataBrew, now supports numerical format transformations including setting decimal precision, customizing thousands separators, and abbreviating large values. With just a few clicks, customers can visually standardize numbers and customize their datasets for specific reporting use cases.</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S3 Transfer Manager Preview release in the AWS SDK for Java 2.x</a:t>
            </a:r>
          </a:p>
        </p:txBody>
      </p:sp>
      <p:sp>
        <p:nvSpPr>
          <p:cNvPr id="3" name="Content Placeholder 2"/>
          <p:cNvSpPr>
            <a:spLocks noGrp="1"/>
          </p:cNvSpPr>
          <p:nvPr>
            <p:ph sz="half" idx="1"/>
          </p:nvPr>
        </p:nvSpPr>
        <p:spPr/>
        <p:txBody>
          <a:bodyPr/>
          <a:lstStyle/>
          <a:p>
            <a:r>
              <a:t>13 Aug</a:t>
            </a:r>
          </a:p>
          <a:p>
            <a:endParaRPr/>
          </a:p>
          <a:p>
            <a:r>
              <a:t>The Transfer Manager for the Amazon Simple Storage Service (Amazon S3) is now available in the AWS SDK for 2.x  as a Preview release. Using S3 Transfer Manager’s simple API, you can now perform high-throughput uploads and downloads of objects to and from Amazon S3 and benefit from the enhanced throughput, performance, and reliability.</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writing prepared data into AWS Lake Formation-based AWS Glue Data Catalog S3 tables</a:t>
            </a:r>
          </a:p>
        </p:txBody>
      </p:sp>
      <p:sp>
        <p:nvSpPr>
          <p:cNvPr id="3" name="Content Placeholder 2"/>
          <p:cNvSpPr>
            <a:spLocks noGrp="1"/>
          </p:cNvSpPr>
          <p:nvPr>
            <p:ph sz="half" idx="1"/>
          </p:nvPr>
        </p:nvSpPr>
        <p:spPr/>
        <p:txBody>
          <a:bodyPr/>
          <a:lstStyle/>
          <a:p>
            <a:r>
              <a:t>13 Aug</a:t>
            </a:r>
          </a:p>
          <a:p>
            <a:endParaRPr/>
          </a:p>
          <a:p>
            <a:r>
              <a:t>AWS Glue DataBrew now supports writing prepared data from recipe jobs into AWS Lake Formation-based AWS Glue Data Catalog S3 tables. With this feature, DataBrew automatically adopts the existing access permissions and security defined on the AWS Lake Formation-based Glue Data Catalog table and its associated Amazon S3 location.</a:t>
            </a: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 Family now enables you to remotely monitor and operate your connected Snowcone devices</a:t>
            </a:r>
          </a:p>
        </p:txBody>
      </p:sp>
      <p:sp>
        <p:nvSpPr>
          <p:cNvPr id="3" name="Content Placeholder 2"/>
          <p:cNvSpPr>
            <a:spLocks noGrp="1"/>
          </p:cNvSpPr>
          <p:nvPr>
            <p:ph sz="half" idx="1"/>
          </p:nvPr>
        </p:nvSpPr>
        <p:spPr/>
        <p:txBody>
          <a:bodyPr/>
          <a:lstStyle/>
          <a:p>
            <a:r>
              <a:t>12 Aug</a:t>
            </a:r>
          </a:p>
          <a:p>
            <a:endParaRPr/>
          </a:p>
          <a:p>
            <a:r>
              <a:t>AWS Snowcone customers can now remotely monitor and operate their devices from AWS OpsHub or the AWS Command Line Interface (CLI). This enables customers to manage one or thousands of Snowcone devices, even when they are geographically dispersed. Customers can remotely view a central dashboard to see whether a device is online or unlocked and monitor metrics such as storage and compute capacity. Additionally, customers can now remotely unlock or reboot devices in the field that have a network connection.</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logical conditions as transformations</a:t>
            </a:r>
          </a:p>
        </p:txBody>
      </p:sp>
      <p:sp>
        <p:nvSpPr>
          <p:cNvPr id="3" name="Content Placeholder 2"/>
          <p:cNvSpPr>
            <a:spLocks noGrp="1"/>
          </p:cNvSpPr>
          <p:nvPr>
            <p:ph sz="half" idx="1"/>
          </p:nvPr>
        </p:nvSpPr>
        <p:spPr/>
        <p:txBody>
          <a:bodyPr/>
          <a:lstStyle/>
          <a:p>
            <a:r>
              <a:t>12 Aug</a:t>
            </a:r>
          </a:p>
          <a:p>
            <a:endParaRPr/>
          </a:p>
          <a:p>
            <a:r>
              <a:t>With AWS Glue DataBrew, customers can now use IF, AND, OR, and CASE logical conditions to create transformations based on functions. With this feature, customers have the flexibility to use custom values or reference other columns within the expressions, and can create adaptable transformations for their specific use cases.</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writing prepared data into Tableau Hyper format</a:t>
            </a:r>
          </a:p>
        </p:txBody>
      </p:sp>
      <p:sp>
        <p:nvSpPr>
          <p:cNvPr id="3" name="Content Placeholder 2"/>
          <p:cNvSpPr>
            <a:spLocks noGrp="1"/>
          </p:cNvSpPr>
          <p:nvPr>
            <p:ph sz="half" idx="1"/>
          </p:nvPr>
        </p:nvSpPr>
        <p:spPr/>
        <p:txBody>
          <a:bodyPr/>
          <a:lstStyle/>
          <a:p>
            <a:r>
              <a:t>12 Aug</a:t>
            </a:r>
          </a:p>
          <a:p>
            <a:endParaRPr/>
          </a:p>
          <a:p>
            <a:r>
              <a:t>AWS Glue DataBrew recipe jobs now support Tableau Hyper as a data output format, allowing customers to easily take the prepared datasets from Amazon S3 and upload them into Tableau for further visualization and analysis. For a list of supported output formats, please see the AWS Glue DataBrew output formats table .</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AWS Innovation Sandbox</a:t>
            </a:r>
          </a:p>
        </p:txBody>
      </p:sp>
      <p:sp>
        <p:nvSpPr>
          <p:cNvPr id="3" name="Content Placeholder 2"/>
          <p:cNvSpPr>
            <a:spLocks noGrp="1"/>
          </p:cNvSpPr>
          <p:nvPr>
            <p:ph sz="half" idx="1"/>
          </p:nvPr>
        </p:nvSpPr>
        <p:spPr/>
        <p:txBody>
          <a:bodyPr/>
          <a:lstStyle/>
          <a:p>
            <a:r>
              <a:t>12 Aug</a:t>
            </a:r>
          </a:p>
          <a:p>
            <a:endParaRPr/>
          </a:p>
          <a:p>
            <a:r>
              <a:t>We are delighted to announce the addition of AWS Innovation Sandbox to the AWS Solutions Implementations portfolio.</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Change Manager now supports AWS IAM roles as approvers</a:t>
            </a:r>
          </a:p>
        </p:txBody>
      </p:sp>
      <p:sp>
        <p:nvSpPr>
          <p:cNvPr id="3" name="Content Placeholder 2"/>
          <p:cNvSpPr>
            <a:spLocks noGrp="1"/>
          </p:cNvSpPr>
          <p:nvPr>
            <p:ph sz="half" idx="1"/>
          </p:nvPr>
        </p:nvSpPr>
        <p:spPr/>
        <p:txBody>
          <a:bodyPr/>
          <a:lstStyle/>
          <a:p>
            <a:r>
              <a:t>12 Aug</a:t>
            </a:r>
          </a:p>
          <a:p>
            <a:endParaRPr/>
          </a:p>
          <a:p>
            <a:r>
              <a:t>Change Manager, a capability of AWS Systems Manager, now allows you to specify AWS Identity and Access Management (IAM) role as approvers for change requests and change templates. Change Manager simplifies the way you can request, approve, implement, and report on operational changes to your application configuration and infrastructure on AWS and on-premises. Now, you have more flexibility to leverage your existing identity provider for change management practices.</a:t>
            </a: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CodeBuild Supports Publicly Viewable Build Results</a:t>
            </a:r>
          </a:p>
        </p:txBody>
      </p:sp>
      <p:sp>
        <p:nvSpPr>
          <p:cNvPr id="3" name="Content Placeholder 2"/>
          <p:cNvSpPr>
            <a:spLocks noGrp="1"/>
          </p:cNvSpPr>
          <p:nvPr>
            <p:ph sz="half" idx="1"/>
          </p:nvPr>
        </p:nvSpPr>
        <p:spPr/>
        <p:txBody>
          <a:bodyPr/>
          <a:lstStyle/>
          <a:p>
            <a:r>
              <a:t>12 Aug</a:t>
            </a:r>
          </a:p>
          <a:p>
            <a:endParaRPr/>
          </a:p>
          <a:p>
            <a:r>
              <a:t>AWS CodeBuild project owners are now able make build logs and artifacts publicly accessible to people who are not logged into the AWS Console. This simplifies how CodeBuild project owners are able to collaborate with open source contributors because project owners don’t need to administer AWS account access for each contributor.</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now provides an improved chatbot building experience, powered by Amazon Lex V2 console and APIs</a:t>
            </a:r>
          </a:p>
        </p:txBody>
      </p:sp>
      <p:sp>
        <p:nvSpPr>
          <p:cNvPr id="3" name="Content Placeholder 2"/>
          <p:cNvSpPr>
            <a:spLocks noGrp="1"/>
          </p:cNvSpPr>
          <p:nvPr>
            <p:ph sz="half" idx="1"/>
          </p:nvPr>
        </p:nvSpPr>
        <p:spPr/>
        <p:txBody>
          <a:bodyPr>
            <a:normAutofit fontScale="92500" lnSpcReduction="20000"/>
          </a:bodyPr>
          <a:lstStyle/>
          <a:p>
            <a:r>
              <a:t>12 Aug</a:t>
            </a:r>
          </a:p>
          <a:p>
            <a:endParaRPr/>
          </a:p>
          <a:p>
            <a:r>
              <a:t>Amazon Connect now makes it easier for customers to build, deploy, and manage chatbots using the enhanced Amazon Lex V2 console and APIs. Amazon Lex allows customers to create intelligent chatbots that turn their Amazon Connect contact flows into natural conversations. Amazon Lex V2 console and API enhancements include: 1) support for multiple languages in a simple bot and the ability to manage them as a single resource through the life cycle (build, test, and deploy), 2) ability for end-users to request a bot to wait (“Can you wait while I get my credit card?”), and interrupt a bot in mid-sentence, 3) simplified bot versioning, and 4) new productivity features such as support for saving partially completed bots, bulk upload of sample utterances, and navigation via a dynamic ‘Conversation flow’ for more flexibility and control in the bot design process. For more details on Amazon Lex V2, see the “Amazon Lex introduces an enhanced console experience and V2 APIs” blog post.</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PostgreSQL 14 Beta 2 Now Available in Amazon RDS Database Preview Environment</a:t>
            </a:r>
          </a:p>
        </p:txBody>
      </p:sp>
      <p:sp>
        <p:nvSpPr>
          <p:cNvPr id="3" name="Content Placeholder 2"/>
          <p:cNvSpPr>
            <a:spLocks noGrp="1"/>
          </p:cNvSpPr>
          <p:nvPr>
            <p:ph sz="half" idx="1"/>
          </p:nvPr>
        </p:nvSpPr>
        <p:spPr/>
        <p:txBody>
          <a:bodyPr/>
          <a:lstStyle/>
          <a:p>
            <a:r>
              <a:t>11 Aug</a:t>
            </a:r>
          </a:p>
          <a:p>
            <a:endParaRPr/>
          </a:p>
          <a:p>
            <a:r>
              <a:t>PostgreSQL 14 Beta 2 is now available in the Amazon RDS Database Preview Environment, allowing you to test the beta version of PostgreSQL 14 on Amazon Relational Database Service (Amazon RDS).</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 Family now supports ML inference at the edge with Amazon SageMaker Edge Manager and AWS IoT Greengrass</a:t>
            </a:r>
          </a:p>
        </p:txBody>
      </p:sp>
      <p:sp>
        <p:nvSpPr>
          <p:cNvPr id="3" name="Content Placeholder 2"/>
          <p:cNvSpPr>
            <a:spLocks noGrp="1"/>
          </p:cNvSpPr>
          <p:nvPr>
            <p:ph sz="half" idx="1"/>
          </p:nvPr>
        </p:nvSpPr>
        <p:spPr/>
        <p:txBody>
          <a:bodyPr/>
          <a:lstStyle/>
          <a:p>
            <a:r>
              <a:t>11 Aug</a:t>
            </a:r>
          </a:p>
          <a:p>
            <a:endParaRPr/>
          </a:p>
          <a:p>
            <a:r>
              <a:t>AWS Snow Family now supports AWS IoT Greengrass version 2.0 or higher, which makes it easier for you to build IoT solutions and run ML inference on Snowball Edge and Snowcone devices. With support for AWS IoT Greengrass on Snow, you can now use Amazon SageMaker Edge Manager to optimize, secure, monitor, and maintain ML models on fleets of Snowball Edge devices.</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Snowball Edge Storage Optimized devices now supports high performance NFS data transfer</a:t>
            </a:r>
          </a:p>
        </p:txBody>
      </p:sp>
      <p:sp>
        <p:nvSpPr>
          <p:cNvPr id="3" name="Content Placeholder 2"/>
          <p:cNvSpPr>
            <a:spLocks noGrp="1"/>
          </p:cNvSpPr>
          <p:nvPr>
            <p:ph sz="half" idx="1"/>
          </p:nvPr>
        </p:nvSpPr>
        <p:spPr/>
        <p:txBody>
          <a:bodyPr/>
          <a:lstStyle/>
          <a:p>
            <a:r>
              <a:t>11 Aug</a:t>
            </a:r>
          </a:p>
          <a:p>
            <a:endParaRPr/>
          </a:p>
          <a:p>
            <a:r>
              <a:t>AWS Snowball Edge (SBE) Storage Optimized devices now support high performance Network File System (NFS) data transfer operations. With this launch, customers can now transfer up to 80TBs of data onto Snowball Edge Storage Optimized devices through both file and object interfaces. The file interface exposes a Network File System (NFS) mount point for each bucket on your AWS Snowball Edge Storage Optimized device. After mounting the file share, you can drag and drop files from your computer into Amazon S3 buckets on the Snowball Edge device.</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SiteWise announces support for new Timestamp function, PreTrigger function and ability to write nested expressions within aggregation functions</a:t>
            </a:r>
          </a:p>
        </p:txBody>
      </p:sp>
      <p:sp>
        <p:nvSpPr>
          <p:cNvPr id="3" name="Content Placeholder 2"/>
          <p:cNvSpPr>
            <a:spLocks noGrp="1"/>
          </p:cNvSpPr>
          <p:nvPr>
            <p:ph sz="half" idx="1"/>
          </p:nvPr>
        </p:nvSpPr>
        <p:spPr/>
        <p:txBody>
          <a:bodyPr/>
          <a:lstStyle/>
          <a:p>
            <a:r>
              <a:t>11 Aug</a:t>
            </a:r>
          </a:p>
          <a:p>
            <a:endParaRPr/>
          </a:p>
          <a:p>
            <a:r>
              <a:t>AWS IoT SiteWise now supports three new enhancements to AWS IoT SiteWise formula expressions to allow users greater flexibility in monitoring their IoT assets in near real-time.</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Chime SDK meetings now support live transcription with Amazon Transcribe and Amazon Transcribe Medical</a:t>
            </a:r>
          </a:p>
        </p:txBody>
      </p:sp>
      <p:sp>
        <p:nvSpPr>
          <p:cNvPr id="3" name="Content Placeholder 2"/>
          <p:cNvSpPr>
            <a:spLocks noGrp="1"/>
          </p:cNvSpPr>
          <p:nvPr>
            <p:ph sz="half" idx="1"/>
          </p:nvPr>
        </p:nvSpPr>
        <p:spPr/>
        <p:txBody>
          <a:bodyPr/>
          <a:lstStyle/>
          <a:p>
            <a:r>
              <a:t>11 Aug</a:t>
            </a:r>
          </a:p>
          <a:p>
            <a:endParaRPr/>
          </a:p>
          <a:p>
            <a:r>
              <a:t>The Amazon Chime SDK lets developers add real-time audio, video, and screen share to their web and mobile applications. Starting today, developers can overlay subtitles, build a transcript, or perform real-time content analysis with live audio transcription powered by Amazon Transcribe or Amazon Transcribe Medical. </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Hosting announces support for Next.js version 11</a:t>
            </a:r>
          </a:p>
        </p:txBody>
      </p:sp>
      <p:sp>
        <p:nvSpPr>
          <p:cNvPr id="3" name="Content Placeholder 2"/>
          <p:cNvSpPr>
            <a:spLocks noGrp="1"/>
          </p:cNvSpPr>
          <p:nvPr>
            <p:ph sz="half" idx="1"/>
          </p:nvPr>
        </p:nvSpPr>
        <p:spPr/>
        <p:txBody>
          <a:bodyPr/>
          <a:lstStyle/>
          <a:p>
            <a:r>
              <a:t>10 Aug</a:t>
            </a:r>
          </a:p>
          <a:p>
            <a:endParaRPr/>
          </a:p>
          <a:p>
            <a:r>
              <a:t>AWS Amplify Hosting now supports deploying and hosting server-side rendered (SSR) apps built with version 11 of Next.js with zero configuration. Amplify Hosting supports all the latest Next.js features including incremental static regeneration, automatic image optimization, and script optimization.</a:t>
            </a: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interactive EC2 Serial Console is now available in more commercial regions and AWS GovCloud (US) regions</a:t>
            </a:r>
          </a:p>
        </p:txBody>
      </p:sp>
      <p:sp>
        <p:nvSpPr>
          <p:cNvPr id="3" name="Content Placeholder 2"/>
          <p:cNvSpPr>
            <a:spLocks noGrp="1"/>
          </p:cNvSpPr>
          <p:nvPr>
            <p:ph sz="half" idx="1"/>
          </p:nvPr>
        </p:nvSpPr>
        <p:spPr/>
        <p:txBody>
          <a:bodyPr/>
          <a:lstStyle/>
          <a:p>
            <a:r>
              <a:t>10 Aug</a:t>
            </a:r>
          </a:p>
          <a:p>
            <a:endParaRPr/>
          </a:p>
          <a:p>
            <a:r>
              <a:t>Starting today, interactive EC2 Serial Console is available in AWS GovCloud (US), us-west-1, ca-central-1, eu-west-2 , eu-west-3 , ap-northeast-2 , ap-south-1 , sa-east-1 and eu-north-1 regions.</a:t>
            </a: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introduces one-click model inference and fine-tuning for Hugging Face models in Amazon SageMaker JumpStart</a:t>
            </a:r>
          </a:p>
        </p:txBody>
      </p:sp>
      <p:sp>
        <p:nvSpPr>
          <p:cNvPr id="3" name="Content Placeholder 2"/>
          <p:cNvSpPr>
            <a:spLocks noGrp="1"/>
          </p:cNvSpPr>
          <p:nvPr>
            <p:ph sz="half" idx="1"/>
          </p:nvPr>
        </p:nvSpPr>
        <p:spPr/>
        <p:txBody>
          <a:bodyPr>
            <a:normAutofit fontScale="85000" lnSpcReduction="20000"/>
          </a:bodyPr>
          <a:lstStyle/>
          <a:p>
            <a:r>
              <a:t>10 Aug</a:t>
            </a:r>
          </a:p>
          <a:p>
            <a:endParaRPr/>
          </a:p>
          <a:p>
            <a:r>
              <a:t>Building on the Hugging Face deep learning containers released earlier this year, Amazon SageMaker is now making it even easier to deploy and fine-tune the state-of-the-art natural language processing models (NLP) with just a few clicks using Amazon SageMaker JumpStart. Amazon SageMaker JumpStart helps you quickly and easily get started with machine learning (ML). SageMaker JumpStart provides a set of solutions for the most common use cases that can be deployed readily with just a few clicks, and supports one-click deployment and fine-tuning of popular open source models such as natural language processing, object detection, and image classification models. These solutions are fully customizable and showcase the use of AWS CloudFormation templates and reference architectures so you can accelerate your ML journey. SageMaker JumpStart is also integrated in Amazon SageMaker Studio, our fully integrated development environment (IDE) for ML, making it intuitive to discover models, solutions, and more.</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Now enable auto-approval of change requests and expedite changes with AWS Systems Manager Change Manager</a:t>
            </a:r>
          </a:p>
        </p:txBody>
      </p:sp>
      <p:sp>
        <p:nvSpPr>
          <p:cNvPr id="3" name="Content Placeholder 2"/>
          <p:cNvSpPr>
            <a:spLocks noGrp="1"/>
          </p:cNvSpPr>
          <p:nvPr>
            <p:ph sz="half" idx="1"/>
          </p:nvPr>
        </p:nvSpPr>
        <p:spPr/>
        <p:txBody>
          <a:bodyPr/>
          <a:lstStyle/>
          <a:p>
            <a:r>
              <a:t>09 Aug</a:t>
            </a:r>
          </a:p>
          <a:p>
            <a:endParaRPr/>
          </a:p>
          <a:p>
            <a:r>
              <a:t>Change Manager, a capability of AWS Systems Manager, now allows administrators to auto-approve known and less risky changes through pre-configured change templates thereby eliminating the approval step and expediting changes.</a:t>
            </a: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WAF now offers managed rule group versioning</a:t>
            </a:r>
          </a:p>
        </p:txBody>
      </p:sp>
      <p:sp>
        <p:nvSpPr>
          <p:cNvPr id="3" name="Content Placeholder 2"/>
          <p:cNvSpPr>
            <a:spLocks noGrp="1"/>
          </p:cNvSpPr>
          <p:nvPr>
            <p:ph sz="half" idx="1"/>
          </p:nvPr>
        </p:nvSpPr>
        <p:spPr/>
        <p:txBody>
          <a:bodyPr>
            <a:normAutofit lnSpcReduction="10000"/>
          </a:bodyPr>
          <a:lstStyle/>
          <a:p>
            <a:r>
              <a:t>09 Aug</a:t>
            </a:r>
          </a:p>
          <a:p>
            <a:endParaRPr/>
          </a:p>
          <a:p>
            <a:r>
              <a:t>AWS WAF now enables you to select a specific version of a managed rule group within your web ACL, giving you the ability to test new rule updates safely and roll back to previously tested versions. When using a versioned managed rule group, you control when new rule updates are applied to your traffic. By default, you will continue to automatically receive rule updates to your managed rule group. You can change this behavior by manually selecting a version, enabling you to pause automatic updates or go back to a previous version. Once you select a specific version, you will no longer receive automatic updates but will remain on the selected version until it reaches end of life.</a:t>
            </a: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OpsCenter launches operational insights to identify duplicate items and event sources with unusual activity</a:t>
            </a:r>
          </a:p>
        </p:txBody>
      </p:sp>
      <p:sp>
        <p:nvSpPr>
          <p:cNvPr id="3" name="Content Placeholder 2"/>
          <p:cNvSpPr>
            <a:spLocks noGrp="1"/>
          </p:cNvSpPr>
          <p:nvPr>
            <p:ph sz="half" idx="1"/>
          </p:nvPr>
        </p:nvSpPr>
        <p:spPr/>
        <p:txBody>
          <a:bodyPr>
            <a:normAutofit lnSpcReduction="10000"/>
          </a:bodyPr>
          <a:lstStyle/>
          <a:p>
            <a:r>
              <a:t>09 Aug</a:t>
            </a:r>
          </a:p>
          <a:p>
            <a:endParaRPr/>
          </a:p>
          <a:p>
            <a:r>
              <a:t>Starting today, OpsCenter, a capability of AWS Systems Manager, automatically analyzes operational items in customers’ accounts. Then, OpsCenter generates operational insights when it detects duplicate operational items or a large number of operational items created by the same event source. For each operational insight, OpsCenter recommends actions that operators and IT professionals can take to address the underlying issue. This improves operational efficiency by reducing alert noise, so that you can focus on issues that matter most. By using OpsCenter, you can track and resolve operational items related to AWS resources in a central place, helping to reduce the time to issue resolution.</a:t>
            </a: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Train custom entity recognition models with fewer training documents using Amazon Comprehend</a:t>
            </a:r>
          </a:p>
        </p:txBody>
      </p:sp>
      <p:sp>
        <p:nvSpPr>
          <p:cNvPr id="3" name="Content Placeholder 2"/>
          <p:cNvSpPr>
            <a:spLocks noGrp="1"/>
          </p:cNvSpPr>
          <p:nvPr>
            <p:ph sz="half" idx="1"/>
          </p:nvPr>
        </p:nvSpPr>
        <p:spPr/>
        <p:txBody>
          <a:bodyPr>
            <a:normAutofit fontScale="85000" lnSpcReduction="20000"/>
          </a:bodyPr>
          <a:lstStyle/>
          <a:p>
            <a:r>
              <a:t>09 Aug</a:t>
            </a:r>
          </a:p>
          <a:p>
            <a:endParaRPr/>
          </a:p>
          <a:p>
            <a:r>
              <a:t>Amazon Comprehend is a natural language processing (NLP) service that uses machine learning to analyze text documents and identify insights such as sentiment, entities, and topics in text. Today, we are updating our custom entity recognition models so that you can train models with fewer training documents. Custom entity recognition extends the capability of Amazon Comprehend by enabling you to identify new entity types not supported as one of the preset generic entity types. This means that in addition to identifying the entity types from the Detect Entities API such as LOCATION or DATE, PERSON, you can analyze documents and extract entities like PRODUCT_CODE, EMPLOYEE_ID, CONTRACTOR_NAME or business-specific entities that you define and that fit your particular needs. Starting today, we have reduced the minimum required training documents by 50%. This means, you can train custom models with as few as 100 annotations per entity type from 250 documents. If you have more training documents, you can even expect to get better results from the newer models than before!</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announces the availability of quota information through Service Quotas</a:t>
            </a:r>
          </a:p>
        </p:txBody>
      </p:sp>
      <p:sp>
        <p:nvSpPr>
          <p:cNvPr id="3" name="Content Placeholder 2"/>
          <p:cNvSpPr>
            <a:spLocks noGrp="1"/>
          </p:cNvSpPr>
          <p:nvPr>
            <p:ph sz="half" idx="1"/>
          </p:nvPr>
        </p:nvSpPr>
        <p:spPr/>
        <p:txBody>
          <a:bodyPr/>
          <a:lstStyle/>
          <a:p>
            <a:r>
              <a:t>09 Aug</a:t>
            </a:r>
          </a:p>
          <a:p>
            <a:endParaRPr/>
          </a:p>
          <a:p>
            <a:r>
              <a:t>Amazon WorkSpaces now allows users to view default quota and applied quota information through Service Quotas .</a:t>
            </a: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Video segment detection now supports four new segment types, improves accuracy</a:t>
            </a:r>
          </a:p>
        </p:txBody>
      </p:sp>
      <p:sp>
        <p:nvSpPr>
          <p:cNvPr id="3" name="Content Placeholder 2"/>
          <p:cNvSpPr>
            <a:spLocks noGrp="1"/>
          </p:cNvSpPr>
          <p:nvPr>
            <p:ph sz="half" idx="1"/>
          </p:nvPr>
        </p:nvSpPr>
        <p:spPr/>
        <p:txBody>
          <a:bodyPr>
            <a:normAutofit fontScale="92500"/>
          </a:bodyPr>
          <a:lstStyle/>
          <a:p>
            <a:r>
              <a:t>06 Aug</a:t>
            </a:r>
          </a:p>
          <a:p>
            <a:endParaRPr/>
          </a:p>
          <a:p>
            <a:r>
              <a:t>Amazon Rekognition Video is a machine learning (ML) based service that can analyze videos to detect objects, people, faces, text, scenes, activities, and inappropriate content. Video segment detection  makes it easy for media companies to streamline common operational tasks by automatically detecting frame-accurate silent black frames, end credits, color bars, and shot changes in video files. Starting today, customers can detect four additional segment types – opening credits, content segments, slates, and studio logos. In addition, customers get improved accuracy for shot detection and complex end credit sequences, along with new filtering options for black frame detection to handle varied file quality and color ranges. </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Contact Lens for Amazon Connect can now categorize contacts with contact attributes and integrates with Tasks and EventBridge</a:t>
            </a:r>
          </a:p>
        </p:txBody>
      </p:sp>
      <p:sp>
        <p:nvSpPr>
          <p:cNvPr id="3" name="Content Placeholder 2"/>
          <p:cNvSpPr>
            <a:spLocks noGrp="1"/>
          </p:cNvSpPr>
          <p:nvPr>
            <p:ph sz="half" idx="1"/>
          </p:nvPr>
        </p:nvSpPr>
        <p:spPr/>
        <p:txBody>
          <a:bodyPr/>
          <a:lstStyle/>
          <a:p>
            <a:r>
              <a:t>06 Aug</a:t>
            </a:r>
          </a:p>
          <a:p>
            <a:endParaRPr/>
          </a:p>
          <a:p>
            <a:r>
              <a:t>Contact Center supervisors can now use Rules in Amazon Connect to categorize contacts with more granularity. You can also generate an Amazon Connect Task for a supervisor to further investigate customer experience issues and follow-up, or configure Rules to automatically generate an EventBridge event.</a:t>
            </a: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is now available in the AWS Asia Pacific (Osaka) region</a:t>
            </a:r>
          </a:p>
        </p:txBody>
      </p:sp>
      <p:sp>
        <p:nvSpPr>
          <p:cNvPr id="3" name="Content Placeholder 2"/>
          <p:cNvSpPr>
            <a:spLocks noGrp="1"/>
          </p:cNvSpPr>
          <p:nvPr>
            <p:ph sz="half" idx="1"/>
          </p:nvPr>
        </p:nvSpPr>
        <p:spPr/>
        <p:txBody>
          <a:bodyPr/>
          <a:lstStyle/>
          <a:p>
            <a:r>
              <a:t>06 Aug</a:t>
            </a:r>
          </a:p>
          <a:p>
            <a:endParaRPr/>
          </a:p>
          <a:p>
            <a:r>
              <a:t>Amazon Athena is an interactive query service that makes it easy to analyze data in Amazon S3 using standard SQL. Athena is serverless, so there is no infrastructure to manage, and you pay only for the queries that you run.</a:t>
            </a: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on Outposts now supports sharing across multiple accounts</a:t>
            </a:r>
          </a:p>
        </p:txBody>
      </p:sp>
      <p:sp>
        <p:nvSpPr>
          <p:cNvPr id="3" name="Content Placeholder 2"/>
          <p:cNvSpPr>
            <a:spLocks noGrp="1"/>
          </p:cNvSpPr>
          <p:nvPr>
            <p:ph sz="half" idx="1"/>
          </p:nvPr>
        </p:nvSpPr>
        <p:spPr/>
        <p:txBody>
          <a:bodyPr/>
          <a:lstStyle/>
          <a:p>
            <a:r>
              <a:t>05 Aug</a:t>
            </a:r>
          </a:p>
          <a:p>
            <a:endParaRPr/>
          </a:p>
          <a:p>
            <a:r>
              <a:t>Amazon S3 on Outposts now supports sharing of S3 capacity across multiple accounts within an organization using AWS Resource Access Manager (RAM). Multiple teams within your organization can now create and manage buckets, access points, and endpoints on S3 on Outposts.</a:t>
            </a: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FSx is now available in the AWS Asia Pacific (Osaka) Region</a:t>
            </a:r>
          </a:p>
        </p:txBody>
      </p:sp>
      <p:sp>
        <p:nvSpPr>
          <p:cNvPr id="3" name="Content Placeholder 2"/>
          <p:cNvSpPr>
            <a:spLocks noGrp="1"/>
          </p:cNvSpPr>
          <p:nvPr>
            <p:ph sz="half" idx="1"/>
          </p:nvPr>
        </p:nvSpPr>
        <p:spPr/>
        <p:txBody>
          <a:bodyPr/>
          <a:lstStyle/>
          <a:p>
            <a:r>
              <a:t>05 Aug</a:t>
            </a:r>
          </a:p>
          <a:p>
            <a:endParaRPr/>
          </a:p>
          <a:p>
            <a:r>
              <a:t>Amazon FSx, a fully managed service that makes it easy to launch and run feature-rich and highly-performant file systems, is now available in the AWS Asia Pacific (Osaka) Region. With Amazon FSx, customers can leverage the rich feature sets and fast performance of widely-used open source and commercially-licensed file systems, while avoiding time-consuming administrative tasks like hardware provisioning, software configuration, patching, and backups.</a:t>
            </a: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now supports up to 10 GB of memory and 6 vCPU cores in AWS GovCloud (US) Regions</a:t>
            </a:r>
          </a:p>
        </p:txBody>
      </p:sp>
      <p:sp>
        <p:nvSpPr>
          <p:cNvPr id="3" name="Content Placeholder 2"/>
          <p:cNvSpPr>
            <a:spLocks noGrp="1"/>
          </p:cNvSpPr>
          <p:nvPr>
            <p:ph sz="half" idx="1"/>
          </p:nvPr>
        </p:nvSpPr>
        <p:spPr/>
        <p:txBody>
          <a:bodyPr/>
          <a:lstStyle/>
          <a:p>
            <a:r>
              <a:t>05 Aug</a:t>
            </a:r>
          </a:p>
          <a:p>
            <a:endParaRPr/>
          </a:p>
          <a:p>
            <a:r>
              <a:t>AWS Lambda customers in the AWS GovCloud (US) Regions can now provision Lambda functions with a maximum of 10,240 MB (10 GB) of memory, a more than 3x increase compared to the previous limit of 3,008 MB. With larger functions, customers can now more easily use AWS Lambda for workloads such as batch, extract, transform, load (ETL) jobs, and media processing applications that need to perform memory intensive operations at scale.</a:t>
            </a: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Optimize personalized recommendations for the business metric of your choice with Amazon Personalize</a:t>
            </a:r>
          </a:p>
        </p:txBody>
      </p:sp>
      <p:sp>
        <p:nvSpPr>
          <p:cNvPr id="3" name="Content Placeholder 2"/>
          <p:cNvSpPr>
            <a:spLocks noGrp="1"/>
          </p:cNvSpPr>
          <p:nvPr>
            <p:ph sz="half" idx="1"/>
          </p:nvPr>
        </p:nvSpPr>
        <p:spPr/>
        <p:txBody>
          <a:bodyPr/>
          <a:lstStyle/>
          <a:p>
            <a:r>
              <a:t>05 Aug</a:t>
            </a:r>
          </a:p>
          <a:p>
            <a:endParaRPr/>
          </a:p>
          <a:p>
            <a:r>
              <a:t>Amazon Personalize now enables you to optimize personalized recommendations for a business metric of your choice, in addition to improving relevance of recommendations for your users. You can define a business metric such as revenue, profit margin, video watch time, or any other numerical attribute of your item catalog to optimize your recommendations. Amazon Personalize automatically learns what is relevant to your users, considers the business metric you’ve defined, and recommends the products or content to your users that benefit your overall business goals. </a:t>
            </a: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AWS Wavelength Zones in Chicago, Houston, and Phoenix</a:t>
            </a:r>
          </a:p>
        </p:txBody>
      </p:sp>
      <p:sp>
        <p:nvSpPr>
          <p:cNvPr id="3" name="Content Placeholder 2"/>
          <p:cNvSpPr>
            <a:spLocks noGrp="1"/>
          </p:cNvSpPr>
          <p:nvPr>
            <p:ph sz="half" idx="1"/>
          </p:nvPr>
        </p:nvSpPr>
        <p:spPr/>
        <p:txBody>
          <a:bodyPr/>
          <a:lstStyle/>
          <a:p>
            <a:r>
              <a:t>05 Aug</a:t>
            </a:r>
          </a:p>
          <a:p>
            <a:endParaRPr/>
          </a:p>
          <a:p>
            <a:r>
              <a:t>Today, we are announcing the availability of three new AWS Wavelength Zones on Verizon’s 5G Ultra Wideband network in Chicago, Houston, and Phoenix. Wavelength Zones are now available in 13 major US cities , including the previously announced cities of Atlanta, Boston, Dallas, Denver, Las Vegas, Miami, New York City, San Francisco, Seattle, and Washington DC.</a:t>
            </a: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Private Connectivity for AWS NAT Gateway is now available in the AWS GovCloud (US) Regions</a:t>
            </a:r>
          </a:p>
        </p:txBody>
      </p:sp>
      <p:sp>
        <p:nvSpPr>
          <p:cNvPr id="3" name="Content Placeholder 2"/>
          <p:cNvSpPr>
            <a:spLocks noGrp="1"/>
          </p:cNvSpPr>
          <p:nvPr>
            <p:ph sz="half" idx="1"/>
          </p:nvPr>
        </p:nvSpPr>
        <p:spPr/>
        <p:txBody>
          <a:bodyPr/>
          <a:lstStyle/>
          <a:p>
            <a:r>
              <a:t>05 Aug</a:t>
            </a:r>
          </a:p>
          <a:p>
            <a:endParaRPr/>
          </a:p>
          <a:p>
            <a:r>
              <a:t>Private Connectivity for AWS NAT Gateway is now available in both AWS GovCloud (US) Regions. The expansion into the AWS GovCloud (US) Regions enables U.S. government agencies and contractors to move more sensitive workloads into the cloud by helping them to address certain regulatory and compliance requirements. With this launch, AWS Private NAT Gateway is now available in all AWS regions.</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Machine to Cloud Connectivity Framework v3.0</a:t>
            </a:r>
          </a:p>
        </p:txBody>
      </p:sp>
      <p:sp>
        <p:nvSpPr>
          <p:cNvPr id="3" name="Content Placeholder 2"/>
          <p:cNvSpPr>
            <a:spLocks noGrp="1"/>
          </p:cNvSpPr>
          <p:nvPr>
            <p:ph sz="half" idx="1"/>
          </p:nvPr>
        </p:nvSpPr>
        <p:spPr/>
        <p:txBody>
          <a:bodyPr/>
          <a:lstStyle/>
          <a:p>
            <a:r>
              <a:t>05 Aug</a:t>
            </a:r>
          </a:p>
          <a:p>
            <a:endParaRPr/>
          </a:p>
          <a:p>
            <a:r>
              <a:t>The AWS Solutions team recently updated Machine to Cloud Connectivity Framework, a solution that provides secure factory equipment connectivity to the AWS Cloud. This solution isa framework to send equipment telemetry data to your AWS account, allowing you to leverageAWS Services to conduct analysis on your equipment data instead of managing underlyinginfrastructure operations. The solution allows for robust data ingestion using OPC Data Access(OPC DA) and OPC Unified Access (OPC UA) protocols.</a:t>
            </a: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GameLift announces General Availability of Game Server Hosting and Multiplayer Services in AWS China (Ningxia) Region, operated by NWCD</a:t>
            </a:r>
          </a:p>
        </p:txBody>
      </p:sp>
      <p:sp>
        <p:nvSpPr>
          <p:cNvPr id="3" name="Content Placeholder 2"/>
          <p:cNvSpPr>
            <a:spLocks noGrp="1"/>
          </p:cNvSpPr>
          <p:nvPr>
            <p:ph sz="half" idx="1"/>
          </p:nvPr>
        </p:nvSpPr>
        <p:spPr/>
        <p:txBody>
          <a:bodyPr/>
          <a:lstStyle/>
          <a:p>
            <a:r>
              <a:t>04 Aug</a:t>
            </a:r>
          </a:p>
          <a:p>
            <a:endParaRPr/>
          </a:p>
          <a:p>
            <a:r>
              <a:t>Today, we are excited to announce the general availability (GA) of Amazon GameLift, now available in AWS China (Ningxia) Region, operated by NWCD. Trusted by some of the most successful game companies in the world like Wargaming, Behaviour Interactive, and Ubisoft, GameLift deploys, operates, and scales dedicated servers for multiplayer games. Now, GameLift and its full suite of features has increased its global coverage further, while providing seamless, low-latency gameplay experiences for players worldwide.</a:t>
            </a: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Transcribe Call Analytics API for conversation insights</a:t>
            </a:r>
          </a:p>
        </p:txBody>
      </p:sp>
      <p:sp>
        <p:nvSpPr>
          <p:cNvPr id="3" name="Content Placeholder 2"/>
          <p:cNvSpPr>
            <a:spLocks noGrp="1"/>
          </p:cNvSpPr>
          <p:nvPr>
            <p:ph sz="half" idx="1"/>
          </p:nvPr>
        </p:nvSpPr>
        <p:spPr/>
        <p:txBody>
          <a:bodyPr>
            <a:normAutofit fontScale="92500" lnSpcReduction="10000"/>
          </a:bodyPr>
          <a:lstStyle/>
          <a:p>
            <a:r>
              <a:t>04 Aug</a:t>
            </a:r>
          </a:p>
          <a:p>
            <a:endParaRPr/>
          </a:p>
          <a:p>
            <a:r>
              <a:t>Today, we are excited to announce Amazon Transcribe Call Analytics, a new machine learning (ML) powered conversation insights API that enables businesses to improve their customer experience and agent productivity. Using Transcribe Call Analytics API, you can analyze call recordings to get turn-by-turn call transcripts and actionable insights. Businesses can better understand customer-agent interactions, identify trending issues, and track performance metrics. The API combines powerful speech-to-text and natural language processing (NLP) models that are trained specifically to understand customer service and sales calls. Transcribe Call Analytics allows developers and independent software vendors (ISVs) to add call analytics in their applications, without the need for any ML expertise. </a:t>
            </a: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 Streaming Solution for Amazon MSK adds support for AWS IAM to streamline access control management</a:t>
            </a:r>
          </a:p>
        </p:txBody>
      </p:sp>
      <p:sp>
        <p:nvSpPr>
          <p:cNvPr id="3" name="Content Placeholder 2"/>
          <p:cNvSpPr>
            <a:spLocks noGrp="1"/>
          </p:cNvSpPr>
          <p:nvPr>
            <p:ph sz="half" idx="1"/>
          </p:nvPr>
        </p:nvSpPr>
        <p:spPr/>
        <p:txBody>
          <a:bodyPr/>
          <a:lstStyle/>
          <a:p>
            <a:r>
              <a:t>04 Aug</a:t>
            </a:r>
          </a:p>
          <a:p>
            <a:endParaRPr/>
          </a:p>
          <a:p>
            <a:r>
              <a:t>The AWS Solutions team recently updated AWS Streaming Data Solution for Amazon MSK, an AWS Solutions Implementation that provides an automated configuration of the AWS services necessary to easily capture, store, process, and deliver streaming data.</a:t>
            </a: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SQL-based ETL with Apache Spark on Amazon EKS</a:t>
            </a:r>
          </a:p>
        </p:txBody>
      </p:sp>
      <p:sp>
        <p:nvSpPr>
          <p:cNvPr id="3" name="Content Placeholder 2"/>
          <p:cNvSpPr>
            <a:spLocks noGrp="1"/>
          </p:cNvSpPr>
          <p:nvPr>
            <p:ph sz="half" idx="1"/>
          </p:nvPr>
        </p:nvSpPr>
        <p:spPr/>
        <p:txBody>
          <a:bodyPr/>
          <a:lstStyle/>
          <a:p>
            <a:r>
              <a:t>04 Aug</a:t>
            </a:r>
          </a:p>
          <a:p>
            <a:endParaRPr/>
          </a:p>
          <a:p>
            <a:r>
              <a:t>You can now set up SQL-Based ETL with Apache Spark on Amazon EKS. This solutions implementation provides declarative data processing support, codeless extract-transform-load (ETL) capabilities, and workflow orchestration automation to help data scientists and analysts access their data and create meaningful insights without the need for manual IT processes.</a:t>
            </a: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Managed entitlements now available for AWS Data Exchange products in AWS License Manager</a:t>
            </a:r>
          </a:p>
        </p:txBody>
      </p:sp>
      <p:sp>
        <p:nvSpPr>
          <p:cNvPr id="3" name="Content Placeholder 2"/>
          <p:cNvSpPr>
            <a:spLocks noGrp="1"/>
          </p:cNvSpPr>
          <p:nvPr>
            <p:ph sz="half" idx="1"/>
          </p:nvPr>
        </p:nvSpPr>
        <p:spPr/>
        <p:txBody>
          <a:bodyPr/>
          <a:lstStyle/>
          <a:p>
            <a:r>
              <a:t>04 Aug</a:t>
            </a:r>
          </a:p>
          <a:p>
            <a:endParaRPr/>
          </a:p>
          <a:p>
            <a:r>
              <a:t>AWS Data Exchange subscribers can now track and manage their organizations’ entitlements to AWS Data Exchange products using AWS License Manager. With this enhancement, subscribers can manage and distribute licenses using individual Account IDs or Organization IDs, which entitles other accounts within their AWS organization to access data procured via AWS Data Exchange. For organizations with elaborate AWS account structures, this eases the burden of managing data entitlements across accounts.</a:t>
            </a: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SiteWise now supports custom time intervals for metric aggregations</a:t>
            </a:r>
          </a:p>
        </p:txBody>
      </p:sp>
      <p:sp>
        <p:nvSpPr>
          <p:cNvPr id="3" name="Content Placeholder 2"/>
          <p:cNvSpPr>
            <a:spLocks noGrp="1"/>
          </p:cNvSpPr>
          <p:nvPr>
            <p:ph sz="half" idx="1"/>
          </p:nvPr>
        </p:nvSpPr>
        <p:spPr/>
        <p:txBody>
          <a:bodyPr/>
          <a:lstStyle/>
          <a:p>
            <a:r>
              <a:t>03 Aug</a:t>
            </a:r>
          </a:p>
          <a:p>
            <a:endParaRPr/>
          </a:p>
          <a:p>
            <a:r>
              <a:t>AWS IoT SiteWise is a managed service that makes it easy to collect, store, organize and monitor data from industrial equipment at scale to help you make better, data-driven decisions. </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now available in Sao Paulo &amp; Paris and provides region deselection</a:t>
            </a:r>
          </a:p>
        </p:txBody>
      </p:sp>
      <p:sp>
        <p:nvSpPr>
          <p:cNvPr id="3" name="Content Placeholder 2"/>
          <p:cNvSpPr>
            <a:spLocks noGrp="1"/>
          </p:cNvSpPr>
          <p:nvPr>
            <p:ph sz="half" idx="1"/>
          </p:nvPr>
        </p:nvSpPr>
        <p:spPr/>
        <p:txBody>
          <a:bodyPr/>
          <a:lstStyle/>
          <a:p>
            <a:r>
              <a:t>03 Aug</a:t>
            </a:r>
          </a:p>
          <a:p>
            <a:endParaRPr/>
          </a:p>
          <a:p>
            <a:r>
              <a:t>AWS Control Tower is now available in 2 additional AWS Regions: South America (Sao Paulo), and Europe (Paris) that expands AWS Control Tower availability to 15 AWS Regions. We are announcing AWS Control Tower Region Deselection that enhances your ability to efficiently manage the geographical footprint of your AWS Control Tower resources. You can now deselect Regions you would no longer like AWS Control Tower to govern; providing you with the capabilities to address compliance and regulatory concerns while balancing the costs associated with expanding into additional regions.</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now supports M5d, R5, P3dn, and G4dn instances for SageMaker Notebook Instances</a:t>
            </a:r>
          </a:p>
        </p:txBody>
      </p:sp>
      <p:sp>
        <p:nvSpPr>
          <p:cNvPr id="3" name="Content Placeholder 2"/>
          <p:cNvSpPr>
            <a:spLocks noGrp="1"/>
          </p:cNvSpPr>
          <p:nvPr>
            <p:ph sz="half" idx="1"/>
          </p:nvPr>
        </p:nvSpPr>
        <p:spPr/>
        <p:txBody>
          <a:bodyPr/>
          <a:lstStyle/>
          <a:p>
            <a:r>
              <a:t>03 Aug</a:t>
            </a:r>
          </a:p>
          <a:p>
            <a:endParaRPr/>
          </a:p>
          <a:p>
            <a:r>
              <a:t>Today, we are excited to announce that Amazon SageMaker now supports Amazon EC2 M5d, R5, P3dn, and G4dn instances for SageMaker Notebook Instance. Customers are able to launch SageMaker Notebook Instance with these instance types in the regions where they are available.</a:t>
            </a: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Amplify Geo (Developer Preview) for AWS Amplify</a:t>
            </a:r>
          </a:p>
        </p:txBody>
      </p:sp>
      <p:sp>
        <p:nvSpPr>
          <p:cNvPr id="3" name="Content Placeholder 2"/>
          <p:cNvSpPr>
            <a:spLocks noGrp="1"/>
          </p:cNvSpPr>
          <p:nvPr>
            <p:ph sz="half" idx="1"/>
          </p:nvPr>
        </p:nvSpPr>
        <p:spPr/>
        <p:txBody>
          <a:bodyPr/>
          <a:lstStyle/>
          <a:p>
            <a:r>
              <a:t>03 Aug</a:t>
            </a:r>
          </a:p>
          <a:p>
            <a:endParaRPr/>
          </a:p>
          <a:p>
            <a:r>
              <a:t>Amplify Geo enables developers to quickly add location-aware features to their frontend web and mobile applications. Extending existing Amplify capabilities, Amplify Geo includes a set of abstracted client libraries built on top of Amazon Location Service, pre-integrated map UI components (based on the popular MapLibre open-source library) and it updates the Amplify Command Line Interface (CLI) tool with support for provisioning all required cloud location services.</a:t>
            </a: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Storage Gateway now supports Quest NetVault Backup 13 on Tape Gateway</a:t>
            </a:r>
          </a:p>
        </p:txBody>
      </p:sp>
      <p:sp>
        <p:nvSpPr>
          <p:cNvPr id="3" name="Content Placeholder 2"/>
          <p:cNvSpPr>
            <a:spLocks noGrp="1"/>
          </p:cNvSpPr>
          <p:nvPr>
            <p:ph sz="half" idx="1"/>
          </p:nvPr>
        </p:nvSpPr>
        <p:spPr/>
        <p:txBody>
          <a:bodyPr/>
          <a:lstStyle/>
          <a:p>
            <a:r>
              <a:t>02 Aug</a:t>
            </a:r>
          </a:p>
          <a:p>
            <a:endParaRPr/>
          </a:p>
          <a:p>
            <a:r>
              <a:t>AWS Storage Gateway now supports Quest NetVault Backup 13 on Tape Gateway, enabling you to backup and archive data from Quest NetVault Backup to AWS without changing your backup workflows. With this announcement, Tape Gateway supports Quest NetVault Backup 13 running on Microsoft Windows Server 2012 R2 or Microsoft Windows Server 2016.</a:t>
            </a: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simplifies the use of JDBC/ODBC with authentication profile</a:t>
            </a:r>
          </a:p>
        </p:txBody>
      </p:sp>
      <p:sp>
        <p:nvSpPr>
          <p:cNvPr id="3" name="Content Placeholder 2"/>
          <p:cNvSpPr>
            <a:spLocks noGrp="1"/>
          </p:cNvSpPr>
          <p:nvPr>
            <p:ph sz="half" idx="1"/>
          </p:nvPr>
        </p:nvSpPr>
        <p:spPr/>
        <p:txBody>
          <a:bodyPr/>
          <a:lstStyle/>
          <a:p>
            <a:r>
              <a:t>02 Aug</a:t>
            </a:r>
          </a:p>
          <a:p>
            <a:endParaRPr/>
          </a:p>
          <a:p>
            <a:r>
              <a:t>Amazon Redshift now supports an authentication profile that enables administrators to centrally store client-side properties required to connect Redshift data warehouse using JDBC/ODBC/Python drivers. You can create an authentication profile by specifying a JSON file with the name and value for the required client and extended properties. End-users such as analysts, developers, and data engineers can use these profiles with client tools such as SQL Editors, BI Tools, and ETL tools.</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is now IRAP assessed at PROTECTED level</a:t>
            </a:r>
          </a:p>
        </p:txBody>
      </p:sp>
      <p:sp>
        <p:nvSpPr>
          <p:cNvPr id="3" name="Content Placeholder 2"/>
          <p:cNvSpPr>
            <a:spLocks noGrp="1"/>
          </p:cNvSpPr>
          <p:nvPr>
            <p:ph sz="half" idx="1"/>
          </p:nvPr>
        </p:nvSpPr>
        <p:spPr/>
        <p:txBody>
          <a:bodyPr/>
          <a:lstStyle/>
          <a:p>
            <a:r>
              <a:t>02 Aug</a:t>
            </a:r>
          </a:p>
          <a:p>
            <a:endParaRPr/>
          </a:p>
          <a:p>
            <a:r>
              <a:t>Amazon Kendra has been Information Security Registered Assessors Program (IRAP) assessed at the PROTECTED level. Now, you can meet the Australian Government Information Security Manual (ISM)  control objectives while using Kendra.</a:t>
            </a: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Now Supports Two New Parameter Changes For Full-Text Search</a:t>
            </a:r>
          </a:p>
        </p:txBody>
      </p:sp>
      <p:sp>
        <p:nvSpPr>
          <p:cNvPr id="3" name="Content Placeholder 2"/>
          <p:cNvSpPr>
            <a:spLocks noGrp="1"/>
          </p:cNvSpPr>
          <p:nvPr>
            <p:ph sz="half" idx="1"/>
          </p:nvPr>
        </p:nvSpPr>
        <p:spPr/>
        <p:txBody>
          <a:bodyPr/>
          <a:lstStyle/>
          <a:p>
            <a:r>
              <a:t>30 Jul</a:t>
            </a:r>
          </a:p>
          <a:p>
            <a:endParaRPr/>
          </a:p>
          <a:p>
            <a:r>
              <a:t>Amazon RDS for SQL Server now supports parameter changes for full-text search. Full-text search in SQL Server lets users and applications run full-text queries against character-based data in SQL Server tables.</a:t>
            </a: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Control Tower announces improvements to guardrail naming and descriptions</a:t>
            </a:r>
          </a:p>
        </p:txBody>
      </p:sp>
      <p:sp>
        <p:nvSpPr>
          <p:cNvPr id="3" name="Content Placeholder 2"/>
          <p:cNvSpPr>
            <a:spLocks noGrp="1"/>
          </p:cNvSpPr>
          <p:nvPr>
            <p:ph sz="half" idx="1"/>
          </p:nvPr>
        </p:nvSpPr>
        <p:spPr/>
        <p:txBody>
          <a:bodyPr/>
          <a:lstStyle/>
          <a:p>
            <a:r>
              <a:t>30 Jul</a:t>
            </a:r>
          </a:p>
          <a:p>
            <a:endParaRPr/>
          </a:p>
          <a:p>
            <a:r>
              <a:t>AWS Control Tower guardrail naming and descriptions have been revised to better reflect the guardrail policy intention. The revised names and descriptions will help users more intuitively understand how guardrails enhance control of their accounts. For example, names of detective guardrails were modified from “Disallow” to “Detect” since the detective guardrail itself does not enforce a specific action but detects policy violations and provides alerts through the dashboard. Guardrail behavior, guidance, and implementation remains unchanged.</a:t>
            </a: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Core Credential Provider now supports security tokens that are valid up to 12 hours</a:t>
            </a:r>
          </a:p>
        </p:txBody>
      </p:sp>
      <p:sp>
        <p:nvSpPr>
          <p:cNvPr id="3" name="Content Placeholder 2"/>
          <p:cNvSpPr>
            <a:spLocks noGrp="1"/>
          </p:cNvSpPr>
          <p:nvPr>
            <p:ph sz="half" idx="1"/>
          </p:nvPr>
        </p:nvSpPr>
        <p:spPr/>
        <p:txBody>
          <a:bodyPr/>
          <a:lstStyle/>
          <a:p>
            <a:r>
              <a:t>30 Jul</a:t>
            </a:r>
          </a:p>
          <a:p>
            <a:endParaRPr/>
          </a:p>
          <a:p>
            <a:r>
              <a:t>You can now use AWS IoT Core Credential Provider to request temporary, limited-privilege security token that are valid up to 12 hours and use the token to sign and authenticate any AWS request. Until now, the AWS IoT Core Credential Provider issued security tokens that were valid up to 1 hour only. Now with tokens valid up to 12 hours, customers have the ability to optimize the number of calls made to the Credential Provider by caching the credentials for a longer duration per their business needs.</a:t>
            </a: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now supports Oracle Time Zone File Auto Upgrade</a:t>
            </a:r>
          </a:p>
        </p:txBody>
      </p:sp>
      <p:sp>
        <p:nvSpPr>
          <p:cNvPr id="3" name="Content Placeholder 2"/>
          <p:cNvSpPr>
            <a:spLocks noGrp="1"/>
          </p:cNvSpPr>
          <p:nvPr>
            <p:ph sz="half" idx="1"/>
          </p:nvPr>
        </p:nvSpPr>
        <p:spPr/>
        <p:txBody>
          <a:bodyPr>
            <a:normAutofit lnSpcReduction="10000"/>
          </a:bodyPr>
          <a:lstStyle/>
          <a:p>
            <a:r>
              <a:t>30 Jul</a:t>
            </a:r>
          </a:p>
          <a:p>
            <a:endParaRPr/>
          </a:p>
          <a:p>
            <a:r>
              <a:t>Starting today Amazon Relational Database Service (Amazon RDS) for Oracle  supports the auto upgrade of Oracle time zone files. The Oracle time zone file auto upgrade feature provides an automated way to upgrade the DST timezone file version in the database instance. Customers observing timezones with TIMESTAMP WITH TIME ZONE data types in their databases previously had to provision a new database instance and migrate their data manually. These customers can now benefit from this feature by automating the upgrade of their current time zone file version to the latest available version in the database instance.</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now offers web access with WorkSpaces Streaming Protocol (WSP)</a:t>
            </a:r>
          </a:p>
        </p:txBody>
      </p:sp>
      <p:sp>
        <p:nvSpPr>
          <p:cNvPr id="3" name="Content Placeholder 2"/>
          <p:cNvSpPr>
            <a:spLocks noGrp="1"/>
          </p:cNvSpPr>
          <p:nvPr>
            <p:ph sz="half" idx="1"/>
          </p:nvPr>
        </p:nvSpPr>
        <p:spPr/>
        <p:txBody>
          <a:bodyPr/>
          <a:lstStyle/>
          <a:p>
            <a:r>
              <a:t>30 Jul</a:t>
            </a:r>
          </a:p>
          <a:p>
            <a:endParaRPr/>
          </a:p>
          <a:p>
            <a:r>
              <a:t>Organizations continue to need options that rapidly enable users to work from any location and any computer while remaining secure and productive. To streamline deployments of Amazon WorkSpaces using WorkSpaces Streaming Protocol (WSP) without having to install a native client application, your users can now access Amazon WorkSpaces from supported web browsers on Windows, macOS, or Linux computers.</a:t>
            </a: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Agents can now set their next status while still on an active contact in Amazon Connect</a:t>
            </a:r>
          </a:p>
        </p:txBody>
      </p:sp>
      <p:sp>
        <p:nvSpPr>
          <p:cNvPr id="3" name="Content Placeholder 2"/>
          <p:cNvSpPr>
            <a:spLocks noGrp="1"/>
          </p:cNvSpPr>
          <p:nvPr>
            <p:ph sz="half" idx="1"/>
          </p:nvPr>
        </p:nvSpPr>
        <p:spPr/>
        <p:txBody>
          <a:bodyPr/>
          <a:lstStyle/>
          <a:p>
            <a:r>
              <a:t>30 Jul</a:t>
            </a:r>
          </a:p>
          <a:p>
            <a:endParaRPr/>
          </a:p>
          <a:p>
            <a:r>
              <a:t>Agents in Amazon Connect can now set their next status while still on a contact, enabling seamless transition from work to offline or lunch. This enables agents to indicate that they are about to go to lunch, and don’t want to be routed new contacts, while finishing up ongoing work. Once the agent has wrapped up any after contact work for their ongoing contacts, they will be automatically transitioned to the status they had selected. </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WorkSpaces Adds Support for USB YubiKey Universal 2nd Factor (U2F) Authentication on PCoIP Windows WorkSpaces</a:t>
            </a:r>
          </a:p>
        </p:txBody>
      </p:sp>
      <p:sp>
        <p:nvSpPr>
          <p:cNvPr id="3" name="Content Placeholder 2"/>
          <p:cNvSpPr>
            <a:spLocks noGrp="1"/>
          </p:cNvSpPr>
          <p:nvPr>
            <p:ph sz="half" idx="1"/>
          </p:nvPr>
        </p:nvSpPr>
        <p:spPr/>
        <p:txBody>
          <a:bodyPr/>
          <a:lstStyle/>
          <a:p>
            <a:r>
              <a:t>30 Jul</a:t>
            </a:r>
          </a:p>
          <a:p>
            <a:endParaRPr/>
          </a:p>
          <a:p>
            <a:r>
              <a:t>Amazon WorkSpaces introduces USB redirection support for YubiKey Universal 2nd Factor (U2F) on PCoIP Windows WorkSpaces with WorkSpaces Windows client app. The feature is intended for customers who need to perform YubiKey U2F authentication to access web-based services from their WorkSpaces.</a:t>
            </a: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on Outposts adds two larger storage tiers</a:t>
            </a:r>
          </a:p>
        </p:txBody>
      </p:sp>
      <p:sp>
        <p:nvSpPr>
          <p:cNvPr id="3" name="Content Placeholder 2"/>
          <p:cNvSpPr>
            <a:spLocks noGrp="1"/>
          </p:cNvSpPr>
          <p:nvPr>
            <p:ph sz="half" idx="1"/>
          </p:nvPr>
        </p:nvSpPr>
        <p:spPr/>
        <p:txBody>
          <a:bodyPr/>
          <a:lstStyle/>
          <a:p>
            <a:r>
              <a:t>29 Jul</a:t>
            </a:r>
          </a:p>
          <a:p>
            <a:endParaRPr/>
          </a:p>
          <a:p>
            <a:r>
              <a:t>Amazon S3 on Outposts now offers two larger storage tiers: 240 TB and 380 TB. These new storage tiers help you meet your needs for workloads with larger object storage requirements, and add to the existing options of: 26 TB, 48 TB, and 96 TB storage tiers.</a:t>
            </a: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MQ now supports RabbitMQ version 3.8.17</a:t>
            </a:r>
          </a:p>
        </p:txBody>
      </p:sp>
      <p:sp>
        <p:nvSpPr>
          <p:cNvPr id="3" name="Content Placeholder 2"/>
          <p:cNvSpPr>
            <a:spLocks noGrp="1"/>
          </p:cNvSpPr>
          <p:nvPr>
            <p:ph sz="half" idx="1"/>
          </p:nvPr>
        </p:nvSpPr>
        <p:spPr/>
        <p:txBody>
          <a:bodyPr/>
          <a:lstStyle/>
          <a:p>
            <a:r>
              <a:t>29 Jul</a:t>
            </a:r>
          </a:p>
          <a:p>
            <a:endParaRPr/>
          </a:p>
          <a:p>
            <a:r>
              <a:t>You can now launch RabbitMQ 3.8.17 brokers on Amazon MQ. This patch update to RabbitMQ contains several fixes and enhancements compared to the previously supported version, RabbitMQ 3.8.11.</a:t>
            </a: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Rekognition Custom Labels makes it easy for customers to learn how to train machine learning models by providing tutorial videos, and sample datasets</a:t>
            </a:r>
          </a:p>
        </p:txBody>
      </p:sp>
      <p:sp>
        <p:nvSpPr>
          <p:cNvPr id="3" name="Content Placeholder 2"/>
          <p:cNvSpPr>
            <a:spLocks noGrp="1"/>
          </p:cNvSpPr>
          <p:nvPr>
            <p:ph sz="half" idx="1"/>
          </p:nvPr>
        </p:nvSpPr>
        <p:spPr/>
        <p:txBody>
          <a:bodyPr/>
          <a:lstStyle/>
          <a:p>
            <a:r>
              <a:t>29 Jul</a:t>
            </a:r>
          </a:p>
          <a:p>
            <a:endParaRPr/>
          </a:p>
          <a:p>
            <a:r>
              <a:t>Amazon Rekognition Custom Labels introduces a simplified on-boarding experience with the ability to explore images, labels, and datasets by one-click creation of example projects. Amazon Rekognition Custom Labels provides out of the box video tutorials, and example projects with hundreds of images for single-class classification, multi-class classification, object detection, and logo detection.</a:t>
            </a: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S3 on Outposts supports direct access for applications running outside the Outposts VPC</a:t>
            </a:r>
          </a:p>
        </p:txBody>
      </p:sp>
      <p:sp>
        <p:nvSpPr>
          <p:cNvPr id="3" name="Content Placeholder 2"/>
          <p:cNvSpPr>
            <a:spLocks noGrp="1"/>
          </p:cNvSpPr>
          <p:nvPr>
            <p:ph sz="half" idx="1"/>
          </p:nvPr>
        </p:nvSpPr>
        <p:spPr/>
        <p:txBody>
          <a:bodyPr/>
          <a:lstStyle/>
          <a:p>
            <a:r>
              <a:t>29 Jul</a:t>
            </a:r>
          </a:p>
          <a:p>
            <a:endParaRPr/>
          </a:p>
          <a:p>
            <a:r>
              <a:t>Amazon S3 on Outposts now supports the ability to create and access S3 objects on Outposts directly from your on-premises network. You can now configure S3 endpoints using your customer owned IP  (CoIP) addresses and access your S3 objects from your on-premise network through the Outposts Local Gateway  (LGW). With direct access, applications outside the Outposts Virtual Private Cloud (VPC) can now directly access data stored in S3 buckets on your Outposts. </a:t>
            </a: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SiteWise Edge now generally available</a:t>
            </a:r>
          </a:p>
        </p:txBody>
      </p:sp>
      <p:sp>
        <p:nvSpPr>
          <p:cNvPr id="3" name="Content Placeholder 2"/>
          <p:cNvSpPr>
            <a:spLocks noGrp="1"/>
          </p:cNvSpPr>
          <p:nvPr>
            <p:ph sz="half" idx="1"/>
          </p:nvPr>
        </p:nvSpPr>
        <p:spPr/>
        <p:txBody>
          <a:bodyPr/>
          <a:lstStyle/>
          <a:p>
            <a:r>
              <a:t>29 Jul</a:t>
            </a:r>
          </a:p>
          <a:p>
            <a:endParaRPr/>
          </a:p>
          <a:p>
            <a:r>
              <a:t>Today, AWS announces the general availability of AWS IoT SiteWise Edge, a feature of AWS IoT SiteWise that makes it easy for industrial customers to collect, organize, process, and monitor equipment data on-premises (i.e. at the edge). SiteWise Edge software enables factory operators to get visibility into their equipment data and make decisions that help improve equipment uptime, product quality, and process efficiency.</a:t>
            </a: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D3 instances with dense local HDD storage now available in Europe (London) region</a:t>
            </a:r>
          </a:p>
        </p:txBody>
      </p:sp>
      <p:sp>
        <p:nvSpPr>
          <p:cNvPr id="3" name="Content Placeholder 2"/>
          <p:cNvSpPr>
            <a:spLocks noGrp="1"/>
          </p:cNvSpPr>
          <p:nvPr>
            <p:ph sz="half" idx="1"/>
          </p:nvPr>
        </p:nvSpPr>
        <p:spPr/>
        <p:txBody>
          <a:bodyPr/>
          <a:lstStyle/>
          <a:p>
            <a:r>
              <a:t>29 Jul</a:t>
            </a:r>
          </a:p>
          <a:p>
            <a:endParaRPr/>
          </a:p>
          <a:p>
            <a:r>
              <a:t>Starting today, Amazon EC2 D3 instances, the latest generation of the dense HDD-storage instances, are available in the Europe (London) region. </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new Amazon EC2 G4ad instance sizes</a:t>
            </a:r>
          </a:p>
        </p:txBody>
      </p:sp>
      <p:sp>
        <p:nvSpPr>
          <p:cNvPr id="3" name="Content Placeholder 2"/>
          <p:cNvSpPr>
            <a:spLocks noGrp="1"/>
          </p:cNvSpPr>
          <p:nvPr>
            <p:ph sz="half" idx="1"/>
          </p:nvPr>
        </p:nvSpPr>
        <p:spPr/>
        <p:txBody>
          <a:bodyPr/>
          <a:lstStyle/>
          <a:p>
            <a:r>
              <a:t>29 Jul</a:t>
            </a:r>
          </a:p>
          <a:p>
            <a:endParaRPr/>
          </a:p>
          <a:p>
            <a:r>
              <a:t>We are excited to announce the availability of smaller sized Amazon EC2 G4ad instances that deliver up to 40% better price performance over comparable GPU-based instances for graphics intensive applications such as virtual workstations and game streaming. Like the other G4ad instances, these new sizes are powered by AMD Radeon Pro V520 GPUs and second-generation AMD EPYC processors and are designed to be cost-effective for workloads that don’t need the high vCPU and system memory that current larger G4ad instance sizes offer providing the lowest cost GPU instance in the AWS Cloud.</a:t>
            </a: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DynamoDB Accelerator (DAX) is now available in the China (Beijing) Region, operated by Sinnet</a:t>
            </a:r>
          </a:p>
        </p:txBody>
      </p:sp>
      <p:sp>
        <p:nvSpPr>
          <p:cNvPr id="3" name="Content Placeholder 2"/>
          <p:cNvSpPr>
            <a:spLocks noGrp="1"/>
          </p:cNvSpPr>
          <p:nvPr>
            <p:ph sz="half" idx="1"/>
          </p:nvPr>
        </p:nvSpPr>
        <p:spPr/>
        <p:txBody>
          <a:bodyPr/>
          <a:lstStyle/>
          <a:p>
            <a:r>
              <a:t>28 Jul</a:t>
            </a:r>
          </a:p>
          <a:p>
            <a:endParaRPr/>
          </a:p>
          <a:p>
            <a:r>
              <a:t>Amazon DynamoDB Accelerator (DAX) is now available in the China (Beijing) Region, operated by Sinnet. You can create DAX clusters in this AWS Region for your DynamoDB applications that require microsecond response times.</a:t>
            </a: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now supports up to 10 GB of memory and 6 vCPU cores in the Middle East (Bahrain), Asia Pacific (Osaka), and Asia Pacific (Hong Kong) regions</a:t>
            </a:r>
          </a:p>
        </p:txBody>
      </p:sp>
      <p:sp>
        <p:nvSpPr>
          <p:cNvPr id="3" name="Content Placeholder 2"/>
          <p:cNvSpPr>
            <a:spLocks noGrp="1"/>
          </p:cNvSpPr>
          <p:nvPr>
            <p:ph sz="half" idx="1"/>
          </p:nvPr>
        </p:nvSpPr>
        <p:spPr/>
        <p:txBody>
          <a:bodyPr/>
          <a:lstStyle/>
          <a:p>
            <a:r>
              <a:t>28 Jul</a:t>
            </a:r>
          </a:p>
          <a:p>
            <a:endParaRPr/>
          </a:p>
          <a:p>
            <a:r>
              <a:t>AWS Lambda larger functions are now available in 3 additional regions enabling customers to provision Lambda functions with a maximum of 10,240 MB (10 GB) of memory, a more than 3x increase compared to the previous limit of 3,008 MB. With larger functions, customers can now more easily use AWS Lambda for workloads such as batch, extract, transform, load (ETL) jobs, and media processing applications perform memory intensive operations at scale.  </a:t>
            </a: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DataSync is now available in AWS Asia Pacific (Osaka) Region</a:t>
            </a:r>
          </a:p>
        </p:txBody>
      </p:sp>
      <p:sp>
        <p:nvSpPr>
          <p:cNvPr id="3" name="Content Placeholder 2"/>
          <p:cNvSpPr>
            <a:spLocks noGrp="1"/>
          </p:cNvSpPr>
          <p:nvPr>
            <p:ph sz="half" idx="1"/>
          </p:nvPr>
        </p:nvSpPr>
        <p:spPr/>
        <p:txBody>
          <a:bodyPr/>
          <a:lstStyle/>
          <a:p>
            <a:r>
              <a:t>28 Jul</a:t>
            </a:r>
          </a:p>
          <a:p>
            <a:endParaRPr/>
          </a:p>
          <a:p>
            <a:r>
              <a:t>AWS DataSync is now available in the AWS Asia Pacific (Osaka) Region. DataSync can copy data between Network File System (NFS) shares, Server Message Block (SMB) shares, self-managed object storage, AWS Snowcone, Amazon Simple Storage Service (Amazon S3) buckets, Amazon Elastic File System (Amazon EFS) file systems, and Amazon FSx for Windows File Server file systems.</a:t>
            </a: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new AWS Developer Specializations on Coursera</a:t>
            </a:r>
          </a:p>
        </p:txBody>
      </p:sp>
      <p:sp>
        <p:nvSpPr>
          <p:cNvPr id="3" name="Content Placeholder 2"/>
          <p:cNvSpPr>
            <a:spLocks noGrp="1"/>
          </p:cNvSpPr>
          <p:nvPr>
            <p:ph sz="half" idx="1"/>
          </p:nvPr>
        </p:nvSpPr>
        <p:spPr/>
        <p:txBody>
          <a:bodyPr/>
          <a:lstStyle/>
          <a:p>
            <a:r>
              <a:t>28 Jul</a:t>
            </a:r>
          </a:p>
          <a:p>
            <a:endParaRPr/>
          </a:p>
          <a:p>
            <a:r>
              <a:t>Master AWS skills with four new AWS Modern Application Development Specializations on Coursera using interactive learning to earn a certificate of completion. Choose an AWS Specialization based on your preferred programming language—Python, Java, .NET, and Node.js—to develop new skills in four months with three hours a week. Learners should have intermediate knowledge of their preferred coding language, though no prior knowledge of AWS is required.  </a:t>
            </a: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DynamoDB global tables are now available in the Asia Pacific (Osaka) Region</a:t>
            </a:r>
          </a:p>
        </p:txBody>
      </p:sp>
      <p:sp>
        <p:nvSpPr>
          <p:cNvPr id="3" name="Content Placeholder 2"/>
          <p:cNvSpPr>
            <a:spLocks noGrp="1"/>
          </p:cNvSpPr>
          <p:nvPr>
            <p:ph sz="half" idx="1"/>
          </p:nvPr>
        </p:nvSpPr>
        <p:spPr/>
        <p:txBody>
          <a:bodyPr/>
          <a:lstStyle/>
          <a:p>
            <a:r>
              <a:t>28 Jul</a:t>
            </a:r>
          </a:p>
          <a:p>
            <a:endParaRPr/>
          </a:p>
          <a:p>
            <a:r>
              <a:t>Amazon DynamoDB global tables are now available in the Asia Pacific (Osaka) Region. With global tables, you can give massively scaled, global applications local access to a DynamoDB table for fast read and write performance. You also can use global tables to replicate DynamoDB table data to additional AWS Regions for higher availability and disaster recovery.</a:t>
            </a: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is now available in AWS Europe (Milan) Region</a:t>
            </a:r>
          </a:p>
        </p:txBody>
      </p:sp>
      <p:sp>
        <p:nvSpPr>
          <p:cNvPr id="3" name="Content Placeholder 2"/>
          <p:cNvSpPr>
            <a:spLocks noGrp="1"/>
          </p:cNvSpPr>
          <p:nvPr>
            <p:ph sz="half" idx="1"/>
          </p:nvPr>
        </p:nvSpPr>
        <p:spPr/>
        <p:txBody>
          <a:bodyPr/>
          <a:lstStyle/>
          <a:p>
            <a:r>
              <a:t>28 Jul</a:t>
            </a:r>
          </a:p>
          <a:p>
            <a:endParaRPr/>
          </a:p>
          <a:p>
            <a:r>
              <a:t>AWS Glue DataBrew, a visual data preparation tool that makes it easy for data analysts and data scientists to clean and normalize data for analytics and machine learning, is now available in the AWS Europe (Milan) Region. For a list of regions where AWS Glue DataBrew is available, see the AWS Region Table.</a:t>
            </a: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Data Lifecycle Manager now supports CloudWatch metrics</a:t>
            </a:r>
          </a:p>
        </p:txBody>
      </p:sp>
      <p:sp>
        <p:nvSpPr>
          <p:cNvPr id="3" name="Content Placeholder 2"/>
          <p:cNvSpPr>
            <a:spLocks noGrp="1"/>
          </p:cNvSpPr>
          <p:nvPr>
            <p:ph sz="half" idx="1"/>
          </p:nvPr>
        </p:nvSpPr>
        <p:spPr/>
        <p:txBody>
          <a:bodyPr>
            <a:normAutofit lnSpcReduction="10000"/>
          </a:bodyPr>
          <a:lstStyle/>
          <a:p>
            <a:r>
              <a:t>28 Jul</a:t>
            </a:r>
          </a:p>
          <a:p>
            <a:endParaRPr/>
          </a:p>
          <a:p>
            <a:r>
              <a:t>Today we are announcing the availability of Amazon CloudWatch metrics for Amazon Data Lifecycle Manager  (Amazon DLM), which you can use to gain insight into the operations of your lifecycle policy. You can use these metrics to see exactly how many Amazon Elastic Block Store (Amazon EBS) Snapshots and EBS-backed Amazon Machine Images (AMIs) are create, copied, shared and deleted each time a lifecycle policy is run. You can also create alarms to be triggered when resources are not created, copied or deleted by the policy, allowing you to take immediate action to diagnose and fix potential policy issues.</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now supports Sign in with Apple</a:t>
            </a:r>
          </a:p>
        </p:txBody>
      </p:sp>
      <p:sp>
        <p:nvSpPr>
          <p:cNvPr id="3" name="Content Placeholder 2"/>
          <p:cNvSpPr>
            <a:spLocks noGrp="1"/>
          </p:cNvSpPr>
          <p:nvPr>
            <p:ph sz="half" idx="1"/>
          </p:nvPr>
        </p:nvSpPr>
        <p:spPr/>
        <p:txBody>
          <a:bodyPr/>
          <a:lstStyle/>
          <a:p>
            <a:r>
              <a:t>28 Jul</a:t>
            </a:r>
          </a:p>
          <a:p>
            <a:endParaRPr/>
          </a:p>
          <a:p>
            <a:r>
              <a:t>AWS Amplify now supports Sign in with Apple (SIWA), making it easier for app developers to reach a broad base of Apple users. SIWA supplements Amplify’s currently supported Identity Providers (Google, Facebook, and Amazon), and continues to allow developers to easily enable social sign-in to their applications, even without AWS experience.</a:t>
            </a: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availability of AWS Outposts in Argentina, Chile, and Peru</a:t>
            </a:r>
          </a:p>
        </p:txBody>
      </p:sp>
      <p:sp>
        <p:nvSpPr>
          <p:cNvPr id="3" name="Content Placeholder 2"/>
          <p:cNvSpPr>
            <a:spLocks noGrp="1"/>
          </p:cNvSpPr>
          <p:nvPr>
            <p:ph sz="half" idx="1"/>
          </p:nvPr>
        </p:nvSpPr>
        <p:spPr/>
        <p:txBody>
          <a:bodyPr/>
          <a:lstStyle/>
          <a:p>
            <a:r>
              <a:t>28 Jul</a:t>
            </a:r>
          </a:p>
          <a:p>
            <a:endParaRPr/>
          </a:p>
          <a:p>
            <a:r>
              <a:t>AWS Outposts can now be shipped and installed at your datacenter and on-premises locations in Argentina*, Chile, and Peru.</a:t>
            </a: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EC2 Placement Groups are now available on AWS Outposts</a:t>
            </a:r>
          </a:p>
        </p:txBody>
      </p:sp>
      <p:sp>
        <p:nvSpPr>
          <p:cNvPr id="3" name="Content Placeholder 2"/>
          <p:cNvSpPr>
            <a:spLocks noGrp="1"/>
          </p:cNvSpPr>
          <p:nvPr>
            <p:ph sz="half" idx="1"/>
          </p:nvPr>
        </p:nvSpPr>
        <p:spPr/>
        <p:txBody>
          <a:bodyPr/>
          <a:lstStyle/>
          <a:p>
            <a:r>
              <a:t>28 Jul</a:t>
            </a:r>
          </a:p>
          <a:p>
            <a:endParaRPr/>
          </a:p>
          <a:p>
            <a:r>
              <a:t>AWS Outposts is a fully managed service that extends AWS infrastructure, AWS services, APIs, and tools to virtually any datacenter, co-location space, or on-premises facility for a truly consistent hybrid experience. Amazon Elastic Compute Cloud (Amazon EC2) placement groups allow you to influence the placement strategy of instances on the underlying hardware. You can select from cluster, spread or partition placement strategies, depending on the needs of the workload.</a:t>
            </a: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Data API now adds support for multi-statement query execution and parameters</a:t>
            </a:r>
          </a:p>
        </p:txBody>
      </p:sp>
      <p:sp>
        <p:nvSpPr>
          <p:cNvPr id="3" name="Content Placeholder 2"/>
          <p:cNvSpPr>
            <a:spLocks noGrp="1"/>
          </p:cNvSpPr>
          <p:nvPr>
            <p:ph sz="half" idx="1"/>
          </p:nvPr>
        </p:nvSpPr>
        <p:spPr/>
        <p:txBody>
          <a:bodyPr/>
          <a:lstStyle/>
          <a:p>
            <a:r>
              <a:t>28 Jul</a:t>
            </a:r>
          </a:p>
          <a:p>
            <a:endParaRPr/>
          </a:p>
          <a:p>
            <a:r>
              <a:t>The Amazon Redshift Data API enables you to painlessly access data from Amazon Redshift with all types of traditional cloud-native, and containerized, serverless web services-based applications and event-driven applications. You can use the Data API with languages supported with the AWS SDK such as Python, Go, Java, Node.js, PHP, Ruby, and C++.</a:t>
            </a: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Service Catalog announces improvements to the Getting Started Library</a:t>
            </a:r>
          </a:p>
        </p:txBody>
      </p:sp>
      <p:sp>
        <p:nvSpPr>
          <p:cNvPr id="3" name="Content Placeholder 2"/>
          <p:cNvSpPr>
            <a:spLocks noGrp="1"/>
          </p:cNvSpPr>
          <p:nvPr>
            <p:ph sz="half" idx="1"/>
          </p:nvPr>
        </p:nvSpPr>
        <p:spPr/>
        <p:txBody>
          <a:bodyPr/>
          <a:lstStyle/>
          <a:p>
            <a:r>
              <a:t>28 Jul</a:t>
            </a:r>
          </a:p>
          <a:p>
            <a:endParaRPr/>
          </a:p>
          <a:p>
            <a:r>
              <a:t>Today, AWS Service Catalog is releasing a new Getting Started Library (GSL) experience that simplifies discovering best practice templates and offers better guidance for Service Catalog Administrators when they use the library. The GSL contains more than 250 AWS best practice solutions for a wide variety of technical and business problems. The Library is regularly enriched with new solutions, with “New Relic AWS Control Tower Integration” or “Amazon EKS Architecture” as recent additions.</a:t>
            </a: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Interactive Video Service adds SDK for live broadcasting from iOS and Android devices</a:t>
            </a:r>
          </a:p>
        </p:txBody>
      </p:sp>
      <p:sp>
        <p:nvSpPr>
          <p:cNvPr id="3" name="Content Placeholder 2"/>
          <p:cNvSpPr>
            <a:spLocks noGrp="1"/>
          </p:cNvSpPr>
          <p:nvPr>
            <p:ph sz="half" idx="1"/>
          </p:nvPr>
        </p:nvSpPr>
        <p:spPr/>
        <p:txBody>
          <a:bodyPr/>
          <a:lstStyle/>
          <a:p>
            <a:r>
              <a:t>27 Jul</a:t>
            </a:r>
          </a:p>
          <a:p>
            <a:endParaRPr/>
          </a:p>
          <a:p>
            <a:r>
              <a:t>Amazon Interactive Video Service (Amazon IVS) now gives you the ability to send live video from your mobile applications to an Amazon IVS channel as an input for a live stream using the Amazon IVS mobile broadcast SDK for Android and iOS.</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MLOps Framework solution now supports Amazon SageMaker model registry and AWS Organizations Delegated Administrator Account to improve ML model management and governance</a:t>
            </a:r>
          </a:p>
        </p:txBody>
      </p:sp>
      <p:sp>
        <p:nvSpPr>
          <p:cNvPr id="3" name="Content Placeholder 2"/>
          <p:cNvSpPr>
            <a:spLocks noGrp="1"/>
          </p:cNvSpPr>
          <p:nvPr>
            <p:ph sz="half" idx="1"/>
          </p:nvPr>
        </p:nvSpPr>
        <p:spPr/>
        <p:txBody>
          <a:bodyPr/>
          <a:lstStyle/>
          <a:p>
            <a:r>
              <a:t>27 Jul</a:t>
            </a:r>
          </a:p>
          <a:p>
            <a:endParaRPr/>
          </a:p>
          <a:p>
            <a:r>
              <a:t>AWS Solutions has updated the AWS MLOps Framework, an AWS Solutions Implementation that streamlines the pipeline deployment process and enforces architecture best practices for machine learning (ML) model productionization. This solution addresses common operational pain points that customers face when adopting multiple ML workflow automation tools.</a:t>
            </a: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course available: MLOps Engineering on AWS</a:t>
            </a:r>
          </a:p>
        </p:txBody>
      </p:sp>
      <p:sp>
        <p:nvSpPr>
          <p:cNvPr id="3" name="Content Placeholder 2"/>
          <p:cNvSpPr>
            <a:spLocks noGrp="1"/>
          </p:cNvSpPr>
          <p:nvPr>
            <p:ph sz="half" idx="1"/>
          </p:nvPr>
        </p:nvSpPr>
        <p:spPr/>
        <p:txBody>
          <a:bodyPr/>
          <a:lstStyle/>
          <a:p>
            <a:r>
              <a:t>27 Jul</a:t>
            </a:r>
          </a:p>
          <a:p>
            <a:endParaRPr/>
          </a:p>
          <a:p>
            <a:r>
              <a:t>We’re excited to announce the launch of MLOps Engineering on AWS, a three-day classroom training course from AWS Training and Certification. This course will help ML data platform engineers, DevOps engineers, and developers/operations staff responsible for operationalizing ML models bring DevOps-style practices into the building, training, and deployment of ML models. </a:t>
            </a: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Snowcone now supports multicast streams and routing by providing instances with direct access to external networks</a:t>
            </a:r>
          </a:p>
        </p:txBody>
      </p:sp>
      <p:sp>
        <p:nvSpPr>
          <p:cNvPr id="3" name="Content Placeholder 2"/>
          <p:cNvSpPr>
            <a:spLocks noGrp="1"/>
          </p:cNvSpPr>
          <p:nvPr>
            <p:ph sz="half" idx="1"/>
          </p:nvPr>
        </p:nvSpPr>
        <p:spPr/>
        <p:txBody>
          <a:bodyPr/>
          <a:lstStyle/>
          <a:p>
            <a:r>
              <a:t>27 Jul</a:t>
            </a:r>
          </a:p>
          <a:p>
            <a:endParaRPr/>
          </a:p>
          <a:p>
            <a:r>
              <a:t>AWS Snowcone now supports multicast streams, routing, load balancing, and other networking use cases by enabling instances on a Snowcone device to have direct access to an external network. By providing instances with layer 2 network access without any intermediary translation or filtering, customers gain increased flexibility over the network configuration of their Snowcone device along with improved network performance, enabling use cases that were previously not possible.</a:t>
            </a: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Virtual Andon 2.2 – A digital notification system for manufacturers</a:t>
            </a:r>
          </a:p>
        </p:txBody>
      </p:sp>
      <p:sp>
        <p:nvSpPr>
          <p:cNvPr id="3" name="Content Placeholder 2"/>
          <p:cNvSpPr>
            <a:spLocks noGrp="1"/>
          </p:cNvSpPr>
          <p:nvPr>
            <p:ph sz="half" idx="1"/>
          </p:nvPr>
        </p:nvSpPr>
        <p:spPr/>
        <p:txBody>
          <a:bodyPr/>
          <a:lstStyle/>
          <a:p>
            <a:r>
              <a:t>27 Jul</a:t>
            </a:r>
          </a:p>
          <a:p>
            <a:endParaRPr/>
          </a:p>
          <a:p>
            <a:r>
              <a:t>The Amazon Virtual Andon solution provides a scalable digital Andon system to optimize factory floor processes, reduce issue resolution time, support the transition to predictive maintenance, and prevent issues. The solution provides a workflow to help users monitor manufacturing workstations for events, log events, and then route specific events to the correct engineer for resolution. The solution is fully customizable and allows users to update available issue types and root causes as processes evolve and change.</a:t>
            </a: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support for exporting data from AWS IoT SiteWise to Amazon S3</a:t>
            </a:r>
          </a:p>
        </p:txBody>
      </p:sp>
      <p:sp>
        <p:nvSpPr>
          <p:cNvPr id="3" name="Content Placeholder 2"/>
          <p:cNvSpPr>
            <a:spLocks noGrp="1"/>
          </p:cNvSpPr>
          <p:nvPr>
            <p:ph sz="half" idx="1"/>
          </p:nvPr>
        </p:nvSpPr>
        <p:spPr/>
        <p:txBody>
          <a:bodyPr>
            <a:normAutofit fontScale="92500" lnSpcReduction="10000"/>
          </a:bodyPr>
          <a:lstStyle/>
          <a:p>
            <a:r>
              <a:t>27 Jul</a:t>
            </a:r>
          </a:p>
          <a:p>
            <a:endParaRPr/>
          </a:p>
          <a:p>
            <a:r>
              <a:t>AWS IoT SiteWise is a managed service to collect, store, organize and monitor data from industrial equipment at scale. Today, we are announcing support for exporting your AWS IoT SiteWise data to Amazon S3. With this feature, you can configure AWS IoT SiteWise to export your equipment data to your industrial data lake in Amazon S3. Once your data is exported, you can leverage a host of other AWS services such as AWS IoT Analytics, Amazon Athena, Amazon SageMaker, and Amazon QuickSight, to perform analytics and build machine learning (ML) models. You can also join and augment your equipment data from AWS IoT SiteWise with other data sources in your data lake (such as from Enterprise Resource Planning systems) to get even richer insights that enable you to optimize your maintenance and operations activities.</a:t>
            </a: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Amazon SageMaker Pipelines integrations with popular third-party tools</a:t>
            </a:r>
          </a:p>
        </p:txBody>
      </p:sp>
      <p:sp>
        <p:nvSpPr>
          <p:cNvPr id="3" name="Content Placeholder 2"/>
          <p:cNvSpPr>
            <a:spLocks noGrp="1"/>
          </p:cNvSpPr>
          <p:nvPr>
            <p:ph sz="half" idx="1"/>
          </p:nvPr>
        </p:nvSpPr>
        <p:spPr/>
        <p:txBody>
          <a:bodyPr/>
          <a:lstStyle/>
          <a:p>
            <a:r>
              <a:t>27 Jul</a:t>
            </a:r>
          </a:p>
          <a:p>
            <a:endParaRPr/>
          </a:p>
          <a:p>
            <a:r>
              <a:t>Amazon SageMaker Pipelines, the first purpose-built continuous integration and continuous delivery (CI/CD) service for machine learning (ML), is now integrated with popular third-party source code repositories such as GitHub and BitBucket; and software development automation tool - Jenkins. Customers can now leverage the same tools that they use for managing the software development lifecycle for building and deploying ML models as well, eliminating the need to adopt new tools for managing the ML lifecycle and speeding up their ML projects.</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support for JOIN operation in AWS IoT Analytics Data Stores</a:t>
            </a:r>
          </a:p>
        </p:txBody>
      </p:sp>
      <p:sp>
        <p:nvSpPr>
          <p:cNvPr id="3" name="Content Placeholder 2"/>
          <p:cNvSpPr>
            <a:spLocks noGrp="1"/>
          </p:cNvSpPr>
          <p:nvPr>
            <p:ph sz="half" idx="1"/>
          </p:nvPr>
        </p:nvSpPr>
        <p:spPr/>
        <p:txBody>
          <a:bodyPr>
            <a:normAutofit fontScale="92500" lnSpcReduction="20000"/>
          </a:bodyPr>
          <a:lstStyle/>
          <a:p>
            <a:r>
              <a:t>27 Jul</a:t>
            </a:r>
          </a:p>
          <a:p>
            <a:endParaRPr/>
          </a:p>
          <a:p>
            <a:r>
              <a:t>AWS IoT Analytics now supports JOIN operation on AWS IoT Analytics data stores, enabling customers to combine data from two or more AWS IoT Analytics data stores based on a common attribute between them. Customers can now create a AWS IoT SiteWise data backed AWS IoT Analytics data store and join it with other S3 backed AWS IoT Analytics data stores to discover insights about their industrial assets such as viewing properties and relationships between various AWS IoT SiteWise assets, run statistical queries on AWS IoT SiteWise and S3 data, and perform advanced analytics. You can use this feature to create an AWS IoT Analytics SQL query data set that uses a join operation (inner join, left, right and full outer join, self join and cross join ) to combine two or more customer managed AWS IoT Analytics data stores and AWS IoT SiteWise managed data stores on a join condition using attribute names that exist in both data stores.</a:t>
            </a: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Textract announces specialized support for automated processing of invoices and receipts</a:t>
            </a:r>
          </a:p>
        </p:txBody>
      </p:sp>
      <p:sp>
        <p:nvSpPr>
          <p:cNvPr id="3" name="Content Placeholder 2"/>
          <p:cNvSpPr>
            <a:spLocks noGrp="1"/>
          </p:cNvSpPr>
          <p:nvPr>
            <p:ph sz="half" idx="1"/>
          </p:nvPr>
        </p:nvSpPr>
        <p:spPr/>
        <p:txBody>
          <a:bodyPr>
            <a:normAutofit lnSpcReduction="10000"/>
          </a:bodyPr>
          <a:lstStyle/>
          <a:p>
            <a:r>
              <a:t>27 Jul</a:t>
            </a:r>
          </a:p>
          <a:p>
            <a:endParaRPr/>
          </a:p>
          <a:p>
            <a:r>
              <a:t>Amazon Textract, a machine learning service that extracts text and structured data from any document or image, now offers specialized support for invoices and receipts. Until today, these important documents were difficult to process at scale because they do not follow set design rules, and often require context to interpret correctly. For example, customers might need to extract the vendor name from the Amazon logo at the top of an invoice even though it is not labeled “Vendor: Amazon”. Now with Textract, customers can extract explicitly labeled data, implied data, and line items from itemized list of goods or services from almost any invoice or receipt without any templates or configuration.</a:t>
            </a: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Batch ListJobs Filtering Enhancements</a:t>
            </a:r>
          </a:p>
        </p:txBody>
      </p:sp>
      <p:sp>
        <p:nvSpPr>
          <p:cNvPr id="3" name="Content Placeholder 2"/>
          <p:cNvSpPr>
            <a:spLocks noGrp="1"/>
          </p:cNvSpPr>
          <p:nvPr>
            <p:ph sz="half" idx="1"/>
          </p:nvPr>
        </p:nvSpPr>
        <p:spPr/>
        <p:txBody>
          <a:bodyPr>
            <a:normAutofit fontScale="92500"/>
          </a:bodyPr>
          <a:lstStyle/>
          <a:p>
            <a:r>
              <a:t>27 Jul</a:t>
            </a:r>
          </a:p>
          <a:p>
            <a:endParaRPr/>
          </a:p>
          <a:p>
            <a:r>
              <a:t>AWS Batch is a cloud-native batch scheduler that enables anyone - from enterprises, to scientists and developers - to easily and efficiently run batch jobs on AWS. Whether you have a few jobs or hundreds of thousands, AWS Batch dynamically provisions the optimal quantity and type of compute resources based on the volume and specific resource requirements of the work you submit. With AWS Batch, there is no need to install and manage batch computing software or server clusters that you use to run your jobs, allowing you to focus on analyzing results and solving problems. AWS Batch plans, schedules, and executes your batch computing workloads across AWS compute services and features, such as AWS Fargate, Amazon EC2, and Spot Instances.</a:t>
            </a: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the pg_proctab extension to access PostgreSQL system stats in AWS GovCloud (US) Regions</a:t>
            </a:r>
          </a:p>
        </p:txBody>
      </p:sp>
      <p:sp>
        <p:nvSpPr>
          <p:cNvPr id="3" name="Content Placeholder 2"/>
          <p:cNvSpPr>
            <a:spLocks noGrp="1"/>
          </p:cNvSpPr>
          <p:nvPr>
            <p:ph sz="half" idx="1"/>
          </p:nvPr>
        </p:nvSpPr>
        <p:spPr/>
        <p:txBody>
          <a:bodyPr/>
          <a:lstStyle/>
          <a:p>
            <a:r>
              <a:t>27 Jul</a:t>
            </a:r>
          </a:p>
          <a:p>
            <a:endParaRPr/>
          </a:p>
          <a:p>
            <a:r>
              <a:t>Amazon Aurora PostgreSQL-Compatible Edition adds support for the pg_proctab extension in AWS GovCloud (US) regions. pg_proctab is a collection of stored functions that can access the operating systems process table so that system statistics can be queried through the database. pg_proctab functions make it easier to collect data on your PostgreSQL database including up-to-date information on processor and I/O statistics on SQL queries which makes troubleshooting easier.</a:t>
            </a: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CTI Adapter for Salesforce adds out-of-the-box chat user interface support to Salesforce Experience Cloud</a:t>
            </a:r>
          </a:p>
        </p:txBody>
      </p:sp>
      <p:sp>
        <p:nvSpPr>
          <p:cNvPr id="3" name="Content Placeholder 2"/>
          <p:cNvSpPr>
            <a:spLocks noGrp="1"/>
          </p:cNvSpPr>
          <p:nvPr>
            <p:ph sz="half" idx="1"/>
          </p:nvPr>
        </p:nvSpPr>
        <p:spPr/>
        <p:txBody>
          <a:bodyPr/>
          <a:lstStyle/>
          <a:p>
            <a:r>
              <a:t>27 Jul</a:t>
            </a:r>
          </a:p>
          <a:p>
            <a:endParaRPr/>
          </a:p>
          <a:p>
            <a:r>
              <a:t>The Amazon Connect Computer Telephony Integration (CTI) Adapter for Salesforce  now enables you to embed the Amazon Connect out-of-the-box chat widget within Salesforce Experience Cloud (formerly Community Cloud). This chat widget enables customers using Salesforce Experience Cloud to interact with Amazon Connect agents. For example, when a customer is requesting help from the IT support website hosted on the help center in Experience Cloud and starts a chat, offering an end to end chat experience, without the need for technical skills to implement.</a:t>
            </a: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Snowball now supports multicast streams and routing by providing instances with direct access to external networks</a:t>
            </a:r>
          </a:p>
        </p:txBody>
      </p:sp>
      <p:sp>
        <p:nvSpPr>
          <p:cNvPr id="3" name="Content Placeholder 2"/>
          <p:cNvSpPr>
            <a:spLocks noGrp="1"/>
          </p:cNvSpPr>
          <p:nvPr>
            <p:ph sz="half" idx="1"/>
          </p:nvPr>
        </p:nvSpPr>
        <p:spPr/>
        <p:txBody>
          <a:bodyPr/>
          <a:lstStyle/>
          <a:p>
            <a:r>
              <a:t>27 Jul</a:t>
            </a:r>
          </a:p>
          <a:p>
            <a:endParaRPr/>
          </a:p>
          <a:p>
            <a:r>
              <a:t>AWS Snowball now supports multicast streams, routing, load balancing, and other networking use cases by enabling instances on a Snowball device to have direct access to an external network. By providing instances with layer 2 network access without any intermediary translation or filtering, customers gain increased flexibility over the network configuration of their Snowball devices along with improved network performance, enabling use cases that were previously not possible. </a:t>
            </a: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General Availability of AWS Local Zones in Denver</a:t>
            </a:r>
          </a:p>
        </p:txBody>
      </p:sp>
      <p:sp>
        <p:nvSpPr>
          <p:cNvPr id="3" name="Content Placeholder 2"/>
          <p:cNvSpPr>
            <a:spLocks noGrp="1"/>
          </p:cNvSpPr>
          <p:nvPr>
            <p:ph sz="half" idx="1"/>
          </p:nvPr>
        </p:nvSpPr>
        <p:spPr/>
        <p:txBody>
          <a:bodyPr/>
          <a:lstStyle/>
          <a:p>
            <a:r>
              <a:t>27 Jul</a:t>
            </a:r>
          </a:p>
          <a:p>
            <a:endParaRPr/>
          </a:p>
          <a:p>
            <a:r>
              <a:t>Today we are announcing the general availability of AWS Local Zones in Denver. Customers can now use the new Local Zone to deliver applications that require single-digit millisecond latency to end-users or on-premises installations in the Denver metro area.</a:t>
            </a: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Single Sign-On is now available in the Europe (Paris) region</a:t>
            </a:r>
          </a:p>
        </p:txBody>
      </p:sp>
      <p:sp>
        <p:nvSpPr>
          <p:cNvPr id="3" name="Content Placeholder 2"/>
          <p:cNvSpPr>
            <a:spLocks noGrp="1"/>
          </p:cNvSpPr>
          <p:nvPr>
            <p:ph sz="half" idx="1"/>
          </p:nvPr>
        </p:nvSpPr>
        <p:spPr/>
        <p:txBody>
          <a:bodyPr/>
          <a:lstStyle/>
          <a:p>
            <a:r>
              <a:t>27 Jul</a:t>
            </a:r>
          </a:p>
          <a:p>
            <a:endParaRPr/>
          </a:p>
          <a:p>
            <a:r>
              <a:t>AWS Single Sign-On (SSO) is now available in the Europe (Paris) region. For a full list of the regions where AWS SSO is available, see the AWS Regional Services List.</a:t>
            </a: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announces support for UK Postal Code built-in slot type</a:t>
            </a:r>
          </a:p>
        </p:txBody>
      </p:sp>
      <p:sp>
        <p:nvSpPr>
          <p:cNvPr id="3" name="Content Placeholder 2"/>
          <p:cNvSpPr>
            <a:spLocks noGrp="1"/>
          </p:cNvSpPr>
          <p:nvPr>
            <p:ph sz="half" idx="1"/>
          </p:nvPr>
        </p:nvSpPr>
        <p:spPr/>
        <p:txBody>
          <a:bodyPr>
            <a:normAutofit fontScale="92500"/>
          </a:bodyPr>
          <a:lstStyle/>
          <a:p>
            <a:r>
              <a:t>27 Jul</a:t>
            </a:r>
          </a:p>
          <a:p>
            <a:endParaRPr/>
          </a:p>
          <a:p>
            <a:r>
              <a:t>Amazon Lex is a service for building conversational interfaces into any application using voice and text. With Amazon Lex, you can quickly and easily build sophisticated, natural language, conversational bots (“chatbots”), virtual agents, and IVR systems. Today, Amazon Lex launches UK Postal Code built-in slot type. You can now design bots to capture postal codes in the UK region. The postal codes extracted from user responses can then be used to fulfill user requests. For example, a retail chain may need to collect a caller’s postal code to provide the nearest store location and hours. With UK Postal Code built-in slot type, developers can easily capture the postal code and resolve it to a standardized format.</a:t>
            </a: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CloudTrail now supports logging of data events for Amazon EBS direct APIs</a:t>
            </a:r>
          </a:p>
        </p:txBody>
      </p:sp>
      <p:sp>
        <p:nvSpPr>
          <p:cNvPr id="3" name="Content Placeholder 2"/>
          <p:cNvSpPr>
            <a:spLocks noGrp="1"/>
          </p:cNvSpPr>
          <p:nvPr>
            <p:ph sz="half" idx="1"/>
          </p:nvPr>
        </p:nvSpPr>
        <p:spPr/>
        <p:txBody>
          <a:bodyPr>
            <a:normAutofit fontScale="92500" lnSpcReduction="10000"/>
          </a:bodyPr>
          <a:lstStyle/>
          <a:p>
            <a:r>
              <a:t>27 Jul</a:t>
            </a:r>
          </a:p>
          <a:p>
            <a:endParaRPr/>
          </a:p>
          <a:p>
            <a:r>
              <a:t>AWS CloudTrail now supports logging of data events for Amazon EBS direct APIs that customers can use to identify when their Amazon EBS snapshots are accessed using the ListSnapshotBlocks, ListChangedBlocks, GetSnapshotBlock, or PutSnapshotBlock APIs by users in their AWS account. These data events are delivered to an Amazon S3 bucket and Amazon CloudWatch Events, and help customers’ security and operations teams detect unauthorized access and take immediate action. Until now, customers could use management events logged in AWS CloudTrail to identify when EBS snapshots were created, copied, or shared with other AWS accounts. With this new capability, customers can also identify when users in their AWS account access Amazon EBS snapshots at the block level using EBS direct APIs.</a:t>
            </a: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FreeRTOS 202107.00 includes SNTP library for time information in IoT applications</a:t>
            </a:r>
          </a:p>
        </p:txBody>
      </p:sp>
      <p:sp>
        <p:nvSpPr>
          <p:cNvPr id="3" name="Content Placeholder 2"/>
          <p:cNvSpPr>
            <a:spLocks noGrp="1"/>
          </p:cNvSpPr>
          <p:nvPr>
            <p:ph sz="half" idx="1"/>
          </p:nvPr>
        </p:nvSpPr>
        <p:spPr/>
        <p:txBody>
          <a:bodyPr/>
          <a:lstStyle/>
          <a:p>
            <a:r>
              <a:t>27 Jul</a:t>
            </a:r>
          </a:p>
          <a:p>
            <a:endParaRPr/>
          </a:p>
          <a:p>
            <a:r>
              <a:t>FreeRTOS 202107.00 now includes the Simple Network Time Protocol (SNTP) client library to make it easier for developers to add time information in their FreeRTOS-based IoT applications. The SNTP client library, named coreSNTP, is used to synchronize clocks between a device and the cloud.</a:t>
            </a: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CTI Adapter for Salesforce now provides guided setup</a:t>
            </a:r>
          </a:p>
        </p:txBody>
      </p:sp>
      <p:sp>
        <p:nvSpPr>
          <p:cNvPr id="3" name="Content Placeholder 2"/>
          <p:cNvSpPr>
            <a:spLocks noGrp="1"/>
          </p:cNvSpPr>
          <p:nvPr>
            <p:ph sz="half" idx="1"/>
          </p:nvPr>
        </p:nvSpPr>
        <p:spPr/>
        <p:txBody>
          <a:bodyPr/>
          <a:lstStyle/>
          <a:p>
            <a:r>
              <a:t>26 Jul</a:t>
            </a:r>
          </a:p>
          <a:p>
            <a:endParaRPr/>
          </a:p>
          <a:p>
            <a:r>
              <a:t>The Amazon Connect Computer Telephony Integration (CTI) Adapter for Salesforce  now provides an improved guided setup after installing the CTI Adapter AppExchange package. Customers leveraging the guided setup will accelerate the time to deploy and take the first call to minutes. In addition, each step of the guide will have contextual documentation links for additional information on the setup. The guided setup will validate configuration settings to minimize risk of misconfigurations when installing the CTI Adapter into Salesforce Lightning or Classic.</a:t>
            </a: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App2Container now supports containerization of complex multi-tier Windows applications</a:t>
            </a:r>
          </a:p>
        </p:txBody>
      </p:sp>
      <p:sp>
        <p:nvSpPr>
          <p:cNvPr id="3" name="Content Placeholder 2"/>
          <p:cNvSpPr>
            <a:spLocks noGrp="1"/>
          </p:cNvSpPr>
          <p:nvPr>
            <p:ph sz="half" idx="1"/>
          </p:nvPr>
        </p:nvSpPr>
        <p:spPr/>
        <p:txBody>
          <a:bodyPr>
            <a:normAutofit fontScale="92500" lnSpcReduction="20000"/>
          </a:bodyPr>
          <a:lstStyle/>
          <a:p>
            <a:r>
              <a:t>26 Jul</a:t>
            </a:r>
          </a:p>
          <a:p>
            <a:endParaRPr/>
          </a:p>
          <a:p>
            <a:r>
              <a:t>AWS App2Container (A2C) now supports containerization and deployment of multi-tier Windows applications. This is in addition to A2C support for ASP.NET applications. With this release, customers can now containerize the following types of Windows applications: a) Multi-tier Windows applications — IIS applications or Windows services running in multi-tier architecture containerized separately, deployed to ECS or EKS clusters, and create network resources for communication between deployed applications, b) Cooperating applications on the same host - multiple applications running on the same host containerized in a single container. This release also allows customers to containerize a Windows service in a stand-alone container. Customers can continue to deploy these containerized multi-tier applications to their choice of container platforms, ECS or EKS using A2C.</a:t>
            </a: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the pg_partman extension for managing time or serial id based table partitioning in AWS GovCloud (US) Regions</a:t>
            </a:r>
          </a:p>
        </p:txBody>
      </p:sp>
      <p:sp>
        <p:nvSpPr>
          <p:cNvPr id="3" name="Content Placeholder 2"/>
          <p:cNvSpPr>
            <a:spLocks noGrp="1"/>
          </p:cNvSpPr>
          <p:nvPr>
            <p:ph sz="half" idx="1"/>
          </p:nvPr>
        </p:nvSpPr>
        <p:spPr/>
        <p:txBody>
          <a:bodyPr/>
          <a:lstStyle/>
          <a:p>
            <a:r>
              <a:t>26 Jul</a:t>
            </a:r>
          </a:p>
          <a:p>
            <a:endParaRPr/>
          </a:p>
          <a:p>
            <a:r>
              <a:t>Amazon Aurora PostgreSQL-Compatible Edition supports the Partition Manager (pg_partman) extension in AWS GovCloud (US) regions. pg_partman is a PostgreSQL extension that helps you to manage both time series and serial-based table partition sets, including automatic management of partition creation and runtime maintenance. pg_partman works with PostgreSQL native partitioning so users can benefit from significant performance enhancements.</a:t>
            </a: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Autopilot and Automatic Model Tuning now support more refined access control using Condition Key Policies</a:t>
            </a:r>
          </a:p>
        </p:txBody>
      </p:sp>
      <p:sp>
        <p:nvSpPr>
          <p:cNvPr id="3" name="Content Placeholder 2"/>
          <p:cNvSpPr>
            <a:spLocks noGrp="1"/>
          </p:cNvSpPr>
          <p:nvPr>
            <p:ph sz="half" idx="1"/>
          </p:nvPr>
        </p:nvSpPr>
        <p:spPr/>
        <p:txBody>
          <a:bodyPr/>
          <a:lstStyle/>
          <a:p>
            <a:r>
              <a:t>26 Jul</a:t>
            </a:r>
          </a:p>
          <a:p>
            <a:endParaRPr/>
          </a:p>
          <a:p>
            <a:r>
              <a:t>Amazon SageMaker Autopilot automatically builds, trains and tunes the best machine learning models based on your data, while giving you full control and visibility, and Amazon SageMaker Automatic Model Tuning (AMT)  automatically finds the best version of a machine learning model for any algorithm and data set. Autopilot and AMT now support enhanced access control using Amazon SageMaker-specific condition keys. You can use these keys in the Condition element of an Identity and Access Management (IAM) policy to further refine the conditions under which the policy statement applies.</a:t>
            </a: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Updated versions of AWS IoT Device Tester for FreeRTOS and AWS IoT Device Tester for AWS IoT Greengrass are now available</a:t>
            </a:r>
          </a:p>
        </p:txBody>
      </p:sp>
      <p:sp>
        <p:nvSpPr>
          <p:cNvPr id="3" name="Content Placeholder 2"/>
          <p:cNvSpPr>
            <a:spLocks noGrp="1"/>
          </p:cNvSpPr>
          <p:nvPr>
            <p:ph sz="half" idx="1"/>
          </p:nvPr>
        </p:nvSpPr>
        <p:spPr/>
        <p:txBody>
          <a:bodyPr/>
          <a:lstStyle/>
          <a:p>
            <a:r>
              <a:t>26 Jul</a:t>
            </a:r>
          </a:p>
          <a:p>
            <a:endParaRPr/>
          </a:p>
          <a:p>
            <a:r>
              <a:t>AWS IoT Device Tester for FreeRTOS and AWS IoT Device Tester for AWS IoT Greengrass are test automation tools for your IoT devices running FreeRTOS and AWS IoT Greengrass.</a:t>
            </a: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JumpStart introduces new vision models for image feature vector extraction and object detection</a:t>
            </a:r>
          </a:p>
        </p:txBody>
      </p:sp>
      <p:sp>
        <p:nvSpPr>
          <p:cNvPr id="3" name="Content Placeholder 2"/>
          <p:cNvSpPr>
            <a:spLocks noGrp="1"/>
          </p:cNvSpPr>
          <p:nvPr>
            <p:ph sz="half" idx="1"/>
          </p:nvPr>
        </p:nvSpPr>
        <p:spPr/>
        <p:txBody>
          <a:bodyPr/>
          <a:lstStyle/>
          <a:p>
            <a:r>
              <a:t>26 Jul</a:t>
            </a:r>
          </a:p>
          <a:p>
            <a:endParaRPr/>
          </a:p>
          <a:p>
            <a:r>
              <a:t>Amazon SageMaker JumpStart helps you quickly and easily solve your machine learning problems with one-click access to popular model collections from TensorFlow Hub, PyTorch Hub and Hugging Face (also known as “model zoos”), and to 16 end-to-end solutions that solve common business problems such demand forecasting, fraud detection and document understanding.</a:t>
            </a: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releases WorkDocs Connector</a:t>
            </a:r>
          </a:p>
        </p:txBody>
      </p:sp>
      <p:sp>
        <p:nvSpPr>
          <p:cNvPr id="3" name="Content Placeholder 2"/>
          <p:cNvSpPr>
            <a:spLocks noGrp="1"/>
          </p:cNvSpPr>
          <p:nvPr>
            <p:ph sz="half" idx="1"/>
          </p:nvPr>
        </p:nvSpPr>
        <p:spPr/>
        <p:txBody>
          <a:bodyPr/>
          <a:lstStyle/>
          <a:p>
            <a:r>
              <a:t>23 Jul</a:t>
            </a:r>
          </a:p>
          <a:p>
            <a:endParaRPr/>
          </a:p>
          <a:p>
            <a:r>
              <a:t>Amazon Kendra is an intelligent search service powered by machine learning, enabling organizations to provide relevant information to customers and employees, when they need it. Starting today, AWS customers can index and search documents from Amazon WorkDocs – a fully managed, secure content creation, storage, and collaboration service.</a:t>
            </a: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Discovering Hot Topics Using Machine Learning solution now allows businesses to analyze news article content for sentiment and topic analysis</a:t>
            </a:r>
          </a:p>
        </p:txBody>
      </p:sp>
      <p:sp>
        <p:nvSpPr>
          <p:cNvPr id="3" name="Content Placeholder 2"/>
          <p:cNvSpPr>
            <a:spLocks noGrp="1"/>
          </p:cNvSpPr>
          <p:nvPr>
            <p:ph sz="half" idx="1"/>
          </p:nvPr>
        </p:nvSpPr>
        <p:spPr/>
        <p:txBody>
          <a:bodyPr/>
          <a:lstStyle/>
          <a:p>
            <a:r>
              <a:t>23 Jul</a:t>
            </a:r>
          </a:p>
          <a:p>
            <a:endParaRPr/>
          </a:p>
          <a:p>
            <a:r>
              <a:t>AWS Solutions has updated Discovering Hot Topics using Machine Learning, an AWS Solutions Implementation that ingests text, image and video (video: upcoming feature) from online discourse in order to perform topic modeling, sentiment analysis on plain text and text embedded within images as well as detection of unsafe content in images.</a:t>
            </a: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Supports PostgreSQL 12.6, 11.11, 10.16, and 9.6.21 in AWS GovCloud (US) Regions</a:t>
            </a:r>
          </a:p>
        </p:txBody>
      </p:sp>
      <p:sp>
        <p:nvSpPr>
          <p:cNvPr id="3" name="Content Placeholder 2"/>
          <p:cNvSpPr>
            <a:spLocks noGrp="1"/>
          </p:cNvSpPr>
          <p:nvPr>
            <p:ph sz="half" idx="1"/>
          </p:nvPr>
        </p:nvSpPr>
        <p:spPr/>
        <p:txBody>
          <a:bodyPr/>
          <a:lstStyle/>
          <a:p>
            <a:r>
              <a:t>22 Jul</a:t>
            </a:r>
          </a:p>
          <a:p>
            <a:endParaRPr/>
          </a:p>
          <a:p>
            <a:r>
              <a:t>Following the announcement of updates to the PostgreSQL database  by the open source community, we have updated Amazon Aurora PostgreSQL-Compatible Edition to support PostgreSQL 12.6, 11.11, 10.16, and 9.6.21 in AWS GovCloud (US) regions. These releases contain bug fixes and improvements by the PostgreSQL community. As a reminder, Amazon Aurora PostgreSQL 9.6 will reach end of life on January 31, 2022.</a:t>
            </a: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pg_cron extension for scheduling database jobs in AWS GovCloud (US) Regions</a:t>
            </a:r>
          </a:p>
        </p:txBody>
      </p:sp>
      <p:sp>
        <p:nvSpPr>
          <p:cNvPr id="3" name="Content Placeholder 2"/>
          <p:cNvSpPr>
            <a:spLocks noGrp="1"/>
          </p:cNvSpPr>
          <p:nvPr>
            <p:ph sz="half" idx="1"/>
          </p:nvPr>
        </p:nvSpPr>
        <p:spPr/>
        <p:txBody>
          <a:bodyPr/>
          <a:lstStyle/>
          <a:p>
            <a:r>
              <a:t>22 Jul</a:t>
            </a:r>
          </a:p>
          <a:p>
            <a:endParaRPr/>
          </a:p>
          <a:p>
            <a:r>
              <a:t>Amazon Aurora PostgreSQL-Compatible Edition adds support for the pg_cron extension in AWS GovCloud (US) regions. pg_cron allows you to use cron syntax to schedule PostgreSQL commands directly within your database. You can use pg_cron to schedule tasks such as periodically rolling up data for analytic reports, refreshing materialized views, and scheduling vacuum jobs to reclaim storage. pg_cron includes an AWS open source contribution  that adds an audit table so that you can query the outcome of each scheduled job.</a:t>
            </a: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Aurora PostgreSQL supports the pg_bigm extension for faster full text search in AWS GovCloud (US) Regions</a:t>
            </a:r>
          </a:p>
        </p:txBody>
      </p:sp>
      <p:sp>
        <p:nvSpPr>
          <p:cNvPr id="3" name="Content Placeholder 2"/>
          <p:cNvSpPr>
            <a:spLocks noGrp="1"/>
          </p:cNvSpPr>
          <p:nvPr>
            <p:ph sz="half" idx="1"/>
          </p:nvPr>
        </p:nvSpPr>
        <p:spPr/>
        <p:txBody>
          <a:bodyPr/>
          <a:lstStyle/>
          <a:p>
            <a:r>
              <a:t>22 Jul</a:t>
            </a:r>
          </a:p>
          <a:p>
            <a:endParaRPr/>
          </a:p>
          <a:p>
            <a:r>
              <a:t>Amazon Aurora PostgreSQL-Compatible Edition adds support for the pg_bigm extension in AWS GovCloud (US) regions. pg_bigm extension provides full text search capability in PostgreSQL . This extension allows a user to create *2-gram* (bigram) index for faster full text search.</a:t>
            </a: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Automatic Revision Publishing for AWS Data Exchange</a:t>
            </a:r>
          </a:p>
        </p:txBody>
      </p:sp>
      <p:sp>
        <p:nvSpPr>
          <p:cNvPr id="3" name="Content Placeholder 2"/>
          <p:cNvSpPr>
            <a:spLocks noGrp="1"/>
          </p:cNvSpPr>
          <p:nvPr>
            <p:ph sz="half" idx="1"/>
          </p:nvPr>
        </p:nvSpPr>
        <p:spPr/>
        <p:txBody>
          <a:bodyPr/>
          <a:lstStyle/>
          <a:p>
            <a:r>
              <a:t>22 Jul</a:t>
            </a:r>
          </a:p>
          <a:p>
            <a:endParaRPr/>
          </a:p>
          <a:p>
            <a:r>
              <a:t>Providers using AWS Data Exchange can now publish new revisions to their data products more easily. Before this launch, providers were required to take both finalization and publishing steps to add new revisions to products. Additionally, if a revision was included in multiple products, providers had to take other publishing actions for each individual product they wanted to update.</a:t>
            </a:r>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announces data source connector for Power BI</a:t>
            </a:r>
          </a:p>
        </p:txBody>
      </p:sp>
      <p:sp>
        <p:nvSpPr>
          <p:cNvPr id="3" name="Content Placeholder 2"/>
          <p:cNvSpPr>
            <a:spLocks noGrp="1"/>
          </p:cNvSpPr>
          <p:nvPr>
            <p:ph sz="half" idx="1"/>
          </p:nvPr>
        </p:nvSpPr>
        <p:spPr/>
        <p:txBody>
          <a:bodyPr/>
          <a:lstStyle/>
          <a:p>
            <a:r>
              <a:t>21 Jul</a:t>
            </a:r>
          </a:p>
          <a:p>
            <a:endParaRPr/>
          </a:p>
          <a:p>
            <a:r>
              <a:t>With the July release of Microsoft Power BI Desktop , you can now create reports and dashboards using a built in, Microsoft-certified connector for Amazon Athena. This release makes it possible for AWS customers using Power BI for business intelligence to leverage their Amazon S3 data lake and federated data sources  to analyze, visualize, and share insights with Power BI.</a:t>
            </a: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Connect Adds Colombia Phone Numbers</a:t>
            </a:r>
          </a:p>
        </p:txBody>
      </p:sp>
      <p:sp>
        <p:nvSpPr>
          <p:cNvPr id="3" name="Content Placeholder 2"/>
          <p:cNvSpPr>
            <a:spLocks noGrp="1"/>
          </p:cNvSpPr>
          <p:nvPr>
            <p:ph sz="half" idx="1"/>
          </p:nvPr>
        </p:nvSpPr>
        <p:spPr/>
        <p:txBody>
          <a:bodyPr/>
          <a:lstStyle/>
          <a:p>
            <a:r>
              <a:t>21 Jul</a:t>
            </a:r>
          </a:p>
          <a:p>
            <a:endParaRPr/>
          </a:p>
          <a:p>
            <a:r>
              <a:t>Amazon Connect now supports claiming local toll-free and direct inward dial phone numbers in Colombia in the US East (N. Virginia) and US West (Oregon) regions. These new local telephony services enable you to support end-customers in Colombia.</a:t>
            </a: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announces a new AWS Training Partner program</a:t>
            </a:r>
          </a:p>
        </p:txBody>
      </p:sp>
      <p:sp>
        <p:nvSpPr>
          <p:cNvPr id="3" name="Content Placeholder 2"/>
          <p:cNvSpPr>
            <a:spLocks noGrp="1"/>
          </p:cNvSpPr>
          <p:nvPr>
            <p:ph sz="half" idx="1"/>
          </p:nvPr>
        </p:nvSpPr>
        <p:spPr/>
        <p:txBody>
          <a:bodyPr/>
          <a:lstStyle/>
          <a:p>
            <a:r>
              <a:t>20 Jul</a:t>
            </a:r>
          </a:p>
          <a:p>
            <a:endParaRPr/>
          </a:p>
          <a:p>
            <a:r>
              <a:t>The new AWS Training Partner (ATP) program enables AWS customers to work with a single, trusted Partner who can offer, deliver, and/or resell official AWS-authored training. All AWS Training Partners are selected based on their quality and expertise in providing training. They must continually meet or exceed rigorous criteria to maintain their status in the program.</a:t>
            </a: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Cross-Region Automated Backups Regional Expansion</a:t>
            </a:r>
          </a:p>
        </p:txBody>
      </p:sp>
      <p:sp>
        <p:nvSpPr>
          <p:cNvPr id="3" name="Content Placeholder 2"/>
          <p:cNvSpPr>
            <a:spLocks noGrp="1"/>
          </p:cNvSpPr>
          <p:nvPr>
            <p:ph sz="half" idx="1"/>
          </p:nvPr>
        </p:nvSpPr>
        <p:spPr/>
        <p:txBody>
          <a:bodyPr/>
          <a:lstStyle/>
          <a:p>
            <a:r>
              <a:t>20 Jul</a:t>
            </a:r>
          </a:p>
          <a:p>
            <a:endParaRPr/>
          </a:p>
          <a:p>
            <a:r>
              <a:t>Amazon Relational Database Service (Amazon RDS) Cross-Region Automated Backups feature is now available in the AWS Regions: US East (N. Virginia), US East (Ohio), US West (N. California), US West (Oregon), Asia Pacific (Tokyo), Asia Pacific (Seoul), Asia Pacific (Osaka), Asia Pacific (Mumbai), Asia Pacific (Singapore), Asia Pacific (Sydney), Canada (Central), EU (Frankfurt), EU (Stockholm), EU (Ireland), EU (London), EU (Paris), South America (Sao Paulo), AWS GovCloud (US-West) and AWS GovCloud (US-East).</a:t>
            </a: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Data Sharing is now available in AWS GovCloud (US) Regions</a:t>
            </a:r>
          </a:p>
        </p:txBody>
      </p:sp>
      <p:sp>
        <p:nvSpPr>
          <p:cNvPr id="3" name="Content Placeholder 2"/>
          <p:cNvSpPr>
            <a:spLocks noGrp="1"/>
          </p:cNvSpPr>
          <p:nvPr>
            <p:ph sz="half" idx="1"/>
          </p:nvPr>
        </p:nvSpPr>
        <p:spPr/>
        <p:txBody>
          <a:bodyPr>
            <a:normAutofit fontScale="92500"/>
          </a:bodyPr>
          <a:lstStyle/>
          <a:p>
            <a:r>
              <a:t>20 Jul</a:t>
            </a:r>
          </a:p>
          <a:p>
            <a:endParaRPr/>
          </a:p>
          <a:p>
            <a:r>
              <a:t>Amazon Redshift Data Sharing, a secure and easy way to share live data across Redshift clusters, is now available in AWS GovCloud(US) regions. Ability to share data across Redshift clusters in the same AWS account is generally available and sharing across Redshift clusters that are in separate AWS accounts in the same region is available as preview. Data Sharing enables instant, granular, and high-performance data access across Amazon Redshift clusters without the need to copy or move data. Data Sharing provides live access to the data so that your users always see most up-to-date and consistent information as it is updated in the data warehouse. Data Sharing can be used on your Amazon Redshift RA3 clusters at no additional cost.</a:t>
            </a: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RoboMaker WorldForge now supports adding doors to indoor residential simulation worlds</a:t>
            </a:r>
          </a:p>
        </p:txBody>
      </p:sp>
      <p:sp>
        <p:nvSpPr>
          <p:cNvPr id="3" name="Content Placeholder 2"/>
          <p:cNvSpPr>
            <a:spLocks noGrp="1"/>
          </p:cNvSpPr>
          <p:nvPr>
            <p:ph sz="half" idx="1"/>
          </p:nvPr>
        </p:nvSpPr>
        <p:spPr/>
        <p:txBody>
          <a:bodyPr/>
          <a:lstStyle/>
          <a:p>
            <a:r>
              <a:t>20 Jul</a:t>
            </a:r>
          </a:p>
          <a:p>
            <a:endParaRPr/>
          </a:p>
          <a:p>
            <a:r>
              <a:t>AWS RoboMaker WorldForge, a capability that makes it faster, simpler, and less expensive to create a multitude of virtual 3D worlds, now supports adding doors to indoor residential simulation worlds. With this new feature , robotics developers can add doors to connect rooms on the same floor of their indoor residential simulation world to test robot behaviors like navigating through doors and avoiding closed doors. Robotics developers can specify the initial angle doors are open in order to test their robot behaviors in a variety of simulated scenarios.</a:t>
            </a:r>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CodeBuild is now available in AWS Asia Pacific (Osaka) Region</a:t>
            </a:r>
          </a:p>
        </p:txBody>
      </p:sp>
      <p:sp>
        <p:nvSpPr>
          <p:cNvPr id="3" name="Content Placeholder 2"/>
          <p:cNvSpPr>
            <a:spLocks noGrp="1"/>
          </p:cNvSpPr>
          <p:nvPr>
            <p:ph sz="half" idx="1"/>
          </p:nvPr>
        </p:nvSpPr>
        <p:spPr/>
        <p:txBody>
          <a:bodyPr>
            <a:normAutofit lnSpcReduction="10000"/>
          </a:bodyPr>
          <a:lstStyle/>
          <a:p>
            <a:r>
              <a:t>20 Jul</a:t>
            </a:r>
          </a:p>
          <a:p>
            <a:endParaRPr/>
          </a:p>
          <a:p>
            <a:r>
              <a:t>AWS CodeBuild is now available in the AWS Asia Pacific (Osaka) Region. AWS CodeBuild is a fully managed continuous integration service that compiles source code, runs tests, and produces software packages that are ready to deploy. With CodeBuild, you don’t need to provision, manage, and scale your own build servers. CodeBuild scales continuously and processes multiple builds concurrently, so your builds are not left waiting in a queue. You can get started quickly by using prepackaged build environments, or you can create custom build environments that use your own build tools. Using CodeBuild, you are charged by the minute for the compute resources you use.</a:t>
            </a:r>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Schema Registry is now available in AWS GovCloud (US) regions</a:t>
            </a:r>
          </a:p>
        </p:txBody>
      </p:sp>
      <p:sp>
        <p:nvSpPr>
          <p:cNvPr id="3" name="Content Placeholder 2"/>
          <p:cNvSpPr>
            <a:spLocks noGrp="1"/>
          </p:cNvSpPr>
          <p:nvPr>
            <p:ph sz="half" idx="1"/>
          </p:nvPr>
        </p:nvSpPr>
        <p:spPr/>
        <p:txBody>
          <a:bodyPr/>
          <a:lstStyle/>
          <a:p>
            <a:r>
              <a:t>20 Jul</a:t>
            </a:r>
          </a:p>
          <a:p>
            <a:endParaRPr/>
          </a:p>
          <a:p>
            <a:endParaRPr/>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Edit in the Cloud</a:t>
            </a:r>
          </a:p>
        </p:txBody>
      </p:sp>
      <p:sp>
        <p:nvSpPr>
          <p:cNvPr id="3" name="Content Placeholder 2"/>
          <p:cNvSpPr>
            <a:spLocks noGrp="1"/>
          </p:cNvSpPr>
          <p:nvPr>
            <p:ph sz="half" idx="1"/>
          </p:nvPr>
        </p:nvSpPr>
        <p:spPr/>
        <p:txBody>
          <a:bodyPr/>
          <a:lstStyle/>
          <a:p>
            <a:r>
              <a:t>20 Jul</a:t>
            </a:r>
          </a:p>
          <a:p>
            <a:endParaRPr/>
          </a:p>
          <a:p>
            <a:r>
              <a:t>AWS Edit in the Cloud is an AWS Solutions Implementation that helps the content creator to build a virtual editing environment on AWS. This allows your editors and creative professionals to work from anywhere in the world using only a laptop with a high-speed connection. Leveraging the AWS Cloud for editorial and content delivery, this solution brings collaborators together to publish content to your preferred platform using high-speed internet.</a:t>
            </a: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SQL Server Supports New Minor Versions for SQL Server 2017 and 2016</a:t>
            </a:r>
          </a:p>
        </p:txBody>
      </p:sp>
      <p:sp>
        <p:nvSpPr>
          <p:cNvPr id="3" name="Content Placeholder 2"/>
          <p:cNvSpPr>
            <a:spLocks noGrp="1"/>
          </p:cNvSpPr>
          <p:nvPr>
            <p:ph sz="half" idx="1"/>
          </p:nvPr>
        </p:nvSpPr>
        <p:spPr/>
        <p:txBody>
          <a:bodyPr/>
          <a:lstStyle/>
          <a:p>
            <a:r>
              <a:t>20 Jul</a:t>
            </a:r>
          </a:p>
          <a:p>
            <a:endParaRPr/>
          </a:p>
          <a:p>
            <a:endParaRPr/>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availability of Red Hat Enterprise Linux with Microsoft SQL Server for Amazon EC2</a:t>
            </a:r>
          </a:p>
        </p:txBody>
      </p:sp>
      <p:sp>
        <p:nvSpPr>
          <p:cNvPr id="3" name="Content Placeholder 2"/>
          <p:cNvSpPr>
            <a:spLocks noGrp="1"/>
          </p:cNvSpPr>
          <p:nvPr>
            <p:ph sz="half" idx="1"/>
          </p:nvPr>
        </p:nvSpPr>
        <p:spPr/>
        <p:txBody>
          <a:bodyPr/>
          <a:lstStyle/>
          <a:p>
            <a:r>
              <a:t>20 Jul</a:t>
            </a:r>
          </a:p>
          <a:p>
            <a:endParaRPr/>
          </a:p>
          <a:p>
            <a:r>
              <a:t>Today we are announcing the availability of AWS provided License included Red Hat Enterprise Linux (RHEL) with Microsoft SQL Server Amazon Machine Images (AMI). Customers can now combine the scale, performance, and elasticity of Amazon EC2 with consistency, reliability, and high performance of Microsoft SQL Server on RHEL to deploy mission critical transactional systems and data warehouses.</a:t>
            </a:r>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IQ now supports chat response directly through email</a:t>
            </a:r>
          </a:p>
        </p:txBody>
      </p:sp>
      <p:sp>
        <p:nvSpPr>
          <p:cNvPr id="3" name="Content Placeholder 2"/>
          <p:cNvSpPr>
            <a:spLocks noGrp="1"/>
          </p:cNvSpPr>
          <p:nvPr>
            <p:ph sz="half" idx="1"/>
          </p:nvPr>
        </p:nvSpPr>
        <p:spPr/>
        <p:txBody>
          <a:bodyPr/>
          <a:lstStyle/>
          <a:p>
            <a:r>
              <a:t>20 Jul</a:t>
            </a:r>
          </a:p>
          <a:p>
            <a:endParaRPr/>
          </a:p>
          <a:p>
            <a:r>
              <a:t>You can now respond to AWS IQ messages from experts and buyers directly from your email, without logging into AWS IQ. If you are offline and receive responses from buyers or experts, you will receive unread responses via email. Reply to the email or log in to AWS IQ to continue the conversation. All responses will appear as chat messages in the AWS IQ application.</a:t>
            </a: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Transcribe now supports streaming transcription in Amazon Web Services China</a:t>
            </a:r>
          </a:p>
        </p:txBody>
      </p:sp>
      <p:sp>
        <p:nvSpPr>
          <p:cNvPr id="3" name="Content Placeholder 2"/>
          <p:cNvSpPr>
            <a:spLocks noGrp="1"/>
          </p:cNvSpPr>
          <p:nvPr>
            <p:ph sz="half" idx="1"/>
          </p:nvPr>
        </p:nvSpPr>
        <p:spPr/>
        <p:txBody>
          <a:bodyPr/>
          <a:lstStyle/>
          <a:p>
            <a:r>
              <a:t>19 Jul</a:t>
            </a:r>
          </a:p>
          <a:p>
            <a:endParaRPr/>
          </a:p>
          <a:p>
            <a:r>
              <a:t>Amazon Transcribe is an automatic speech recognition (ASR) service that makes it easy for you to add speech-to-text capabilities to your applications. We are excited to announce streaming transcription support in the Amazon Web Services China (Beijing) Region, Operated by Sinnet, and the Amazon Web Services China (Ningxia) Region, Operated by NWCD. </a:t>
            </a: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Tamper Proof Quality Data Using Amazon QLDB</a:t>
            </a:r>
          </a:p>
        </p:txBody>
      </p:sp>
      <p:sp>
        <p:nvSpPr>
          <p:cNvPr id="3" name="Content Placeholder 2"/>
          <p:cNvSpPr>
            <a:spLocks noGrp="1"/>
          </p:cNvSpPr>
          <p:nvPr>
            <p:ph sz="half" idx="1"/>
          </p:nvPr>
        </p:nvSpPr>
        <p:spPr/>
        <p:txBody>
          <a:bodyPr/>
          <a:lstStyle/>
          <a:p>
            <a:r>
              <a:t>19 Jul</a:t>
            </a:r>
          </a:p>
          <a:p>
            <a:endParaRPr/>
          </a:p>
          <a:p>
            <a:r>
              <a:t>We are delighted to announce the addition of Tamper Proof Quality Data Using Amazon QLDB to the AWS Solutions Implementations portfolio. AWS Solutions Implementations help you solve common problems and build faster using the AWS platform.</a:t>
            </a: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Automation now supports upgrade of SQL Server 2012</a:t>
            </a:r>
          </a:p>
        </p:txBody>
      </p:sp>
      <p:sp>
        <p:nvSpPr>
          <p:cNvPr id="3" name="Content Placeholder 2"/>
          <p:cNvSpPr>
            <a:spLocks noGrp="1"/>
          </p:cNvSpPr>
          <p:nvPr>
            <p:ph sz="half" idx="1"/>
          </p:nvPr>
        </p:nvSpPr>
        <p:spPr/>
        <p:txBody>
          <a:bodyPr/>
          <a:lstStyle/>
          <a:p>
            <a:r>
              <a:t>16 Jul</a:t>
            </a:r>
          </a:p>
          <a:p>
            <a:endParaRPr/>
          </a:p>
          <a:p>
            <a:r>
              <a:t>AWS Systems Manager Automation now enables customers to upgrade SQL Server 2012 or later on Amazon EC2. Microsoft SQL Server 2012 will reach extended end-of-support on 7/12/2022. Customers can use AWS Systems Manager Automation runbook to easily upgrade SQL Server 2012 to newer supported versions such as SQL Server 2014, 2016, 2017, and 2019. The following upgrade paths become available across SQL Server Enterprise, Standard, and Web editions.</a:t>
            </a: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customers can now view all the labels supported by Amazon Rekognition</a:t>
            </a:r>
          </a:p>
        </p:txBody>
      </p:sp>
      <p:sp>
        <p:nvSpPr>
          <p:cNvPr id="3" name="Content Placeholder 2"/>
          <p:cNvSpPr>
            <a:spLocks noGrp="1"/>
          </p:cNvSpPr>
          <p:nvPr>
            <p:ph sz="half" idx="1"/>
          </p:nvPr>
        </p:nvSpPr>
        <p:spPr/>
        <p:txBody>
          <a:bodyPr>
            <a:normAutofit fontScale="92500" lnSpcReduction="10000"/>
          </a:bodyPr>
          <a:lstStyle/>
          <a:p>
            <a:r>
              <a:t>16 Jul</a:t>
            </a:r>
          </a:p>
          <a:p>
            <a:endParaRPr/>
          </a:p>
          <a:p>
            <a:r>
              <a:t>Amazon Rekognition is a machine learning (ML) based service that can analyze images and videos to detect objects, people, faces, text, scenes, activities, and inappropriate content. Label Detection  makes it easy for customers to detect thousands of objects, scenes, actions, or concepts found in an image or video based on its contents. For example, a photo taken during a tropical beach holiday may contain labels such as ‘Palm Tree’ (object), ‘Beach’ (scene), ‘Running’ (action), and ‘Outdoors’ (concept). In addition, Amazon Rekognition provides bounding boxes for common objects such as cars, furniture, apparel, or pets. Starting today, customers can view the complete list of labels and object bounding boxes supported by Amazon Rekognition, to quickly identify those that are relevant to their applications and use cases.</a:t>
            </a:r>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License Manager announces distribution to AWS Organizations ID for AWS Marketplace customers</a:t>
            </a:r>
          </a:p>
        </p:txBody>
      </p:sp>
      <p:sp>
        <p:nvSpPr>
          <p:cNvPr id="3" name="Content Placeholder 2"/>
          <p:cNvSpPr>
            <a:spLocks noGrp="1"/>
          </p:cNvSpPr>
          <p:nvPr>
            <p:ph sz="half" idx="1"/>
          </p:nvPr>
        </p:nvSpPr>
        <p:spPr/>
        <p:txBody>
          <a:bodyPr/>
          <a:lstStyle/>
          <a:p>
            <a:r>
              <a:t>16 Jul</a:t>
            </a:r>
          </a:p>
          <a:p>
            <a:endParaRPr/>
          </a:p>
          <a:p>
            <a:r>
              <a:t>Today, AWS announced that AWS Marketplace customers can now distribute to their AWS Organizations ID using Managed entitlements in AWS License Manager. AWS Marketplace uses Managed entitlements to enable buyers to govern, track, and distribute entitlements from a centrally managed license.</a:t>
            </a:r>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Athena expands Apache Hudi support</a:t>
            </a:r>
          </a:p>
        </p:txBody>
      </p:sp>
      <p:sp>
        <p:nvSpPr>
          <p:cNvPr id="3" name="Content Placeholder 2"/>
          <p:cNvSpPr>
            <a:spLocks noGrp="1"/>
          </p:cNvSpPr>
          <p:nvPr>
            <p:ph sz="half" idx="1"/>
          </p:nvPr>
        </p:nvSpPr>
        <p:spPr/>
        <p:txBody>
          <a:bodyPr/>
          <a:lstStyle/>
          <a:p>
            <a:r>
              <a:t>16 Jul</a:t>
            </a:r>
          </a:p>
          <a:p>
            <a:endParaRPr/>
          </a:p>
          <a:p>
            <a:r>
              <a:t>Amazon Athena has updated its integration with Apache Hudi to support new features and the latest 0.8.0 community release. Hudi is an open-source data management framework used to simplify incremental data processing in S3 data lakes. The updated integration enables you to use Athena to query Hudi 0.8.0 tables managed via Amazon EMR, Apache Spark, Apache Hive or other compatible services and includes new support for snapshot queries and reading bootstrapped tables.</a:t>
            </a: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is now HIPAA eligible</a:t>
            </a:r>
          </a:p>
        </p:txBody>
      </p:sp>
      <p:sp>
        <p:nvSpPr>
          <p:cNvPr id="3" name="Content Placeholder 2"/>
          <p:cNvSpPr>
            <a:spLocks noGrp="1"/>
          </p:cNvSpPr>
          <p:nvPr>
            <p:ph sz="half" idx="1"/>
          </p:nvPr>
        </p:nvSpPr>
        <p:spPr/>
        <p:txBody>
          <a:bodyPr/>
          <a:lstStyle/>
          <a:p>
            <a:r>
              <a:t>16 Jul</a:t>
            </a:r>
          </a:p>
          <a:p>
            <a:endParaRPr/>
          </a:p>
          <a:p>
            <a:r>
              <a:t>AWS Glue DataBrew, a visual data preparation service, is now AWS Health Insurance Portability and Accountability Act (HIPAA) eligible, allowing healthcare and life science customers to build analytics and machine learning solutions for HIPAA workloads in conjunction with other HIPAA-eligible AWS services. Customers are able to leverage DataBrew’s 250+ no-code transformations to clean and normalize healthcare data in order to reach better healthcare decisions, operate more efficiently, and help identify medical and scientific trends. </a:t>
            </a:r>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Edge Manager now integrates with AWS IoT Greengrass to simplify deployment to fleets of edge devices</a:t>
            </a:r>
          </a:p>
        </p:txBody>
      </p:sp>
      <p:sp>
        <p:nvSpPr>
          <p:cNvPr id="3" name="Content Placeholder 2"/>
          <p:cNvSpPr>
            <a:spLocks noGrp="1"/>
          </p:cNvSpPr>
          <p:nvPr>
            <p:ph sz="half" idx="1"/>
          </p:nvPr>
        </p:nvSpPr>
        <p:spPr/>
        <p:txBody>
          <a:bodyPr/>
          <a:lstStyle/>
          <a:p>
            <a:r>
              <a:t>16 Jul</a:t>
            </a:r>
          </a:p>
          <a:p>
            <a:endParaRPr/>
          </a:p>
          <a:p>
            <a:r>
              <a:t>Amazon SageMaker Edge Manager allows you to optimize, secure, monitor, and maintain machine learning (ML) models on fleets of smart cameras, robots, personal computers, and mobile devices. With SageMaker Edge Manager, you can use your own model deployment mechanism to bring model packages to edge devices. Starting today, SageMaker Edge Manager also integrates with AWS IoT Greengrass Version 2, allowing you to deploy your ML model packages and Edge Manager agent (the on-device inference engine of Edge Manager) to fleets of edge devices easily.</a:t>
            </a: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HealthLake is now Generally Available</a:t>
            </a:r>
          </a:p>
        </p:txBody>
      </p:sp>
      <p:sp>
        <p:nvSpPr>
          <p:cNvPr id="3" name="Content Placeholder 2"/>
          <p:cNvSpPr>
            <a:spLocks noGrp="1"/>
          </p:cNvSpPr>
          <p:nvPr>
            <p:ph sz="half" idx="1"/>
          </p:nvPr>
        </p:nvSpPr>
        <p:spPr/>
        <p:txBody>
          <a:bodyPr/>
          <a:lstStyle/>
          <a:p>
            <a:r>
              <a:t>15 Jul</a:t>
            </a:r>
          </a:p>
          <a:p>
            <a:endParaRPr/>
          </a:p>
          <a:p>
            <a:r>
              <a:t>Amazon HealthLake, now in General Availability, is a HIPAA-eligible service that enables healthcare providers, health insurance companies, and pharmaceutical companies to securely store, transform, query, and analyze health data at petabyte scale.</a:t>
            </a: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launches support for Indian English</a:t>
            </a:r>
          </a:p>
        </p:txBody>
      </p:sp>
      <p:sp>
        <p:nvSpPr>
          <p:cNvPr id="3" name="Content Placeholder 2"/>
          <p:cNvSpPr>
            <a:spLocks noGrp="1"/>
          </p:cNvSpPr>
          <p:nvPr>
            <p:ph sz="half" idx="1"/>
          </p:nvPr>
        </p:nvSpPr>
        <p:spPr/>
        <p:txBody>
          <a:bodyPr>
            <a:normAutofit fontScale="92500" lnSpcReduction="10000"/>
          </a:bodyPr>
          <a:lstStyle/>
          <a:p>
            <a:r>
              <a:t>15 Jul</a:t>
            </a:r>
          </a:p>
          <a:p>
            <a:endParaRPr/>
          </a:p>
          <a:p>
            <a:r>
              <a:t>We are delighted to announce that Amazon Lex now supports Indian English. Amazon Lex is a service for building conversational interfaces into any application using voice and text. Amazon Lex provides deep learning powered automatic speech recognition (ASR) for converting speech to text, and natural language understanding (NLU) to recognize the intent of the text, to enable you to build applications with highly engaging user experiences and lifelike conversational interactions. With Indian English, you can deliver a robust and localized conversational experience that accurately understands Indian dialects. You can also respond to users with natural sounding Amazon Polly Indian voices to provide a fully localized conversational experience.</a:t>
            </a: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Simple File Manager for Amazon EFS</a:t>
            </a:r>
          </a:p>
        </p:txBody>
      </p:sp>
      <p:sp>
        <p:nvSpPr>
          <p:cNvPr id="3" name="Content Placeholder 2"/>
          <p:cNvSpPr>
            <a:spLocks noGrp="1"/>
          </p:cNvSpPr>
          <p:nvPr>
            <p:ph sz="half" idx="1"/>
          </p:nvPr>
        </p:nvSpPr>
        <p:spPr/>
        <p:txBody>
          <a:bodyPr>
            <a:normAutofit fontScale="92500" lnSpcReduction="10000"/>
          </a:bodyPr>
          <a:lstStyle/>
          <a:p>
            <a:r>
              <a:t>15 Jul</a:t>
            </a:r>
          </a:p>
          <a:p>
            <a:endParaRPr/>
          </a:p>
          <a:p>
            <a:r>
              <a:t>Today we are launching Simple File Manager for Amazon EFS into the AWS Solutions Implementations portfolio. Simple File Manager for Amazon EFS is a serverless solution that provides a user interface for managing data in your Amazon Elastic File System (Amazon EFS) file systems. Deploying this solution allows you to seamlessly browse any EFS file system in your Amazon Web Services, Inc. (AWS) account and upload, download, or delete data from virtually any device, without the need to setup or maintain any dedicated Amazon Elastic Compute Cloud (Amazon EC2) or networking infrastructure. As an example, you can use this solution to upload large machine learning (ML) model files to an Amazon EFS file system that is used by an AWS Lambda function for ML inference.</a:t>
            </a:r>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FreeRTOS AWS reference integrations now include FreeRTOS 202012.01 LTS libraries</a:t>
            </a:r>
          </a:p>
        </p:txBody>
      </p:sp>
      <p:sp>
        <p:nvSpPr>
          <p:cNvPr id="3" name="Content Placeholder 2"/>
          <p:cNvSpPr>
            <a:spLocks noGrp="1"/>
          </p:cNvSpPr>
          <p:nvPr>
            <p:ph sz="half" idx="1"/>
          </p:nvPr>
        </p:nvSpPr>
        <p:spPr/>
        <p:txBody>
          <a:bodyPr/>
          <a:lstStyle/>
          <a:p>
            <a:r>
              <a:t>15 Jul</a:t>
            </a:r>
          </a:p>
          <a:p>
            <a:endParaRPr/>
          </a:p>
          <a:p>
            <a:r>
              <a:t>FreeRTOS AWS reference integrations are pre-integrated FreeRTOS projects ported to microcontroller-based evaluation boards that demonstrate end-to-end connectivity to AWS IoT Core. This helps developers save months of development effort and accelerate time to market. FreeRTOS AWS reference integrations now include the new managed AWS IoT Over-the-Air  update (OTA) library, AWS IoT Jobs  library, and the AWS IoT Device Defender  custom metrics feature from the FreeRTOS 202012.01 LTS release, and the coreMQTT Agent  library from the FreeRTOS 202104.00 release.</a:t>
            </a:r>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Core now supports VPC Endpoints</a:t>
            </a:r>
          </a:p>
        </p:txBody>
      </p:sp>
      <p:sp>
        <p:nvSpPr>
          <p:cNvPr id="3" name="Content Placeholder 2"/>
          <p:cNvSpPr>
            <a:spLocks noGrp="1"/>
          </p:cNvSpPr>
          <p:nvPr>
            <p:ph sz="half" idx="1"/>
          </p:nvPr>
        </p:nvSpPr>
        <p:spPr/>
        <p:txBody>
          <a:bodyPr>
            <a:normAutofit lnSpcReduction="10000"/>
          </a:bodyPr>
          <a:lstStyle/>
          <a:p>
            <a:r>
              <a:t>15 Jul</a:t>
            </a:r>
          </a:p>
          <a:p>
            <a:endParaRPr/>
          </a:p>
          <a:p>
            <a:r>
              <a:t>AWS IoT Core is now integrated with AWS PrivateLink, enabling you to create private IoT Core data endpoints  in your Virtual Private Cloud (VPC) using Interface VPC Endpoints . AWS PrivateLink is an AWS technology that enables private communication between your VPC and AWS services, such as IoT Core, by using private IP addresses that are not reachable from the public internet and do not require an internet gateway or NAT device to access. When used in conjunction with one of the many network-to-VPC  connectivity options, your IoT Core VPC endpoint can function as though it were hosted directly on your private network.</a:t>
            </a:r>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SiteWise is expanding its transforms and formula expressions capabilities</a:t>
            </a:r>
          </a:p>
        </p:txBody>
      </p:sp>
      <p:sp>
        <p:nvSpPr>
          <p:cNvPr id="3" name="Content Placeholder 2"/>
          <p:cNvSpPr>
            <a:spLocks noGrp="1"/>
          </p:cNvSpPr>
          <p:nvPr>
            <p:ph sz="half" idx="1"/>
          </p:nvPr>
        </p:nvSpPr>
        <p:spPr/>
        <p:txBody>
          <a:bodyPr/>
          <a:lstStyle/>
          <a:p>
            <a:r>
              <a:t>15 Jul</a:t>
            </a:r>
          </a:p>
          <a:p>
            <a:endParaRPr/>
          </a:p>
          <a:p>
            <a:r>
              <a:t>AWS IoT SiteWise is a managed service that makes it easy to collect, store, organize and monitor data from industrial equipment at scale to help you make better, data-driven decisions.</a:t>
            </a: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datasets available on the Registry of Open Data from the National Library of Medicine, Digital Earth Africa, Amazon, and others</a:t>
            </a:r>
          </a:p>
        </p:txBody>
      </p:sp>
      <p:sp>
        <p:nvSpPr>
          <p:cNvPr id="3" name="Content Placeholder 2"/>
          <p:cNvSpPr>
            <a:spLocks noGrp="1"/>
          </p:cNvSpPr>
          <p:nvPr>
            <p:ph sz="half" idx="1"/>
          </p:nvPr>
        </p:nvSpPr>
        <p:spPr/>
        <p:txBody>
          <a:bodyPr/>
          <a:lstStyle/>
          <a:p>
            <a:r>
              <a:t>15 Jul</a:t>
            </a:r>
          </a:p>
          <a:p>
            <a:endParaRPr/>
          </a:p>
          <a:p>
            <a:r>
              <a:t>Forty-four new or updated datasets from the National Library of Medicine, Digital Earth Africa, Amazon, and others are available on the Registry of Open Data in the following categories.</a:t>
            </a: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Data Lifecycle Manager launches new console experience</a:t>
            </a:r>
          </a:p>
        </p:txBody>
      </p:sp>
      <p:sp>
        <p:nvSpPr>
          <p:cNvPr id="3" name="Content Placeholder 2"/>
          <p:cNvSpPr>
            <a:spLocks noGrp="1"/>
          </p:cNvSpPr>
          <p:nvPr>
            <p:ph sz="half" idx="1"/>
          </p:nvPr>
        </p:nvSpPr>
        <p:spPr/>
        <p:txBody>
          <a:bodyPr/>
          <a:lstStyle/>
          <a:p>
            <a:r>
              <a:t>15 Jul</a:t>
            </a:r>
          </a:p>
          <a:p>
            <a:endParaRPr/>
          </a:p>
          <a:p>
            <a:r>
              <a:t>Amazon Data Lifecycle Manager (DLM) now offers a new console experience that makes it easier for you to create, modify and manage your DLM policies. The new console allows you to create policies and modify existing policies in a more streamlined manner and provides you more information and easier access to additional resources.</a:t>
            </a: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Introducing AWS for Health</a:t>
            </a:r>
          </a:p>
        </p:txBody>
      </p:sp>
      <p:sp>
        <p:nvSpPr>
          <p:cNvPr id="3" name="Content Placeholder 2"/>
          <p:cNvSpPr>
            <a:spLocks noGrp="1"/>
          </p:cNvSpPr>
          <p:nvPr>
            <p:ph sz="half" idx="1"/>
          </p:nvPr>
        </p:nvSpPr>
        <p:spPr/>
        <p:txBody>
          <a:bodyPr/>
          <a:lstStyle/>
          <a:p>
            <a:r>
              <a:t>15 Jul</a:t>
            </a:r>
          </a:p>
          <a:p>
            <a:endParaRPr/>
          </a:p>
          <a:p>
            <a:r>
              <a:t>Healthcare and life science organizations are undergoing transformation from bench-top to the point of care — reinventing how they collaborate, make data-driven clinical and operational decisions, enable precision medicine, accelerate therapy development, and decrease the cost of care. Industry leaders like Wellforce, Rush Medical Center, GRAIL, Moderna, and Genomics England use the AWS Cloud to support critical functions in health, while adhering to global compliance requirements.</a:t>
            </a: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SiteWise launches support for AWS PrivateLink for control plane APIs</a:t>
            </a:r>
          </a:p>
        </p:txBody>
      </p:sp>
      <p:sp>
        <p:nvSpPr>
          <p:cNvPr id="3" name="Content Placeholder 2"/>
          <p:cNvSpPr>
            <a:spLocks noGrp="1"/>
          </p:cNvSpPr>
          <p:nvPr>
            <p:ph sz="half" idx="1"/>
          </p:nvPr>
        </p:nvSpPr>
        <p:spPr/>
        <p:txBody>
          <a:bodyPr/>
          <a:lstStyle/>
          <a:p>
            <a:r>
              <a:t>15 Jul</a:t>
            </a:r>
          </a:p>
          <a:p>
            <a:endParaRPr/>
          </a:p>
          <a:p>
            <a:r>
              <a:t>AWS IoT SiteWise has now launched AWS PrivateLink support for control plane APIs to manage AWS IoT SiteWise resources such as gateways, asset models, and assets. You can now securely create, update or delete your AWS IoT SiteWise resources without crossing the public Internet and without using public IP addresses. For more information, please visit the updated AWS IoT SiteWise and interface VPC endpoints  page in our developer guide.</a:t>
            </a:r>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MediaPackage Now Available in US East (Ohio) Region</a:t>
            </a:r>
          </a:p>
        </p:txBody>
      </p:sp>
      <p:sp>
        <p:nvSpPr>
          <p:cNvPr id="3" name="Content Placeholder 2"/>
          <p:cNvSpPr>
            <a:spLocks noGrp="1"/>
          </p:cNvSpPr>
          <p:nvPr>
            <p:ph sz="half" idx="1"/>
          </p:nvPr>
        </p:nvSpPr>
        <p:spPr/>
        <p:txBody>
          <a:bodyPr/>
          <a:lstStyle/>
          <a:p>
            <a:r>
              <a:t>15 Jul</a:t>
            </a:r>
          </a:p>
          <a:p>
            <a:endParaRPr/>
          </a:p>
          <a:p>
            <a:r>
              <a:t>AWS Elemental MediaPackage is a video origination and just-in-time packaging service that allows video distributors to securely and reliably deliver live streaming or on-demand content at scale. From a single video input, MediaPackage creates video streams formatted to play on connected TVs, mobile phones, computers, tablets, and game consoles. It makes it easy to implement popular video features commonly found on DVRs, such as start-over, pause, and rewind. The service can also protect your content using Digital Rights Management (DRM) technologies.</a:t>
            </a: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releases Principal Store for secure search</a:t>
            </a:r>
          </a:p>
        </p:txBody>
      </p:sp>
      <p:sp>
        <p:nvSpPr>
          <p:cNvPr id="3" name="Content Placeholder 2"/>
          <p:cNvSpPr>
            <a:spLocks noGrp="1"/>
          </p:cNvSpPr>
          <p:nvPr>
            <p:ph sz="half" idx="1"/>
          </p:nvPr>
        </p:nvSpPr>
        <p:spPr/>
        <p:txBody>
          <a:bodyPr/>
          <a:lstStyle/>
          <a:p>
            <a:r>
              <a:t>14 Jul</a:t>
            </a:r>
          </a:p>
          <a:p>
            <a:endParaRPr/>
          </a:p>
          <a:p>
            <a:r>
              <a:t>Amazon Kendra is an intelligent search service powered by machine learning, enabling organizations to provide relevant information to customers and employees, when they need it.</a:t>
            </a:r>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Lex announces tooling to migrate bots from Lex V1 console to Lex V2 console</a:t>
            </a:r>
          </a:p>
        </p:txBody>
      </p:sp>
      <p:sp>
        <p:nvSpPr>
          <p:cNvPr id="3" name="Content Placeholder 2"/>
          <p:cNvSpPr>
            <a:spLocks noGrp="1"/>
          </p:cNvSpPr>
          <p:nvPr>
            <p:ph sz="half" idx="1"/>
          </p:nvPr>
        </p:nvSpPr>
        <p:spPr/>
        <p:txBody>
          <a:bodyPr/>
          <a:lstStyle/>
          <a:p>
            <a:r>
              <a:t>14 Jul</a:t>
            </a:r>
          </a:p>
          <a:p>
            <a:endParaRPr/>
          </a:p>
          <a:p>
            <a:r>
              <a:t>Amazon Lex is a service for building natural language conversational interfaces using voice and text into your application. Earlier this year, we launched an enhanced V2 management console and APIs. The V2 API makes it easier for bot developers to add new languages to a bot and also deliver natural conversational experiences such as wait and continue (“Can you wait while I get my credit card?”). Today, we introduce tooling to automate migration of bots from Lex V1 Console to the Lex V2 Console. The migration tool uses existing intents and slot types to create corresponding resources in the Lex V2 Console.</a:t>
            </a:r>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Lightsail now offers object storage for storing static content</a:t>
            </a:r>
          </a:p>
        </p:txBody>
      </p:sp>
      <p:sp>
        <p:nvSpPr>
          <p:cNvPr id="3" name="Content Placeholder 2"/>
          <p:cNvSpPr>
            <a:spLocks noGrp="1"/>
          </p:cNvSpPr>
          <p:nvPr>
            <p:ph sz="half" idx="1"/>
          </p:nvPr>
        </p:nvSpPr>
        <p:spPr/>
        <p:txBody>
          <a:bodyPr/>
          <a:lstStyle/>
          <a:p>
            <a:r>
              <a:t>14 Jul</a:t>
            </a:r>
          </a:p>
          <a:p>
            <a:endParaRPr/>
          </a:p>
          <a:p>
            <a:r>
              <a:t>Amazon Lightsail now provides you with the ability to store your static content such as images, videos or HTML files in an object storage that can be used for your websites and applications. Lightsail object storage can be associated to your Lightsail CDN distribution with a few simple clicks, making it quick and easy to accelerate the delivery of your content to a global audience. It can also be used as a low cost, secure backup solution. Lightsail object storage comes with the same predicable pricing as its other offerings with three different flat rate bundles starting at $1/month.</a:t>
            </a:r>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CloudFront now supports ECDSA certificates for HTTPS connections to viewers</a:t>
            </a:r>
          </a:p>
        </p:txBody>
      </p:sp>
      <p:sp>
        <p:nvSpPr>
          <p:cNvPr id="3" name="Content Placeholder 2"/>
          <p:cNvSpPr>
            <a:spLocks noGrp="1"/>
          </p:cNvSpPr>
          <p:nvPr>
            <p:ph sz="half" idx="1"/>
          </p:nvPr>
        </p:nvSpPr>
        <p:spPr/>
        <p:txBody>
          <a:bodyPr/>
          <a:lstStyle/>
          <a:p>
            <a:r>
              <a:t>14 Jul</a:t>
            </a:r>
          </a:p>
          <a:p>
            <a:endParaRPr/>
          </a:p>
          <a:p>
            <a:r>
              <a:t>Starting today, you can use Elliptic Curve Digital Signature Algorithm (ECDSA) P256 certificates to negotiate HTTPS connections between your viewers and Amazon CloudFront. As noted by NIST , ECDSA certificates can provide comparable security strength with smaller key sizes than RSA. As a result, conducting TLS handshakes with ECDSA certificates requires less networking and computing resources making them a good option for IoT devices that have limited storage and processing capabilities.</a:t>
            </a:r>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Directory Service for Microsoft Active Directory and AD Connector are now available in the AWS Asia Pacific (Osaka) Region</a:t>
            </a:r>
          </a:p>
        </p:txBody>
      </p:sp>
      <p:sp>
        <p:nvSpPr>
          <p:cNvPr id="3" name="Content Placeholder 2"/>
          <p:cNvSpPr>
            <a:spLocks noGrp="1"/>
          </p:cNvSpPr>
          <p:nvPr>
            <p:ph sz="half" idx="1"/>
          </p:nvPr>
        </p:nvSpPr>
        <p:spPr/>
        <p:txBody>
          <a:bodyPr/>
          <a:lstStyle/>
          <a:p>
            <a:r>
              <a:t>14 Jul</a:t>
            </a:r>
          </a:p>
          <a:p>
            <a:endParaRPr/>
          </a:p>
          <a:p>
            <a:r>
              <a:t>AWS Directory Service for Microsoft Active Directory, also known as AWS Managed Microsoft AD, and AD Connector  are now available in the AWS Asia Pacific (Osaka) Region.</a:t>
            </a:r>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EC2 Image Builder now supports parameters in components for creating custom images</a:t>
            </a:r>
          </a:p>
        </p:txBody>
      </p:sp>
      <p:sp>
        <p:nvSpPr>
          <p:cNvPr id="3" name="Content Placeholder 2"/>
          <p:cNvSpPr>
            <a:spLocks noGrp="1"/>
          </p:cNvSpPr>
          <p:nvPr>
            <p:ph sz="half" idx="1"/>
          </p:nvPr>
        </p:nvSpPr>
        <p:spPr/>
        <p:txBody>
          <a:bodyPr/>
          <a:lstStyle/>
          <a:p>
            <a:r>
              <a:t>14 Jul</a:t>
            </a:r>
          </a:p>
          <a:p>
            <a:endParaRPr/>
          </a:p>
          <a:p>
            <a:r>
              <a:t>Image Builder components, which are a set of documents that enable image customization in EC2 Image Builder, now support parameters as an input in the image build process. You can now reuse your existing component investments in EC2 Image Builder to create different custom images by easily passing component parameters, such as installation directory or software version, in the image recipe.</a:t>
            </a:r>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SageMaker Pipeline introduces a automatic hyperparameter tuning step</a:t>
            </a:r>
          </a:p>
        </p:txBody>
      </p:sp>
      <p:sp>
        <p:nvSpPr>
          <p:cNvPr id="3" name="Content Placeholder 2"/>
          <p:cNvSpPr>
            <a:spLocks noGrp="1"/>
          </p:cNvSpPr>
          <p:nvPr>
            <p:ph sz="half" idx="1"/>
          </p:nvPr>
        </p:nvSpPr>
        <p:spPr/>
        <p:txBody>
          <a:bodyPr>
            <a:normAutofit lnSpcReduction="10000"/>
          </a:bodyPr>
          <a:lstStyle/>
          <a:p>
            <a:r>
              <a:t>13 Jul</a:t>
            </a:r>
          </a:p>
          <a:p>
            <a:endParaRPr/>
          </a:p>
          <a:p>
            <a:r>
              <a:t>Amazon SageMaker Pipelines, the first purpose-built continuous integration and continuous delivery (CI/CD) service for machine learning (ML), is now integrated with SageMaker's automatic model tuning capability . Customers can add a model tuning step (TuningStep) in their SageMaker Pipelines which will automatically invoke a hyperparameter tuning job. The hyperparameter tuning finds the best version of a model by running many training jobs on the dataset using the algorithm and the ranges of hyperparameters specified by the customer. They can then register the best version of the model into the model registry using the RegisterModel step.</a:t>
            </a:r>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is now available in AWS Asia Pacific (Hong Kong) Region</a:t>
            </a:r>
          </a:p>
        </p:txBody>
      </p:sp>
      <p:sp>
        <p:nvSpPr>
          <p:cNvPr id="3" name="Content Placeholder 2"/>
          <p:cNvSpPr>
            <a:spLocks noGrp="1"/>
          </p:cNvSpPr>
          <p:nvPr>
            <p:ph sz="half" idx="1"/>
          </p:nvPr>
        </p:nvSpPr>
        <p:spPr/>
        <p:txBody>
          <a:bodyPr/>
          <a:lstStyle/>
          <a:p>
            <a:r>
              <a:t>13 Jul</a:t>
            </a:r>
          </a:p>
          <a:p>
            <a:endParaRPr/>
          </a:p>
          <a:p>
            <a:r>
              <a:t>AWS Glue DataBrew, a visual data preparation tool that makes it easy for data analysts and data scientists to clean and normalize data for analytics and machine learning, is now available in the AWS Asia Pacific (Hong Kong) Region. For a list of regions where AWS Glue DataBrew is available, see the AWS Region Table.</a:t>
            </a:r>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Core for LoRaWAN now supports VPC endpoints</a:t>
            </a:r>
          </a:p>
        </p:txBody>
      </p:sp>
      <p:sp>
        <p:nvSpPr>
          <p:cNvPr id="3" name="Content Placeholder 2"/>
          <p:cNvSpPr>
            <a:spLocks noGrp="1"/>
          </p:cNvSpPr>
          <p:nvPr>
            <p:ph sz="half" idx="1"/>
          </p:nvPr>
        </p:nvSpPr>
        <p:spPr/>
        <p:txBody>
          <a:bodyPr/>
          <a:lstStyle/>
          <a:p>
            <a:r>
              <a:t>12 Jul</a:t>
            </a:r>
          </a:p>
          <a:p>
            <a:endParaRPr/>
          </a:p>
          <a:p>
            <a:r>
              <a:t>AWS IoT Core for LoRaWAN now supports customer endpoints in VPCs. With this feature, your IoT devices and applications can communicate with IoT Core for LoRaWAN from your Virtual Private Cloud (VPC) without the need to allow traffic from the VPC to public IP addresses. VPC endpoints are powered by AWS PrivateLink, an AWS technology that enables private communication between your VPC and AWS services, like AWS IoT Core for LoRaWAN, on the private AWS network.</a:t>
            </a:r>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announces new AWS Deep Learning Containers to deploy Hugging Face models faster on Amazon SageMaker</a:t>
            </a:r>
          </a:p>
        </p:txBody>
      </p:sp>
      <p:sp>
        <p:nvSpPr>
          <p:cNvPr id="3" name="Content Placeholder 2"/>
          <p:cNvSpPr>
            <a:spLocks noGrp="1"/>
          </p:cNvSpPr>
          <p:nvPr>
            <p:ph sz="half" idx="1"/>
          </p:nvPr>
        </p:nvSpPr>
        <p:spPr/>
        <p:txBody>
          <a:bodyPr/>
          <a:lstStyle/>
          <a:p>
            <a:r>
              <a:t>12 Jul</a:t>
            </a:r>
          </a:p>
          <a:p>
            <a:endParaRPr/>
          </a:p>
          <a:p>
            <a:r>
              <a:t>Today, we are excited to announce AWS Deep Learning Containers (DLCs) with integrated SDKs for inference that enable customers to easily deploy Hugging Face models in Amazon SageMaker at scale. This was the number one requirement from customers that have been leveraging the Hugging Face AWS DLCs for training (Hugging Face training DLCs) that released in March 2021.</a:t>
            </a:r>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ml.Inf1 instances are now available on Amazon SageMaker in 4 additional AWS Regions</a:t>
            </a:r>
          </a:p>
        </p:txBody>
      </p:sp>
      <p:sp>
        <p:nvSpPr>
          <p:cNvPr id="3" name="Content Placeholder 2"/>
          <p:cNvSpPr>
            <a:spLocks noGrp="1"/>
          </p:cNvSpPr>
          <p:nvPr>
            <p:ph sz="half" idx="1"/>
          </p:nvPr>
        </p:nvSpPr>
        <p:spPr/>
        <p:txBody>
          <a:bodyPr>
            <a:normAutofit fontScale="92500"/>
          </a:bodyPr>
          <a:lstStyle/>
          <a:p>
            <a:r>
              <a:t>12 Jul</a:t>
            </a:r>
          </a:p>
          <a:p>
            <a:endParaRPr/>
          </a:p>
          <a:p>
            <a:r>
              <a:t>Amazon SageMaker is a fully managed service that provides every developer and data scientist with the ability to build, train, and deploy machine learning (ML) models quickly. To deploy ML models for real-time predictions, Amazon SageMaker provides you with a large selection of AWS compute instances, so you can find the right cost to performance ratio depending on your requirements. The Amazon Inf1 instance is powered by AWS Inferentia, a custom chip built from the ground up by AWS to accelerate ML inference workloads. Starting today, Amazon ml.Inf1 instances are additionally available on Amazon SageMaker in the Asia Pacific (Sydney), Europe (Stockholm), Europe (Milan), and AWS GovCloud (US-West) regions.</a:t>
            </a:r>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New Minor Versions 13.3, 12.7, 11.12, 10.17, and 9.6.22</a:t>
            </a:r>
          </a:p>
        </p:txBody>
      </p:sp>
      <p:sp>
        <p:nvSpPr>
          <p:cNvPr id="3" name="Content Placeholder 2"/>
          <p:cNvSpPr>
            <a:spLocks noGrp="1"/>
          </p:cNvSpPr>
          <p:nvPr>
            <p:ph sz="half" idx="1"/>
          </p:nvPr>
        </p:nvSpPr>
        <p:spPr/>
        <p:txBody>
          <a:bodyPr/>
          <a:lstStyle/>
          <a:p>
            <a:r>
              <a:t>12 Jul</a:t>
            </a:r>
          </a:p>
          <a:p>
            <a:endParaRPr/>
          </a:p>
          <a:p>
            <a:r>
              <a:t>Following the announcement of updates to the PostgreSQL database , we have updated Amazon RDS for PostgreSQL to support PostgreSQL minor versions 13.3, 12.7, 11.12, 10.17, and 9.6.22. This release closes security vulnerabilities in PostgreSQL and contains bug fixes and improvements done by the PostgreSQL community.</a:t>
            </a:r>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Pinpoint Announces Lower Transaction Per Second Sending Limits</a:t>
            </a:r>
          </a:p>
        </p:txBody>
      </p:sp>
      <p:sp>
        <p:nvSpPr>
          <p:cNvPr id="3" name="Content Placeholder 2"/>
          <p:cNvSpPr>
            <a:spLocks noGrp="1"/>
          </p:cNvSpPr>
          <p:nvPr>
            <p:ph sz="half" idx="1"/>
          </p:nvPr>
        </p:nvSpPr>
        <p:spPr/>
        <p:txBody>
          <a:bodyPr>
            <a:normAutofit lnSpcReduction="10000"/>
          </a:bodyPr>
          <a:lstStyle/>
          <a:p>
            <a:r>
              <a:t>12 Jul</a:t>
            </a:r>
          </a:p>
          <a:p>
            <a:endParaRPr/>
          </a:p>
          <a:p>
            <a:r>
              <a:t>On 6th July 2021, Amazon Pinpoint lowered the Transaction Per Second (TPS) sending limits to 1 TPS for campaigns and journeys. The new limit allows customer to execute slower sends through email, push and SMS channels. This will optimize delivery rates, and allow for easier testing and monitoring. A campaign is a messaging initiative that engages a specific audience segment with a single tailored message, while journeys are multi-step campaigns to guide a user through an experience with multiple messages. Campaigns and journeys are intended for customers with user engagement use cases, and who want to send targeted messages to their users and drive high value actions.</a:t>
            </a:r>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Amazon Redshift Data API is now available in the AWS Asia Pacific (Osaka) Region</a:t>
            </a:r>
          </a:p>
        </p:txBody>
      </p:sp>
      <p:sp>
        <p:nvSpPr>
          <p:cNvPr id="3" name="Content Placeholder 2"/>
          <p:cNvSpPr>
            <a:spLocks noGrp="1"/>
          </p:cNvSpPr>
          <p:nvPr>
            <p:ph sz="half" idx="1"/>
          </p:nvPr>
        </p:nvSpPr>
        <p:spPr/>
        <p:txBody>
          <a:bodyPr/>
          <a:lstStyle/>
          <a:p>
            <a:r>
              <a:t>12 Jul</a:t>
            </a:r>
          </a:p>
          <a:p>
            <a:endParaRPr/>
          </a:p>
          <a:p>
            <a:r>
              <a:t>You can now use the Amazon Redshift Data API in the AWS Asia Pacific (Osaka) Region to access Amazon Redshift. The Redshift Data API simplifies data access, ingest, and egress from languages supported with the AWS SDK such as Python, Go, Java, Node.js, PHP, Ruby, and C++.</a:t>
            </a:r>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AppSync Now Available in Asia Pacific (Osaka)</a:t>
            </a:r>
          </a:p>
        </p:txBody>
      </p:sp>
      <p:sp>
        <p:nvSpPr>
          <p:cNvPr id="3" name="Content Placeholder 2"/>
          <p:cNvSpPr>
            <a:spLocks noGrp="1"/>
          </p:cNvSpPr>
          <p:nvPr>
            <p:ph sz="half" idx="1"/>
          </p:nvPr>
        </p:nvSpPr>
        <p:spPr/>
        <p:txBody>
          <a:bodyPr/>
          <a:lstStyle/>
          <a:p>
            <a:r>
              <a:t>12 Jul</a:t>
            </a:r>
          </a:p>
          <a:p>
            <a:endParaRPr/>
          </a:p>
          <a:p>
            <a:r>
              <a:t>Starting today, AWS AppSync is available in the Asia Pacific (Osaka) region.</a:t>
            </a:r>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Amplify Flutter now supports Null Safety</a:t>
            </a:r>
          </a:p>
        </p:txBody>
      </p:sp>
      <p:sp>
        <p:nvSpPr>
          <p:cNvPr id="3" name="Content Placeholder 2"/>
          <p:cNvSpPr>
            <a:spLocks noGrp="1"/>
          </p:cNvSpPr>
          <p:nvPr>
            <p:ph sz="half" idx="1"/>
          </p:nvPr>
        </p:nvSpPr>
        <p:spPr/>
        <p:txBody>
          <a:bodyPr/>
          <a:lstStyle/>
          <a:p>
            <a:r>
              <a:t>12 Jul</a:t>
            </a:r>
          </a:p>
          <a:p>
            <a:endParaRPr/>
          </a:p>
          <a:p>
            <a:r>
              <a:t>Today, we’re announcing that we have updated AWS Amplify’s tools and libraries for Flutter to support null safety for all of our use cases. Flutter developers can now enjoy all the easy-to-integrate Amplify functionality with higher reliability and improved developer ergonomics. Sound null safety is a Dart language feature in which code is non-nullable by default and turns runtime null-dereference errors into edit-time analysis errors. This enables developers to reduce bugs in their code and benefit from performance improvements through smaller binaries and faster execution.</a:t>
            </a:r>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Single Sign-On is now available in the South America (São Paulo) region</a:t>
            </a:r>
          </a:p>
        </p:txBody>
      </p:sp>
      <p:sp>
        <p:nvSpPr>
          <p:cNvPr id="3" name="Content Placeholder 2"/>
          <p:cNvSpPr>
            <a:spLocks noGrp="1"/>
          </p:cNvSpPr>
          <p:nvPr>
            <p:ph sz="half" idx="1"/>
          </p:nvPr>
        </p:nvSpPr>
        <p:spPr/>
        <p:txBody>
          <a:bodyPr/>
          <a:lstStyle/>
          <a:p>
            <a:r>
              <a:t>09 Jul</a:t>
            </a:r>
          </a:p>
          <a:p>
            <a:endParaRPr/>
          </a:p>
          <a:p>
            <a:r>
              <a:t>AWS Single Sign-On (SSO) is now available in the South America (São Paulo) region. For a full list of the regions where AWS SSO is available, see the AWS Region Table.</a:t>
            </a:r>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Now Allows Customers To Pay For Their Usage in Advance</a:t>
            </a:r>
          </a:p>
        </p:txBody>
      </p:sp>
      <p:sp>
        <p:nvSpPr>
          <p:cNvPr id="3" name="Content Placeholder 2"/>
          <p:cNvSpPr>
            <a:spLocks noGrp="1"/>
          </p:cNvSpPr>
          <p:nvPr>
            <p:ph sz="half" idx="1"/>
          </p:nvPr>
        </p:nvSpPr>
        <p:spPr/>
        <p:txBody>
          <a:bodyPr/>
          <a:lstStyle/>
          <a:p>
            <a:r>
              <a:t>09 Jul</a:t>
            </a:r>
          </a:p>
          <a:p>
            <a:endParaRPr/>
          </a:p>
          <a:p>
            <a:r>
              <a:t>With Advance Pay, you can now pay for your AWS usage in advance, and pay your future invoices automatically. Once you add funds to Advance Pay, AWS will automatically use them to pay for your invoices when they become due for payment. </a:t>
            </a:r>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Model Variable Importance for Amazon Fraud Detector</a:t>
            </a:r>
          </a:p>
        </p:txBody>
      </p:sp>
      <p:sp>
        <p:nvSpPr>
          <p:cNvPr id="3" name="Content Placeholder 2"/>
          <p:cNvSpPr>
            <a:spLocks noGrp="1"/>
          </p:cNvSpPr>
          <p:nvPr>
            <p:ph sz="half" idx="1"/>
          </p:nvPr>
        </p:nvSpPr>
        <p:spPr/>
        <p:txBody>
          <a:bodyPr/>
          <a:lstStyle/>
          <a:p>
            <a:r>
              <a:t>09 Jul</a:t>
            </a:r>
          </a:p>
          <a:p>
            <a:endParaRPr/>
          </a:p>
          <a:p>
            <a:r>
              <a:t>We are excited to announce that Amazon Fraud Detector now includes model variable importance values with every new fraud detection machine learning (ML) model to provide customers with more insight into their model’s performance.</a:t>
            </a:r>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Fraud Detector now supports PCI DSS compliance to help run payment fraud workloads more easily</a:t>
            </a:r>
          </a:p>
        </p:txBody>
      </p:sp>
      <p:sp>
        <p:nvSpPr>
          <p:cNvPr id="3" name="Content Placeholder 2"/>
          <p:cNvSpPr>
            <a:spLocks noGrp="1"/>
          </p:cNvSpPr>
          <p:nvPr>
            <p:ph sz="half" idx="1"/>
          </p:nvPr>
        </p:nvSpPr>
        <p:spPr/>
        <p:txBody>
          <a:bodyPr/>
          <a:lstStyle/>
          <a:p>
            <a:r>
              <a:t>09 Jul</a:t>
            </a:r>
          </a:p>
          <a:p>
            <a:endParaRPr/>
          </a:p>
          <a:p>
            <a:r>
              <a:t>Amazon Fraud Detector is a fully managed service that makes it easy to identify potentially fraudulent online activities, such as credit card transactions that are likely to result in costly chargebacks, using customized machine learning models. The service now supports Payment Card Industry Data Security Standard (PCI DSS), which applies to entities that store, process, or transmit cardholder data or sensitive authentication data.</a:t>
            </a:r>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MySQL supports new minor versions 5.7.34, and 8.0.25</a:t>
            </a:r>
          </a:p>
        </p:txBody>
      </p:sp>
      <p:sp>
        <p:nvSpPr>
          <p:cNvPr id="3" name="Content Placeholder 2"/>
          <p:cNvSpPr>
            <a:spLocks noGrp="1"/>
          </p:cNvSpPr>
          <p:nvPr>
            <p:ph sz="half" idx="1"/>
          </p:nvPr>
        </p:nvSpPr>
        <p:spPr/>
        <p:txBody>
          <a:bodyPr>
            <a:normAutofit fontScale="92500"/>
          </a:bodyPr>
          <a:lstStyle/>
          <a:p>
            <a:r>
              <a:t>09 Jul</a:t>
            </a:r>
          </a:p>
          <a:p>
            <a:endParaRPr/>
          </a:p>
          <a:p>
            <a:r>
              <a:t>Following the announcement of updates in MySQL database versions 5.7  and 8.0 , we have updated Amazon Relational Database Service (Amazon RDS) for MySQL to support MySQL minor versions 5.7.34, and 8.0.25. We recommend that customers upgrade to the latest minor versions to fix known security vulnerabilities in prior versions of MySQL, and to benefit from the numerous bug fixes, performance improvements, and new functionality added by the MySQL community. Learn more about upgrading your database instances in the Amazon RDS User Guide ; and create or update a fully managed Amazon RDS database using the latest available minor versions in the Amazon RDS Management Console .</a:t>
            </a:r>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PostgreSQL Supports oracle_fdw extension for accessing data contained in Oracle databases</a:t>
            </a:r>
          </a:p>
        </p:txBody>
      </p:sp>
      <p:sp>
        <p:nvSpPr>
          <p:cNvPr id="3" name="Content Placeholder 2"/>
          <p:cNvSpPr>
            <a:spLocks noGrp="1"/>
          </p:cNvSpPr>
          <p:nvPr>
            <p:ph sz="half" idx="1"/>
          </p:nvPr>
        </p:nvSpPr>
        <p:spPr/>
        <p:txBody>
          <a:bodyPr/>
          <a:lstStyle/>
          <a:p>
            <a:r>
              <a:t>09 Jul</a:t>
            </a:r>
          </a:p>
          <a:p>
            <a:endParaRPr/>
          </a:p>
          <a:p>
            <a:r>
              <a:t>Amazon RDS for PostgreSQL adds support for the oracle_fdw extension, which allows your PostgreSQL database to connect and retrieve data stored in separate Oracle databases.</a:t>
            </a:r>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digital course: Amazon S3 Business Continuity and Disaster Recovery</a:t>
            </a:r>
          </a:p>
        </p:txBody>
      </p:sp>
      <p:sp>
        <p:nvSpPr>
          <p:cNvPr id="3" name="Content Placeholder 2"/>
          <p:cNvSpPr>
            <a:spLocks noGrp="1"/>
          </p:cNvSpPr>
          <p:nvPr>
            <p:ph sz="half" idx="1"/>
          </p:nvPr>
        </p:nvSpPr>
        <p:spPr/>
        <p:txBody>
          <a:bodyPr/>
          <a:lstStyle/>
          <a:p>
            <a:r>
              <a:t>08 Jul</a:t>
            </a:r>
          </a:p>
          <a:p>
            <a:endParaRPr/>
          </a:p>
          <a:p>
            <a:r>
              <a:t>AWS Training and Certification is pleased to introduce a free digital course: Amazon Simple Storage Service (Amazon S3) Business Continuity and Disaster Recovery. This advanced, 50-minute course will help you learn how to implement a business continuity and disaster recovery plan for your Amazon S3 implementation. Designed for cloud architects, storage architects, developers, and operations engineers, it includes interactive lessons and a quiz to check your knowledge.</a:t>
            </a:r>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allows you to mix and match authorization modes in DataStore</a:t>
            </a:r>
          </a:p>
        </p:txBody>
      </p:sp>
      <p:sp>
        <p:nvSpPr>
          <p:cNvPr id="3" name="Content Placeholder 2"/>
          <p:cNvSpPr>
            <a:spLocks noGrp="1"/>
          </p:cNvSpPr>
          <p:nvPr>
            <p:ph sz="half" idx="1"/>
          </p:nvPr>
        </p:nvSpPr>
        <p:spPr/>
        <p:txBody>
          <a:bodyPr/>
          <a:lstStyle/>
          <a:p>
            <a:r>
              <a:t>08 Jul</a:t>
            </a:r>
          </a:p>
          <a:p>
            <a:endParaRPr/>
          </a:p>
          <a:p>
            <a:r>
              <a:t>With today’s release, Amplify DataStore now supports multiple authorization modes, making it easy for developers to control how their users can access app data. DataStore provides frontend app developers the ability to build real-time apps with offline capabilities by storing data on-device (web browser or mobile device) and automatically synchronizing data to the cloud and across devices on an internet connection. Customers can configure authorization rules visually using Amplify Admin UI or by editing a GraphQL schema file using the Amplify CLI.</a:t>
            </a:r>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IoT Core for LoRaWAN is now available in Sydney, Tokyo, and Oregon AWS regions</a:t>
            </a:r>
          </a:p>
        </p:txBody>
      </p:sp>
      <p:sp>
        <p:nvSpPr>
          <p:cNvPr id="3" name="Content Placeholder 2"/>
          <p:cNvSpPr>
            <a:spLocks noGrp="1"/>
          </p:cNvSpPr>
          <p:nvPr>
            <p:ph sz="half" idx="1"/>
          </p:nvPr>
        </p:nvSpPr>
        <p:spPr/>
        <p:txBody>
          <a:bodyPr/>
          <a:lstStyle/>
          <a:p>
            <a:r>
              <a:t>08 Jul</a:t>
            </a:r>
          </a:p>
          <a:p>
            <a:endParaRPr/>
          </a:p>
          <a:p>
            <a:r>
              <a:t>AWS IoT Core for LoRaWAN is now available in the Asia Pacific (Sydney), Asia Pacific (Tokyo), and US West (Oregon) AWS Regions, extending the footprint to 5 AWS Regions. This is in addition to the IoT Core for LoRaWAN availability in US East (N. Virginia) and EU (Ireland) AWS regions.</a:t>
            </a:r>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Textract announces improvements to detection of handwritten text, digits, dates, and phone numbers</a:t>
            </a:r>
          </a:p>
        </p:txBody>
      </p:sp>
      <p:sp>
        <p:nvSpPr>
          <p:cNvPr id="3" name="Content Placeholder 2"/>
          <p:cNvSpPr>
            <a:spLocks noGrp="1"/>
          </p:cNvSpPr>
          <p:nvPr>
            <p:ph sz="half" idx="1"/>
          </p:nvPr>
        </p:nvSpPr>
        <p:spPr/>
        <p:txBody>
          <a:bodyPr>
            <a:normAutofit fontScale="92500" lnSpcReduction="20000"/>
          </a:bodyPr>
          <a:lstStyle/>
          <a:p>
            <a:r>
              <a:t>08 Jul</a:t>
            </a:r>
          </a:p>
          <a:p>
            <a:endParaRPr/>
          </a:p>
          <a:p>
            <a:r>
              <a:t>Amazon Textract is a machine learning service that automatically extracts text, handwriting and data from scanned documents that goes beyond simple optical character recognition (OCR) to identify, understand, and extract data from forms and tables. We continuously improve the underlying machine learning models based on your feedback to provide even better accuracy. Today, we are pleased to announce an accuracy enhancement update to the handwriting extraction feature. Starting today, you will see improved accuracy of handwritten transcriptions, specifically for numerals, dates, phone numbers, and website address across many documents in finance, healthcare, legal, public sector, and others. Textract now more accurately detects handwriting within documents such as checks, medical forms, travel forms and more. </a:t>
            </a:r>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Storage Gateway adds support for AWS Privatelink for Amazon S3 and Amazon S3 Access Points</a:t>
            </a:r>
          </a:p>
        </p:txBody>
      </p:sp>
      <p:sp>
        <p:nvSpPr>
          <p:cNvPr id="3" name="Content Placeholder 2"/>
          <p:cNvSpPr>
            <a:spLocks noGrp="1"/>
          </p:cNvSpPr>
          <p:nvPr>
            <p:ph sz="half" idx="1"/>
          </p:nvPr>
        </p:nvSpPr>
        <p:spPr/>
        <p:txBody>
          <a:bodyPr/>
          <a:lstStyle/>
          <a:p>
            <a:r>
              <a:t>08 Jul</a:t>
            </a:r>
          </a:p>
          <a:p>
            <a:endParaRPr/>
          </a:p>
          <a:p>
            <a:r>
              <a:t>AWS Storage Gateway adds support for AWS Privatelink for Amazon S3 and Amazon S3 Access Points.  If you use Amazon S3 File Gateway for your on-premises gateway (VMware, Microsoft Hyper V, Linux Kernel-based Virtual Machine (KVM) or AWS Storage Gateway Hardware Appliance), you can now create a private connection from your gateway directly to Amazon S3 without the need for an HTTP proxy.</a:t>
            </a:r>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CloudFront announces new APIs to locate and move alternate domain names (CNAMEs)</a:t>
            </a:r>
          </a:p>
        </p:txBody>
      </p:sp>
      <p:sp>
        <p:nvSpPr>
          <p:cNvPr id="3" name="Content Placeholder 2"/>
          <p:cNvSpPr>
            <a:spLocks noGrp="1"/>
          </p:cNvSpPr>
          <p:nvPr>
            <p:ph sz="half" idx="1"/>
          </p:nvPr>
        </p:nvSpPr>
        <p:spPr/>
        <p:txBody>
          <a:bodyPr/>
          <a:lstStyle/>
          <a:p>
            <a:r>
              <a:t>08 Jul</a:t>
            </a:r>
          </a:p>
          <a:p>
            <a:endParaRPr/>
          </a:p>
          <a:p>
            <a:r>
              <a:t>Amazon CloudFront announces two new APIs, ListConflictingAliases and AssociateAlias, that help locate and move Alternate Domain Names (CNAMEs) if you encounter the CNAMEAlreadyExists error code. These new APIs let you see which distribution has the CNAME and move the CNAME to a target distribution as long as the source distribution is in the same account or if the source distribution in another account is disabled. To move a CNAME between accounts where the source distribution is still enabled, you must contact AWS Support and follow these steps.</a:t>
            </a:r>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Application Manager now supports full lifecycle management of AWS CloudFormation templates and stacks</a:t>
            </a:r>
          </a:p>
        </p:txBody>
      </p:sp>
      <p:sp>
        <p:nvSpPr>
          <p:cNvPr id="3" name="Content Placeholder 2"/>
          <p:cNvSpPr>
            <a:spLocks noGrp="1"/>
          </p:cNvSpPr>
          <p:nvPr>
            <p:ph sz="half" idx="1"/>
          </p:nvPr>
        </p:nvSpPr>
        <p:spPr/>
        <p:txBody>
          <a:bodyPr>
            <a:normAutofit fontScale="92500" lnSpcReduction="10000"/>
          </a:bodyPr>
          <a:lstStyle/>
          <a:p>
            <a:r>
              <a:t>08 Jul</a:t>
            </a:r>
          </a:p>
          <a:p>
            <a:endParaRPr/>
          </a:p>
          <a:p>
            <a:r>
              <a:t>Today, AWS announces a new feature of Application Manager, a capability of AWS Systems Manager, which customers can use to manage and provision their AWS CloudFormation templates and stacks without leaving the Application Manager console. With Application Manager, customers can discover and manage applications across multiple AWS services like AWS Launch Wizard, AWS Service Catalog App Registry, AWS Resource Groups, Amazon Elastic Kubernetes Service (Amazon EKS), and Amazon Elastic Container Service (Amazon ECS). This new feature provides customers with a ready-to-use solution to manage the lifecycle of CloudFormation templates and stacks without having to set up Amazon Simple Storage Service (Amazon S3) or version control systems for template management.</a:t>
            </a:r>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the General Availability of AWS Local Zones in Dallas and Philadelphia</a:t>
            </a:r>
          </a:p>
        </p:txBody>
      </p:sp>
      <p:sp>
        <p:nvSpPr>
          <p:cNvPr id="3" name="Content Placeholder 2"/>
          <p:cNvSpPr>
            <a:spLocks noGrp="1"/>
          </p:cNvSpPr>
          <p:nvPr>
            <p:ph sz="half" idx="1"/>
          </p:nvPr>
        </p:nvSpPr>
        <p:spPr/>
        <p:txBody>
          <a:bodyPr/>
          <a:lstStyle/>
          <a:p>
            <a:r>
              <a:t>07 Jul</a:t>
            </a:r>
          </a:p>
          <a:p>
            <a:endParaRPr/>
          </a:p>
          <a:p>
            <a:r>
              <a:t>Today we are announcing the general availability of AWS Local Zones in Dallas and Philadelphia. Customers can now use these new AWS Local Zones to deliver applications that require single-digit millisecond latency to end-users or on-premises installations in Dallas and Philadelphia metro areas.</a:t>
            </a:r>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Application Migration Service is now available in the US West (Northern California), Asia Pacific (Osaka), Canada (Central), and South America (São Paulo) Regions</a:t>
            </a:r>
          </a:p>
        </p:txBody>
      </p:sp>
      <p:sp>
        <p:nvSpPr>
          <p:cNvPr id="3" name="Content Placeholder 2"/>
          <p:cNvSpPr>
            <a:spLocks noGrp="1"/>
          </p:cNvSpPr>
          <p:nvPr>
            <p:ph sz="half" idx="1"/>
          </p:nvPr>
        </p:nvSpPr>
        <p:spPr/>
        <p:txBody>
          <a:bodyPr/>
          <a:lstStyle/>
          <a:p>
            <a:r>
              <a:t>07 Jul</a:t>
            </a:r>
          </a:p>
          <a:p>
            <a:endParaRPr/>
          </a:p>
          <a:p>
            <a:r>
              <a:t>AWS Application Migration Service (AWS MGN) is now available in four additional AWS Regions: US West (Northern California), Asia Pacific (Osaka), Canada (Central), and South America (São Paulo).</a:t>
            </a:r>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The Amazon Chime SDK adds media capture pipelines to enable capture of meeting video, audio, and content streams</a:t>
            </a:r>
          </a:p>
        </p:txBody>
      </p:sp>
      <p:sp>
        <p:nvSpPr>
          <p:cNvPr id="3" name="Content Placeholder 2"/>
          <p:cNvSpPr>
            <a:spLocks noGrp="1"/>
          </p:cNvSpPr>
          <p:nvPr>
            <p:ph sz="half" idx="1"/>
          </p:nvPr>
        </p:nvSpPr>
        <p:spPr/>
        <p:txBody>
          <a:bodyPr/>
          <a:lstStyle/>
          <a:p>
            <a:r>
              <a:t>07 Jul</a:t>
            </a:r>
          </a:p>
          <a:p>
            <a:endParaRPr/>
          </a:p>
          <a:p>
            <a:r>
              <a:t>The Amazon Chime SDK lets developers add real-time audio, video, screen share, and messaging capabilities to their web or mobile applications. Starting today, developers can capture the contents of their Amazon Chime SDK meeting and save them to an Amazon Simple Storage Service (Amazon S3) bucket of their choice with media capture pipelines. This new feature captures meeting audio, video, and content share streams in 5 second segments and directly delivers them, along with meeting events and data messages, to developer’s designated S3 bucket.</a:t>
            </a:r>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Workflow Studio, a new low-code visual workflow designer for AWS Step Functions</a:t>
            </a:r>
          </a:p>
        </p:txBody>
      </p:sp>
      <p:sp>
        <p:nvSpPr>
          <p:cNvPr id="3" name="Content Placeholder 2"/>
          <p:cNvSpPr>
            <a:spLocks noGrp="1"/>
          </p:cNvSpPr>
          <p:nvPr>
            <p:ph sz="half" idx="1"/>
          </p:nvPr>
        </p:nvSpPr>
        <p:spPr/>
        <p:txBody>
          <a:bodyPr/>
          <a:lstStyle/>
          <a:p>
            <a:r>
              <a:t>07 Jul</a:t>
            </a:r>
          </a:p>
          <a:p>
            <a:endParaRPr/>
          </a:p>
          <a:p>
            <a:r>
              <a:t>Workflow Studio is a new visual workflow designer for AWS Step Functions that makes it faster and easier to build workflows using a drag and drop interface in the AWS console.</a:t>
            </a:r>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AppConfig now enables customers to compare two application configuration versions</a:t>
            </a:r>
          </a:p>
        </p:txBody>
      </p:sp>
      <p:sp>
        <p:nvSpPr>
          <p:cNvPr id="3" name="Content Placeholder 2"/>
          <p:cNvSpPr>
            <a:spLocks noGrp="1"/>
          </p:cNvSpPr>
          <p:nvPr>
            <p:ph sz="half" idx="1"/>
          </p:nvPr>
        </p:nvSpPr>
        <p:spPr/>
        <p:txBody>
          <a:bodyPr/>
          <a:lstStyle/>
          <a:p>
            <a:r>
              <a:t>07 Jul</a:t>
            </a:r>
          </a:p>
          <a:p>
            <a:endParaRPr/>
          </a:p>
          <a:p>
            <a:r>
              <a:t>AWS customers can now compare any two application configuration versions side by side within AWS AppConfig, a feature of AWS Systems Manager. This new functionality highlights the differences between the changed configuration values in the two versions, and helps Developers and Devops professionals to understand how their configuration data has changed over time. This adds additional safety features when deploying the intended configuration values to mitigate the risk of any application outages.</a:t>
            </a:r>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Graviton2 based M6g, C6g, R6g and T4g instances are now available in EU (Paris, Milan) regions, and M6g instances are available in Middle East (Bahrain) regions</a:t>
            </a:r>
          </a:p>
        </p:txBody>
      </p:sp>
      <p:sp>
        <p:nvSpPr>
          <p:cNvPr id="3" name="Content Placeholder 2"/>
          <p:cNvSpPr>
            <a:spLocks noGrp="1"/>
          </p:cNvSpPr>
          <p:nvPr>
            <p:ph sz="half" idx="1"/>
          </p:nvPr>
        </p:nvSpPr>
        <p:spPr/>
        <p:txBody>
          <a:bodyPr/>
          <a:lstStyle/>
          <a:p>
            <a:r>
              <a:t>07 Jul</a:t>
            </a:r>
          </a:p>
          <a:p>
            <a:endParaRPr/>
          </a:p>
          <a:p>
            <a:r>
              <a:t>Starting today, Amazon EC2 M6g, C6g, R6g, and T4g instances are available in EU (Paris, Milan) regions. Additionally, Amazon EC2 M6g instances are also available in Middle East (Bahrain) regions.</a:t>
            </a:r>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Kendra releases Web Crawler to enable web site search</a:t>
            </a:r>
          </a:p>
        </p:txBody>
      </p:sp>
      <p:sp>
        <p:nvSpPr>
          <p:cNvPr id="3" name="Content Placeholder 2"/>
          <p:cNvSpPr>
            <a:spLocks noGrp="1"/>
          </p:cNvSpPr>
          <p:nvPr>
            <p:ph sz="half" idx="1"/>
          </p:nvPr>
        </p:nvSpPr>
        <p:spPr/>
        <p:txBody>
          <a:bodyPr/>
          <a:lstStyle/>
          <a:p>
            <a:r>
              <a:t>07 Jul</a:t>
            </a:r>
          </a:p>
          <a:p>
            <a:endParaRPr/>
          </a:p>
          <a:p>
            <a:r>
              <a:t>Amazon Kendra is an intelligent search service powered by machine learning, enabling organizations to provide relevant information to customers and employees, when they need it. Starting today, AWS customers can use the Amazon Kendra web crawler to index and search webpages.</a:t>
            </a:r>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Oracle Supports Oracle Management Agent (OMA) version 13.5 for Oracle Enterprise Manager Cloud Control 13cR5</a:t>
            </a:r>
          </a:p>
        </p:txBody>
      </p:sp>
      <p:sp>
        <p:nvSpPr>
          <p:cNvPr id="3" name="Content Placeholder 2"/>
          <p:cNvSpPr>
            <a:spLocks noGrp="1"/>
          </p:cNvSpPr>
          <p:nvPr>
            <p:ph sz="half" idx="1"/>
          </p:nvPr>
        </p:nvSpPr>
        <p:spPr/>
        <p:txBody>
          <a:bodyPr/>
          <a:lstStyle/>
          <a:p>
            <a:r>
              <a:t>07 Jul</a:t>
            </a:r>
          </a:p>
          <a:p>
            <a:endParaRPr/>
          </a:p>
          <a:p>
            <a:r>
              <a:t>Amazon RDS for Oracle now supports Oracle Management Agent (OMA) version 13.5 for Oracle Enterprise Manager (OEM) Cloud Control 13c Release 5. OEM 13c  offers web-based tools to monitor and manage your Oracle databases. Amazon RDS for Oracle installs OMA, which then communicates with your Oracle Management Service (OMS) to provide monitoring information. Customers running OMS 13.5 can now manage databases by installing OMA 13.5.</a:t>
            </a: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Amplify Admin UI now supports importing existing Amazon Cognito User Pools and Identity Pools</a:t>
            </a:r>
          </a:p>
        </p:txBody>
      </p:sp>
      <p:sp>
        <p:nvSpPr>
          <p:cNvPr id="3" name="Content Placeholder 2"/>
          <p:cNvSpPr>
            <a:spLocks noGrp="1"/>
          </p:cNvSpPr>
          <p:nvPr>
            <p:ph sz="half" idx="1"/>
          </p:nvPr>
        </p:nvSpPr>
        <p:spPr/>
        <p:txBody>
          <a:bodyPr/>
          <a:lstStyle/>
          <a:p>
            <a:r>
              <a:t>06 Jul</a:t>
            </a:r>
          </a:p>
          <a:p>
            <a:endParaRPr/>
          </a:p>
          <a:p>
            <a:r>
              <a:t>Amplify Admin UI now supports importing existing Amazon Cognito User Pools and Identity Pools. This means you can link your Cognito User Pool and Identity Pool resources to your Amplify app to take advantage of authorization scenarios for your data model, and manage users and groups directly from the Admin UI.</a:t>
            </a:r>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CloudWatch Container Insights for Amazon ECS now available in the AWS Middle East (Bahrain) region</a:t>
            </a:r>
          </a:p>
        </p:txBody>
      </p:sp>
      <p:sp>
        <p:nvSpPr>
          <p:cNvPr id="3" name="Content Placeholder 2"/>
          <p:cNvSpPr>
            <a:spLocks noGrp="1"/>
          </p:cNvSpPr>
          <p:nvPr>
            <p:ph sz="half" idx="1"/>
          </p:nvPr>
        </p:nvSpPr>
        <p:spPr/>
        <p:txBody>
          <a:bodyPr/>
          <a:lstStyle/>
          <a:p>
            <a:r>
              <a:t>06 Jul</a:t>
            </a:r>
          </a:p>
          <a:p>
            <a:endParaRPr/>
          </a:p>
          <a:p>
            <a:r>
              <a:t>Amazon CloudWatch Container Insights for Amazon Elastic Container Service (Amazon ECS) is now available in the AWS Middle East (Bahrain) region. Using Container Insights, DevOps and systems engineers can monitor, isolate, and diagnose containerized applications and microservices environments through automated dashboards. This helps you visualize the performance and health of Amazon ECS and AWS Fargate resources including clusters, tasks, containers, and services.</a:t>
            </a:r>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Elemental MediaPackage extends its metadata passthrough capabilities</a:t>
            </a:r>
          </a:p>
        </p:txBody>
      </p:sp>
      <p:sp>
        <p:nvSpPr>
          <p:cNvPr id="3" name="Content Placeholder 2"/>
          <p:cNvSpPr>
            <a:spLocks noGrp="1"/>
          </p:cNvSpPr>
          <p:nvPr>
            <p:ph sz="half" idx="1"/>
          </p:nvPr>
        </p:nvSpPr>
        <p:spPr/>
        <p:txBody>
          <a:bodyPr/>
          <a:lstStyle/>
          <a:p>
            <a:r>
              <a:t>02 Jul</a:t>
            </a:r>
          </a:p>
          <a:p>
            <a:endParaRPr/>
          </a:p>
          <a:p>
            <a:r>
              <a:t>AWS Elemental MediaPackage now supports timed ID3 metadata passthrough for live and VOD streams in HLS, CMAF, and DASH formats. ID3 metadata tags enable data to be embedded into video streams at specified timecodes and used by downstream systems or clients to enhance the playback experience. By dynamically adding metadata to a stream, you can enable use cases such as ad-insertion beaconing, client-side dynamic graphical overlays, content chapters, and audio track listing.</a:t>
            </a:r>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Studio now provides data previews during visual job authoring</a:t>
            </a:r>
          </a:p>
        </p:txBody>
      </p:sp>
      <p:sp>
        <p:nvSpPr>
          <p:cNvPr id="3" name="Content Placeholder 2"/>
          <p:cNvSpPr>
            <a:spLocks noGrp="1"/>
          </p:cNvSpPr>
          <p:nvPr>
            <p:ph sz="half" idx="1"/>
          </p:nvPr>
        </p:nvSpPr>
        <p:spPr/>
        <p:txBody>
          <a:bodyPr/>
          <a:lstStyle/>
          <a:p>
            <a:r>
              <a:t>02 Jul</a:t>
            </a:r>
          </a:p>
          <a:p>
            <a:endParaRPr/>
          </a:p>
          <a:p>
            <a:r>
              <a:t>AWS Glue Studio now allows you to preview your data at each step of the visual job authoring process. AWS Glue Studio automatically samples your data, then runs each transform in your job so you can test and debug your transformations without having to save or run the job. Data previews are available for each source, target, and transform node in the visual editor, so you can verify the results step by step.</a:t>
            </a:r>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Redshift launches RA3 in Hong Kong and China Regions (Beijing, Ningxia)</a:t>
            </a:r>
          </a:p>
        </p:txBody>
      </p:sp>
      <p:sp>
        <p:nvSpPr>
          <p:cNvPr id="3" name="Content Placeholder 2"/>
          <p:cNvSpPr>
            <a:spLocks noGrp="1"/>
          </p:cNvSpPr>
          <p:nvPr>
            <p:ph sz="half" idx="1"/>
          </p:nvPr>
        </p:nvSpPr>
        <p:spPr/>
        <p:txBody>
          <a:bodyPr/>
          <a:lstStyle/>
          <a:p>
            <a:r>
              <a:t>02 Jul</a:t>
            </a:r>
          </a:p>
          <a:p>
            <a:endParaRPr/>
          </a:p>
          <a:p>
            <a:r>
              <a:t>Amazon Redshift RA3 is now available in the Asia Pacific (Hong Kong) Region, China (Beijing) Region, operated by Sinnet, and China (Ningxia) Region, operated by NWCD. Amazon Redshift RA3 instances with managed storage allow you to scale compute and storage independently for fast query performance and lower costs and also enable you to securely and easily share live data across Amazon Redshift clusters. RA3 is available in three different node types, RA3.16xlarge, RA3.4xlarge, and RA3.xlplus to allow you to balance price and performance depending upon your workload requirements. </a:t>
            </a:r>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CLI adds support for storing environment variables and secrets accessed by AWS Lambda functions</a:t>
            </a:r>
          </a:p>
        </p:txBody>
      </p:sp>
      <p:sp>
        <p:nvSpPr>
          <p:cNvPr id="3" name="Content Placeholder 2"/>
          <p:cNvSpPr>
            <a:spLocks noGrp="1"/>
          </p:cNvSpPr>
          <p:nvPr>
            <p:ph sz="half" idx="1"/>
          </p:nvPr>
        </p:nvSpPr>
        <p:spPr/>
        <p:txBody>
          <a:bodyPr/>
          <a:lstStyle/>
          <a:p>
            <a:r>
              <a:t>01 Jul</a:t>
            </a:r>
          </a:p>
          <a:p>
            <a:endParaRPr/>
          </a:p>
          <a:p>
            <a:r>
              <a:t>Amplify CLI now supports storing environment variables and secrets to be used in AWS Lambda functions to help separate environment-specific configurations from business logic. The AWS Amplify CLI is a command line toolchain that helps frontend developers create app backends in the cloud that often include business logic powered by AWS Lambda functions. Customers use environment variables to store environment-specific values, such as API endpoints, and secrets to securely store sensitive information, such as API keys.</a:t>
            </a:r>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ParallelCluster now supports Ubuntu 20.04</a:t>
            </a:r>
          </a:p>
        </p:txBody>
      </p:sp>
      <p:sp>
        <p:nvSpPr>
          <p:cNvPr id="3" name="Content Placeholder 2"/>
          <p:cNvSpPr>
            <a:spLocks noGrp="1"/>
          </p:cNvSpPr>
          <p:nvPr>
            <p:ph sz="half" idx="1"/>
          </p:nvPr>
        </p:nvSpPr>
        <p:spPr/>
        <p:txBody>
          <a:bodyPr/>
          <a:lstStyle/>
          <a:p>
            <a:r>
              <a:t>01 Jul</a:t>
            </a:r>
          </a:p>
          <a:p>
            <a:endParaRPr/>
          </a:p>
          <a:p>
            <a:r>
              <a:t>AWS ParallelCluster is a fully supported and maintained open source cluster management tool that makes it easy for scientists, researchers, and IT administrators to deploy and manage High Performance Computing (HPC) clusters in the AWS cloud. HPC clusters are collections of tightly coupled compute, storage, and networking resources that enable customers to run large scale scientific and engineering workloads.</a:t>
            </a:r>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Announcing Amazon Kendra Smaller Units and Price Drop</a:t>
            </a:r>
          </a:p>
        </p:txBody>
      </p:sp>
      <p:sp>
        <p:nvSpPr>
          <p:cNvPr id="3" name="Content Placeholder 2"/>
          <p:cNvSpPr>
            <a:spLocks noGrp="1"/>
          </p:cNvSpPr>
          <p:nvPr>
            <p:ph sz="half" idx="1"/>
          </p:nvPr>
        </p:nvSpPr>
        <p:spPr/>
        <p:txBody>
          <a:bodyPr>
            <a:normAutofit lnSpcReduction="10000"/>
          </a:bodyPr>
          <a:lstStyle/>
          <a:p>
            <a:r>
              <a:t>01 Jul</a:t>
            </a:r>
          </a:p>
          <a:p>
            <a:endParaRPr/>
          </a:p>
          <a:p>
            <a:r>
              <a:t>We are excited to announce that Kendra Enterprise Edition is now offered in smaller more granular units to enable smaller workloads. The base Kendra Enterprise Edition (KEE) now starts at $1.40/h ($1,008/mo), offering the same functionality and availability at a smaller scale and cost. The base KEE now supports up to 100,000 documents and 8,000 searches per day, with adaptive bursting capability to better handle unpredictable query spikes. Similarly, the Virtual Storage Capacity units now offer scaling in increments of 100,000 documents (up to 30GB) per unit at $0.7/h. Our Virtual Query Units offer scaling increments of 8,000 queries per day at $0.7/h.</a:t>
            </a:r>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Amplify launches new full-stack CI/CD capabilities</a:t>
            </a:r>
          </a:p>
        </p:txBody>
      </p:sp>
      <p:sp>
        <p:nvSpPr>
          <p:cNvPr id="3" name="Content Placeholder 2"/>
          <p:cNvSpPr>
            <a:spLocks noGrp="1"/>
          </p:cNvSpPr>
          <p:nvPr>
            <p:ph sz="half" idx="1"/>
          </p:nvPr>
        </p:nvSpPr>
        <p:spPr/>
        <p:txBody>
          <a:bodyPr/>
          <a:lstStyle/>
          <a:p>
            <a:r>
              <a:t>01 Jul</a:t>
            </a:r>
          </a:p>
          <a:p>
            <a:endParaRPr/>
          </a:p>
          <a:p>
            <a:r>
              <a:t>With this launch, AWS Amplify now supports conditional backend builds, automatic build-time aws-exports.js generation, and a simpler console workflow to re-use backends across multiple frontend branches. AWS Amplify’s continuous deployment service offers frontend developers the fastest way to build and deploy full-stack apps (both the frontend and backend) on every code commit.</a:t>
            </a:r>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AppStream 2.0 is now available in the AWS Europe (London) region</a:t>
            </a:r>
          </a:p>
        </p:txBody>
      </p:sp>
      <p:sp>
        <p:nvSpPr>
          <p:cNvPr id="3" name="Content Placeholder 2"/>
          <p:cNvSpPr>
            <a:spLocks noGrp="1"/>
          </p:cNvSpPr>
          <p:nvPr>
            <p:ph sz="half" idx="1"/>
          </p:nvPr>
        </p:nvSpPr>
        <p:spPr/>
        <p:txBody>
          <a:bodyPr/>
          <a:lstStyle/>
          <a:p>
            <a:r>
              <a:t>30 Jun</a:t>
            </a:r>
          </a:p>
          <a:p>
            <a:endParaRPr/>
          </a:p>
          <a:p>
            <a:r>
              <a:t>You can now deploy Amazon AppStream 2.0 in the AWS Europe (London) Region. Deploying AppStream 2.0 in your local region provides users with a more responsive experience and helps support your local data residency obligations. With this launch, you can deploy General Purpose, Compute Optimized, Memory Optimized, Graphics Design, Graphics Pro and Graphics G4 instances to meet the needs of your users.</a:t>
            </a:r>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IQ now supports attachments</a:t>
            </a:r>
          </a:p>
        </p:txBody>
      </p:sp>
      <p:sp>
        <p:nvSpPr>
          <p:cNvPr id="3" name="Content Placeholder 2"/>
          <p:cNvSpPr>
            <a:spLocks noGrp="1"/>
          </p:cNvSpPr>
          <p:nvPr>
            <p:ph sz="half" idx="1"/>
          </p:nvPr>
        </p:nvSpPr>
        <p:spPr/>
        <p:txBody>
          <a:bodyPr/>
          <a:lstStyle/>
          <a:p>
            <a:r>
              <a:t>30 Jun</a:t>
            </a:r>
          </a:p>
          <a:p>
            <a:endParaRPr/>
          </a:p>
          <a:p>
            <a:r>
              <a:t>You can now share files directly with specific experts in AWS IQ chat interface. Experts can also share files in the chat, attach files to a proposal, or to a payment request after completing work.</a:t>
            </a:r>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New AWS Solutions Implementation: Tag Tamer</a:t>
            </a:r>
          </a:p>
        </p:txBody>
      </p:sp>
      <p:sp>
        <p:nvSpPr>
          <p:cNvPr id="3" name="Content Placeholder 2"/>
          <p:cNvSpPr>
            <a:spLocks noGrp="1"/>
          </p:cNvSpPr>
          <p:nvPr>
            <p:ph sz="half" idx="1"/>
          </p:nvPr>
        </p:nvSpPr>
        <p:spPr/>
        <p:txBody>
          <a:bodyPr/>
          <a:lstStyle/>
          <a:p>
            <a:r>
              <a:t>30 Jun</a:t>
            </a:r>
          </a:p>
          <a:p>
            <a:endParaRPr/>
          </a:p>
          <a:p>
            <a:r>
              <a:t>We are delighted to announce the addition of Tag Tamer to the AWS Solutions Implementations portfolio. AWS Solutions Implementations help you solve common problems and build faster using the AWS platform.</a:t>
            </a:r>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EBS now supports gp3, st1, and sc1 volume types in the Los Angeles AWS Local Zones</a:t>
            </a:r>
          </a:p>
        </p:txBody>
      </p:sp>
      <p:sp>
        <p:nvSpPr>
          <p:cNvPr id="3" name="Content Placeholder 2"/>
          <p:cNvSpPr>
            <a:spLocks noGrp="1"/>
          </p:cNvSpPr>
          <p:nvPr>
            <p:ph sz="half" idx="1"/>
          </p:nvPr>
        </p:nvSpPr>
        <p:spPr/>
        <p:txBody>
          <a:bodyPr/>
          <a:lstStyle/>
          <a:p>
            <a:r>
              <a:t>30 Jun</a:t>
            </a:r>
          </a:p>
          <a:p>
            <a:endParaRPr/>
          </a:p>
          <a:p>
            <a:r>
              <a:t>AWS now supports three additional Amazon Elastic Block Store (Amazon EBS) volume types in the Los Angeles AWS Local Zones: General Purpose SSD (gp3), Throughput Optimized HDD (st1), and Cold HDD (sc1) volumes. With this expansion, you can now use gp3, st1, and sc1 volume types in addition to your existing gp2 and io1 volumes in the Los Angeles AWS Local Zones.</a:t>
            </a:r>
          </a:p>
        </p:txBody>
      </p:sp>
    </p:spTree>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Storage Gateway is now available in the AWS Asia Pacific (Osaka) Region</a:t>
            </a:r>
          </a:p>
        </p:txBody>
      </p:sp>
      <p:sp>
        <p:nvSpPr>
          <p:cNvPr id="3" name="Content Placeholder 2"/>
          <p:cNvSpPr>
            <a:spLocks noGrp="1"/>
          </p:cNvSpPr>
          <p:nvPr>
            <p:ph sz="half" idx="1"/>
          </p:nvPr>
        </p:nvSpPr>
        <p:spPr/>
        <p:txBody>
          <a:bodyPr/>
          <a:lstStyle/>
          <a:p>
            <a:r>
              <a:t>30 Jun</a:t>
            </a:r>
          </a:p>
          <a:p>
            <a:endParaRPr/>
          </a:p>
          <a:p>
            <a:r>
              <a:t>AWS Storage Gateway is now available in the AWS Asia Pacific (Osaka) Region.</a:t>
            </a:r>
          </a:p>
        </p:txBody>
      </p:sp>
    </p:spTree>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DataSync can now copy system access control lists (SACLs) to Amazon FSx for Windows File Server</a:t>
            </a:r>
          </a:p>
        </p:txBody>
      </p:sp>
      <p:sp>
        <p:nvSpPr>
          <p:cNvPr id="3" name="Content Placeholder 2"/>
          <p:cNvSpPr>
            <a:spLocks noGrp="1"/>
          </p:cNvSpPr>
          <p:nvPr>
            <p:ph sz="half" idx="1"/>
          </p:nvPr>
        </p:nvSpPr>
        <p:spPr/>
        <p:txBody>
          <a:bodyPr/>
          <a:lstStyle/>
          <a:p>
            <a:r>
              <a:t>30 Jun</a:t>
            </a:r>
          </a:p>
          <a:p>
            <a:endParaRPr/>
          </a:p>
          <a:p>
            <a:r>
              <a:t>When using AWS DataSync to copy data between Amazon FSx for Windows File Server file systems and Server Message Block (SMB) shares, you can now copy object metadata describing NTFS system access control lists typically used by administrators to define the operations on files and folders that generate audit logs. With this launch, DataSync can now copy all access control entries (ACEs) for files and folders between your SMB shares and FSx for Windows File Server file systems as well as between FSx for Windows File Server file systems.</a:t>
            </a:r>
          </a:p>
        </p:txBody>
      </p:sp>
    </p:spTree>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now supports writing datasets from job runs directly into the AWS Glue Data Catalog</a:t>
            </a:r>
          </a:p>
        </p:txBody>
      </p:sp>
      <p:sp>
        <p:nvSpPr>
          <p:cNvPr id="3" name="Content Placeholder 2"/>
          <p:cNvSpPr>
            <a:spLocks noGrp="1"/>
          </p:cNvSpPr>
          <p:nvPr>
            <p:ph sz="half" idx="1"/>
          </p:nvPr>
        </p:nvSpPr>
        <p:spPr/>
        <p:txBody>
          <a:bodyPr/>
          <a:lstStyle/>
          <a:p>
            <a:r>
              <a:t>30 Jun</a:t>
            </a:r>
          </a:p>
          <a:p>
            <a:endParaRPr/>
          </a:p>
          <a:p>
            <a:r>
              <a:t>AWS Glue DataBrew now supports the ability to write datasets created from jobs that run your data preparation recipes directly to the AWS Glue Data Catalog. You can choose to store datasets in Amazon S3, Amazon Redshift, and Amazon RDS (Aurora, Oracle, SQL Server, MySQL, and PostgreSQL) tables in the Data Catalog.</a:t>
            </a:r>
          </a:p>
        </p:txBody>
      </p:sp>
    </p:spTree>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Glue DataBrew adds support for backslash delimiter (\) in .csv datasets</a:t>
            </a:r>
          </a:p>
        </p:txBody>
      </p:sp>
      <p:sp>
        <p:nvSpPr>
          <p:cNvPr id="3" name="Content Placeholder 2"/>
          <p:cNvSpPr>
            <a:spLocks noGrp="1"/>
          </p:cNvSpPr>
          <p:nvPr>
            <p:ph sz="half" idx="1"/>
          </p:nvPr>
        </p:nvSpPr>
        <p:spPr/>
        <p:txBody>
          <a:bodyPr/>
          <a:lstStyle/>
          <a:p>
            <a:r>
              <a:t>30 Jun</a:t>
            </a:r>
          </a:p>
          <a:p>
            <a:endParaRPr/>
          </a:p>
          <a:p>
            <a:r>
              <a:t>AWS Glue DataBrew adds support for creating datasets with .csv files that have the backslash or escape (\) delimiter. The full list of supported delimiters for .csv files can be found here .</a:t>
            </a:r>
          </a:p>
        </p:txBody>
      </p:sp>
    </p:spTree>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GameLift announces BatchDistance rule update to FlexMatch</a:t>
            </a:r>
          </a:p>
        </p:txBody>
      </p:sp>
      <p:sp>
        <p:nvSpPr>
          <p:cNvPr id="3" name="Content Placeholder 2"/>
          <p:cNvSpPr>
            <a:spLocks noGrp="1"/>
          </p:cNvSpPr>
          <p:nvPr>
            <p:ph sz="half" idx="1"/>
          </p:nvPr>
        </p:nvSpPr>
        <p:spPr/>
        <p:txBody>
          <a:bodyPr/>
          <a:lstStyle/>
          <a:p>
            <a:r>
              <a:t>30 Jun</a:t>
            </a:r>
          </a:p>
          <a:p>
            <a:endParaRPr/>
          </a:p>
          <a:p>
            <a:r>
              <a:t>We are excited to announce an update to Amazon GameLift, an AWS managed service. Trusted by game companies from all over the world like Wargaming, Metalhead Software, and Illfonic, GameLift FlexMatch launched in 2017 as a feature that uses a powerful matchmaking algorithm and flexible developer-defined rules to create high-quality matches at AWS scale. </a:t>
            </a:r>
          </a:p>
        </p:txBody>
      </p:sp>
    </p:spTree>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Self-service features and trusted device support are now available on the Amazon WorkSpaces Android Client App</a:t>
            </a:r>
          </a:p>
        </p:txBody>
      </p:sp>
      <p:sp>
        <p:nvSpPr>
          <p:cNvPr id="3" name="Content Placeholder 2"/>
          <p:cNvSpPr>
            <a:spLocks noGrp="1"/>
          </p:cNvSpPr>
          <p:nvPr>
            <p:ph sz="half" idx="1"/>
          </p:nvPr>
        </p:nvSpPr>
        <p:spPr/>
        <p:txBody>
          <a:bodyPr/>
          <a:lstStyle/>
          <a:p>
            <a:r>
              <a:t>30 Jun</a:t>
            </a:r>
          </a:p>
          <a:p>
            <a:endParaRPr/>
          </a:p>
          <a:p>
            <a:r>
              <a:t>Self-service features and trusted device support are now available on the WorkSpaces Android Client app on Google Play that runs on Android and Android-compatible Chrome OS devices . The new features are intended for customers who use Android or Android-compatible Chrome OS devices as primary WorkSpaces client endpoint devices.</a:t>
            </a:r>
          </a:p>
        </p:txBody>
      </p:sp>
    </p:spTree>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Amazon RDS for MariaDB supports new minor versions 10.2.37, 10.3.28, 10.4.18, and 10.5.9.</a:t>
            </a:r>
          </a:p>
        </p:txBody>
      </p:sp>
      <p:sp>
        <p:nvSpPr>
          <p:cNvPr id="3" name="Content Placeholder 2"/>
          <p:cNvSpPr>
            <a:spLocks noGrp="1"/>
          </p:cNvSpPr>
          <p:nvPr>
            <p:ph sz="half" idx="1"/>
          </p:nvPr>
        </p:nvSpPr>
        <p:spPr/>
        <p:txBody>
          <a:bodyPr>
            <a:normAutofit fontScale="92500"/>
          </a:bodyPr>
          <a:lstStyle/>
          <a:p>
            <a:r>
              <a:t>30 Jun</a:t>
            </a:r>
          </a:p>
          <a:p>
            <a:endParaRPr/>
          </a:p>
          <a:p>
            <a:r>
              <a:t>Amazon Relational Database Service (Amazon RDS) for MariaDB now supports MariaDB minor versions 10.2.37 , 10.3.28 , 10.4.18 , and 10.5.9 . We recommend that customers upgrade to the latest minor versions to fix known security vulnerabilities in prior versions of MariaDB, and to benefit from the numerous bug fixes, performance improvements, and new functionality added by the MariaDB community. Amazon RDS customers can leverage automatic minor version upgrades to automatically upgrade their databases to the latest minor version during scheduled maintenance windows. Learn more about upgrading your database instances, including automatic minor version upgrades, in the Amazon RDS User Guide .</a:t>
            </a:r>
          </a:p>
        </p:txBody>
      </p:sp>
    </p:spTree>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Lambda now supports SASL/PLAIN authentication for functions triggered from self-managed Apache Kafka</a:t>
            </a:r>
          </a:p>
        </p:txBody>
      </p:sp>
      <p:sp>
        <p:nvSpPr>
          <p:cNvPr id="3" name="Content Placeholder 2"/>
          <p:cNvSpPr>
            <a:spLocks noGrp="1"/>
          </p:cNvSpPr>
          <p:nvPr>
            <p:ph sz="half" idx="1"/>
          </p:nvPr>
        </p:nvSpPr>
        <p:spPr/>
        <p:txBody>
          <a:bodyPr>
            <a:normAutofit fontScale="92500" lnSpcReduction="20000"/>
          </a:bodyPr>
          <a:lstStyle/>
          <a:p>
            <a:r>
              <a:t>29 Jun</a:t>
            </a:r>
          </a:p>
          <a:p>
            <a:endParaRPr/>
          </a:p>
          <a:p>
            <a:r>
              <a:t>AWS Lambda functions that are triggered from self-managed Apache Kafka topics can now access usernames and passwords secured by AWS Secrets Manager using SASL/PLAIN, a simple username/password authentication mechanism that is typically used with TLS for encryption to implement secure authentication. This is in addition to SASL/SCRAM, which is already supported on Lambda. To get started, customers who select Apache Kafka as the event source for their Lambda function can choose SASL/PLAIN as their authentication mechanism, and select their credentials from Secrets Manager on the AWS Management Console, AWS CLI or AWS SDK for Lambda. This feature requires no additional charge to use, and is available in all AWS Regions where self-managed Apache Kafka is supported as an event source for AWS Lambda. To learn more about using SASL/PLAIN authentication for your Lambda functions triggered from Amazon MSK topics, read the Lambda Developer Guide .</a:t>
            </a:r>
          </a:p>
        </p:txBody>
      </p:sp>
    </p:spTree>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additional MXF mezzanine output formats now available with AWS Elemental MediaConvert</a:t>
            </a:r>
          </a:p>
        </p:txBody>
      </p:sp>
      <p:sp>
        <p:nvSpPr>
          <p:cNvPr id="3" name="Content Placeholder 2"/>
          <p:cNvSpPr>
            <a:spLocks noGrp="1"/>
          </p:cNvSpPr>
          <p:nvPr>
            <p:ph sz="half" idx="1"/>
          </p:nvPr>
        </p:nvSpPr>
        <p:spPr/>
        <p:txBody>
          <a:bodyPr/>
          <a:lstStyle/>
          <a:p>
            <a:r>
              <a:t>29 Jun</a:t>
            </a:r>
          </a:p>
          <a:p>
            <a:endParaRPr/>
          </a:p>
          <a:p>
            <a:r>
              <a:t>AWS Elemental MediaConvert now supports creating AVC-Intra, VC3, and XAVC mezzanine formats carried in the MXF container. Often referred to as “intermediate” or “editing” file formats, these lightly compressed video codecs balance quality and performance by providing visually lossless compression, lightweight decoding requirements, and native editing and playback support in non-linear editing tools.</a:t>
            </a:r>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Firewall Manager is now available in the Asia Pacific (Osaka) Region</a:t>
            </a:r>
          </a:p>
        </p:txBody>
      </p:sp>
      <p:sp>
        <p:nvSpPr>
          <p:cNvPr id="3" name="Content Placeholder 2"/>
          <p:cNvSpPr>
            <a:spLocks noGrp="1"/>
          </p:cNvSpPr>
          <p:nvPr>
            <p:ph sz="half" idx="1"/>
          </p:nvPr>
        </p:nvSpPr>
        <p:spPr/>
        <p:txBody>
          <a:bodyPr/>
          <a:lstStyle/>
          <a:p>
            <a:r>
              <a:t>29 Jun</a:t>
            </a:r>
          </a:p>
          <a:p>
            <a:endParaRPr/>
          </a:p>
          <a:p>
            <a:r>
              <a:t>Starting today, AWS Firewall Manager is available in Asia Pacific (Osaka).</a:t>
            </a:r>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Support for HDR10+ for HEVC outputs is now available with AWS Elemental MediaConvert</a:t>
            </a:r>
          </a:p>
        </p:txBody>
      </p:sp>
      <p:sp>
        <p:nvSpPr>
          <p:cNvPr id="3" name="Content Placeholder 2"/>
          <p:cNvSpPr>
            <a:spLocks noGrp="1"/>
          </p:cNvSpPr>
          <p:nvPr>
            <p:ph sz="half" idx="1"/>
          </p:nvPr>
        </p:nvSpPr>
        <p:spPr/>
        <p:txBody>
          <a:bodyPr/>
          <a:lstStyle/>
          <a:p>
            <a:r>
              <a:t>29 Jun</a:t>
            </a:r>
          </a:p>
          <a:p>
            <a:endParaRPr/>
          </a:p>
          <a:p>
            <a:r>
              <a:t>AWS Elemental MediaConvert has added support for HDR10+ metadata analysis and insertion. HDR10+ is a technology that further enhances HDR video with dynamic color metadata for viewing devices to adjust automatically on a scene-by-scene basis. Using MediaConvert you now have the option to perform a HDR10+ analysis on your HDR10 content and then to insert the resulting metadata into the encoded outputs for consumption on HDR10+ enabled devices. This metadata is treated like an enhancement layer to the base HDR10 metadata and allows for backwards compatibility with HDR10 compliant devices.</a:t>
            </a:r>
          </a:p>
        </p:txBody>
      </p:sp>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CloudFormation Modules are now available in AWS GovCloud (US)</a:t>
            </a:r>
          </a:p>
        </p:txBody>
      </p:sp>
      <p:sp>
        <p:nvSpPr>
          <p:cNvPr id="3" name="Content Placeholder 2"/>
          <p:cNvSpPr>
            <a:spLocks noGrp="1"/>
          </p:cNvSpPr>
          <p:nvPr>
            <p:ph sz="half" idx="1"/>
          </p:nvPr>
        </p:nvSpPr>
        <p:spPr/>
        <p:txBody>
          <a:bodyPr/>
          <a:lstStyle/>
          <a:p>
            <a:r>
              <a:t>29 Jun</a:t>
            </a:r>
          </a:p>
          <a:p>
            <a:endParaRPr/>
          </a:p>
          <a:p>
            <a:r>
              <a:t>AWS CloudFormation Modules are now available in AWS GovCloud (US). A Module encapsulates one or more AWS or Non-AWS resources and their configurations for reuse across your organization.</a:t>
            </a:r>
          </a:p>
        </p:txBody>
      </p:sp>
    </p:spTree>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hlinkClick r:id="rId2"/>
              </a:rPr>
              <a:t>AWS Systems Manager now supports free text search for a node in the Session Manager console</a:t>
            </a:r>
          </a:p>
        </p:txBody>
      </p:sp>
      <p:sp>
        <p:nvSpPr>
          <p:cNvPr id="3" name="Content Placeholder 2"/>
          <p:cNvSpPr>
            <a:spLocks noGrp="1"/>
          </p:cNvSpPr>
          <p:nvPr>
            <p:ph sz="half" idx="1"/>
          </p:nvPr>
        </p:nvSpPr>
        <p:spPr/>
        <p:txBody>
          <a:bodyPr/>
          <a:lstStyle/>
          <a:p>
            <a:r>
              <a:t>29 Jun</a:t>
            </a:r>
          </a:p>
          <a:p>
            <a:endParaRPr/>
          </a:p>
          <a:p>
            <a:r>
              <a:t>Session Manager, a capability of AWS Systems Manager, now supports free text search for nodes in the search bar of the Session Manager console. Customers can easily locate the node to connect to without knowing the exact value of a property such as Name or Instance ID. The free text search is supported for multiple properties of a managed node, including Instance ID, Name, Agent Version, Platform, Status, and many more.</a:t>
            </a:r>
          </a:p>
        </p:txBody>
      </p:sp>
    </p:spTree>
  </p:cSld>
  <p:clrMapOvr>
    <a:masterClrMapping/>
  </p:clrMapOvr>
</p:sld>
</file>

<file path=ppt/theme/theme1.xml><?xml version="1.0" encoding="utf-8"?>
<a:theme xmlns:a="http://schemas.openxmlformats.org/drawingml/2006/main" name="DeckTemplate-AWS">
  <a:themeElements>
    <a:clrScheme name="Custom 14">
      <a:dk1>
        <a:srgbClr val="002D43"/>
      </a:dk1>
      <a:lt1>
        <a:srgbClr val="FFFFFF"/>
      </a:lt1>
      <a:dk2>
        <a:srgbClr val="232F3E"/>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Test">
      <a:majorFont>
        <a:latin typeface="Amazon Ember"/>
        <a:ea typeface=""/>
        <a:cs typeface=""/>
      </a:majorFont>
      <a:minorFont>
        <a:latin typeface="Amazon Emb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900" dirty="0" err="1" smtClean="0">
            <a:latin typeface="Amazon Ember" panose="020B0603020204020204" pitchFamily="34" charset="0"/>
            <a:ea typeface="Amazon Ember" panose="020B0603020204020204" pitchFamily="34" charset="0"/>
            <a:cs typeface="Amazon Ember" panose="020B0603020204020204" pitchFamily="34" charset="0"/>
          </a:defRPr>
        </a:defPPr>
      </a:lstStyle>
    </a:txDef>
  </a:objectDefaults>
  <a:extraClrSchemeLst/>
  <a:extLst>
    <a:ext uri="{05A4C25C-085E-4340-85A3-A5531E510DB2}">
      <thm15:themeFamily xmlns:thm15="http://schemas.microsoft.com/office/thememl/2012/main" name="AWS_Deck_Template.potx" id="{956C5B2E-0233-4212-9383-50A039694C0C}" vid="{0176EEA5-D87D-4097-B356-86DC884F4541}"/>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5B35A6-8B52-46A5-AE45-B98C6459DC10}">
  <ds:schemaRefs>
    <ds:schemaRef ds:uri="http://schemas.microsoft.com/sharepoint/v3/contenttype/forms"/>
  </ds:schemaRefs>
</ds:datastoreItem>
</file>

<file path=customXml/itemProps2.xml><?xml version="1.0" encoding="utf-8"?>
<ds:datastoreItem xmlns:ds="http://schemas.openxmlformats.org/officeDocument/2006/customXml" ds:itemID="{C597C89A-FD0C-431E-81F6-90225B937683}">
  <ds:schemaRefs>
    <ds:schemaRef ds:uri="http://schemas.microsoft.com/office/infopath/2007/PartnerControl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DeckTemplate_AWS</Template>
  <TotalTime>21530</TotalTime>
  <Words>41864</Words>
  <Application>Microsoft Macintosh PowerPoint</Application>
  <PresentationFormat>Custom</PresentationFormat>
  <Paragraphs>1856</Paragraphs>
  <Slides>450</Slides>
  <Notes>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450</vt:i4>
      </vt:variant>
    </vt:vector>
  </HeadingPairs>
  <TitlesOfParts>
    <vt:vector size="460" baseType="lpstr">
      <vt:lpstr>Amazon Ember</vt:lpstr>
      <vt:lpstr>Amazon Ember Light</vt:lpstr>
      <vt:lpstr>Amazon Ember Regular</vt:lpstr>
      <vt:lpstr>Arial</vt:lpstr>
      <vt:lpstr>Calibri</vt:lpstr>
      <vt:lpstr>Calibri Light</vt:lpstr>
      <vt:lpstr>Gill Sans</vt:lpstr>
      <vt:lpstr>Helvetica Neue</vt:lpstr>
      <vt:lpstr>DeckTemplate-AWS</vt:lpstr>
      <vt:lpstr>1_Office Theme</vt:lpstr>
      <vt:lpstr>PowerPoint Presentation</vt:lpstr>
      <vt:lpstr>PowerPoint Presentation</vt:lpstr>
      <vt:lpstr>Since Last PI</vt:lpstr>
      <vt:lpstr>Important</vt:lpstr>
      <vt:lpstr>Amazon Elastic File System introduces Intelligent-Tiering to automatically optimize storage costs</vt:lpstr>
      <vt:lpstr>AWS Announces General Availability of Amazon EBS io2 Block Express Volumes</vt:lpstr>
      <vt:lpstr>Introducing AWS Backup Audit Manager</vt:lpstr>
      <vt:lpstr>AWS lowers data processing charges for AWS PrivateLink</vt:lpstr>
      <vt:lpstr>AWS Compute Optimizer Now Helps Customers Understand Impact of Migrating to Graviton2-based Instances</vt:lpstr>
      <vt:lpstr>Announcing Amazon MemoryDB for Redis</vt:lpstr>
      <vt:lpstr>AWS Database Migration Service now supports Redis as a target</vt:lpstr>
      <vt:lpstr>Amazon ElastiCache for Redis now supports auto scaling</vt:lpstr>
      <vt:lpstr>Amazon Aurora supports PostgreSQL 13</vt:lpstr>
      <vt:lpstr>Amazon Neptune now supports the openCypher query language</vt:lpstr>
      <vt:lpstr>Amazon Neptune ML is now generally available with support for edge predictions, automation, and more</vt:lpstr>
      <vt:lpstr>Amazon RDS Proxy can now be created in a shared Virtual Private Cloud (VPC)</vt:lpstr>
      <vt:lpstr>Amazon Elasticsearch Service is now Amazon OpenSearch Service; adds support for OpenSearch 1.0</vt:lpstr>
      <vt:lpstr>AWS AppSync now supports custom authorization with AWS Lambda for GraphQL APIs</vt:lpstr>
      <vt:lpstr>Amazon EC2 announces increases for instance network bandwidth</vt:lpstr>
      <vt:lpstr>AWS announces General Availability of Amazon Managed Grafana with SAML 2.0 and Grafana v8.0 features</vt:lpstr>
      <vt:lpstr>Introducing optimized Spark 3.1 runtime for data integration with AWS Glue 3.0</vt:lpstr>
      <vt:lpstr>Announcing Amazon CloudWatch cross account alarms</vt:lpstr>
      <vt:lpstr>Amazon CloudWatch Synthetics supports visual monitoring</vt:lpstr>
      <vt:lpstr>Announcing CDK Pipelines GA, CI/CD for CDK Apps</vt:lpstr>
      <vt:lpstr>AWS Network Firewall achieves PCI DSS Compliance</vt:lpstr>
      <vt:lpstr>AWS Lambda now supports Amazon MQ for RabbitMQ as an event source</vt:lpstr>
      <vt:lpstr>The Bottlerocket AMI for Amazon ECS is now Generally Available</vt:lpstr>
      <vt:lpstr>AWS DeepRacer announces DeepRacer LIVE races</vt:lpstr>
      <vt:lpstr>Thank you!</vt:lpstr>
      <vt:lpstr>Good to know</vt:lpstr>
      <vt:lpstr>Amazon Data Lifecycle Manager now automates deprecation of Amazon Machine Images (AMIs)</vt:lpstr>
      <vt:lpstr>Fully customizable action space now available in AWS DeepRacer Console</vt:lpstr>
      <vt:lpstr>Amazon Route 53 announces Route 53 Application Recovery Controller</vt:lpstr>
      <vt:lpstr>Amazon S3 Intelligent-Tiering further automates storage cost savings by removing the minimum storage duration and monitoring and automation charge for small objects</vt:lpstr>
      <vt:lpstr>Amazon S3 Access Points aliases allow any application that requires an S3 bucket name to easily use an access point</vt:lpstr>
      <vt:lpstr>AWS Distro for OpenTelemetry adds support for Amazon ECS in Amazon CloudWatch Container Insights and metrics support for AWS Lambda applications in Amazon Managed Prometheus (Preview)</vt:lpstr>
      <vt:lpstr>New exam for AWS Certified SysOps Administrator - Associate</vt:lpstr>
      <vt:lpstr>AWS Distro for OpenTelemetry adds support for Container metrics in Amazon CloudWatch Container Insights (Preview)</vt:lpstr>
      <vt:lpstr>New full-text search non-string indexing capabilities for Amazon Neptune</vt:lpstr>
      <vt:lpstr>AWS Database Migration Service now supports migrating multiple databases in one task using MongoDB as a source</vt:lpstr>
      <vt:lpstr>Announcing availability of event-driven workflows with AWS Glue and Amazon EventBridge</vt:lpstr>
      <vt:lpstr>AWS CDK releases v1.117.0 - v1.120.0 with improved support for Amazon Kinesis Firehose, Amazon CloudFront, Amazon Cognito, and more</vt:lpstr>
      <vt:lpstr>ACM Private CA now supports the Online Certificate Status Protocol (OCSP)</vt:lpstr>
      <vt:lpstr>AWS Security Hub Automated Response and Remediation adds support for PCI-DSS v3.2.1 Security Standard</vt:lpstr>
      <vt:lpstr>AWS Copilot now supports Pub/Sub architectures</vt:lpstr>
      <vt:lpstr>AWS Database Migration Service now supports automatic segmentation using MongoDB and Amazon DocumentDB (with MongoDB compatibility) as a source</vt:lpstr>
      <vt:lpstr>Amazon Aurora Supports PostgreSQL 9.6.22, 10.17, 11.12, and 12.7</vt:lpstr>
      <vt:lpstr>Amazon QLDB supports customer managed KMS keys</vt:lpstr>
      <vt:lpstr>AWS CloudFormation now supports more stacks per AWS account</vt:lpstr>
      <vt:lpstr>AWS Firewall Manager now supports central monitoring of VPC routes for AWS Network Firewall</vt:lpstr>
      <vt:lpstr>Amazon CloudWatch request metrics for Amazon S3 Access Points now available</vt:lpstr>
      <vt:lpstr>Introducing Dynamic Partitioning in Amazon Kinesis Data Firehose</vt:lpstr>
      <vt:lpstr>Announcing custom widgets for CloudWatch dashboards</vt:lpstr>
      <vt:lpstr>EC2 VM Import/Export now supports migration of virtual machines with Unified Extensible Firmware Interface (UEFI) boot to AWS</vt:lpstr>
      <vt:lpstr>Amazon CloudWatch Logs now supports Usage Metrics</vt:lpstr>
      <vt:lpstr>Amazon Keyspaces (for Apache Cassandra) now automatically optimizes client connections made through AWS PrivateLink to improve availability and read/write throughput</vt:lpstr>
      <vt:lpstr>AWS Organizations increases quotas for tag policies</vt:lpstr>
      <vt:lpstr>Amazon ECS supports additional configurations for scheduled and event-driven tasks</vt:lpstr>
      <vt:lpstr>Amazon Athena adds parameterized queries to improve reusability and security</vt:lpstr>
      <vt:lpstr>Amazon CloudWatch Application Insights and AWS Systems Manager Application Manager combine to offer an integrated application management experience</vt:lpstr>
      <vt:lpstr>Amazon Aurora now supports AWS Graviton2-based X2g instances</vt:lpstr>
      <vt:lpstr>AWS Firewall Manager Automations for AWS Organizations v1.1 is now available</vt:lpstr>
      <vt:lpstr>AWS Firewall Manager now supports AWS WAF log filtering</vt:lpstr>
      <vt:lpstr>Amazon EMR now supports Amazon S3 Access Points to simplify access control</vt:lpstr>
      <vt:lpstr>AWS Copilot now supports custom domain names for App Runner Services and other enhancements</vt:lpstr>
      <vt:lpstr>AWS Config support for AWS Backup Services</vt:lpstr>
      <vt:lpstr>Amazon Neptune announces support for SPARQL 1.1 Graph Store HTTP Protocol</vt:lpstr>
      <vt:lpstr>Amazon Aurora now supports AWS Graviton2-based T4g instances</vt:lpstr>
      <vt:lpstr>Cross-account event discovery for Amazon EventBridge schema registry</vt:lpstr>
      <vt:lpstr>EC2 Image Builder supports Amazon EventBridge notifications</vt:lpstr>
      <vt:lpstr>AWS CloudFormation introduces the option to troubleshoot provisioning errors before rollback, accelerating deployments</vt:lpstr>
      <vt:lpstr>Amazon SageMaker notebook instance now supports Amazon Linux 2</vt:lpstr>
      <vt:lpstr>AWS Lambda adds support for Python 3.9</vt:lpstr>
      <vt:lpstr>Athena can now write query results in Parquet, Avro, ORC and JSON formats</vt:lpstr>
      <vt:lpstr>The Amazon DynamoDB Accelerator (DAX) SDK for Java 2.x is now available</vt:lpstr>
      <vt:lpstr>Simplify CI/CD configuration for serverless applications and your favorite CI/CD system — Public Preview</vt:lpstr>
      <vt:lpstr>AWS Cloud Map supports configuring negative caching for DNS queries</vt:lpstr>
      <vt:lpstr>AWS Shield Advanced no longer requires AWS WAF logging for web-application layer event response</vt:lpstr>
      <vt:lpstr>AWS Firewall Manager now supports AWS WAF rate-based rules</vt:lpstr>
      <vt:lpstr>AWS CodeBuild now supports a small ARM machine type</vt:lpstr>
      <vt:lpstr>Amazon Aurora Serverless v1 supports configurable autoscaling timeout</vt:lpstr>
      <vt:lpstr>Amazon OpenSearch Service (successor to Amazon Elasticsearch Service) now supports Index Transforms</vt:lpstr>
      <vt:lpstr>Amazon OpenSearch Service (successor to Amazon Elasticsearch Service) now supports Data Streams with OpenSearch 1.0 to simplify management of time-series data</vt:lpstr>
      <vt:lpstr>Amazon EKS Connector is now in public preview</vt:lpstr>
      <vt:lpstr>Amazon MQ now supports RabbitMQ version 3.8.22</vt:lpstr>
      <vt:lpstr>OpenSearch Dashboards Notebooks, a new visual reporting feature, now available on Amazon OpenSearch Service (successor to Amazon Elasticsearch Service)</vt:lpstr>
      <vt:lpstr>Amazon CodeGuru Reviewer adds new inconsistency detectors</vt:lpstr>
      <vt:lpstr>Amazon Detective offers Splunk integration</vt:lpstr>
      <vt:lpstr>AWS Transfer Family simplifies managed file transfer workflows with low code automation</vt:lpstr>
      <vt:lpstr>Amazon S3 Multi-Region Access Points accelerate access to replicated data sets by up to 60%</vt:lpstr>
      <vt:lpstr>Amazon VPC Announces New Routing Enhancements to Make It Easy to Deploy Virtual Appliances Between Subnets In a VPC</vt:lpstr>
      <vt:lpstr>Amazon Virtual Private Cloud (VPC) customers can now resize their prefix list</vt:lpstr>
      <vt:lpstr>IPv6 endpoints are now available for the Amazon EC2 Instance Metadata Service, Amazon Time Sync Service, and Amazon VPC DNS Server</vt:lpstr>
      <vt:lpstr>IAM Access Analyzer helps you generate fine-grained policies that specify the required actions for more than 50 services</vt:lpstr>
      <vt:lpstr>Amazon MSK adds metrics for increased visibility of capacity</vt:lpstr>
      <vt:lpstr>AWS Database Migration Service now supports MongoDB 4.2 and 4.4 as sources</vt:lpstr>
      <vt:lpstr>AWS Database Migration Service now supports parallel threads when using Redshift as a target during full load</vt:lpstr>
      <vt:lpstr>IAM Access Analyzer helps you generate IAM policies based on access activity found in your organization trail</vt:lpstr>
      <vt:lpstr>AWS Security Hub adds 18 new controls to its Foundational Security Best Practices standard and 8 new partners for enhanced cloud security posture monitoring</vt:lpstr>
      <vt:lpstr>Amazon CodeGuru Profiler extends visualizations capability with a new compare option for application profile</vt:lpstr>
      <vt:lpstr>AWS CDK releases v1.111.0 - v1.116.0 with updates for unit testing and CDK Pipelines support</vt:lpstr>
      <vt:lpstr>AWS Systems Manager Fleet Manager now offers report generation for Managed Instances</vt:lpstr>
      <vt:lpstr>Introducing Amazon EC2 M6i instances</vt:lpstr>
      <vt:lpstr>Amazon EC2 Inf1 instances now supports TensorFlow 2</vt:lpstr>
      <vt:lpstr>Announcing General Availability of Amazon Redshift Cross-account Data Sharing</vt:lpstr>
      <vt:lpstr>Amazon API Gateway now supports mutual TLS with certificates from third-party CAs and ACM Private CA</vt:lpstr>
      <vt:lpstr>Amazon CodeGuru Profiler adds recommendation support for Python applications</vt:lpstr>
      <vt:lpstr>Amazon EMR now allows you to easily identify latest releases that have the applications you need</vt:lpstr>
      <vt:lpstr>Introducing AWS App Runner integration in the AWS Toolkit for VS Code</vt:lpstr>
      <vt:lpstr>Amazon EC2 Auto Scaling enhances Instance Refresh with configuration checks, Launch Template validation, and Amazon EventBridge notifications</vt:lpstr>
      <vt:lpstr>Introducing 79 new resource types in the CloudFormation Registry</vt:lpstr>
      <vt:lpstr>AWS Cloud9 introduces new features to browse CloudWatch Logs, S3, and use EC2 instance profiles</vt:lpstr>
      <vt:lpstr>Amazon SageMaker Pipelines now supports invoking AWS Lambda Functions</vt:lpstr>
      <vt:lpstr>AWS License Manager now supports Delegated Administrator</vt:lpstr>
      <vt:lpstr>Amazon EKS now supports Multus</vt:lpstr>
      <vt:lpstr>Amazon Redshift extends Automatic Table Optimization to support Column Compression Encoding</vt:lpstr>
      <vt:lpstr>Amazon Elastic Block Store now supports idempotent volume creation</vt:lpstr>
      <vt:lpstr>AWS Security Hub adds 10 new controls to its Foundational Security Best Practices standard for enhanced cloud security posture monitoring</vt:lpstr>
      <vt:lpstr>Amazon EC2 Auto Scaling now lets you control which instances to terminate on scale-in</vt:lpstr>
      <vt:lpstr>Amazon CloudWatch adds support for trimmed mean statistics</vt:lpstr>
      <vt:lpstr>AWS Control Tower now provides support for KMS Encryption</vt:lpstr>
      <vt:lpstr>You can now import your AWS CloudFormation stacks into a CloudFormation stack set</vt:lpstr>
      <vt:lpstr>Amazon CodeGuru Profiler announces new automated onboarding process for AWS Lambda functions</vt:lpstr>
      <vt:lpstr>Amazon VPC CNI plugin increases pods per node limits</vt:lpstr>
      <vt:lpstr>AWS Glue DataBrew now supports writing prepared data directly into JDBC-supported destinations</vt:lpstr>
      <vt:lpstr>AWS Glue DataBrew adds the ability to specify which data quality statistics are generated for your datasets</vt:lpstr>
      <vt:lpstr>Amazon Virtual Private Cloud (VPC) customers can now assign IP prefixes to their EC2 instances</vt:lpstr>
      <vt:lpstr>Easily enable AWS Config recording and deploy Conformance Packs across your organization using Quick Setup</vt:lpstr>
      <vt:lpstr>Amazon EKS and EKS Distro now support Kubernetes version 1.21</vt:lpstr>
      <vt:lpstr>Amazon MQ now supports updating the maintenance window time</vt:lpstr>
      <vt:lpstr>ACM Private Certificate Authority introduces integration with Kubernetes</vt:lpstr>
      <vt:lpstr>AWS App Mesh Constructs for AWS CDK are now generally available</vt:lpstr>
      <vt:lpstr>Amazon EC2 now supports custom time windows for Scheduled Events</vt:lpstr>
      <vt:lpstr>AWS Certificate Manager provides expanded usage of imported ECDSA and RSA Certificates</vt:lpstr>
      <vt:lpstr>Mark individual best practices as not applicable within the AWS Well-Architected Tool</vt:lpstr>
      <vt:lpstr>Now view inventory and patch compliance of stopped instances using AWS Systems Manager</vt:lpstr>
      <vt:lpstr>NoSQL Workbench for Amazon DynamoDB now helps you run frequent operations more easily to modify and access table data</vt:lpstr>
      <vt:lpstr>Now easily enable Amazon DevOps Guru across your organization with Quick Setup</vt:lpstr>
      <vt:lpstr>Amazon AppStream 2.0 adds support for real-time audio-video using a web browser</vt:lpstr>
      <vt:lpstr>Amazon EC2 adds Resource Identifiers and Tags for VPC Security Group Rules</vt:lpstr>
      <vt:lpstr>Amazon MQ for RabbitMQ now supports the consistent hash exchange type</vt:lpstr>
      <vt:lpstr>Amazon EKS managed node groups now supports parallel node upgrades</vt:lpstr>
      <vt:lpstr>AWS Glue Schema Registry now supports JSON Schema</vt:lpstr>
      <vt:lpstr>AWS introduces new framework-specific Deep Learning AMIs and backwards-compatible images</vt:lpstr>
      <vt:lpstr>AWS Glue DataBrew adds support for 14 new advanced data types for data preparation</vt:lpstr>
      <vt:lpstr>IAM Access Analyzer adds new policy checks to help validate conditions during IAM policy authoring</vt:lpstr>
      <vt:lpstr>Less Relevant</vt:lpstr>
      <vt:lpstr>Amazon MSK now supports running multiple authentication modes and updates to TLS encryption settings</vt:lpstr>
      <vt:lpstr>Amazon QuickSight launches Dataset-as-a-Source</vt:lpstr>
      <vt:lpstr>AWS RoboMaker now supports container images in simulation</vt:lpstr>
      <vt:lpstr>AWS CodeCommit is Now Available in the Africa (Cape Town) Region</vt:lpstr>
      <vt:lpstr>AWS IQ now supports AWS Certified experts and consulting firms located in the UK &amp; France</vt:lpstr>
      <vt:lpstr>Amazon CloudWatch Application Insights adds account application auto-discovery and new health dashboard</vt:lpstr>
      <vt:lpstr>Amazon Corretto 17 is now generally available</vt:lpstr>
      <vt:lpstr>Announcing Amazon MSK Connect: Run serverless, scalable Kafka Connect clusters in Amazon MSK</vt:lpstr>
      <vt:lpstr>Amazon RDS now supports T4g instances for MySQL, MariaDB, and PostgreSQL databases.</vt:lpstr>
      <vt:lpstr>Announcing Build on AWS for Startups</vt:lpstr>
      <vt:lpstr>Route 53 Resolver DNS Firewall Now Available in Asia Pacific (Osaka) Region</vt:lpstr>
      <vt:lpstr>Amazon RDS now supports X2g instances for MySQL, MariaDB, and PostgreSQL databases.</vt:lpstr>
      <vt:lpstr>Amazon RDS now supports R5b instances for MySQL and PostgreSQL databases</vt:lpstr>
      <vt:lpstr>AWS Service Management Connector for ServiceNow supports AWS Service Catalog AppRegistry</vt:lpstr>
      <vt:lpstr>Amazon SageMaker now supports inference endpoint testing from SageMaker Studio</vt:lpstr>
      <vt:lpstr>Extract custom entities from documents in their native format with Amazon Comprehend</vt:lpstr>
      <vt:lpstr>Announcing Amazon Redshift RSQL, a command line client for interacting with Amazon Redshift clusters and databases</vt:lpstr>
      <vt:lpstr>Amazon Timestream is now in scope for AWS SOC Reports</vt:lpstr>
      <vt:lpstr>AWS Lake Formation is now available in Asia Pacific (Osaka)</vt:lpstr>
      <vt:lpstr>Amazon EC2 T3 instances are now supported on EC2 Dedicated Hosts in multiple AWS Regions</vt:lpstr>
      <vt:lpstr>Amazon Transcribe now supports redaction of personal identifiable information (PII) for streaming transcriptions</vt:lpstr>
      <vt:lpstr>Amazon CodeGuru Reviewer enhances security findings generated by GitHub Action by adding severity fields and CWE tags</vt:lpstr>
      <vt:lpstr>Announcing general availability of Amazon EC2 VT1 instances - the first EC2 instance optimized for video transcoding</vt:lpstr>
      <vt:lpstr>Amazon Connect adds near real-time insights into voice call, chat, and task activity in the Canada (Central) region</vt:lpstr>
      <vt:lpstr>Contact Lens for Amazon Connect adds support for 8 languages</vt:lpstr>
      <vt:lpstr>AWS Health Aware (AHA) is now available for Organizational and Personal AWS Accounts to customize Health Alerts</vt:lpstr>
      <vt:lpstr>Amazon SES now supports emails with a message size of up to 40MB</vt:lpstr>
      <vt:lpstr>Amazon EC2 D3 instances with dense local HDD storage now available in India (Mumbai) Region</vt:lpstr>
      <vt:lpstr>AWS ParallelCluster now supports cluster management through Amazon API Gateway</vt:lpstr>
      <vt:lpstr>AWS Amplify announces command hooks to execute custom scripts when running Amplify CLI commands</vt:lpstr>
      <vt:lpstr>Amazon EC2 Hibernation adds support for Red Hat Enterprise Linux 8, CentOS 8, and Fedora 34</vt:lpstr>
      <vt:lpstr>Amazon Braket introduces verbatim compilation for quantum circuits</vt:lpstr>
      <vt:lpstr>Ability to customize reverse DNS for Elastic IP addresses now available in additional regions for Virtual Private Cloud customers</vt:lpstr>
      <vt:lpstr>Amazon Lex launches support for Korean</vt:lpstr>
      <vt:lpstr>AWS announces enhancements to the AWS Marketplace Consulting Partner Private Offer self-service experience.</vt:lpstr>
      <vt:lpstr>AWS Cloud Map now available in the AWS GovCloud (US) Regions</vt:lpstr>
      <vt:lpstr>Amazon EC2 I3en Instances are Now Available in AWS Regions in the Middle East (Bahrain), South Africa (Cape Town), and Europe (Milan)</vt:lpstr>
      <vt:lpstr>AWS Managed Services (AMS) now offers a catalog of operational offerings with Operations on Demand</vt:lpstr>
      <vt:lpstr>Announcing the General Availability of AWS Local Zones in Chicago, Kansas City, and Minneapolis</vt:lpstr>
      <vt:lpstr>Amazon Elastic Kubernetes Service Anywhere is now generally available</vt:lpstr>
      <vt:lpstr>AWS Marketplace launches aliases for all single AMI products</vt:lpstr>
      <vt:lpstr>AWS Launch Wizard now supports SAP deployment from accounts using AWS Managed Services</vt:lpstr>
      <vt:lpstr>AWS Systems Manager Change Calendar now supports third-party calendar imports, giving you a more holistic view of events</vt:lpstr>
      <vt:lpstr>Amazon Pinpoint now supports encrypted SNS topics for inbound SMS</vt:lpstr>
      <vt:lpstr>Support for multi-key encryption now available with AWS Elemental MediaPackage and SPEKE v2.0</vt:lpstr>
      <vt:lpstr>AWS Network Firewall is Now HIPAA Eligible</vt:lpstr>
      <vt:lpstr>Cloud9 is now available in 2 more regions</vt:lpstr>
      <vt:lpstr>Amazon RDS for SQL Server now supports MSDTC JDBC XA for SQL Server 2017 CU16+ and SQL Server 2019</vt:lpstr>
      <vt:lpstr>Amazon Aurora PostgreSQL now supports oracle_fdw extension in AWS GovCloud (US) Regions</vt:lpstr>
      <vt:lpstr>Amazon Aurora Supports PostgreSQL 9.6.22, 10.17, 11.12, and 12.7 in AWS GovCloud (US) Regions</vt:lpstr>
      <vt:lpstr>Amazon EMR Studio is now HIPAA eligible and HITRUST certified</vt:lpstr>
      <vt:lpstr>Amazon Monitron launches a new ethernet gateway device</vt:lpstr>
      <vt:lpstr>Amazon RDS for MariaDB supports new minor versions 10.5.12, 10.4.21, 10.3.31, 10.2.40</vt:lpstr>
      <vt:lpstr>Updated AWS Solutions Implementation: AWS CloudEndure Migration Factory Solution</vt:lpstr>
      <vt:lpstr>Introducing Amazon FSx for NetApp ONTAP</vt:lpstr>
      <vt:lpstr>Amazon SageMaker is now available in the AWS Asia Pacific (Osaka) Region</vt:lpstr>
      <vt:lpstr>Amazon EBS direct APIs now supports creating 64 TB EBS Snapshots</vt:lpstr>
      <vt:lpstr>NICE DCV releases web client SDK 1.0.3</vt:lpstr>
      <vt:lpstr>NICE DCV releases version 2021.2</vt:lpstr>
      <vt:lpstr>AWS Lambda now supports AWS PrivateLink in previously unsupported Availability Zones</vt:lpstr>
      <vt:lpstr>Amazon Polly offers full support in the AWS Africa (Cape Town) Region</vt:lpstr>
      <vt:lpstr>Amazon CloudWatch Application Insights adds support for Microsoft SQL Server FCI and FSx storage</vt:lpstr>
      <vt:lpstr>AWS Elemental MediaTailor now supports time based schedules for Channel Assembly streams</vt:lpstr>
      <vt:lpstr>Amazon SageMaker now supports M5d, R5, and P3dn instances for SageMaker Studio Notebooks</vt:lpstr>
      <vt:lpstr>AWS Launch Wizard now supports additional deployment capabilities to meet DevOps and organizational requirements</vt:lpstr>
      <vt:lpstr>Amazon RDS for Oracle now supports July 2021 Patch Set Update (PSU) for 12.1 and Release Updates (RU) for 12.2 and 19c</vt:lpstr>
      <vt:lpstr>AWS Systems Manager enables additional application management capabilities</vt:lpstr>
      <vt:lpstr>AWS IoT Device Management announces new fleet monitoring enhancements</vt:lpstr>
      <vt:lpstr>Amazon Managed Workflows for Apache Airflow (MWAA) Available in Canada, London, Paris, Sao Paulo, Seoul, and Mumbai Regions</vt:lpstr>
      <vt:lpstr>Amazon Aurora supports PostgreSQL 13 in AWS GovCloud (US) Regions</vt:lpstr>
      <vt:lpstr>AWS Backint Agent now supports Amazon S3 Intelligent Tiering, sending log and data backups to separate folders, and Ansible</vt:lpstr>
      <vt:lpstr>Amazon Transcribe now supports speech to text in 6 new languages - Afrikaans, Danish, Mandarin Chinese (Taiwan), Thai, New Zealand English, and South African English</vt:lpstr>
      <vt:lpstr>AWS Glue DataBrew is now available in the AWS GovCloud (US-West) Region</vt:lpstr>
      <vt:lpstr>Amazon SageMaker Model Registry now supports Inference Pipelines</vt:lpstr>
      <vt:lpstr>Amazon Textract announces reduced pricing of up to 32% on AnalyzeDocument and DetectDocumentText requests in eight global AWS Regions</vt:lpstr>
      <vt:lpstr>AWS Snowcone is now available in the AWS Asia Pacific (Singapore) and AWS Asia Pacific (Tokyo) regions</vt:lpstr>
      <vt:lpstr>Amazon Rekognition improves the accuracy of celebrity recognition, adds new attributes</vt:lpstr>
      <vt:lpstr>Amazon Elasticsearch Service now supports three Availability Zone deployments in AWS GovCloud (US-EAST) Region</vt:lpstr>
      <vt:lpstr>AWS DataSync enhances task filtering and queuing</vt:lpstr>
      <vt:lpstr>The new Amazon DynamoDB console is now your default experience to help you manage data and resources more easily</vt:lpstr>
      <vt:lpstr>Comprehend launches support for tagging with analysis jobs</vt:lpstr>
      <vt:lpstr>Amazon RDS for PostgreSQL Supports Boolean DB Parameter Expressions</vt:lpstr>
      <vt:lpstr>Introducing the new AWS Level 1 MSSP Competency</vt:lpstr>
      <vt:lpstr>Amazon Transcribe now supports resource tagging for better access control</vt:lpstr>
      <vt:lpstr>Amazon Polly launches Aria, a New Zealand English neural text-to-speech voice</vt:lpstr>
      <vt:lpstr>AWS IoT Core now supports MQTT retained messages</vt:lpstr>
      <vt:lpstr>Amazon EC2 M6i instances are now available in 2 additional regions</vt:lpstr>
      <vt:lpstr>AWS IoT Greengrass v2.4 release includes new features for provisioning large device fleets and managing device software resources</vt:lpstr>
      <vt:lpstr>Extract data from SAP applications to AWS services using Amazon Appflow</vt:lpstr>
      <vt:lpstr>Amazon Aurora PostgreSQL now supports oracle_fdw extension</vt:lpstr>
      <vt:lpstr>Announcing Amazon Forecast Weather Index for Asia-Pacific</vt:lpstr>
      <vt:lpstr>Introducing Amazon SageMaker Asynchronous Inference, a new inference option for workloads with large payload sizes and long inference processing times</vt:lpstr>
      <vt:lpstr>Amazon EC2 Hibernation adds support for C5d, M5d, and R5d Instances</vt:lpstr>
      <vt:lpstr>AWS Cost Categories introduces Split Charge rules for allocation of shared costs</vt:lpstr>
      <vt:lpstr>Redshift spatial performance enhancements and new spatial functions</vt:lpstr>
      <vt:lpstr>AWS Managed Services (AMS) Accelerate Operations Plan is now available in the AWS Europe (Stockholm) Region</vt:lpstr>
      <vt:lpstr>Announcing regional launch of IoT Analytics in Asia Pacific (Mumbai) region</vt:lpstr>
      <vt:lpstr>Amazon Connect Customer Profiles is now HIPAA eligible</vt:lpstr>
      <vt:lpstr>AWS Glue Studio is now available in the AWS GovCloud (US) Regions</vt:lpstr>
      <vt:lpstr>Amazon WorkSpaces Renews Windows Desktop Experience with Windows Server 2019 bundles and 64-bit Microsoft Office 2019</vt:lpstr>
      <vt:lpstr>AWS Marketplace enhances ISV self-service authorization of Consulting Partners</vt:lpstr>
      <vt:lpstr>New release of AWS IoT Device SDK for Embedded C simplifies authentication and provisioning of IoT devices</vt:lpstr>
      <vt:lpstr>AWS Transfer Family expands compatibility for FTPS/FTP clients and increases limit for number of servers</vt:lpstr>
      <vt:lpstr>Amazon EC2 customers can now use ED25519 keys for authentication during instance connectivity operations</vt:lpstr>
      <vt:lpstr>AWS Elastic Beanstalk supports Capacity Rebalancing for Amazon EC2 Spot Instances</vt:lpstr>
      <vt:lpstr>Detect multicollinearity and easily export results in a few clicks with Amazon SageMaker Data Wrangler</vt:lpstr>
      <vt:lpstr>AWS Directory Service now supports smart card authentication with AD Connector for Amazon WorkSpaces in 5 additional AWS Regions</vt:lpstr>
      <vt:lpstr>Amazon RDS for SQL Server now supports Automatic Minor Version Upgrades</vt:lpstr>
      <vt:lpstr>AWS Glue DataBrew now supports numerical format transformations</vt:lpstr>
      <vt:lpstr>Announcing S3 Transfer Manager Preview release in the AWS SDK for Java 2.x</vt:lpstr>
      <vt:lpstr>AWS Glue DataBrew now supports writing prepared data into AWS Lake Formation-based AWS Glue Data Catalog S3 tables</vt:lpstr>
      <vt:lpstr>AWS Snow Family now enables you to remotely monitor and operate your connected Snowcone devices</vt:lpstr>
      <vt:lpstr>AWS Glue DataBrew now supports logical conditions as transformations</vt:lpstr>
      <vt:lpstr>AWS Glue DataBrew now supports writing prepared data into Tableau Hyper format</vt:lpstr>
      <vt:lpstr>New AWS Solutions Implementation: AWS Innovation Sandbox</vt:lpstr>
      <vt:lpstr>AWS Systems Manager Change Manager now supports AWS IAM roles as approvers</vt:lpstr>
      <vt:lpstr>CodeBuild Supports Publicly Viewable Build Results</vt:lpstr>
      <vt:lpstr>Amazon Connect now provides an improved chatbot building experience, powered by Amazon Lex V2 console and APIs</vt:lpstr>
      <vt:lpstr>PostgreSQL 14 Beta 2 Now Available in Amazon RDS Database Preview Environment</vt:lpstr>
      <vt:lpstr>AWS Snow Family now supports ML inference at the edge with Amazon SageMaker Edge Manager and AWS IoT Greengrass</vt:lpstr>
      <vt:lpstr>AWS Snowball Edge Storage Optimized devices now supports high performance NFS data transfer</vt:lpstr>
      <vt:lpstr>AWS IoT SiteWise announces support for new Timestamp function, PreTrigger function and ability to write nested expressions within aggregation functions</vt:lpstr>
      <vt:lpstr>Amazon Chime SDK meetings now support live transcription with Amazon Transcribe and Amazon Transcribe Medical</vt:lpstr>
      <vt:lpstr>AWS Amplify Hosting announces support for Next.js version 11</vt:lpstr>
      <vt:lpstr>AWS interactive EC2 Serial Console is now available in more commercial regions and AWS GovCloud (US) regions</vt:lpstr>
      <vt:lpstr>Amazon SageMaker introduces one-click model inference and fine-tuning for Hugging Face models in Amazon SageMaker JumpStart</vt:lpstr>
      <vt:lpstr>Now enable auto-approval of change requests and expedite changes with AWS Systems Manager Change Manager</vt:lpstr>
      <vt:lpstr>AWS WAF now offers managed rule group versioning</vt:lpstr>
      <vt:lpstr>AWS Systems Manager OpsCenter launches operational insights to identify duplicate items and event sources with unusual activity</vt:lpstr>
      <vt:lpstr>Train custom entity recognition models with fewer training documents using Amazon Comprehend</vt:lpstr>
      <vt:lpstr>Amazon WorkSpaces announces the availability of quota information through Service Quotas</vt:lpstr>
      <vt:lpstr>Amazon Rekognition Video segment detection now supports four new segment types, improves accuracy</vt:lpstr>
      <vt:lpstr>Contact Lens for Amazon Connect can now categorize contacts with contact attributes and integrates with Tasks and EventBridge</vt:lpstr>
      <vt:lpstr>Amazon Athena is now available in the AWS Asia Pacific (Osaka) region</vt:lpstr>
      <vt:lpstr>Amazon S3 on Outposts now supports sharing across multiple accounts</vt:lpstr>
      <vt:lpstr>Amazon FSx is now available in the AWS Asia Pacific (Osaka) Region</vt:lpstr>
      <vt:lpstr>AWS Lambda now supports up to 10 GB of memory and 6 vCPU cores in AWS GovCloud (US) Regions</vt:lpstr>
      <vt:lpstr>Optimize personalized recommendations for the business metric of your choice with Amazon Personalize</vt:lpstr>
      <vt:lpstr>Announcing new AWS Wavelength Zones in Chicago, Houston, and Phoenix</vt:lpstr>
      <vt:lpstr>Private Connectivity for AWS NAT Gateway is now available in the AWS GovCloud (US) Regions</vt:lpstr>
      <vt:lpstr>Introducing Machine to Cloud Connectivity Framework v3.0</vt:lpstr>
      <vt:lpstr>Amazon GameLift announces General Availability of Game Server Hosting and Multiplayer Services in AWS China (Ningxia) Region, operated by NWCD</vt:lpstr>
      <vt:lpstr>Announcing Amazon Transcribe Call Analytics API for conversation insights</vt:lpstr>
      <vt:lpstr>AWS Data Streaming Solution for Amazon MSK adds support for AWS IAM to streamline access control management</vt:lpstr>
      <vt:lpstr>New AWS Solutions Implementation: SQL-based ETL with Apache Spark on Amazon EKS</vt:lpstr>
      <vt:lpstr>Managed entitlements now available for AWS Data Exchange products in AWS License Manager</vt:lpstr>
      <vt:lpstr>AWS SiteWise now supports custom time intervals for metric aggregations</vt:lpstr>
      <vt:lpstr>AWS Control Tower now available in Sao Paulo &amp; Paris and provides region deselection</vt:lpstr>
      <vt:lpstr>Amazon SageMaker now supports M5d, R5, P3dn, and G4dn instances for SageMaker Notebook Instances</vt:lpstr>
      <vt:lpstr>Announcing Amplify Geo (Developer Preview) for AWS Amplify</vt:lpstr>
      <vt:lpstr>AWS Storage Gateway now supports Quest NetVault Backup 13 on Tape Gateway</vt:lpstr>
      <vt:lpstr>Amazon Redshift simplifies the use of JDBC/ODBC with authentication profile</vt:lpstr>
      <vt:lpstr>Amazon Kendra is now IRAP assessed at PROTECTED level</vt:lpstr>
      <vt:lpstr>Amazon RDS for SQL Server Now Supports Two New Parameter Changes For Full-Text Search</vt:lpstr>
      <vt:lpstr>AWS Control Tower announces improvements to guardrail naming and descriptions</vt:lpstr>
      <vt:lpstr>AWS IoT Core Credential Provider now supports security tokens that are valid up to 12 hours</vt:lpstr>
      <vt:lpstr>Amazon RDS for Oracle now supports Oracle Time Zone File Auto Upgrade</vt:lpstr>
      <vt:lpstr>Amazon WorkSpaces now offers web access with WorkSpaces Streaming Protocol (WSP)</vt:lpstr>
      <vt:lpstr>Agents can now set their next status while still on an active contact in Amazon Connect</vt:lpstr>
      <vt:lpstr>Amazon WorkSpaces Adds Support for USB YubiKey Universal 2nd Factor (U2F) Authentication on PCoIP Windows WorkSpaces</vt:lpstr>
      <vt:lpstr>Amazon S3 on Outposts adds two larger storage tiers</vt:lpstr>
      <vt:lpstr>Amazon MQ now supports RabbitMQ version 3.8.17</vt:lpstr>
      <vt:lpstr>Amazon Rekognition Custom Labels makes it easy for customers to learn how to train machine learning models by providing tutorial videos, and sample datasets</vt:lpstr>
      <vt:lpstr>Amazon S3 on Outposts supports direct access for applications running outside the Outposts VPC</vt:lpstr>
      <vt:lpstr>AWS IoT SiteWise Edge now generally available</vt:lpstr>
      <vt:lpstr>Amazon EC2 D3 instances with dense local HDD storage now available in Europe (London) region</vt:lpstr>
      <vt:lpstr>Introducing new Amazon EC2 G4ad instance sizes</vt:lpstr>
      <vt:lpstr>Amazon DynamoDB Accelerator (DAX) is now available in the China (Beijing) Region, operated by Sinnet</vt:lpstr>
      <vt:lpstr>AWS Lambda now supports up to 10 GB of memory and 6 vCPU cores in the Middle East (Bahrain), Asia Pacific (Osaka), and Asia Pacific (Hong Kong) regions</vt:lpstr>
      <vt:lpstr>AWS DataSync is now available in AWS Asia Pacific (Osaka) Region</vt:lpstr>
      <vt:lpstr>Announcing new AWS Developer Specializations on Coursera</vt:lpstr>
      <vt:lpstr>Amazon DynamoDB global tables are now available in the Asia Pacific (Osaka) Region</vt:lpstr>
      <vt:lpstr>AWS Glue DataBrew is now available in AWS Europe (Milan) Region</vt:lpstr>
      <vt:lpstr>Amazon Data Lifecycle Manager now supports CloudWatch metrics</vt:lpstr>
      <vt:lpstr>AWS Amplify now supports Sign in with Apple</vt:lpstr>
      <vt:lpstr>Announcing availability of AWS Outposts in Argentina, Chile, and Peru</vt:lpstr>
      <vt:lpstr>Amazon EC2 Placement Groups are now available on AWS Outposts</vt:lpstr>
      <vt:lpstr>Amazon Redshift Data API now adds support for multi-statement query execution and parameters</vt:lpstr>
      <vt:lpstr>AWS Service Catalog announces improvements to the Getting Started Library</vt:lpstr>
      <vt:lpstr>Amazon Interactive Video Service adds SDK for live broadcasting from iOS and Android devices</vt:lpstr>
      <vt:lpstr>AWS MLOps Framework solution now supports Amazon SageMaker model registry and AWS Organizations Delegated Administrator Account to improve ML model management and governance</vt:lpstr>
      <vt:lpstr>New course available: MLOps Engineering on AWS</vt:lpstr>
      <vt:lpstr>AWS Snowcone now supports multicast streams and routing by providing instances with direct access to external networks</vt:lpstr>
      <vt:lpstr>Amazon Virtual Andon 2.2 – A digital notification system for manufacturers</vt:lpstr>
      <vt:lpstr>Announcing support for exporting data from AWS IoT SiteWise to Amazon S3</vt:lpstr>
      <vt:lpstr>New Amazon SageMaker Pipelines integrations with popular third-party tools</vt:lpstr>
      <vt:lpstr>Announcing support for JOIN operation in AWS IoT Analytics Data Stores</vt:lpstr>
      <vt:lpstr>Amazon Textract announces specialized support for automated processing of invoices and receipts</vt:lpstr>
      <vt:lpstr>AWS Batch ListJobs Filtering Enhancements</vt:lpstr>
      <vt:lpstr>Amazon Aurora PostgreSQL supports the pg_proctab extension to access PostgreSQL system stats in AWS GovCloud (US) Regions</vt:lpstr>
      <vt:lpstr>Amazon Connect CTI Adapter for Salesforce adds out-of-the-box chat user interface support to Salesforce Experience Cloud</vt:lpstr>
      <vt:lpstr>AWS Snowball now supports multicast streams and routing by providing instances with direct access to external networks</vt:lpstr>
      <vt:lpstr>Announcing the General Availability of AWS Local Zones in Denver</vt:lpstr>
      <vt:lpstr>AWS Single Sign-On is now available in the Europe (Paris) region</vt:lpstr>
      <vt:lpstr>Amazon Lex announces support for UK Postal Code built-in slot type</vt:lpstr>
      <vt:lpstr>AWS CloudTrail now supports logging of data events for Amazon EBS direct APIs</vt:lpstr>
      <vt:lpstr>FreeRTOS 202107.00 includes SNTP library for time information in IoT applications</vt:lpstr>
      <vt:lpstr>Amazon Connect CTI Adapter for Salesforce now provides guided setup</vt:lpstr>
      <vt:lpstr>AWS App2Container now supports containerization of complex multi-tier Windows applications</vt:lpstr>
      <vt:lpstr>Amazon Aurora PostgreSQL supports the pg_partman extension for managing time or serial id based table partitioning in AWS GovCloud (US) Regions</vt:lpstr>
      <vt:lpstr>Amazon SageMaker Autopilot and Automatic Model Tuning now support more refined access control using Condition Key Policies</vt:lpstr>
      <vt:lpstr>Updated versions of AWS IoT Device Tester for FreeRTOS and AWS IoT Device Tester for AWS IoT Greengrass are now available</vt:lpstr>
      <vt:lpstr>Amazon SageMaker JumpStart introduces new vision models for image feature vector extraction and object detection</vt:lpstr>
      <vt:lpstr>Amazon Kendra releases WorkDocs Connector</vt:lpstr>
      <vt:lpstr>Discovering Hot Topics Using Machine Learning solution now allows businesses to analyze news article content for sentiment and topic analysis</vt:lpstr>
      <vt:lpstr>Amazon Aurora Supports PostgreSQL 12.6, 11.11, 10.16, and 9.6.21 in AWS GovCloud (US) Regions</vt:lpstr>
      <vt:lpstr>Amazon Aurora PostgreSQL supports pg_cron extension for scheduling database jobs in AWS GovCloud (US) Regions</vt:lpstr>
      <vt:lpstr>Amazon Aurora PostgreSQL supports the pg_bigm extension for faster full text search in AWS GovCloud (US) Regions</vt:lpstr>
      <vt:lpstr>Announcing Automatic Revision Publishing for AWS Data Exchange</vt:lpstr>
      <vt:lpstr>Amazon Athena announces data source connector for Power BI</vt:lpstr>
      <vt:lpstr>Amazon Connect Adds Colombia Phone Numbers</vt:lpstr>
      <vt:lpstr>AWS announces a new AWS Training Partner program</vt:lpstr>
      <vt:lpstr>Amazon RDS Cross-Region Automated Backups Regional Expansion</vt:lpstr>
      <vt:lpstr>Amazon Redshift Data Sharing is now available in AWS GovCloud (US) Regions</vt:lpstr>
      <vt:lpstr>AWS RoboMaker WorldForge now supports adding doors to indoor residential simulation worlds</vt:lpstr>
      <vt:lpstr>AWS CodeBuild is now available in AWS Asia Pacific (Osaka) Region</vt:lpstr>
      <vt:lpstr>AWS Glue Schema Registry is now available in AWS GovCloud (US) regions</vt:lpstr>
      <vt:lpstr>Introducing AWS Edit in the Cloud</vt:lpstr>
      <vt:lpstr>Amazon RDS for SQL Server Supports New Minor Versions for SQL Server 2017 and 2016</vt:lpstr>
      <vt:lpstr>Announcing availability of Red Hat Enterprise Linux with Microsoft SQL Server for Amazon EC2</vt:lpstr>
      <vt:lpstr>AWS IQ now supports chat response directly through email</vt:lpstr>
      <vt:lpstr>Amazon Transcribe now supports streaming transcription in Amazon Web Services China</vt:lpstr>
      <vt:lpstr>New AWS Solutions Implementation: Tamper Proof Quality Data Using Amazon QLDB</vt:lpstr>
      <vt:lpstr>AWS Systems Manager Automation now supports upgrade of SQL Server 2012</vt:lpstr>
      <vt:lpstr>AWS customers can now view all the labels supported by Amazon Rekognition</vt:lpstr>
      <vt:lpstr>AWS License Manager announces distribution to AWS Organizations ID for AWS Marketplace customers</vt:lpstr>
      <vt:lpstr>Amazon Athena expands Apache Hudi support</vt:lpstr>
      <vt:lpstr>AWS Glue DataBrew is now HIPAA eligible</vt:lpstr>
      <vt:lpstr>Amazon SageMaker Edge Manager now integrates with AWS IoT Greengrass to simplify deployment to fleets of edge devices</vt:lpstr>
      <vt:lpstr>Amazon HealthLake is now Generally Available</vt:lpstr>
      <vt:lpstr>Amazon Lex launches support for Indian English</vt:lpstr>
      <vt:lpstr>New AWS Solutions Implementation: Simple File Manager for Amazon EFS</vt:lpstr>
      <vt:lpstr>FreeRTOS AWS reference integrations now include FreeRTOS 202012.01 LTS libraries</vt:lpstr>
      <vt:lpstr>AWS IoT Core now supports VPC Endpoints</vt:lpstr>
      <vt:lpstr>AWS IoT SiteWise is expanding its transforms and formula expressions capabilities</vt:lpstr>
      <vt:lpstr>New datasets available on the Registry of Open Data from the National Library of Medicine, Digital Earth Africa, Amazon, and others</vt:lpstr>
      <vt:lpstr>Amazon Data Lifecycle Manager launches new console experience</vt:lpstr>
      <vt:lpstr>Introducing AWS for Health</vt:lpstr>
      <vt:lpstr>AWS IoT SiteWise launches support for AWS PrivateLink for control plane APIs</vt:lpstr>
      <vt:lpstr>AWS Elemental MediaPackage Now Available in US East (Ohio) Region</vt:lpstr>
      <vt:lpstr>Amazon Kendra releases Principal Store for secure search</vt:lpstr>
      <vt:lpstr>Amazon Lex announces tooling to migrate bots from Lex V1 console to Lex V2 console</vt:lpstr>
      <vt:lpstr>Amazon Lightsail now offers object storage for storing static content</vt:lpstr>
      <vt:lpstr>Amazon CloudFront now supports ECDSA certificates for HTTPS connections to viewers</vt:lpstr>
      <vt:lpstr>AWS Directory Service for Microsoft Active Directory and AD Connector are now available in the AWS Asia Pacific (Osaka) Region</vt:lpstr>
      <vt:lpstr>EC2 Image Builder now supports parameters in components for creating custom images</vt:lpstr>
      <vt:lpstr>Amazon SageMaker Pipeline introduces a automatic hyperparameter tuning step</vt:lpstr>
      <vt:lpstr>AWS Glue DataBrew is now available in AWS Asia Pacific (Hong Kong) Region</vt:lpstr>
      <vt:lpstr>AWS IoT Core for LoRaWAN now supports VPC endpoints</vt:lpstr>
      <vt:lpstr>Amazon announces new AWS Deep Learning Containers to deploy Hugging Face models faster on Amazon SageMaker</vt:lpstr>
      <vt:lpstr>Amazon ml.Inf1 instances are now available on Amazon SageMaker in 4 additional AWS Regions</vt:lpstr>
      <vt:lpstr>Amazon RDS for PostgreSQL Supports New Minor Versions 13.3, 12.7, 11.12, 10.17, and 9.6.22</vt:lpstr>
      <vt:lpstr>Amazon Pinpoint Announces Lower Transaction Per Second Sending Limits</vt:lpstr>
      <vt:lpstr>The Amazon Redshift Data API is now available in the AWS Asia Pacific (Osaka) Region</vt:lpstr>
      <vt:lpstr>AWS AppSync Now Available in Asia Pacific (Osaka)</vt:lpstr>
      <vt:lpstr>Amplify Flutter now supports Null Safety</vt:lpstr>
      <vt:lpstr>AWS Single Sign-On is now available in the South America (São Paulo) region</vt:lpstr>
      <vt:lpstr>AWS Now Allows Customers To Pay For Their Usage in Advance</vt:lpstr>
      <vt:lpstr>Announcing Model Variable Importance for Amazon Fraud Detector</vt:lpstr>
      <vt:lpstr>Amazon Fraud Detector now supports PCI DSS compliance to help run payment fraud workloads more easily</vt:lpstr>
      <vt:lpstr>Amazon RDS for MySQL supports new minor versions 5.7.34, and 8.0.25</vt:lpstr>
      <vt:lpstr>Amazon RDS for PostgreSQL Supports oracle_fdw extension for accessing data contained in Oracle databases</vt:lpstr>
      <vt:lpstr>New digital course: Amazon S3 Business Continuity and Disaster Recovery</vt:lpstr>
      <vt:lpstr>AWS Amplify allows you to mix and match authorization modes in DataStore</vt:lpstr>
      <vt:lpstr>AWS IoT Core for LoRaWAN is now available in Sydney, Tokyo, and Oregon AWS regions</vt:lpstr>
      <vt:lpstr>Amazon Textract announces improvements to detection of handwritten text, digits, dates, and phone numbers</vt:lpstr>
      <vt:lpstr>AWS Storage Gateway adds support for AWS Privatelink for Amazon S3 and Amazon S3 Access Points</vt:lpstr>
      <vt:lpstr>Amazon CloudFront announces new APIs to locate and move alternate domain names (CNAMEs)</vt:lpstr>
      <vt:lpstr>AWS Systems Manager Application Manager now supports full lifecycle management of AWS CloudFormation templates and stacks</vt:lpstr>
      <vt:lpstr>Announcing the General Availability of AWS Local Zones in Dallas and Philadelphia</vt:lpstr>
      <vt:lpstr>AWS Application Migration Service is now available in the US West (Northern California), Asia Pacific (Osaka), Canada (Central), and South America (São Paulo) Regions</vt:lpstr>
      <vt:lpstr>The Amazon Chime SDK adds media capture pipelines to enable capture of meeting video, audio, and content streams</vt:lpstr>
      <vt:lpstr>Announcing Workflow Studio, a new low-code visual workflow designer for AWS Step Functions</vt:lpstr>
      <vt:lpstr>AWS AppConfig now enables customers to compare two application configuration versions</vt:lpstr>
      <vt:lpstr>AWS Graviton2 based M6g, C6g, R6g and T4g instances are now available in EU (Paris, Milan) regions, and M6g instances are available in Middle East (Bahrain) regions</vt:lpstr>
      <vt:lpstr>Amazon Kendra releases Web Crawler to enable web site search</vt:lpstr>
      <vt:lpstr>Amazon RDS for Oracle Supports Oracle Management Agent (OMA) version 13.5 for Oracle Enterprise Manager Cloud Control 13cR5</vt:lpstr>
      <vt:lpstr>Amplify Admin UI now supports importing existing Amazon Cognito User Pools and Identity Pools</vt:lpstr>
      <vt:lpstr>CloudWatch Container Insights for Amazon ECS now available in the AWS Middle East (Bahrain) region</vt:lpstr>
      <vt:lpstr>AWS Elemental MediaPackage extends its metadata passthrough capabilities</vt:lpstr>
      <vt:lpstr>AWS Glue Studio now provides data previews during visual job authoring</vt:lpstr>
      <vt:lpstr>Amazon Redshift launches RA3 in Hong Kong and China Regions (Beijing, Ningxia)</vt:lpstr>
      <vt:lpstr>AWS Amplify CLI adds support for storing environment variables and secrets accessed by AWS Lambda functions</vt:lpstr>
      <vt:lpstr>AWS ParallelCluster now supports Ubuntu 20.04</vt:lpstr>
      <vt:lpstr>Announcing Amazon Kendra Smaller Units and Price Drop</vt:lpstr>
      <vt:lpstr>AWS Amplify launches new full-stack CI/CD capabilities</vt:lpstr>
      <vt:lpstr>Amazon AppStream 2.0 is now available in the AWS Europe (London) region</vt:lpstr>
      <vt:lpstr>AWS IQ now supports attachments</vt:lpstr>
      <vt:lpstr>New AWS Solutions Implementation: Tag Tamer</vt:lpstr>
      <vt:lpstr>Amazon EBS now supports gp3, st1, and sc1 volume types in the Los Angeles AWS Local Zones</vt:lpstr>
      <vt:lpstr>AWS Storage Gateway is now available in the AWS Asia Pacific (Osaka) Region</vt:lpstr>
      <vt:lpstr>AWS DataSync can now copy system access control lists (SACLs) to Amazon FSx for Windows File Server</vt:lpstr>
      <vt:lpstr>AWS Glue DataBrew now supports writing datasets from job runs directly into the AWS Glue Data Catalog</vt:lpstr>
      <vt:lpstr>AWS Glue DataBrew adds support for backslash delimiter (\) in .csv datasets</vt:lpstr>
      <vt:lpstr>Amazon GameLift announces BatchDistance rule update to FlexMatch</vt:lpstr>
      <vt:lpstr>Self-service features and trusted device support are now available on the Amazon WorkSpaces Android Client App</vt:lpstr>
      <vt:lpstr>Amazon RDS for MariaDB supports new minor versions 10.2.37, 10.3.28, 10.4.18, and 10.5.9.</vt:lpstr>
      <vt:lpstr>AWS Lambda now supports SASL/PLAIN authentication for functions triggered from self-managed Apache Kafka</vt:lpstr>
      <vt:lpstr>Support for additional MXF mezzanine output formats now available with AWS Elemental MediaConvert</vt:lpstr>
      <vt:lpstr>AWS Firewall Manager is now available in the Asia Pacific (Osaka) Region</vt:lpstr>
      <vt:lpstr>Support for HDR10+ for HEVC outputs is now available with AWS Elemental MediaConvert</vt:lpstr>
      <vt:lpstr>AWS CloudFormation Modules are now available in AWS GovCloud (US)</vt:lpstr>
      <vt:lpstr>AWS Systems Manager now supports free text search for a node in the Session Manager console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Stanford Guillory</cp:lastModifiedBy>
  <cp:revision>160</cp:revision>
  <dcterms:created xsi:type="dcterms:W3CDTF">2016-06-17T18:22:10Z</dcterms:created>
  <dcterms:modified xsi:type="dcterms:W3CDTF">2021-09-20T13:58:12Z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