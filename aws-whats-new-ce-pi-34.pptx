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 id="2147483715" r:id="rId5"/>
  </p:sldMasterIdLst>
  <p:notesMasterIdLst>
    <p:notesMasterId r:id="rId357"/>
  </p:notesMasterIdLst>
  <p:handoutMasterIdLst>
    <p:handoutMasterId r:id="rId358"/>
  </p:handoutMasterIdLst>
  <p:sldIdLst>
    <p:sldId id="285" r:id="rId6"/>
    <p:sldId id="257" r:id="rId7"/>
    <p:sldId id="505" r:id="rId8"/>
    <p:sldId id="506" r:id="rId9"/>
    <p:sldId id="522" r:id="rId10"/>
    <p:sldId id="530" r:id="rId11"/>
    <p:sldId id="534" r:id="rId12"/>
    <p:sldId id="536" r:id="rId13"/>
    <p:sldId id="585" r:id="rId14"/>
    <p:sldId id="508" r:id="rId15"/>
    <p:sldId id="539" r:id="rId16"/>
    <p:sldId id="543" r:id="rId17"/>
    <p:sldId id="549" r:id="rId18"/>
    <p:sldId id="553" r:id="rId19"/>
    <p:sldId id="555" r:id="rId20"/>
    <p:sldId id="556" r:id="rId21"/>
    <p:sldId id="561" r:id="rId22"/>
    <p:sldId id="563" r:id="rId23"/>
    <p:sldId id="516" r:id="rId24"/>
    <p:sldId id="521" r:id="rId25"/>
    <p:sldId id="560" r:id="rId26"/>
    <p:sldId id="540" r:id="rId27"/>
    <p:sldId id="612" r:id="rId28"/>
    <p:sldId id="565" r:id="rId29"/>
    <p:sldId id="621" r:id="rId30"/>
    <p:sldId id="510" r:id="rId31"/>
    <p:sldId id="525" r:id="rId32"/>
    <p:sldId id="512" r:id="rId33"/>
    <p:sldId id="532" r:id="rId34"/>
    <p:sldId id="533" r:id="rId35"/>
    <p:sldId id="538" r:id="rId36"/>
    <p:sldId id="545" r:id="rId37"/>
    <p:sldId id="558" r:id="rId38"/>
    <p:sldId id="613" r:id="rId39"/>
    <p:sldId id="559" r:id="rId40"/>
    <p:sldId id="513" r:id="rId41"/>
    <p:sldId id="519" r:id="rId42"/>
    <p:sldId id="520" r:id="rId43"/>
    <p:sldId id="526" r:id="rId44"/>
    <p:sldId id="541" r:id="rId45"/>
    <p:sldId id="544" r:id="rId46"/>
    <p:sldId id="551" r:id="rId47"/>
    <p:sldId id="552" r:id="rId48"/>
    <p:sldId id="577" r:id="rId49"/>
    <p:sldId id="546" r:id="rId50"/>
    <p:sldId id="523" r:id="rId51"/>
    <p:sldId id="515" r:id="rId52"/>
    <p:sldId id="550" r:id="rId53"/>
    <p:sldId id="507" r:id="rId54"/>
    <p:sldId id="518" r:id="rId55"/>
    <p:sldId id="527" r:id="rId56"/>
    <p:sldId id="529" r:id="rId57"/>
    <p:sldId id="535" r:id="rId58"/>
    <p:sldId id="547" r:id="rId59"/>
    <p:sldId id="562" r:id="rId60"/>
    <p:sldId id="301" r:id="rId61"/>
    <p:sldId id="610" r:id="rId62"/>
    <p:sldId id="514" r:id="rId63"/>
    <p:sldId id="548" r:id="rId64"/>
    <p:sldId id="557" r:id="rId65"/>
    <p:sldId id="528" r:id="rId66"/>
    <p:sldId id="511" r:id="rId67"/>
    <p:sldId id="542" r:id="rId68"/>
    <p:sldId id="509" r:id="rId69"/>
    <p:sldId id="564" r:id="rId70"/>
    <p:sldId id="554" r:id="rId71"/>
    <p:sldId id="531" r:id="rId72"/>
    <p:sldId id="517" r:id="rId73"/>
    <p:sldId id="524" r:id="rId74"/>
    <p:sldId id="537" r:id="rId75"/>
    <p:sldId id="566" r:id="rId76"/>
    <p:sldId id="567" r:id="rId77"/>
    <p:sldId id="568" r:id="rId78"/>
    <p:sldId id="569" r:id="rId79"/>
    <p:sldId id="570" r:id="rId80"/>
    <p:sldId id="571" r:id="rId81"/>
    <p:sldId id="572" r:id="rId82"/>
    <p:sldId id="573" r:id="rId83"/>
    <p:sldId id="574" r:id="rId84"/>
    <p:sldId id="575" r:id="rId85"/>
    <p:sldId id="576" r:id="rId86"/>
    <p:sldId id="578" r:id="rId87"/>
    <p:sldId id="579" r:id="rId88"/>
    <p:sldId id="580" r:id="rId89"/>
    <p:sldId id="581" r:id="rId90"/>
    <p:sldId id="582" r:id="rId91"/>
    <p:sldId id="583" r:id="rId92"/>
    <p:sldId id="584" r:id="rId93"/>
    <p:sldId id="586" r:id="rId94"/>
    <p:sldId id="587" r:id="rId95"/>
    <p:sldId id="588" r:id="rId96"/>
    <p:sldId id="589" r:id="rId97"/>
    <p:sldId id="590" r:id="rId98"/>
    <p:sldId id="591" r:id="rId99"/>
    <p:sldId id="592" r:id="rId100"/>
    <p:sldId id="593" r:id="rId101"/>
    <p:sldId id="594" r:id="rId102"/>
    <p:sldId id="595" r:id="rId103"/>
    <p:sldId id="596" r:id="rId104"/>
    <p:sldId id="597" r:id="rId105"/>
    <p:sldId id="598" r:id="rId106"/>
    <p:sldId id="599" r:id="rId107"/>
    <p:sldId id="600" r:id="rId108"/>
    <p:sldId id="601" r:id="rId109"/>
    <p:sldId id="602" r:id="rId110"/>
    <p:sldId id="603" r:id="rId111"/>
    <p:sldId id="604" r:id="rId112"/>
    <p:sldId id="605" r:id="rId113"/>
    <p:sldId id="606" r:id="rId114"/>
    <p:sldId id="607" r:id="rId115"/>
    <p:sldId id="608" r:id="rId116"/>
    <p:sldId id="609" r:id="rId117"/>
    <p:sldId id="611" r:id="rId118"/>
    <p:sldId id="614" r:id="rId119"/>
    <p:sldId id="615" r:id="rId120"/>
    <p:sldId id="616" r:id="rId121"/>
    <p:sldId id="617" r:id="rId122"/>
    <p:sldId id="618" r:id="rId123"/>
    <p:sldId id="619" r:id="rId124"/>
    <p:sldId id="620" r:id="rId125"/>
    <p:sldId id="622" r:id="rId126"/>
    <p:sldId id="623" r:id="rId127"/>
    <p:sldId id="624" r:id="rId128"/>
    <p:sldId id="625" r:id="rId129"/>
    <p:sldId id="626" r:id="rId130"/>
    <p:sldId id="627" r:id="rId131"/>
    <p:sldId id="628" r:id="rId132"/>
    <p:sldId id="629" r:id="rId133"/>
    <p:sldId id="630" r:id="rId134"/>
    <p:sldId id="631" r:id="rId135"/>
    <p:sldId id="632" r:id="rId136"/>
    <p:sldId id="633" r:id="rId137"/>
    <p:sldId id="634" r:id="rId138"/>
    <p:sldId id="635" r:id="rId139"/>
    <p:sldId id="636" r:id="rId140"/>
    <p:sldId id="637" r:id="rId141"/>
    <p:sldId id="638" r:id="rId142"/>
    <p:sldId id="639" r:id="rId143"/>
    <p:sldId id="640" r:id="rId144"/>
    <p:sldId id="641" r:id="rId145"/>
    <p:sldId id="642" r:id="rId146"/>
    <p:sldId id="645" r:id="rId147"/>
    <p:sldId id="646" r:id="rId148"/>
    <p:sldId id="647" r:id="rId149"/>
    <p:sldId id="648" r:id="rId150"/>
    <p:sldId id="649" r:id="rId151"/>
    <p:sldId id="650" r:id="rId152"/>
    <p:sldId id="651" r:id="rId153"/>
    <p:sldId id="652" r:id="rId154"/>
    <p:sldId id="653" r:id="rId155"/>
    <p:sldId id="654" r:id="rId156"/>
    <p:sldId id="655" r:id="rId157"/>
    <p:sldId id="656" r:id="rId158"/>
    <p:sldId id="657" r:id="rId159"/>
    <p:sldId id="658" r:id="rId160"/>
    <p:sldId id="659" r:id="rId161"/>
    <p:sldId id="660" r:id="rId162"/>
    <p:sldId id="661" r:id="rId163"/>
    <p:sldId id="662" r:id="rId164"/>
    <p:sldId id="663" r:id="rId165"/>
    <p:sldId id="664" r:id="rId166"/>
    <p:sldId id="665" r:id="rId167"/>
    <p:sldId id="666" r:id="rId168"/>
    <p:sldId id="667" r:id="rId169"/>
    <p:sldId id="668" r:id="rId170"/>
    <p:sldId id="669" r:id="rId171"/>
    <p:sldId id="670" r:id="rId172"/>
    <p:sldId id="671" r:id="rId173"/>
    <p:sldId id="672" r:id="rId174"/>
    <p:sldId id="673" r:id="rId175"/>
    <p:sldId id="674" r:id="rId176"/>
    <p:sldId id="675" r:id="rId177"/>
    <p:sldId id="676" r:id="rId178"/>
    <p:sldId id="677" r:id="rId179"/>
    <p:sldId id="678" r:id="rId180"/>
    <p:sldId id="679" r:id="rId181"/>
    <p:sldId id="680" r:id="rId182"/>
    <p:sldId id="681" r:id="rId183"/>
    <p:sldId id="682" r:id="rId184"/>
    <p:sldId id="683" r:id="rId185"/>
    <p:sldId id="684" r:id="rId186"/>
    <p:sldId id="685" r:id="rId187"/>
    <p:sldId id="686" r:id="rId188"/>
    <p:sldId id="687" r:id="rId189"/>
    <p:sldId id="688" r:id="rId190"/>
    <p:sldId id="689" r:id="rId191"/>
    <p:sldId id="690" r:id="rId192"/>
    <p:sldId id="691" r:id="rId193"/>
    <p:sldId id="692" r:id="rId194"/>
    <p:sldId id="693" r:id="rId195"/>
    <p:sldId id="694" r:id="rId196"/>
    <p:sldId id="695" r:id="rId197"/>
    <p:sldId id="696" r:id="rId198"/>
    <p:sldId id="697" r:id="rId199"/>
    <p:sldId id="698" r:id="rId200"/>
    <p:sldId id="699" r:id="rId201"/>
    <p:sldId id="700" r:id="rId202"/>
    <p:sldId id="701" r:id="rId203"/>
    <p:sldId id="702" r:id="rId204"/>
    <p:sldId id="703" r:id="rId205"/>
    <p:sldId id="704" r:id="rId206"/>
    <p:sldId id="705" r:id="rId207"/>
    <p:sldId id="706" r:id="rId208"/>
    <p:sldId id="707" r:id="rId209"/>
    <p:sldId id="708" r:id="rId210"/>
    <p:sldId id="709" r:id="rId211"/>
    <p:sldId id="710" r:id="rId212"/>
    <p:sldId id="711" r:id="rId213"/>
    <p:sldId id="712" r:id="rId214"/>
    <p:sldId id="713" r:id="rId215"/>
    <p:sldId id="714" r:id="rId216"/>
    <p:sldId id="715" r:id="rId217"/>
    <p:sldId id="716" r:id="rId218"/>
    <p:sldId id="717" r:id="rId219"/>
    <p:sldId id="718" r:id="rId220"/>
    <p:sldId id="719" r:id="rId221"/>
    <p:sldId id="720" r:id="rId222"/>
    <p:sldId id="721" r:id="rId223"/>
    <p:sldId id="722" r:id="rId224"/>
    <p:sldId id="723" r:id="rId225"/>
    <p:sldId id="724" r:id="rId226"/>
    <p:sldId id="725" r:id="rId227"/>
    <p:sldId id="726" r:id="rId228"/>
    <p:sldId id="727" r:id="rId229"/>
    <p:sldId id="728" r:id="rId230"/>
    <p:sldId id="729" r:id="rId231"/>
    <p:sldId id="730" r:id="rId232"/>
    <p:sldId id="731" r:id="rId233"/>
    <p:sldId id="732" r:id="rId234"/>
    <p:sldId id="733" r:id="rId235"/>
    <p:sldId id="734" r:id="rId236"/>
    <p:sldId id="735" r:id="rId237"/>
    <p:sldId id="736" r:id="rId238"/>
    <p:sldId id="737" r:id="rId239"/>
    <p:sldId id="738" r:id="rId240"/>
    <p:sldId id="739" r:id="rId241"/>
    <p:sldId id="740" r:id="rId242"/>
    <p:sldId id="741" r:id="rId243"/>
    <p:sldId id="742" r:id="rId244"/>
    <p:sldId id="743" r:id="rId245"/>
    <p:sldId id="744" r:id="rId246"/>
    <p:sldId id="745" r:id="rId247"/>
    <p:sldId id="746" r:id="rId248"/>
    <p:sldId id="747" r:id="rId249"/>
    <p:sldId id="748" r:id="rId250"/>
    <p:sldId id="749" r:id="rId251"/>
    <p:sldId id="750" r:id="rId252"/>
    <p:sldId id="751" r:id="rId253"/>
    <p:sldId id="752" r:id="rId254"/>
    <p:sldId id="753" r:id="rId255"/>
    <p:sldId id="754" r:id="rId256"/>
    <p:sldId id="755" r:id="rId257"/>
    <p:sldId id="756" r:id="rId258"/>
    <p:sldId id="757" r:id="rId259"/>
    <p:sldId id="758" r:id="rId260"/>
    <p:sldId id="759" r:id="rId261"/>
    <p:sldId id="760" r:id="rId262"/>
    <p:sldId id="761" r:id="rId263"/>
    <p:sldId id="762" r:id="rId264"/>
    <p:sldId id="763" r:id="rId265"/>
    <p:sldId id="764" r:id="rId266"/>
    <p:sldId id="765" r:id="rId267"/>
    <p:sldId id="766" r:id="rId268"/>
    <p:sldId id="767" r:id="rId269"/>
    <p:sldId id="768" r:id="rId270"/>
    <p:sldId id="769" r:id="rId271"/>
    <p:sldId id="770" r:id="rId272"/>
    <p:sldId id="771" r:id="rId273"/>
    <p:sldId id="772" r:id="rId274"/>
    <p:sldId id="773" r:id="rId275"/>
    <p:sldId id="774" r:id="rId276"/>
    <p:sldId id="775" r:id="rId277"/>
    <p:sldId id="776" r:id="rId278"/>
    <p:sldId id="777" r:id="rId279"/>
    <p:sldId id="778" r:id="rId280"/>
    <p:sldId id="779" r:id="rId281"/>
    <p:sldId id="780" r:id="rId282"/>
    <p:sldId id="781" r:id="rId283"/>
    <p:sldId id="782" r:id="rId284"/>
    <p:sldId id="783" r:id="rId285"/>
    <p:sldId id="784" r:id="rId286"/>
    <p:sldId id="785" r:id="rId287"/>
    <p:sldId id="786" r:id="rId288"/>
    <p:sldId id="787" r:id="rId289"/>
    <p:sldId id="788" r:id="rId290"/>
    <p:sldId id="789" r:id="rId291"/>
    <p:sldId id="790" r:id="rId292"/>
    <p:sldId id="791" r:id="rId293"/>
    <p:sldId id="792" r:id="rId294"/>
    <p:sldId id="793" r:id="rId295"/>
    <p:sldId id="794" r:id="rId296"/>
    <p:sldId id="795" r:id="rId297"/>
    <p:sldId id="796" r:id="rId298"/>
    <p:sldId id="797" r:id="rId299"/>
    <p:sldId id="798" r:id="rId300"/>
    <p:sldId id="799" r:id="rId301"/>
    <p:sldId id="800" r:id="rId302"/>
    <p:sldId id="801" r:id="rId303"/>
    <p:sldId id="802" r:id="rId304"/>
    <p:sldId id="803" r:id="rId305"/>
    <p:sldId id="804" r:id="rId306"/>
    <p:sldId id="805" r:id="rId307"/>
    <p:sldId id="806" r:id="rId308"/>
    <p:sldId id="807" r:id="rId309"/>
    <p:sldId id="808" r:id="rId310"/>
    <p:sldId id="809" r:id="rId311"/>
    <p:sldId id="810" r:id="rId312"/>
    <p:sldId id="811" r:id="rId313"/>
    <p:sldId id="812" r:id="rId314"/>
    <p:sldId id="813" r:id="rId315"/>
    <p:sldId id="814" r:id="rId316"/>
    <p:sldId id="815" r:id="rId317"/>
    <p:sldId id="816" r:id="rId318"/>
    <p:sldId id="817" r:id="rId319"/>
    <p:sldId id="818" r:id="rId320"/>
    <p:sldId id="819" r:id="rId321"/>
    <p:sldId id="820" r:id="rId322"/>
    <p:sldId id="821" r:id="rId323"/>
    <p:sldId id="822" r:id="rId324"/>
    <p:sldId id="823" r:id="rId325"/>
    <p:sldId id="824" r:id="rId326"/>
    <p:sldId id="825" r:id="rId327"/>
    <p:sldId id="826" r:id="rId328"/>
    <p:sldId id="827" r:id="rId329"/>
    <p:sldId id="828" r:id="rId330"/>
    <p:sldId id="829" r:id="rId331"/>
    <p:sldId id="830" r:id="rId332"/>
    <p:sldId id="831" r:id="rId333"/>
    <p:sldId id="832" r:id="rId334"/>
    <p:sldId id="833" r:id="rId335"/>
    <p:sldId id="834" r:id="rId336"/>
    <p:sldId id="835" r:id="rId337"/>
    <p:sldId id="836" r:id="rId338"/>
    <p:sldId id="837" r:id="rId339"/>
    <p:sldId id="838" r:id="rId340"/>
    <p:sldId id="839" r:id="rId341"/>
    <p:sldId id="840" r:id="rId342"/>
    <p:sldId id="841" r:id="rId343"/>
    <p:sldId id="842" r:id="rId344"/>
    <p:sldId id="843" r:id="rId345"/>
    <p:sldId id="844" r:id="rId346"/>
    <p:sldId id="845" r:id="rId347"/>
    <p:sldId id="846" r:id="rId348"/>
    <p:sldId id="847" r:id="rId349"/>
    <p:sldId id="848" r:id="rId350"/>
    <p:sldId id="849" r:id="rId351"/>
    <p:sldId id="850" r:id="rId352"/>
    <p:sldId id="851" r:id="rId353"/>
    <p:sldId id="852" r:id="rId354"/>
    <p:sldId id="853" r:id="rId355"/>
    <p:sldId id="854" r:id="rId356"/>
  </p:sldIdLst>
  <p:sldSz cx="14630400" cy="8229600"/>
  <p:notesSz cx="6858000" cy="9144000"/>
  <p:defaultText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1D546FE-B142-CE4F-B7B0-C50CFF177379}">
          <p14:sldIdLst>
            <p14:sldId id="285"/>
            <p14:sldId id="257"/>
            <p14:sldId id="505"/>
            <p14:sldId id="506"/>
            <p14:sldId id="522"/>
          </p14:sldIdLst>
        </p14:section>
        <p14:section name="Serverless" id="{CD6E2C36-D6C6-DF49-9888-7802E245571B}">
          <p14:sldIdLst>
            <p14:sldId id="530"/>
            <p14:sldId id="534"/>
            <p14:sldId id="536"/>
            <p14:sldId id="585"/>
          </p14:sldIdLst>
        </p14:section>
        <p14:section name="EC2" id="{533245FC-DC08-9E44-B0CB-3FA968F6ABDB}">
          <p14:sldIdLst>
            <p14:sldId id="508"/>
            <p14:sldId id="539"/>
            <p14:sldId id="543"/>
            <p14:sldId id="549"/>
            <p14:sldId id="553"/>
            <p14:sldId id="555"/>
            <p14:sldId id="556"/>
            <p14:sldId id="561"/>
            <p14:sldId id="563"/>
          </p14:sldIdLst>
        </p14:section>
        <p14:section name="ML" id="{751117D6-5BD5-8D44-B498-2D7FBA26CFD5}">
          <p14:sldIdLst>
            <p14:sldId id="516"/>
            <p14:sldId id="521"/>
          </p14:sldIdLst>
        </p14:section>
        <p14:section name="Analytics" id="{971FBD76-FA2E-124A-8DA5-C86443C62CCF}">
          <p14:sldIdLst>
            <p14:sldId id="560"/>
            <p14:sldId id="540"/>
            <p14:sldId id="612"/>
            <p14:sldId id="565"/>
            <p14:sldId id="621"/>
          </p14:sldIdLst>
        </p14:section>
        <p14:section name="Containers" id="{4C034E99-DBB0-154A-AA13-51475EEDE279}">
          <p14:sldIdLst>
            <p14:sldId id="510"/>
            <p14:sldId id="525"/>
            <p14:sldId id="512"/>
            <p14:sldId id="532"/>
            <p14:sldId id="533"/>
            <p14:sldId id="538"/>
            <p14:sldId id="545"/>
            <p14:sldId id="558"/>
            <p14:sldId id="613"/>
            <p14:sldId id="559"/>
          </p14:sldIdLst>
        </p14:section>
        <p14:section name="Database" id="{A8C4DABB-6D11-F24D-A93C-EEA48D7981BA}">
          <p14:sldIdLst>
            <p14:sldId id="513"/>
            <p14:sldId id="519"/>
            <p14:sldId id="520"/>
            <p14:sldId id="526"/>
            <p14:sldId id="541"/>
            <p14:sldId id="544"/>
            <p14:sldId id="551"/>
            <p14:sldId id="552"/>
            <p14:sldId id="577"/>
          </p14:sldIdLst>
        </p14:section>
        <p14:section name="S3" id="{0442B758-A8BF-E143-AF84-8CBFEDC6C6ED}">
          <p14:sldIdLst>
            <p14:sldId id="546"/>
            <p14:sldId id="523"/>
            <p14:sldId id="515"/>
          </p14:sldIdLst>
        </p14:section>
        <p14:section name="Security" id="{F26AD9B6-E0E5-6C4A-9704-CEAF5A8A6314}">
          <p14:sldIdLst>
            <p14:sldId id="550"/>
            <p14:sldId id="507"/>
            <p14:sldId id="518"/>
            <p14:sldId id="527"/>
            <p14:sldId id="529"/>
            <p14:sldId id="535"/>
            <p14:sldId id="547"/>
          </p14:sldIdLst>
        </p14:section>
        <p14:section name="Various" id="{384F4F0F-6B8F-6741-AEF2-A0BE0608F332}">
          <p14:sldIdLst>
            <p14:sldId id="562"/>
            <p14:sldId id="301"/>
          </p14:sldIdLst>
        </p14:section>
        <p14:section name="Good to Know" id="{ED36D077-F685-4D43-AC3F-6D575859E56F}">
          <p14:sldIdLst>
            <p14:sldId id="610"/>
            <p14:sldId id="514"/>
            <p14:sldId id="548"/>
            <p14:sldId id="557"/>
            <p14:sldId id="528"/>
            <p14:sldId id="511"/>
            <p14:sldId id="542"/>
            <p14:sldId id="509"/>
            <p14:sldId id="564"/>
            <p14:sldId id="554"/>
            <p14:sldId id="531"/>
            <p14:sldId id="517"/>
            <p14:sldId id="524"/>
            <p14:sldId id="537"/>
            <p14:sldId id="566"/>
            <p14:sldId id="567"/>
            <p14:sldId id="568"/>
            <p14:sldId id="569"/>
            <p14:sldId id="570"/>
            <p14:sldId id="571"/>
            <p14:sldId id="572"/>
            <p14:sldId id="573"/>
            <p14:sldId id="574"/>
            <p14:sldId id="575"/>
            <p14:sldId id="576"/>
            <p14:sldId id="578"/>
            <p14:sldId id="579"/>
            <p14:sldId id="580"/>
            <p14:sldId id="581"/>
            <p14:sldId id="582"/>
            <p14:sldId id="583"/>
            <p14:sldId id="584"/>
            <p14:sldId id="586"/>
            <p14:sldId id="587"/>
            <p14:sldId id="588"/>
            <p14:sldId id="589"/>
            <p14:sldId id="590"/>
            <p14:sldId id="591"/>
            <p14:sldId id="592"/>
            <p14:sldId id="593"/>
            <p14:sldId id="594"/>
            <p14:sldId id="595"/>
            <p14:sldId id="596"/>
            <p14:sldId id="597"/>
            <p14:sldId id="598"/>
            <p14:sldId id="599"/>
            <p14:sldId id="600"/>
            <p14:sldId id="601"/>
            <p14:sldId id="602"/>
            <p14:sldId id="603"/>
            <p14:sldId id="604"/>
            <p14:sldId id="605"/>
            <p14:sldId id="606"/>
            <p14:sldId id="607"/>
            <p14:sldId id="608"/>
            <p14:sldId id="609"/>
            <p14:sldId id="611"/>
            <p14:sldId id="614"/>
            <p14:sldId id="615"/>
            <p14:sldId id="616"/>
            <p14:sldId id="617"/>
            <p14:sldId id="618"/>
            <p14:sldId id="619"/>
            <p14:sldId id="620"/>
            <p14:sldId id="622"/>
            <p14:sldId id="623"/>
            <p14:sldId id="624"/>
            <p14:sldId id="625"/>
            <p14:sldId id="626"/>
            <p14:sldId id="627"/>
            <p14:sldId id="628"/>
            <p14:sldId id="629"/>
            <p14:sldId id="630"/>
            <p14:sldId id="631"/>
            <p14:sldId id="632"/>
            <p14:sldId id="633"/>
            <p14:sldId id="634"/>
            <p14:sldId id="635"/>
            <p14:sldId id="636"/>
            <p14:sldId id="637"/>
            <p14:sldId id="638"/>
            <p14:sldId id="639"/>
            <p14:sldId id="640"/>
            <p14:sldId id="641"/>
            <p14:sldId id="642"/>
            <p14:sldId id="645"/>
            <p14:sldId id="646"/>
            <p14:sldId id="647"/>
            <p14:sldId id="648"/>
            <p14:sldId id="649"/>
            <p14:sldId id="650"/>
            <p14:sldId id="651"/>
            <p14:sldId id="652"/>
            <p14:sldId id="653"/>
            <p14:sldId id="654"/>
            <p14:sldId id="655"/>
            <p14:sldId id="656"/>
            <p14:sldId id="657"/>
            <p14:sldId id="658"/>
            <p14:sldId id="659"/>
            <p14:sldId id="660"/>
            <p14:sldId id="661"/>
            <p14:sldId id="662"/>
            <p14:sldId id="663"/>
            <p14:sldId id="664"/>
            <p14:sldId id="665"/>
            <p14:sldId id="666"/>
            <p14:sldId id="667"/>
            <p14:sldId id="668"/>
            <p14:sldId id="669"/>
            <p14:sldId id="670"/>
            <p14:sldId id="671"/>
            <p14:sldId id="672"/>
            <p14:sldId id="673"/>
            <p14:sldId id="674"/>
            <p14:sldId id="675"/>
            <p14:sldId id="676"/>
            <p14:sldId id="677"/>
            <p14:sldId id="678"/>
            <p14:sldId id="679"/>
            <p14:sldId id="680"/>
            <p14:sldId id="681"/>
            <p14:sldId id="682"/>
            <p14:sldId id="683"/>
            <p14:sldId id="684"/>
            <p14:sldId id="685"/>
            <p14:sldId id="686"/>
            <p14:sldId id="687"/>
            <p14:sldId id="688"/>
            <p14:sldId id="689"/>
            <p14:sldId id="690"/>
            <p14:sldId id="691"/>
            <p14:sldId id="692"/>
            <p14:sldId id="693"/>
            <p14:sldId id="694"/>
            <p14:sldId id="695"/>
            <p14:sldId id="696"/>
            <p14:sldId id="697"/>
            <p14:sldId id="698"/>
            <p14:sldId id="699"/>
            <p14:sldId id="700"/>
            <p14:sldId id="701"/>
            <p14:sldId id="702"/>
            <p14:sldId id="703"/>
            <p14:sldId id="704"/>
            <p14:sldId id="705"/>
            <p14:sldId id="706"/>
            <p14:sldId id="707"/>
            <p14:sldId id="708"/>
            <p14:sldId id="709"/>
            <p14:sldId id="710"/>
            <p14:sldId id="711"/>
            <p14:sldId id="712"/>
            <p14:sldId id="713"/>
            <p14:sldId id="714"/>
            <p14:sldId id="715"/>
            <p14:sldId id="716"/>
            <p14:sldId id="717"/>
            <p14:sldId id="718"/>
            <p14:sldId id="719"/>
            <p14:sldId id="720"/>
            <p14:sldId id="721"/>
            <p14:sldId id="722"/>
            <p14:sldId id="723"/>
            <p14:sldId id="724"/>
            <p14:sldId id="725"/>
            <p14:sldId id="726"/>
            <p14:sldId id="727"/>
            <p14:sldId id="728"/>
            <p14:sldId id="729"/>
            <p14:sldId id="730"/>
            <p14:sldId id="731"/>
            <p14:sldId id="732"/>
            <p14:sldId id="733"/>
            <p14:sldId id="734"/>
            <p14:sldId id="735"/>
            <p14:sldId id="736"/>
            <p14:sldId id="737"/>
            <p14:sldId id="738"/>
            <p14:sldId id="739"/>
            <p14:sldId id="740"/>
            <p14:sldId id="741"/>
            <p14:sldId id="742"/>
            <p14:sldId id="743"/>
            <p14:sldId id="744"/>
            <p14:sldId id="745"/>
            <p14:sldId id="746"/>
            <p14:sldId id="747"/>
            <p14:sldId id="748"/>
            <p14:sldId id="749"/>
            <p14:sldId id="750"/>
            <p14:sldId id="751"/>
            <p14:sldId id="752"/>
            <p14:sldId id="753"/>
            <p14:sldId id="754"/>
            <p14:sldId id="755"/>
            <p14:sldId id="756"/>
            <p14:sldId id="757"/>
            <p14:sldId id="758"/>
            <p14:sldId id="759"/>
            <p14:sldId id="760"/>
            <p14:sldId id="761"/>
            <p14:sldId id="762"/>
            <p14:sldId id="763"/>
            <p14:sldId id="764"/>
            <p14:sldId id="765"/>
            <p14:sldId id="766"/>
            <p14:sldId id="767"/>
            <p14:sldId id="768"/>
            <p14:sldId id="769"/>
            <p14:sldId id="770"/>
            <p14:sldId id="771"/>
            <p14:sldId id="772"/>
            <p14:sldId id="773"/>
            <p14:sldId id="774"/>
            <p14:sldId id="775"/>
            <p14:sldId id="776"/>
            <p14:sldId id="777"/>
            <p14:sldId id="778"/>
            <p14:sldId id="779"/>
            <p14:sldId id="780"/>
            <p14:sldId id="781"/>
            <p14:sldId id="782"/>
            <p14:sldId id="783"/>
            <p14:sldId id="784"/>
            <p14:sldId id="785"/>
            <p14:sldId id="786"/>
            <p14:sldId id="787"/>
            <p14:sldId id="788"/>
            <p14:sldId id="789"/>
            <p14:sldId id="790"/>
            <p14:sldId id="791"/>
            <p14:sldId id="792"/>
            <p14:sldId id="793"/>
            <p14:sldId id="794"/>
            <p14:sldId id="795"/>
            <p14:sldId id="796"/>
            <p14:sldId id="797"/>
            <p14:sldId id="798"/>
            <p14:sldId id="799"/>
            <p14:sldId id="800"/>
            <p14:sldId id="801"/>
            <p14:sldId id="802"/>
            <p14:sldId id="803"/>
            <p14:sldId id="804"/>
            <p14:sldId id="805"/>
            <p14:sldId id="806"/>
            <p14:sldId id="807"/>
            <p14:sldId id="808"/>
            <p14:sldId id="809"/>
            <p14:sldId id="810"/>
            <p14:sldId id="811"/>
            <p14:sldId id="812"/>
            <p14:sldId id="813"/>
            <p14:sldId id="814"/>
            <p14:sldId id="815"/>
            <p14:sldId id="816"/>
            <p14:sldId id="817"/>
            <p14:sldId id="818"/>
            <p14:sldId id="819"/>
            <p14:sldId id="820"/>
            <p14:sldId id="821"/>
            <p14:sldId id="822"/>
            <p14:sldId id="823"/>
            <p14:sldId id="824"/>
            <p14:sldId id="825"/>
            <p14:sldId id="826"/>
            <p14:sldId id="827"/>
            <p14:sldId id="828"/>
            <p14:sldId id="829"/>
            <p14:sldId id="830"/>
            <p14:sldId id="831"/>
            <p14:sldId id="832"/>
            <p14:sldId id="833"/>
            <p14:sldId id="834"/>
            <p14:sldId id="835"/>
            <p14:sldId id="836"/>
            <p14:sldId id="837"/>
            <p14:sldId id="838"/>
            <p14:sldId id="839"/>
            <p14:sldId id="840"/>
            <p14:sldId id="841"/>
            <p14:sldId id="842"/>
            <p14:sldId id="843"/>
            <p14:sldId id="844"/>
            <p14:sldId id="845"/>
            <p14:sldId id="846"/>
            <p14:sldId id="847"/>
            <p14:sldId id="848"/>
            <p14:sldId id="849"/>
            <p14:sldId id="850"/>
            <p14:sldId id="851"/>
            <p14:sldId id="852"/>
            <p14:sldId id="853"/>
            <p14:sldId id="854"/>
          </p14:sldIdLst>
        </p14:section>
      </p14:sectionLst>
    </p:ext>
    <p:ext uri="{EFAFB233-063F-42B5-8137-9DF3F51BA10A}">
      <p15:sldGuideLst xmlns:p15="http://schemas.microsoft.com/office/powerpoint/2012/main">
        <p15:guide id="1" orient="horz" pos="1030" userDrawn="1">
          <p15:clr>
            <a:srgbClr val="A4A3A4"/>
          </p15:clr>
        </p15:guide>
        <p15:guide id="2" orient="horz" pos="4637" userDrawn="1">
          <p15:clr>
            <a:srgbClr val="A4A3A4"/>
          </p15:clr>
        </p15:guide>
        <p15:guide id="3" orient="horz" pos="3859" userDrawn="1">
          <p15:clr>
            <a:srgbClr val="A4A3A4"/>
          </p15:clr>
        </p15:guide>
        <p15:guide id="4" orient="horz" pos="5114" userDrawn="1">
          <p15:clr>
            <a:srgbClr val="A4A3A4"/>
          </p15:clr>
        </p15:guide>
        <p15:guide id="5" orient="horz" pos="2160" userDrawn="1">
          <p15:clr>
            <a:srgbClr val="A4A3A4"/>
          </p15:clr>
        </p15:guide>
        <p15:guide id="6" orient="horz" pos="2205" userDrawn="1">
          <p15:clr>
            <a:srgbClr val="A4A3A4"/>
          </p15:clr>
        </p15:guide>
        <p15:guide id="7" orient="horz" pos="3325" userDrawn="1">
          <p15:clr>
            <a:srgbClr val="A4A3A4"/>
          </p15:clr>
        </p15:guide>
        <p15:guide id="8" orient="horz" pos="200" userDrawn="1">
          <p15:clr>
            <a:srgbClr val="A4A3A4"/>
          </p15:clr>
        </p15:guide>
        <p15:guide id="9" orient="horz" pos="3370" userDrawn="1">
          <p15:clr>
            <a:srgbClr val="A4A3A4"/>
          </p15:clr>
        </p15:guide>
        <p15:guide id="10" orient="horz" pos="4574" userDrawn="1">
          <p15:clr>
            <a:srgbClr val="A4A3A4"/>
          </p15:clr>
        </p15:guide>
        <p15:guide id="11" pos="1536" userDrawn="1">
          <p15:clr>
            <a:srgbClr val="A4A3A4"/>
          </p15:clr>
        </p15:guide>
        <p15:guide id="12" pos="2808" userDrawn="1">
          <p15:clr>
            <a:srgbClr val="A4A3A4"/>
          </p15:clr>
        </p15:guide>
        <p15:guide id="13" pos="4613" userDrawn="1">
          <p15:clr>
            <a:srgbClr val="A4A3A4"/>
          </p15:clr>
        </p15:guide>
        <p15:guide id="14" pos="4030" userDrawn="1">
          <p15:clr>
            <a:srgbClr val="A4A3A4"/>
          </p15:clr>
        </p15:guide>
        <p15:guide id="15" pos="7664" userDrawn="1">
          <p15:clr>
            <a:srgbClr val="A4A3A4"/>
          </p15:clr>
        </p15:guide>
        <p15:guide id="16" pos="3979" userDrawn="1">
          <p15:clr>
            <a:srgbClr val="A4A3A4"/>
          </p15:clr>
        </p15:guide>
        <p15:guide id="17" pos="2755" userDrawn="1">
          <p15:clr>
            <a:srgbClr val="A4A3A4"/>
          </p15:clr>
        </p15:guide>
        <p15:guide id="18" pos="1579" userDrawn="1">
          <p15:clr>
            <a:srgbClr val="A4A3A4"/>
          </p15:clr>
        </p15:guide>
        <p15:guide id="19" pos="7709" userDrawn="1">
          <p15:clr>
            <a:srgbClr val="A4A3A4"/>
          </p15:clr>
        </p15:guide>
        <p15:guide id="20" pos="5211" userDrawn="1">
          <p15:clr>
            <a:srgbClr val="A4A3A4"/>
          </p15:clr>
        </p15:guide>
        <p15:guide id="21" userDrawn="1">
          <p15:clr>
            <a:srgbClr val="A4A3A4"/>
          </p15:clr>
        </p15:guide>
        <p15:guide id="22" pos="5256" userDrawn="1">
          <p15:clr>
            <a:srgbClr val="A4A3A4"/>
          </p15:clr>
        </p15:guide>
        <p15:guide id="23" pos="6435" userDrawn="1">
          <p15:clr>
            <a:srgbClr val="A4A3A4"/>
          </p15:clr>
        </p15:guide>
        <p15:guide id="24" pos="6485" userDrawn="1">
          <p15:clr>
            <a:srgbClr val="A4A3A4"/>
          </p15:clr>
        </p15:guide>
        <p15:guide id="25" pos="8870" userDrawn="1">
          <p15:clr>
            <a:srgbClr val="A4A3A4"/>
          </p15:clr>
        </p15:guide>
        <p15:guide id="26" pos="352" userDrawn="1">
          <p15:clr>
            <a:srgbClr val="A4A3A4"/>
          </p15:clr>
        </p15:guide>
        <p15:guide id="27" pos="557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alano, Alec" initials="" lastIdx="23" clrIdx="0"/>
  <p:cmAuthor id="1" name="Alec Catalano"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232F3E"/>
    <a:srgbClr val="595A5D"/>
    <a:srgbClr val="414042"/>
    <a:srgbClr val="DCDCDC"/>
    <a:srgbClr val="4F81BD"/>
    <a:srgbClr val="0C9B2E"/>
    <a:srgbClr val="FFFAD0"/>
    <a:srgbClr val="FFF8AE"/>
    <a:srgbClr val="FCB64C"/>
    <a:srgbClr val="FEC4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89" autoAdjust="0"/>
    <p:restoredTop sz="85966" autoAdjust="0"/>
  </p:normalViewPr>
  <p:slideViewPr>
    <p:cSldViewPr snapToGrid="0" showGuides="1">
      <p:cViewPr varScale="1">
        <p:scale>
          <a:sx n="98" d="100"/>
          <a:sy n="98" d="100"/>
        </p:scale>
        <p:origin x="208" y="896"/>
      </p:cViewPr>
      <p:guideLst>
        <p:guide orient="horz" pos="1030"/>
        <p:guide orient="horz" pos="4637"/>
        <p:guide orient="horz" pos="3859"/>
        <p:guide orient="horz" pos="5114"/>
        <p:guide orient="horz" pos="2160"/>
        <p:guide orient="horz" pos="2205"/>
        <p:guide orient="horz" pos="3325"/>
        <p:guide orient="horz" pos="200"/>
        <p:guide orient="horz" pos="3370"/>
        <p:guide orient="horz" pos="4574"/>
        <p:guide pos="1536"/>
        <p:guide pos="2808"/>
        <p:guide pos="4613"/>
        <p:guide pos="4030"/>
        <p:guide pos="7664"/>
        <p:guide pos="3979"/>
        <p:guide pos="2755"/>
        <p:guide pos="1579"/>
        <p:guide pos="7709"/>
        <p:guide pos="5211"/>
        <p:guide/>
        <p:guide pos="5256"/>
        <p:guide pos="6435"/>
        <p:guide pos="6485"/>
        <p:guide pos="8870"/>
        <p:guide pos="352"/>
        <p:guide pos="5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6" d="100"/>
          <a:sy n="126" d="100"/>
        </p:scale>
        <p:origin x="4544" y="20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99" Type="http://schemas.openxmlformats.org/officeDocument/2006/relationships/slide" Target="slides/slide294.xml"/><Relationship Id="rId21" Type="http://schemas.openxmlformats.org/officeDocument/2006/relationships/slide" Target="slides/slide16.xml"/><Relationship Id="rId63" Type="http://schemas.openxmlformats.org/officeDocument/2006/relationships/slide" Target="slides/slide58.xml"/><Relationship Id="rId159" Type="http://schemas.openxmlformats.org/officeDocument/2006/relationships/slide" Target="slides/slide154.xml"/><Relationship Id="rId324" Type="http://schemas.openxmlformats.org/officeDocument/2006/relationships/slide" Target="slides/slide319.xml"/><Relationship Id="rId170" Type="http://schemas.openxmlformats.org/officeDocument/2006/relationships/slide" Target="slides/slide165.xml"/><Relationship Id="rId226" Type="http://schemas.openxmlformats.org/officeDocument/2006/relationships/slide" Target="slides/slide221.xml"/><Relationship Id="rId268" Type="http://schemas.openxmlformats.org/officeDocument/2006/relationships/slide" Target="slides/slide263.xml"/><Relationship Id="rId32" Type="http://schemas.openxmlformats.org/officeDocument/2006/relationships/slide" Target="slides/slide27.xml"/><Relationship Id="rId74" Type="http://schemas.openxmlformats.org/officeDocument/2006/relationships/slide" Target="slides/slide69.xml"/><Relationship Id="rId128" Type="http://schemas.openxmlformats.org/officeDocument/2006/relationships/slide" Target="slides/slide123.xml"/><Relationship Id="rId335" Type="http://schemas.openxmlformats.org/officeDocument/2006/relationships/slide" Target="slides/slide330.xml"/><Relationship Id="rId5" Type="http://schemas.openxmlformats.org/officeDocument/2006/relationships/slideMaster" Target="slideMasters/slideMaster2.xml"/><Relationship Id="rId181" Type="http://schemas.openxmlformats.org/officeDocument/2006/relationships/slide" Target="slides/slide176.xml"/><Relationship Id="rId237" Type="http://schemas.openxmlformats.org/officeDocument/2006/relationships/slide" Target="slides/slide232.xml"/><Relationship Id="rId279" Type="http://schemas.openxmlformats.org/officeDocument/2006/relationships/slide" Target="slides/slide274.xml"/><Relationship Id="rId43" Type="http://schemas.openxmlformats.org/officeDocument/2006/relationships/slide" Target="slides/slide38.xml"/><Relationship Id="rId139" Type="http://schemas.openxmlformats.org/officeDocument/2006/relationships/slide" Target="slides/slide134.xml"/><Relationship Id="rId290" Type="http://schemas.openxmlformats.org/officeDocument/2006/relationships/slide" Target="slides/slide285.xml"/><Relationship Id="rId304" Type="http://schemas.openxmlformats.org/officeDocument/2006/relationships/slide" Target="slides/slide299.xml"/><Relationship Id="rId346" Type="http://schemas.openxmlformats.org/officeDocument/2006/relationships/slide" Target="slides/slide341.xml"/><Relationship Id="rId85" Type="http://schemas.openxmlformats.org/officeDocument/2006/relationships/slide" Target="slides/slide80.xml"/><Relationship Id="rId150" Type="http://schemas.openxmlformats.org/officeDocument/2006/relationships/slide" Target="slides/slide145.xml"/><Relationship Id="rId192" Type="http://schemas.openxmlformats.org/officeDocument/2006/relationships/slide" Target="slides/slide187.xml"/><Relationship Id="rId206" Type="http://schemas.openxmlformats.org/officeDocument/2006/relationships/slide" Target="slides/slide201.xml"/><Relationship Id="rId248" Type="http://schemas.openxmlformats.org/officeDocument/2006/relationships/slide" Target="slides/slide243.xml"/><Relationship Id="rId12" Type="http://schemas.openxmlformats.org/officeDocument/2006/relationships/slide" Target="slides/slide7.xml"/><Relationship Id="rId108" Type="http://schemas.openxmlformats.org/officeDocument/2006/relationships/slide" Target="slides/slide103.xml"/><Relationship Id="rId315" Type="http://schemas.openxmlformats.org/officeDocument/2006/relationships/slide" Target="slides/slide310.xml"/><Relationship Id="rId357" Type="http://schemas.openxmlformats.org/officeDocument/2006/relationships/notesMaster" Target="notesMasters/notesMaster1.xml"/><Relationship Id="rId54" Type="http://schemas.openxmlformats.org/officeDocument/2006/relationships/slide" Target="slides/slide49.xml"/><Relationship Id="rId96" Type="http://schemas.openxmlformats.org/officeDocument/2006/relationships/slide" Target="slides/slide91.xml"/><Relationship Id="rId161" Type="http://schemas.openxmlformats.org/officeDocument/2006/relationships/slide" Target="slides/slide156.xml"/><Relationship Id="rId217" Type="http://schemas.openxmlformats.org/officeDocument/2006/relationships/slide" Target="slides/slide212.xml"/><Relationship Id="rId259" Type="http://schemas.openxmlformats.org/officeDocument/2006/relationships/slide" Target="slides/slide254.xml"/><Relationship Id="rId23" Type="http://schemas.openxmlformats.org/officeDocument/2006/relationships/slide" Target="slides/slide18.xml"/><Relationship Id="rId119" Type="http://schemas.openxmlformats.org/officeDocument/2006/relationships/slide" Target="slides/slide114.xml"/><Relationship Id="rId270" Type="http://schemas.openxmlformats.org/officeDocument/2006/relationships/slide" Target="slides/slide265.xml"/><Relationship Id="rId326" Type="http://schemas.openxmlformats.org/officeDocument/2006/relationships/slide" Target="slides/slide321.xml"/><Relationship Id="rId65" Type="http://schemas.openxmlformats.org/officeDocument/2006/relationships/slide" Target="slides/slide60.xml"/><Relationship Id="rId130" Type="http://schemas.openxmlformats.org/officeDocument/2006/relationships/slide" Target="slides/slide125.xml"/><Relationship Id="rId172" Type="http://schemas.openxmlformats.org/officeDocument/2006/relationships/slide" Target="slides/slide167.xml"/><Relationship Id="rId228" Type="http://schemas.openxmlformats.org/officeDocument/2006/relationships/slide" Target="slides/slide223.xml"/><Relationship Id="rId281" Type="http://schemas.openxmlformats.org/officeDocument/2006/relationships/slide" Target="slides/slide276.xml"/><Relationship Id="rId337" Type="http://schemas.openxmlformats.org/officeDocument/2006/relationships/slide" Target="slides/slide332.xml"/><Relationship Id="rId34" Type="http://schemas.openxmlformats.org/officeDocument/2006/relationships/slide" Target="slides/slide29.xml"/><Relationship Id="rId76" Type="http://schemas.openxmlformats.org/officeDocument/2006/relationships/slide" Target="slides/slide71.xml"/><Relationship Id="rId141" Type="http://schemas.openxmlformats.org/officeDocument/2006/relationships/slide" Target="slides/slide136.xml"/><Relationship Id="rId7" Type="http://schemas.openxmlformats.org/officeDocument/2006/relationships/slide" Target="slides/slide2.xml"/><Relationship Id="rId183" Type="http://schemas.openxmlformats.org/officeDocument/2006/relationships/slide" Target="slides/slide178.xml"/><Relationship Id="rId239" Type="http://schemas.openxmlformats.org/officeDocument/2006/relationships/slide" Target="slides/slide234.xml"/><Relationship Id="rId250" Type="http://schemas.openxmlformats.org/officeDocument/2006/relationships/slide" Target="slides/slide245.xml"/><Relationship Id="rId292" Type="http://schemas.openxmlformats.org/officeDocument/2006/relationships/slide" Target="slides/slide287.xml"/><Relationship Id="rId306" Type="http://schemas.openxmlformats.org/officeDocument/2006/relationships/slide" Target="slides/slide301.xml"/><Relationship Id="rId45" Type="http://schemas.openxmlformats.org/officeDocument/2006/relationships/slide" Target="slides/slide40.xml"/><Relationship Id="rId87" Type="http://schemas.openxmlformats.org/officeDocument/2006/relationships/slide" Target="slides/slide82.xml"/><Relationship Id="rId110" Type="http://schemas.openxmlformats.org/officeDocument/2006/relationships/slide" Target="slides/slide105.xml"/><Relationship Id="rId348" Type="http://schemas.openxmlformats.org/officeDocument/2006/relationships/slide" Target="slides/slide343.xml"/><Relationship Id="rId152" Type="http://schemas.openxmlformats.org/officeDocument/2006/relationships/slide" Target="slides/slide147.xml"/><Relationship Id="rId194" Type="http://schemas.openxmlformats.org/officeDocument/2006/relationships/slide" Target="slides/slide189.xml"/><Relationship Id="rId208" Type="http://schemas.openxmlformats.org/officeDocument/2006/relationships/slide" Target="slides/slide203.xml"/><Relationship Id="rId261" Type="http://schemas.openxmlformats.org/officeDocument/2006/relationships/slide" Target="slides/slide256.xml"/><Relationship Id="rId14" Type="http://schemas.openxmlformats.org/officeDocument/2006/relationships/slide" Target="slides/slide9.xml"/><Relationship Id="rId56" Type="http://schemas.openxmlformats.org/officeDocument/2006/relationships/slide" Target="slides/slide51.xml"/><Relationship Id="rId317" Type="http://schemas.openxmlformats.org/officeDocument/2006/relationships/slide" Target="slides/slide312.xml"/><Relationship Id="rId359" Type="http://schemas.openxmlformats.org/officeDocument/2006/relationships/commentAuthors" Target="commentAuthors.xml"/><Relationship Id="rId98" Type="http://schemas.openxmlformats.org/officeDocument/2006/relationships/slide" Target="slides/slide93.xml"/><Relationship Id="rId121" Type="http://schemas.openxmlformats.org/officeDocument/2006/relationships/slide" Target="slides/slide116.xml"/><Relationship Id="rId163" Type="http://schemas.openxmlformats.org/officeDocument/2006/relationships/slide" Target="slides/slide158.xml"/><Relationship Id="rId219" Type="http://schemas.openxmlformats.org/officeDocument/2006/relationships/slide" Target="slides/slide214.xml"/><Relationship Id="rId230" Type="http://schemas.openxmlformats.org/officeDocument/2006/relationships/slide" Target="slides/slide225.xml"/><Relationship Id="rId25" Type="http://schemas.openxmlformats.org/officeDocument/2006/relationships/slide" Target="slides/slide20.xml"/><Relationship Id="rId67" Type="http://schemas.openxmlformats.org/officeDocument/2006/relationships/slide" Target="slides/slide62.xml"/><Relationship Id="rId272" Type="http://schemas.openxmlformats.org/officeDocument/2006/relationships/slide" Target="slides/slide267.xml"/><Relationship Id="rId328" Type="http://schemas.openxmlformats.org/officeDocument/2006/relationships/slide" Target="slides/slide323.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95" Type="http://schemas.openxmlformats.org/officeDocument/2006/relationships/slide" Target="slides/slide190.xml"/><Relationship Id="rId209" Type="http://schemas.openxmlformats.org/officeDocument/2006/relationships/slide" Target="slides/slide204.xml"/><Relationship Id="rId360" Type="http://schemas.openxmlformats.org/officeDocument/2006/relationships/presProps" Target="presProps.xml"/><Relationship Id="rId220" Type="http://schemas.openxmlformats.org/officeDocument/2006/relationships/slide" Target="slides/slide215.xml"/><Relationship Id="rId241" Type="http://schemas.openxmlformats.org/officeDocument/2006/relationships/slide" Target="slides/slide23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262" Type="http://schemas.openxmlformats.org/officeDocument/2006/relationships/slide" Target="slides/slide257.xml"/><Relationship Id="rId283" Type="http://schemas.openxmlformats.org/officeDocument/2006/relationships/slide" Target="slides/slide278.xml"/><Relationship Id="rId318" Type="http://schemas.openxmlformats.org/officeDocument/2006/relationships/slide" Target="slides/slide313.xml"/><Relationship Id="rId339" Type="http://schemas.openxmlformats.org/officeDocument/2006/relationships/slide" Target="slides/slide334.xml"/><Relationship Id="rId78" Type="http://schemas.openxmlformats.org/officeDocument/2006/relationships/slide" Target="slides/slide73.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64" Type="http://schemas.openxmlformats.org/officeDocument/2006/relationships/slide" Target="slides/slide159.xml"/><Relationship Id="rId185" Type="http://schemas.openxmlformats.org/officeDocument/2006/relationships/slide" Target="slides/slide180.xml"/><Relationship Id="rId350" Type="http://schemas.openxmlformats.org/officeDocument/2006/relationships/slide" Target="slides/slide345.xml"/><Relationship Id="rId9" Type="http://schemas.openxmlformats.org/officeDocument/2006/relationships/slide" Target="slides/slide4.xml"/><Relationship Id="rId210" Type="http://schemas.openxmlformats.org/officeDocument/2006/relationships/slide" Target="slides/slide205.xml"/><Relationship Id="rId26" Type="http://schemas.openxmlformats.org/officeDocument/2006/relationships/slide" Target="slides/slide21.xml"/><Relationship Id="rId231" Type="http://schemas.openxmlformats.org/officeDocument/2006/relationships/slide" Target="slides/slide226.xml"/><Relationship Id="rId252" Type="http://schemas.openxmlformats.org/officeDocument/2006/relationships/slide" Target="slides/slide247.xml"/><Relationship Id="rId273" Type="http://schemas.openxmlformats.org/officeDocument/2006/relationships/slide" Target="slides/slide268.xml"/><Relationship Id="rId294" Type="http://schemas.openxmlformats.org/officeDocument/2006/relationships/slide" Target="slides/slide289.xml"/><Relationship Id="rId308" Type="http://schemas.openxmlformats.org/officeDocument/2006/relationships/slide" Target="slides/slide303.xml"/><Relationship Id="rId329" Type="http://schemas.openxmlformats.org/officeDocument/2006/relationships/slide" Target="slides/slide324.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340" Type="http://schemas.openxmlformats.org/officeDocument/2006/relationships/slide" Target="slides/slide335.xml"/><Relationship Id="rId361" Type="http://schemas.openxmlformats.org/officeDocument/2006/relationships/viewProps" Target="viewProps.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221" Type="http://schemas.openxmlformats.org/officeDocument/2006/relationships/slide" Target="slides/slide216.xml"/><Relationship Id="rId242" Type="http://schemas.openxmlformats.org/officeDocument/2006/relationships/slide" Target="slides/slide237.xml"/><Relationship Id="rId263" Type="http://schemas.openxmlformats.org/officeDocument/2006/relationships/slide" Target="slides/slide258.xml"/><Relationship Id="rId284" Type="http://schemas.openxmlformats.org/officeDocument/2006/relationships/slide" Target="slides/slide279.xml"/><Relationship Id="rId319" Type="http://schemas.openxmlformats.org/officeDocument/2006/relationships/slide" Target="slides/slide314.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330" Type="http://schemas.openxmlformats.org/officeDocument/2006/relationships/slide" Target="slides/slide325.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351" Type="http://schemas.openxmlformats.org/officeDocument/2006/relationships/slide" Target="slides/slide346.xml"/><Relationship Id="rId211" Type="http://schemas.openxmlformats.org/officeDocument/2006/relationships/slide" Target="slides/slide206.xml"/><Relationship Id="rId232" Type="http://schemas.openxmlformats.org/officeDocument/2006/relationships/slide" Target="slides/slide227.xml"/><Relationship Id="rId253" Type="http://schemas.openxmlformats.org/officeDocument/2006/relationships/slide" Target="slides/slide248.xml"/><Relationship Id="rId274" Type="http://schemas.openxmlformats.org/officeDocument/2006/relationships/slide" Target="slides/slide269.xml"/><Relationship Id="rId295" Type="http://schemas.openxmlformats.org/officeDocument/2006/relationships/slide" Target="slides/slide290.xml"/><Relationship Id="rId309" Type="http://schemas.openxmlformats.org/officeDocument/2006/relationships/slide" Target="slides/slide304.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320" Type="http://schemas.openxmlformats.org/officeDocument/2006/relationships/slide" Target="slides/slide315.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341" Type="http://schemas.openxmlformats.org/officeDocument/2006/relationships/slide" Target="slides/slide336.xml"/><Relationship Id="rId362" Type="http://schemas.openxmlformats.org/officeDocument/2006/relationships/theme" Target="theme/theme1.xml"/><Relationship Id="rId201" Type="http://schemas.openxmlformats.org/officeDocument/2006/relationships/slide" Target="slides/slide196.xml"/><Relationship Id="rId222" Type="http://schemas.openxmlformats.org/officeDocument/2006/relationships/slide" Target="slides/slide217.xml"/><Relationship Id="rId243" Type="http://schemas.openxmlformats.org/officeDocument/2006/relationships/slide" Target="slides/slide238.xml"/><Relationship Id="rId264" Type="http://schemas.openxmlformats.org/officeDocument/2006/relationships/slide" Target="slides/slide259.xml"/><Relationship Id="rId285" Type="http://schemas.openxmlformats.org/officeDocument/2006/relationships/slide" Target="slides/slide280.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310" Type="http://schemas.openxmlformats.org/officeDocument/2006/relationships/slide" Target="slides/slide305.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331" Type="http://schemas.openxmlformats.org/officeDocument/2006/relationships/slide" Target="slides/slide326.xml"/><Relationship Id="rId352" Type="http://schemas.openxmlformats.org/officeDocument/2006/relationships/slide" Target="slides/slide347.xml"/><Relationship Id="rId1" Type="http://schemas.openxmlformats.org/officeDocument/2006/relationships/customXml" Target="../customXml/item1.xml"/><Relationship Id="rId212" Type="http://schemas.openxmlformats.org/officeDocument/2006/relationships/slide" Target="slides/slide207.xml"/><Relationship Id="rId233" Type="http://schemas.openxmlformats.org/officeDocument/2006/relationships/slide" Target="slides/slide228.xml"/><Relationship Id="rId254" Type="http://schemas.openxmlformats.org/officeDocument/2006/relationships/slide" Target="slides/slide249.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275" Type="http://schemas.openxmlformats.org/officeDocument/2006/relationships/slide" Target="slides/slide270.xml"/><Relationship Id="rId296" Type="http://schemas.openxmlformats.org/officeDocument/2006/relationships/slide" Target="slides/slide291.xml"/><Relationship Id="rId300" Type="http://schemas.openxmlformats.org/officeDocument/2006/relationships/slide" Target="slides/slide295.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321" Type="http://schemas.openxmlformats.org/officeDocument/2006/relationships/slide" Target="slides/slide316.xml"/><Relationship Id="rId342" Type="http://schemas.openxmlformats.org/officeDocument/2006/relationships/slide" Target="slides/slide337.xml"/><Relationship Id="rId363" Type="http://schemas.openxmlformats.org/officeDocument/2006/relationships/tableStyles" Target="tableStyles.xml"/><Relationship Id="rId202" Type="http://schemas.openxmlformats.org/officeDocument/2006/relationships/slide" Target="slides/slide197.xml"/><Relationship Id="rId223" Type="http://schemas.openxmlformats.org/officeDocument/2006/relationships/slide" Target="slides/slide218.xml"/><Relationship Id="rId244" Type="http://schemas.openxmlformats.org/officeDocument/2006/relationships/slide" Target="slides/slide239.xml"/><Relationship Id="rId18" Type="http://schemas.openxmlformats.org/officeDocument/2006/relationships/slide" Target="slides/slide13.xml"/><Relationship Id="rId39" Type="http://schemas.openxmlformats.org/officeDocument/2006/relationships/slide" Target="slides/slide34.xml"/><Relationship Id="rId265" Type="http://schemas.openxmlformats.org/officeDocument/2006/relationships/slide" Target="slides/slide260.xml"/><Relationship Id="rId286" Type="http://schemas.openxmlformats.org/officeDocument/2006/relationships/slide" Target="slides/slide281.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311" Type="http://schemas.openxmlformats.org/officeDocument/2006/relationships/slide" Target="slides/slide306.xml"/><Relationship Id="rId332" Type="http://schemas.openxmlformats.org/officeDocument/2006/relationships/slide" Target="slides/slide327.xml"/><Relationship Id="rId353" Type="http://schemas.openxmlformats.org/officeDocument/2006/relationships/slide" Target="slides/slide348.xml"/><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34" Type="http://schemas.openxmlformats.org/officeDocument/2006/relationships/slide" Target="slides/slide229.xml"/><Relationship Id="rId2" Type="http://schemas.openxmlformats.org/officeDocument/2006/relationships/customXml" Target="../customXml/item2.xml"/><Relationship Id="rId29" Type="http://schemas.openxmlformats.org/officeDocument/2006/relationships/slide" Target="slides/slide24.xml"/><Relationship Id="rId255" Type="http://schemas.openxmlformats.org/officeDocument/2006/relationships/slide" Target="slides/slide250.xml"/><Relationship Id="rId276" Type="http://schemas.openxmlformats.org/officeDocument/2006/relationships/slide" Target="slides/slide271.xml"/><Relationship Id="rId297" Type="http://schemas.openxmlformats.org/officeDocument/2006/relationships/slide" Target="slides/slide292.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301" Type="http://schemas.openxmlformats.org/officeDocument/2006/relationships/slide" Target="slides/slide296.xml"/><Relationship Id="rId322" Type="http://schemas.openxmlformats.org/officeDocument/2006/relationships/slide" Target="slides/slide317.xml"/><Relationship Id="rId343" Type="http://schemas.openxmlformats.org/officeDocument/2006/relationships/slide" Target="slides/slide338.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 Id="rId224" Type="http://schemas.openxmlformats.org/officeDocument/2006/relationships/slide" Target="slides/slide219.xml"/><Relationship Id="rId245" Type="http://schemas.openxmlformats.org/officeDocument/2006/relationships/slide" Target="slides/slide240.xml"/><Relationship Id="rId266" Type="http://schemas.openxmlformats.org/officeDocument/2006/relationships/slide" Target="slides/slide261.xml"/><Relationship Id="rId287" Type="http://schemas.openxmlformats.org/officeDocument/2006/relationships/slide" Target="slides/slide282.xml"/><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312" Type="http://schemas.openxmlformats.org/officeDocument/2006/relationships/slide" Target="slides/slide307.xml"/><Relationship Id="rId333" Type="http://schemas.openxmlformats.org/officeDocument/2006/relationships/slide" Target="slides/slide328.xml"/><Relationship Id="rId354" Type="http://schemas.openxmlformats.org/officeDocument/2006/relationships/slide" Target="slides/slide349.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 Type="http://schemas.openxmlformats.org/officeDocument/2006/relationships/customXml" Target="../customXml/item3.xml"/><Relationship Id="rId214" Type="http://schemas.openxmlformats.org/officeDocument/2006/relationships/slide" Target="slides/slide209.xml"/><Relationship Id="rId235" Type="http://schemas.openxmlformats.org/officeDocument/2006/relationships/slide" Target="slides/slide230.xml"/><Relationship Id="rId256" Type="http://schemas.openxmlformats.org/officeDocument/2006/relationships/slide" Target="slides/slide251.xml"/><Relationship Id="rId277" Type="http://schemas.openxmlformats.org/officeDocument/2006/relationships/slide" Target="slides/slide272.xml"/><Relationship Id="rId298" Type="http://schemas.openxmlformats.org/officeDocument/2006/relationships/slide" Target="slides/slide293.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302" Type="http://schemas.openxmlformats.org/officeDocument/2006/relationships/slide" Target="slides/slide297.xml"/><Relationship Id="rId323" Type="http://schemas.openxmlformats.org/officeDocument/2006/relationships/slide" Target="slides/slide318.xml"/><Relationship Id="rId344" Type="http://schemas.openxmlformats.org/officeDocument/2006/relationships/slide" Target="slides/slide339.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179" Type="http://schemas.openxmlformats.org/officeDocument/2006/relationships/slide" Target="slides/slide174.xml"/><Relationship Id="rId190" Type="http://schemas.openxmlformats.org/officeDocument/2006/relationships/slide" Target="slides/slide185.xml"/><Relationship Id="rId204" Type="http://schemas.openxmlformats.org/officeDocument/2006/relationships/slide" Target="slides/slide199.xml"/><Relationship Id="rId225" Type="http://schemas.openxmlformats.org/officeDocument/2006/relationships/slide" Target="slides/slide220.xml"/><Relationship Id="rId246" Type="http://schemas.openxmlformats.org/officeDocument/2006/relationships/slide" Target="slides/slide241.xml"/><Relationship Id="rId267" Type="http://schemas.openxmlformats.org/officeDocument/2006/relationships/slide" Target="slides/slide262.xml"/><Relationship Id="rId288" Type="http://schemas.openxmlformats.org/officeDocument/2006/relationships/slide" Target="slides/slide283.xml"/><Relationship Id="rId106" Type="http://schemas.openxmlformats.org/officeDocument/2006/relationships/slide" Target="slides/slide101.xml"/><Relationship Id="rId127" Type="http://schemas.openxmlformats.org/officeDocument/2006/relationships/slide" Target="slides/slide122.xml"/><Relationship Id="rId313" Type="http://schemas.openxmlformats.org/officeDocument/2006/relationships/slide" Target="slides/slide308.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94" Type="http://schemas.openxmlformats.org/officeDocument/2006/relationships/slide" Target="slides/slide89.xml"/><Relationship Id="rId148" Type="http://schemas.openxmlformats.org/officeDocument/2006/relationships/slide" Target="slides/slide143.xml"/><Relationship Id="rId169" Type="http://schemas.openxmlformats.org/officeDocument/2006/relationships/slide" Target="slides/slide164.xml"/><Relationship Id="rId334" Type="http://schemas.openxmlformats.org/officeDocument/2006/relationships/slide" Target="slides/slide329.xml"/><Relationship Id="rId355" Type="http://schemas.openxmlformats.org/officeDocument/2006/relationships/slide" Target="slides/slide350.xml"/><Relationship Id="rId4" Type="http://schemas.openxmlformats.org/officeDocument/2006/relationships/slideMaster" Target="slideMasters/slideMaster1.xml"/><Relationship Id="rId180" Type="http://schemas.openxmlformats.org/officeDocument/2006/relationships/slide" Target="slides/slide175.xml"/><Relationship Id="rId215" Type="http://schemas.openxmlformats.org/officeDocument/2006/relationships/slide" Target="slides/slide210.xml"/><Relationship Id="rId236" Type="http://schemas.openxmlformats.org/officeDocument/2006/relationships/slide" Target="slides/slide231.xml"/><Relationship Id="rId257" Type="http://schemas.openxmlformats.org/officeDocument/2006/relationships/slide" Target="slides/slide252.xml"/><Relationship Id="rId278" Type="http://schemas.openxmlformats.org/officeDocument/2006/relationships/slide" Target="slides/slide273.xml"/><Relationship Id="rId303" Type="http://schemas.openxmlformats.org/officeDocument/2006/relationships/slide" Target="slides/slide298.xml"/><Relationship Id="rId42" Type="http://schemas.openxmlformats.org/officeDocument/2006/relationships/slide" Target="slides/slide37.xml"/><Relationship Id="rId84" Type="http://schemas.openxmlformats.org/officeDocument/2006/relationships/slide" Target="slides/slide79.xml"/><Relationship Id="rId138" Type="http://schemas.openxmlformats.org/officeDocument/2006/relationships/slide" Target="slides/slide133.xml"/><Relationship Id="rId345" Type="http://schemas.openxmlformats.org/officeDocument/2006/relationships/slide" Target="slides/slide340.xml"/><Relationship Id="rId191" Type="http://schemas.openxmlformats.org/officeDocument/2006/relationships/slide" Target="slides/slide186.xml"/><Relationship Id="rId205" Type="http://schemas.openxmlformats.org/officeDocument/2006/relationships/slide" Target="slides/slide200.xml"/><Relationship Id="rId247" Type="http://schemas.openxmlformats.org/officeDocument/2006/relationships/slide" Target="slides/slide242.xml"/><Relationship Id="rId107" Type="http://schemas.openxmlformats.org/officeDocument/2006/relationships/slide" Target="slides/slide102.xml"/><Relationship Id="rId289" Type="http://schemas.openxmlformats.org/officeDocument/2006/relationships/slide" Target="slides/slide284.xml"/><Relationship Id="rId11" Type="http://schemas.openxmlformats.org/officeDocument/2006/relationships/slide" Target="slides/slide6.xml"/><Relationship Id="rId53" Type="http://schemas.openxmlformats.org/officeDocument/2006/relationships/slide" Target="slides/slide48.xml"/><Relationship Id="rId149" Type="http://schemas.openxmlformats.org/officeDocument/2006/relationships/slide" Target="slides/slide144.xml"/><Relationship Id="rId314" Type="http://schemas.openxmlformats.org/officeDocument/2006/relationships/slide" Target="slides/slide309.xml"/><Relationship Id="rId356" Type="http://schemas.openxmlformats.org/officeDocument/2006/relationships/slide" Target="slides/slide351.xml"/><Relationship Id="rId95" Type="http://schemas.openxmlformats.org/officeDocument/2006/relationships/slide" Target="slides/slide90.xml"/><Relationship Id="rId160" Type="http://schemas.openxmlformats.org/officeDocument/2006/relationships/slide" Target="slides/slide155.xml"/><Relationship Id="rId216" Type="http://schemas.openxmlformats.org/officeDocument/2006/relationships/slide" Target="slides/slide211.xml"/><Relationship Id="rId258" Type="http://schemas.openxmlformats.org/officeDocument/2006/relationships/slide" Target="slides/slide253.xml"/><Relationship Id="rId22" Type="http://schemas.openxmlformats.org/officeDocument/2006/relationships/slide" Target="slides/slide17.xml"/><Relationship Id="rId64" Type="http://schemas.openxmlformats.org/officeDocument/2006/relationships/slide" Target="slides/slide59.xml"/><Relationship Id="rId118" Type="http://schemas.openxmlformats.org/officeDocument/2006/relationships/slide" Target="slides/slide113.xml"/><Relationship Id="rId325" Type="http://schemas.openxmlformats.org/officeDocument/2006/relationships/slide" Target="slides/slide320.xml"/><Relationship Id="rId171" Type="http://schemas.openxmlformats.org/officeDocument/2006/relationships/slide" Target="slides/slide166.xml"/><Relationship Id="rId227" Type="http://schemas.openxmlformats.org/officeDocument/2006/relationships/slide" Target="slides/slide222.xml"/><Relationship Id="rId269" Type="http://schemas.openxmlformats.org/officeDocument/2006/relationships/slide" Target="slides/slide264.xml"/><Relationship Id="rId33" Type="http://schemas.openxmlformats.org/officeDocument/2006/relationships/slide" Target="slides/slide28.xml"/><Relationship Id="rId129" Type="http://schemas.openxmlformats.org/officeDocument/2006/relationships/slide" Target="slides/slide124.xml"/><Relationship Id="rId280" Type="http://schemas.openxmlformats.org/officeDocument/2006/relationships/slide" Target="slides/slide275.xml"/><Relationship Id="rId336" Type="http://schemas.openxmlformats.org/officeDocument/2006/relationships/slide" Target="slides/slide331.xml"/><Relationship Id="rId75" Type="http://schemas.openxmlformats.org/officeDocument/2006/relationships/slide" Target="slides/slide70.xml"/><Relationship Id="rId140" Type="http://schemas.openxmlformats.org/officeDocument/2006/relationships/slide" Target="slides/slide135.xml"/><Relationship Id="rId182" Type="http://schemas.openxmlformats.org/officeDocument/2006/relationships/slide" Target="slides/slide177.xml"/><Relationship Id="rId6" Type="http://schemas.openxmlformats.org/officeDocument/2006/relationships/slide" Target="slides/slide1.xml"/><Relationship Id="rId238" Type="http://schemas.openxmlformats.org/officeDocument/2006/relationships/slide" Target="slides/slide233.xml"/><Relationship Id="rId291" Type="http://schemas.openxmlformats.org/officeDocument/2006/relationships/slide" Target="slides/slide286.xml"/><Relationship Id="rId305" Type="http://schemas.openxmlformats.org/officeDocument/2006/relationships/slide" Target="slides/slide300.xml"/><Relationship Id="rId347" Type="http://schemas.openxmlformats.org/officeDocument/2006/relationships/slide" Target="slides/slide342.xml"/><Relationship Id="rId44" Type="http://schemas.openxmlformats.org/officeDocument/2006/relationships/slide" Target="slides/slide39.xml"/><Relationship Id="rId86" Type="http://schemas.openxmlformats.org/officeDocument/2006/relationships/slide" Target="slides/slide81.xml"/><Relationship Id="rId151" Type="http://schemas.openxmlformats.org/officeDocument/2006/relationships/slide" Target="slides/slide146.xml"/><Relationship Id="rId193" Type="http://schemas.openxmlformats.org/officeDocument/2006/relationships/slide" Target="slides/slide188.xml"/><Relationship Id="rId207" Type="http://schemas.openxmlformats.org/officeDocument/2006/relationships/slide" Target="slides/slide202.xml"/><Relationship Id="rId249" Type="http://schemas.openxmlformats.org/officeDocument/2006/relationships/slide" Target="slides/slide244.xml"/><Relationship Id="rId13" Type="http://schemas.openxmlformats.org/officeDocument/2006/relationships/slide" Target="slides/slide8.xml"/><Relationship Id="rId109" Type="http://schemas.openxmlformats.org/officeDocument/2006/relationships/slide" Target="slides/slide104.xml"/><Relationship Id="rId260" Type="http://schemas.openxmlformats.org/officeDocument/2006/relationships/slide" Target="slides/slide255.xml"/><Relationship Id="rId316" Type="http://schemas.openxmlformats.org/officeDocument/2006/relationships/slide" Target="slides/slide311.xml"/><Relationship Id="rId55" Type="http://schemas.openxmlformats.org/officeDocument/2006/relationships/slide" Target="slides/slide50.xml"/><Relationship Id="rId97" Type="http://schemas.openxmlformats.org/officeDocument/2006/relationships/slide" Target="slides/slide92.xml"/><Relationship Id="rId120" Type="http://schemas.openxmlformats.org/officeDocument/2006/relationships/slide" Target="slides/slide115.xml"/><Relationship Id="rId358" Type="http://schemas.openxmlformats.org/officeDocument/2006/relationships/handoutMaster" Target="handoutMasters/handoutMaster1.xml"/><Relationship Id="rId162" Type="http://schemas.openxmlformats.org/officeDocument/2006/relationships/slide" Target="slides/slide157.xml"/><Relationship Id="rId218" Type="http://schemas.openxmlformats.org/officeDocument/2006/relationships/slide" Target="slides/slide213.xml"/><Relationship Id="rId271" Type="http://schemas.openxmlformats.org/officeDocument/2006/relationships/slide" Target="slides/slide266.xml"/><Relationship Id="rId24" Type="http://schemas.openxmlformats.org/officeDocument/2006/relationships/slide" Target="slides/slide19.xml"/><Relationship Id="rId66" Type="http://schemas.openxmlformats.org/officeDocument/2006/relationships/slide" Target="slides/slide61.xml"/><Relationship Id="rId131" Type="http://schemas.openxmlformats.org/officeDocument/2006/relationships/slide" Target="slides/slide126.xml"/><Relationship Id="rId327" Type="http://schemas.openxmlformats.org/officeDocument/2006/relationships/slide" Target="slides/slide322.xml"/><Relationship Id="rId173" Type="http://schemas.openxmlformats.org/officeDocument/2006/relationships/slide" Target="slides/slide168.xml"/><Relationship Id="rId229" Type="http://schemas.openxmlformats.org/officeDocument/2006/relationships/slide" Target="slides/slide224.xml"/><Relationship Id="rId240" Type="http://schemas.openxmlformats.org/officeDocument/2006/relationships/slide" Target="slides/slide235.xml"/><Relationship Id="rId35" Type="http://schemas.openxmlformats.org/officeDocument/2006/relationships/slide" Target="slides/slide30.xml"/><Relationship Id="rId77" Type="http://schemas.openxmlformats.org/officeDocument/2006/relationships/slide" Target="slides/slide72.xml"/><Relationship Id="rId100" Type="http://schemas.openxmlformats.org/officeDocument/2006/relationships/slide" Target="slides/slide95.xml"/><Relationship Id="rId282" Type="http://schemas.openxmlformats.org/officeDocument/2006/relationships/slide" Target="slides/slide277.xml"/><Relationship Id="rId338" Type="http://schemas.openxmlformats.org/officeDocument/2006/relationships/slide" Target="slides/slide333.xml"/><Relationship Id="rId8" Type="http://schemas.openxmlformats.org/officeDocument/2006/relationships/slide" Target="slides/slide3.xml"/><Relationship Id="rId142" Type="http://schemas.openxmlformats.org/officeDocument/2006/relationships/slide" Target="slides/slide137.xml"/><Relationship Id="rId184" Type="http://schemas.openxmlformats.org/officeDocument/2006/relationships/slide" Target="slides/slide179.xml"/><Relationship Id="rId251" Type="http://schemas.openxmlformats.org/officeDocument/2006/relationships/slide" Target="slides/slide246.xml"/><Relationship Id="rId46" Type="http://schemas.openxmlformats.org/officeDocument/2006/relationships/slide" Target="slides/slide41.xml"/><Relationship Id="rId293" Type="http://schemas.openxmlformats.org/officeDocument/2006/relationships/slide" Target="slides/slide288.xml"/><Relationship Id="rId307" Type="http://schemas.openxmlformats.org/officeDocument/2006/relationships/slide" Target="slides/slide302.xml"/><Relationship Id="rId349" Type="http://schemas.openxmlformats.org/officeDocument/2006/relationships/slide" Target="slides/slide3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EAAF34-71F8-6342-832E-C583FEB3F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700CEA-93F0-3648-8636-3ECA00800B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887149-AF03-6142-908A-3DD284EAF54B}" type="datetimeFigureOut">
              <a:rPr lang="en-US" smtClean="0"/>
              <a:t>3/23/21</a:t>
            </a:fld>
            <a:endParaRPr lang="en-US"/>
          </a:p>
        </p:txBody>
      </p:sp>
      <p:sp>
        <p:nvSpPr>
          <p:cNvPr id="4" name="Footer Placeholder 3">
            <a:extLst>
              <a:ext uri="{FF2B5EF4-FFF2-40B4-BE49-F238E27FC236}">
                <a16:creationId xmlns:a16="http://schemas.microsoft.com/office/drawing/2014/main" id="{15D72482-B212-B34F-AAFC-10B8C8EF77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0B9C6E-4611-5A44-8B47-37FCE89DEB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1AC043-34FA-4C46-BDAD-AE3E2DBAD1A4}" type="slidenum">
              <a:rPr lang="en-US" smtClean="0"/>
              <a:t>‹#›</a:t>
            </a:fld>
            <a:endParaRPr lang="en-US"/>
          </a:p>
        </p:txBody>
      </p:sp>
    </p:spTree>
    <p:extLst>
      <p:ext uri="{BB962C8B-B14F-4D97-AF65-F5344CB8AC3E}">
        <p14:creationId xmlns:p14="http://schemas.microsoft.com/office/powerpoint/2010/main" val="2463646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mazon Ember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mazon Ember Regular" charset="0"/>
              </a:defRPr>
            </a:lvl1pPr>
          </a:lstStyle>
          <a:p>
            <a:fld id="{0B25AC41-3BEC-9247-8322-91B80C013F2D}" type="datetimeFigureOut">
              <a:rPr lang="en-US" smtClean="0"/>
              <a:pPr/>
              <a:t>3/23/21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mazon Ember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mazon Ember Regular" charset="0"/>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731520" rtl="0" eaLnBrk="1" latinLnBrk="0" hangingPunct="1">
      <a:defRPr sz="1920" b="0" i="0" kern="1200">
        <a:solidFill>
          <a:schemeClr val="tx1"/>
        </a:solidFill>
        <a:latin typeface="Amazon Ember Regular" charset="0"/>
        <a:ea typeface="+mn-ea"/>
        <a:cs typeface="+mn-cs"/>
      </a:defRPr>
    </a:lvl1pPr>
    <a:lvl2pPr marL="731520" algn="l" defTabSz="731520" rtl="0" eaLnBrk="1" latinLnBrk="0" hangingPunct="1">
      <a:defRPr sz="1920" b="0" i="0" kern="1200">
        <a:solidFill>
          <a:schemeClr val="tx1"/>
        </a:solidFill>
        <a:latin typeface="Amazon Ember Regular" charset="0"/>
        <a:ea typeface="+mn-ea"/>
        <a:cs typeface="+mn-cs"/>
      </a:defRPr>
    </a:lvl2pPr>
    <a:lvl3pPr marL="1463040" algn="l" defTabSz="731520" rtl="0" eaLnBrk="1" latinLnBrk="0" hangingPunct="1">
      <a:defRPr sz="1920" b="0" i="0" kern="1200">
        <a:solidFill>
          <a:schemeClr val="tx1"/>
        </a:solidFill>
        <a:latin typeface="Amazon Ember Regular" charset="0"/>
        <a:ea typeface="+mn-ea"/>
        <a:cs typeface="+mn-cs"/>
      </a:defRPr>
    </a:lvl3pPr>
    <a:lvl4pPr marL="2194560" algn="l" defTabSz="731520" rtl="0" eaLnBrk="1" latinLnBrk="0" hangingPunct="1">
      <a:defRPr sz="1920" b="0" i="0" kern="1200">
        <a:solidFill>
          <a:schemeClr val="tx1"/>
        </a:solidFill>
        <a:latin typeface="Amazon Ember Regular" charset="0"/>
        <a:ea typeface="+mn-ea"/>
        <a:cs typeface="+mn-cs"/>
      </a:defRPr>
    </a:lvl4pPr>
    <a:lvl5pPr marL="2926080" algn="l" defTabSz="731520" rtl="0" eaLnBrk="1" latinLnBrk="0" hangingPunct="1">
      <a:defRPr sz="1920" b="0" i="0" kern="1200">
        <a:solidFill>
          <a:schemeClr val="tx1"/>
        </a:solidFill>
        <a:latin typeface="Amazon Ember Regular" charset="0"/>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Had my first vacation last week where I totally checked out from work</a:t>
            </a:r>
          </a:p>
          <a:p>
            <a:r>
              <a:rPr lang="en-US" dirty="0"/>
              <a:t>Turns out driving an RV around Texas for four hours a day and being cramped up with your family for 5 days will take your mind right off of work</a:t>
            </a:r>
          </a:p>
          <a:p>
            <a:r>
              <a:rPr lang="en-US" dirty="0"/>
              <a:t>Came back to find out I was taking over this from Don!</a:t>
            </a:r>
          </a:p>
        </p:txBody>
      </p:sp>
      <p:sp>
        <p:nvSpPr>
          <p:cNvPr id="4" name="Slide Number Placeholder 3"/>
          <p:cNvSpPr>
            <a:spLocks noGrp="1"/>
          </p:cNvSpPr>
          <p:nvPr>
            <p:ph type="sldNum" sz="quarter" idx="5"/>
          </p:nvPr>
        </p:nvSpPr>
        <p:spPr/>
        <p:txBody>
          <a:bodyPr/>
          <a:lstStyle/>
          <a:p>
            <a:fld id="{69C3F2ED-74C5-7D4F-8560-0CC253E9A436}" type="slidenum">
              <a:rPr lang="en-US" smtClean="0"/>
              <a:pPr/>
              <a:t>1</a:t>
            </a:fld>
            <a:endParaRPr lang="en-US" dirty="0"/>
          </a:p>
        </p:txBody>
      </p:sp>
    </p:spTree>
    <p:extLst>
      <p:ext uri="{BB962C8B-B14F-4D97-AF65-F5344CB8AC3E}">
        <p14:creationId xmlns:p14="http://schemas.microsoft.com/office/powerpoint/2010/main" val="773293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2200" dirty="0">
                <a:effectLst/>
                <a:latin typeface="Helvetica Neue"/>
                <a:ea typeface="Helvetica Neue"/>
                <a:cs typeface="Helvetica Neue"/>
                <a:sym typeface="Helvetica Neue"/>
              </a:rPr>
              <a:t>Insert next o Jeremy </a:t>
            </a:r>
            <a:r>
              <a:rPr lang="en-US" sz="2200" dirty="0" err="1">
                <a:effectLst/>
                <a:latin typeface="Helvetica Neue"/>
                <a:ea typeface="Helvetica Neue"/>
                <a:cs typeface="Helvetica Neue"/>
                <a:sym typeface="Helvetica Neue"/>
              </a:rPr>
              <a:t>Thalen</a:t>
            </a:r>
            <a:r>
              <a:rPr lang="en-US" sz="2200" baseline="0" dirty="0">
                <a:effectLst/>
                <a:latin typeface="Helvetica Neue"/>
                <a:ea typeface="Helvetica Neue"/>
                <a:cs typeface="Helvetica Neue"/>
                <a:sym typeface="Helvetica Neue"/>
              </a:rPr>
              <a:t> Masada – Custom Billing Analyst</a:t>
            </a:r>
            <a:endParaRPr lang="en-US" sz="2200" dirty="0">
              <a:effectLst/>
              <a:latin typeface="Helvetica Neue"/>
              <a:ea typeface="Helvetica Neue"/>
              <a:cs typeface="Helvetica Neue"/>
              <a:sym typeface="Helvetica Neue"/>
            </a:endParaRPr>
          </a:p>
          <a:p>
            <a:pPr marL="0" marR="0" lvl="0" indent="0" defTabSz="457200" eaLnBrk="1" fontAlgn="auto" latinLnBrk="0" hangingPunct="1">
              <a:lnSpc>
                <a:spcPct val="117999"/>
              </a:lnSpc>
              <a:spcBef>
                <a:spcPts val="0"/>
              </a:spcBef>
              <a:spcAft>
                <a:spcPts val="0"/>
              </a:spcAft>
              <a:buClrTx/>
              <a:buSzTx/>
              <a:buFontTx/>
              <a:buNone/>
              <a:tabLst/>
              <a:defRPr/>
            </a:pPr>
            <a:br>
              <a:rPr lang="en-US" dirty="0"/>
            </a:br>
            <a:endParaRPr lang="en-US" dirty="0"/>
          </a:p>
        </p:txBody>
      </p:sp>
    </p:spTree>
    <p:extLst>
      <p:ext uri="{BB962C8B-B14F-4D97-AF65-F5344CB8AC3E}">
        <p14:creationId xmlns:p14="http://schemas.microsoft.com/office/powerpoint/2010/main" val="3753516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tried my best to be customer obsessed and focus on things important to Capital One</a:t>
            </a:r>
          </a:p>
          <a:p>
            <a:r>
              <a:rPr lang="en-US" dirty="0"/>
              <a:t>My apologies if I let a little of my bias slip in. I just don’t work at AWS, I was once a customer too, and I’m a big fan!</a:t>
            </a:r>
          </a:p>
        </p:txBody>
      </p:sp>
      <p:sp>
        <p:nvSpPr>
          <p:cNvPr id="4" name="Slide Number Placeholder 3"/>
          <p:cNvSpPr>
            <a:spLocks noGrp="1"/>
          </p:cNvSpPr>
          <p:nvPr>
            <p:ph type="sldNum" sz="quarter" idx="5"/>
          </p:nvPr>
        </p:nvSpPr>
        <p:spPr/>
        <p:txBody>
          <a:bodyPr/>
          <a:lstStyle/>
          <a:p>
            <a:fld id="{69C3F2ED-74C5-7D4F-8560-0CC253E9A436}" type="slidenum">
              <a:rPr lang="en-US" smtClean="0"/>
              <a:pPr/>
              <a:t>3</a:t>
            </a:fld>
            <a:endParaRPr lang="en-US" dirty="0"/>
          </a:p>
        </p:txBody>
      </p:sp>
    </p:spTree>
    <p:extLst>
      <p:ext uri="{BB962C8B-B14F-4D97-AF65-F5344CB8AC3E}">
        <p14:creationId xmlns:p14="http://schemas.microsoft.com/office/powerpoint/2010/main" val="2920379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Managed Chaos Engineering service</a:t>
            </a:r>
          </a:p>
          <a:p>
            <a:pPr marL="342900" indent="-342900">
              <a:buFont typeface="Arial" panose="020B0604020202020204" pitchFamily="34" charset="0"/>
              <a:buChar char="•"/>
            </a:pPr>
            <a:r>
              <a:rPr lang="en-US" dirty="0"/>
              <a:t>Support for EC2, ECS, EKS, and RDS</a:t>
            </a:r>
          </a:p>
          <a:p>
            <a:pPr marL="342900" indent="-342900">
              <a:buFont typeface="Arial" panose="020B0604020202020204" pitchFamily="34" charset="0"/>
              <a:buChar char="•"/>
            </a:pPr>
            <a:r>
              <a:rPr lang="en-US" dirty="0"/>
              <a:t>Additional resources on the roadmap for 2021</a:t>
            </a:r>
          </a:p>
          <a:p>
            <a:pPr marL="342900" indent="-342900">
              <a:buFont typeface="Arial" panose="020B0604020202020204" pitchFamily="34" charset="0"/>
              <a:buChar char="•"/>
            </a:pPr>
            <a:r>
              <a:rPr lang="en-US" dirty="0"/>
              <a:t>Select target resources by type, ARN, or by querying for specific attributes</a:t>
            </a:r>
          </a:p>
          <a:p>
            <a:pPr marL="342900" indent="-342900">
              <a:buFont typeface="Arial" panose="020B0604020202020204" pitchFamily="34" charset="0"/>
              <a:buChar char="•"/>
            </a:pPr>
            <a:r>
              <a:rPr lang="en-US" dirty="0"/>
              <a:t>Ability to stop the the experiment is certain conditions defined by CloudWatch alarms are met</a:t>
            </a:r>
          </a:p>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5</a:t>
            </a:fld>
            <a:endParaRPr lang="en-US" dirty="0"/>
          </a:p>
        </p:txBody>
      </p:sp>
    </p:spTree>
    <p:extLst>
      <p:ext uri="{BB962C8B-B14F-4D97-AF65-F5344CB8AC3E}">
        <p14:creationId xmlns:p14="http://schemas.microsoft.com/office/powerpoint/2010/main" val="2664308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Use of a deprecated runtime</a:t>
            </a:r>
          </a:p>
          <a:p>
            <a:pPr marL="342900" indent="-342900">
              <a:buFont typeface="Arial" panose="020B0604020202020204" pitchFamily="34" charset="0"/>
              <a:buChar char="•"/>
            </a:pPr>
            <a:r>
              <a:rPr lang="en-US" dirty="0"/>
              <a:t>VPC enabled function in a single AZ</a:t>
            </a:r>
          </a:p>
        </p:txBody>
      </p:sp>
      <p:sp>
        <p:nvSpPr>
          <p:cNvPr id="4" name="Slide Number Placeholder 3"/>
          <p:cNvSpPr>
            <a:spLocks noGrp="1"/>
          </p:cNvSpPr>
          <p:nvPr>
            <p:ph type="sldNum" sz="quarter" idx="5"/>
          </p:nvPr>
        </p:nvSpPr>
        <p:spPr/>
        <p:txBody>
          <a:bodyPr/>
          <a:lstStyle/>
          <a:p>
            <a:fld id="{69C3F2ED-74C5-7D4F-8560-0CC253E9A436}" type="slidenum">
              <a:rPr lang="en-US" smtClean="0"/>
              <a:pPr/>
              <a:t>6</a:t>
            </a:fld>
            <a:endParaRPr lang="en-US" dirty="0"/>
          </a:p>
        </p:txBody>
      </p:sp>
    </p:spTree>
    <p:extLst>
      <p:ext uri="{BB962C8B-B14F-4D97-AF65-F5344CB8AC3E}">
        <p14:creationId xmlns:p14="http://schemas.microsoft.com/office/powerpoint/2010/main" val="800183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err="1"/>
              <a:t>EventBridge</a:t>
            </a:r>
            <a:r>
              <a:rPr lang="en-US" dirty="0"/>
              <a:t> is a serverless event bus service that enables you to create scalable event-driven applications by routing events between your own applications, third-party SaaS applications, and other AWS services through built-in integrations</a:t>
            </a:r>
          </a:p>
          <a:p>
            <a:pPr marL="342900" indent="-342900">
              <a:buFont typeface="Arial" panose="020B0604020202020204" pitchFamily="34" charset="0"/>
              <a:buChar char="•"/>
            </a:pPr>
            <a:r>
              <a:rPr lang="en-US" dirty="0"/>
              <a:t>Current Capital One usage is 0, </a:t>
            </a:r>
            <a:r>
              <a:rPr lang="en-US" dirty="0" err="1"/>
              <a:t>EventBridge</a:t>
            </a:r>
            <a:r>
              <a:rPr lang="en-US" dirty="0"/>
              <a:t> will most likely be a critical component in the shift to serverless architectures</a:t>
            </a:r>
          </a:p>
          <a:p>
            <a:pPr marL="342900" indent="-342900">
              <a:buFont typeface="Arial" panose="020B0604020202020204" pitchFamily="34" charset="0"/>
              <a:buChar char="•"/>
            </a:pPr>
            <a:r>
              <a:rPr lang="en-US" dirty="0"/>
              <a:t>API Destinations is a simple and reliable way to send events to any HTTP API</a:t>
            </a:r>
          </a:p>
          <a:p>
            <a:pPr marL="342900" indent="-342900">
              <a:buFont typeface="Arial" panose="020B0604020202020204" pitchFamily="34" charset="0"/>
              <a:buChar char="•"/>
            </a:pPr>
            <a:r>
              <a:rPr lang="en-US" dirty="0"/>
              <a:t>Easily extend existing applications without writing code</a:t>
            </a:r>
          </a:p>
        </p:txBody>
      </p:sp>
      <p:sp>
        <p:nvSpPr>
          <p:cNvPr id="4" name="Slide Number Placeholder 3"/>
          <p:cNvSpPr>
            <a:spLocks noGrp="1"/>
          </p:cNvSpPr>
          <p:nvPr>
            <p:ph type="sldNum" sz="quarter" idx="5"/>
          </p:nvPr>
        </p:nvSpPr>
        <p:spPr/>
        <p:txBody>
          <a:bodyPr/>
          <a:lstStyle/>
          <a:p>
            <a:fld id="{69C3F2ED-74C5-7D4F-8560-0CC253E9A436}" type="slidenum">
              <a:rPr lang="en-US" smtClean="0"/>
              <a:pPr/>
              <a:t>7</a:t>
            </a:fld>
            <a:endParaRPr lang="en-US" dirty="0"/>
          </a:p>
        </p:txBody>
      </p:sp>
    </p:spTree>
    <p:extLst>
      <p:ext uri="{BB962C8B-B14F-4D97-AF65-F5344CB8AC3E}">
        <p14:creationId xmlns:p14="http://schemas.microsoft.com/office/powerpoint/2010/main" val="442797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Supports tracing for all event targets that integrate with X-Ray: SQS, SNS, API Gateway, Lambda and Step Functions</a:t>
            </a:r>
          </a:p>
        </p:txBody>
      </p:sp>
      <p:sp>
        <p:nvSpPr>
          <p:cNvPr id="4" name="Slide Number Placeholder 3"/>
          <p:cNvSpPr>
            <a:spLocks noGrp="1"/>
          </p:cNvSpPr>
          <p:nvPr>
            <p:ph type="sldNum" sz="quarter" idx="5"/>
          </p:nvPr>
        </p:nvSpPr>
        <p:spPr/>
        <p:txBody>
          <a:bodyPr/>
          <a:lstStyle/>
          <a:p>
            <a:fld id="{69C3F2ED-74C5-7D4F-8560-0CC253E9A436}" type="slidenum">
              <a:rPr lang="en-US" smtClean="0"/>
              <a:pPr/>
              <a:t>8</a:t>
            </a:fld>
            <a:endParaRPr lang="en-US" dirty="0"/>
          </a:p>
        </p:txBody>
      </p:sp>
    </p:spTree>
    <p:extLst>
      <p:ext uri="{BB962C8B-B14F-4D97-AF65-F5344CB8AC3E}">
        <p14:creationId xmlns:p14="http://schemas.microsoft.com/office/powerpoint/2010/main" val="2356316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Step functions, like </a:t>
            </a:r>
            <a:r>
              <a:rPr lang="en-US" dirty="0" err="1"/>
              <a:t>EventBridge</a:t>
            </a:r>
            <a:r>
              <a:rPr lang="en-US" dirty="0"/>
              <a:t>, will play a prominent role in the move to serverless architectures</a:t>
            </a:r>
          </a:p>
          <a:p>
            <a:pPr marL="342900" indent="-342900">
              <a:buFont typeface="Arial" panose="020B0604020202020204" pitchFamily="34" charset="0"/>
              <a:buChar char="•"/>
            </a:pPr>
            <a:r>
              <a:rPr lang="en-US" dirty="0"/>
              <a:t>Typically, as the publisher of events, you fire and forget and are not concerned with the success or failure of events</a:t>
            </a:r>
          </a:p>
          <a:p>
            <a:pPr marL="342900" indent="-342900">
              <a:buFont typeface="Arial" panose="020B0604020202020204" pitchFamily="34" charset="0"/>
              <a:buChar char="•"/>
            </a:pPr>
            <a:r>
              <a:rPr lang="en-US" dirty="0"/>
              <a:t>Step Functions are well-suited for the use cases</a:t>
            </a:r>
          </a:p>
          <a:p>
            <a:pPr marL="342900" indent="-34290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9</a:t>
            </a:fld>
            <a:endParaRPr lang="en-US" dirty="0"/>
          </a:p>
        </p:txBody>
      </p:sp>
    </p:spTree>
    <p:extLst>
      <p:ext uri="{BB962C8B-B14F-4D97-AF65-F5344CB8AC3E}">
        <p14:creationId xmlns:p14="http://schemas.microsoft.com/office/powerpoint/2010/main" val="143416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One of the first things I worked on on the account was working with Tony Burns to see if the EC2 VM Import/Export service could be leveraged to build images for the ATMs</a:t>
            </a:r>
          </a:p>
          <a:p>
            <a:pPr marL="342900" indent="-342900">
              <a:buFont typeface="Arial" panose="020B0604020202020204" pitchFamily="34" charset="0"/>
              <a:buChar char="•"/>
            </a:pPr>
            <a:r>
              <a:rPr lang="en-US" dirty="0"/>
              <a:t>Alas, the lack of support for UEFI shut the door on that avenue</a:t>
            </a:r>
          </a:p>
          <a:p>
            <a:pPr marL="342900" indent="-342900">
              <a:buFont typeface="Arial" panose="020B0604020202020204" pitchFamily="34" charset="0"/>
              <a:buChar char="•"/>
            </a:pPr>
            <a:r>
              <a:rPr lang="en-US" dirty="0"/>
              <a:t>Tony has moved on to a new role, however …</a:t>
            </a:r>
          </a:p>
        </p:txBody>
      </p:sp>
      <p:sp>
        <p:nvSpPr>
          <p:cNvPr id="4" name="Slide Number Placeholder 3"/>
          <p:cNvSpPr>
            <a:spLocks noGrp="1"/>
          </p:cNvSpPr>
          <p:nvPr>
            <p:ph type="sldNum" sz="quarter" idx="5"/>
          </p:nvPr>
        </p:nvSpPr>
        <p:spPr/>
        <p:txBody>
          <a:bodyPr/>
          <a:lstStyle/>
          <a:p>
            <a:fld id="{69C3F2ED-74C5-7D4F-8560-0CC253E9A436}" type="slidenum">
              <a:rPr lang="en-US" smtClean="0"/>
              <a:pPr/>
              <a:t>10</a:t>
            </a:fld>
            <a:endParaRPr lang="en-US" dirty="0"/>
          </a:p>
        </p:txBody>
      </p:sp>
    </p:spTree>
    <p:extLst>
      <p:ext uri="{BB962C8B-B14F-4D97-AF65-F5344CB8AC3E}">
        <p14:creationId xmlns:p14="http://schemas.microsoft.com/office/powerpoint/2010/main" val="1894834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Previously only the io1 and io2 volume types had 1-minute granularity, with other types receiving 5-minute granularity</a:t>
            </a:r>
          </a:p>
          <a:p>
            <a:pPr marL="342900" indent="-342900">
              <a:buFont typeface="Arial" panose="020B0604020202020204" pitchFamily="34" charset="0"/>
              <a:buChar char="•"/>
            </a:pPr>
            <a:r>
              <a:rPr lang="en-US" dirty="0"/>
              <a:t>Now all volume types receive 1-minute </a:t>
            </a:r>
            <a:r>
              <a:rPr lang="en-US" dirty="0" err="1"/>
              <a:t>granulatiry</a:t>
            </a:r>
            <a:endParaRPr lang="en-US" dirty="0"/>
          </a:p>
          <a:p>
            <a:pPr marL="342900" indent="-34290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14</a:t>
            </a:fld>
            <a:endParaRPr lang="en-US" dirty="0"/>
          </a:p>
        </p:txBody>
      </p:sp>
    </p:spTree>
    <p:extLst>
      <p:ext uri="{BB962C8B-B14F-4D97-AF65-F5344CB8AC3E}">
        <p14:creationId xmlns:p14="http://schemas.microsoft.com/office/powerpoint/2010/main" val="3066883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No need to install or configure additional agents</a:t>
            </a:r>
          </a:p>
        </p:txBody>
      </p:sp>
      <p:sp>
        <p:nvSpPr>
          <p:cNvPr id="4" name="Slide Number Placeholder 3"/>
          <p:cNvSpPr>
            <a:spLocks noGrp="1"/>
          </p:cNvSpPr>
          <p:nvPr>
            <p:ph type="sldNum" sz="quarter" idx="5"/>
          </p:nvPr>
        </p:nvSpPr>
        <p:spPr/>
        <p:txBody>
          <a:bodyPr/>
          <a:lstStyle/>
          <a:p>
            <a:fld id="{69C3F2ED-74C5-7D4F-8560-0CC253E9A436}" type="slidenum">
              <a:rPr lang="en-US" smtClean="0"/>
              <a:pPr/>
              <a:t>16</a:t>
            </a:fld>
            <a:endParaRPr lang="en-US" dirty="0"/>
          </a:p>
        </p:txBody>
      </p:sp>
    </p:spTree>
    <p:extLst>
      <p:ext uri="{BB962C8B-B14F-4D97-AF65-F5344CB8AC3E}">
        <p14:creationId xmlns:p14="http://schemas.microsoft.com/office/powerpoint/2010/main" val="3969719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You can now integrate your EFS File Systems into any file transfer workflows without managing any infrastructure</a:t>
            </a:r>
          </a:p>
        </p:txBody>
      </p:sp>
      <p:sp>
        <p:nvSpPr>
          <p:cNvPr id="4" name="Slide Number Placeholder 3"/>
          <p:cNvSpPr>
            <a:spLocks noGrp="1"/>
          </p:cNvSpPr>
          <p:nvPr>
            <p:ph type="sldNum" sz="quarter" idx="5"/>
          </p:nvPr>
        </p:nvSpPr>
        <p:spPr/>
        <p:txBody>
          <a:bodyPr/>
          <a:lstStyle/>
          <a:p>
            <a:fld id="{69C3F2ED-74C5-7D4F-8560-0CC253E9A436}" type="slidenum">
              <a:rPr lang="en-US" smtClean="0"/>
              <a:pPr/>
              <a:t>18</a:t>
            </a:fld>
            <a:endParaRPr lang="en-US" dirty="0"/>
          </a:p>
        </p:txBody>
      </p:sp>
    </p:spTree>
    <p:extLst>
      <p:ext uri="{BB962C8B-B14F-4D97-AF65-F5344CB8AC3E}">
        <p14:creationId xmlns:p14="http://schemas.microsoft.com/office/powerpoint/2010/main" val="3124280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Comprehend is the AWS natural language processing service to find insights and relationships in text</a:t>
            </a:r>
          </a:p>
        </p:txBody>
      </p:sp>
      <p:sp>
        <p:nvSpPr>
          <p:cNvPr id="4" name="Slide Number Placeholder 3"/>
          <p:cNvSpPr>
            <a:spLocks noGrp="1"/>
          </p:cNvSpPr>
          <p:nvPr>
            <p:ph type="sldNum" sz="quarter" idx="5"/>
          </p:nvPr>
        </p:nvSpPr>
        <p:spPr/>
        <p:txBody>
          <a:bodyPr/>
          <a:lstStyle/>
          <a:p>
            <a:fld id="{69C3F2ED-74C5-7D4F-8560-0CC253E9A436}" type="slidenum">
              <a:rPr lang="en-US" smtClean="0"/>
              <a:pPr/>
              <a:t>19</a:t>
            </a:fld>
            <a:endParaRPr lang="en-US" dirty="0"/>
          </a:p>
        </p:txBody>
      </p:sp>
    </p:spTree>
    <p:extLst>
      <p:ext uri="{BB962C8B-B14F-4D97-AF65-F5344CB8AC3E}">
        <p14:creationId xmlns:p14="http://schemas.microsoft.com/office/powerpoint/2010/main" val="5996885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There has been a bit more interest in </a:t>
            </a:r>
            <a:r>
              <a:rPr lang="en-US" dirty="0" err="1"/>
              <a:t>Sagemaker</a:t>
            </a:r>
            <a:r>
              <a:rPr lang="en-US" dirty="0"/>
              <a:t> for ML workloads</a:t>
            </a:r>
          </a:p>
        </p:txBody>
      </p:sp>
      <p:sp>
        <p:nvSpPr>
          <p:cNvPr id="4" name="Slide Number Placeholder 3"/>
          <p:cNvSpPr>
            <a:spLocks noGrp="1"/>
          </p:cNvSpPr>
          <p:nvPr>
            <p:ph type="sldNum" sz="quarter" idx="5"/>
          </p:nvPr>
        </p:nvSpPr>
        <p:spPr/>
        <p:txBody>
          <a:bodyPr/>
          <a:lstStyle/>
          <a:p>
            <a:fld id="{69C3F2ED-74C5-7D4F-8560-0CC253E9A436}" type="slidenum">
              <a:rPr lang="en-US" smtClean="0"/>
              <a:pPr/>
              <a:t>20</a:t>
            </a:fld>
            <a:endParaRPr lang="en-US" dirty="0"/>
          </a:p>
        </p:txBody>
      </p:sp>
    </p:spTree>
    <p:extLst>
      <p:ext uri="{BB962C8B-B14F-4D97-AF65-F5344CB8AC3E}">
        <p14:creationId xmlns:p14="http://schemas.microsoft.com/office/powerpoint/2010/main" val="215009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The first thing I do after I provision an EKS cluster is add all my favorite add-ons</a:t>
            </a:r>
          </a:p>
          <a:p>
            <a:pPr marL="342900" indent="-342900">
              <a:buFont typeface="Arial" panose="020B0604020202020204" pitchFamily="34" charset="0"/>
              <a:buChar char="•"/>
            </a:pPr>
            <a:r>
              <a:rPr lang="en-US" dirty="0"/>
              <a:t>Now you can automate that as part of the cluster provisioning with CloudFormation</a:t>
            </a:r>
          </a:p>
          <a:p>
            <a:pPr marL="342900" indent="-342900">
              <a:buFont typeface="Arial" panose="020B0604020202020204" pitchFamily="34" charset="0"/>
              <a:buChar char="•"/>
            </a:pPr>
            <a:r>
              <a:rPr lang="en-US" dirty="0"/>
              <a:t>Today the support is for the VPC CNI networking plugin, but support for more add-ons is coming soon</a:t>
            </a:r>
          </a:p>
        </p:txBody>
      </p:sp>
      <p:sp>
        <p:nvSpPr>
          <p:cNvPr id="4" name="Slide Number Placeholder 3"/>
          <p:cNvSpPr>
            <a:spLocks noGrp="1"/>
          </p:cNvSpPr>
          <p:nvPr>
            <p:ph type="sldNum" sz="quarter" idx="5"/>
          </p:nvPr>
        </p:nvSpPr>
        <p:spPr/>
        <p:txBody>
          <a:bodyPr/>
          <a:lstStyle/>
          <a:p>
            <a:fld id="{69C3F2ED-74C5-7D4F-8560-0CC253E9A436}" type="slidenum">
              <a:rPr lang="en-US" smtClean="0"/>
              <a:pPr/>
              <a:t>29</a:t>
            </a:fld>
            <a:endParaRPr lang="en-US" dirty="0"/>
          </a:p>
        </p:txBody>
      </p:sp>
    </p:spTree>
    <p:extLst>
      <p:ext uri="{BB962C8B-B14F-4D97-AF65-F5344CB8AC3E}">
        <p14:creationId xmlns:p14="http://schemas.microsoft.com/office/powerpoint/2010/main" val="36092408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always doing the Texas Two Step with you on VPC Endpoints</a:t>
            </a:r>
          </a:p>
        </p:txBody>
      </p:sp>
      <p:sp>
        <p:nvSpPr>
          <p:cNvPr id="4" name="Slide Number Placeholder 3"/>
          <p:cNvSpPr>
            <a:spLocks noGrp="1"/>
          </p:cNvSpPr>
          <p:nvPr>
            <p:ph type="sldNum" sz="quarter" idx="5"/>
          </p:nvPr>
        </p:nvSpPr>
        <p:spPr/>
        <p:txBody>
          <a:bodyPr/>
          <a:lstStyle/>
          <a:p>
            <a:fld id="{69C3F2ED-74C5-7D4F-8560-0CC253E9A436}" type="slidenum">
              <a:rPr lang="en-US" smtClean="0"/>
              <a:pPr/>
              <a:t>35</a:t>
            </a:fld>
            <a:endParaRPr lang="en-US" dirty="0"/>
          </a:p>
        </p:txBody>
      </p:sp>
    </p:spTree>
    <p:extLst>
      <p:ext uri="{BB962C8B-B14F-4D97-AF65-F5344CB8AC3E}">
        <p14:creationId xmlns:p14="http://schemas.microsoft.com/office/powerpoint/2010/main" val="2928806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Expect DynamoDB will be next</a:t>
            </a:r>
          </a:p>
        </p:txBody>
      </p:sp>
      <p:sp>
        <p:nvSpPr>
          <p:cNvPr id="4" name="Slide Number Placeholder 3"/>
          <p:cNvSpPr>
            <a:spLocks noGrp="1"/>
          </p:cNvSpPr>
          <p:nvPr>
            <p:ph type="sldNum" sz="quarter" idx="5"/>
          </p:nvPr>
        </p:nvSpPr>
        <p:spPr/>
        <p:txBody>
          <a:bodyPr/>
          <a:lstStyle/>
          <a:p>
            <a:fld id="{69C3F2ED-74C5-7D4F-8560-0CC253E9A436}" type="slidenum">
              <a:rPr lang="en-US" smtClean="0"/>
              <a:pPr/>
              <a:t>45</a:t>
            </a:fld>
            <a:endParaRPr lang="en-US" dirty="0"/>
          </a:p>
        </p:txBody>
      </p:sp>
    </p:spTree>
    <p:extLst>
      <p:ext uri="{BB962C8B-B14F-4D97-AF65-F5344CB8AC3E}">
        <p14:creationId xmlns:p14="http://schemas.microsoft.com/office/powerpoint/2010/main" val="20298662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Eliminates the burden of building that infrastructure layer for all your applications</a:t>
            </a:r>
          </a:p>
        </p:txBody>
      </p:sp>
      <p:sp>
        <p:nvSpPr>
          <p:cNvPr id="4" name="Slide Number Placeholder 3"/>
          <p:cNvSpPr>
            <a:spLocks noGrp="1"/>
          </p:cNvSpPr>
          <p:nvPr>
            <p:ph type="sldNum" sz="quarter" idx="5"/>
          </p:nvPr>
        </p:nvSpPr>
        <p:spPr/>
        <p:txBody>
          <a:bodyPr/>
          <a:lstStyle/>
          <a:p>
            <a:fld id="{69C3F2ED-74C5-7D4F-8560-0CC253E9A436}" type="slidenum">
              <a:rPr lang="en-US" smtClean="0"/>
              <a:pPr/>
              <a:t>47</a:t>
            </a:fld>
            <a:endParaRPr lang="en-US" dirty="0"/>
          </a:p>
        </p:txBody>
      </p:sp>
    </p:spTree>
    <p:extLst>
      <p:ext uri="{BB962C8B-B14F-4D97-AF65-F5344CB8AC3E}">
        <p14:creationId xmlns:p14="http://schemas.microsoft.com/office/powerpoint/2010/main" val="21048402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This benchmark contains a set of industry-accepted best practices for security configurations in AWS</a:t>
            </a:r>
          </a:p>
        </p:txBody>
      </p:sp>
      <p:sp>
        <p:nvSpPr>
          <p:cNvPr id="4" name="Slide Number Placeholder 3"/>
          <p:cNvSpPr>
            <a:spLocks noGrp="1"/>
          </p:cNvSpPr>
          <p:nvPr>
            <p:ph type="sldNum" sz="quarter" idx="5"/>
          </p:nvPr>
        </p:nvSpPr>
        <p:spPr/>
        <p:txBody>
          <a:bodyPr/>
          <a:lstStyle/>
          <a:p>
            <a:fld id="{69C3F2ED-74C5-7D4F-8560-0CC253E9A436}" type="slidenum">
              <a:rPr lang="en-US" smtClean="0"/>
              <a:pPr/>
              <a:t>49</a:t>
            </a:fld>
            <a:endParaRPr lang="en-US" dirty="0"/>
          </a:p>
        </p:txBody>
      </p:sp>
    </p:spTree>
    <p:extLst>
      <p:ext uri="{BB962C8B-B14F-4D97-AF65-F5344CB8AC3E}">
        <p14:creationId xmlns:p14="http://schemas.microsoft.com/office/powerpoint/2010/main" val="211143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I’m hoping these next two will appease Chris Schultz for a while while we try to get Lambda controls up to his standard</a:t>
            </a:r>
          </a:p>
        </p:txBody>
      </p:sp>
      <p:sp>
        <p:nvSpPr>
          <p:cNvPr id="4" name="Slide Number Placeholder 3"/>
          <p:cNvSpPr>
            <a:spLocks noGrp="1"/>
          </p:cNvSpPr>
          <p:nvPr>
            <p:ph type="sldNum" sz="quarter" idx="5"/>
          </p:nvPr>
        </p:nvSpPr>
        <p:spPr/>
        <p:txBody>
          <a:bodyPr/>
          <a:lstStyle/>
          <a:p>
            <a:fld id="{69C3F2ED-74C5-7D4F-8560-0CC253E9A436}" type="slidenum">
              <a:rPr lang="en-US" smtClean="0"/>
              <a:pPr/>
              <a:t>50</a:t>
            </a:fld>
            <a:endParaRPr lang="en-US" dirty="0"/>
          </a:p>
        </p:txBody>
      </p:sp>
    </p:spTree>
    <p:extLst>
      <p:ext uri="{BB962C8B-B14F-4D97-AF65-F5344CB8AC3E}">
        <p14:creationId xmlns:p14="http://schemas.microsoft.com/office/powerpoint/2010/main" val="330120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I’ll have to dig in a little bit, but this may provide a solution to developers locking themselves out of S3 buckets</a:t>
            </a:r>
          </a:p>
        </p:txBody>
      </p:sp>
      <p:sp>
        <p:nvSpPr>
          <p:cNvPr id="4" name="Slide Number Placeholder 3"/>
          <p:cNvSpPr>
            <a:spLocks noGrp="1"/>
          </p:cNvSpPr>
          <p:nvPr>
            <p:ph type="sldNum" sz="quarter" idx="5"/>
          </p:nvPr>
        </p:nvSpPr>
        <p:spPr/>
        <p:txBody>
          <a:bodyPr/>
          <a:lstStyle/>
          <a:p>
            <a:fld id="{69C3F2ED-74C5-7D4F-8560-0CC253E9A436}" type="slidenum">
              <a:rPr lang="en-US" smtClean="0"/>
              <a:pPr/>
              <a:t>51</a:t>
            </a:fld>
            <a:endParaRPr lang="en-US" dirty="0"/>
          </a:p>
        </p:txBody>
      </p:sp>
    </p:spTree>
    <p:extLst>
      <p:ext uri="{BB962C8B-B14F-4D97-AF65-F5344CB8AC3E}">
        <p14:creationId xmlns:p14="http://schemas.microsoft.com/office/powerpoint/2010/main" val="13472208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Security Hub gives you a comprehensive single pane of glass of your security posture across your AWS accounts</a:t>
            </a:r>
          </a:p>
          <a:p>
            <a:pPr marL="342900" indent="-342900">
              <a:buFont typeface="Arial" panose="020B0604020202020204" pitchFamily="34" charset="0"/>
              <a:buChar char="•"/>
            </a:pPr>
            <a:r>
              <a:rPr lang="en-US" dirty="0"/>
              <a:t>API G/W, DynamoDB</a:t>
            </a:r>
          </a:p>
          <a:p>
            <a:pPr marL="342900" indent="-342900">
              <a:buFont typeface="Arial" panose="020B0604020202020204" pitchFamily="34" charset="0"/>
              <a:buChar char="•"/>
            </a:pPr>
            <a:r>
              <a:rPr lang="en-US" dirty="0"/>
              <a:t>If you have enabled it, these new controls are enabled by default</a:t>
            </a:r>
          </a:p>
        </p:txBody>
      </p:sp>
      <p:sp>
        <p:nvSpPr>
          <p:cNvPr id="4" name="Slide Number Placeholder 3"/>
          <p:cNvSpPr>
            <a:spLocks noGrp="1"/>
          </p:cNvSpPr>
          <p:nvPr>
            <p:ph type="sldNum" sz="quarter" idx="5"/>
          </p:nvPr>
        </p:nvSpPr>
        <p:spPr/>
        <p:txBody>
          <a:bodyPr/>
          <a:lstStyle/>
          <a:p>
            <a:fld id="{69C3F2ED-74C5-7D4F-8560-0CC253E9A436}" type="slidenum">
              <a:rPr lang="en-US" smtClean="0"/>
              <a:pPr/>
              <a:t>52</a:t>
            </a:fld>
            <a:endParaRPr lang="en-US" dirty="0"/>
          </a:p>
        </p:txBody>
      </p:sp>
    </p:spTree>
    <p:extLst>
      <p:ext uri="{BB962C8B-B14F-4D97-AF65-F5344CB8AC3E}">
        <p14:creationId xmlns:p14="http://schemas.microsoft.com/office/powerpoint/2010/main" val="1170957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I need to take a look, but this may address a PFR that is requesting that the Lambda function be included in the logs</a:t>
            </a:r>
          </a:p>
        </p:txBody>
      </p:sp>
      <p:sp>
        <p:nvSpPr>
          <p:cNvPr id="4" name="Slide Number Placeholder 3"/>
          <p:cNvSpPr>
            <a:spLocks noGrp="1"/>
          </p:cNvSpPr>
          <p:nvPr>
            <p:ph type="sldNum" sz="quarter" idx="5"/>
          </p:nvPr>
        </p:nvSpPr>
        <p:spPr/>
        <p:txBody>
          <a:bodyPr/>
          <a:lstStyle/>
          <a:p>
            <a:fld id="{69C3F2ED-74C5-7D4F-8560-0CC253E9A436}" type="slidenum">
              <a:rPr lang="en-US" smtClean="0"/>
              <a:pPr/>
              <a:t>53</a:t>
            </a:fld>
            <a:endParaRPr lang="en-US" dirty="0"/>
          </a:p>
        </p:txBody>
      </p:sp>
    </p:spTree>
    <p:extLst>
      <p:ext uri="{BB962C8B-B14F-4D97-AF65-F5344CB8AC3E}">
        <p14:creationId xmlns:p14="http://schemas.microsoft.com/office/powerpoint/2010/main" val="2452260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HTTP APIs were announced at </a:t>
            </a:r>
            <a:r>
              <a:rPr lang="en-US" dirty="0" err="1"/>
              <a:t>re:Invent</a:t>
            </a:r>
            <a:r>
              <a:rPr lang="en-US" dirty="0"/>
              <a:t> 2019, delivering the core features of API Gateway at a lower price point than REST APIs</a:t>
            </a:r>
          </a:p>
        </p:txBody>
      </p:sp>
      <p:sp>
        <p:nvSpPr>
          <p:cNvPr id="4" name="Slide Number Placeholder 3"/>
          <p:cNvSpPr>
            <a:spLocks noGrp="1"/>
          </p:cNvSpPr>
          <p:nvPr>
            <p:ph type="sldNum" sz="quarter" idx="5"/>
          </p:nvPr>
        </p:nvSpPr>
        <p:spPr/>
        <p:txBody>
          <a:bodyPr/>
          <a:lstStyle/>
          <a:p>
            <a:fld id="{69C3F2ED-74C5-7D4F-8560-0CC253E9A436}" type="slidenum">
              <a:rPr lang="en-US" smtClean="0"/>
              <a:pPr/>
              <a:t>55</a:t>
            </a:fld>
            <a:endParaRPr lang="en-US" dirty="0"/>
          </a:p>
        </p:txBody>
      </p:sp>
    </p:spTree>
    <p:extLst>
      <p:ext uri="{BB962C8B-B14F-4D97-AF65-F5344CB8AC3E}">
        <p14:creationId xmlns:p14="http://schemas.microsoft.com/office/powerpoint/2010/main" val="26238871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68</a:t>
            </a:fld>
            <a:endParaRPr lang="en-US" dirty="0"/>
          </a:p>
        </p:txBody>
      </p:sp>
    </p:spTree>
    <p:extLst>
      <p:ext uri="{BB962C8B-B14F-4D97-AF65-F5344CB8AC3E}">
        <p14:creationId xmlns:p14="http://schemas.microsoft.com/office/powerpoint/2010/main" val="2063532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_OneSpeaker">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BB242C-E142-0A43-9F1E-0928D9F8BACE}"/>
              </a:ext>
            </a:extLst>
          </p:cNvPr>
          <p:cNvPicPr>
            <a:picLocks noChangeAspect="1"/>
          </p:cNvPicPr>
          <p:nvPr userDrawn="1"/>
        </p:nvPicPr>
        <p:blipFill rotWithShape="1">
          <a:blip r:embed="rId2"/>
          <a:srcRect l="15935" r="10110"/>
          <a:stretch/>
        </p:blipFill>
        <p:spPr>
          <a:xfrm>
            <a:off x="-1" y="0"/>
            <a:ext cx="14630402"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baseline="0"/>
            </a:lvl1pPr>
          </a:lstStyle>
          <a:p>
            <a:pPr lvl="0"/>
            <a:r>
              <a:rPr lang="en-US" dirty="0"/>
              <a:t>Click to edit Master title style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Master text styles</a:t>
            </a:r>
          </a:p>
          <a:p>
            <a:pPr lvl="0"/>
            <a:r>
              <a:rPr lang="en-US" dirty="0"/>
              <a:t>Social handle</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48640" y="731520"/>
            <a:ext cx="1357299" cy="811459"/>
          </a:xfrm>
          <a:prstGeom prst="rect">
            <a:avLst/>
          </a:prstGeom>
        </p:spPr>
      </p:pic>
      <p:sp>
        <p:nvSpPr>
          <p:cNvPr id="7" name="TextBox 6">
            <a:extLst>
              <a:ext uri="{FF2B5EF4-FFF2-40B4-BE49-F238E27FC236}">
                <a16:creationId xmlns:a16="http://schemas.microsoft.com/office/drawing/2014/main" id="{8FA84D03-8133-8347-8776-300EBD9F8B8C}"/>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34121309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TwoSpeakers">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BB242C-E142-0A43-9F1E-0928D9F8BACE}"/>
              </a:ext>
            </a:extLst>
          </p:cNvPr>
          <p:cNvPicPr>
            <a:picLocks noChangeAspect="1"/>
          </p:cNvPicPr>
          <p:nvPr userDrawn="1"/>
        </p:nvPicPr>
        <p:blipFill rotWithShape="1">
          <a:blip r:embed="rId2"/>
          <a:srcRect l="15935" r="10110"/>
          <a:stretch/>
        </p:blipFill>
        <p:spPr>
          <a:xfrm>
            <a:off x="-2" y="373344"/>
            <a:ext cx="14630402"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baseline="0"/>
            </a:lvl1pPr>
          </a:lstStyle>
          <a:p>
            <a:pPr lvl="0"/>
            <a:r>
              <a:rPr lang="en-US" dirty="0"/>
              <a:t>Click to edit Master title style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Master text styles</a:t>
            </a:r>
          </a:p>
          <a:p>
            <a:pPr lvl="0"/>
            <a:r>
              <a:rPr lang="en-US" dirty="0"/>
              <a:t>Social handle</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48640" y="731520"/>
            <a:ext cx="1357299" cy="811459"/>
          </a:xfrm>
          <a:prstGeom prst="rect">
            <a:avLst/>
          </a:prstGeom>
        </p:spPr>
      </p:pic>
      <p:sp>
        <p:nvSpPr>
          <p:cNvPr id="8" name="TextBox 7">
            <a:extLst>
              <a:ext uri="{FF2B5EF4-FFF2-40B4-BE49-F238E27FC236}">
                <a16:creationId xmlns:a16="http://schemas.microsoft.com/office/drawing/2014/main" id="{F9D47D4A-FB0D-BE48-ADF8-B8DECA8916C1}"/>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2021, Amazon Web Services, Inc. or its Affiliates. </a:t>
            </a:r>
          </a:p>
        </p:txBody>
      </p:sp>
    </p:spTree>
    <p:extLst>
      <p:ext uri="{BB962C8B-B14F-4D97-AF65-F5344CB8AC3E}">
        <p14:creationId xmlns:p14="http://schemas.microsoft.com/office/powerpoint/2010/main" val="20053143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_of_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548640" y="183898"/>
            <a:ext cx="13510260" cy="993392"/>
          </a:xfrm>
        </p:spPr>
        <p:txBody>
          <a:body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548640" y="1645920"/>
            <a:ext cx="13510260" cy="4686301"/>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348651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_Slide_and_Subtitl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4A737D-052C-C84E-A767-DC5456E4AA50}"/>
              </a:ext>
            </a:extLst>
          </p:cNvPr>
          <p:cNvPicPr>
            <a:picLocks noChangeAspect="1"/>
          </p:cNvPicPr>
          <p:nvPr userDrawn="1"/>
        </p:nvPicPr>
        <p:blipFill rotWithShape="1">
          <a:blip r:embed="rId2"/>
          <a:srcRect l="3434"/>
          <a:stretch/>
        </p:blipFill>
        <p:spPr>
          <a:xfrm>
            <a:off x="0" y="0"/>
            <a:ext cx="14630400" cy="8229600"/>
          </a:xfrm>
          <a:prstGeom prst="rect">
            <a:avLst/>
          </a:prstGeom>
          <a:ln>
            <a:solidFill>
              <a:schemeClr val="accent4"/>
            </a:solidFill>
          </a:ln>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_Slid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4A737D-052C-C84E-A767-DC5456E4AA50}"/>
              </a:ext>
            </a:extLst>
          </p:cNvPr>
          <p:cNvPicPr>
            <a:picLocks noChangeAspect="1"/>
          </p:cNvPicPr>
          <p:nvPr userDrawn="1"/>
        </p:nvPicPr>
        <p:blipFill rotWithShape="1">
          <a:blip r:embed="rId2"/>
          <a:srcRect l="3434"/>
          <a:stretch/>
        </p:blipFill>
        <p:spPr>
          <a:xfrm>
            <a:off x="0" y="0"/>
            <a:ext cx="14630400" cy="8229600"/>
          </a:xfrm>
          <a:prstGeom prst="rect">
            <a:avLst/>
          </a:prstGeom>
          <a:ln>
            <a:solidFill>
              <a:schemeClr val="accent4"/>
            </a:solidFill>
          </a:ln>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6" name="Picture 5">
            <a:extLst>
              <a:ext uri="{FF2B5EF4-FFF2-40B4-BE49-F238E27FC236}">
                <a16:creationId xmlns:a16="http://schemas.microsoft.com/office/drawing/2014/main" id="{8A2B94E5-EC77-5143-891C-94FF7C49B89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Tree>
    <p:extLst>
      <p:ext uri="{BB962C8B-B14F-4D97-AF65-F5344CB8AC3E}">
        <p14:creationId xmlns:p14="http://schemas.microsoft.com/office/powerpoint/2010/main" val="402902038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_Slide_SquidInk">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DB510E-163A-A649-85E1-F07635A2E3BD}"/>
              </a:ext>
            </a:extLst>
          </p:cNvPr>
          <p:cNvPicPr>
            <a:picLocks noChangeAspect="1"/>
          </p:cNvPicPr>
          <p:nvPr userDrawn="1"/>
        </p:nvPicPr>
        <p:blipFill rotWithShape="1">
          <a:blip r:embed="rId2"/>
          <a:srcRect l="17935" r="18573"/>
          <a:stretch/>
        </p:blipFill>
        <p:spPr>
          <a:xfrm>
            <a:off x="2"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9" name="TextBox 8">
            <a:extLst>
              <a:ext uri="{FF2B5EF4-FFF2-40B4-BE49-F238E27FC236}">
                <a16:creationId xmlns:a16="http://schemas.microsoft.com/office/drawing/2014/main" id="{A7A5C8A9-88F8-344F-882F-87878685B257}"/>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46358460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_Slide_Orange">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96C4F3-CA83-2A40-9F3D-E162458BB038}"/>
              </a:ext>
            </a:extLst>
          </p:cNvPr>
          <p:cNvPicPr>
            <a:picLocks noChangeAspect="1"/>
          </p:cNvPicPr>
          <p:nvPr userDrawn="1"/>
        </p:nvPicPr>
        <p:blipFill rotWithShape="1">
          <a:blip r:embed="rId2"/>
          <a:srcRect l="16348" r="20161"/>
          <a:stretch/>
        </p:blipFill>
        <p:spPr>
          <a:xfrm>
            <a:off x="2"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73141658-2646-1048-A1DE-3FB40A06912B}"/>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146264072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_Slide_Green">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DE0CB9-C246-C948-A3A8-F1FE53173FBC}"/>
              </a:ext>
            </a:extLst>
          </p:cNvPr>
          <p:cNvPicPr>
            <a:picLocks noChangeAspect="1"/>
          </p:cNvPicPr>
          <p:nvPr userDrawn="1"/>
        </p:nvPicPr>
        <p:blipFill rotWithShape="1">
          <a:blip r:embed="rId2"/>
          <a:srcRect l="36508"/>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6FEF9E69-433E-DC4C-824E-7F476DC4478C}"/>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170465183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_Bulleted_Lis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1460" cy="873186"/>
          </a:xfrm>
        </p:spPr>
        <p:txBody>
          <a:bodyPr/>
          <a:lstStyle/>
          <a:p>
            <a:r>
              <a:rPr lang="en-US" dirty="0"/>
              <a:t>Click to edit Master title style</a:t>
            </a:r>
          </a:p>
        </p:txBody>
      </p:sp>
      <p:sp>
        <p:nvSpPr>
          <p:cNvPr id="3" name="Content Placeholder 2"/>
          <p:cNvSpPr>
            <a:spLocks noGrp="1"/>
          </p:cNvSpPr>
          <p:nvPr>
            <p:ph sz="half" idx="1"/>
          </p:nvPr>
        </p:nvSpPr>
        <p:spPr>
          <a:xfrm>
            <a:off x="548640" y="1645920"/>
            <a:ext cx="13510260" cy="5431155"/>
          </a:xfrm>
          <a:prstGeom prst="rect">
            <a:avLst/>
          </a:prstGeom>
        </p:spPr>
        <p:txBody>
          <a:bodyPr>
            <a:normAutofit/>
          </a:bodyPr>
          <a:lstStyle>
            <a:lvl1pPr>
              <a:defRPr sz="3200"/>
            </a:lvl1pPr>
            <a:lvl2pPr>
              <a:defRPr sz="2900"/>
            </a:lvl2pPr>
            <a:lvl3pPr>
              <a:defRPr sz="2600"/>
            </a:lvl3pPr>
            <a:lvl4pPr marL="2194560" indent="0">
              <a:buNone/>
              <a:defRPr sz="2600"/>
            </a:lvl4pPr>
            <a:lvl5pPr>
              <a:defRPr sz="256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82639658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_Bulleted_Sections">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548639"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7658100"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351929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and_Imag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758B8829-AB11-E54F-AFFF-11D6AD397DEB}"/>
              </a:ext>
            </a:extLst>
          </p:cNvPr>
          <p:cNvSpPr>
            <a:spLocks noGrp="1"/>
          </p:cNvSpPr>
          <p:nvPr>
            <p:ph type="pic" sz="quarter" idx="11"/>
          </p:nvPr>
        </p:nvSpPr>
        <p:spPr>
          <a:xfrm>
            <a:off x="7658100" y="1645920"/>
            <a:ext cx="6400800" cy="5088346"/>
          </a:xfrm>
          <a:prstGeom prst="rect">
            <a:avLst/>
          </a:prstGeom>
        </p:spPr>
        <p:txBody>
          <a:bodyPr/>
          <a:lstStyle/>
          <a:p>
            <a:endParaRPr lang="en-US"/>
          </a:p>
        </p:txBody>
      </p:sp>
      <p:sp>
        <p:nvSpPr>
          <p:cNvPr id="10" name="Text Placeholder 9">
            <a:extLst>
              <a:ext uri="{FF2B5EF4-FFF2-40B4-BE49-F238E27FC236}">
                <a16:creationId xmlns:a16="http://schemas.microsoft.com/office/drawing/2014/main" id="{3305C376-814F-9B49-99E8-6F17D4026FAD}"/>
              </a:ext>
            </a:extLst>
          </p:cNvPr>
          <p:cNvSpPr>
            <a:spLocks noGrp="1"/>
          </p:cNvSpPr>
          <p:nvPr>
            <p:ph type="body" sz="quarter" idx="12" hasCustomPrompt="1"/>
          </p:nvPr>
        </p:nvSpPr>
        <p:spPr>
          <a:xfrm>
            <a:off x="548639" y="1645920"/>
            <a:ext cx="6400800" cy="5087619"/>
          </a:xfrm>
          <a:prstGeom prst="rect">
            <a:avLst/>
          </a:prstGeom>
        </p:spPr>
        <p:txBody>
          <a:bodyPr/>
          <a:lstStyle>
            <a:lvl1pPr marL="0" marR="0" indent="0" algn="l" defTabSz="731520" rtl="0" eaLnBrk="1" fontAlgn="auto" latinLnBrk="0" hangingPunct="1">
              <a:lnSpc>
                <a:spcPct val="100000"/>
              </a:lnSpc>
              <a:spcBef>
                <a:spcPct val="20000"/>
              </a:spcBef>
              <a:spcAft>
                <a:spcPts val="0"/>
              </a:spcAft>
              <a:buClrTx/>
              <a:buSzTx/>
              <a:buFontTx/>
              <a:buNone/>
              <a:tabLst/>
              <a:defRPr sz="1900" b="1">
                <a:latin typeface="+mn-lt"/>
              </a:defRPr>
            </a:lvl1pPr>
          </a:lstStyle>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p:txBody>
      </p:sp>
    </p:spTree>
    <p:extLst>
      <p:ext uri="{BB962C8B-B14F-4D97-AF65-F5344CB8AC3E}">
        <p14:creationId xmlns:p14="http://schemas.microsoft.com/office/powerpoint/2010/main" val="1841750186"/>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Coll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39" y="1645920"/>
            <a:ext cx="4572000"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509760" y="1645920"/>
            <a:ext cx="4572000" cy="5028635"/>
          </a:xfrm>
          <a:prstGeom prst="rect">
            <a:avLst/>
          </a:prstGeom>
        </p:spPr>
        <p:txBody>
          <a:bodyPr/>
          <a:lstStyle/>
          <a:p>
            <a:endParaRPr lang="en-US"/>
          </a:p>
        </p:txBody>
      </p:sp>
      <p:sp>
        <p:nvSpPr>
          <p:cNvPr id="10" name="Picture Placeholder 4">
            <a:extLst>
              <a:ext uri="{FF2B5EF4-FFF2-40B4-BE49-F238E27FC236}">
                <a16:creationId xmlns:a16="http://schemas.microsoft.com/office/drawing/2014/main" id="{0FF44110-D1F4-664B-9593-798283322862}"/>
              </a:ext>
            </a:extLst>
          </p:cNvPr>
          <p:cNvSpPr>
            <a:spLocks noGrp="1"/>
          </p:cNvSpPr>
          <p:nvPr>
            <p:ph type="pic" sz="quarter" idx="12"/>
          </p:nvPr>
        </p:nvSpPr>
        <p:spPr>
          <a:xfrm>
            <a:off x="5486400" y="1645920"/>
            <a:ext cx="3657600" cy="2686296"/>
          </a:xfrm>
          <a:prstGeom prst="rect">
            <a:avLst/>
          </a:prstGeom>
        </p:spPr>
        <p:txBody>
          <a:bodyPr/>
          <a:lstStyle/>
          <a:p>
            <a:endParaRPr lang="en-US"/>
          </a:p>
        </p:txBody>
      </p:sp>
      <p:sp>
        <p:nvSpPr>
          <p:cNvPr id="12" name="Picture Placeholder 4">
            <a:extLst>
              <a:ext uri="{FF2B5EF4-FFF2-40B4-BE49-F238E27FC236}">
                <a16:creationId xmlns:a16="http://schemas.microsoft.com/office/drawing/2014/main" id="{886DFCC3-A169-A648-A099-3583B633E69B}"/>
              </a:ext>
            </a:extLst>
          </p:cNvPr>
          <p:cNvSpPr>
            <a:spLocks noGrp="1"/>
          </p:cNvSpPr>
          <p:nvPr>
            <p:ph type="pic" sz="quarter" idx="13"/>
          </p:nvPr>
        </p:nvSpPr>
        <p:spPr>
          <a:xfrm>
            <a:off x="5486400" y="4767345"/>
            <a:ext cx="3657600" cy="1892899"/>
          </a:xfrm>
          <a:prstGeom prst="rect">
            <a:avLst/>
          </a:prstGeom>
        </p:spPr>
        <p:txBody>
          <a:bodyPr/>
          <a:lstStyle/>
          <a:p>
            <a:endParaRPr lang="en-US"/>
          </a:p>
        </p:txBody>
      </p:sp>
    </p:spTree>
    <p:extLst>
      <p:ext uri="{BB962C8B-B14F-4D97-AF65-F5344CB8AC3E}">
        <p14:creationId xmlns:p14="http://schemas.microsoft.com/office/powerpoint/2010/main" val="290128780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_Im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38862" y="183898"/>
            <a:ext cx="13520037"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8330183"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326880" y="1645920"/>
            <a:ext cx="4754880" cy="5028635"/>
          </a:xfrm>
          <a:prstGeom prst="rect">
            <a:avLst/>
          </a:prstGeom>
        </p:spPr>
        <p:txBody>
          <a:bodyPr/>
          <a:lstStyle/>
          <a:p>
            <a:endParaRPr lang="en-US"/>
          </a:p>
        </p:txBody>
      </p:sp>
    </p:spTree>
    <p:extLst>
      <p:ext uri="{BB962C8B-B14F-4D97-AF65-F5344CB8AC3E}">
        <p14:creationId xmlns:p14="http://schemas.microsoft.com/office/powerpoint/2010/main" val="4510267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_Image_Center">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13514832" cy="5338152"/>
          </a:xfrm>
          <a:prstGeom prst="rect">
            <a:avLst/>
          </a:prstGeom>
        </p:spPr>
        <p:txBody>
          <a:bodyPr/>
          <a:lstStyle/>
          <a:p>
            <a:endParaRPr lang="en-US"/>
          </a:p>
        </p:txBody>
      </p:sp>
    </p:spTree>
    <p:extLst>
      <p:ext uri="{BB962C8B-B14F-4D97-AF65-F5344CB8AC3E}">
        <p14:creationId xmlns:p14="http://schemas.microsoft.com/office/powerpoint/2010/main" val="3345301845"/>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_Bleed_Image">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0" y="1"/>
            <a:ext cx="14630400" cy="8229598"/>
          </a:xfrm>
          <a:prstGeom prst="rect">
            <a:avLst/>
          </a:prstGeom>
        </p:spPr>
        <p:txBody>
          <a:bodyPr/>
          <a:lstStyle/>
          <a:p>
            <a:endParaRPr lang="en-US" dirty="0"/>
          </a:p>
        </p:txBody>
      </p:sp>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24351669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lor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4" name="Rectangle 3">
            <a:extLst>
              <a:ext uri="{FF2B5EF4-FFF2-40B4-BE49-F238E27FC236}">
                <a16:creationId xmlns:a16="http://schemas.microsoft.com/office/drawing/2014/main" id="{1A65E46D-C0D2-7642-AF47-40070CB7653A}"/>
              </a:ext>
            </a:extLst>
          </p:cNvPr>
          <p:cNvSpPr/>
          <p:nvPr userDrawn="1"/>
        </p:nvSpPr>
        <p:spPr>
          <a:xfrm>
            <a:off x="0" y="1645920"/>
            <a:ext cx="14630400" cy="532964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15" name="Picture Placeholder 2"/>
          <p:cNvSpPr>
            <a:spLocks noGrp="1"/>
          </p:cNvSpPr>
          <p:nvPr>
            <p:ph type="pic" sz="quarter" idx="16"/>
          </p:nvPr>
        </p:nvSpPr>
        <p:spPr>
          <a:xfrm>
            <a:off x="946674" y="2502419"/>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16" name="Picture Placeholder 2"/>
          <p:cNvSpPr>
            <a:spLocks noGrp="1"/>
          </p:cNvSpPr>
          <p:nvPr>
            <p:ph type="pic" sz="quarter" idx="17"/>
          </p:nvPr>
        </p:nvSpPr>
        <p:spPr>
          <a:xfrm>
            <a:off x="4328298"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7" name="Picture Placeholder 2"/>
          <p:cNvSpPr>
            <a:spLocks noGrp="1"/>
          </p:cNvSpPr>
          <p:nvPr>
            <p:ph type="pic" sz="quarter" idx="18"/>
          </p:nvPr>
        </p:nvSpPr>
        <p:spPr>
          <a:xfrm>
            <a:off x="7709922"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8" name="Picture Placeholder 2"/>
          <p:cNvSpPr>
            <a:spLocks noGrp="1"/>
          </p:cNvSpPr>
          <p:nvPr>
            <p:ph type="pic" sz="quarter" idx="19"/>
          </p:nvPr>
        </p:nvSpPr>
        <p:spPr>
          <a:xfrm>
            <a:off x="11091547"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9" name="Picture Placeholder 2">
            <a:extLst>
              <a:ext uri="{FF2B5EF4-FFF2-40B4-BE49-F238E27FC236}">
                <a16:creationId xmlns:a16="http://schemas.microsoft.com/office/drawing/2014/main" id="{F1543634-A736-BA4B-A10A-31EE0B13FC13}"/>
              </a:ext>
            </a:extLst>
          </p:cNvPr>
          <p:cNvSpPr>
            <a:spLocks noGrp="1"/>
          </p:cNvSpPr>
          <p:nvPr>
            <p:ph type="pic" sz="quarter" idx="20"/>
          </p:nvPr>
        </p:nvSpPr>
        <p:spPr>
          <a:xfrm>
            <a:off x="946674"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0" name="Picture Placeholder 2">
            <a:extLst>
              <a:ext uri="{FF2B5EF4-FFF2-40B4-BE49-F238E27FC236}">
                <a16:creationId xmlns:a16="http://schemas.microsoft.com/office/drawing/2014/main" id="{31DBC551-9315-1F45-A672-93EB06007494}"/>
              </a:ext>
            </a:extLst>
          </p:cNvPr>
          <p:cNvSpPr>
            <a:spLocks noGrp="1"/>
          </p:cNvSpPr>
          <p:nvPr>
            <p:ph type="pic" sz="quarter" idx="21"/>
          </p:nvPr>
        </p:nvSpPr>
        <p:spPr>
          <a:xfrm>
            <a:off x="4328298"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1" name="Picture Placeholder 2">
            <a:extLst>
              <a:ext uri="{FF2B5EF4-FFF2-40B4-BE49-F238E27FC236}">
                <a16:creationId xmlns:a16="http://schemas.microsoft.com/office/drawing/2014/main" id="{AB66963A-7841-B341-A47C-7BEFE1F8B8CA}"/>
              </a:ext>
            </a:extLst>
          </p:cNvPr>
          <p:cNvSpPr>
            <a:spLocks noGrp="1"/>
          </p:cNvSpPr>
          <p:nvPr>
            <p:ph type="pic" sz="quarter" idx="22"/>
          </p:nvPr>
        </p:nvSpPr>
        <p:spPr>
          <a:xfrm>
            <a:off x="7709922"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2" name="Picture Placeholder 2">
            <a:extLst>
              <a:ext uri="{FF2B5EF4-FFF2-40B4-BE49-F238E27FC236}">
                <a16:creationId xmlns:a16="http://schemas.microsoft.com/office/drawing/2014/main" id="{7E808491-1004-3A44-87DD-41D21C9E39C3}"/>
              </a:ext>
            </a:extLst>
          </p:cNvPr>
          <p:cNvSpPr>
            <a:spLocks noGrp="1"/>
          </p:cNvSpPr>
          <p:nvPr>
            <p:ph type="pic" sz="quarter" idx="23"/>
          </p:nvPr>
        </p:nvSpPr>
        <p:spPr>
          <a:xfrm>
            <a:off x="11091547" y="4696978"/>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Tree>
    <p:extLst>
      <p:ext uri="{BB962C8B-B14F-4D97-AF65-F5344CB8AC3E}">
        <p14:creationId xmlns:p14="http://schemas.microsoft.com/office/powerpoint/2010/main" val="230250567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hite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9" name="Picture Placeholder 2"/>
          <p:cNvSpPr>
            <a:spLocks noGrp="1"/>
          </p:cNvSpPr>
          <p:nvPr>
            <p:ph type="pic" sz="quarter" idx="20"/>
          </p:nvPr>
        </p:nvSpPr>
        <p:spPr>
          <a:xfrm>
            <a:off x="543902" y="1873467"/>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
        <p:nvSpPr>
          <p:cNvPr id="10" name="Picture Placeholder 2"/>
          <p:cNvSpPr>
            <a:spLocks noGrp="1"/>
          </p:cNvSpPr>
          <p:nvPr>
            <p:ph type="pic" sz="quarter" idx="21"/>
          </p:nvPr>
        </p:nvSpPr>
        <p:spPr>
          <a:xfrm>
            <a:off x="5566893"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1" name="Picture Placeholder 2"/>
          <p:cNvSpPr>
            <a:spLocks noGrp="1"/>
          </p:cNvSpPr>
          <p:nvPr>
            <p:ph type="pic" sz="quarter" idx="22"/>
          </p:nvPr>
        </p:nvSpPr>
        <p:spPr>
          <a:xfrm>
            <a:off x="10599958"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2" name="Picture Placeholder 2"/>
          <p:cNvSpPr>
            <a:spLocks noGrp="1"/>
          </p:cNvSpPr>
          <p:nvPr>
            <p:ph type="pic" sz="quarter" idx="23"/>
          </p:nvPr>
        </p:nvSpPr>
        <p:spPr>
          <a:xfrm>
            <a:off x="543902"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3" name="Picture Placeholder 2"/>
          <p:cNvSpPr>
            <a:spLocks noGrp="1"/>
          </p:cNvSpPr>
          <p:nvPr>
            <p:ph type="pic" sz="quarter" idx="24"/>
          </p:nvPr>
        </p:nvSpPr>
        <p:spPr>
          <a:xfrm>
            <a:off x="5566893"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4" name="Picture Placeholder 2"/>
          <p:cNvSpPr>
            <a:spLocks noGrp="1"/>
          </p:cNvSpPr>
          <p:nvPr>
            <p:ph type="pic" sz="quarter" idx="25"/>
          </p:nvPr>
        </p:nvSpPr>
        <p:spPr>
          <a:xfrm>
            <a:off x="10599958"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Tree>
    <p:extLst>
      <p:ext uri="{BB962C8B-B14F-4D97-AF65-F5344CB8AC3E}">
        <p14:creationId xmlns:p14="http://schemas.microsoft.com/office/powerpoint/2010/main" val="3273093039"/>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lstStyle>
            <a:lvl1pPr>
              <a:defRPr>
                <a:solidFill>
                  <a:schemeClr val="tx1"/>
                </a:solidFill>
              </a:defRPr>
            </a:lvl1pPr>
          </a:lstStyle>
          <a:p>
            <a:r>
              <a:rPr lang="en-US" dirty="0"/>
              <a:t>Click to edit Master title style</a:t>
            </a:r>
          </a:p>
        </p:txBody>
      </p:sp>
      <p:sp>
        <p:nvSpPr>
          <p:cNvPr id="4" name="Table Placeholder 3">
            <a:extLst>
              <a:ext uri="{FF2B5EF4-FFF2-40B4-BE49-F238E27FC236}">
                <a16:creationId xmlns:a16="http://schemas.microsoft.com/office/drawing/2014/main" id="{D7DA888D-68DB-9B44-9614-56AAAAE93DF7}"/>
              </a:ext>
            </a:extLst>
          </p:cNvPr>
          <p:cNvSpPr>
            <a:spLocks noGrp="1"/>
          </p:cNvSpPr>
          <p:nvPr>
            <p:ph type="tbl" sz="quarter" idx="10"/>
          </p:nvPr>
        </p:nvSpPr>
        <p:spPr>
          <a:xfrm>
            <a:off x="548640" y="1645920"/>
            <a:ext cx="13510260" cy="5003800"/>
          </a:xfrm>
          <a:prstGeom prst="rect">
            <a:avLst/>
          </a:prstGeom>
        </p:spPr>
        <p:txBody>
          <a:bodyPr/>
          <a:lstStyle/>
          <a:p>
            <a:endParaRPr lang="en-US" dirty="0"/>
          </a:p>
        </p:txBody>
      </p:sp>
    </p:spTree>
    <p:extLst>
      <p:ext uri="{BB962C8B-B14F-4D97-AF65-F5344CB8AC3E}">
        <p14:creationId xmlns:p14="http://schemas.microsoft.com/office/powerpoint/2010/main" val="2636968817"/>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r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3186"/>
          </a:xfrm>
        </p:spPr>
        <p:txBody>
          <a:bodyPr/>
          <a:lstStyle>
            <a:lvl1pPr>
              <a:defRPr>
                <a:solidFill>
                  <a:schemeClr val="tx1"/>
                </a:solidFill>
              </a:defRPr>
            </a:lvl1pPr>
          </a:lstStyle>
          <a:p>
            <a:r>
              <a:rPr lang="en-US" dirty="0"/>
              <a:t>Click to edit Master title style</a:t>
            </a:r>
          </a:p>
        </p:txBody>
      </p:sp>
      <p:sp>
        <p:nvSpPr>
          <p:cNvPr id="7" name="Chart Placeholder 5">
            <a:extLst>
              <a:ext uri="{FF2B5EF4-FFF2-40B4-BE49-F238E27FC236}">
                <a16:creationId xmlns:a16="http://schemas.microsoft.com/office/drawing/2014/main" id="{B3C77AD1-4897-A546-B977-5EB6406DD175}"/>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154736194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p>
            <a:r>
              <a:rPr lang="en-US" dirty="0"/>
              <a:t>Click to edit Master title style</a:t>
            </a:r>
          </a:p>
        </p:txBody>
      </p:sp>
      <p:sp>
        <p:nvSpPr>
          <p:cNvPr id="6" name="Chart Placeholder 5">
            <a:extLst>
              <a:ext uri="{FF2B5EF4-FFF2-40B4-BE49-F238E27FC236}">
                <a16:creationId xmlns:a16="http://schemas.microsoft.com/office/drawing/2014/main" id="{A878172D-692F-8A47-81EA-89C129774DB9}"/>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46706907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n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p>
            <a:r>
              <a:rPr lang="en-US" dirty="0"/>
              <a:t>Click to edit Master title style</a:t>
            </a:r>
          </a:p>
        </p:txBody>
      </p:sp>
      <p:sp>
        <p:nvSpPr>
          <p:cNvPr id="5" name="Chart Placeholder 5">
            <a:extLst>
              <a:ext uri="{FF2B5EF4-FFF2-40B4-BE49-F238E27FC236}">
                <a16:creationId xmlns:a16="http://schemas.microsoft.com/office/drawing/2014/main" id="{08142378-5C5C-8B40-AD27-B9BE74F6EA71}"/>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308330463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amp;A">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pic>
        <p:nvPicPr>
          <p:cNvPr id="7" name="Picture 6">
            <a:extLst>
              <a:ext uri="{FF2B5EF4-FFF2-40B4-BE49-F238E27FC236}">
                <a16:creationId xmlns:a16="http://schemas.microsoft.com/office/drawing/2014/main" id="{94053231-B084-9A4B-85F1-9250CD176FC1}"/>
              </a:ext>
            </a:extLst>
          </p:cNvPr>
          <p:cNvPicPr>
            <a:picLocks noChangeAspect="1"/>
          </p:cNvPicPr>
          <p:nvPr userDrawn="1"/>
        </p:nvPicPr>
        <p:blipFill rotWithShape="1">
          <a:blip r:embed="rId2"/>
          <a:srcRect l="23063" r="13445"/>
          <a:stretch/>
        </p:blipFill>
        <p:spPr>
          <a:xfrm>
            <a:off x="0" y="0"/>
            <a:ext cx="14630400" cy="8229600"/>
          </a:xfrm>
          <a:prstGeom prst="rect">
            <a:avLst/>
          </a:prstGeom>
        </p:spPr>
      </p:pic>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10" name="Title 1"/>
          <p:cNvSpPr>
            <a:spLocks noGrp="1"/>
          </p:cNvSpPr>
          <p:nvPr>
            <p:ph type="title"/>
          </p:nvPr>
        </p:nvSpPr>
        <p:spPr>
          <a:xfrm>
            <a:off x="548640" y="2589430"/>
            <a:ext cx="10660674" cy="1127019"/>
          </a:xfrm>
        </p:spPr>
        <p:txBody>
          <a:bodyPr anchor="ctr" anchorCtr="0">
            <a:noAutofit/>
          </a:bodyPr>
          <a:lstStyle>
            <a:lvl1pPr algn="l">
              <a:defRPr sz="6400"/>
            </a:lvl1pPr>
          </a:lstStyle>
          <a:p>
            <a:r>
              <a:rPr lang="en-US" dirty="0"/>
              <a:t>Click to edit Master title style</a:t>
            </a: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3" name="Text Placeholder 2">
            <a:extLst>
              <a:ext uri="{FF2B5EF4-FFF2-40B4-BE49-F238E27FC236}">
                <a16:creationId xmlns:a16="http://schemas.microsoft.com/office/drawing/2014/main" id="{9976E15E-156A-6740-8723-C74DD4148FEE}"/>
              </a:ext>
            </a:extLst>
          </p:cNvPr>
          <p:cNvSpPr>
            <a:spLocks noGrp="1"/>
          </p:cNvSpPr>
          <p:nvPr>
            <p:ph type="body" sz="quarter" idx="10"/>
          </p:nvPr>
        </p:nvSpPr>
        <p:spPr>
          <a:xfrm>
            <a:off x="548640" y="3716448"/>
            <a:ext cx="6380480" cy="792480"/>
          </a:xfrm>
          <a:prstGeom prst="rect">
            <a:avLst/>
          </a:prstGeom>
        </p:spPr>
        <p:txBody>
          <a:bodyPr/>
          <a:lstStyle/>
          <a:p>
            <a:pPr lvl="0"/>
            <a:r>
              <a:rPr lang="en-US" dirty="0"/>
              <a:t>Edit Master text styles</a:t>
            </a:r>
          </a:p>
        </p:txBody>
      </p:sp>
      <p:sp>
        <p:nvSpPr>
          <p:cNvPr id="14" name="Text Placeholder 11">
            <a:extLst>
              <a:ext uri="{FF2B5EF4-FFF2-40B4-BE49-F238E27FC236}">
                <a16:creationId xmlns:a16="http://schemas.microsoft.com/office/drawing/2014/main" id="{2B3CA729-7DC1-3A41-B24F-C56CB70A70FE}"/>
              </a:ext>
            </a:extLst>
          </p:cNvPr>
          <p:cNvSpPr>
            <a:spLocks noGrp="1"/>
          </p:cNvSpPr>
          <p:nvPr>
            <p:ph type="body" sz="quarter" idx="11"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1" name="TextBox 10">
            <a:extLst>
              <a:ext uri="{FF2B5EF4-FFF2-40B4-BE49-F238E27FC236}">
                <a16:creationId xmlns:a16="http://schemas.microsoft.com/office/drawing/2014/main" id="{F8B67D2B-BBD1-B546-A8C7-1FAD2B60374A}"/>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hank_You">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D519FF-1BA2-9B41-8FA0-19EC8D679C9A}"/>
              </a:ext>
            </a:extLst>
          </p:cNvPr>
          <p:cNvPicPr>
            <a:picLocks noChangeAspect="1"/>
          </p:cNvPicPr>
          <p:nvPr userDrawn="1"/>
        </p:nvPicPr>
        <p:blipFill rotWithShape="1">
          <a:blip r:embed="rId2"/>
          <a:srcRect l="25044" r="11463"/>
          <a:stretch/>
        </p:blipFill>
        <p:spPr>
          <a:xfrm>
            <a:off x="0" y="0"/>
            <a:ext cx="14630400" cy="8229600"/>
          </a:xfrm>
          <a:prstGeom prst="rect">
            <a:avLst/>
          </a:prstGeom>
        </p:spPr>
      </p:pic>
      <p:sp>
        <p:nvSpPr>
          <p:cNvPr id="2" name="Title 1"/>
          <p:cNvSpPr>
            <a:spLocks noGrp="1"/>
          </p:cNvSpPr>
          <p:nvPr>
            <p:ph type="title" hasCustomPrompt="1"/>
          </p:nvPr>
        </p:nvSpPr>
        <p:spPr>
          <a:xfrm>
            <a:off x="548640" y="2481329"/>
            <a:ext cx="12435840" cy="1634490"/>
          </a:xfrm>
        </p:spPr>
        <p:txBody>
          <a:bodyPr anchor="ctr">
            <a:noAutofit/>
          </a:bodyPr>
          <a:lstStyle>
            <a:lvl1pPr algn="l">
              <a:defRPr sz="6400" b="1" cap="none">
                <a:solidFill>
                  <a:schemeClr val="tx1"/>
                </a:solidFill>
              </a:defRPr>
            </a:lvl1pPr>
          </a:lstStyle>
          <a:p>
            <a:r>
              <a:rPr lang="en-US" dirty="0"/>
              <a:t>Thank you!</a:t>
            </a:r>
          </a:p>
        </p:txBody>
      </p:sp>
      <p:sp>
        <p:nvSpPr>
          <p:cNvPr id="3" name="Text Placeholder 11"/>
          <p:cNvSpPr>
            <a:spLocks noGrp="1"/>
          </p:cNvSpPr>
          <p:nvPr>
            <p:ph type="body" sz="quarter" idx="10"/>
          </p:nvPr>
        </p:nvSpPr>
        <p:spPr>
          <a:xfrm>
            <a:off x="548640" y="4115820"/>
            <a:ext cx="5892800" cy="693419"/>
          </a:xfrm>
          <a:prstGeom prst="rect">
            <a:avLst/>
          </a:prstGeom>
        </p:spPr>
        <p:txBody>
          <a:bodyPr>
            <a:normAutofit/>
          </a:bodyPr>
          <a:lstStyle>
            <a:lvl1pPr marL="0" indent="0" algn="l">
              <a:buNone/>
              <a:defRPr sz="2600" baseline="0"/>
            </a:lvl1pPr>
          </a:lstStyle>
          <a:p>
            <a:pPr lvl="0"/>
            <a:r>
              <a:rPr lang="en-US" dirty="0"/>
              <a:t>Click to edit Master text styles</a:t>
            </a:r>
          </a:p>
        </p:txBody>
      </p:sp>
      <p:pic>
        <p:nvPicPr>
          <p:cNvPr id="7" name="Picture 6">
            <a:extLst>
              <a:ext uri="{FF2B5EF4-FFF2-40B4-BE49-F238E27FC236}">
                <a16:creationId xmlns:a16="http://schemas.microsoft.com/office/drawing/2014/main" id="{4440B841-0DCE-4646-9E0E-B1E464D98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8EC9990E-A3D8-4641-B99A-B31E88C6D0B8}"/>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ank_Pag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p>
            <a:r>
              <a:rPr lang="en-US" dirty="0"/>
              <a:t>Click to edit Master title style</a:t>
            </a:r>
          </a:p>
        </p:txBody>
      </p:sp>
    </p:spTree>
    <p:extLst>
      <p:ext uri="{BB962C8B-B14F-4D97-AF65-F5344CB8AC3E}">
        <p14:creationId xmlns:p14="http://schemas.microsoft.com/office/powerpoint/2010/main" val="2381838818"/>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able_of_Content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4832" cy="873186"/>
          </a:xfrm>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544947" y="1645920"/>
            <a:ext cx="13514832" cy="5686282"/>
          </a:xfrm>
          <a:prstGeom prst="rect">
            <a:avLst/>
          </a:prstGeom>
        </p:spPr>
        <p:txBody>
          <a:bodyPr/>
          <a:lstStyle>
            <a:lvl1pPr marL="0" indent="0">
              <a:buNone/>
              <a:defRPr>
                <a:solidFill>
                  <a:schemeClr val="tx2"/>
                </a:solidFill>
              </a:defRPr>
            </a:lvl1pPr>
            <a:lvl2pPr marL="1188720" indent="-457200">
              <a:buFont typeface="Arial"/>
              <a:buChar char="•"/>
              <a:defRPr>
                <a:solidFill>
                  <a:schemeClr val="tx2"/>
                </a:solidFill>
              </a:defRPr>
            </a:lvl2pPr>
            <a:lvl3pPr marL="1828800" indent="-365760">
              <a:buFont typeface="Arial"/>
              <a:buChar cha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95596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ow_to_Us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pic>
        <p:nvPicPr>
          <p:cNvPr id="8" name="Picture 7">
            <a:extLst>
              <a:ext uri="{FF2B5EF4-FFF2-40B4-BE49-F238E27FC236}">
                <a16:creationId xmlns:a16="http://schemas.microsoft.com/office/drawing/2014/main" id="{ED771130-A3F1-D24E-A5F9-FD45DA62A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50240" y="7531058"/>
            <a:ext cx="709381" cy="424102"/>
          </a:xfrm>
          <a:prstGeom prst="rect">
            <a:avLst/>
          </a:prstGeom>
        </p:spPr>
      </p:pic>
      <p:sp>
        <p:nvSpPr>
          <p:cNvPr id="7" name="TextBox 6">
            <a:extLst>
              <a:ext uri="{FF2B5EF4-FFF2-40B4-BE49-F238E27FC236}">
                <a16:creationId xmlns:a16="http://schemas.microsoft.com/office/drawing/2014/main" id="{ACF59969-BB76-0545-A5CB-3D34504EB147}"/>
              </a:ext>
            </a:extLst>
          </p:cNvPr>
          <p:cNvSpPr txBox="1"/>
          <p:nvPr userDrawn="1"/>
        </p:nvSpPr>
        <p:spPr>
          <a:xfrm>
            <a:off x="538863" y="7695476"/>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426676074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p:cNvSpPr>
            <a:spLocks noGrp="1"/>
          </p:cNvSpPr>
          <p:nvPr>
            <p:ph type="dt" sz="half" idx="10"/>
          </p:nvPr>
        </p:nvSpPr>
        <p:spPr/>
        <p:txBody>
          <a:bodyPr/>
          <a:lstStyle/>
          <a:p>
            <a:fld id="{6704E1F7-E333-4846-A6DF-8FA46494B7FD}" type="datetimeFigureOut">
              <a:rPr lang="en-US" smtClean="0"/>
              <a:t>3/23/21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21292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3/23/21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338178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8"/>
            <a:ext cx="12618720" cy="3423284"/>
          </a:xfrm>
        </p:spPr>
        <p:txBody>
          <a:bodyPr anchor="b"/>
          <a:lstStyle>
            <a:lvl1pPr>
              <a:defRPr sz="7200"/>
            </a:lvl1pPr>
          </a:lstStyle>
          <a:p>
            <a:r>
              <a:rPr lang="en-US"/>
              <a:t>Click to edit Master title style</a:t>
            </a:r>
          </a:p>
        </p:txBody>
      </p:sp>
      <p:sp>
        <p:nvSpPr>
          <p:cNvPr id="3" name="Text Placeholder 2"/>
          <p:cNvSpPr>
            <a:spLocks noGrp="1"/>
          </p:cNvSpPr>
          <p:nvPr>
            <p:ph type="body" idx="1"/>
          </p:nvPr>
        </p:nvSpPr>
        <p:spPr>
          <a:xfrm>
            <a:off x="998220" y="5507358"/>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704E1F7-E333-4846-A6DF-8FA46494B7FD}" type="datetimeFigureOut">
              <a:rPr lang="en-US" smtClean="0"/>
              <a:t>3/23/21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7521586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058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066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704E1F7-E333-4846-A6DF-8FA46494B7FD}" type="datetimeFigureOut">
              <a:rPr lang="en-US" smtClean="0"/>
              <a:t>3/23/21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6609772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2"/>
            <a:ext cx="12618720" cy="1590676"/>
          </a:xfrm>
        </p:spPr>
        <p:txBody>
          <a:bodyPr/>
          <a:lstStyle/>
          <a:p>
            <a:r>
              <a:rPr lang="en-US"/>
              <a:t>Click to edit Master title style</a:t>
            </a:r>
          </a:p>
        </p:txBody>
      </p:sp>
      <p:sp>
        <p:nvSpPr>
          <p:cNvPr id="3" name="Text Placeholder 2"/>
          <p:cNvSpPr>
            <a:spLocks noGrp="1"/>
          </p:cNvSpPr>
          <p:nvPr>
            <p:ph type="body" idx="1"/>
          </p:nvPr>
        </p:nvSpPr>
        <p:spPr>
          <a:xfrm>
            <a:off x="1007748"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4" name="Content Placeholder 3"/>
          <p:cNvSpPr>
            <a:spLocks noGrp="1"/>
          </p:cNvSpPr>
          <p:nvPr>
            <p:ph sz="half" idx="2"/>
          </p:nvPr>
        </p:nvSpPr>
        <p:spPr>
          <a:xfrm>
            <a:off x="1007748" y="3006090"/>
            <a:ext cx="6189344"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04E1F7-E333-4846-A6DF-8FA46494B7FD}" type="datetimeFigureOut">
              <a:rPr lang="en-US" smtClean="0"/>
              <a:t>3/23/21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581273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04E1F7-E333-4846-A6DF-8FA46494B7FD}" type="datetimeFigureOut">
              <a:rPr lang="en-US" smtClean="0"/>
              <a:t>3/23/21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8746123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4E1F7-E333-4846-A6DF-8FA46494B7FD}" type="datetimeFigureOut">
              <a:rPr lang="en-US" smtClean="0"/>
              <a:t>3/23/21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5617533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8" y="548640"/>
            <a:ext cx="4718684" cy="1920240"/>
          </a:xfrm>
        </p:spPr>
        <p:txBody>
          <a:bodyPr anchor="b"/>
          <a:lstStyle>
            <a:lvl1pPr>
              <a:defRPr sz="3840"/>
            </a:lvl1pPr>
          </a:lstStyle>
          <a:p>
            <a:r>
              <a:rPr lang="en-US"/>
              <a:t>Click to edit Master title style</a:t>
            </a:r>
          </a:p>
        </p:txBody>
      </p:sp>
      <p:sp>
        <p:nvSpPr>
          <p:cNvPr id="3" name="Content Placeholder 2"/>
          <p:cNvSpPr>
            <a:spLocks noGrp="1"/>
          </p:cNvSpPr>
          <p:nvPr>
            <p:ph idx="1"/>
          </p:nvPr>
        </p:nvSpPr>
        <p:spPr>
          <a:xfrm>
            <a:off x="6219826" y="1184912"/>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07748"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6704E1F7-E333-4846-A6DF-8FA46494B7FD}" type="datetimeFigureOut">
              <a:rPr lang="en-US" smtClean="0"/>
              <a:t>3/23/21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0053144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8" y="548640"/>
            <a:ext cx="4718684" cy="1920240"/>
          </a:xfrm>
        </p:spPr>
        <p:txBody>
          <a:bodyPr anchor="b"/>
          <a:lstStyle>
            <a:lvl1pPr>
              <a:defRPr sz="3840"/>
            </a:lvl1pPr>
          </a:lstStyle>
          <a:p>
            <a:r>
              <a:rPr lang="en-US"/>
              <a:t>Click to edit Master title style</a:t>
            </a:r>
          </a:p>
        </p:txBody>
      </p:sp>
      <p:sp>
        <p:nvSpPr>
          <p:cNvPr id="3" name="Picture Placeholder 2"/>
          <p:cNvSpPr>
            <a:spLocks noGrp="1"/>
          </p:cNvSpPr>
          <p:nvPr>
            <p:ph type="pic" idx="1"/>
          </p:nvPr>
        </p:nvSpPr>
        <p:spPr>
          <a:xfrm>
            <a:off x="6219826" y="1184912"/>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p:cNvSpPr>
            <a:spLocks noGrp="1"/>
          </p:cNvSpPr>
          <p:nvPr>
            <p:ph type="body" sz="half" idx="2"/>
          </p:nvPr>
        </p:nvSpPr>
        <p:spPr>
          <a:xfrm>
            <a:off x="1007748"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6704E1F7-E333-4846-A6DF-8FA46494B7FD}" type="datetimeFigureOut">
              <a:rPr lang="en-US" smtClean="0"/>
              <a:t>3/23/21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1289210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3/23/21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79767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3/23/21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42862729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asic Text">
    <p:spTree>
      <p:nvGrpSpPr>
        <p:cNvPr id="1" name=""/>
        <p:cNvGrpSpPr/>
        <p:nvPr/>
      </p:nvGrpSpPr>
      <p:grpSpPr>
        <a:xfrm>
          <a:off x="0" y="0"/>
          <a:ext cx="0" cy="0"/>
          <a:chOff x="0" y="0"/>
          <a:chExt cx="0" cy="0"/>
        </a:xfrm>
      </p:grpSpPr>
      <p:sp>
        <p:nvSpPr>
          <p:cNvPr id="69" name="Shape 69"/>
          <p:cNvSpPr/>
          <p:nvPr/>
        </p:nvSpPr>
        <p:spPr>
          <a:xfrm rot="5400000">
            <a:off x="13818870" y="293372"/>
            <a:ext cx="518160" cy="510541"/>
          </a:xfrm>
          <a:custGeom>
            <a:avLst/>
            <a:gdLst/>
            <a:ahLst/>
            <a:cxnLst>
              <a:cxn ang="0">
                <a:pos x="wd2" y="hd2"/>
              </a:cxn>
              <a:cxn ang="5400000">
                <a:pos x="wd2" y="hd2"/>
              </a:cxn>
              <a:cxn ang="10800000">
                <a:pos x="wd2" y="hd2"/>
              </a:cxn>
              <a:cxn ang="16200000">
                <a:pos x="wd2" y="hd2"/>
              </a:cxn>
            </a:cxnLst>
            <a:rect l="0" t="0" r="r" b="b"/>
            <a:pathLst>
              <a:path w="21600" h="21600" extrusionOk="0">
                <a:moveTo>
                  <a:pt x="16686" y="21600"/>
                </a:moveTo>
                <a:lnTo>
                  <a:pt x="21600" y="10800"/>
                </a:lnTo>
                <a:lnTo>
                  <a:pt x="16686" y="0"/>
                </a:lnTo>
                <a:lnTo>
                  <a:pt x="0" y="0"/>
                </a:lnTo>
                <a:lnTo>
                  <a:pt x="0" y="21600"/>
                </a:lnTo>
                <a:lnTo>
                  <a:pt x="16686" y="21600"/>
                </a:lnTo>
                <a:close/>
              </a:path>
            </a:pathLst>
          </a:custGeom>
          <a:solidFill>
            <a:schemeClr val="accent3">
              <a:lumOff val="5155"/>
            </a:schemeClr>
          </a:solidFill>
          <a:ln w="12700">
            <a:miter lim="400000"/>
          </a:ln>
        </p:spPr>
        <p:txBody>
          <a:bodyPr lIns="27432" rIns="27432"/>
          <a:lstStyle/>
          <a:p>
            <a:pPr>
              <a:defRPr sz="5600">
                <a:solidFill>
                  <a:srgbClr val="000000"/>
                </a:solidFill>
                <a:latin typeface="Gill Sans"/>
                <a:ea typeface="Gill Sans"/>
                <a:cs typeface="Gill Sans"/>
                <a:sym typeface="Gill Sans"/>
              </a:defRPr>
            </a:pPr>
            <a:endParaRPr sz="3360" dirty="0"/>
          </a:p>
        </p:txBody>
      </p:sp>
      <p:sp>
        <p:nvSpPr>
          <p:cNvPr id="72" name="Shape 72"/>
          <p:cNvSpPr>
            <a:spLocks noGrp="1"/>
          </p:cNvSpPr>
          <p:nvPr>
            <p:ph type="sldNum" sz="quarter" idx="2"/>
          </p:nvPr>
        </p:nvSpPr>
        <p:spPr>
          <a:prstGeom prst="rect">
            <a:avLst/>
          </a:prstGeom>
        </p:spPr>
        <p:txBody>
          <a:bodyPr/>
          <a:lstStyle/>
          <a:p>
            <a:fld id="{86CB4B4D-7CA3-9044-876B-883B54F8677D}" type="slidenum">
              <a:t>‹#›</a:t>
            </a:fld>
            <a:endParaRPr dirty="0"/>
          </a:p>
        </p:txBody>
      </p:sp>
      <p:sp>
        <p:nvSpPr>
          <p:cNvPr id="2" name="TextBox 1"/>
          <p:cNvSpPr txBox="1"/>
          <p:nvPr userDrawn="1"/>
        </p:nvSpPr>
        <p:spPr>
          <a:xfrm>
            <a:off x="1005512" y="2275680"/>
            <a:ext cx="61620" cy="874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0480" tIns="30480" rIns="30480" bIns="30480" numCol="1" spcCol="38100" rtlCol="0" anchor="ctr">
            <a:spAutoFit/>
          </a:bodyPr>
          <a:lstStyle/>
          <a:p>
            <a:pPr marL="0" marR="0" indent="0" algn="ctr" defTabSz="548640" rtl="0" fontAlgn="auto" latinLnBrk="0" hangingPunct="0">
              <a:lnSpc>
                <a:spcPct val="100000"/>
              </a:lnSpc>
              <a:spcBef>
                <a:spcPts val="0"/>
              </a:spcBef>
              <a:spcAft>
                <a:spcPts val="0"/>
              </a:spcAft>
              <a:buClrTx/>
              <a:buSzTx/>
              <a:buFontTx/>
              <a:buNone/>
              <a:tabLst/>
            </a:pPr>
            <a:endParaRPr kumimoji="0" lang="en-US" sz="5280" b="0" i="0" u="none" strike="noStrike" cap="none" spc="0" normalizeH="0" baseline="0" dirty="0">
              <a:ln>
                <a:noFill/>
              </a:ln>
              <a:solidFill>
                <a:srgbClr val="33B1DD"/>
              </a:solidFill>
              <a:effectLst/>
              <a:uFillTx/>
              <a:latin typeface="+mn-lt"/>
              <a:ea typeface="+mn-ea"/>
              <a:cs typeface="+mn-cs"/>
              <a:sym typeface="Helvetica"/>
            </a:endParaRPr>
          </a:p>
        </p:txBody>
      </p:sp>
    </p:spTree>
    <p:extLst>
      <p:ext uri="{BB962C8B-B14F-4D97-AF65-F5344CB8AC3E}">
        <p14:creationId xmlns:p14="http://schemas.microsoft.com/office/powerpoint/2010/main" val="429269135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2.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39" y="183898"/>
            <a:ext cx="13514832" cy="137160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48639" y="1645920"/>
            <a:ext cx="13514832" cy="568628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pic>
        <p:nvPicPr>
          <p:cNvPr id="7" name="Picture 6"/>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Tree>
    <p:extLst>
      <p:ext uri="{BB962C8B-B14F-4D97-AF65-F5344CB8AC3E}">
        <p14:creationId xmlns:p14="http://schemas.microsoft.com/office/powerpoint/2010/main" val="14311777"/>
      </p:ext>
    </p:extLst>
  </p:cSld>
  <p:clrMap bg1="dk1" tx1="lt1" bg2="dk2" tx2="lt2" accent1="accent1" accent2="accent2" accent3="accent3" accent4="accent4" accent5="accent5" accent6="accent6" hlink="hlink" folHlink="folHlink"/>
  <p:sldLayoutIdLst>
    <p:sldLayoutId id="2147483708" r:id="rId1"/>
    <p:sldLayoutId id="2147483675" r:id="rId2"/>
    <p:sldLayoutId id="2147483696" r:id="rId3"/>
    <p:sldLayoutId id="2147483677" r:id="rId4"/>
    <p:sldLayoutId id="2147483700" r:id="rId5"/>
    <p:sldLayoutId id="2147483697" r:id="rId6"/>
    <p:sldLayoutId id="2147483698" r:id="rId7"/>
    <p:sldLayoutId id="2147483699" r:id="rId8"/>
    <p:sldLayoutId id="2147483689" r:id="rId9"/>
    <p:sldLayoutId id="2147483678" r:id="rId10"/>
    <p:sldLayoutId id="2147483707" r:id="rId11"/>
    <p:sldLayoutId id="2147483679" r:id="rId12"/>
    <p:sldLayoutId id="2147483703" r:id="rId13"/>
    <p:sldLayoutId id="2147483704" r:id="rId14"/>
    <p:sldLayoutId id="2147483705" r:id="rId15"/>
    <p:sldLayoutId id="2147483690" r:id="rId16"/>
    <p:sldLayoutId id="2147483691" r:id="rId17"/>
    <p:sldLayoutId id="2147483692" r:id="rId18"/>
    <p:sldLayoutId id="2147483702" r:id="rId19"/>
    <p:sldLayoutId id="2147483680" r:id="rId20"/>
    <p:sldLayoutId id="2147483701" r:id="rId21"/>
    <p:sldLayoutId id="2147483693" r:id="rId22"/>
    <p:sldLayoutId id="2147483687" r:id="rId23"/>
    <p:sldLayoutId id="2147483706" r:id="rId24"/>
    <p:sldLayoutId id="2147483709" r:id="rId25"/>
    <p:sldLayoutId id="2147483710" r:id="rId26"/>
  </p:sldLayoutIdLst>
  <p:txStyles>
    <p:titleStyle>
      <a:lvl1pPr algn="l" defTabSz="731520" rtl="0" eaLnBrk="1" latinLnBrk="0" hangingPunct="1">
        <a:spcBef>
          <a:spcPct val="0"/>
        </a:spcBef>
        <a:buNone/>
        <a:defRPr sz="3800" b="1" i="0" kern="1200">
          <a:solidFill>
            <a:schemeClr val="tx1"/>
          </a:solidFill>
          <a:latin typeface="Amazon Ember Regular" charset="0"/>
          <a:ea typeface="+mj-ea"/>
          <a:cs typeface="Amazon Ember Regular" charset="0"/>
        </a:defRPr>
      </a:lvl1pPr>
    </p:titleStyle>
    <p:bodyStyle>
      <a:lvl1pPr marL="0" indent="0" algn="l" defTabSz="731520" rtl="0" eaLnBrk="1" latinLnBrk="0" hangingPunct="1">
        <a:spcBef>
          <a:spcPct val="20000"/>
        </a:spcBef>
        <a:buFontTx/>
        <a:buNone/>
        <a:defRPr sz="2900" b="0" i="0" kern="1200">
          <a:solidFill>
            <a:schemeClr val="tx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tx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tx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tx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tx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p:bodyStyle>
    <p:other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pos="8856" userDrawn="1">
          <p15:clr>
            <a:srgbClr val="F26B43"/>
          </p15:clr>
        </p15:guide>
        <p15:guide id="3" orient="horz" pos="103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2"/>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05840" y="7627622"/>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6704E1F7-E333-4846-A6DF-8FA46494B7FD}" type="datetimeFigureOut">
              <a:rPr lang="en-US" smtClean="0"/>
              <a:t>3/23/21</a:t>
            </a:fld>
            <a:endParaRPr lang="en-US"/>
          </a:p>
        </p:txBody>
      </p:sp>
      <p:sp>
        <p:nvSpPr>
          <p:cNvPr id="5" name="Footer Placeholder 4"/>
          <p:cNvSpPr>
            <a:spLocks noGrp="1"/>
          </p:cNvSpPr>
          <p:nvPr>
            <p:ph type="ftr" sz="quarter" idx="3"/>
          </p:nvPr>
        </p:nvSpPr>
        <p:spPr>
          <a:xfrm>
            <a:off x="4846320" y="7627622"/>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332720" y="7627622"/>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9696E381-4743-46AE-8912-83F5743ED2C9}" type="slidenum">
              <a:rPr lang="en-US" smtClean="0"/>
              <a:t>‹#›</a:t>
            </a:fld>
            <a:endParaRPr lang="en-US"/>
          </a:p>
        </p:txBody>
      </p:sp>
    </p:spTree>
    <p:extLst>
      <p:ext uri="{BB962C8B-B14F-4D97-AF65-F5344CB8AC3E}">
        <p14:creationId xmlns:p14="http://schemas.microsoft.com/office/powerpoint/2010/main" val="4010961308"/>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image" Target="../media/image24.png"/><Relationship Id="rId26" Type="http://schemas.openxmlformats.org/officeDocument/2006/relationships/image" Target="../media/image32.png"/><Relationship Id="rId21" Type="http://schemas.openxmlformats.org/officeDocument/2006/relationships/image" Target="../media/image27.png"/><Relationship Id="rId34" Type="http://schemas.openxmlformats.org/officeDocument/2006/relationships/image" Target="../media/image40.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2" Type="http://schemas.openxmlformats.org/officeDocument/2006/relationships/notesSlide" Target="../notesSlides/notesSlide2.xml"/><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png"/><Relationship Id="rId1" Type="http://schemas.openxmlformats.org/officeDocument/2006/relationships/slideLayout" Target="../slideLayouts/slideLayout38.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32" Type="http://schemas.openxmlformats.org/officeDocument/2006/relationships/image" Target="../media/image38.png"/><Relationship Id="rId37" Type="http://schemas.openxmlformats.org/officeDocument/2006/relationships/image" Target="../media/image43.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10" Type="http://schemas.openxmlformats.org/officeDocument/2006/relationships/image" Target="../media/image16.png"/><Relationship Id="rId19" Type="http://schemas.openxmlformats.org/officeDocument/2006/relationships/image" Target="../media/image25.png"/><Relationship Id="rId31"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png"/><Relationship Id="rId30" Type="http://schemas.openxmlformats.org/officeDocument/2006/relationships/image" Target="../media/image36.png"/><Relationship Id="rId35" Type="http://schemas.openxmlformats.org/officeDocument/2006/relationships/image" Target="../media/image41.png"/><Relationship Id="rId8" Type="http://schemas.openxmlformats.org/officeDocument/2006/relationships/image" Target="../media/image14.png"/><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aws.amazon.com/about-aws/whats-new/2021/03/aws-announces-service-aws-fault-injection-simulator/"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aws.amazon.com/about-aws/whats-new/2021/03/aws-lambda-adds-four-trusted-advisor-checks/"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aws.amazon.com/about-aws/whats-new/2021/03/amazon-eventbridge-introduces-support-for-api-destinations/"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hyperlink" Target="https://aws.amazon.com/about-aws/whats-new/2021/03/amazon-eventbridge-now-supports-propagation-of-x-ray-trace-context/" TargetMode="External"/><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aws.amazon.com/about-aws/whats-new/2021/03/aws-step-functions-adds-tooling-support-for-yaml/"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aws.amazon.com/about-aws/whats-new/2021/03/amazon-ec2-now-supports-uefi-boot-when-migrating-virtual-machines-to-ec2/" TargetMode="External"/><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hyperlink" Target="https://aws.amazon.com/about-aws/whats-new/2021/02/amazon-ec2-mac-instances-now-support-macos-big-sur/" TargetMode="Externa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hyperlink" Target="https://aws.amazon.com/about-aws/whats-new/2021/02/application-load-balancer-supports-application-cookie-stickiness/" TargetMode="Externa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hyperlink" Target="https://aws.amazon.com/about-aws/whats-new/2021/01/amazon-elastic-file-system-triples-read-throughput/" TargetMode="Externa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aws.amazon.com/about-aws/whats-new/2021/01/amazon-ebs-announces-cloudwatch-metrics-with-1-minute-granularity-on-all-ebs-volume-types/"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hyperlink" Target="https://aws.amazon.com/about-aws/whats-new/2021/01/amazon-cloudwatch-agent-now-supports-macos-on-amazon-ec2-mac-instances/" TargetMode="Externa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aws.amazon.com/about-aws/whats-new/2021/01/amazon-cloudwatch-agent-now-supports-opentelemetry-apis-and-sdks/" TargetMode="External"/><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hyperlink" Target="https://aws.amazon.com/about-aws/whats-new/2021/01/monitor-your-amazon-efs-storage-usage-with-amazon-cloudwatch/" TargetMode="Externa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aws.amazon.com/about-aws/whats-new/2021/01/introducing-aws-transfer-family-support-for-amazon-efs/" TargetMode="External"/><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aws.amazon.com/about-aws/whats-new/2021/03/amazon-comprehend-identifies-documents-that-contain-pii/"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s://aws.amazon.com/about-aws/whats-new/2021/03/announcing-support-for-multiple-containers-on-amazon-sageamker-inference-endpoints/"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hyperlink" Target="https://aws.amazon.com/about-aws/whats-new/2021/01/amazon-emr-release-5-32-supports-emr-eks-emr-studio-preview/" TargetMode="Externa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hyperlink" Target="https://aws.amazon.com/about-aws/whats-new/2021/02/aws-glue-studio-jobs-update-aws-glue-data-catalog-tables/" TargetMode="Externa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hyperlink" Target="https://aws.amazon.com/about-aws/whats-new/2021/02/aws-glue-studio-supports-reading-uncatalogued-data-s3-inferring-schema/" TargetMode="Externa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hyperlink" Target="https://aws.amazon.com/about-aws/whats-new/2021/01/aws-step-functions-support-aws-glue-databrew-jobs-data-analytics-machine-learning-workflows/" TargetMode="Externa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about-aws/whats-new/2021/02/aws-glue-databrew-supports-transformations-seven-additional-datatypes/" TargetMode="Externa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hyperlink" Target="https://aws.amazon.com/about-aws/whats-new/2021/03/amazon-eks-reduces-cluster-creation-time-40-percent/" TargetMode="Externa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hyperlink" Target="https://aws.amazon.com/about-aws/whats-new/2021/03/amazon-ecs-now-allows-you-to-execute-commands-in-a-container-running-on-amazon-ec2-or-aws-fargate/" TargetMode="Externa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hyperlink" Target="https://aws.amazon.com/about-aws/whats-new/2021/03/aws-fargate-updates-platform-version-1-4-0-to-be-the-latest-version/" TargetMode="Externa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hyperlink" Target="https://aws.amazon.com/about-aws/whats-new/2021/03/amazon-eks-now-supports-creation-and-management-of-add-ons-using-aws-cloudformation/"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hyperlink" Target="https://aws.amazon.com/about-aws/whats-new/2021/03/aws-proton-now-supports-tagging-capabilities/" TargetMode="Externa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hyperlink" Target="https://aws.amazon.com/about-aws/whats-new/2021/02/aws-config-supports-amazon-container-services/" TargetMode="Externa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hyperlink" Target="https://aws.amazon.com/about-aws/whats-new/2021/02/announcing-aws-app-mesh-controller-for-kubernetes-version-1-3-0-with-mtls-support/" TargetMode="Externa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hyperlink" Target="https://aws.amazon.com/about-aws/whats-new/2021/01/amazon-ecs-increased-service-quotas-tasks-per-service-services-per-cluster/" TargetMode="Externa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hyperlink" Target="https://aws.amazon.com/about-aws/whats-new/2021/02/aws-fargate-increases-default-resource-count-service-quotas-to-1000/" TargetMode="Externa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hyperlink" Target="https://aws.amazon.com/about-aws/whats-new/2021/01/amazon-ecs-supports-vpc-endpoint-policies/"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hyperlink" Target="https://aws.amazon.com/about-aws/whats-new/2021/03/amazon-rds-for-mysql-supports-rollback-protection/" TargetMode="Externa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hyperlink" Target="https://aws.amazon.com/about-aws/whats-new/2021/03/amazon-rds-proxy-supports-database-connectivity-from-multiple-amazon-vpcs/" TargetMode="Externa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hyperlink" Target="https://aws.amazon.com/about-aws/whats-new/2021/03/amazon-rds-proxy-adds-read-only-endpoints-for-amazon-aurora-replicas/" TargetMode="Externa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hyperlink" Target="https://aws.amazon.com/about-aws/whats-new/2021/03/achieve-up-to-35-percent-better-price-performance-with-amazon-aurora-using-new-graviton2-instances/" TargetMode="Externa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hyperlink" Target="https://aws.amazon.com/about-aws/whats-new/2021/02/amazon-keyspaces-for-apache-cassandra-now-supports-pci-dss-compliance/" TargetMode="Externa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hyperlink" Target="https://aws.amazon.com/about-aws/whats-new/2021/02/you-now-can-use-partiql-with-dynamodb-local-to-query-insert-update-and-delete-table-data-in-amazon-dynamodb/" TargetMode="Externa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hyperlink" Target="https://aws.amazon.com/about-aws/whats-new/2021/01/amazon-aurora-supports-postgresql-12/" TargetMode="Externa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hyperlink" Target="https://aws.amazon.com/about-aws/whats-new/2021/01/amazon-timestream-can-now-be-used-for-workloads-subject-to-hipaa-iso-and-pci-dss/" TargetMode="Externa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hyperlink" Target="https://aws.amazon.com/about-aws/whats-new/2021/03/aws-backup-adds-support-for-continuous-backup-and-point-in-time-recovery-of-amazon-rds-instances/" TargetMode="Externa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hyperlink" Target="https://aws.amazon.com/about-aws/whats-new/2021/02/amazon-s3-now-supports-aws-privatelink/" TargetMode="External"/><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hyperlink" Target="https://aws.amazon.com/about-aws/whats-new/2021/03/amazon-s3-glacier-announces-price-reduction-for-put-and-lifecycle-requests/" TargetMode="Externa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hyperlink" Target="https://aws.amazon.com/about-aws/whats-new/2021/03/s3-object-lambda-allows-you-to-add-your-own-code-to-s3-get-requests-to-modify-and-process-data-as-it-is-returned-to-an-application/" TargetMode="External"/><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hyperlink" Target="https://aws.amazon.com/about-aws/whats-new/2021/01/aws-control-tower-extends-governance-existing-ous-aws-organizations/" TargetMode="Externa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hyperlink" Target="https://aws.amazon.com/about-aws/whats-new/2021/03/aws-audit-manager-now-supports-cis-aws-foundations-benchmark-v1-3-0-level-1/" TargetMode="External"/><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hyperlink" Target="https://aws.amazon.com/about-aws/whats-new/2021/03/iam-access-analyzer-supports-over-100-policy-checks-with-actionable-recommendations/" TargetMode="External"/><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hyperlink" Target="https://aws.amazon.com/about-aws/whats-new/2021/03/iam-access-analyzer-validate-access-before-deploying-permissions-changes/" TargetMode="External"/><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hyperlink" Target="https://aws.amazon.com/about-aws/whats-new/2021/03/aws-security-hub-adds-25-new-controls-to-foundational-security-best-practices-standard/" TargetMode="External"/><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hyperlink" Target="https://aws.amazon.com/about-aws/whats-new/2021/03/amazon-vpc-flow-logs-now-reflects-aws-service-name-traffic-path-and-flow-direction/" TargetMode="External"/><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hyperlink" Target="https://aws.amazon.com/about-aws/whats-new/2021/02/amazon-macie-announces-new-capabilities/" TargetMode="Externa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hyperlink" Target="https://aws.amazon.com/about-aws/whats-new/2021/01/amazon-api-gateway-supports-data-mapping-http-apis/" TargetMode="External"/><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hyperlink" Target="https://aws.amazon.com/about-aws/whats-new/2021/02/amazon-cloudwatch-synthetics-supports-canary-events-with-amazon-eventbridge/" TargetMode="Externa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hyperlink" Target="https://aws.amazon.com/about-aws/whats-new/2021/03/amazon-ec2-auto-scaling-instance-refresh-supports-phased-deployments/" TargetMode="Externa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hyperlink" Target="https://aws.amazon.com/about-aws/whats-new/2021/02/insights-is-now-generally-available-for-aws-x-ray/" TargetMode="Externa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hyperlink" Target="https://aws.amazon.com/about-aws/whats-new/2021/01/amazon-msk-now-supports-the-ability-to-change-the-size-or-family/" TargetMode="Externa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hyperlink" Target="https://aws.amazon.com/about-aws/whats-new/2021/03/aws-glue-databrew-enhances-its-data-quality-dashboard-with-a-visual-comparison-matrix/" TargetMode="Externa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hyperlink" Target="https://aws.amazon.com/about-aws/whats-new/2021/03/aws-proton-introduces-deletion-protectionfor-in-use-templates/" TargetMode="Externa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hyperlink" Target="https://aws.amazon.com/about-aws/whats-new/2021/02/amazon-eks-clusters-support-user-authentication-oidc-compatible-identity-providers/" TargetMode="Externa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hyperlink" Target="https://aws.amazon.com/about-aws/whats-new/2021/03/amazon-rds-oracle-supports-january-2021-patch-set-update/" TargetMode="Externa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hyperlink" Target="https://aws.amazon.com/about-aws/whats-new/2021/01/achieve-faster-database-failover-with-amazon-web-services-mysql-jdbc-driver-now-in-preview/" TargetMode="Externa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hyperlink" Target="https://aws.amazon.com/about-aws/whats-new/2021/01/amazon-guardduty-enhances-security-incident-investigation-workflows-through-new-integration-with-amazon-detective/" TargetMode="Externa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hyperlink" Target="https://aws.amazon.com/about-aws/whats-new/2021/03/aws-shield-advanced-now-supports-resource-tagging/" TargetMode="Externa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hyperlink" Target="https://aws.amazon.com/about-aws/whats-new/2021/03/amazon-connect-launches-new-metric-capabilities-for-measuring-queue-service-levels/" TargetMode="External"/><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hyperlink" Target="https://aws.amazon.com/about-aws/whats-new/2021/03/amazon-workspaces-introduces-bundle-management-apis/" TargetMode="Externa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hyperlink" Target="https://aws.amazon.com/about-aws/whats-new/2021/03/amazon-connect-customer-profiles-now-supports-data-sources-from-amazon-s3/" TargetMode="Externa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hyperlink" Target="https://aws.amazon.com/about-aws/whats-new/2021/03/amazon-qldb-increases-verification-apis-throughput-order-of-magnitude/" TargetMode="Externa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hyperlink" Target="https://aws.amazon.com/about-aws/whats-new/2021/03/aws-copilot-launches-v1-4/" TargetMode="Externa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hyperlink" Target="https://aws.amazon.com/about-aws/whats-new/2021/03/announcing-general-availability-amazon-corretto-16/" TargetMode="Externa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hyperlink" Target="https://aws.amazon.com/about-aws/whats-new/2021/03/aws-cost-anomaly-detection-supports-aws-cloudformation/" TargetMode="Externa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hyperlink" Target="https://aws.amazon.com/about-aws/whats-new/2021/03/aws-config-adds-3-new-config-rules-for-amazon-secrets-manager/" TargetMode="Externa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hyperlink" Target="https://aws.amazon.com/about-aws/whats-new/2021/03/amazon-ec2-auto-scaling-adds-support-for-local-time-zones-for-scheduled-scaling/" TargetMode="Externa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hyperlink" Target="https://aws.amazon.com/about-aws/whats-new/2021/03/amazon-elasticsearch-service-publishes-events-to-amazon-cloudwatch-amazon-eventbridge/" TargetMode="Externa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hyperlink" Target="https://aws.amazon.com/about-aws/whats-new/2021/03/amazon-rds-for-oracle-supports-oma-version-13-4-for-oracle-manager-cloud-control-13cr4/" TargetMode="Externa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hyperlink" Target="https://aws.amazon.com/about-aws/whats-new/2021/03/announcing-general-availability-of-amazon-redshift-data-sharing/" TargetMode="Externa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hyperlink" Target="https://aws.amazon.com/about-aws/whats-new/2021/03/announcing-general-availability-of-amazon-redshift-cross-database-queries/" TargetMode="Externa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hyperlink" Target="https://aws.amazon.com/about-aws/whats-new/2021/03/cloudendure-migration-cloudendure-disaster-recoverysupports-ebs-local-snapshots-on-aws-outposts/" TargetMode="Externa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hyperlink" Target="https://aws.amazon.com/about-aws/whats-new/2021/03/amazon-rds-for-postgresql-supports-managed-disaster-recovery-dr-with-cross-region-automated-backups/" TargetMode="Externa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hyperlink" Target="https://aws.amazon.com/about-aws/whats-new/2021/03/aws-proton-supports-services-without-pipelines/" TargetMode="Externa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hyperlink" Target="https://aws.amazon.com/about-aws/whats-new/2021/03/aws-glue-databrew-adds-binning-skewness-binarization-transformations-pre-processing-data/" TargetMode="Externa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hyperlink" Target="https://aws.amazon.com/about-aws/whats-new/2021/03/amazon-connect-provides-out-of-box-chat-user-interface-website/" TargetMode="Externa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hyperlink" Target="https://aws.amazon.com/about-aws/whats-new/2021/03/aws-secrets-manager-provides-support-to-replicate-secrets-in-aws-secrets-manager-to-multiple-aws-regions/" TargetMode="Externa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hyperlink" Target="https://aws.amazon.com/about-aws/whats-new/2021/03/aws-systems-manager-change-manager-supports-multi-level-approvals/" TargetMode="Externa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2" Type="http://schemas.openxmlformats.org/officeDocument/2006/relationships/hyperlink" Target="https://aws.amazon.com/about-aws/whats-new/2021/03/aws-systems-manager-opscenter-now-displays-an-aggregated-view-of-all-operational-issues-for-a-specified-resource/" TargetMode="Externa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hyperlink" Target="https://aws.amazon.com/about-aws/whats-new/2021/03/aws-certificate-manager-provides-certificate-expiry-monitoring-through-amazon-cloudwatch/" TargetMode="Externa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hyperlink" Target="https://aws.amazon.com/about-aws/whats-new/2021/03/aws-glue-databrew-extends-its-dataset/" TargetMode="External"/><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hyperlink" Target="https://aws.amazon.com/about-aws/whats-new/2021/03/announcing-general-availability-of-ethereum-on-amazon-managed-blockchain/" TargetMode="Externa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hyperlink" Target="https://aws.amazon.com/about-aws/whats-new/2021/03/amazon-elasticsearch-service-now-supports-tag-based-authorization-for-configuration-apis/" TargetMode="Externa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hyperlink" Target="https://aws.amazon.com/about-aws/whats-new/2021/03/the-aws-lambda-console-now-features-a-new-navigation-design/" TargetMode="Externa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hyperlink" Target="https://aws.amazon.com/about-aws/whats-new/2021/03/amazon-eks-supports-adding-kms-envelope-encryption-to-existing-clusters/" TargetMode="Externa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hyperlink" Target="https://aws.amazon.com/about-aws/whats-new/2021/03/amazon-connect-supports-15-minute-intervals-for-historical-metric-reporting/" TargetMode="Externa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hyperlink" Target="https://aws.amazon.com/about-aws/whats-new/2021/03/2021-aws-deepracer-league-season-underway/" TargetMode="External"/><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2" Type="http://schemas.openxmlformats.org/officeDocument/2006/relationships/hyperlink" Target="https://aws.amazon.com/about-aws/whats-new/2021/03/amazon-cloudwatch-synthetics-now-supports-cross-region-bucket-access-and-upgraded-dependencies/" TargetMode="Externa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2" Type="http://schemas.openxmlformats.org/officeDocument/2006/relationships/hyperlink" Target="https://aws.amazon.com/about-aws/whats-new/2021/02/aws-network-firewall-solution-aws-transit-gateway-generally-available/" TargetMode="Externa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hyperlink" Target="https://aws.amazon.com/about-aws/whats-new/2021/02/amazon-elasticsearch-service-supports-rollups-reducing-storage-costs-extended-retention/" TargetMode="External"/><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2" Type="http://schemas.openxmlformats.org/officeDocument/2006/relationships/hyperlink" Target="https://aws.amazon.com/about-aws/whats-new/2021/02/amazon-rds-now-supports-postgresql-13/" TargetMode="External"/><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2" Type="http://schemas.openxmlformats.org/officeDocument/2006/relationships/hyperlink" Target="https://aws.amazon.com/about-aws/whats-new/2021/02/amazon-ec2-auto-scaling-shows-scaling-history-deleted-groups/" TargetMode="External"/><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2" Type="http://schemas.openxmlformats.org/officeDocument/2006/relationships/hyperlink" Target="https://aws.amazon.com/about-aws/whats-new/2021/02/access-amazon-efs-file-systems-from-ec2-mac-instances-running-macos-big-sur/" TargetMode="External"/><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hyperlink" Target="https://aws.amazon.com/about-aws/whats-new/2021/02/amazon-aurora-postgresql-patches-now-available/" TargetMode="External"/><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2" Type="http://schemas.openxmlformats.org/officeDocument/2006/relationships/hyperlink" Target="https://aws.amazon.com/about-aws/whats-new/2021/02/amazon-elasticsearch-service-support-reporting-kibana/" TargetMode="External"/><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2" Type="http://schemas.openxmlformats.org/officeDocument/2006/relationships/hyperlink" Target="https://aws.amazon.com/about-aws/whats-new/2021/02/amazon-cloudwatch-contributor-insights-for-amazon-dynamodb-now-supports-aws-cloudformation/" TargetMode="External"/><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2" Type="http://schemas.openxmlformats.org/officeDocument/2006/relationships/hyperlink" Target="https://aws.amazon.com/about-aws/whats-new/2021/02/amazon-connect-now-provides-disconnect-reason-voice-calls-tasks/" TargetMode="External"/><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2" Type="http://schemas.openxmlformats.org/officeDocument/2006/relationships/hyperlink" Target="https://aws.amazon.com/about-aws/whats-new/2021/02/aws-codebuild-supports-arm-based-workloads-using-aws-graviton2/" TargetMode="External"/><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2" Type="http://schemas.openxmlformats.org/officeDocument/2006/relationships/hyperlink" Target="https://aws.amazon.com/about-aws/whats-new/2021/02/aws-control-tower-now-provides-region-selection/" TargetMode="External"/><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2" Type="http://schemas.openxmlformats.org/officeDocument/2006/relationships/hyperlink" Target="https://aws.amazon.com/about-aws/whats-new/2021/02/support-for-kms-encryption-on-s3-buckets-used-by-aws-config/" TargetMode="Externa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2" Type="http://schemas.openxmlformats.org/officeDocument/2006/relationships/hyperlink" Target="https://aws.amazon.com/about-aws/whats-new/2021/02/amazon-rds-publishes-new-events-multi-az-deployments/" TargetMode="External"/><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2" Type="http://schemas.openxmlformats.org/officeDocument/2006/relationships/hyperlink" Target="https://aws.amazon.com/about-aws/whats-new/2021/02/assign-delegated-administrator-manage-aws-cloudformation-stacksets-across-aws-organization/" TargetMode="External"/><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2" Type="http://schemas.openxmlformats.org/officeDocument/2006/relationships/hyperlink" Target="https://aws.amazon.com/about-aws/whats-new/2021/02/amazon-elasticsearch-service-adds-trace-analysis-new-feature-distributed-tracing/" TargetMode="External"/><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2" Type="http://schemas.openxmlformats.org/officeDocument/2006/relationships/hyperlink" Target="https://aws.amazon.com/about-aws/whats-new/2021/02/amazon-eks-supports-kubernetes-version-1-19/" TargetMode="External"/><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2" Type="http://schemas.openxmlformats.org/officeDocument/2006/relationships/hyperlink" Target="https://aws.amazon.com/about-aws/whats-new/2021/02/aws-direct-connect-announces-native-100-gbps-connections-select-locations/" TargetMode="External"/><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2" Type="http://schemas.openxmlformats.org/officeDocument/2006/relationships/hyperlink" Target="https://aws.amazon.com/about-aws/whats-new/2021/02/amazon-dynamodb-accelerator-dax-now-supports-amazon-ec2-t3-instance-types/" TargetMode="External"/><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2" Type="http://schemas.openxmlformats.org/officeDocument/2006/relationships/hyperlink" Target="https://aws.amazon.com/about-aws/whats-new/2021/02/amazon-rds-mysql-mariadb-support-replication-filtering/" TargetMode="External"/><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2" Type="http://schemas.openxmlformats.org/officeDocument/2006/relationships/hyperlink" Target="https://aws.amazon.com/about-aws/whats-new/2021/02/now-launch-amazon-sagemaker-studio-aws-cloudformation/" TargetMode="External"/><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2" Type="http://schemas.openxmlformats.org/officeDocument/2006/relationships/hyperlink" Target="https://aws.amazon.com/about-aws/whats-new/2021/02/aws-waf-support-json-body-inspection/" TargetMode="External"/><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2" Type="http://schemas.openxmlformats.org/officeDocument/2006/relationships/hyperlink" Target="https://aws.amazon.com/about-aws/whats-new/2021/02/introducing-amazon-vpc-endpoints-aws-cloudhsm/" TargetMode="Externa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2" Type="http://schemas.openxmlformats.org/officeDocument/2006/relationships/hyperlink" Target="https://aws.amazon.com/about-aws/whats-new/2021/02/aws-identity-and-access-management-now-supports-tags-on-additional-resources/" TargetMode="Externa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2" Type="http://schemas.openxmlformats.org/officeDocument/2006/relationships/hyperlink" Target="https://aws.amazon.com/about-aws/whats-new/2021/02/amazon-aurora-global-database-supports-managed-planned-failover/" TargetMode="Externa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2" Type="http://schemas.openxmlformats.org/officeDocument/2006/relationships/hyperlink" Target="https://aws.amazon.com/about-aws/whats-new/2021/02/aws-glue-databrew-allows-configure-size-dataset-auto-generating-data-quality-statistics/" TargetMode="External"/><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2" Type="http://schemas.openxmlformats.org/officeDocument/2006/relationships/hyperlink" Target="https://aws.amazon.com/about-aws/whats-new/2021/02/amazon-vpc-traffic-mirroring-supported-select-non-nitro-instance-types/" TargetMode="External"/><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2" Type="http://schemas.openxmlformats.org/officeDocument/2006/relationships/hyperlink" Target="https://aws.amazon.com/about-aws/whats-new/2021/02/amazon-timestream-offers-cross-table-queries-query-execution-statistics-more/" TargetMode="External"/><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2" Type="http://schemas.openxmlformats.org/officeDocument/2006/relationships/hyperlink" Target="https://aws.amazon.com/about-aws/whats-new/2021/02/aws-glue-provides-column-importance-metrics-findmatches-machine-learning-transform/" TargetMode="External"/><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2" Type="http://schemas.openxmlformats.org/officeDocument/2006/relationships/hyperlink" Target="https://aws.amazon.com/about-aws/whats-new/2021/02/amazon-keyspaces-for-apache-cassandra-supporting-point-in-time-recovery-tag-settings-aws-cloudformation/" TargetMode="External"/><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2" Type="http://schemas.openxmlformats.org/officeDocument/2006/relationships/hyperlink" Target="https://aws.amazon.com/about-aws/whats-new/2021/02/aws-cloud-map-supports-resource-tagging-aws-console/" TargetMode="External"/><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2" Type="http://schemas.openxmlformats.org/officeDocument/2006/relationships/hyperlink" Target="https://aws.amazon.com/about-aws/whats-new/2021/02/introducing-amazon-ec2-m5n-m5dn-r5n-and-r5dn-bare-metal-instances/" TargetMode="Externa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2" Type="http://schemas.openxmlformats.org/officeDocument/2006/relationships/hyperlink" Target="https://aws.amazon.com/about-aws/whats-new/2021/02/aws-copilot-launches-v1-2-providing-more-deployment-capabilities/" TargetMode="External"/><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2" Type="http://schemas.openxmlformats.org/officeDocument/2006/relationships/hyperlink" Target="https://aws.amazon.com/about-aws/whats-new/2021/02/aws-app-mesh-supports-mutual-tls-authentication/" TargetMode="External"/><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2" Type="http://schemas.openxmlformats.org/officeDocument/2006/relationships/hyperlink" Target="https://aws.amazon.com/about-aws/whats-new/2021/02/aws-backup-events-metrics-available-amazon-cloudwatch/" TargetMode="External"/><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2" Type="http://schemas.openxmlformats.org/officeDocument/2006/relationships/hyperlink" Target="https://aws.amazon.com/about-aws/whats-new/2021/02/take-actions-before-after-patching-improve-safety-patch-installation/" TargetMode="External"/><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2" Type="http://schemas.openxmlformats.org/officeDocument/2006/relationships/hyperlink" Target="https://aws.amazon.com/about-aws/whats-new/2021/02/aws-lambda-now-supports-node-js-14/" TargetMode="External"/><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2" Type="http://schemas.openxmlformats.org/officeDocument/2006/relationships/hyperlink" Target="https://aws.amazon.com/about-aws/whats-new/2021/02/amazon-cloudwatch-synthetics-supports-amazon-api-gateway-api-blueprint/" TargetMode="External"/><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2" Type="http://schemas.openxmlformats.org/officeDocument/2006/relationships/hyperlink" Target="https://aws.amazon.com/about-aws/whats-new/2021/02/amazon-rds-for-oracle-supports-oracle-apex-version-20-2/" TargetMode="External"/><Relationship Id="rId1" Type="http://schemas.openxmlformats.org/officeDocument/2006/relationships/slideLayout" Target="../slideLayouts/slideLayout9.xml"/></Relationships>
</file>

<file path=ppt/slides/_rels/slide137.xml.rels><?xml version="1.0" encoding="UTF-8" standalone="yes"?>
<Relationships xmlns="http://schemas.openxmlformats.org/package/2006/relationships"><Relationship Id="rId2" Type="http://schemas.openxmlformats.org/officeDocument/2006/relationships/hyperlink" Target="https://aws.amazon.com/about-aws/whats-new/2021/02/amazon-s3-batch-operations-adds-support-for-delete-object-tagging/" TargetMode="Externa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2" Type="http://schemas.openxmlformats.org/officeDocument/2006/relationships/hyperlink" Target="https://aws.amazon.com/about-aws/whats-new/2021/02/scheduled-actions-application-auto-scaling-support-local-time-zone/" TargetMode="Externa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2" Type="http://schemas.openxmlformats.org/officeDocument/2006/relationships/hyperlink" Target="https://aws.amazon.com/about-aws/whats-new/2021/01/amazon-guardduty-introduces-machine-learning-domain-reputation-model/" TargetMode="External"/><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2" Type="http://schemas.openxmlformats.org/officeDocument/2006/relationships/hyperlink" Target="https://aws.amazon.com/about-aws/whats-new/2021/01/amazon-sns-now-supports-1-minute-cloudwatch-metrics/" TargetMode="External"/><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2" Type="http://schemas.openxmlformats.org/officeDocument/2006/relationships/hyperlink" Target="https://aws.amazon.com/about-aws/whats-new/2021/01/amazon-managed-blockchain-supports-resource-tagging-tag-based-access-control/" TargetMode="External"/><Relationship Id="rId1" Type="http://schemas.openxmlformats.org/officeDocument/2006/relationships/slideLayout" Target="../slideLayouts/slideLayout9.xml"/></Relationships>
</file>

<file path=ppt/slides/_rels/slide142.xml.rels><?xml version="1.0" encoding="UTF-8" standalone="yes"?>
<Relationships xmlns="http://schemas.openxmlformats.org/package/2006/relationships"><Relationship Id="rId2" Type="http://schemas.openxmlformats.org/officeDocument/2006/relationships/hyperlink" Target="https://aws.amazon.com/about-aws/whats-new/2021/01/amazon-cloudwatch-now-adds-fluent-bit-support-for-container-logs-from-amazon-eks-and-kubernetes/" TargetMode="External"/><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2" Type="http://schemas.openxmlformats.org/officeDocument/2006/relationships/hyperlink" Target="https://aws.amazon.com/about-aws/whats-new/2021/01/amazon-aurora-supports-in-place-upgrades-postgresql-11-12/" TargetMode="External"/><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2" Type="http://schemas.openxmlformats.org/officeDocument/2006/relationships/hyperlink" Target="https://aws.amazon.com/about-aws/whats-new/2021/01/amazon-elasticsearch-service-extends-data-encryption-rest-node-to-node-encryption-support-existing-domains/" TargetMode="External"/><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2" Type="http://schemas.openxmlformats.org/officeDocument/2006/relationships/hyperlink" Target="https://aws.amazon.com/about-aws/whats-new/2021/01/discover-review-remediate-unintended-access-secrets-manager-iam-access-analyzer/" TargetMode="External"/><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2" Type="http://schemas.openxmlformats.org/officeDocument/2006/relationships/hyperlink" Target="https://aws.amazon.com/about-aws/whats-new/2021/01/aws-shield-advanced-now-provides-mitigation-metrics-and-network-traffic-timelines/" TargetMode="External"/><Relationship Id="rId1" Type="http://schemas.openxmlformats.org/officeDocument/2006/relationships/slideLayout" Target="../slideLayouts/slideLayout9.xml"/></Relationships>
</file>

<file path=ppt/slides/_rels/slide147.xml.rels><?xml version="1.0" encoding="UTF-8" standalone="yes"?>
<Relationships xmlns="http://schemas.openxmlformats.org/package/2006/relationships"><Relationship Id="rId2" Type="http://schemas.openxmlformats.org/officeDocument/2006/relationships/hyperlink" Target="https://aws.amazon.com/about-aws/whats-new/2021/01/amazon-redshift-doubles-managed-storage-quota-128-tb-per-mode/" TargetMode="External"/><Relationship Id="rId1" Type="http://schemas.openxmlformats.org/officeDocument/2006/relationships/slideLayout" Target="../slideLayouts/slideLayout9.xml"/></Relationships>
</file>

<file path=ppt/slides/_rels/slide148.xml.rels><?xml version="1.0" encoding="UTF-8" standalone="yes"?>
<Relationships xmlns="http://schemas.openxmlformats.org/package/2006/relationships"><Relationship Id="rId2" Type="http://schemas.openxmlformats.org/officeDocument/2006/relationships/hyperlink" Target="https://aws.amazon.com/about-aws/whats-new/2021/01/amazon-keyspaces-for-apache-cassandra-now-supports-json-syntax/" TargetMode="External"/><Relationship Id="rId1" Type="http://schemas.openxmlformats.org/officeDocument/2006/relationships/slideLayout" Target="../slideLayouts/slideLayout9.xml"/></Relationships>
</file>

<file path=ppt/slides/_rels/slide149.xml.rels><?xml version="1.0" encoding="UTF-8" standalone="yes"?>
<Relationships xmlns="http://schemas.openxmlformats.org/package/2006/relationships"><Relationship Id="rId2" Type="http://schemas.openxmlformats.org/officeDocument/2006/relationships/hyperlink" Target="https://aws.amazon.com/about-aws/whats-new/2021/01/resource-groups-tagging-api-launches-resourcearnlist-parameter-getresources-operation/" TargetMode="External"/><Relationship Id="rId1" Type="http://schemas.openxmlformats.org/officeDocument/2006/relationships/slideLayout" Target="../slideLayouts/slideLayout9.xml"/></Relationships>
</file>

<file path=ppt/slides/_rels/slide150.xml.rels><?xml version="1.0" encoding="UTF-8" standalone="yes"?>
<Relationships xmlns="http://schemas.openxmlformats.org/package/2006/relationships"><Relationship Id="rId2" Type="http://schemas.openxmlformats.org/officeDocument/2006/relationships/hyperlink" Target="https://aws.amazon.com/about-aws/whats-new/2021/01/amazon-detective-enhances-ip-address-analytics/" TargetMode="External"/><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2" Type="http://schemas.openxmlformats.org/officeDocument/2006/relationships/hyperlink" Target="https://aws.amazon.com/about-aws/whats-new/2021/01/amazon-rds-postgresql-supports-pg-cron-extension-scheduling-database-jobs/" TargetMode="External"/><Relationship Id="rId1" Type="http://schemas.openxmlformats.org/officeDocument/2006/relationships/slideLayout" Target="../slideLayouts/slideLayout9.xml"/></Relationships>
</file>

<file path=ppt/slides/_rels/slide152.xml.rels><?xml version="1.0" encoding="UTF-8" standalone="yes"?>
<Relationships xmlns="http://schemas.openxmlformats.org/package/2006/relationships"><Relationship Id="rId2" Type="http://schemas.openxmlformats.org/officeDocument/2006/relationships/hyperlink" Target="https://aws.amazon.com/about-aws/whats-new/2021/01/aws-certificate-manager-private-certificate-authority-additional-certificate-customization/" TargetMode="External"/><Relationship Id="rId1" Type="http://schemas.openxmlformats.org/officeDocument/2006/relationships/slideLayout" Target="../slideLayouts/slideLayout9.xml"/></Relationships>
</file>

<file path=ppt/slides/_rels/slide153.xml.rels><?xml version="1.0" encoding="UTF-8" standalone="yes"?>
<Relationships xmlns="http://schemas.openxmlformats.org/package/2006/relationships"><Relationship Id="rId2" Type="http://schemas.openxmlformats.org/officeDocument/2006/relationships/hyperlink" Target="https://aws.amazon.com/about-aws/whats-new/2021/01/aws-sdk-for-go-version-2-now-generally-available/" TargetMode="External"/><Relationship Id="rId1" Type="http://schemas.openxmlformats.org/officeDocument/2006/relationships/slideLayout" Target="../slideLayouts/slideLayout9.xml"/></Relationships>
</file>

<file path=ppt/slides/_rels/slide154.xml.rels><?xml version="1.0" encoding="UTF-8" standalone="yes"?>
<Relationships xmlns="http://schemas.openxmlformats.org/package/2006/relationships"><Relationship Id="rId2" Type="http://schemas.openxmlformats.org/officeDocument/2006/relationships/hyperlink" Target="https://aws.amazon.com/about-aws/whats-new/2021/01/amazon-cloudwatch-application-insights-supports-oracle-database-monitoring/" TargetMode="External"/><Relationship Id="rId1" Type="http://schemas.openxmlformats.org/officeDocument/2006/relationships/slideLayout" Target="../slideLayouts/slideLayout9.xml"/></Relationships>
</file>

<file path=ppt/slides/_rels/slide155.xml.rels><?xml version="1.0" encoding="UTF-8" standalone="yes"?>
<Relationships xmlns="http://schemas.openxmlformats.org/package/2006/relationships"><Relationship Id="rId2" Type="http://schemas.openxmlformats.org/officeDocument/2006/relationships/hyperlink" Target="https://aws.amazon.com/about-aws/whats-new/2021/01/new-abl-article-making-retries-safe-with-idempotent-APIs/" TargetMode="External"/><Relationship Id="rId1" Type="http://schemas.openxmlformats.org/officeDocument/2006/relationships/slideLayout" Target="../slideLayouts/slideLayout9.xml"/></Relationships>
</file>

<file path=ppt/slides/_rels/slide156.xml.rels><?xml version="1.0" encoding="UTF-8" standalone="yes"?>
<Relationships xmlns="http://schemas.openxmlformats.org/package/2006/relationships"><Relationship Id="rId2" Type="http://schemas.openxmlformats.org/officeDocument/2006/relationships/hyperlink" Target="https://aws.amazon.com/about-aws/whats-new/2021/01/amazon-cloudwatch-container-insights-available-aws-graviton2/" TargetMode="External"/><Relationship Id="rId1" Type="http://schemas.openxmlformats.org/officeDocument/2006/relationships/slideLayout" Target="../slideLayouts/slideLayout9.xml"/></Relationships>
</file>

<file path=ppt/slides/_rels/slide157.xml.rels><?xml version="1.0" encoding="UTF-8" standalone="yes"?>
<Relationships xmlns="http://schemas.openxmlformats.org/package/2006/relationships"><Relationship Id="rId2" Type="http://schemas.openxmlformats.org/officeDocument/2006/relationships/hyperlink" Target="https://aws.amazon.com/about-aws/whats-new/2021/01/introducing-update-to-multi-region-application-architecture/" TargetMode="External"/><Relationship Id="rId1" Type="http://schemas.openxmlformats.org/officeDocument/2006/relationships/slideLayout" Target="../slideLayouts/slideLayout9.xml"/></Relationships>
</file>

<file path=ppt/slides/_rels/slide158.xml.rels><?xml version="1.0" encoding="UTF-8" standalone="yes"?>
<Relationships xmlns="http://schemas.openxmlformats.org/package/2006/relationships"><Relationship Id="rId2" Type="http://schemas.openxmlformats.org/officeDocument/2006/relationships/hyperlink" Target="https://aws.amazon.com/about-aws/whats-new/2021/01/amazon-fraud-detector-launches-ability-to-cancel-in-progress-model-trainings/" TargetMode="External"/><Relationship Id="rId1" Type="http://schemas.openxmlformats.org/officeDocument/2006/relationships/slideLayout" Target="../slideLayouts/slideLayout9.xml"/></Relationships>
</file>

<file path=ppt/slides/_rels/slide159.xml.rels><?xml version="1.0" encoding="UTF-8" standalone="yes"?>
<Relationships xmlns="http://schemas.openxmlformats.org/package/2006/relationships"><Relationship Id="rId2" Type="http://schemas.openxmlformats.org/officeDocument/2006/relationships/hyperlink" Target="https://aws.amazon.com/about-aws/whats-new/2021/01/amazon-rds-postgresql-supports-new-minor-versions/" TargetMode="External"/><Relationship Id="rId1" Type="http://schemas.openxmlformats.org/officeDocument/2006/relationships/slideLayout" Target="../slideLayouts/slideLayout9.xml"/></Relationships>
</file>

<file path=ppt/slides/_rels/slide160.xml.rels><?xml version="1.0" encoding="UTF-8" standalone="yes"?>
<Relationships xmlns="http://schemas.openxmlformats.org/package/2006/relationships"><Relationship Id="rId2" Type="http://schemas.openxmlformats.org/officeDocument/2006/relationships/hyperlink" Target="https://aws.amazon.com/about-aws/whats-new/2021/01/amazon-redshift-supports-fine-grained-access-control-copy-unload-commands/" TargetMode="External"/><Relationship Id="rId1" Type="http://schemas.openxmlformats.org/officeDocument/2006/relationships/slideLayout" Target="../slideLayouts/slideLayout9.xml"/></Relationships>
</file>

<file path=ppt/slides/_rels/slide161.xml.rels><?xml version="1.0" encoding="UTF-8" standalone="yes"?>
<Relationships xmlns="http://schemas.openxmlformats.org/package/2006/relationships"><Relationship Id="rId2" Type="http://schemas.openxmlformats.org/officeDocument/2006/relationships/hyperlink" Target="https://aws.amazon.com/about-aws/whats-new/2021/01/amazon-sns-adds-support-for-message-archiving-and-analytics-via-kineses-data-firehose-subscriptions/" TargetMode="External"/><Relationship Id="rId1" Type="http://schemas.openxmlformats.org/officeDocument/2006/relationships/slideLayout" Target="../slideLayouts/slideLayout9.xml"/></Relationships>
</file>

<file path=ppt/slides/_rels/slide162.xml.rels><?xml version="1.0" encoding="UTF-8" standalone="yes"?>
<Relationships xmlns="http://schemas.openxmlformats.org/package/2006/relationships"><Relationship Id="rId2" Type="http://schemas.openxmlformats.org/officeDocument/2006/relationships/hyperlink" Target="https://aws.amazon.com/about-aws/whats-new/2021/01/amazon-aurora-supports-in-place-upgrades-mysql-5-6-to-5-7/" TargetMode="External"/><Relationship Id="rId1" Type="http://schemas.openxmlformats.org/officeDocument/2006/relationships/slideLayout" Target="../slideLayouts/slideLayout9.xml"/></Relationships>
</file>

<file path=ppt/slides/_rels/slide163.xml.rels><?xml version="1.0" encoding="UTF-8" standalone="yes"?>
<Relationships xmlns="http://schemas.openxmlformats.org/package/2006/relationships"><Relationship Id="rId2" Type="http://schemas.openxmlformats.org/officeDocument/2006/relationships/hyperlink" Target="https://aws.amazon.com/about-aws/whats-new/2021/01/amazon-ec2-api-supports-internet-protocol-version-6/" TargetMode="External"/><Relationship Id="rId1" Type="http://schemas.openxmlformats.org/officeDocument/2006/relationships/slideLayout" Target="../slideLayouts/slideLayout9.xml"/></Relationships>
</file>

<file path=ppt/slides/_rels/slide164.xml.rels><?xml version="1.0" encoding="UTF-8" standalone="yes"?>
<Relationships xmlns="http://schemas.openxmlformats.org/package/2006/relationships"><Relationship Id="rId2" Type="http://schemas.openxmlformats.org/officeDocument/2006/relationships/hyperlink" Target="https://aws.amazon.com/about-aws/whats-new/2021/01/aws-cloudformation-supports-aws-datasync/" TargetMode="External"/><Relationship Id="rId1" Type="http://schemas.openxmlformats.org/officeDocument/2006/relationships/slideLayout" Target="../slideLayouts/slideLayout9.xml"/></Relationships>
</file>

<file path=ppt/slides/_rels/slide165.xml.rels><?xml version="1.0" encoding="UTF-8" standalone="yes"?>
<Relationships xmlns="http://schemas.openxmlformats.org/package/2006/relationships"><Relationship Id="rId2" Type="http://schemas.openxmlformats.org/officeDocument/2006/relationships/hyperlink" Target="https://aws.amazon.com/about-aws/whats-new/2021/01/amazon-emr-now-supports-apache-ranger-for-fine-grained-data-access-control/" TargetMode="External"/><Relationship Id="rId1" Type="http://schemas.openxmlformats.org/officeDocument/2006/relationships/slideLayout" Target="../slideLayouts/slideLayout9.xml"/></Relationships>
</file>

<file path=ppt/slides/_rels/slide166.xml.rels><?xml version="1.0" encoding="UTF-8" standalone="yes"?>
<Relationships xmlns="http://schemas.openxmlformats.org/package/2006/relationships"><Relationship Id="rId2" Type="http://schemas.openxmlformats.org/officeDocument/2006/relationships/hyperlink" Target="https://aws.amazon.com/about-aws/whats-new/2021/01/aws-cloud-map-achieves-pci-dss-certification/" TargetMode="External"/><Relationship Id="rId1" Type="http://schemas.openxmlformats.org/officeDocument/2006/relationships/slideLayout" Target="../slideLayouts/slideLayout9.xml"/></Relationships>
</file>

<file path=ppt/slides/_rels/slide167.xml.rels><?xml version="1.0" encoding="UTF-8" standalone="yes"?>
<Relationships xmlns="http://schemas.openxmlformats.org/package/2006/relationships"><Relationship Id="rId2" Type="http://schemas.openxmlformats.org/officeDocument/2006/relationships/hyperlink" Target="https://aws.amazon.com/about-aws/whats-new/2021/01/aws-app-mesh-achieves-pci-dss-certification/" TargetMode="External"/><Relationship Id="rId1" Type="http://schemas.openxmlformats.org/officeDocument/2006/relationships/slideLayout" Target="../slideLayouts/slideLayout9.xml"/></Relationships>
</file>

<file path=ppt/slides/_rels/slide168.xml.rels><?xml version="1.0" encoding="UTF-8" standalone="yes"?>
<Relationships xmlns="http://schemas.openxmlformats.org/package/2006/relationships"><Relationship Id="rId2" Type="http://schemas.openxmlformats.org/officeDocument/2006/relationships/hyperlink" Target="https://aws.amazon.com/about-aws/whats-new/2021/01/amazon-ec2-auto-scaling-allows-define-40-instance-types-defining-mixed-instances-policy/" TargetMode="External"/><Relationship Id="rId1" Type="http://schemas.openxmlformats.org/officeDocument/2006/relationships/slideLayout" Target="../slideLayouts/slideLayout9.xml"/></Relationships>
</file>

<file path=ppt/slides/_rels/slide169.xml.rels><?xml version="1.0" encoding="UTF-8" standalone="yes"?>
<Relationships xmlns="http://schemas.openxmlformats.org/package/2006/relationships"><Relationship Id="rId2" Type="http://schemas.openxmlformats.org/officeDocument/2006/relationships/hyperlink" Target="https://aws.amazon.com/about-aws/whats-new/2021/01/amazon-sqs-announces-tiered-pricing/" TargetMode="External"/><Relationship Id="rId1" Type="http://schemas.openxmlformats.org/officeDocument/2006/relationships/slideLayout" Target="../slideLayouts/slideLayout9.xml"/></Relationships>
</file>

<file path=ppt/slides/_rels/slide170.xml.rels><?xml version="1.0" encoding="UTF-8" standalone="yes"?>
<Relationships xmlns="http://schemas.openxmlformats.org/package/2006/relationships"><Relationship Id="rId2" Type="http://schemas.openxmlformats.org/officeDocument/2006/relationships/hyperlink" Target="https://aws.amazon.com/about-aws/whats-new/2021/01/amazon-connect-launches-new-contact-search-page-with-an-enhanced-user-experience/" TargetMode="External"/><Relationship Id="rId1" Type="http://schemas.openxmlformats.org/officeDocument/2006/relationships/slideLayout" Target="../slideLayouts/slideLayout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2.xml.rels><?xml version="1.0" encoding="UTF-8" standalone="yes"?>
<Relationships xmlns="http://schemas.openxmlformats.org/package/2006/relationships"><Relationship Id="rId2" Type="http://schemas.openxmlformats.org/officeDocument/2006/relationships/hyperlink" Target="https://aws.amazon.com/about-aws/whats-new/2021/03/announcing-aws-media-intelligence-solutions/" TargetMode="External"/><Relationship Id="rId1" Type="http://schemas.openxmlformats.org/officeDocument/2006/relationships/slideLayout" Target="../slideLayouts/slideLayout9.xml"/></Relationships>
</file>

<file path=ppt/slides/_rels/slide173.xml.rels><?xml version="1.0" encoding="UTF-8" standalone="yes"?>
<Relationships xmlns="http://schemas.openxmlformats.org/package/2006/relationships"><Relationship Id="rId2" Type="http://schemas.openxmlformats.org/officeDocument/2006/relationships/hyperlink" Target="https://aws.amazon.com/about-aws/whats-new/2021/03/aws-database-migration-service-supports-db2-luw-version-11-5-as-source/" TargetMode="External"/><Relationship Id="rId1" Type="http://schemas.openxmlformats.org/officeDocument/2006/relationships/slideLayout" Target="../slideLayouts/slideLayout9.xml"/></Relationships>
</file>

<file path=ppt/slides/_rels/slide174.xml.rels><?xml version="1.0" encoding="UTF-8" standalone="yes"?>
<Relationships xmlns="http://schemas.openxmlformats.org/package/2006/relationships"><Relationship Id="rId2" Type="http://schemas.openxmlformats.org/officeDocument/2006/relationships/hyperlink" Target="https://aws.amazon.com/about-aws/whats-new/2021/03/sellers-manage-versions-update-information-ami-container-products-aws-marketplace-catalog-api/" TargetMode="External"/><Relationship Id="rId1" Type="http://schemas.openxmlformats.org/officeDocument/2006/relationships/slideLayout" Target="../slideLayouts/slideLayout9.xml"/></Relationships>
</file>

<file path=ppt/slides/_rels/slide175.xml.rels><?xml version="1.0" encoding="UTF-8" standalone="yes"?>
<Relationships xmlns="http://schemas.openxmlformats.org/package/2006/relationships"><Relationship Id="rId2" Type="http://schemas.openxmlformats.org/officeDocument/2006/relationships/hyperlink" Target="https://aws.amazon.com/about-aws/whats-new/2021/03/aws-iot-core-apache-kafka-action-supports-username-password-authentication-for-amazon-msk/" TargetMode="External"/><Relationship Id="rId1" Type="http://schemas.openxmlformats.org/officeDocument/2006/relationships/slideLayout" Target="../slideLayouts/slideLayout9.xml"/></Relationships>
</file>

<file path=ppt/slides/_rels/slide176.xml.rels><?xml version="1.0" encoding="UTF-8" standalone="yes"?>
<Relationships xmlns="http://schemas.openxmlformats.org/package/2006/relationships"><Relationship Id="rId2" Type="http://schemas.openxmlformats.org/officeDocument/2006/relationships/hyperlink" Target="https://aws.amazon.com/about-aws/whats-new/2021/03/aws-client-vpn-announces-expanded-presence-inside-six-aws-regions/" TargetMode="External"/><Relationship Id="rId1" Type="http://schemas.openxmlformats.org/officeDocument/2006/relationships/slideLayout" Target="../slideLayouts/slideLayout9.xml"/></Relationships>
</file>

<file path=ppt/slides/_rels/slide177.xml.rels><?xml version="1.0" encoding="UTF-8" standalone="yes"?>
<Relationships xmlns="http://schemas.openxmlformats.org/package/2006/relationships"><Relationship Id="rId2" Type="http://schemas.openxmlformats.org/officeDocument/2006/relationships/hyperlink" Target="https://aws.amazon.com/about-aws/whats-new/2021/03/aws-solutions-implementation-discovering-topics-using-machine-learning-solution-adds-filter-visualize-twitter-topics/" TargetMode="External"/><Relationship Id="rId1" Type="http://schemas.openxmlformats.org/officeDocument/2006/relationships/slideLayout" Target="../slideLayouts/slideLayout9.xml"/></Relationships>
</file>

<file path=ppt/slides/_rels/slide178.xml.rels><?xml version="1.0" encoding="UTF-8" standalone="yes"?>
<Relationships xmlns="http://schemas.openxmlformats.org/package/2006/relationships"><Relationship Id="rId2" Type="http://schemas.openxmlformats.org/officeDocument/2006/relationships/hyperlink" Target="https://aws.amazon.com/about-aws/whats-new/2021/03/aws-gateway-load-balancer-is-now-available-in-additional-9-regions/" TargetMode="External"/><Relationship Id="rId1" Type="http://schemas.openxmlformats.org/officeDocument/2006/relationships/slideLayout" Target="../slideLayouts/slideLayout9.xml"/></Relationships>
</file>

<file path=ppt/slides/_rels/slide179.xml.rels><?xml version="1.0" encoding="UTF-8" standalone="yes"?>
<Relationships xmlns="http://schemas.openxmlformats.org/package/2006/relationships"><Relationship Id="rId2" Type="http://schemas.openxmlformats.org/officeDocument/2006/relationships/hyperlink" Target="https://aws.amazon.com/about-aws/whats-new/2021/03/aws-launch-wizard-now-supports-no-rollback-on-failure/" TargetMode="External"/><Relationship Id="rId1" Type="http://schemas.openxmlformats.org/officeDocument/2006/relationships/slideLayout" Target="../slideLayouts/slideLayout9.xml"/></Relationships>
</file>

<file path=ppt/slides/_rels/slide180.xml.rels><?xml version="1.0" encoding="UTF-8" standalone="yes"?>
<Relationships xmlns="http://schemas.openxmlformats.org/package/2006/relationships"><Relationship Id="rId2" Type="http://schemas.openxmlformats.org/officeDocument/2006/relationships/hyperlink" Target="https://aws.amazon.com/about-aws/whats-new/2021/03/new-digital-course-aws-cloud-technical-essentials/" TargetMode="External"/><Relationship Id="rId1" Type="http://schemas.openxmlformats.org/officeDocument/2006/relationships/slideLayout" Target="../slideLayouts/slideLayout9.xml"/></Relationships>
</file>

<file path=ppt/slides/_rels/slide181.xml.rels><?xml version="1.0" encoding="UTF-8" standalone="yes"?>
<Relationships xmlns="http://schemas.openxmlformats.org/package/2006/relationships"><Relationship Id="rId2" Type="http://schemas.openxmlformats.org/officeDocument/2006/relationships/hyperlink" Target="https://aws.amazon.com/about-aws/whats-new/2021/03/aws-x-ray-insights-available-govcloud/" TargetMode="External"/><Relationship Id="rId1" Type="http://schemas.openxmlformats.org/officeDocument/2006/relationships/slideLayout" Target="../slideLayouts/slideLayout9.xml"/></Relationships>
</file>

<file path=ppt/slides/_rels/slide182.xml.rels><?xml version="1.0" encoding="UTF-8" standalone="yes"?>
<Relationships xmlns="http://schemas.openxmlformats.org/package/2006/relationships"><Relationship Id="rId2" Type="http://schemas.openxmlformats.org/officeDocument/2006/relationships/hyperlink" Target="https://aws.amazon.com/about-aws/whats-new/2021/03/aws-announces-general-availability-of-six-new-regions-for-amazon-gamelift/" TargetMode="External"/><Relationship Id="rId1" Type="http://schemas.openxmlformats.org/officeDocument/2006/relationships/slideLayout" Target="../slideLayouts/slideLayout9.xml"/></Relationships>
</file>

<file path=ppt/slides/_rels/slide183.xml.rels><?xml version="1.0" encoding="UTF-8" standalone="yes"?>
<Relationships xmlns="http://schemas.openxmlformats.org/package/2006/relationships"><Relationship Id="rId2" Type="http://schemas.openxmlformats.org/officeDocument/2006/relationships/hyperlink" Target="https://aws.amazon.com/about-aws/whats-new/2021/03/new-aws-sso-gallery-app-simplifies-azure-ad-set-up-with-aws/" TargetMode="External"/><Relationship Id="rId1" Type="http://schemas.openxmlformats.org/officeDocument/2006/relationships/slideLayout" Target="../slideLayouts/slideLayout9.xml"/></Relationships>
</file>

<file path=ppt/slides/_rels/slide184.xml.rels><?xml version="1.0" encoding="UTF-8" standalone="yes"?>
<Relationships xmlns="http://schemas.openxmlformats.org/package/2006/relationships"><Relationship Id="rId2" Type="http://schemas.openxmlformats.org/officeDocument/2006/relationships/hyperlink" Target="https://aws.amazon.com/about-aws/whats-new/2021/03/support-for-srt-protocol-added-to-aws-elemental-mediaconnect/" TargetMode="External"/><Relationship Id="rId1" Type="http://schemas.openxmlformats.org/officeDocument/2006/relationships/slideLayout" Target="../slideLayouts/slideLayout9.xml"/></Relationships>
</file>

<file path=ppt/slides/_rels/slide185.xml.rels><?xml version="1.0" encoding="UTF-8" standalone="yes"?>
<Relationships xmlns="http://schemas.openxmlformats.org/package/2006/relationships"><Relationship Id="rId2" Type="http://schemas.openxmlformats.org/officeDocument/2006/relationships/hyperlink" Target="https://aws.amazon.com/about-aws/whats-new/2021/03/aws-announces-developer-preview-release-opinionated-deployment-tool-net-cli/" TargetMode="External"/><Relationship Id="rId1" Type="http://schemas.openxmlformats.org/officeDocument/2006/relationships/slideLayout" Target="../slideLayouts/slideLayout9.xml"/></Relationships>
</file>

<file path=ppt/slides/_rels/slide186.xml.rels><?xml version="1.0" encoding="UTF-8" standalone="yes"?>
<Relationships xmlns="http://schemas.openxmlformats.org/package/2006/relationships"><Relationship Id="rId2" Type="http://schemas.openxmlformats.org/officeDocument/2006/relationships/hyperlink" Target="https://aws.amazon.com/about-aws/whats-new/2021/03/aws-solutions-consulting-offer-deploy-containers-on-aws/" TargetMode="External"/><Relationship Id="rId1" Type="http://schemas.openxmlformats.org/officeDocument/2006/relationships/slideLayout" Target="../slideLayouts/slideLayout9.xml"/></Relationships>
</file>

<file path=ppt/slides/_rels/slide187.xml.rels><?xml version="1.0" encoding="UTF-8" standalone="yes"?>
<Relationships xmlns="http://schemas.openxmlformats.org/package/2006/relationships"><Relationship Id="rId2" Type="http://schemas.openxmlformats.org/officeDocument/2006/relationships/hyperlink" Target="https://aws.amazon.com/about-aws/whats-new/2021/03/aws-solutions-consulting-offer-build-cloud-foundations/" TargetMode="External"/><Relationship Id="rId1" Type="http://schemas.openxmlformats.org/officeDocument/2006/relationships/slideLayout" Target="../slideLayouts/slideLayout9.xml"/></Relationships>
</file>

<file path=ppt/slides/_rels/slide188.xml.rels><?xml version="1.0" encoding="UTF-8" standalone="yes"?>
<Relationships xmlns="http://schemas.openxmlformats.org/package/2006/relationships"><Relationship Id="rId2" Type="http://schemas.openxmlformats.org/officeDocument/2006/relationships/hyperlink" Target="https://aws.amazon.com/about-aws/whats-new/2021/03/aws-iot-sitewise-monitor-adds-support-for-accessing-monitor-portals-using-aws-iam-users-and-roles/" TargetMode="External"/><Relationship Id="rId1" Type="http://schemas.openxmlformats.org/officeDocument/2006/relationships/slideLayout" Target="../slideLayouts/slideLayout9.xml"/></Relationships>
</file>

<file path=ppt/slides/_rels/slide189.xml.rels><?xml version="1.0" encoding="UTF-8" standalone="yes"?>
<Relationships xmlns="http://schemas.openxmlformats.org/package/2006/relationships"><Relationship Id="rId2" Type="http://schemas.openxmlformats.org/officeDocument/2006/relationships/hyperlink" Target="https://aws.amazon.com/about-aws/whats-new/2021/03/new-digital-course-amazon-s3-cost-optimization/" TargetMode="External"/><Relationship Id="rId1" Type="http://schemas.openxmlformats.org/officeDocument/2006/relationships/slideLayout" Target="../slideLayouts/slideLayout9.xml"/></Relationships>
</file>

<file path=ppt/slides/_rels/slide190.xml.rels><?xml version="1.0" encoding="UTF-8" standalone="yes"?>
<Relationships xmlns="http://schemas.openxmlformats.org/package/2006/relationships"><Relationship Id="rId2" Type="http://schemas.openxmlformats.org/officeDocument/2006/relationships/hyperlink" Target="https://aws.amazon.com/about-aws/whats-new/2021/03/lower-cost-storage-classes-for-amazon-elastic-file-system-are-now-available-in-additional-regions/" TargetMode="External"/><Relationship Id="rId1" Type="http://schemas.openxmlformats.org/officeDocument/2006/relationships/slideLayout" Target="../slideLayouts/slideLayout9.xml"/></Relationships>
</file>

<file path=ppt/slides/_rels/slide191.xml.rels><?xml version="1.0" encoding="UTF-8" standalone="yes"?>
<Relationships xmlns="http://schemas.openxmlformats.org/package/2006/relationships"><Relationship Id="rId2" Type="http://schemas.openxmlformats.org/officeDocument/2006/relationships/hyperlink" Target="https://aws.amazon.com/about-aws/whats-new/2021/03/announcing-new-amazon-ec2-x2gd-instances-powered-by-aws-graviton2-processors/" TargetMode="External"/><Relationship Id="rId1" Type="http://schemas.openxmlformats.org/officeDocument/2006/relationships/slideLayout" Target="../slideLayouts/slideLayout9.xml"/></Relationships>
</file>

<file path=ppt/slides/_rels/slide192.xml.rels><?xml version="1.0" encoding="UTF-8" standalone="yes"?>
<Relationships xmlns="http://schemas.openxmlformats.org/package/2006/relationships"><Relationship Id="rId2" Type="http://schemas.openxmlformats.org/officeDocument/2006/relationships/hyperlink" Target="https://aws.amazon.com/about-aws/whats-new/2021/03/aws-batch-now-available-in-the-africa-cape-town-and-the-asia-pacific-osaka-regions/" TargetMode="External"/><Relationship Id="rId1" Type="http://schemas.openxmlformats.org/officeDocument/2006/relationships/slideLayout" Target="../slideLayouts/slideLayout9.xml"/></Relationships>
</file>

<file path=ppt/slides/_rels/slide193.xml.rels><?xml version="1.0" encoding="UTF-8" standalone="yes"?>
<Relationships xmlns="http://schemas.openxmlformats.org/package/2006/relationships"><Relationship Id="rId2" Type="http://schemas.openxmlformats.org/officeDocument/2006/relationships/hyperlink" Target="https://aws.amazon.com/about-aws/whats-new/2021/03/announcing-new-operations-plan-aws-managed-services-accelerate/" TargetMode="External"/><Relationship Id="rId1" Type="http://schemas.openxmlformats.org/officeDocument/2006/relationships/slideLayout" Target="../slideLayouts/slideLayout9.xml"/></Relationships>
</file>

<file path=ppt/slides/_rels/slide194.xml.rels><?xml version="1.0" encoding="UTF-8" standalone="yes"?>
<Relationships xmlns="http://schemas.openxmlformats.org/package/2006/relationships"><Relationship Id="rId2" Type="http://schemas.openxmlformats.org/officeDocument/2006/relationships/hyperlink" Target="https://aws.amazon.com/about-aws/whats-new/2021/03/aws-glue-databrew-is-now-available-in-asia-pacific-seoul-north-america-montreal-and-south-america-sao-paulo-aws-regions/" TargetMode="External"/><Relationship Id="rId1" Type="http://schemas.openxmlformats.org/officeDocument/2006/relationships/slideLayout" Target="../slideLayouts/slideLayout9.xml"/></Relationships>
</file>

<file path=ppt/slides/_rels/slide195.xml.rels><?xml version="1.0" encoding="UTF-8" standalone="yes"?>
<Relationships xmlns="http://schemas.openxmlformats.org/package/2006/relationships"><Relationship Id="rId2" Type="http://schemas.openxmlformats.org/officeDocument/2006/relationships/hyperlink" Target="https://aws.amazon.com/about-aws/whats-new/2021/03/aws-wavelength-iso-9001-27001-27107-27108-compliant/" TargetMode="External"/><Relationship Id="rId1" Type="http://schemas.openxmlformats.org/officeDocument/2006/relationships/slideLayout" Target="../slideLayouts/slideLayout9.xml"/></Relationships>
</file>

<file path=ppt/slides/_rels/slide196.xml.rels><?xml version="1.0" encoding="UTF-8" standalone="yes"?>
<Relationships xmlns="http://schemas.openxmlformats.org/package/2006/relationships"><Relationship Id="rId2" Type="http://schemas.openxmlformats.org/officeDocument/2006/relationships/hyperlink" Target="https://aws.amazon.com/about-aws/whats-new/2021/03/aws-solutions-consulting-offer-virtual-desktop-accelerator/" TargetMode="External"/><Relationship Id="rId1" Type="http://schemas.openxmlformats.org/officeDocument/2006/relationships/slideLayout" Target="../slideLayouts/slideLayout9.xml"/></Relationships>
</file>

<file path=ppt/slides/_rels/slide197.xml.rels><?xml version="1.0" encoding="UTF-8" standalone="yes"?>
<Relationships xmlns="http://schemas.openxmlformats.org/package/2006/relationships"><Relationship Id="rId2" Type="http://schemas.openxmlformats.org/officeDocument/2006/relationships/hyperlink" Target="https://aws.amazon.com/about-aws/whats-new/2021/03/new-aws-solutions-consulting-offer-conversational-ai-platform/" TargetMode="External"/><Relationship Id="rId1" Type="http://schemas.openxmlformats.org/officeDocument/2006/relationships/slideLayout" Target="../slideLayouts/slideLayout9.xml"/></Relationships>
</file>

<file path=ppt/slides/_rels/slide198.xml.rels><?xml version="1.0" encoding="UTF-8" standalone="yes"?>
<Relationships xmlns="http://schemas.openxmlformats.org/package/2006/relationships"><Relationship Id="rId2" Type="http://schemas.openxmlformats.org/officeDocument/2006/relationships/hyperlink" Target="https://aws.amazon.com/about-aws/whats-new/2021/03/aws-solutions-consulting-offer-design-and-implementation-for-druva-data-protection-solutions/" TargetMode="External"/><Relationship Id="rId1" Type="http://schemas.openxmlformats.org/officeDocument/2006/relationships/slideLayout" Target="../slideLayouts/slideLayout9.xml"/></Relationships>
</file>

<file path=ppt/slides/_rels/slide199.xml.rels><?xml version="1.0" encoding="UTF-8" standalone="yes"?>
<Relationships xmlns="http://schemas.openxmlformats.org/package/2006/relationships"><Relationship Id="rId2" Type="http://schemas.openxmlformats.org/officeDocument/2006/relationships/hyperlink" Target="https://aws.amazon.com/about-aws/whats-new/2021/03/amazon-transcribe-supports-word-level-confidence-scores-for-streaming-transcription/" TargetMode="External"/><Relationship Id="rId1" Type="http://schemas.openxmlformats.org/officeDocument/2006/relationships/slideLayout" Target="../slideLayouts/slideLayout9.xml"/></Relationships>
</file>

<file path=ppt/slides/_rels/slide200.xml.rels><?xml version="1.0" encoding="UTF-8" standalone="yes"?>
<Relationships xmlns="http://schemas.openxmlformats.org/package/2006/relationships"><Relationship Id="rId2" Type="http://schemas.openxmlformats.org/officeDocument/2006/relationships/hyperlink" Target="https://aws.amazon.com/about-aws/whats-new/2021/03/aws-elemental-mediatailor-introduces-channel-assembly-for-creating-virtual-linear-ott-channels/" TargetMode="External"/><Relationship Id="rId1" Type="http://schemas.openxmlformats.org/officeDocument/2006/relationships/slideLayout" Target="../slideLayouts/slideLayout9.xml"/></Relationships>
</file>

<file path=ppt/slides/_rels/slide201.xml.rels><?xml version="1.0" encoding="UTF-8" standalone="yes"?>
<Relationships xmlns="http://schemas.openxmlformats.org/package/2006/relationships"><Relationship Id="rId2" Type="http://schemas.openxmlformats.org/officeDocument/2006/relationships/hyperlink" Target="https://aws.amazon.com/about-aws/whats-new/2021/03/amazon-kinesis-video-streams-updates-media-playback-api-service-quotas-to-enable-up-to-10x-more-simultaneous-consumers/" TargetMode="External"/><Relationship Id="rId1" Type="http://schemas.openxmlformats.org/officeDocument/2006/relationships/slideLayout" Target="../slideLayouts/slideLayout9.xml"/></Relationships>
</file>

<file path=ppt/slides/_rels/slide202.xml.rels><?xml version="1.0" encoding="UTF-8" standalone="yes"?>
<Relationships xmlns="http://schemas.openxmlformats.org/package/2006/relationships"><Relationship Id="rId2" Type="http://schemas.openxmlformats.org/officeDocument/2006/relationships/hyperlink" Target="https://aws.amazon.com/about-aws/whats-new/2021/03/introducing-new-api-allowing-you-to-stop-in-progress-workflows-in-amazon-forecast/" TargetMode="External"/><Relationship Id="rId1" Type="http://schemas.openxmlformats.org/officeDocument/2006/relationships/slideLayout" Target="../slideLayouts/slideLayout9.xml"/></Relationships>
</file>

<file path=ppt/slides/_rels/slide203.xml.rels><?xml version="1.0" encoding="UTF-8" standalone="yes"?>
<Relationships xmlns="http://schemas.openxmlformats.org/package/2006/relationships"><Relationship Id="rId2" Type="http://schemas.openxmlformats.org/officeDocument/2006/relationships/hyperlink" Target="https://aws.amazon.com/about-aws/whats-new/2021/03/amazon-aurora-postgresql-compatible-edition-supports-simultaneous-authentication/" TargetMode="External"/><Relationship Id="rId1" Type="http://schemas.openxmlformats.org/officeDocument/2006/relationships/slideLayout" Target="../slideLayouts/slideLayout9.xml"/></Relationships>
</file>

<file path=ppt/slides/_rels/slide204.xml.rels><?xml version="1.0" encoding="UTF-8" standalone="yes"?>
<Relationships xmlns="http://schemas.openxmlformats.org/package/2006/relationships"><Relationship Id="rId2" Type="http://schemas.openxmlformats.org/officeDocument/2006/relationships/hyperlink" Target="https://aws.amazon.com/about-aws/whats-new/2021/03/introducing-lower-cost-storage-classes-for-amazon-elastic-file-system/" TargetMode="External"/><Relationship Id="rId1" Type="http://schemas.openxmlformats.org/officeDocument/2006/relationships/slideLayout" Target="../slideLayouts/slideLayout9.xml"/></Relationships>
</file>

<file path=ppt/slides/_rels/slide205.xml.rels><?xml version="1.0" encoding="UTF-8" standalone="yes"?>
<Relationships xmlns="http://schemas.openxmlformats.org/package/2006/relationships"><Relationship Id="rId2" Type="http://schemas.openxmlformats.org/officeDocument/2006/relationships/hyperlink" Target="https://aws.amazon.com/about-aws/whats-new/2021/03/amazon-aurora-global-database-expands-availability-sao-paulo-stockholm/" TargetMode="External"/><Relationship Id="rId1" Type="http://schemas.openxmlformats.org/officeDocument/2006/relationships/slideLayout" Target="../slideLayouts/slideLayout9.xml"/></Relationships>
</file>

<file path=ppt/slides/_rels/slide206.xml.rels><?xml version="1.0" encoding="UTF-8" standalone="yes"?>
<Relationships xmlns="http://schemas.openxmlformats.org/package/2006/relationships"><Relationship Id="rId2" Type="http://schemas.openxmlformats.org/officeDocument/2006/relationships/hyperlink" Target="https://aws.amazon.com/about-aws/whats-new/2021/03/introducing-amazon-elastic-file-system-lower-cost-one-zone-storage-classes/" TargetMode="External"/><Relationship Id="rId1" Type="http://schemas.openxmlformats.org/officeDocument/2006/relationships/slideLayout" Target="../slideLayouts/slideLayout9.xml"/></Relationships>
</file>

<file path=ppt/slides/_rels/slide207.xml.rels><?xml version="1.0" encoding="UTF-8" standalone="yes"?>
<Relationships xmlns="http://schemas.openxmlformats.org/package/2006/relationships"><Relationship Id="rId2" Type="http://schemas.openxmlformats.org/officeDocument/2006/relationships/hyperlink" Target="https://aws.amazon.com/about-aws/whats-new/2021/03/amazon-rds-for-postgresql-m6g-r6g-instances-available-additional-regions/" TargetMode="External"/><Relationship Id="rId1" Type="http://schemas.openxmlformats.org/officeDocument/2006/relationships/slideLayout" Target="../slideLayouts/slideLayout9.xml"/></Relationships>
</file>

<file path=ppt/slides/_rels/slide208.xml.rels><?xml version="1.0" encoding="UTF-8" standalone="yes"?>
<Relationships xmlns="http://schemas.openxmlformats.org/package/2006/relationships"><Relationship Id="rId2" Type="http://schemas.openxmlformats.org/officeDocument/2006/relationships/hyperlink" Target="https://aws.amazon.com/about-aws/whats-new/2021/03/amazon-workspaces-available-mumbai/" TargetMode="External"/><Relationship Id="rId1" Type="http://schemas.openxmlformats.org/officeDocument/2006/relationships/slideLayout" Target="../slideLayouts/slideLayout9.xml"/></Relationships>
</file>

<file path=ppt/slides/_rels/slide209.xml.rels><?xml version="1.0" encoding="UTF-8" standalone="yes"?>
<Relationships xmlns="http://schemas.openxmlformats.org/package/2006/relationships"><Relationship Id="rId2" Type="http://schemas.openxmlformats.org/officeDocument/2006/relationships/hyperlink" Target="https://aws.amazon.com/about-aws/whats-new/2021/03/announcing-kotlin-centric-developer-experience-in-amplify-android/" TargetMode="External"/><Relationship Id="rId1" Type="http://schemas.openxmlformats.org/officeDocument/2006/relationships/slideLayout" Target="../slideLayouts/slideLayout9.xml"/></Relationships>
</file>

<file path=ppt/slides/_rels/slide210.xml.rels><?xml version="1.0" encoding="UTF-8" standalone="yes"?>
<Relationships xmlns="http://schemas.openxmlformats.org/package/2006/relationships"><Relationship Id="rId2" Type="http://schemas.openxmlformats.org/officeDocument/2006/relationships/hyperlink" Target="https://aws.amazon.com/about-aws/whats-new/2021/03/aws-cloudformation-supports-amazon-s3-on-outposts/" TargetMode="External"/><Relationship Id="rId1" Type="http://schemas.openxmlformats.org/officeDocument/2006/relationships/slideLayout" Target="../slideLayouts/slideLayout9.xml"/></Relationships>
</file>

<file path=ppt/slides/_rels/slide211.xml.rels><?xml version="1.0" encoding="UTF-8" standalone="yes"?>
<Relationships xmlns="http://schemas.openxmlformats.org/package/2006/relationships"><Relationship Id="rId2" Type="http://schemas.openxmlformats.org/officeDocument/2006/relationships/hyperlink" Target="https://aws.amazon.com/about-aws/whats-new/2021/03/amazon-emr-introduces-instance-fleets-lower-cost-improve-cluster-provisioning-aws-govcloud-regions/" TargetMode="External"/><Relationship Id="rId1" Type="http://schemas.openxmlformats.org/officeDocument/2006/relationships/slideLayout" Target="../slideLayouts/slideLayout9.xml"/></Relationships>
</file>

<file path=ppt/slides/_rels/slide212.xml.rels><?xml version="1.0" encoding="UTF-8" standalone="yes"?>
<Relationships xmlns="http://schemas.openxmlformats.org/package/2006/relationships"><Relationship Id="rId2" Type="http://schemas.openxmlformats.org/officeDocument/2006/relationships/hyperlink" Target="https://aws.amazon.com/about-aws/whats-new/2021/03/aws-iot-device-sdk-embedded-c-supports-over-the-air-update-custom-metrics-multiple-shadows/" TargetMode="External"/><Relationship Id="rId1" Type="http://schemas.openxmlformats.org/officeDocument/2006/relationships/slideLayout" Target="../slideLayouts/slideLayout9.xml"/></Relationships>
</file>

<file path=ppt/slides/_rels/slide213.xml.rels><?xml version="1.0" encoding="UTF-8" standalone="yes"?>
<Relationships xmlns="http://schemas.openxmlformats.org/package/2006/relationships"><Relationship Id="rId2" Type="http://schemas.openxmlformats.org/officeDocument/2006/relationships/hyperlink" Target="https://aws.amazon.com/about-aws/whats-new/2021/03/amazon-ec2-d3-instances-with-dense-local-hdd-storage-now-available-in-asia-pacific-singapore-sydney-and-tokyo-and-europe-frankfurt-regions/" TargetMode="External"/><Relationship Id="rId1" Type="http://schemas.openxmlformats.org/officeDocument/2006/relationships/slideLayout" Target="../slideLayouts/slideLayout9.xml"/></Relationships>
</file>

<file path=ppt/slides/_rels/slide214.xml.rels><?xml version="1.0" encoding="UTF-8" standalone="yes"?>
<Relationships xmlns="http://schemas.openxmlformats.org/package/2006/relationships"><Relationship Id="rId2" Type="http://schemas.openxmlformats.org/officeDocument/2006/relationships/hyperlink" Target="https://aws.amazon.com/about-aws/whats-new/2021/03/aws-proton-makes-new-fields-available-for-jinja-parametrization/" TargetMode="External"/><Relationship Id="rId1" Type="http://schemas.openxmlformats.org/officeDocument/2006/relationships/slideLayout" Target="../slideLayouts/slideLayout9.xml"/></Relationships>
</file>

<file path=ppt/slides/_rels/slide215.xml.rels><?xml version="1.0" encoding="UTF-8" standalone="yes"?>
<Relationships xmlns="http://schemas.openxmlformats.org/package/2006/relationships"><Relationship Id="rId2" Type="http://schemas.openxmlformats.org/officeDocument/2006/relationships/hyperlink" Target="https://aws.amazon.com/about-aws/whats-new/2021/03/aws-elemental-medialive-launches-workflow-wizard/" TargetMode="External"/><Relationship Id="rId1" Type="http://schemas.openxmlformats.org/officeDocument/2006/relationships/slideLayout" Target="../slideLayouts/slideLayout9.xml"/></Relationships>
</file>

<file path=ppt/slides/_rels/slide216.xml.rels><?xml version="1.0" encoding="UTF-8" standalone="yes"?>
<Relationships xmlns="http://schemas.openxmlformats.org/package/2006/relationships"><Relationship Id="rId2" Type="http://schemas.openxmlformats.org/officeDocument/2006/relationships/hyperlink" Target="https://aws.amazon.com/about-aws/whats-new/2021/03/amazon-quicksight-launches-sankey-diagram-field-folders-more/" TargetMode="External"/><Relationship Id="rId1" Type="http://schemas.openxmlformats.org/officeDocument/2006/relationships/slideLayout" Target="../slideLayouts/slideLayout9.xml"/></Relationships>
</file>

<file path=ppt/slides/_rels/slide217.xml.rels><?xml version="1.0" encoding="UTF-8" standalone="yes"?>
<Relationships xmlns="http://schemas.openxmlformats.org/package/2006/relationships"><Relationship Id="rId2" Type="http://schemas.openxmlformats.org/officeDocument/2006/relationships/hyperlink" Target="https://aws.amazon.com/about-aws/whats-new/2021/03/aws-iot-device-defender-supports-cloudformation/" TargetMode="External"/><Relationship Id="rId1" Type="http://schemas.openxmlformats.org/officeDocument/2006/relationships/slideLayout" Target="../slideLayouts/slideLayout9.xml"/></Relationships>
</file>

<file path=ppt/slides/_rels/slide218.xml.rels><?xml version="1.0" encoding="UTF-8" standalone="yes"?>
<Relationships xmlns="http://schemas.openxmlformats.org/package/2006/relationships"><Relationship Id="rId2" Type="http://schemas.openxmlformats.org/officeDocument/2006/relationships/hyperlink" Target="https://aws.amazon.com/about-aws/whats-new/2021/03/aws-network-firewall-available-additional-regions/" TargetMode="External"/><Relationship Id="rId1" Type="http://schemas.openxmlformats.org/officeDocument/2006/relationships/slideLayout" Target="../slideLayouts/slideLayout9.xml"/></Relationships>
</file>

<file path=ppt/slides/_rels/slide219.xml.rels><?xml version="1.0" encoding="UTF-8" standalone="yes"?>
<Relationships xmlns="http://schemas.openxmlformats.org/package/2006/relationships"><Relationship Id="rId2" Type="http://schemas.openxmlformats.org/officeDocument/2006/relationships/hyperlink" Target="https://aws.amazon.com/about-aws/whats-new/2021/03/amazon-emr-on-eks-available-additional-regions/" TargetMode="External"/><Relationship Id="rId1" Type="http://schemas.openxmlformats.org/officeDocument/2006/relationships/slideLayout" Target="../slideLayouts/slideLayout9.xml"/></Relationships>
</file>

<file path=ppt/slides/_rels/slide220.xml.rels><?xml version="1.0" encoding="UTF-8" standalone="yes"?>
<Relationships xmlns="http://schemas.openxmlformats.org/package/2006/relationships"><Relationship Id="rId2" Type="http://schemas.openxmlformats.org/officeDocument/2006/relationships/hyperlink" Target="https://aws.amazon.com/about-aws/whats-new/2021/03/amazon-ec2-p4d-instances-available-additional-regions/" TargetMode="External"/><Relationship Id="rId1" Type="http://schemas.openxmlformats.org/officeDocument/2006/relationships/slideLayout" Target="../slideLayouts/slideLayout9.xml"/></Relationships>
</file>

<file path=ppt/slides/_rels/slide221.xml.rels><?xml version="1.0" encoding="UTF-8" standalone="yes"?>
<Relationships xmlns="http://schemas.openxmlformats.org/package/2006/relationships"><Relationship Id="rId2" Type="http://schemas.openxmlformats.org/officeDocument/2006/relationships/hyperlink" Target="https://aws.amazon.com/about-aws/whats-new/2021/03/amazon-redshift-launches-ra3-16xlarge-and-ra3-xlplus-in-aws-govcloud-us-regions/" TargetMode="External"/><Relationship Id="rId1" Type="http://schemas.openxmlformats.org/officeDocument/2006/relationships/slideLayout" Target="../slideLayouts/slideLayout9.xml"/></Relationships>
</file>

<file path=ppt/slides/_rels/slide222.xml.rels><?xml version="1.0" encoding="UTF-8" standalone="yes"?>
<Relationships xmlns="http://schemas.openxmlformats.org/package/2006/relationships"><Relationship Id="rId2" Type="http://schemas.openxmlformats.org/officeDocument/2006/relationships/hyperlink" Target="https://aws.amazon.com/about-aws/whats-new/2021/03/aws-solutions-serverless-bot-framework-adds-amazon-lex-v2-console-api-integration/" TargetMode="External"/><Relationship Id="rId1" Type="http://schemas.openxmlformats.org/officeDocument/2006/relationships/slideLayout" Target="../slideLayouts/slideLayout9.xml"/></Relationships>
</file>

<file path=ppt/slides/_rels/slide223.xml.rels><?xml version="1.0" encoding="UTF-8" standalone="yes"?>
<Relationships xmlns="http://schemas.openxmlformats.org/package/2006/relationships"><Relationship Id="rId2" Type="http://schemas.openxmlformats.org/officeDocument/2006/relationships/hyperlink" Target="https://aws.amazon.com/about-aws/whats-new/2021/03/amazon-elastic-file-system-available-aws-osaka-region/" TargetMode="External"/><Relationship Id="rId1" Type="http://schemas.openxmlformats.org/officeDocument/2006/relationships/slideLayout" Target="../slideLayouts/slideLayout9.xml"/></Relationships>
</file>

<file path=ppt/slides/_rels/slide224.xml.rels><?xml version="1.0" encoding="UTF-8" standalone="yes"?>
<Relationships xmlns="http://schemas.openxmlformats.org/package/2006/relationships"><Relationship Id="rId2" Type="http://schemas.openxmlformats.org/officeDocument/2006/relationships/hyperlink" Target="https://aws.amazon.com/about-aws/whats-new/2021/03/freertos-demonstrates-meeting-a-set-of-security-criteria-for-iot-platforms/" TargetMode="External"/><Relationship Id="rId1" Type="http://schemas.openxmlformats.org/officeDocument/2006/relationships/slideLayout" Target="../slideLayouts/slideLayout9.xml"/></Relationships>
</file>

<file path=ppt/slides/_rels/slide225.xml.rels><?xml version="1.0" encoding="UTF-8" standalone="yes"?>
<Relationships xmlns="http://schemas.openxmlformats.org/package/2006/relationships"><Relationship Id="rId2" Type="http://schemas.openxmlformats.org/officeDocument/2006/relationships/hyperlink" Target="https://aws.amazon.com/about-aws/whats-new/2021/03/new-aws-solutions-consulting-offer-driving-digital-transformation-with-sitecore/" TargetMode="External"/><Relationship Id="rId1" Type="http://schemas.openxmlformats.org/officeDocument/2006/relationships/slideLayout" Target="../slideLayouts/slideLayout9.xml"/></Relationships>
</file>

<file path=ppt/slides/_rels/slide226.xml.rels><?xml version="1.0" encoding="UTF-8" standalone="yes"?>
<Relationships xmlns="http://schemas.openxmlformats.org/package/2006/relationships"><Relationship Id="rId2" Type="http://schemas.openxmlformats.org/officeDocument/2006/relationships/hyperlink" Target="https://aws.amazon.com/about-aws/whats-new/2021/03/four-new-digital-training-offerings-for-aws-end-user-computing/" TargetMode="External"/><Relationship Id="rId1" Type="http://schemas.openxmlformats.org/officeDocument/2006/relationships/slideLayout" Target="../slideLayouts/slideLayout9.xml"/></Relationships>
</file>

<file path=ppt/slides/_rels/slide227.xml.rels><?xml version="1.0" encoding="UTF-8" standalone="yes"?>
<Relationships xmlns="http://schemas.openxmlformats.org/package/2006/relationships"><Relationship Id="rId2" Type="http://schemas.openxmlformats.org/officeDocument/2006/relationships/hyperlink" Target="https://aws.amazon.com/about-aws/whats-new/2021/03/new-aws-solutions-consulting-offer-intelligent-sap-migration-management-aws/" TargetMode="External"/><Relationship Id="rId1" Type="http://schemas.openxmlformats.org/officeDocument/2006/relationships/slideLayout" Target="../slideLayouts/slideLayout9.xml"/></Relationships>
</file>

<file path=ppt/slides/_rels/slide228.xml.rels><?xml version="1.0" encoding="UTF-8" standalone="yes"?>
<Relationships xmlns="http://schemas.openxmlformats.org/package/2006/relationships"><Relationship Id="rId2" Type="http://schemas.openxmlformats.org/officeDocument/2006/relationships/hyperlink" Target="https://aws.amazon.com/about-aws/whats-new/2021/03/amazon-aurora-supports-postgresql-aws-govcloud-us-regions/" TargetMode="External"/><Relationship Id="rId1" Type="http://schemas.openxmlformats.org/officeDocument/2006/relationships/slideLayout" Target="../slideLayouts/slideLayout9.xml"/></Relationships>
</file>

<file path=ppt/slides/_rels/slide229.xml.rels><?xml version="1.0" encoding="UTF-8" standalone="yes"?>
<Relationships xmlns="http://schemas.openxmlformats.org/package/2006/relationships"><Relationship Id="rId2" Type="http://schemas.openxmlformats.org/officeDocument/2006/relationships/hyperlink" Target="https://aws.amazon.com/about-aws/whats-new/2021/03/freertos-long-term-support-includes-aws-iot-over-the-air-update-iot-device-defender-iot-jobs-libraries/" TargetMode="External"/><Relationship Id="rId1" Type="http://schemas.openxmlformats.org/officeDocument/2006/relationships/slideLayout" Target="../slideLayouts/slideLayout9.xml"/></Relationships>
</file>

<file path=ppt/slides/_rels/slide230.xml.rels><?xml version="1.0" encoding="UTF-8" standalone="yes"?>
<Relationships xmlns="http://schemas.openxmlformats.org/package/2006/relationships"><Relationship Id="rId2" Type="http://schemas.openxmlformats.org/officeDocument/2006/relationships/hyperlink" Target="https://aws.amazon.com/about-aws/whats-new/2021/03/new-amazon-sns-console-available-aws-govcloud-us-regions/" TargetMode="External"/><Relationship Id="rId1" Type="http://schemas.openxmlformats.org/officeDocument/2006/relationships/slideLayout" Target="../slideLayouts/slideLayout9.xml"/></Relationships>
</file>

<file path=ppt/slides/_rels/slide231.xml.rels><?xml version="1.0" encoding="UTF-8" standalone="yes"?>
<Relationships xmlns="http://schemas.openxmlformats.org/package/2006/relationships"><Relationship Id="rId2" Type="http://schemas.openxmlformats.org/officeDocument/2006/relationships/hyperlink" Target="https://aws.amazon.com/about-aws/whats-new/2021/03/aws-appconfig-available-govcloud-regions/" TargetMode="External"/><Relationship Id="rId1" Type="http://schemas.openxmlformats.org/officeDocument/2006/relationships/slideLayout" Target="../slideLayouts/slideLayout9.xml"/></Relationships>
</file>

<file path=ppt/slides/_rels/slide232.xml.rels><?xml version="1.0" encoding="UTF-8" standalone="yes"?>
<Relationships xmlns="http://schemas.openxmlformats.org/package/2006/relationships"><Relationship Id="rId2" Type="http://schemas.openxmlformats.org/officeDocument/2006/relationships/hyperlink" Target="https://aws.amazon.com/about-aws/whats-new/2021/03/aws-codepipeline-supports-1000-pipelines-per-account/" TargetMode="External"/><Relationship Id="rId1" Type="http://schemas.openxmlformats.org/officeDocument/2006/relationships/slideLayout" Target="../slideLayouts/slideLayout9.xml"/></Relationships>
</file>

<file path=ppt/slides/_rels/slide233.xml.rels><?xml version="1.0" encoding="UTF-8" standalone="yes"?>
<Relationships xmlns="http://schemas.openxmlformats.org/package/2006/relationships"><Relationship Id="rId2" Type="http://schemas.openxmlformats.org/officeDocument/2006/relationships/hyperlink" Target="https://aws.amazon.com/about-aws/whats-new/2021/03/announcing-the-newly-expanded-aws-asia-pacific-osaka-region/" TargetMode="External"/><Relationship Id="rId1" Type="http://schemas.openxmlformats.org/officeDocument/2006/relationships/slideLayout" Target="../slideLayouts/slideLayout9.xml"/></Relationships>
</file>

<file path=ppt/slides/_rels/slide234.xml.rels><?xml version="1.0" encoding="UTF-8" standalone="yes"?>
<Relationships xmlns="http://schemas.openxmlformats.org/package/2006/relationships"><Relationship Id="rId2" Type="http://schemas.openxmlformats.org/officeDocument/2006/relationships/hyperlink" Target="https://aws.amazon.com/about-aws/whats-new/2021/03/aws-gateway-load-balancer-is-now-available-in-the-us-east-ohio-asia-pacific-tokyo-and-eu-frankfurt-and-stockholm-regions/" TargetMode="External"/><Relationship Id="rId1" Type="http://schemas.openxmlformats.org/officeDocument/2006/relationships/slideLayout" Target="../slideLayouts/slideLayout9.xml"/></Relationships>
</file>

<file path=ppt/slides/_rels/slide235.xml.rels><?xml version="1.0" encoding="UTF-8" standalone="yes"?>
<Relationships xmlns="http://schemas.openxmlformats.org/package/2006/relationships"><Relationship Id="rId2" Type="http://schemas.openxmlformats.org/officeDocument/2006/relationships/hyperlink" Target="https://aws.amazon.com/about-aws/whats-new/2021/03/real-time-contact-lens-for-amazon-connect-available-additional-regions/" TargetMode="External"/><Relationship Id="rId1" Type="http://schemas.openxmlformats.org/officeDocument/2006/relationships/slideLayout" Target="../slideLayouts/slideLayout9.xml"/></Relationships>
</file>

<file path=ppt/slides/_rels/slide236.xml.rels><?xml version="1.0" encoding="UTF-8" standalone="yes"?>
<Relationships xmlns="http://schemas.openxmlformats.org/package/2006/relationships"><Relationship Id="rId2" Type="http://schemas.openxmlformats.org/officeDocument/2006/relationships/hyperlink" Target="https://aws.amazon.com/about-aws/whats-new/2021/02/support-as923-1-frequency-band-generally-available-aws-iot-core-lorawan/" TargetMode="External"/><Relationship Id="rId1" Type="http://schemas.openxmlformats.org/officeDocument/2006/relationships/slideLayout" Target="../slideLayouts/slideLayout9.xml"/></Relationships>
</file>

<file path=ppt/slides/_rels/slide237.xml.rels><?xml version="1.0" encoding="UTF-8" standalone="yes"?>
<Relationships xmlns="http://schemas.openxmlformats.org/package/2006/relationships"><Relationship Id="rId2" Type="http://schemas.openxmlformats.org/officeDocument/2006/relationships/hyperlink" Target="https://aws.amazon.com/about-aws/whats-new/2021/02/aws-launch-wizard-now-allows-you-to-specify-ip-addresses-for-sap-deployments/" TargetMode="External"/><Relationship Id="rId1" Type="http://schemas.openxmlformats.org/officeDocument/2006/relationships/slideLayout" Target="../slideLayouts/slideLayout9.xml"/></Relationships>
</file>

<file path=ppt/slides/_rels/slide238.xml.rels><?xml version="1.0" encoding="UTF-8" standalone="yes"?>
<Relationships xmlns="http://schemas.openxmlformats.org/package/2006/relationships"><Relationship Id="rId2" Type="http://schemas.openxmlformats.org/officeDocument/2006/relationships/hyperlink" Target="https://aws.amazon.com/about-aws/whats-new/2021/02/aws-elemental-mediatailor-supports-media-origins-paths-with-configuration-allases/" TargetMode="External"/><Relationship Id="rId1" Type="http://schemas.openxmlformats.org/officeDocument/2006/relationships/slideLayout" Target="../slideLayouts/slideLayout9.xml"/></Relationships>
</file>

<file path=ppt/slides/_rels/slide239.xml.rels><?xml version="1.0" encoding="UTF-8" standalone="yes"?>
<Relationships xmlns="http://schemas.openxmlformats.org/package/2006/relationships"><Relationship Id="rId2" Type="http://schemas.openxmlformats.org/officeDocument/2006/relationships/hyperlink" Target="https://aws.amazon.com/about-aws/whats-new/2021/02/new-aws-solutions-consulting-offer-jumpstart-amazon-textract/" TargetMode="External"/><Relationship Id="rId1" Type="http://schemas.openxmlformats.org/officeDocument/2006/relationships/slideLayout" Target="../slideLayouts/slideLayout9.xml"/></Relationships>
</file>

<file path=ppt/slides/_rels/slide240.xml.rels><?xml version="1.0" encoding="UTF-8" standalone="yes"?>
<Relationships xmlns="http://schemas.openxmlformats.org/package/2006/relationships"><Relationship Id="rId2" Type="http://schemas.openxmlformats.org/officeDocument/2006/relationships/hyperlink" Target="https://aws.amazon.com/about-aws/whats-new/2021/02/updated-digital-course-on-coursera-and-edx-aws-cloud-practitioner-essentials/" TargetMode="External"/><Relationship Id="rId1" Type="http://schemas.openxmlformats.org/officeDocument/2006/relationships/slideLayout" Target="../slideLayouts/slideLayout9.xml"/></Relationships>
</file>

<file path=ppt/slides/_rels/slide241.xml.rels><?xml version="1.0" encoding="UTF-8" standalone="yes"?>
<Relationships xmlns="http://schemas.openxmlformats.org/package/2006/relationships"><Relationship Id="rId2" Type="http://schemas.openxmlformats.org/officeDocument/2006/relationships/hyperlink" Target="https://aws.amazon.com/about-aws/whats-new/2021/02/new-digital-class-and-lab-on-devops-on-aws/" TargetMode="External"/><Relationship Id="rId1" Type="http://schemas.openxmlformats.org/officeDocument/2006/relationships/slideLayout" Target="../slideLayouts/slideLayout9.xml"/></Relationships>
</file>

<file path=ppt/slides/_rels/slide242.xml.rels><?xml version="1.0" encoding="UTF-8" standalone="yes"?>
<Relationships xmlns="http://schemas.openxmlformats.org/package/2006/relationships"><Relationship Id="rId2" Type="http://schemas.openxmlformats.org/officeDocument/2006/relationships/hyperlink" Target="https://aws.amazon.com/about-aws/whats-new/2021/02/announcing-two-new-on-demand-digital-courses-for-media-services/" TargetMode="External"/><Relationship Id="rId1" Type="http://schemas.openxmlformats.org/officeDocument/2006/relationships/slideLayout" Target="../slideLayouts/slideLayout9.xml"/></Relationships>
</file>

<file path=ppt/slides/_rels/slide243.xml.rels><?xml version="1.0" encoding="UTF-8" standalone="yes"?>
<Relationships xmlns="http://schemas.openxmlformats.org/package/2006/relationships"><Relationship Id="rId2" Type="http://schemas.openxmlformats.org/officeDocument/2006/relationships/hyperlink" Target="https://aws.amazon.com/about-aws/whats-new/2021/02/new-digital-curriculum-build-modern-apps-with-purpose-built-databases/" TargetMode="External"/><Relationship Id="rId1" Type="http://schemas.openxmlformats.org/officeDocument/2006/relationships/slideLayout" Target="../slideLayouts/slideLayout9.xml"/></Relationships>
</file>

<file path=ppt/slides/_rels/slide244.xml.rels><?xml version="1.0" encoding="UTF-8" standalone="yes"?>
<Relationships xmlns="http://schemas.openxmlformats.org/package/2006/relationships"><Relationship Id="rId2" Type="http://schemas.openxmlformats.org/officeDocument/2006/relationships/hyperlink" Target="https://aws.amazon.com/about-aws/whats-new/2021/02/automate-quality-inspection-amazon-lookout-vision-generally-available/" TargetMode="External"/><Relationship Id="rId1" Type="http://schemas.openxmlformats.org/officeDocument/2006/relationships/slideLayout" Target="../slideLayouts/slideLayout9.xml"/></Relationships>
</file>

<file path=ppt/slides/_rels/slide245.xml.rels><?xml version="1.0" encoding="UTF-8" standalone="yes"?>
<Relationships xmlns="http://schemas.openxmlformats.org/package/2006/relationships"><Relationship Id="rId2" Type="http://schemas.openxmlformats.org/officeDocument/2006/relationships/hyperlink" Target="https://aws.amazon.com/about-aws/whats-new/2021/02/aws-transfer-family-is-now-available-in-aws-middle-east-bahrain-aws-asia-pacific-hong-kong-and-aws-africa-cape-town-regions/" TargetMode="External"/><Relationship Id="rId1" Type="http://schemas.openxmlformats.org/officeDocument/2006/relationships/slideLayout" Target="../slideLayouts/slideLayout9.xml"/></Relationships>
</file>

<file path=ppt/slides/_rels/slide246.xml.rels><?xml version="1.0" encoding="UTF-8" standalone="yes"?>
<Relationships xmlns="http://schemas.openxmlformats.org/package/2006/relationships"><Relationship Id="rId2" Type="http://schemas.openxmlformats.org/officeDocument/2006/relationships/hyperlink" Target="https://aws.amazon.com/about-aws/whats-new/2021/02/new-troubleshooting-feature-generally-available-aws-iot-events/" TargetMode="External"/><Relationship Id="rId1" Type="http://schemas.openxmlformats.org/officeDocument/2006/relationships/slideLayout" Target="../slideLayouts/slideLayout9.xml"/></Relationships>
</file>

<file path=ppt/slides/_rels/slide247.xml.rels><?xml version="1.0" encoding="UTF-8" standalone="yes"?>
<Relationships xmlns="http://schemas.openxmlformats.org/package/2006/relationships"><Relationship Id="rId2" Type="http://schemas.openxmlformats.org/officeDocument/2006/relationships/hyperlink" Target="https://aws.amazon.com/about-aws/whats-new/2021/02/amazon-rds-for-sql-server-now-supports-always-on-availability-groups-for-standard-edition/" TargetMode="External"/><Relationship Id="rId1" Type="http://schemas.openxmlformats.org/officeDocument/2006/relationships/slideLayout" Target="../slideLayouts/slideLayout9.xml"/></Relationships>
</file>

<file path=ppt/slides/_rels/slide248.xml.rels><?xml version="1.0" encoding="UTF-8" standalone="yes"?>
<Relationships xmlns="http://schemas.openxmlformats.org/package/2006/relationships"><Relationship Id="rId2" Type="http://schemas.openxmlformats.org/officeDocument/2006/relationships/hyperlink" Target="https://aws.amazon.com/about-aws/whats-new/2021/02/aws-database-migration-service-supports-mariadb-version-10-5/" TargetMode="External"/><Relationship Id="rId1" Type="http://schemas.openxmlformats.org/officeDocument/2006/relationships/slideLayout" Target="../slideLayouts/slideLayout9.xml"/></Relationships>
</file>

<file path=ppt/slides/_rels/slide249.xml.rels><?xml version="1.0" encoding="UTF-8" standalone="yes"?>
<Relationships xmlns="http://schemas.openxmlformats.org/package/2006/relationships"><Relationship Id="rId2" Type="http://schemas.openxmlformats.org/officeDocument/2006/relationships/hyperlink" Target="https://aws.amazon.com/about-aws/whats-new/2021/02/introducing-our-new-solutions-training-for-partners-sales-best-practices-courses/" TargetMode="External"/><Relationship Id="rId1" Type="http://schemas.openxmlformats.org/officeDocument/2006/relationships/slideLayout" Target="../slideLayouts/slideLayout9.xml"/></Relationships>
</file>

<file path=ppt/slides/_rels/slide250.xml.rels><?xml version="1.0" encoding="UTF-8" standalone="yes"?>
<Relationships xmlns="http://schemas.openxmlformats.org/package/2006/relationships"><Relationship Id="rId2" Type="http://schemas.openxmlformats.org/officeDocument/2006/relationships/hyperlink" Target="https://aws.amazon.com/about-aws/whats-new/2021/02/new-aws-solutions-implementation-iot-static-ip-endpoints/" TargetMode="External"/><Relationship Id="rId1" Type="http://schemas.openxmlformats.org/officeDocument/2006/relationships/slideLayout" Target="../slideLayouts/slideLayout9.xml"/></Relationships>
</file>

<file path=ppt/slides/_rels/slide251.xml.rels><?xml version="1.0" encoding="UTF-8" standalone="yes"?>
<Relationships xmlns="http://schemas.openxmlformats.org/package/2006/relationships"><Relationship Id="rId2" Type="http://schemas.openxmlformats.org/officeDocument/2006/relationships/hyperlink" Target="https://aws.amazon.com/about-aws/whats-new/2021/02/amazon-rds-for-oracle-now-supports-january-2021-release-updates-ru/" TargetMode="External"/><Relationship Id="rId1" Type="http://schemas.openxmlformats.org/officeDocument/2006/relationships/slideLayout" Target="../slideLayouts/slideLayout9.xml"/></Relationships>
</file>

<file path=ppt/slides/_rels/slide252.xml.rels><?xml version="1.0" encoding="UTF-8" standalone="yes"?>
<Relationships xmlns="http://schemas.openxmlformats.org/package/2006/relationships"><Relationship Id="rId2" Type="http://schemas.openxmlformats.org/officeDocument/2006/relationships/hyperlink" Target="https://aws.amazon.com/about-aws/whats-new/2021/02/announcing-amazon-ec2-t4g-instances-powered-aws-graviton2-processors-asia-pacific-europe-regions/" TargetMode="External"/><Relationship Id="rId1" Type="http://schemas.openxmlformats.org/officeDocument/2006/relationships/slideLayout" Target="../slideLayouts/slideLayout9.xml"/></Relationships>
</file>

<file path=ppt/slides/_rels/slide253.xml.rels><?xml version="1.0" encoding="UTF-8" standalone="yes"?>
<Relationships xmlns="http://schemas.openxmlformats.org/package/2006/relationships"><Relationship Id="rId2" Type="http://schemas.openxmlformats.org/officeDocument/2006/relationships/hyperlink" Target="https://aws.amazon.com/about-aws/whats-new/2021/02/announcing-amazon-ec2-t4g-instances-powered-aws-graviton2-processors-t4g-free-trial-asia-pacific-seoul-region/" TargetMode="External"/><Relationship Id="rId1" Type="http://schemas.openxmlformats.org/officeDocument/2006/relationships/slideLayout" Target="../slideLayouts/slideLayout9.xml"/></Relationships>
</file>

<file path=ppt/slides/_rels/slide254.xml.rels><?xml version="1.0" encoding="UTF-8" standalone="yes"?>
<Relationships xmlns="http://schemas.openxmlformats.org/package/2006/relationships"><Relationship Id="rId2" Type="http://schemas.openxmlformats.org/officeDocument/2006/relationships/hyperlink" Target="https://aws.amazon.com/about-aws/whats-new/2021/02/now-create-amazon-sagemaker-studio-presigned-url-custom-expiration-time/" TargetMode="External"/><Relationship Id="rId1" Type="http://schemas.openxmlformats.org/officeDocument/2006/relationships/slideLayout" Target="../slideLayouts/slideLayout9.xml"/></Relationships>
</file>

<file path=ppt/slides/_rels/slide255.xml.rels><?xml version="1.0" encoding="UTF-8" standalone="yes"?>
<Relationships xmlns="http://schemas.openxmlformats.org/package/2006/relationships"><Relationship Id="rId2" Type="http://schemas.openxmlformats.org/officeDocument/2006/relationships/hyperlink" Target="https://aws.amazon.com/about-aws/whats-new/2021/02/updated-digital-training-for-aws-partners-on-end-user-computing-and-machine-learning/" TargetMode="External"/><Relationship Id="rId1" Type="http://schemas.openxmlformats.org/officeDocument/2006/relationships/slideLayout" Target="../slideLayouts/slideLayout9.xml"/></Relationships>
</file>

<file path=ppt/slides/_rels/slide256.xml.rels><?xml version="1.0" encoding="UTF-8" standalone="yes"?>
<Relationships xmlns="http://schemas.openxmlformats.org/package/2006/relationships"><Relationship Id="rId2" Type="http://schemas.openxmlformats.org/officeDocument/2006/relationships/hyperlink" Target="https://aws.amazon.com/about-aws/whats-new/2021/02/amazon-redshift-query-editor-supports-clusters-with-enhanced-vpc-routing-query-run-times-node-types/" TargetMode="External"/><Relationship Id="rId1" Type="http://schemas.openxmlformats.org/officeDocument/2006/relationships/slideLayout" Target="../slideLayouts/slideLayout9.xml"/></Relationships>
</file>

<file path=ppt/slides/_rels/slide257.xml.rels><?xml version="1.0" encoding="UTF-8" standalone="yes"?>
<Relationships xmlns="http://schemas.openxmlformats.org/package/2006/relationships"><Relationship Id="rId2" Type="http://schemas.openxmlformats.org/officeDocument/2006/relationships/hyperlink" Target="https://aws.amazon.com/about-aws/whats-new/2021/02/simplified-amazon-elastic-file-system-management-console-available-aws-govcloud-regions/" TargetMode="External"/><Relationship Id="rId1" Type="http://schemas.openxmlformats.org/officeDocument/2006/relationships/slideLayout" Target="../slideLayouts/slideLayout9.xml"/></Relationships>
</file>

<file path=ppt/slides/_rels/slide258.xml.rels><?xml version="1.0" encoding="UTF-8" standalone="yes"?>
<Relationships xmlns="http://schemas.openxmlformats.org/package/2006/relationships"><Relationship Id="rId2" Type="http://schemas.openxmlformats.org/officeDocument/2006/relationships/hyperlink" Target="https://aws.amazon.com/about-aws/whats-new/2021/02/amazon-pinpoint-now-supports-10dlc-and-toll-free-numbers/" TargetMode="External"/><Relationship Id="rId1" Type="http://schemas.openxmlformats.org/officeDocument/2006/relationships/slideLayout" Target="../slideLayouts/slideLayout9.xml"/></Relationships>
</file>

<file path=ppt/slides/_rels/slide259.xml.rels><?xml version="1.0" encoding="UTF-8" standalone="yes"?>
<Relationships xmlns="http://schemas.openxmlformats.org/package/2006/relationships"><Relationship Id="rId2" Type="http://schemas.openxmlformats.org/officeDocument/2006/relationships/hyperlink" Target="https://aws.amazon.com/about-aws/whats-new/2021/02/amazon-ml-inf1-instances-are-now-available-on-amazon-sagemaker-in-14-additional-aws-regions/" TargetMode="External"/><Relationship Id="rId1" Type="http://schemas.openxmlformats.org/officeDocument/2006/relationships/slideLayout" Target="../slideLayouts/slideLayout9.xml"/></Relationships>
</file>

<file path=ppt/slides/_rels/slide260.xml.rels><?xml version="1.0" encoding="UTF-8" standalone="yes"?>
<Relationships xmlns="http://schemas.openxmlformats.org/package/2006/relationships"><Relationship Id="rId2" Type="http://schemas.openxmlformats.org/officeDocument/2006/relationships/hyperlink" Target="https://aws.amazon.com/about-aws/whats-new/2021/02/amazon-sns-now-supports-sending-sms-messages-to-us-destinations-using-ten-digit-long-codes-and-toll-free-numbers/" TargetMode="External"/><Relationship Id="rId1" Type="http://schemas.openxmlformats.org/officeDocument/2006/relationships/slideLayout" Target="../slideLayouts/slideLayout9.xml"/></Relationships>
</file>

<file path=ppt/slides/_rels/slide261.xml.rels><?xml version="1.0" encoding="UTF-8" standalone="yes"?>
<Relationships xmlns="http://schemas.openxmlformats.org/package/2006/relationships"><Relationship Id="rId2" Type="http://schemas.openxmlformats.org/officeDocument/2006/relationships/hyperlink" Target="https://aws.amazon.com/about-aws/whats-new/2021/02/update-content-inbound-outbound-emails-using-aws-lambda-amazon-workmail/" TargetMode="External"/><Relationship Id="rId1" Type="http://schemas.openxmlformats.org/officeDocument/2006/relationships/slideLayout" Target="../slideLayouts/slideLayout9.xml"/></Relationships>
</file>

<file path=ppt/slides/_rels/slide262.xml.rels><?xml version="1.0" encoding="UTF-8" standalone="yes"?>
<Relationships xmlns="http://schemas.openxmlformats.org/package/2006/relationships"><Relationship Id="rId2" Type="http://schemas.openxmlformats.org/officeDocument/2006/relationships/hyperlink" Target="https://aws.amazon.com/about-aws/whats-new/2021/02/aws-config-supports-ability-to-save-advanced-queries-in-aws-govcloud/" TargetMode="External"/><Relationship Id="rId1" Type="http://schemas.openxmlformats.org/officeDocument/2006/relationships/slideLayout" Target="../slideLayouts/slideLayout9.xml"/></Relationships>
</file>

<file path=ppt/slides/_rels/slide263.xml.rels><?xml version="1.0" encoding="UTF-8" standalone="yes"?>
<Relationships xmlns="http://schemas.openxmlformats.org/package/2006/relationships"><Relationship Id="rId2" Type="http://schemas.openxmlformats.org/officeDocument/2006/relationships/hyperlink" Target="https://aws.amazon.com/about-aws/whats-new/2021/02/aws-elemental-medialive-supports-region-transfer-aws-elemental-link/" TargetMode="External"/><Relationship Id="rId1" Type="http://schemas.openxmlformats.org/officeDocument/2006/relationships/slideLayout" Target="../slideLayouts/slideLayout9.xml"/></Relationships>
</file>

<file path=ppt/slides/_rels/slide264.xml.rels><?xml version="1.0" encoding="UTF-8" standalone="yes"?>
<Relationships xmlns="http://schemas.openxmlformats.org/package/2006/relationships"><Relationship Id="rId2" Type="http://schemas.openxmlformats.org/officeDocument/2006/relationships/hyperlink" Target="https://aws.amazon.com/about-aws/whats-new/2021/02/aws-elemental-link-available-europe-paris-region/" TargetMode="External"/><Relationship Id="rId1" Type="http://schemas.openxmlformats.org/officeDocument/2006/relationships/slideLayout" Target="../slideLayouts/slideLayout9.xml"/></Relationships>
</file>

<file path=ppt/slides/_rels/slide265.xml.rels><?xml version="1.0" encoding="UTF-8" standalone="yes"?>
<Relationships xmlns="http://schemas.openxmlformats.org/package/2006/relationships"><Relationship Id="rId2" Type="http://schemas.openxmlformats.org/officeDocument/2006/relationships/hyperlink" Target="https://aws.amazon.com/about-aws/whats-new/2021/02/aws-graviton2-based-m6g-c6g-r6g-instances-available-additional-regions/" TargetMode="External"/><Relationship Id="rId1" Type="http://schemas.openxmlformats.org/officeDocument/2006/relationships/slideLayout" Target="../slideLayouts/slideLayout9.xml"/></Relationships>
</file>

<file path=ppt/slides/_rels/slide266.xml.rels><?xml version="1.0" encoding="UTF-8" standalone="yes"?>
<Relationships xmlns="http://schemas.openxmlformats.org/package/2006/relationships"><Relationship Id="rId2" Type="http://schemas.openxmlformats.org/officeDocument/2006/relationships/hyperlink" Target="https://aws.amazon.com/about-aws/whats-new/2021/02/announcing-general-availability-amplify-flutter-data-authentication-support/" TargetMode="External"/><Relationship Id="rId1" Type="http://schemas.openxmlformats.org/officeDocument/2006/relationships/slideLayout" Target="../slideLayouts/slideLayout9.xml"/></Relationships>
</file>

<file path=ppt/slides/_rels/slide267.xml.rels><?xml version="1.0" encoding="UTF-8" standalone="yes"?>
<Relationships xmlns="http://schemas.openxmlformats.org/package/2006/relationships"><Relationship Id="rId2" Type="http://schemas.openxmlformats.org/officeDocument/2006/relationships/hyperlink" Target="https://aws.amazon.com/about-aws/whats-new/2021/02/amazon-s3-on-outposts-adds-a-smaller-storage-tier/" TargetMode="External"/><Relationship Id="rId1" Type="http://schemas.openxmlformats.org/officeDocument/2006/relationships/slideLayout" Target="../slideLayouts/slideLayout9.xml"/></Relationships>
</file>

<file path=ppt/slides/_rels/slide268.xml.rels><?xml version="1.0" encoding="UTF-8" standalone="yes"?>
<Relationships xmlns="http://schemas.openxmlformats.org/package/2006/relationships"><Relationship Id="rId2" Type="http://schemas.openxmlformats.org/officeDocument/2006/relationships/hyperlink" Target="https://aws.amazon.com/about-aws/whats-new/2021/02/aws-elemental-medialive-expands-its-automatic-input-failover-capabilities/" TargetMode="External"/><Relationship Id="rId1" Type="http://schemas.openxmlformats.org/officeDocument/2006/relationships/slideLayout" Target="../slideLayouts/slideLayout9.xml"/></Relationships>
</file>

<file path=ppt/slides/_rels/slide269.xml.rels><?xml version="1.0" encoding="UTF-8" standalone="yes"?>
<Relationships xmlns="http://schemas.openxmlformats.org/package/2006/relationships"><Relationship Id="rId2" Type="http://schemas.openxmlformats.org/officeDocument/2006/relationships/hyperlink" Target="https://aws.amazon.com/about-aws/whats-new/2021/02/amazon-simple-email-service-launches-a-redesigned-service-console-experience/" TargetMode="External"/><Relationship Id="rId1" Type="http://schemas.openxmlformats.org/officeDocument/2006/relationships/slideLayout" Target="../slideLayouts/slideLayout9.xml"/></Relationships>
</file>

<file path=ppt/slides/_rels/slide270.xml.rels><?xml version="1.0" encoding="UTF-8" standalone="yes"?>
<Relationships xmlns="http://schemas.openxmlformats.org/package/2006/relationships"><Relationship Id="rId2" Type="http://schemas.openxmlformats.org/officeDocument/2006/relationships/hyperlink" Target="https://aws.amazon.com/about-aws/whats-new/2021/02/aws-cloudformation-stacksets-is-now-available-in-japan-osaka-region/" TargetMode="External"/><Relationship Id="rId1" Type="http://schemas.openxmlformats.org/officeDocument/2006/relationships/slideLayout" Target="../slideLayouts/slideLayout9.xml"/></Relationships>
</file>

<file path=ppt/slides/_rels/slide271.xml.rels><?xml version="1.0" encoding="UTF-8" standalone="yes"?>
<Relationships xmlns="http://schemas.openxmlformats.org/package/2006/relationships"><Relationship Id="rId2" Type="http://schemas.openxmlformats.org/officeDocument/2006/relationships/hyperlink" Target="https://aws.amazon.com/about-aws/whats-new/2021/02/amazon-ec2-m5zn-instances-with-high-frequency-processors-and-100-gbps-networking-are-now-available-in-asia-pacific-singapore-and-sydney/" TargetMode="External"/><Relationship Id="rId1" Type="http://schemas.openxmlformats.org/officeDocument/2006/relationships/slideLayout" Target="../slideLayouts/slideLayout9.xml"/></Relationships>
</file>

<file path=ppt/slides/_rels/slide272.xml.rels><?xml version="1.0" encoding="UTF-8" standalone="yes"?>
<Relationships xmlns="http://schemas.openxmlformats.org/package/2006/relationships"><Relationship Id="rId2" Type="http://schemas.openxmlformats.org/officeDocument/2006/relationships/hyperlink" Target="https://aws.amazon.com/about-aws/whats-new/2021/02/introducing-serverless-image-handler-v5-2/" TargetMode="External"/><Relationship Id="rId1" Type="http://schemas.openxmlformats.org/officeDocument/2006/relationships/slideLayout" Target="../slideLayouts/slideLayout9.xml"/></Relationships>
</file>

<file path=ppt/slides/_rels/slide273.xml.rels><?xml version="1.0" encoding="UTF-8" standalone="yes"?>
<Relationships xmlns="http://schemas.openxmlformats.org/package/2006/relationships"><Relationship Id="rId2" Type="http://schemas.openxmlformats.org/officeDocument/2006/relationships/hyperlink" Target="https://aws.amazon.com/about-aws/whats-new/2021/02/amazon-lex-available-aws-govcloud-us-west-region/" TargetMode="External"/><Relationship Id="rId1" Type="http://schemas.openxmlformats.org/officeDocument/2006/relationships/slideLayout" Target="../slideLayouts/slideLayout9.xml"/></Relationships>
</file>

<file path=ppt/slides/_rels/slide274.xml.rels><?xml version="1.0" encoding="UTF-8" standalone="yes"?>
<Relationships xmlns="http://schemas.openxmlformats.org/package/2006/relationships"><Relationship Id="rId2" Type="http://schemas.openxmlformats.org/officeDocument/2006/relationships/hyperlink" Target="https://aws.amazon.com/about-aws/whats-new/2021/02/announcing-amd-instance-support-amazon-gamelift-fleetiq/" TargetMode="External"/><Relationship Id="rId1" Type="http://schemas.openxmlformats.org/officeDocument/2006/relationships/slideLayout" Target="../slideLayouts/slideLayout9.xml"/></Relationships>
</file>

<file path=ppt/slides/_rels/slide275.xml.rels><?xml version="1.0" encoding="UTF-8" standalone="yes"?>
<Relationships xmlns="http://schemas.openxmlformats.org/package/2006/relationships"><Relationship Id="rId2" Type="http://schemas.openxmlformats.org/officeDocument/2006/relationships/hyperlink" Target="https://aws.amazon.com/about-aws/whats-new/2021/02/aws-cloud9-launches-visual-source-control-integration-for-git/" TargetMode="External"/><Relationship Id="rId1" Type="http://schemas.openxmlformats.org/officeDocument/2006/relationships/slideLayout" Target="../slideLayouts/slideLayout9.xml"/></Relationships>
</file>

<file path=ppt/slides/_rels/slide276.xml.rels><?xml version="1.0" encoding="UTF-8" standalone="yes"?>
<Relationships xmlns="http://schemas.openxmlformats.org/package/2006/relationships"><Relationship Id="rId2" Type="http://schemas.openxmlformats.org/officeDocument/2006/relationships/hyperlink" Target="https://aws.amazon.com/about-aws/whats-new/2021/02/aws-deepcomposer-launches-transformer-notebook-github/" TargetMode="External"/><Relationship Id="rId1" Type="http://schemas.openxmlformats.org/officeDocument/2006/relationships/slideLayout" Target="../slideLayouts/slideLayout9.xml"/></Relationships>
</file>

<file path=ppt/slides/_rels/slide277.xml.rels><?xml version="1.0" encoding="UTF-8" standalone="yes"?>
<Relationships xmlns="http://schemas.openxmlformats.org/package/2006/relationships"><Relationship Id="rId2" Type="http://schemas.openxmlformats.org/officeDocument/2006/relationships/hyperlink" Target="https://aws.amazon.com/about-aws/whats-new/2021/02/new-digital-curriculum-managing-amazon-s3/" TargetMode="External"/><Relationship Id="rId1" Type="http://schemas.openxmlformats.org/officeDocument/2006/relationships/slideLayout" Target="../slideLayouts/slideLayout9.xml"/></Relationships>
</file>

<file path=ppt/slides/_rels/slide278.xml.rels><?xml version="1.0" encoding="UTF-8" standalone="yes"?>
<Relationships xmlns="http://schemas.openxmlformats.org/package/2006/relationships"><Relationship Id="rId2" Type="http://schemas.openxmlformats.org/officeDocument/2006/relationships/hyperlink" Target="https://aws.amazon.com/about-aws/whats-new/2021/02/aws-glue-is-now-available-in-the-aws-africa-cape-town-region/" TargetMode="External"/><Relationship Id="rId1" Type="http://schemas.openxmlformats.org/officeDocument/2006/relationships/slideLayout" Target="../slideLayouts/slideLayout9.xml"/></Relationships>
</file>

<file path=ppt/slides/_rels/slide279.xml.rels><?xml version="1.0" encoding="UTF-8" standalone="yes"?>
<Relationships xmlns="http://schemas.openxmlformats.org/package/2006/relationships"><Relationship Id="rId2" Type="http://schemas.openxmlformats.org/officeDocument/2006/relationships/hyperlink" Target="https://aws.amazon.com/about-aws/whats-new/2021/02/aws-lake-formation-is-now-available-in-asia-pacific-hong-kong-region/" TargetMode="External"/><Relationship Id="rId1" Type="http://schemas.openxmlformats.org/officeDocument/2006/relationships/slideLayout" Target="../slideLayouts/slideLayout9.xml"/></Relationships>
</file>

<file path=ppt/slides/_rels/slide280.xml.rels><?xml version="1.0" encoding="UTF-8" standalone="yes"?>
<Relationships xmlns="http://schemas.openxmlformats.org/package/2006/relationships"><Relationship Id="rId2" Type="http://schemas.openxmlformats.org/officeDocument/2006/relationships/hyperlink" Target="https://aws.amazon.com/about-aws/whats-new/2021/02/aws-data-exchange-enables-subscribers-to-export-full-revisions/" TargetMode="External"/><Relationship Id="rId1" Type="http://schemas.openxmlformats.org/officeDocument/2006/relationships/slideLayout" Target="../slideLayouts/slideLayout9.xml"/></Relationships>
</file>

<file path=ppt/slides/_rels/slide281.xml.rels><?xml version="1.0" encoding="UTF-8" standalone="yes"?>
<Relationships xmlns="http://schemas.openxmlformats.org/package/2006/relationships"><Relationship Id="rId2" Type="http://schemas.openxmlformats.org/officeDocument/2006/relationships/hyperlink" Target="https://aws.amazon.com/about-aws/whats-new/2021/02/cloudfront-launch-croatia/" TargetMode="External"/><Relationship Id="rId1" Type="http://schemas.openxmlformats.org/officeDocument/2006/relationships/slideLayout" Target="../slideLayouts/slideLayout9.xml"/></Relationships>
</file>

<file path=ppt/slides/_rels/slide282.xml.rels><?xml version="1.0" encoding="UTF-8" standalone="yes"?>
<Relationships xmlns="http://schemas.openxmlformats.org/package/2006/relationships"><Relationship Id="rId2" Type="http://schemas.openxmlformats.org/officeDocument/2006/relationships/hyperlink" Target="https://aws.amazon.com/about-aws/whats-new/2021/02/new-aws-solutions-consulting-offer-persistent-digital-bank-credit-union-solution/" TargetMode="External"/><Relationship Id="rId1" Type="http://schemas.openxmlformats.org/officeDocument/2006/relationships/slideLayout" Target="../slideLayouts/slideLayout9.xml"/></Relationships>
</file>

<file path=ppt/slides/_rels/slide283.xml.rels><?xml version="1.0" encoding="UTF-8" standalone="yes"?>
<Relationships xmlns="http://schemas.openxmlformats.org/package/2006/relationships"><Relationship Id="rId2" Type="http://schemas.openxmlformats.org/officeDocument/2006/relationships/hyperlink" Target="https://aws.amazon.com/about-aws/whats-new/2021/02/aws-cloudhsm-adds-new-availability-zones/" TargetMode="External"/><Relationship Id="rId1" Type="http://schemas.openxmlformats.org/officeDocument/2006/relationships/slideLayout" Target="../slideLayouts/slideLayout9.xml"/></Relationships>
</file>

<file path=ppt/slides/_rels/slide284.xml.rels><?xml version="1.0" encoding="UTF-8" standalone="yes"?>
<Relationships xmlns="http://schemas.openxmlformats.org/package/2006/relationships"><Relationship Id="rId2" Type="http://schemas.openxmlformats.org/officeDocument/2006/relationships/hyperlink" Target="https://aws.amazon.com/about-aws/whats-new/2021/02/new-aws-solutions-consulting-offer-digital-banking-engagement-platform/" TargetMode="External"/><Relationship Id="rId1" Type="http://schemas.openxmlformats.org/officeDocument/2006/relationships/slideLayout" Target="../slideLayouts/slideLayout9.xml"/></Relationships>
</file>

<file path=ppt/slides/_rels/slide285.xml.rels><?xml version="1.0" encoding="UTF-8" standalone="yes"?>
<Relationships xmlns="http://schemas.openxmlformats.org/package/2006/relationships"><Relationship Id="rId2" Type="http://schemas.openxmlformats.org/officeDocument/2006/relationships/hyperlink" Target="https://aws.amazon.com/about-aws/whats-new/2021/02/new-aws-solutions-consulting-offer-ai-powered-inventory-management/" TargetMode="External"/><Relationship Id="rId1" Type="http://schemas.openxmlformats.org/officeDocument/2006/relationships/slideLayout" Target="../slideLayouts/slideLayout9.xml"/></Relationships>
</file>

<file path=ppt/slides/_rels/slide286.xml.rels><?xml version="1.0" encoding="UTF-8" standalone="yes"?>
<Relationships xmlns="http://schemas.openxmlformats.org/package/2006/relationships"><Relationship Id="rId2" Type="http://schemas.openxmlformats.org/officeDocument/2006/relationships/hyperlink" Target="https://aws.amazon.com/about-aws/whats-new/2021/02/amazon-ecs-service-discovery-available-africa-cape-town-europe-milan/" TargetMode="External"/><Relationship Id="rId1" Type="http://schemas.openxmlformats.org/officeDocument/2006/relationships/slideLayout" Target="../slideLayouts/slideLayout9.xml"/></Relationships>
</file>

<file path=ppt/slides/_rels/slide287.xml.rels><?xml version="1.0" encoding="UTF-8" standalone="yes"?>
<Relationships xmlns="http://schemas.openxmlformats.org/package/2006/relationships"><Relationship Id="rId2" Type="http://schemas.openxmlformats.org/officeDocument/2006/relationships/hyperlink" Target="https://aws.amazon.com/about-aws/whats-new/2021/02/introducing-amazon-cloudfront-security-savings-bundle/" TargetMode="External"/><Relationship Id="rId1" Type="http://schemas.openxmlformats.org/officeDocument/2006/relationships/slideLayout" Target="../slideLayouts/slideLayout9.xml"/></Relationships>
</file>

<file path=ppt/slides/_rels/slide288.xml.rels><?xml version="1.0" encoding="UTF-8" standalone="yes"?>
<Relationships xmlns="http://schemas.openxmlformats.org/package/2006/relationships"><Relationship Id="rId2" Type="http://schemas.openxmlformats.org/officeDocument/2006/relationships/hyperlink" Target="https://aws.amazon.com/about-aws/whats-new/2021/02/aws-graviton2-m6g-c6g-r6g-instances-available-additional-regions/" TargetMode="External"/><Relationship Id="rId1" Type="http://schemas.openxmlformats.org/officeDocument/2006/relationships/slideLayout" Target="../slideLayouts/slideLayout9.xml"/></Relationships>
</file>

<file path=ppt/slides/_rels/slide289.xml.rels><?xml version="1.0" encoding="UTF-8" standalone="yes"?>
<Relationships xmlns="http://schemas.openxmlformats.org/package/2006/relationships"><Relationship Id="rId2" Type="http://schemas.openxmlformats.org/officeDocument/2006/relationships/hyperlink" Target="https://aws.amazon.com/about-aws/whats-new/2021/02/aws-solutions-implementation-aws-data-streaming-solution/" TargetMode="External"/><Relationship Id="rId1" Type="http://schemas.openxmlformats.org/officeDocument/2006/relationships/slideLayout" Target="../slideLayouts/slideLayout9.xml"/></Relationships>
</file>

<file path=ppt/slides/_rels/slide290.xml.rels><?xml version="1.0" encoding="UTF-8" standalone="yes"?>
<Relationships xmlns="http://schemas.openxmlformats.org/package/2006/relationships"><Relationship Id="rId2" Type="http://schemas.openxmlformats.org/officeDocument/2006/relationships/hyperlink" Target="https://aws.amazon.com/about-aws/whats-new/2021/02/aws-solutions-implementation-aws-mlops-framework-adds-model-monitoring-pipeline/" TargetMode="External"/><Relationship Id="rId1" Type="http://schemas.openxmlformats.org/officeDocument/2006/relationships/slideLayout" Target="../slideLayouts/slideLayout9.xml"/></Relationships>
</file>

<file path=ppt/slides/_rels/slide291.xml.rels><?xml version="1.0" encoding="UTF-8" standalone="yes"?>
<Relationships xmlns="http://schemas.openxmlformats.org/package/2006/relationships"><Relationship Id="rId2" Type="http://schemas.openxmlformats.org/officeDocument/2006/relationships/hyperlink" Target="https://aws.amazon.com/about-aws/whats-new/2021/02/introducing-amazon-ebs-local-snapshots-on-outposts/" TargetMode="External"/><Relationship Id="rId1" Type="http://schemas.openxmlformats.org/officeDocument/2006/relationships/slideLayout" Target="../slideLayouts/slideLayout9.xml"/></Relationships>
</file>

<file path=ppt/slides/_rels/slide292.xml.rels><?xml version="1.0" encoding="UTF-8" standalone="yes"?>
<Relationships xmlns="http://schemas.openxmlformats.org/package/2006/relationships"><Relationship Id="rId2" Type="http://schemas.openxmlformats.org/officeDocument/2006/relationships/hyperlink" Target="https://aws.amazon.com/about-aws/whats-new/2021/02/announcing-aws-wavelength-zones-osaka-Japan/" TargetMode="External"/><Relationship Id="rId1" Type="http://schemas.openxmlformats.org/officeDocument/2006/relationships/slideLayout" Target="../slideLayouts/slideLayout9.xml"/></Relationships>
</file>

<file path=ppt/slides/_rels/slide293.xml.rels><?xml version="1.0" encoding="UTF-8" standalone="yes"?>
<Relationships xmlns="http://schemas.openxmlformats.org/package/2006/relationships"><Relationship Id="rId2" Type="http://schemas.openxmlformats.org/officeDocument/2006/relationships/hyperlink" Target="https://aws.amazon.com/about-aws/whats-new/2021/02/aws-amplify-hosting-adds-monitoring-capabilities-with-amazon-cloudwatch-integration/" TargetMode="External"/><Relationship Id="rId1" Type="http://schemas.openxmlformats.org/officeDocument/2006/relationships/slideLayout" Target="../slideLayouts/slideLayout9.xml"/></Relationships>
</file>

<file path=ppt/slides/_rels/slide294.xml.rels><?xml version="1.0" encoding="UTF-8" standalone="yes"?>
<Relationships xmlns="http://schemas.openxmlformats.org/package/2006/relationships"><Relationship Id="rId2" Type="http://schemas.openxmlformats.org/officeDocument/2006/relationships/hyperlink" Target="https://aws.amazon.com/about-aws/whats-new/2021/02/amazon-connect-available-aws-govcloud-us-west-region/" TargetMode="External"/><Relationship Id="rId1" Type="http://schemas.openxmlformats.org/officeDocument/2006/relationships/slideLayout" Target="../slideLayouts/slideLayout9.xml"/></Relationships>
</file>

<file path=ppt/slides/_rels/slide295.xml.rels><?xml version="1.0" encoding="UTF-8" standalone="yes"?>
<Relationships xmlns="http://schemas.openxmlformats.org/package/2006/relationships"><Relationship Id="rId2" Type="http://schemas.openxmlformats.org/officeDocument/2006/relationships/hyperlink" Target="https://aws.amazon.com/about-aws/whats-new/2021/02/aws-elemental-medialive-adds-support-for-vpc-outputs/" TargetMode="External"/><Relationship Id="rId1" Type="http://schemas.openxmlformats.org/officeDocument/2006/relationships/slideLayout" Target="../slideLayouts/slideLayout9.xml"/></Relationships>
</file>

<file path=ppt/slides/_rels/slide296.xml.rels><?xml version="1.0" encoding="UTF-8" standalone="yes"?>
<Relationships xmlns="http://schemas.openxmlformats.org/package/2006/relationships"><Relationship Id="rId2" Type="http://schemas.openxmlformats.org/officeDocument/2006/relationships/hyperlink" Target="https://aws.amazon.com/about-aws/whats-new/2021/02/amazon-virtual-private-cloud-vpc-customers-customize-reverse-dns-elastic-ips-eip/" TargetMode="External"/><Relationship Id="rId1" Type="http://schemas.openxmlformats.org/officeDocument/2006/relationships/slideLayout" Target="../slideLayouts/slideLayout9.xml"/></Relationships>
</file>

<file path=ppt/slides/_rels/slide297.xml.rels><?xml version="1.0" encoding="UTF-8" standalone="yes"?>
<Relationships xmlns="http://schemas.openxmlformats.org/package/2006/relationships"><Relationship Id="rId2" Type="http://schemas.openxmlformats.org/officeDocument/2006/relationships/hyperlink" Target="https://aws.amazon.com/about-aws/whats-new/2021/02/aws-console-mobile-application-adds-support-new-regions/" TargetMode="External"/><Relationship Id="rId1" Type="http://schemas.openxmlformats.org/officeDocument/2006/relationships/slideLayout" Target="../slideLayouts/slideLayout9.xml"/></Relationships>
</file>

<file path=ppt/slides/_rels/slide298.xml.rels><?xml version="1.0" encoding="UTF-8" standalone="yes"?>
<Relationships xmlns="http://schemas.openxmlformats.org/package/2006/relationships"><Relationship Id="rId2" Type="http://schemas.openxmlformats.org/officeDocument/2006/relationships/hyperlink" Target="https://aws.amazon.com/about-aws/whats-new/2021/02/amazon-redshift-delivers-cold-query-performance-additional-aws-regions/" TargetMode="External"/><Relationship Id="rId1" Type="http://schemas.openxmlformats.org/officeDocument/2006/relationships/slideLayout" Target="../slideLayouts/slideLayout9.xml"/></Relationships>
</file>

<file path=ppt/slides/_rels/slide299.xml.rels><?xml version="1.0" encoding="UTF-8" standalone="yes"?>
<Relationships xmlns="http://schemas.openxmlformats.org/package/2006/relationships"><Relationship Id="rId2" Type="http://schemas.openxmlformats.org/officeDocument/2006/relationships/hyperlink" Target="https://aws.amazon.com/about-aws/whats-new/2021/02/aws-launch-wizard-configures-rhel-sles-clustering-sap-application-high-availability/" TargetMode="External"/><Relationship Id="rId1" Type="http://schemas.openxmlformats.org/officeDocument/2006/relationships/slideLayout" Target="../slideLayouts/slideLayout9.xml"/></Relationships>
</file>

<file path=ppt/slides/_rels/slide300.xml.rels><?xml version="1.0" encoding="UTF-8" standalone="yes"?>
<Relationships xmlns="http://schemas.openxmlformats.org/package/2006/relationships"><Relationship Id="rId2" Type="http://schemas.openxmlformats.org/officeDocument/2006/relationships/hyperlink" Target="https://aws.amazon.com/about-aws/whats-new/2021/01/amazon-transcribe-medical-now-provides-automatic-protected-health-information-phi-identification/" TargetMode="External"/><Relationship Id="rId1" Type="http://schemas.openxmlformats.org/officeDocument/2006/relationships/slideLayout" Target="../slideLayouts/slideLayout9.xml"/></Relationships>
</file>

<file path=ppt/slides/_rels/slide301.xml.rels><?xml version="1.0" encoding="UTF-8" standalone="yes"?>
<Relationships xmlns="http://schemas.openxmlformats.org/package/2006/relationships"><Relationship Id="rId2" Type="http://schemas.openxmlformats.org/officeDocument/2006/relationships/hyperlink" Target="https://aws.amazon.com/about-aws/whats-new/2021/01/aws-glue-databrew-available-six-additional-aws-regions/" TargetMode="External"/><Relationship Id="rId1" Type="http://schemas.openxmlformats.org/officeDocument/2006/relationships/slideLayout" Target="../slideLayouts/slideLayout9.xml"/></Relationships>
</file>

<file path=ppt/slides/_rels/slide302.xml.rels><?xml version="1.0" encoding="UTF-8" standalone="yes"?>
<Relationships xmlns="http://schemas.openxmlformats.org/package/2006/relationships"><Relationship Id="rId2" Type="http://schemas.openxmlformats.org/officeDocument/2006/relationships/hyperlink" Target="https://aws.amazon.com/about-aws/whats-new/2021/01/aws-control-tower-now-available-in-canada-frankfurt-london-stockholm-and-singapore-aws-regions/" TargetMode="External"/><Relationship Id="rId1" Type="http://schemas.openxmlformats.org/officeDocument/2006/relationships/slideLayout" Target="../slideLayouts/slideLayout9.xml"/></Relationships>
</file>

<file path=ppt/slides/_rels/slide303.xml.rels><?xml version="1.0" encoding="UTF-8" standalone="yes"?>
<Relationships xmlns="http://schemas.openxmlformats.org/package/2006/relationships"><Relationship Id="rId2" Type="http://schemas.openxmlformats.org/officeDocument/2006/relationships/hyperlink" Target="https://aws.amazon.com/about-aws/whats-new/2021/01/aws-marketplace-announces-support-for-multiple-private-marketplace-catalogs/" TargetMode="External"/><Relationship Id="rId1" Type="http://schemas.openxmlformats.org/officeDocument/2006/relationships/slideLayout" Target="../slideLayouts/slideLayout9.xml"/></Relationships>
</file>

<file path=ppt/slides/_rels/slide304.xml.rels><?xml version="1.0" encoding="UTF-8" standalone="yes"?>
<Relationships xmlns="http://schemas.openxmlformats.org/package/2006/relationships"><Relationship Id="rId2" Type="http://schemas.openxmlformats.org/officeDocument/2006/relationships/hyperlink" Target="https://aws.amazon.com/about-aws/whats-new/2021/01/aws-robomaker-supports-data-upload-configurations-in-simulation-jobs/" TargetMode="External"/><Relationship Id="rId1" Type="http://schemas.openxmlformats.org/officeDocument/2006/relationships/slideLayout" Target="../slideLayouts/slideLayout9.xml"/></Relationships>
</file>

<file path=ppt/slides/_rels/slide305.xml.rels><?xml version="1.0" encoding="UTF-8" standalone="yes"?>
<Relationships xmlns="http://schemas.openxmlformats.org/package/2006/relationships"><Relationship Id="rId2" Type="http://schemas.openxmlformats.org/officeDocument/2006/relationships/hyperlink" Target="https://aws.amazon.com/about-aws/whats-new/2021/01/amazon-fsx-available-additional-regions/" TargetMode="External"/><Relationship Id="rId1" Type="http://schemas.openxmlformats.org/officeDocument/2006/relationships/slideLayout" Target="../slideLayouts/slideLayout9.xml"/></Relationships>
</file>

<file path=ppt/slides/_rels/slide306.xml.rels><?xml version="1.0" encoding="UTF-8" standalone="yes"?>
<Relationships xmlns="http://schemas.openxmlformats.org/package/2006/relationships"><Relationship Id="rId2" Type="http://schemas.openxmlformats.org/officeDocument/2006/relationships/hyperlink" Target="https://aws.amazon.com/about-aws/whats-new/2021/01/aws-codepipeline-available-europe-south-milan-region/" TargetMode="External"/><Relationship Id="rId1" Type="http://schemas.openxmlformats.org/officeDocument/2006/relationships/slideLayout" Target="../slideLayouts/slideLayout9.xml"/></Relationships>
</file>

<file path=ppt/slides/_rels/slide307.xml.rels><?xml version="1.0" encoding="UTF-8" standalone="yes"?>
<Relationships xmlns="http://schemas.openxmlformats.org/package/2006/relationships"><Relationship Id="rId2" Type="http://schemas.openxmlformats.org/officeDocument/2006/relationships/hyperlink" Target="https://aws.amazon.com/about-aws/whats-new/2021/01/aws-security-hub-adds-new-integration-globally-adds-5-integrations-aws-govcloud-us-regions/" TargetMode="External"/><Relationship Id="rId1" Type="http://schemas.openxmlformats.org/officeDocument/2006/relationships/slideLayout" Target="../slideLayouts/slideLayout9.xml"/></Relationships>
</file>

<file path=ppt/slides/_rels/slide308.xml.rels><?xml version="1.0" encoding="UTF-8" standalone="yes"?>
<Relationships xmlns="http://schemas.openxmlformats.org/package/2006/relationships"><Relationship Id="rId2" Type="http://schemas.openxmlformats.org/officeDocument/2006/relationships/hyperlink" Target="https://aws.amazon.com/about-aws/whats-new/2021/01/amazon-ses-now-lets-you-assign-a-configuration-set-to-an-identity/" TargetMode="External"/><Relationship Id="rId1" Type="http://schemas.openxmlformats.org/officeDocument/2006/relationships/slideLayout" Target="../slideLayouts/slideLayout9.xml"/></Relationships>
</file>

<file path=ppt/slides/_rels/slide309.xml.rels><?xml version="1.0" encoding="UTF-8" standalone="yes"?>
<Relationships xmlns="http://schemas.openxmlformats.org/package/2006/relationships"><Relationship Id="rId2" Type="http://schemas.openxmlformats.org/officeDocument/2006/relationships/hyperlink" Target="https://aws.amazon.com/about-aws/whats-new/2021/01/amazon-rds-for-sql-server-now-supports-tempdb-on-local-instance-store-with-r5d-and-m5d-instance-types/" TargetMode="External"/><Relationship Id="rId1" Type="http://schemas.openxmlformats.org/officeDocument/2006/relationships/slideLayout" Target="../slideLayouts/slideLayout9.xml"/></Relationships>
</file>

<file path=ppt/slides/_rels/slide310.xml.rels><?xml version="1.0" encoding="UTF-8" standalone="yes"?>
<Relationships xmlns="http://schemas.openxmlformats.org/package/2006/relationships"><Relationship Id="rId2" Type="http://schemas.openxmlformats.org/officeDocument/2006/relationships/hyperlink" Target="https://aws.amazon.com/about-aws/whats-new/2021/01/aws-direct-connect-launches-second-location-italy/" TargetMode="External"/><Relationship Id="rId1" Type="http://schemas.openxmlformats.org/officeDocument/2006/relationships/slideLayout" Target="../slideLayouts/slideLayout9.xml"/></Relationships>
</file>

<file path=ppt/slides/_rels/slide311.xml.rels><?xml version="1.0" encoding="UTF-8" standalone="yes"?>
<Relationships xmlns="http://schemas.openxmlformats.org/package/2006/relationships"><Relationship Id="rId2" Type="http://schemas.openxmlformats.org/officeDocument/2006/relationships/hyperlink" Target="https://aws.amazon.com/about-aws/whats-new/2021/01/announcing-new-amazon-ec2-t4g-instances-aws-graviton2-processors-additional-regions/" TargetMode="External"/><Relationship Id="rId1" Type="http://schemas.openxmlformats.org/officeDocument/2006/relationships/slideLayout" Target="../slideLayouts/slideLayout9.xml"/></Relationships>
</file>

<file path=ppt/slides/_rels/slide312.xml.rels><?xml version="1.0" encoding="UTF-8" standalone="yes"?>
<Relationships xmlns="http://schemas.openxmlformats.org/package/2006/relationships"><Relationship Id="rId2" Type="http://schemas.openxmlformats.org/officeDocument/2006/relationships/hyperlink" Target="https://aws.amazon.com/about-aws/whats-new/2021/01/amazon-ebs-direct-apis-enable-you-to-create-snapshots-osaka-directly-from-any-block-storage/" TargetMode="External"/><Relationship Id="rId1" Type="http://schemas.openxmlformats.org/officeDocument/2006/relationships/slideLayout" Target="../slideLayouts/slideLayout9.xml"/></Relationships>
</file>

<file path=ppt/slides/_rels/slide313.xml.rels><?xml version="1.0" encoding="UTF-8" standalone="yes"?>
<Relationships xmlns="http://schemas.openxmlformats.org/package/2006/relationships"><Relationship Id="rId2" Type="http://schemas.openxmlformats.org/officeDocument/2006/relationships/hyperlink" Target="https://aws.amazon.com/about-aws/whats-new/2021/01/launching-amazon-lex-streaming-conversation-apis-virtual-natural-virtual-agent-conversational-experiences/" TargetMode="External"/><Relationship Id="rId1" Type="http://schemas.openxmlformats.org/officeDocument/2006/relationships/slideLayout" Target="../slideLayouts/slideLayout9.xml"/></Relationships>
</file>

<file path=ppt/slides/_rels/slide314.xml.rels><?xml version="1.0" encoding="UTF-8" standalone="yes"?>
<Relationships xmlns="http://schemas.openxmlformats.org/package/2006/relationships"><Relationship Id="rId2" Type="http://schemas.openxmlformats.org/officeDocument/2006/relationships/hyperlink" Target="https://aws.amazon.com/about-aws/whats-new/2021/01/amazon-kendra-achieves-iso-pci-compliance/" TargetMode="External"/><Relationship Id="rId1" Type="http://schemas.openxmlformats.org/officeDocument/2006/relationships/slideLayout" Target="../slideLayouts/slideLayout9.xml"/></Relationships>
</file>

<file path=ppt/slides/_rels/slide315.xml.rels><?xml version="1.0" encoding="UTF-8" standalone="yes"?>
<Relationships xmlns="http://schemas.openxmlformats.org/package/2006/relationships"><Relationship Id="rId2" Type="http://schemas.openxmlformats.org/officeDocument/2006/relationships/hyperlink" Target="https://aws.amazon.com/about-aws/whats-new/2021/01/aws-app-mesh-is-now-available-in-the-africa-cape-town-aws-region/" TargetMode="External"/><Relationship Id="rId1" Type="http://schemas.openxmlformats.org/officeDocument/2006/relationships/slideLayout" Target="../slideLayouts/slideLayout9.xml"/></Relationships>
</file>

<file path=ppt/slides/_rels/slide316.xml.rels><?xml version="1.0" encoding="UTF-8" standalone="yes"?>
<Relationships xmlns="http://schemas.openxmlformats.org/package/2006/relationships"><Relationship Id="rId2" Type="http://schemas.openxmlformats.org/officeDocument/2006/relationships/hyperlink" Target="https://aws.amazon.com/about-aws/whats-new/2021/01/aws-cloud-map-updates-service-level-agreement/" TargetMode="External"/><Relationship Id="rId1" Type="http://schemas.openxmlformats.org/officeDocument/2006/relationships/slideLayout" Target="../slideLayouts/slideLayout9.xml"/></Relationships>
</file>

<file path=ppt/slides/_rels/slide317.xml.rels><?xml version="1.0" encoding="UTF-8" standalone="yes"?>
<Relationships xmlns="http://schemas.openxmlformats.org/package/2006/relationships"><Relationship Id="rId2" Type="http://schemas.openxmlformats.org/officeDocument/2006/relationships/hyperlink" Target="https://aws.amazon.com/about-aws/whats-new/2021/01/launching-amazon-lex-v2-console-apis-improved-bot-building-experience/" TargetMode="External"/><Relationship Id="rId1" Type="http://schemas.openxmlformats.org/officeDocument/2006/relationships/slideLayout" Target="../slideLayouts/slideLayout9.xml"/></Relationships>
</file>

<file path=ppt/slides/_rels/slide318.xml.rels><?xml version="1.0" encoding="UTF-8" standalone="yes"?>
<Relationships xmlns="http://schemas.openxmlformats.org/package/2006/relationships"><Relationship Id="rId2" Type="http://schemas.openxmlformats.org/officeDocument/2006/relationships/hyperlink" Target="https://aws.amazon.com/about-aws/whats-new/2021/01/new-partner-training-on-migration-cloud-governance-and-machine-learning/" TargetMode="External"/><Relationship Id="rId1" Type="http://schemas.openxmlformats.org/officeDocument/2006/relationships/slideLayout" Target="../slideLayouts/slideLayout9.xml"/></Relationships>
</file>

<file path=ppt/slides/_rels/slide319.xml.rels><?xml version="1.0" encoding="UTF-8" standalone="yes"?>
<Relationships xmlns="http://schemas.openxmlformats.org/package/2006/relationships"><Relationship Id="rId2" Type="http://schemas.openxmlformats.org/officeDocument/2006/relationships/hyperlink" Target="https://aws.amazon.com/about-aws/whats-new/2021/01/amazon-rds-for-mariadb-supports-version-10-5-8/" TargetMode="External"/><Relationship Id="rId1" Type="http://schemas.openxmlformats.org/officeDocument/2006/relationships/slideLayout" Target="../slideLayouts/slideLayout9.xml"/></Relationships>
</file>

<file path=ppt/slides/_rels/slide320.xml.rels><?xml version="1.0" encoding="UTF-8" standalone="yes"?>
<Relationships xmlns="http://schemas.openxmlformats.org/package/2006/relationships"><Relationship Id="rId2" Type="http://schemas.openxmlformats.org/officeDocument/2006/relationships/hyperlink" Target="https://aws.amazon.com/about-aws/whats-new/2021/01/amazon-sqs-supports-1-minute-cloudwatch-metrics-in-aws-govcloud-regions/" TargetMode="External"/><Relationship Id="rId1" Type="http://schemas.openxmlformats.org/officeDocument/2006/relationships/slideLayout" Target="../slideLayouts/slideLayout9.xml"/></Relationships>
</file>

<file path=ppt/slides/_rels/slide321.xml.rels><?xml version="1.0" encoding="UTF-8" standalone="yes"?>
<Relationships xmlns="http://schemas.openxmlformats.org/package/2006/relationships"><Relationship Id="rId2" Type="http://schemas.openxmlformats.org/officeDocument/2006/relationships/hyperlink" Target="https://aws.amazon.com/about-aws/whats-new/2021/01/amazon-chime-sdk-ios-android-support-screen-share/" TargetMode="External"/><Relationship Id="rId1" Type="http://schemas.openxmlformats.org/officeDocument/2006/relationships/slideLayout" Target="../slideLayouts/slideLayout9.xml"/></Relationships>
</file>

<file path=ppt/slides/_rels/slide322.xml.rels><?xml version="1.0" encoding="UTF-8" standalone="yes"?>
<Relationships xmlns="http://schemas.openxmlformats.org/package/2006/relationships"><Relationship Id="rId2" Type="http://schemas.openxmlformats.org/officeDocument/2006/relationships/hyperlink" Target="https://aws.amazon.com/about-aws/whats-new/2021/01/announcing-cdk-support-aws-chalice/" TargetMode="External"/><Relationship Id="rId1" Type="http://schemas.openxmlformats.org/officeDocument/2006/relationships/slideLayout" Target="../slideLayouts/slideLayout9.xml"/></Relationships>
</file>

<file path=ppt/slides/_rels/slide323.xml.rels><?xml version="1.0" encoding="UTF-8" standalone="yes"?>
<Relationships xmlns="http://schemas.openxmlformats.org/package/2006/relationships"><Relationship Id="rId2" Type="http://schemas.openxmlformats.org/officeDocument/2006/relationships/hyperlink" Target="https://aws.amazon.com/about-aws/whats-new/2021/01/new-aws-iot-device-client-simplifies-onboarding-to-aws-iot-core-aws-iot-device-management-and-aws-iot-device-defender/" TargetMode="External"/><Relationship Id="rId1" Type="http://schemas.openxmlformats.org/officeDocument/2006/relationships/slideLayout" Target="../slideLayouts/slideLayout9.xml"/></Relationships>
</file>

<file path=ppt/slides/_rels/slide324.xml.rels><?xml version="1.0" encoding="UTF-8" standalone="yes"?>
<Relationships xmlns="http://schemas.openxmlformats.org/package/2006/relationships"><Relationship Id="rId2" Type="http://schemas.openxmlformats.org/officeDocument/2006/relationships/hyperlink" Target="https://aws.amazon.com/about-aws/whats-new/2021/01/amazon-fsx-supports-fips-validated-endpoints/" TargetMode="External"/><Relationship Id="rId1" Type="http://schemas.openxmlformats.org/officeDocument/2006/relationships/slideLayout" Target="../slideLayouts/slideLayout9.xml"/></Relationships>
</file>

<file path=ppt/slides/_rels/slide325.xml.rels><?xml version="1.0" encoding="UTF-8" standalone="yes"?>
<Relationships xmlns="http://schemas.openxmlformats.org/package/2006/relationships"><Relationship Id="rId2" Type="http://schemas.openxmlformats.org/officeDocument/2006/relationships/hyperlink" Target="https://aws.amazon.com/about-aws/whats-new/2021/01/announcing-new-features-for-aws-iot-sitewise/" TargetMode="External"/><Relationship Id="rId1" Type="http://schemas.openxmlformats.org/officeDocument/2006/relationships/slideLayout" Target="../slideLayouts/slideLayout9.xml"/></Relationships>
</file>

<file path=ppt/slides/_rels/slide326.xml.rels><?xml version="1.0" encoding="UTF-8" standalone="yes"?>
<Relationships xmlns="http://schemas.openxmlformats.org/package/2006/relationships"><Relationship Id="rId2" Type="http://schemas.openxmlformats.org/officeDocument/2006/relationships/hyperlink" Target="https://aws.amazon.com/about-aws/whats-new/2021/01/new-self-paced-course-about-designing-data-lakes-on-edx-and-coursera/" TargetMode="External"/><Relationship Id="rId1" Type="http://schemas.openxmlformats.org/officeDocument/2006/relationships/slideLayout" Target="../slideLayouts/slideLayout9.xml"/></Relationships>
</file>

<file path=ppt/slides/_rels/slide327.xml.rels><?xml version="1.0" encoding="UTF-8" standalone="yes"?>
<Relationships xmlns="http://schemas.openxmlformats.org/package/2006/relationships"><Relationship Id="rId2" Type="http://schemas.openxmlformats.org/officeDocument/2006/relationships/hyperlink" Target="https://aws.amazon.com/about-aws/whats-new/2021/01/amazon-ec2-p4d-instances-now-available-in-the-europe-ireland-region/" TargetMode="External"/><Relationship Id="rId1" Type="http://schemas.openxmlformats.org/officeDocument/2006/relationships/slideLayout" Target="../slideLayouts/slideLayout9.xml"/></Relationships>
</file>

<file path=ppt/slides/_rels/slide328.xml.rels><?xml version="1.0" encoding="UTF-8" standalone="yes"?>
<Relationships xmlns="http://schemas.openxmlformats.org/package/2006/relationships"><Relationship Id="rId2" Type="http://schemas.openxmlformats.org/officeDocument/2006/relationships/hyperlink" Target="https://aws.amazon.com/about-aws/whats-new/2021/01/pci-dss-compliance-for-aws-wavelength/" TargetMode="External"/><Relationship Id="rId1" Type="http://schemas.openxmlformats.org/officeDocument/2006/relationships/slideLayout" Target="../slideLayouts/slideLayout9.xml"/></Relationships>
</file>

<file path=ppt/slides/_rels/slide329.xml.rels><?xml version="1.0" encoding="UTF-8" standalone="yes"?>
<Relationships xmlns="http://schemas.openxmlformats.org/package/2006/relationships"><Relationship Id="rId2" Type="http://schemas.openxmlformats.org/officeDocument/2006/relationships/hyperlink" Target="https://aws.amazon.com/about-aws/whats-new/2021/01/announcing-three-new-digital-courses-for-amazon-s3/" TargetMode="External"/><Relationship Id="rId1" Type="http://schemas.openxmlformats.org/officeDocument/2006/relationships/slideLayout" Target="../slideLayouts/slideLayout9.xml"/></Relationships>
</file>

<file path=ppt/slides/_rels/slide330.xml.rels><?xml version="1.0" encoding="UTF-8" standalone="yes"?>
<Relationships xmlns="http://schemas.openxmlformats.org/package/2006/relationships"><Relationship Id="rId2" Type="http://schemas.openxmlformats.org/officeDocument/2006/relationships/hyperlink" Target="https://aws.amazon.com/about-aws/whats-new/2021/01/graphical-user-interface-of-porting-assistant-for-dotnet-now-open-source/" TargetMode="External"/><Relationship Id="rId1" Type="http://schemas.openxmlformats.org/officeDocument/2006/relationships/slideLayout" Target="../slideLayouts/slideLayout9.xml"/></Relationships>
</file>

<file path=ppt/slides/_rels/slide331.xml.rels><?xml version="1.0" encoding="UTF-8" standalone="yes"?>
<Relationships xmlns="http://schemas.openxmlformats.org/package/2006/relationships"><Relationship Id="rId2" Type="http://schemas.openxmlformats.org/officeDocument/2006/relationships/hyperlink" Target="https://aws.amazon.com/about-aws/whats-new/2021/01/amazon-rekognition-custom-labels-available-additional-regions/" TargetMode="External"/><Relationship Id="rId1" Type="http://schemas.openxmlformats.org/officeDocument/2006/relationships/slideLayout" Target="../slideLayouts/slideLayout9.xml"/></Relationships>
</file>

<file path=ppt/slides/_rels/slide332.xml.rels><?xml version="1.0" encoding="UTF-8" standalone="yes"?>
<Relationships xmlns="http://schemas.openxmlformats.org/package/2006/relationships"><Relationship Id="rId2" Type="http://schemas.openxmlformats.org/officeDocument/2006/relationships/hyperlink" Target="https://aws.amazon.com/about-aws/whats-new/2021/01/amazon-ec2-x1-x1e-instances-now-available-additional-aws-regions/" TargetMode="External"/><Relationship Id="rId1" Type="http://schemas.openxmlformats.org/officeDocument/2006/relationships/slideLayout" Target="../slideLayouts/slideLayout9.xml"/></Relationships>
</file>

<file path=ppt/slides/_rels/slide333.xml.rels><?xml version="1.0" encoding="UTF-8" standalone="yes"?>
<Relationships xmlns="http://schemas.openxmlformats.org/package/2006/relationships"><Relationship Id="rId2" Type="http://schemas.openxmlformats.org/officeDocument/2006/relationships/hyperlink" Target="https://aws.amazon.com/about-aws/whats-new/2021/01/announcing-new-segmentation-capabilities-amazon-pinpoint/" TargetMode="External"/><Relationship Id="rId1" Type="http://schemas.openxmlformats.org/officeDocument/2006/relationships/slideLayout" Target="../slideLayouts/slideLayout9.xml"/></Relationships>
</file>

<file path=ppt/slides/_rels/slide334.xml.rels><?xml version="1.0" encoding="UTF-8" standalone="yes"?>
<Relationships xmlns="http://schemas.openxmlformats.org/package/2006/relationships"><Relationship Id="rId2" Type="http://schemas.openxmlformats.org/officeDocument/2006/relationships/hyperlink" Target="https://aws.amazon.com/about-aws/whats-new/2021/01/new-aws-public-datasets-available/" TargetMode="External"/><Relationship Id="rId1" Type="http://schemas.openxmlformats.org/officeDocument/2006/relationships/slideLayout" Target="../slideLayouts/slideLayout9.xml"/></Relationships>
</file>

<file path=ppt/slides/_rels/slide335.xml.rels><?xml version="1.0" encoding="UTF-8" standalone="yes"?>
<Relationships xmlns="http://schemas.openxmlformats.org/package/2006/relationships"><Relationship Id="rId2" Type="http://schemas.openxmlformats.org/officeDocument/2006/relationships/hyperlink" Target="https://aws.amazon.com/about-aws/whats-new/2021/01/new-digital-course-and-lab-aws-cloud-development-kit-cdk-primer/" TargetMode="External"/><Relationship Id="rId1" Type="http://schemas.openxmlformats.org/officeDocument/2006/relationships/slideLayout" Target="../slideLayouts/slideLayout9.xml"/></Relationships>
</file>

<file path=ppt/slides/_rels/slide336.xml.rels><?xml version="1.0" encoding="UTF-8" standalone="yes"?>
<Relationships xmlns="http://schemas.openxmlformats.org/package/2006/relationships"><Relationship Id="rId2" Type="http://schemas.openxmlformats.org/officeDocument/2006/relationships/hyperlink" Target="https://aws.amazon.com/about-aws/whats-new/2021/01/new-digital-course-configuring-and-deploying-vpcs-with-multiple-subnets/" TargetMode="External"/><Relationship Id="rId1" Type="http://schemas.openxmlformats.org/officeDocument/2006/relationships/slideLayout" Target="../slideLayouts/slideLayout9.xml"/></Relationships>
</file>

<file path=ppt/slides/_rels/slide337.xml.rels><?xml version="1.0" encoding="UTF-8" standalone="yes"?>
<Relationships xmlns="http://schemas.openxmlformats.org/package/2006/relationships"><Relationship Id="rId2" Type="http://schemas.openxmlformats.org/officeDocument/2006/relationships/hyperlink" Target="https://aws.amazon.com/about-aws/whats-new/2021/01/amplify-datastore-launches-support-sorting-selectively-syncing-app-data/" TargetMode="External"/><Relationship Id="rId1" Type="http://schemas.openxmlformats.org/officeDocument/2006/relationships/slideLayout" Target="../slideLayouts/slideLayout9.xml"/></Relationships>
</file>

<file path=ppt/slides/_rels/slide338.xml.rels><?xml version="1.0" encoding="UTF-8" standalone="yes"?>
<Relationships xmlns="http://schemas.openxmlformats.org/package/2006/relationships"><Relationship Id="rId2" Type="http://schemas.openxmlformats.org/officeDocument/2006/relationships/hyperlink" Target="https://aws.amazon.com/about-aws/whats-new/2021/01/amazon-cognito-identity-pools-now-enables-customers-to-use-attributes-from-identity-providers-to-simplify-permissions-management-to-aws-resources/" TargetMode="External"/><Relationship Id="rId1" Type="http://schemas.openxmlformats.org/officeDocument/2006/relationships/slideLayout" Target="../slideLayouts/slideLayout9.xml"/></Relationships>
</file>

<file path=ppt/slides/_rels/slide339.xml.rels><?xml version="1.0" encoding="UTF-8" standalone="yes"?>
<Relationships xmlns="http://schemas.openxmlformats.org/package/2006/relationships"><Relationship Id="rId2" Type="http://schemas.openxmlformats.org/officeDocument/2006/relationships/hyperlink" Target="https://aws.amazon.com/about-aws/whats-new/2021/01/aws-snow-family-console-simplifies-snow-data-transfer-compute-job-creation-management/" TargetMode="External"/><Relationship Id="rId1" Type="http://schemas.openxmlformats.org/officeDocument/2006/relationships/slideLayout" Target="../slideLayouts/slideLayout9.xml"/></Relationships>
</file>

<file path=ppt/slides/_rels/slide340.xml.rels><?xml version="1.0" encoding="UTF-8" standalone="yes"?>
<Relationships xmlns="http://schemas.openxmlformats.org/package/2006/relationships"><Relationship Id="rId2" Type="http://schemas.openxmlformats.org/officeDocument/2006/relationships/hyperlink" Target="https://aws.amazon.com/about-aws/whats-new/2021/01/amazon-appstream-2-0-now-supports-using-smart-cards-for-active-directory-domain-login-and-streaming-applications/" TargetMode="External"/><Relationship Id="rId1" Type="http://schemas.openxmlformats.org/officeDocument/2006/relationships/slideLayout" Target="../slideLayouts/slideLayout9.xml"/></Relationships>
</file>

<file path=ppt/slides/_rels/slide341.xml.rels><?xml version="1.0" encoding="UTF-8" standalone="yes"?>
<Relationships xmlns="http://schemas.openxmlformats.org/package/2006/relationships"><Relationship Id="rId2" Type="http://schemas.openxmlformats.org/officeDocument/2006/relationships/hyperlink" Target="https://aws.amazon.com/about-aws/whats-new/2021/01/announcing--support-for-methods-via-uniform-function-call-syntax/" TargetMode="External"/><Relationship Id="rId1" Type="http://schemas.openxmlformats.org/officeDocument/2006/relationships/slideLayout" Target="../slideLayouts/slideLayout9.xml"/></Relationships>
</file>

<file path=ppt/slides/_rels/slide342.xml.rels><?xml version="1.0" encoding="UTF-8" standalone="yes"?>
<Relationships xmlns="http://schemas.openxmlformats.org/package/2006/relationships"><Relationship Id="rId2" Type="http://schemas.openxmlformats.org/officeDocument/2006/relationships/hyperlink" Target="https://aws.amazon.com/about-aws/whats-new/2021/01/announcing-global-expansion-aws-contact-center-intelligence-solutions/" TargetMode="External"/><Relationship Id="rId1" Type="http://schemas.openxmlformats.org/officeDocument/2006/relationships/slideLayout" Target="../slideLayouts/slideLayout9.xml"/></Relationships>
</file>

<file path=ppt/slides/_rels/slide343.xml.rels><?xml version="1.0" encoding="UTF-8" standalone="yes"?>
<Relationships xmlns="http://schemas.openxmlformats.org/package/2006/relationships"><Relationship Id="rId2" Type="http://schemas.openxmlformats.org/officeDocument/2006/relationships/hyperlink" Target="https://aws.amazon.com/about-aws/whats-new/2021/01/aws-snowcone-now-supports-multicast-streams-and-routing-by-providing-instances-with-direct-access-to-external-networks/" TargetMode="External"/><Relationship Id="rId1" Type="http://schemas.openxmlformats.org/officeDocument/2006/relationships/slideLayout" Target="../slideLayouts/slideLayout9.xml"/></Relationships>
</file>

<file path=ppt/slides/_rels/slide344.xml.rels><?xml version="1.0" encoding="UTF-8" standalone="yes"?>
<Relationships xmlns="http://schemas.openxmlformats.org/package/2006/relationships"><Relationship Id="rId2" Type="http://schemas.openxmlformats.org/officeDocument/2006/relationships/hyperlink" Target="https://aws.amazon.com/about-aws/whats-new/2021/01/amazon-lightsail-supports-ipv6/" TargetMode="External"/><Relationship Id="rId1" Type="http://schemas.openxmlformats.org/officeDocument/2006/relationships/slideLayout" Target="../slideLayouts/slideLayout9.xml"/></Relationships>
</file>

<file path=ppt/slides/_rels/slide345.xml.rels><?xml version="1.0" encoding="UTF-8" standalone="yes"?>
<Relationships xmlns="http://schemas.openxmlformats.org/package/2006/relationships"><Relationship Id="rId2" Type="http://schemas.openxmlformats.org/officeDocument/2006/relationships/hyperlink" Target="https://aws.amazon.com/about-aws/whats-new/2021/01/customers-can-now-tag-resources-in-the-amazon-braket-console-/" TargetMode="External"/><Relationship Id="rId1" Type="http://schemas.openxmlformats.org/officeDocument/2006/relationships/slideLayout" Target="../slideLayouts/slideLayout9.xml"/></Relationships>
</file>

<file path=ppt/slides/_rels/slide346.xml.rels><?xml version="1.0" encoding="UTF-8" standalone="yes"?>
<Relationships xmlns="http://schemas.openxmlformats.org/package/2006/relationships"><Relationship Id="rId2" Type="http://schemas.openxmlformats.org/officeDocument/2006/relationships/hyperlink" Target="https://aws.amazon.com/about-aws/whats-new/2021/01/new-aws-config-console-streamlines-resource-configuration-compliance-management/" TargetMode="External"/><Relationship Id="rId1" Type="http://schemas.openxmlformats.org/officeDocument/2006/relationships/slideLayout" Target="../slideLayouts/slideLayout9.xml"/></Relationships>
</file>

<file path=ppt/slides/_rels/slide347.xml.rels><?xml version="1.0" encoding="UTF-8" standalone="yes"?>
<Relationships xmlns="http://schemas.openxmlformats.org/package/2006/relationships"><Relationship Id="rId2" Type="http://schemas.openxmlformats.org/officeDocument/2006/relationships/hyperlink" Target="https://aws.amazon.com/about-aws/whats-new/2021/01/aws-network-firewall-is-now-available-in-the-asia-pacific-sydney-region/" TargetMode="External"/><Relationship Id="rId1" Type="http://schemas.openxmlformats.org/officeDocument/2006/relationships/slideLayout" Target="../slideLayouts/slideLayout9.xml"/></Relationships>
</file>

<file path=ppt/slides/_rels/slide348.xml.rels><?xml version="1.0" encoding="UTF-8" standalone="yes"?>
<Relationships xmlns="http://schemas.openxmlformats.org/package/2006/relationships"><Relationship Id="rId2" Type="http://schemas.openxmlformats.org/officeDocument/2006/relationships/hyperlink" Target="https://aws.amazon.com/about-aws/whats-new/2021/01/amazon-appflow-supports-salesforce-pardot/" TargetMode="External"/><Relationship Id="rId1" Type="http://schemas.openxmlformats.org/officeDocument/2006/relationships/slideLayout" Target="../slideLayouts/slideLayout9.xml"/></Relationships>
</file>

<file path=ppt/slides/_rels/slide349.xml.rels><?xml version="1.0" encoding="UTF-8" standalone="yes"?>
<Relationships xmlns="http://schemas.openxmlformats.org/package/2006/relationships"><Relationship Id="rId2" Type="http://schemas.openxmlformats.org/officeDocument/2006/relationships/hyperlink" Target="https://aws.amazon.com/about-aws/whats-new/2021/01/amazon-cloudsearch-announces-updates-search-instances/" TargetMode="External"/><Relationship Id="rId1" Type="http://schemas.openxmlformats.org/officeDocument/2006/relationships/slideLayout" Target="../slideLayouts/slideLayout9.xml"/></Relationships>
</file>

<file path=ppt/slides/_rels/slide350.xml.rels><?xml version="1.0" encoding="UTF-8" standalone="yes"?>
<Relationships xmlns="http://schemas.openxmlformats.org/package/2006/relationships"><Relationship Id="rId2" Type="http://schemas.openxmlformats.org/officeDocument/2006/relationships/hyperlink" Target="https://aws.amazon.com/about-aws/whats-new/2021/01/freertos-includes-pre-configured-projects-for-software-emulations-of-microcontroller-cores-using-qemu-open-source-emulator/" TargetMode="External"/><Relationship Id="rId1" Type="http://schemas.openxmlformats.org/officeDocument/2006/relationships/slideLayout" Target="../slideLayouts/slideLayout9.xml"/></Relationships>
</file>

<file path=ppt/slides/_rels/slide351.xml.rels><?xml version="1.0" encoding="UTF-8" standalone="yes"?>
<Relationships xmlns="http://schemas.openxmlformats.org/package/2006/relationships"><Relationship Id="rId2" Type="http://schemas.openxmlformats.org/officeDocument/2006/relationships/hyperlink" Target="https://aws.amazon.com/about-aws/whats-new/2021/01/new-beta-exam-for-aws-certified-sysops-administrator-associate/"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fontScale="77500" lnSpcReduction="20000"/>
          </a:bodyPr>
          <a:lstStyle/>
          <a:p>
            <a:r>
              <a:rPr lang="en-US" dirty="0"/>
              <a:t>Stan Guillory</a:t>
            </a:r>
          </a:p>
          <a:p>
            <a:r>
              <a:rPr lang="en-US" dirty="0"/>
              <a:t>Senior Solutions Architect</a:t>
            </a:r>
          </a:p>
          <a:p>
            <a:r>
              <a:rPr lang="en-US" dirty="0"/>
              <a:t>3/25/2021</a:t>
            </a:r>
          </a:p>
        </p:txBody>
      </p:sp>
      <p:sp>
        <p:nvSpPr>
          <p:cNvPr id="4" name="Text Placeholder 3"/>
          <p:cNvSpPr>
            <a:spLocks noGrp="1"/>
          </p:cNvSpPr>
          <p:nvPr>
            <p:ph type="body" sz="quarter" idx="12"/>
          </p:nvPr>
        </p:nvSpPr>
        <p:spPr/>
        <p:txBody>
          <a:bodyPr/>
          <a:lstStyle/>
          <a:p>
            <a:r>
              <a:rPr lang="en-US" dirty="0"/>
              <a:t>What’s New at AWS</a:t>
            </a:r>
          </a:p>
        </p:txBody>
      </p:sp>
      <p:sp>
        <p:nvSpPr>
          <p:cNvPr id="8" name="Text Placeholder 7">
            <a:extLst>
              <a:ext uri="{FF2B5EF4-FFF2-40B4-BE49-F238E27FC236}">
                <a16:creationId xmlns:a16="http://schemas.microsoft.com/office/drawing/2014/main" id="{74CEB05D-0914-CF46-9930-3938AF512487}"/>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330344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E702E280-D2CF-5D46-A064-FE55F672979B}"/>
              </a:ext>
            </a:extLst>
          </p:cNvPr>
          <p:cNvSpPr txBox="1"/>
          <p:nvPr/>
        </p:nvSpPr>
        <p:spPr>
          <a:xfrm>
            <a:off x="102938" y="7224100"/>
            <a:ext cx="5336556" cy="1126462"/>
          </a:xfrm>
          <a:prstGeom prst="rect">
            <a:avLst/>
          </a:prstGeom>
          <a:noFill/>
        </p:spPr>
        <p:txBody>
          <a:bodyPr wrap="square" rtlCol="0" anchor="ctr">
            <a:spAutoFit/>
          </a:bodyPr>
          <a:lstStyle/>
          <a:p>
            <a:pPr defTabSz="1097280"/>
            <a:r>
              <a:rPr lang="en-US" sz="6720" b="1" dirty="0">
                <a:solidFill>
                  <a:prstClr val="white">
                    <a:lumMod val="85000"/>
                  </a:prstClr>
                </a:solidFill>
                <a:latin typeface="Calibri" panose="020F0502020204030204" pitchFamily="34" charset="0"/>
                <a:ea typeface="Arial Black" charset="0"/>
                <a:cs typeface="Calibri" panose="020F0502020204030204" pitchFamily="34" charset="0"/>
                <a:sym typeface="Helvetica"/>
              </a:rPr>
              <a:t>Account Team</a:t>
            </a:r>
          </a:p>
        </p:txBody>
      </p:sp>
      <p:pic>
        <p:nvPicPr>
          <p:cNvPr id="16" name="Picture 15">
            <a:extLst>
              <a:ext uri="{FF2B5EF4-FFF2-40B4-BE49-F238E27FC236}">
                <a16:creationId xmlns:a16="http://schemas.microsoft.com/office/drawing/2014/main" id="{6361B181-52BE-AE48-8C0B-B0E03C5137FD}"/>
              </a:ext>
            </a:extLst>
          </p:cNvPr>
          <p:cNvPicPr>
            <a:picLocks noChangeAspect="1"/>
          </p:cNvPicPr>
          <p:nvPr/>
        </p:nvPicPr>
        <p:blipFill>
          <a:blip r:embed="rId3"/>
          <a:stretch>
            <a:fillRect/>
          </a:stretch>
        </p:blipFill>
        <p:spPr>
          <a:xfrm>
            <a:off x="5447035" y="7477492"/>
            <a:ext cx="1721321" cy="619675"/>
          </a:xfrm>
          <a:prstGeom prst="rect">
            <a:avLst/>
          </a:prstGeom>
        </p:spPr>
      </p:pic>
      <p:grpSp>
        <p:nvGrpSpPr>
          <p:cNvPr id="43" name="Group 42"/>
          <p:cNvGrpSpPr/>
          <p:nvPr/>
        </p:nvGrpSpPr>
        <p:grpSpPr>
          <a:xfrm>
            <a:off x="248088" y="959749"/>
            <a:ext cx="1798903" cy="2894162"/>
            <a:chOff x="206740" y="350211"/>
            <a:chExt cx="1499086" cy="2411802"/>
          </a:xfrm>
        </p:grpSpPr>
        <p:sp>
          <p:nvSpPr>
            <p:cNvPr id="20" name="TextBox 19">
              <a:extLst>
                <a:ext uri="{FF2B5EF4-FFF2-40B4-BE49-F238E27FC236}">
                  <a16:creationId xmlns:a16="http://schemas.microsoft.com/office/drawing/2014/main" id="{5D7D0791-62D6-2946-A2C2-544B0067DC54}"/>
                </a:ext>
              </a:extLst>
            </p:cNvPr>
            <p:cNvSpPr txBox="1"/>
            <p:nvPr/>
          </p:nvSpPr>
          <p:spPr>
            <a:xfrm>
              <a:off x="206741" y="660650"/>
              <a:ext cx="1303273" cy="2154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Strategy and direction.</a:t>
              </a:r>
            </a:p>
          </p:txBody>
        </p:sp>
        <p:sp>
          <p:nvSpPr>
            <p:cNvPr id="19" name="Rounded Rectangle 4">
              <a:extLst>
                <a:ext uri="{FF2B5EF4-FFF2-40B4-BE49-F238E27FC236}">
                  <a16:creationId xmlns:a16="http://schemas.microsoft.com/office/drawing/2014/main" id="{2E9372C6-DE8D-E84F-8D34-21F18EC8EBB4}"/>
                </a:ext>
              </a:extLst>
            </p:cNvPr>
            <p:cNvSpPr/>
            <p:nvPr/>
          </p:nvSpPr>
          <p:spPr>
            <a:xfrm>
              <a:off x="206740" y="350211"/>
              <a:ext cx="1499086" cy="3285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Executive Sponsor</a:t>
              </a:r>
            </a:p>
          </p:txBody>
        </p:sp>
        <p:pic>
          <p:nvPicPr>
            <p:cNvPr id="34" name="Picture 33">
              <a:extLst>
                <a:ext uri="{FF2B5EF4-FFF2-40B4-BE49-F238E27FC236}">
                  <a16:creationId xmlns:a16="http://schemas.microsoft.com/office/drawing/2014/main" id="{7AD3C699-7647-E146-99BD-2AA995718FA8}"/>
                </a:ext>
              </a:extLst>
            </p:cNvPr>
            <p:cNvPicPr>
              <a:picLocks noChangeAspect="1"/>
            </p:cNvPicPr>
            <p:nvPr/>
          </p:nvPicPr>
          <p:blipFill>
            <a:blip r:embed="rId4"/>
            <a:stretch>
              <a:fillRect/>
            </a:stretch>
          </p:blipFill>
          <p:spPr>
            <a:xfrm>
              <a:off x="275322" y="1025182"/>
              <a:ext cx="582799" cy="1269508"/>
            </a:xfrm>
            <a:prstGeom prst="rect">
              <a:avLst/>
            </a:prstGeom>
          </p:spPr>
        </p:pic>
        <p:sp>
          <p:nvSpPr>
            <p:cNvPr id="35" name="TextBox 34">
              <a:extLst>
                <a:ext uri="{FF2B5EF4-FFF2-40B4-BE49-F238E27FC236}">
                  <a16:creationId xmlns:a16="http://schemas.microsoft.com/office/drawing/2014/main" id="{B7A65602-49C1-7E4B-9A34-88652642700C}"/>
                </a:ext>
              </a:extLst>
            </p:cNvPr>
            <p:cNvSpPr txBox="1"/>
            <p:nvPr/>
          </p:nvSpPr>
          <p:spPr>
            <a:xfrm>
              <a:off x="224299" y="2315737"/>
              <a:ext cx="98058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awssteve@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Chief Information  Security Officer</a:t>
              </a:r>
              <a:endParaRPr lang="en-US" sz="1440" dirty="0">
                <a:solidFill>
                  <a:prstClr val="black"/>
                </a:solidFill>
                <a:latin typeface="Calibri" panose="020F0502020204030204"/>
                <a:sym typeface="Helvetica"/>
              </a:endParaRPr>
            </a:p>
          </p:txBody>
        </p:sp>
      </p:grpSp>
      <p:sp>
        <p:nvSpPr>
          <p:cNvPr id="96" name="Shape 272">
            <a:extLst>
              <a:ext uri="{FF2B5EF4-FFF2-40B4-BE49-F238E27FC236}">
                <a16:creationId xmlns:a16="http://schemas.microsoft.com/office/drawing/2014/main" id="{74AD4591-BC09-D842-802F-A98F885EA534}"/>
              </a:ext>
            </a:extLst>
          </p:cNvPr>
          <p:cNvSpPr txBox="1">
            <a:spLocks/>
          </p:cNvSpPr>
          <p:nvPr/>
        </p:nvSpPr>
        <p:spPr>
          <a:xfrm>
            <a:off x="13156760" y="505066"/>
            <a:ext cx="208578" cy="320040"/>
          </a:xfrm>
          <a:prstGeom prst="rect">
            <a:avLst/>
          </a:prstGeom>
          <a:extLst>
            <a:ext uri="{C572A759-6A51-4108-AA02-DFA0A04FC94B}">
              <ma14:wrappingTextBoxFlag xmlns=""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1pPr>
            <a:lvl2pPr marL="0" marR="0" indent="4572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2pPr>
            <a:lvl3pPr marL="0" marR="0" indent="9144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3pPr>
            <a:lvl4pPr marL="0" marR="0" indent="13716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4pPr>
            <a:lvl5pPr marL="0" marR="0" indent="18288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5pPr>
            <a:lvl6pPr marL="0" marR="0" indent="22860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6pPr>
            <a:lvl7pPr marL="0" marR="0" indent="27432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7pPr>
            <a:lvl8pPr marL="0" marR="0" indent="32004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8pPr>
            <a:lvl9pPr marL="0" marR="0" indent="36576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9pPr>
          </a:lstStyle>
          <a:p>
            <a:pPr defTabSz="1097280"/>
            <a:fld id="{86CB4B4D-7CA3-9044-876B-883B54F8677D}" type="slidenum">
              <a:rPr lang="en-US" sz="1680" b="1">
                <a:solidFill>
                  <a:prstClr val="white"/>
                </a:solidFill>
                <a:latin typeface="Calibri" panose="020F0502020204030204"/>
              </a:rPr>
              <a:pPr defTabSz="1097280"/>
              <a:t>2</a:t>
            </a:fld>
            <a:endParaRPr lang="en-US" sz="1680" b="1" dirty="0">
              <a:solidFill>
                <a:prstClr val="white"/>
              </a:solidFill>
              <a:latin typeface="Calibri" panose="020F0502020204030204"/>
            </a:endParaRPr>
          </a:p>
        </p:txBody>
      </p:sp>
      <p:sp>
        <p:nvSpPr>
          <p:cNvPr id="100" name="Shape 272">
            <a:extLst>
              <a:ext uri="{FF2B5EF4-FFF2-40B4-BE49-F238E27FC236}">
                <a16:creationId xmlns:a16="http://schemas.microsoft.com/office/drawing/2014/main" id="{BC3F5968-B495-4B40-88E8-DB0E89B9D60F}"/>
              </a:ext>
            </a:extLst>
          </p:cNvPr>
          <p:cNvSpPr>
            <a:spLocks noGrp="1"/>
          </p:cNvSpPr>
          <p:nvPr>
            <p:ph type="sldNum" sz="quarter" idx="2"/>
          </p:nvPr>
        </p:nvSpPr>
        <p:spPr>
          <a:xfrm>
            <a:off x="13971283" y="354330"/>
            <a:ext cx="208578" cy="320040"/>
          </a:xfrm>
          <a:prstGeom prst="rect">
            <a:avLst/>
          </a:prstGeom>
          <a:extLst>
            <a:ext uri="{C572A759-6A51-4108-AA02-DFA0A04FC94B}">
              <ma14:wrappingTextBoxFlag xmlns:ma14="http://schemas.microsoft.com/office/mac/drawingml/2011/main" xmlns="" val="1"/>
            </a:ext>
          </a:extLst>
        </p:spPr>
        <p:txBody>
          <a:bodyPr/>
          <a:lstStyle/>
          <a:p>
            <a:pPr defTabSz="1097280"/>
            <a:fld id="{86CB4B4D-7CA3-9044-876B-883B54F8677D}" type="slidenum">
              <a:rPr>
                <a:solidFill>
                  <a:prstClr val="black">
                    <a:tint val="75000"/>
                  </a:prstClr>
                </a:solidFill>
                <a:latin typeface="Calibri" panose="020F0502020204030204"/>
                <a:sym typeface="Helvetica"/>
              </a:rPr>
              <a:pPr defTabSz="1097280"/>
              <a:t>2</a:t>
            </a:fld>
            <a:endParaRPr dirty="0">
              <a:solidFill>
                <a:prstClr val="black">
                  <a:tint val="75000"/>
                </a:prstClr>
              </a:solidFill>
              <a:latin typeface="Calibri" panose="020F0502020204030204"/>
              <a:sym typeface="Helvetica"/>
            </a:endParaRPr>
          </a:p>
        </p:txBody>
      </p:sp>
      <p:sp>
        <p:nvSpPr>
          <p:cNvPr id="3" name="Rectangle 2"/>
          <p:cNvSpPr/>
          <p:nvPr/>
        </p:nvSpPr>
        <p:spPr>
          <a:xfrm>
            <a:off x="8283730" y="7542770"/>
            <a:ext cx="2430415" cy="276999"/>
          </a:xfrm>
          <a:prstGeom prst="rect">
            <a:avLst/>
          </a:prstGeom>
          <a:ln>
            <a:solidFill>
              <a:schemeClr val="accent1"/>
            </a:solidFill>
          </a:ln>
        </p:spPr>
        <p:txBody>
          <a:bodyPr wrap="square">
            <a:spAutoFit/>
          </a:bodyPr>
          <a:lstStyle/>
          <a:p>
            <a:pPr defTabSz="1097280"/>
            <a:r>
              <a:rPr lang="en-US" sz="1200" dirty="0">
                <a:solidFill>
                  <a:prstClr val="black"/>
                </a:solidFill>
                <a:latin typeface="Calibri" panose="020F0502020204030204" pitchFamily="34" charset="0"/>
                <a:cs typeface="Calibri" panose="020F0502020204030204" pitchFamily="34" charset="0"/>
                <a:sym typeface="Helvetica"/>
              </a:rPr>
              <a:t>Email addresses @amazon.com</a:t>
            </a:r>
          </a:p>
        </p:txBody>
      </p:sp>
      <p:pic>
        <p:nvPicPr>
          <p:cNvPr id="91" name="Picture 90">
            <a:extLst>
              <a:ext uri="{FF2B5EF4-FFF2-40B4-BE49-F238E27FC236}">
                <a16:creationId xmlns:a16="http://schemas.microsoft.com/office/drawing/2014/main" id="{30229C60-74A5-F840-A0CF-9C34A276B8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58825" y="42747"/>
            <a:ext cx="1794104" cy="941905"/>
          </a:xfrm>
          <a:prstGeom prst="rect">
            <a:avLst/>
          </a:prstGeom>
        </p:spPr>
      </p:pic>
      <p:grpSp>
        <p:nvGrpSpPr>
          <p:cNvPr id="52" name="Group 51"/>
          <p:cNvGrpSpPr/>
          <p:nvPr/>
        </p:nvGrpSpPr>
        <p:grpSpPr>
          <a:xfrm>
            <a:off x="6066576" y="4142121"/>
            <a:ext cx="6380940" cy="3031119"/>
            <a:chOff x="4464930" y="3451768"/>
            <a:chExt cx="5317450" cy="2525933"/>
          </a:xfrm>
        </p:grpSpPr>
        <p:pic>
          <p:nvPicPr>
            <p:cNvPr id="21" name="Picture 20"/>
            <p:cNvPicPr>
              <a:picLocks noChangeAspect="1"/>
            </p:cNvPicPr>
            <p:nvPr/>
          </p:nvPicPr>
          <p:blipFill>
            <a:blip r:embed="rId6"/>
            <a:stretch>
              <a:fillRect/>
            </a:stretch>
          </p:blipFill>
          <p:spPr>
            <a:xfrm>
              <a:off x="8535734" y="4157291"/>
              <a:ext cx="575226" cy="1238956"/>
            </a:xfrm>
            <a:prstGeom prst="rect">
              <a:avLst/>
            </a:prstGeom>
          </p:spPr>
        </p:pic>
        <p:grpSp>
          <p:nvGrpSpPr>
            <p:cNvPr id="24" name="Group 23"/>
            <p:cNvGrpSpPr/>
            <p:nvPr/>
          </p:nvGrpSpPr>
          <p:grpSpPr>
            <a:xfrm>
              <a:off x="4464930" y="3451768"/>
              <a:ext cx="5317450" cy="2525933"/>
              <a:chOff x="4464930" y="3451768"/>
              <a:chExt cx="5317450" cy="2525933"/>
            </a:xfrm>
          </p:grpSpPr>
          <p:sp>
            <p:nvSpPr>
              <p:cNvPr id="12" name="Rounded Rectangle 4">
                <a:extLst>
                  <a:ext uri="{FF2B5EF4-FFF2-40B4-BE49-F238E27FC236}">
                    <a16:creationId xmlns:a16="http://schemas.microsoft.com/office/drawing/2014/main" id="{CB062CEA-8278-D444-B15E-03541C4B458D}"/>
                  </a:ext>
                </a:extLst>
              </p:cNvPr>
              <p:cNvSpPr/>
              <p:nvPr/>
            </p:nvSpPr>
            <p:spPr>
              <a:xfrm>
                <a:off x="4464930" y="3451768"/>
                <a:ext cx="2147198" cy="2530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Technical Account Manager (TAM)</a:t>
                </a:r>
              </a:p>
            </p:txBody>
          </p:sp>
          <p:sp>
            <p:nvSpPr>
              <p:cNvPr id="13" name="TextBox 12">
                <a:extLst>
                  <a:ext uri="{FF2B5EF4-FFF2-40B4-BE49-F238E27FC236}">
                    <a16:creationId xmlns:a16="http://schemas.microsoft.com/office/drawing/2014/main" id="{DC3B9369-7720-2A4F-BC02-6A4AF17DADB5}"/>
                  </a:ext>
                </a:extLst>
              </p:cNvPr>
              <p:cNvSpPr txBox="1"/>
              <p:nvPr/>
            </p:nvSpPr>
            <p:spPr>
              <a:xfrm>
                <a:off x="4464930" y="3759254"/>
                <a:ext cx="5123451" cy="215443"/>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Technical support &amp; escalations, and customer advocate.</a:t>
                </a:r>
              </a:p>
            </p:txBody>
          </p:sp>
          <p:pic>
            <p:nvPicPr>
              <p:cNvPr id="63" name="Picture 62">
                <a:extLst>
                  <a:ext uri="{FF2B5EF4-FFF2-40B4-BE49-F238E27FC236}">
                    <a16:creationId xmlns:a16="http://schemas.microsoft.com/office/drawing/2014/main" id="{3BE87BD7-D646-974B-9A2D-E8769A786126}"/>
                  </a:ext>
                </a:extLst>
              </p:cNvPr>
              <p:cNvPicPr>
                <a:picLocks noChangeAspect="1"/>
              </p:cNvPicPr>
              <p:nvPr/>
            </p:nvPicPr>
            <p:blipFill>
              <a:blip r:embed="rId7"/>
              <a:stretch>
                <a:fillRect/>
              </a:stretch>
            </p:blipFill>
            <p:spPr>
              <a:xfrm>
                <a:off x="4464931" y="4141342"/>
                <a:ext cx="596080" cy="1254905"/>
              </a:xfrm>
              <a:prstGeom prst="rect">
                <a:avLst/>
              </a:prstGeom>
            </p:spPr>
          </p:pic>
          <p:pic>
            <p:nvPicPr>
              <p:cNvPr id="65" name="Picture 64">
                <a:extLst>
                  <a:ext uri="{FF2B5EF4-FFF2-40B4-BE49-F238E27FC236}">
                    <a16:creationId xmlns:a16="http://schemas.microsoft.com/office/drawing/2014/main" id="{E62447A7-919E-2B45-95C4-AFE620959724}"/>
                  </a:ext>
                </a:extLst>
              </p:cNvPr>
              <p:cNvPicPr>
                <a:picLocks noChangeAspect="1"/>
              </p:cNvPicPr>
              <p:nvPr/>
            </p:nvPicPr>
            <p:blipFill>
              <a:blip r:embed="rId8"/>
              <a:stretch>
                <a:fillRect/>
              </a:stretch>
            </p:blipFill>
            <p:spPr>
              <a:xfrm>
                <a:off x="5647694" y="4141342"/>
                <a:ext cx="571624" cy="1254905"/>
              </a:xfrm>
              <a:prstGeom prst="rect">
                <a:avLst/>
              </a:prstGeom>
            </p:spPr>
          </p:pic>
          <p:pic>
            <p:nvPicPr>
              <p:cNvPr id="66" name="Picture 65">
                <a:extLst>
                  <a:ext uri="{FF2B5EF4-FFF2-40B4-BE49-F238E27FC236}">
                    <a16:creationId xmlns:a16="http://schemas.microsoft.com/office/drawing/2014/main" id="{2279B60B-0069-CB47-A409-E7F3D1A3D15F}"/>
                  </a:ext>
                </a:extLst>
              </p:cNvPr>
              <p:cNvPicPr>
                <a:picLocks noChangeAspect="1"/>
              </p:cNvPicPr>
              <p:nvPr/>
            </p:nvPicPr>
            <p:blipFill>
              <a:blip r:embed="rId9"/>
              <a:stretch>
                <a:fillRect/>
              </a:stretch>
            </p:blipFill>
            <p:spPr>
              <a:xfrm>
                <a:off x="6217179" y="4141342"/>
                <a:ext cx="578500" cy="1254905"/>
              </a:xfrm>
              <a:prstGeom prst="rect">
                <a:avLst/>
              </a:prstGeom>
            </p:spPr>
          </p:pic>
          <p:pic>
            <p:nvPicPr>
              <p:cNvPr id="68" name="Picture 67">
                <a:extLst>
                  <a:ext uri="{FF2B5EF4-FFF2-40B4-BE49-F238E27FC236}">
                    <a16:creationId xmlns:a16="http://schemas.microsoft.com/office/drawing/2014/main" id="{6FE9E163-E45E-E040-8938-145780CFB80C}"/>
                  </a:ext>
                </a:extLst>
              </p:cNvPr>
              <p:cNvPicPr>
                <a:picLocks noChangeAspect="1"/>
              </p:cNvPicPr>
              <p:nvPr/>
            </p:nvPicPr>
            <p:blipFill>
              <a:blip r:embed="rId10"/>
              <a:stretch>
                <a:fillRect/>
              </a:stretch>
            </p:blipFill>
            <p:spPr>
              <a:xfrm>
                <a:off x="7379630" y="4148112"/>
                <a:ext cx="581876" cy="1248135"/>
              </a:xfrm>
              <a:prstGeom prst="rect">
                <a:avLst/>
              </a:prstGeom>
            </p:spPr>
          </p:pic>
          <p:pic>
            <p:nvPicPr>
              <p:cNvPr id="70" name="Picture 69">
                <a:extLst>
                  <a:ext uri="{FF2B5EF4-FFF2-40B4-BE49-F238E27FC236}">
                    <a16:creationId xmlns:a16="http://schemas.microsoft.com/office/drawing/2014/main" id="{CE21B7B9-4994-1B47-B93F-468F60173F4D}"/>
                  </a:ext>
                </a:extLst>
              </p:cNvPr>
              <p:cNvPicPr>
                <a:picLocks noChangeAspect="1"/>
              </p:cNvPicPr>
              <p:nvPr/>
            </p:nvPicPr>
            <p:blipFill>
              <a:blip r:embed="rId11"/>
              <a:stretch>
                <a:fillRect/>
              </a:stretch>
            </p:blipFill>
            <p:spPr>
              <a:xfrm>
                <a:off x="7956583" y="4157291"/>
                <a:ext cx="585930" cy="1238956"/>
              </a:xfrm>
              <a:prstGeom prst="rect">
                <a:avLst/>
              </a:prstGeom>
            </p:spPr>
          </p:pic>
          <p:pic>
            <p:nvPicPr>
              <p:cNvPr id="82" name="Picture 81">
                <a:extLst>
                  <a:ext uri="{FF2B5EF4-FFF2-40B4-BE49-F238E27FC236}">
                    <a16:creationId xmlns:a16="http://schemas.microsoft.com/office/drawing/2014/main" id="{DA9CC63C-3604-284F-AD97-6E8C39633683}"/>
                  </a:ext>
                </a:extLst>
              </p:cNvPr>
              <p:cNvPicPr>
                <a:picLocks noChangeAspect="1"/>
              </p:cNvPicPr>
              <p:nvPr/>
            </p:nvPicPr>
            <p:blipFill>
              <a:blip r:embed="rId12"/>
              <a:stretch>
                <a:fillRect/>
              </a:stretch>
            </p:blipFill>
            <p:spPr>
              <a:xfrm>
                <a:off x="6798763" y="4152930"/>
                <a:ext cx="572464" cy="1243317"/>
              </a:xfrm>
              <a:prstGeom prst="rect">
                <a:avLst/>
              </a:prstGeom>
            </p:spPr>
          </p:pic>
          <p:sp>
            <p:nvSpPr>
              <p:cNvPr id="53" name="TextBox 52">
                <a:extLst>
                  <a:ext uri="{FF2B5EF4-FFF2-40B4-BE49-F238E27FC236}">
                    <a16:creationId xmlns:a16="http://schemas.microsoft.com/office/drawing/2014/main" id="{CA6038A9-90E7-A043-93BD-E51720A56CF0}"/>
                  </a:ext>
                </a:extLst>
              </p:cNvPr>
              <p:cNvSpPr txBox="1"/>
              <p:nvPr/>
            </p:nvSpPr>
            <p:spPr>
              <a:xfrm>
                <a:off x="4481252" y="5393129"/>
                <a:ext cx="653968"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robbu@</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Manager</a:t>
                </a:r>
                <a:endParaRPr lang="en-US" sz="1440" dirty="0">
                  <a:solidFill>
                    <a:prstClr val="black"/>
                  </a:solidFill>
                  <a:latin typeface="Calibri" panose="020F0502020204030204"/>
                  <a:sym typeface="Helvetica"/>
                </a:endParaRPr>
              </a:p>
            </p:txBody>
          </p:sp>
          <p:sp>
            <p:nvSpPr>
              <p:cNvPr id="54" name="TextBox 53">
                <a:extLst>
                  <a:ext uri="{FF2B5EF4-FFF2-40B4-BE49-F238E27FC236}">
                    <a16:creationId xmlns:a16="http://schemas.microsoft.com/office/drawing/2014/main" id="{A407B360-5F3C-314D-A1E9-9DF7F3A6D9E2}"/>
                  </a:ext>
                </a:extLst>
              </p:cNvPr>
              <p:cNvSpPr txBox="1"/>
              <p:nvPr/>
            </p:nvSpPr>
            <p:spPr>
              <a:xfrm>
                <a:off x="5069540" y="5393129"/>
                <a:ext cx="66892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muratore@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Cyber, PowerUP</a:t>
                </a:r>
                <a:endParaRPr lang="en-US" sz="1440" dirty="0">
                  <a:solidFill>
                    <a:prstClr val="black"/>
                  </a:solidFill>
                  <a:latin typeface="Calibri" panose="020F0502020204030204"/>
                  <a:sym typeface="Helvetica"/>
                </a:endParaRPr>
              </a:p>
            </p:txBody>
          </p:sp>
          <p:sp>
            <p:nvSpPr>
              <p:cNvPr id="55" name="TextBox 54">
                <a:extLst>
                  <a:ext uri="{FF2B5EF4-FFF2-40B4-BE49-F238E27FC236}">
                    <a16:creationId xmlns:a16="http://schemas.microsoft.com/office/drawing/2014/main" id="{97E6F346-0F28-174A-808A-9612DAC07F2C}"/>
                  </a:ext>
                </a:extLst>
              </p:cNvPr>
              <p:cNvSpPr txBox="1"/>
              <p:nvPr/>
            </p:nvSpPr>
            <p:spPr>
              <a:xfrm>
                <a:off x="5642106" y="5393129"/>
                <a:ext cx="697206"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pietes@</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EP2T</a:t>
                </a:r>
                <a:endParaRPr lang="en-US" sz="1440" dirty="0">
                  <a:solidFill>
                    <a:prstClr val="black"/>
                  </a:solidFill>
                  <a:latin typeface="Calibri" panose="020F0502020204030204"/>
                  <a:sym typeface="Helvetica"/>
                </a:endParaRPr>
              </a:p>
            </p:txBody>
          </p:sp>
          <p:sp>
            <p:nvSpPr>
              <p:cNvPr id="56" name="TextBox 55">
                <a:extLst>
                  <a:ext uri="{FF2B5EF4-FFF2-40B4-BE49-F238E27FC236}">
                    <a16:creationId xmlns:a16="http://schemas.microsoft.com/office/drawing/2014/main" id="{DB48E4EA-871B-834F-AE7E-756EF7EC108C}"/>
                  </a:ext>
                </a:extLst>
              </p:cNvPr>
              <p:cNvSpPr txBox="1"/>
              <p:nvPr/>
            </p:nvSpPr>
            <p:spPr>
              <a:xfrm>
                <a:off x="6222951" y="5393129"/>
                <a:ext cx="70059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pankagni@</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FS, Retail, Commercial</a:t>
                </a:r>
                <a:endParaRPr lang="en-US" sz="1440" dirty="0">
                  <a:solidFill>
                    <a:prstClr val="black"/>
                  </a:solidFill>
                  <a:latin typeface="Calibri" panose="020F0502020204030204"/>
                  <a:sym typeface="Helvetica"/>
                </a:endParaRPr>
              </a:p>
            </p:txBody>
          </p:sp>
          <p:sp>
            <p:nvSpPr>
              <p:cNvPr id="57" name="TextBox 56">
                <a:extLst>
                  <a:ext uri="{FF2B5EF4-FFF2-40B4-BE49-F238E27FC236}">
                    <a16:creationId xmlns:a16="http://schemas.microsoft.com/office/drawing/2014/main" id="{8104B6D9-5852-4445-8353-531BE0F15089}"/>
                  </a:ext>
                </a:extLst>
              </p:cNvPr>
              <p:cNvSpPr txBox="1"/>
              <p:nvPr/>
            </p:nvSpPr>
            <p:spPr>
              <a:xfrm>
                <a:off x="7387560" y="5393129"/>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ea typeface="Helvetica Neue"/>
                    <a:cs typeface="Helvetica Neue"/>
                    <a:sym typeface="Helvetica Neue"/>
                  </a:rPr>
                  <a:t>porchri@</a:t>
                </a:r>
                <a:br>
                  <a:rPr lang="en-US" sz="960" dirty="0">
                    <a:solidFill>
                      <a:prstClr val="black"/>
                    </a:solidFill>
                    <a:latin typeface="Calibri" panose="020F0502020204030204"/>
                    <a:ea typeface="Helvetica Neue"/>
                    <a:cs typeface="Helvetica Neue"/>
                    <a:sym typeface="Helvetica Neue"/>
                  </a:rPr>
                </a:br>
                <a:r>
                  <a:rPr lang="en-US" sz="960" dirty="0">
                    <a:solidFill>
                      <a:prstClr val="black"/>
                    </a:solidFill>
                    <a:latin typeface="Calibri" panose="020F0502020204030204"/>
                    <a:sym typeface="Helvetica"/>
                  </a:rPr>
                  <a:t>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TOC</a:t>
                </a:r>
                <a:endParaRPr lang="en-US" sz="1440" dirty="0">
                  <a:solidFill>
                    <a:prstClr val="black"/>
                  </a:solidFill>
                  <a:latin typeface="Calibri" panose="020F0502020204030204"/>
                  <a:sym typeface="Helvetica"/>
                </a:endParaRPr>
              </a:p>
            </p:txBody>
          </p:sp>
          <p:sp>
            <p:nvSpPr>
              <p:cNvPr id="60" name="TextBox 59">
                <a:extLst>
                  <a:ext uri="{FF2B5EF4-FFF2-40B4-BE49-F238E27FC236}">
                    <a16:creationId xmlns:a16="http://schemas.microsoft.com/office/drawing/2014/main" id="{267ABDC6-C838-EC46-8A3F-B9CC1F685135}"/>
                  </a:ext>
                </a:extLst>
              </p:cNvPr>
              <p:cNvSpPr txBox="1"/>
              <p:nvPr/>
            </p:nvSpPr>
            <p:spPr>
              <a:xfrm>
                <a:off x="7956533" y="5408314"/>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chappy@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Contact Centers</a:t>
                </a:r>
                <a:endParaRPr lang="en-US" sz="1440" dirty="0">
                  <a:solidFill>
                    <a:prstClr val="black"/>
                  </a:solidFill>
                  <a:latin typeface="Calibri" panose="020F0502020204030204"/>
                  <a:sym typeface="Helvetica"/>
                </a:endParaRPr>
              </a:p>
            </p:txBody>
          </p:sp>
          <p:sp>
            <p:nvSpPr>
              <p:cNvPr id="62" name="TextBox 61">
                <a:extLst>
                  <a:ext uri="{FF2B5EF4-FFF2-40B4-BE49-F238E27FC236}">
                    <a16:creationId xmlns:a16="http://schemas.microsoft.com/office/drawing/2014/main" id="{66D14C51-AB07-2942-85F7-D5BDF76D2AF4}"/>
                  </a:ext>
                </a:extLst>
              </p:cNvPr>
              <p:cNvSpPr txBox="1"/>
              <p:nvPr/>
            </p:nvSpPr>
            <p:spPr>
              <a:xfrm>
                <a:off x="6813286" y="5401592"/>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fenchell@</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TOC</a:t>
                </a:r>
                <a:endParaRPr lang="en-US" sz="1440" dirty="0">
                  <a:solidFill>
                    <a:prstClr val="black"/>
                  </a:solidFill>
                  <a:latin typeface="Calibri" panose="020F0502020204030204"/>
                  <a:sym typeface="Helvetica"/>
                </a:endParaRPr>
              </a:p>
            </p:txBody>
          </p:sp>
          <p:sp>
            <p:nvSpPr>
              <p:cNvPr id="109" name="TextBox 108">
                <a:extLst>
                  <a:ext uri="{FF2B5EF4-FFF2-40B4-BE49-F238E27FC236}">
                    <a16:creationId xmlns:a16="http://schemas.microsoft.com/office/drawing/2014/main" id="{267ABDC6-C838-EC46-8A3F-B9CC1F685135}"/>
                  </a:ext>
                </a:extLst>
              </p:cNvPr>
              <p:cNvSpPr txBox="1"/>
              <p:nvPr/>
            </p:nvSpPr>
            <p:spPr>
              <a:xfrm>
                <a:off x="9124454" y="5417541"/>
                <a:ext cx="657926"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billcan@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UK</a:t>
                </a:r>
                <a:endParaRPr lang="en-US" sz="1440" dirty="0">
                  <a:solidFill>
                    <a:prstClr val="black"/>
                  </a:solidFill>
                  <a:latin typeface="Calibri" panose="020F0502020204030204"/>
                  <a:sym typeface="Helvetica"/>
                </a:endParaRPr>
              </a:p>
            </p:txBody>
          </p:sp>
          <p:pic>
            <p:nvPicPr>
              <p:cNvPr id="141" name="Picture 140"/>
              <p:cNvPicPr>
                <a:picLocks noChangeAspect="1"/>
              </p:cNvPicPr>
              <p:nvPr/>
            </p:nvPicPr>
            <p:blipFill>
              <a:blip r:embed="rId13"/>
              <a:stretch>
                <a:fillRect/>
              </a:stretch>
            </p:blipFill>
            <p:spPr>
              <a:xfrm>
                <a:off x="5056659" y="4148112"/>
                <a:ext cx="581563" cy="1248135"/>
              </a:xfrm>
              <a:prstGeom prst="rect">
                <a:avLst/>
              </a:prstGeom>
            </p:spPr>
          </p:pic>
          <p:sp>
            <p:nvSpPr>
              <p:cNvPr id="97" name="TextBox 96">
                <a:extLst>
                  <a:ext uri="{FF2B5EF4-FFF2-40B4-BE49-F238E27FC236}">
                    <a16:creationId xmlns:a16="http://schemas.microsoft.com/office/drawing/2014/main" id="{267ABDC6-C838-EC46-8A3F-B9CC1F685135}"/>
                  </a:ext>
                </a:extLst>
              </p:cNvPr>
              <p:cNvSpPr txBox="1"/>
              <p:nvPr/>
            </p:nvSpPr>
            <p:spPr>
              <a:xfrm>
                <a:off x="8544685" y="5417295"/>
                <a:ext cx="701614"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dmernst@</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Card</a:t>
                </a:r>
                <a:endParaRPr lang="en-US" sz="1440" dirty="0">
                  <a:solidFill>
                    <a:prstClr val="black"/>
                  </a:solidFill>
                  <a:latin typeface="Calibri" panose="020F0502020204030204"/>
                  <a:sym typeface="Helvetica"/>
                </a:endParaRPr>
              </a:p>
            </p:txBody>
          </p:sp>
          <p:pic>
            <p:nvPicPr>
              <p:cNvPr id="4" name="Picture 3"/>
              <p:cNvPicPr>
                <a:picLocks noChangeAspect="1"/>
              </p:cNvPicPr>
              <p:nvPr/>
            </p:nvPicPr>
            <p:blipFill>
              <a:blip r:embed="rId14"/>
              <a:stretch>
                <a:fillRect/>
              </a:stretch>
            </p:blipFill>
            <p:spPr>
              <a:xfrm>
                <a:off x="9110598" y="4169231"/>
                <a:ext cx="563697" cy="1219874"/>
              </a:xfrm>
              <a:prstGeom prst="rect">
                <a:avLst/>
              </a:prstGeom>
            </p:spPr>
          </p:pic>
        </p:grpSp>
      </p:grpSp>
      <p:grpSp>
        <p:nvGrpSpPr>
          <p:cNvPr id="41" name="Group 40"/>
          <p:cNvGrpSpPr/>
          <p:nvPr/>
        </p:nvGrpSpPr>
        <p:grpSpPr>
          <a:xfrm>
            <a:off x="8961770" y="901005"/>
            <a:ext cx="2441460" cy="2981982"/>
            <a:chOff x="10296624" y="3363796"/>
            <a:chExt cx="2034550" cy="2484985"/>
          </a:xfrm>
        </p:grpSpPr>
        <p:sp>
          <p:nvSpPr>
            <p:cNvPr id="9" name="Rounded Rectangle 4">
              <a:extLst>
                <a:ext uri="{FF2B5EF4-FFF2-40B4-BE49-F238E27FC236}">
                  <a16:creationId xmlns:a16="http://schemas.microsoft.com/office/drawing/2014/main" id="{1E8244EE-BB2E-3C44-8B26-3CF507960FD6}"/>
                </a:ext>
              </a:extLst>
            </p:cNvPr>
            <p:cNvSpPr/>
            <p:nvPr/>
          </p:nvSpPr>
          <p:spPr>
            <a:xfrm>
              <a:off x="10320043" y="3363796"/>
              <a:ext cx="2011131" cy="2256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Professional Services (ProServ)</a:t>
              </a:r>
            </a:p>
          </p:txBody>
        </p:sp>
        <p:sp>
          <p:nvSpPr>
            <p:cNvPr id="18" name="TextBox 17">
              <a:extLst>
                <a:ext uri="{FF2B5EF4-FFF2-40B4-BE49-F238E27FC236}">
                  <a16:creationId xmlns:a16="http://schemas.microsoft.com/office/drawing/2014/main" id="{38B48B5E-6F24-EA44-8856-2FBF87B00B29}"/>
                </a:ext>
              </a:extLst>
            </p:cNvPr>
            <p:cNvSpPr txBox="1"/>
            <p:nvPr/>
          </p:nvSpPr>
          <p:spPr>
            <a:xfrm>
              <a:off x="10296624" y="3605289"/>
              <a:ext cx="1973993" cy="3539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Partners with SA and customers to design and deploy solutions.</a:t>
              </a:r>
            </a:p>
          </p:txBody>
        </p:sp>
        <p:pic>
          <p:nvPicPr>
            <p:cNvPr id="49" name="Picture 48">
              <a:extLst>
                <a:ext uri="{FF2B5EF4-FFF2-40B4-BE49-F238E27FC236}">
                  <a16:creationId xmlns:a16="http://schemas.microsoft.com/office/drawing/2014/main" id="{77B1FA5D-00BD-CC4D-89B2-D342FF2DFF69}"/>
                </a:ext>
              </a:extLst>
            </p:cNvPr>
            <p:cNvPicPr>
              <a:picLocks noChangeAspect="1"/>
            </p:cNvPicPr>
            <p:nvPr/>
          </p:nvPicPr>
          <p:blipFill>
            <a:blip r:embed="rId15"/>
            <a:stretch>
              <a:fillRect/>
            </a:stretch>
          </p:blipFill>
          <p:spPr>
            <a:xfrm>
              <a:off x="10296624" y="4110361"/>
              <a:ext cx="598207" cy="1287756"/>
            </a:xfrm>
            <a:prstGeom prst="rect">
              <a:avLst/>
            </a:prstGeom>
          </p:spPr>
        </p:pic>
        <p:sp>
          <p:nvSpPr>
            <p:cNvPr id="47" name="TextBox 46">
              <a:extLst>
                <a:ext uri="{FF2B5EF4-FFF2-40B4-BE49-F238E27FC236}">
                  <a16:creationId xmlns:a16="http://schemas.microsoft.com/office/drawing/2014/main" id="{88F144D1-582F-084F-8051-26346873C82F}"/>
                </a:ext>
              </a:extLst>
            </p:cNvPr>
            <p:cNvSpPr txBox="1"/>
            <p:nvPr/>
          </p:nvSpPr>
          <p:spPr>
            <a:xfrm>
              <a:off x="10320044" y="541638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mitckemp@</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Manager</a:t>
              </a:r>
              <a:endParaRPr lang="en-US" sz="1440" dirty="0">
                <a:solidFill>
                  <a:prstClr val="black"/>
                </a:solidFill>
                <a:latin typeface="Calibri" panose="020F0502020204030204"/>
                <a:sym typeface="Helvetica"/>
              </a:endParaRPr>
            </a:p>
          </p:txBody>
        </p:sp>
        <p:pic>
          <p:nvPicPr>
            <p:cNvPr id="106" name="Picture 105">
              <a:extLst>
                <a:ext uri="{FF2B5EF4-FFF2-40B4-BE49-F238E27FC236}">
                  <a16:creationId xmlns:a16="http://schemas.microsoft.com/office/drawing/2014/main" id="{C67775BF-A4B6-8843-B2B8-523A8C6FC625}"/>
                </a:ext>
              </a:extLst>
            </p:cNvPr>
            <p:cNvPicPr>
              <a:picLocks noChangeAspect="1"/>
            </p:cNvPicPr>
            <p:nvPr/>
          </p:nvPicPr>
          <p:blipFill>
            <a:blip r:embed="rId16"/>
            <a:stretch>
              <a:fillRect/>
            </a:stretch>
          </p:blipFill>
          <p:spPr>
            <a:xfrm>
              <a:off x="10891071" y="4110361"/>
              <a:ext cx="607080" cy="1287756"/>
            </a:xfrm>
            <a:prstGeom prst="rect">
              <a:avLst/>
            </a:prstGeom>
          </p:spPr>
        </p:pic>
        <p:sp>
          <p:nvSpPr>
            <p:cNvPr id="107" name="TextBox 106">
              <a:extLst>
                <a:ext uri="{FF2B5EF4-FFF2-40B4-BE49-F238E27FC236}">
                  <a16:creationId xmlns:a16="http://schemas.microsoft.com/office/drawing/2014/main" id="{E8F360FC-FB08-B043-9254-89911D631D69}"/>
                </a:ext>
              </a:extLst>
            </p:cNvPr>
            <p:cNvSpPr txBox="1"/>
            <p:nvPr/>
          </p:nvSpPr>
          <p:spPr>
            <a:xfrm>
              <a:off x="10913075" y="5401659"/>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panten@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Services Manager</a:t>
              </a:r>
              <a:endParaRPr lang="en-US" sz="1440" dirty="0">
                <a:solidFill>
                  <a:prstClr val="black"/>
                </a:solidFill>
                <a:latin typeface="Calibri" panose="020F0502020204030204"/>
                <a:sym typeface="Helvetica"/>
              </a:endParaRPr>
            </a:p>
          </p:txBody>
        </p:sp>
        <p:pic>
          <p:nvPicPr>
            <p:cNvPr id="37" name="Picture 36"/>
            <p:cNvPicPr>
              <a:picLocks noChangeAspect="1"/>
            </p:cNvPicPr>
            <p:nvPr/>
          </p:nvPicPr>
          <p:blipFill>
            <a:blip r:embed="rId17"/>
            <a:stretch>
              <a:fillRect/>
            </a:stretch>
          </p:blipFill>
          <p:spPr>
            <a:xfrm>
              <a:off x="11489530" y="4129406"/>
              <a:ext cx="598120" cy="1279058"/>
            </a:xfrm>
            <a:prstGeom prst="rect">
              <a:avLst/>
            </a:prstGeom>
          </p:spPr>
        </p:pic>
        <p:sp>
          <p:nvSpPr>
            <p:cNvPr id="103" name="TextBox 102">
              <a:extLst>
                <a:ext uri="{FF2B5EF4-FFF2-40B4-BE49-F238E27FC236}">
                  <a16:creationId xmlns:a16="http://schemas.microsoft.com/office/drawing/2014/main" id="{88F144D1-582F-084F-8051-26346873C82F}"/>
                </a:ext>
              </a:extLst>
            </p:cNvPr>
            <p:cNvSpPr txBox="1"/>
            <p:nvPr/>
          </p:nvSpPr>
          <p:spPr>
            <a:xfrm>
              <a:off x="11513281" y="5402505"/>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ssemple@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Program Manager</a:t>
              </a:r>
              <a:endParaRPr lang="en-US" sz="1440" dirty="0">
                <a:solidFill>
                  <a:prstClr val="black"/>
                </a:solidFill>
                <a:latin typeface="Calibri" panose="020F0502020204030204"/>
                <a:sym typeface="Helvetica"/>
              </a:endParaRPr>
            </a:p>
          </p:txBody>
        </p:sp>
      </p:grpSp>
      <p:grpSp>
        <p:nvGrpSpPr>
          <p:cNvPr id="30" name="Group 29"/>
          <p:cNvGrpSpPr/>
          <p:nvPr/>
        </p:nvGrpSpPr>
        <p:grpSpPr>
          <a:xfrm>
            <a:off x="6271768" y="850004"/>
            <a:ext cx="2813634" cy="2898694"/>
            <a:chOff x="8077923" y="3322080"/>
            <a:chExt cx="2344695" cy="2415579"/>
          </a:xfrm>
        </p:grpSpPr>
        <p:sp>
          <p:nvSpPr>
            <p:cNvPr id="14" name="Rounded Rectangle 4">
              <a:extLst>
                <a:ext uri="{FF2B5EF4-FFF2-40B4-BE49-F238E27FC236}">
                  <a16:creationId xmlns:a16="http://schemas.microsoft.com/office/drawing/2014/main" id="{62D2D091-CB07-834D-A32F-6E23273BBB0E}"/>
                </a:ext>
              </a:extLst>
            </p:cNvPr>
            <p:cNvSpPr/>
            <p:nvPr/>
          </p:nvSpPr>
          <p:spPr>
            <a:xfrm>
              <a:off x="8077923" y="3322080"/>
              <a:ext cx="2344695" cy="3049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Customer Solutions Manager (CSM)</a:t>
              </a:r>
            </a:p>
          </p:txBody>
        </p:sp>
        <p:sp>
          <p:nvSpPr>
            <p:cNvPr id="17" name="TextBox 16">
              <a:extLst>
                <a:ext uri="{FF2B5EF4-FFF2-40B4-BE49-F238E27FC236}">
                  <a16:creationId xmlns:a16="http://schemas.microsoft.com/office/drawing/2014/main" id="{4EC76E36-BD09-F74F-9CD0-92FD52B10674}"/>
                </a:ext>
              </a:extLst>
            </p:cNvPr>
            <p:cNvSpPr txBox="1"/>
            <p:nvPr/>
          </p:nvSpPr>
          <p:spPr>
            <a:xfrm>
              <a:off x="8077923" y="3605289"/>
              <a:ext cx="1974127" cy="4924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Drives service adoption, program execution, customer education, PFRs, and Reference/Analyst. </a:t>
              </a:r>
            </a:p>
          </p:txBody>
        </p:sp>
        <p:sp>
          <p:nvSpPr>
            <p:cNvPr id="38" name="TextBox 37">
              <a:extLst>
                <a:ext uri="{FF2B5EF4-FFF2-40B4-BE49-F238E27FC236}">
                  <a16:creationId xmlns:a16="http://schemas.microsoft.com/office/drawing/2014/main" id="{4908D521-9046-E747-8398-F7BD08719952}"/>
                </a:ext>
              </a:extLst>
            </p:cNvPr>
            <p:cNvSpPr txBox="1"/>
            <p:nvPr/>
          </p:nvSpPr>
          <p:spPr>
            <a:xfrm>
              <a:off x="8180003" y="5410035"/>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rreffner@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Manager</a:t>
              </a:r>
              <a:endParaRPr lang="en-US" sz="1440" dirty="0">
                <a:solidFill>
                  <a:prstClr val="black"/>
                </a:solidFill>
                <a:latin typeface="Calibri" panose="020F0502020204030204"/>
                <a:sym typeface="Helvetica"/>
              </a:endParaRPr>
            </a:p>
          </p:txBody>
        </p:sp>
        <p:sp>
          <p:nvSpPr>
            <p:cNvPr id="40" name="TextBox 39">
              <a:extLst>
                <a:ext uri="{FF2B5EF4-FFF2-40B4-BE49-F238E27FC236}">
                  <a16:creationId xmlns:a16="http://schemas.microsoft.com/office/drawing/2014/main" id="{0C7AF4D9-F65C-1B49-85A3-D74FA2645022}"/>
                </a:ext>
              </a:extLst>
            </p:cNvPr>
            <p:cNvSpPr txBox="1"/>
            <p:nvPr/>
          </p:nvSpPr>
          <p:spPr>
            <a:xfrm>
              <a:off x="9368061" y="541003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dueling@</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CSM</a:t>
              </a:r>
              <a:endParaRPr lang="en-US" sz="1440" dirty="0">
                <a:solidFill>
                  <a:prstClr val="black"/>
                </a:solidFill>
                <a:latin typeface="Calibri" panose="020F0502020204030204"/>
                <a:sym typeface="Helvetica"/>
              </a:endParaRPr>
            </a:p>
          </p:txBody>
        </p:sp>
        <p:pic>
          <p:nvPicPr>
            <p:cNvPr id="22" name="Picture 21"/>
            <p:cNvPicPr>
              <a:picLocks noChangeAspect="1"/>
            </p:cNvPicPr>
            <p:nvPr/>
          </p:nvPicPr>
          <p:blipFill>
            <a:blip r:embed="rId18"/>
            <a:stretch>
              <a:fillRect/>
            </a:stretch>
          </p:blipFill>
          <p:spPr>
            <a:xfrm>
              <a:off x="8756913" y="4122052"/>
              <a:ext cx="603094" cy="1294332"/>
            </a:xfrm>
            <a:prstGeom prst="rect">
              <a:avLst/>
            </a:prstGeom>
          </p:spPr>
        </p:pic>
        <p:sp>
          <p:nvSpPr>
            <p:cNvPr id="99" name="TextBox 98">
              <a:extLst>
                <a:ext uri="{FF2B5EF4-FFF2-40B4-BE49-F238E27FC236}">
                  <a16:creationId xmlns:a16="http://schemas.microsoft.com/office/drawing/2014/main" id="{4908D521-9046-E747-8398-F7BD08719952}"/>
                </a:ext>
              </a:extLst>
            </p:cNvPr>
            <p:cNvSpPr txBox="1"/>
            <p:nvPr/>
          </p:nvSpPr>
          <p:spPr>
            <a:xfrm>
              <a:off x="8762606" y="541449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sunwaa@</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Lead CSM</a:t>
              </a:r>
              <a:endParaRPr lang="en-US" sz="1440" dirty="0">
                <a:solidFill>
                  <a:prstClr val="black"/>
                </a:solidFill>
                <a:latin typeface="Calibri" panose="020F0502020204030204"/>
                <a:sym typeface="Helvetica"/>
              </a:endParaRPr>
            </a:p>
          </p:txBody>
        </p:sp>
        <p:pic>
          <p:nvPicPr>
            <p:cNvPr id="36" name="Picture 35"/>
            <p:cNvPicPr>
              <a:picLocks noChangeAspect="1"/>
            </p:cNvPicPr>
            <p:nvPr/>
          </p:nvPicPr>
          <p:blipFill>
            <a:blip r:embed="rId19"/>
            <a:stretch>
              <a:fillRect/>
            </a:stretch>
          </p:blipFill>
          <p:spPr>
            <a:xfrm>
              <a:off x="8163769" y="4122052"/>
              <a:ext cx="590181" cy="1286411"/>
            </a:xfrm>
            <a:prstGeom prst="rect">
              <a:avLst/>
            </a:prstGeom>
          </p:spPr>
        </p:pic>
        <p:pic>
          <p:nvPicPr>
            <p:cNvPr id="25" name="Picture 24"/>
            <p:cNvPicPr>
              <a:picLocks noChangeAspect="1"/>
            </p:cNvPicPr>
            <p:nvPr/>
          </p:nvPicPr>
          <p:blipFill>
            <a:blip r:embed="rId20"/>
            <a:stretch>
              <a:fillRect/>
            </a:stretch>
          </p:blipFill>
          <p:spPr>
            <a:xfrm>
              <a:off x="9363076" y="4133220"/>
              <a:ext cx="580350" cy="1275243"/>
            </a:xfrm>
            <a:prstGeom prst="rect">
              <a:avLst/>
            </a:prstGeom>
          </p:spPr>
        </p:pic>
      </p:grpSp>
      <p:grpSp>
        <p:nvGrpSpPr>
          <p:cNvPr id="69" name="Group 68"/>
          <p:cNvGrpSpPr/>
          <p:nvPr/>
        </p:nvGrpSpPr>
        <p:grpSpPr>
          <a:xfrm>
            <a:off x="2122668" y="959750"/>
            <a:ext cx="3996516" cy="3303706"/>
            <a:chOff x="1418370" y="799791"/>
            <a:chExt cx="3330430" cy="2753088"/>
          </a:xfrm>
        </p:grpSpPr>
        <p:pic>
          <p:nvPicPr>
            <p:cNvPr id="135" name="Picture 134"/>
            <p:cNvPicPr>
              <a:picLocks noChangeAspect="1"/>
            </p:cNvPicPr>
            <p:nvPr/>
          </p:nvPicPr>
          <p:blipFill>
            <a:blip r:embed="rId21"/>
            <a:stretch>
              <a:fillRect/>
            </a:stretch>
          </p:blipFill>
          <p:spPr>
            <a:xfrm>
              <a:off x="2083894" y="1474763"/>
              <a:ext cx="593655" cy="1269508"/>
            </a:xfrm>
            <a:prstGeom prst="rect">
              <a:avLst/>
            </a:prstGeom>
          </p:spPr>
        </p:pic>
        <p:grpSp>
          <p:nvGrpSpPr>
            <p:cNvPr id="67" name="Group 66"/>
            <p:cNvGrpSpPr/>
            <p:nvPr/>
          </p:nvGrpSpPr>
          <p:grpSpPr>
            <a:xfrm>
              <a:off x="1418370" y="799791"/>
              <a:ext cx="3330430" cy="2753088"/>
              <a:chOff x="1418370" y="799791"/>
              <a:chExt cx="3330430" cy="2753088"/>
            </a:xfrm>
          </p:grpSpPr>
          <p:sp>
            <p:nvSpPr>
              <p:cNvPr id="5" name="TextBox 4">
                <a:extLst>
                  <a:ext uri="{FF2B5EF4-FFF2-40B4-BE49-F238E27FC236}">
                    <a16:creationId xmlns:a16="http://schemas.microsoft.com/office/drawing/2014/main" id="{8A0F92D9-3CEB-494C-A99F-2AB8F523E70E}"/>
                  </a:ext>
                </a:extLst>
              </p:cNvPr>
              <p:cNvSpPr txBox="1"/>
              <p:nvPr/>
            </p:nvSpPr>
            <p:spPr>
              <a:xfrm>
                <a:off x="1418372" y="1107797"/>
                <a:ext cx="2988506" cy="3539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Steward of the relationship &amp; partnership between Capital One and Amazon.</a:t>
                </a:r>
              </a:p>
            </p:txBody>
          </p:sp>
          <p:sp>
            <p:nvSpPr>
              <p:cNvPr id="6" name="Rounded Rectangle 4">
                <a:extLst>
                  <a:ext uri="{FF2B5EF4-FFF2-40B4-BE49-F238E27FC236}">
                    <a16:creationId xmlns:a16="http://schemas.microsoft.com/office/drawing/2014/main" id="{7F2A2E91-0A83-7347-9F70-FF0822B99C44}"/>
                  </a:ext>
                </a:extLst>
              </p:cNvPr>
              <p:cNvSpPr/>
              <p:nvPr/>
            </p:nvSpPr>
            <p:spPr>
              <a:xfrm>
                <a:off x="1418370" y="799791"/>
                <a:ext cx="1776878" cy="3285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Account Manager (AM)</a:t>
                </a:r>
              </a:p>
            </p:txBody>
          </p:sp>
          <p:pic>
            <p:nvPicPr>
              <p:cNvPr id="29" name="Picture 28">
                <a:extLst>
                  <a:ext uri="{FF2B5EF4-FFF2-40B4-BE49-F238E27FC236}">
                    <a16:creationId xmlns:a16="http://schemas.microsoft.com/office/drawing/2014/main" id="{766C65E8-DDC4-824C-A1BB-624AC2745BA5}"/>
                  </a:ext>
                </a:extLst>
              </p:cNvPr>
              <p:cNvPicPr>
                <a:picLocks noChangeAspect="1"/>
              </p:cNvPicPr>
              <p:nvPr/>
            </p:nvPicPr>
            <p:blipFill>
              <a:blip r:embed="rId22"/>
              <a:stretch>
                <a:fillRect/>
              </a:stretch>
            </p:blipFill>
            <p:spPr>
              <a:xfrm>
                <a:off x="1500232" y="1464770"/>
                <a:ext cx="587386" cy="1279500"/>
              </a:xfrm>
              <a:prstGeom prst="rect">
                <a:avLst/>
              </a:prstGeom>
            </p:spPr>
          </p:pic>
          <p:pic>
            <p:nvPicPr>
              <p:cNvPr id="32" name="Picture 31">
                <a:extLst>
                  <a:ext uri="{FF2B5EF4-FFF2-40B4-BE49-F238E27FC236}">
                    <a16:creationId xmlns:a16="http://schemas.microsoft.com/office/drawing/2014/main" id="{7DB32F22-5BB8-9043-917A-2D7A28F90572}"/>
                  </a:ext>
                </a:extLst>
              </p:cNvPr>
              <p:cNvPicPr>
                <a:picLocks noChangeAspect="1"/>
              </p:cNvPicPr>
              <p:nvPr/>
            </p:nvPicPr>
            <p:blipFill>
              <a:blip r:embed="rId23"/>
              <a:stretch>
                <a:fillRect/>
              </a:stretch>
            </p:blipFill>
            <p:spPr>
              <a:xfrm>
                <a:off x="3258906" y="1483821"/>
                <a:ext cx="594213" cy="1260450"/>
              </a:xfrm>
              <a:prstGeom prst="rect">
                <a:avLst/>
              </a:prstGeom>
            </p:spPr>
          </p:pic>
          <p:sp>
            <p:nvSpPr>
              <p:cNvPr id="23" name="TextBox 22">
                <a:extLst>
                  <a:ext uri="{FF2B5EF4-FFF2-40B4-BE49-F238E27FC236}">
                    <a16:creationId xmlns:a16="http://schemas.microsoft.com/office/drawing/2014/main" id="{33E7896B-B261-5F47-85F2-28045D979D11}"/>
                  </a:ext>
                </a:extLst>
              </p:cNvPr>
              <p:cNvSpPr txBox="1"/>
              <p:nvPr/>
            </p:nvSpPr>
            <p:spPr>
              <a:xfrm>
                <a:off x="1495367" y="2737272"/>
                <a:ext cx="69568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bentzen@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Client Director  Sr. Manager </a:t>
                </a:r>
                <a:endParaRPr lang="en-US" sz="1440" dirty="0">
                  <a:solidFill>
                    <a:prstClr val="black"/>
                  </a:solidFill>
                  <a:latin typeface="Calibri" panose="020F0502020204030204"/>
                  <a:sym typeface="Helvetica"/>
                </a:endParaRPr>
              </a:p>
            </p:txBody>
          </p:sp>
          <p:sp>
            <p:nvSpPr>
              <p:cNvPr id="26" name="TextBox 25">
                <a:extLst>
                  <a:ext uri="{FF2B5EF4-FFF2-40B4-BE49-F238E27FC236}">
                    <a16:creationId xmlns:a16="http://schemas.microsoft.com/office/drawing/2014/main" id="{193EDD8E-8552-2F4A-B751-27917B96994E}"/>
                  </a:ext>
                </a:extLst>
              </p:cNvPr>
              <p:cNvSpPr txBox="1"/>
              <p:nvPr/>
            </p:nvSpPr>
            <p:spPr>
              <a:xfrm>
                <a:off x="2091640" y="2737272"/>
                <a:ext cx="629409" cy="81560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jasonkid@</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 PowerUP, Cyber</a:t>
                </a:r>
                <a:endParaRPr lang="en-US" sz="1440" dirty="0">
                  <a:solidFill>
                    <a:prstClr val="black"/>
                  </a:solidFill>
                  <a:latin typeface="Calibri" panose="020F0502020204030204"/>
                  <a:sym typeface="Helvetica"/>
                </a:endParaRPr>
              </a:p>
              <a:p>
                <a:pPr defTabSz="1097280"/>
                <a:endParaRPr lang="en-US" sz="960" dirty="0">
                  <a:solidFill>
                    <a:prstClr val="black"/>
                  </a:solidFill>
                  <a:latin typeface="Calibri" panose="020F0502020204030204"/>
                  <a:sym typeface="Helvetica"/>
                </a:endParaRPr>
              </a:p>
            </p:txBody>
          </p:sp>
          <p:sp>
            <p:nvSpPr>
              <p:cNvPr id="27" name="TextBox 26">
                <a:extLst>
                  <a:ext uri="{FF2B5EF4-FFF2-40B4-BE49-F238E27FC236}">
                    <a16:creationId xmlns:a16="http://schemas.microsoft.com/office/drawing/2014/main" id="{6EBAA5CC-760A-474C-8764-3A5A169C57B8}"/>
                  </a:ext>
                </a:extLst>
              </p:cNvPr>
              <p:cNvSpPr txBox="1"/>
              <p:nvPr/>
            </p:nvSpPr>
            <p:spPr>
              <a:xfrm>
                <a:off x="3268472" y="2743622"/>
                <a:ext cx="765886"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karsco@</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Commercial </a:t>
                </a:r>
                <a:endParaRPr lang="en-US" sz="1440" dirty="0">
                  <a:solidFill>
                    <a:prstClr val="black"/>
                  </a:solidFill>
                  <a:latin typeface="Calibri" panose="020F0502020204030204"/>
                  <a:sym typeface="Helvetica"/>
                </a:endParaRPr>
              </a:p>
            </p:txBody>
          </p:sp>
          <p:pic>
            <p:nvPicPr>
              <p:cNvPr id="28" name="Picture 27"/>
              <p:cNvPicPr>
                <a:picLocks noChangeAspect="1"/>
              </p:cNvPicPr>
              <p:nvPr/>
            </p:nvPicPr>
            <p:blipFill>
              <a:blip r:embed="rId24"/>
              <a:stretch>
                <a:fillRect/>
              </a:stretch>
            </p:blipFill>
            <p:spPr>
              <a:xfrm>
                <a:off x="2689105" y="1483147"/>
                <a:ext cx="583222" cy="1261123"/>
              </a:xfrm>
              <a:prstGeom prst="rect">
                <a:avLst/>
              </a:prstGeom>
            </p:spPr>
          </p:pic>
          <p:sp>
            <p:nvSpPr>
              <p:cNvPr id="101" name="TextBox 100">
                <a:extLst>
                  <a:ext uri="{FF2B5EF4-FFF2-40B4-BE49-F238E27FC236}">
                    <a16:creationId xmlns:a16="http://schemas.microsoft.com/office/drawing/2014/main" id="{193EDD8E-8552-2F4A-B751-27917B96994E}"/>
                  </a:ext>
                </a:extLst>
              </p:cNvPr>
              <p:cNvSpPr txBox="1"/>
              <p:nvPr/>
            </p:nvSpPr>
            <p:spPr>
              <a:xfrm>
                <a:off x="2694555" y="2749972"/>
                <a:ext cx="67699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sidnaz@</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Card</a:t>
                </a:r>
              </a:p>
            </p:txBody>
          </p:sp>
          <p:pic>
            <p:nvPicPr>
              <p:cNvPr id="39" name="Picture 38"/>
              <p:cNvPicPr>
                <a:picLocks noChangeAspect="1"/>
              </p:cNvPicPr>
              <p:nvPr/>
            </p:nvPicPr>
            <p:blipFill>
              <a:blip r:embed="rId25"/>
              <a:stretch>
                <a:fillRect/>
              </a:stretch>
            </p:blipFill>
            <p:spPr>
              <a:xfrm>
                <a:off x="3851357" y="1492617"/>
                <a:ext cx="581693" cy="1253453"/>
              </a:xfrm>
              <a:prstGeom prst="rect">
                <a:avLst/>
              </a:prstGeom>
            </p:spPr>
          </p:pic>
          <p:sp>
            <p:nvSpPr>
              <p:cNvPr id="102" name="TextBox 101">
                <a:extLst>
                  <a:ext uri="{FF2B5EF4-FFF2-40B4-BE49-F238E27FC236}">
                    <a16:creationId xmlns:a16="http://schemas.microsoft.com/office/drawing/2014/main" id="{6EBAA5CC-760A-474C-8764-3A5A169C57B8}"/>
                  </a:ext>
                </a:extLst>
              </p:cNvPr>
              <p:cNvSpPr txBox="1"/>
              <p:nvPr/>
            </p:nvSpPr>
            <p:spPr>
              <a:xfrm>
                <a:off x="3850217" y="2749972"/>
                <a:ext cx="898583"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mbrouwnkf@</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 UK</a:t>
                </a:r>
                <a:endParaRPr lang="en-US" sz="1440" dirty="0">
                  <a:solidFill>
                    <a:prstClr val="black"/>
                  </a:solidFill>
                  <a:latin typeface="Calibri" panose="020F0502020204030204"/>
                  <a:sym typeface="Helvetica"/>
                </a:endParaRPr>
              </a:p>
            </p:txBody>
          </p:sp>
        </p:grpSp>
      </p:grpSp>
      <p:grpSp>
        <p:nvGrpSpPr>
          <p:cNvPr id="51" name="Group 50"/>
          <p:cNvGrpSpPr/>
          <p:nvPr/>
        </p:nvGrpSpPr>
        <p:grpSpPr>
          <a:xfrm>
            <a:off x="11522396" y="852749"/>
            <a:ext cx="3159246" cy="3122862"/>
            <a:chOff x="9791408" y="3363796"/>
            <a:chExt cx="2632705" cy="2602385"/>
          </a:xfrm>
        </p:grpSpPr>
        <p:pic>
          <p:nvPicPr>
            <p:cNvPr id="80" name="Picture 79">
              <a:extLst>
                <a:ext uri="{FF2B5EF4-FFF2-40B4-BE49-F238E27FC236}">
                  <a16:creationId xmlns:a16="http://schemas.microsoft.com/office/drawing/2014/main" id="{8D23C444-C99C-564C-BEC9-DD2115F20993}"/>
                </a:ext>
              </a:extLst>
            </p:cNvPr>
            <p:cNvPicPr>
              <a:picLocks noChangeAspect="1"/>
            </p:cNvPicPr>
            <p:nvPr/>
          </p:nvPicPr>
          <p:blipFill>
            <a:blip r:embed="rId26"/>
            <a:stretch>
              <a:fillRect/>
            </a:stretch>
          </p:blipFill>
          <p:spPr>
            <a:xfrm>
              <a:off x="9791760" y="4145195"/>
              <a:ext cx="579895" cy="1253463"/>
            </a:xfrm>
            <a:prstGeom prst="rect">
              <a:avLst/>
            </a:prstGeom>
          </p:spPr>
        </p:pic>
        <p:grpSp>
          <p:nvGrpSpPr>
            <p:cNvPr id="50" name="Group 49"/>
            <p:cNvGrpSpPr/>
            <p:nvPr/>
          </p:nvGrpSpPr>
          <p:grpSpPr>
            <a:xfrm>
              <a:off x="9791408" y="3363796"/>
              <a:ext cx="2632705" cy="2602385"/>
              <a:chOff x="9791408" y="3363796"/>
              <a:chExt cx="2632705" cy="2602385"/>
            </a:xfrm>
          </p:grpSpPr>
          <p:sp>
            <p:nvSpPr>
              <p:cNvPr id="10" name="Rounded Rectangle 4">
                <a:extLst>
                  <a:ext uri="{FF2B5EF4-FFF2-40B4-BE49-F238E27FC236}">
                    <a16:creationId xmlns:a16="http://schemas.microsoft.com/office/drawing/2014/main" id="{FB137ED5-C818-6544-8C55-DCB66E4A5E64}"/>
                  </a:ext>
                </a:extLst>
              </p:cNvPr>
              <p:cNvSpPr/>
              <p:nvPr/>
            </p:nvSpPr>
            <p:spPr>
              <a:xfrm>
                <a:off x="9791408" y="3363796"/>
                <a:ext cx="2530109" cy="241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Billing Support &amp; Concierge (CS)</a:t>
                </a:r>
              </a:p>
            </p:txBody>
          </p:sp>
          <p:sp>
            <p:nvSpPr>
              <p:cNvPr id="11" name="TextBox 10">
                <a:extLst>
                  <a:ext uri="{FF2B5EF4-FFF2-40B4-BE49-F238E27FC236}">
                    <a16:creationId xmlns:a16="http://schemas.microsoft.com/office/drawing/2014/main" id="{97B9FBD5-2BB4-0840-800A-17E8D7A3D1F2}"/>
                  </a:ext>
                </a:extLst>
              </p:cNvPr>
              <p:cNvSpPr txBox="1"/>
              <p:nvPr/>
            </p:nvSpPr>
            <p:spPr>
              <a:xfrm>
                <a:off x="9804662" y="3613401"/>
                <a:ext cx="2619451" cy="3539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Provides support, analysis, and execution for purchasing &amp; billing.</a:t>
                </a:r>
              </a:p>
            </p:txBody>
          </p:sp>
          <p:pic>
            <p:nvPicPr>
              <p:cNvPr id="79" name="Picture 78">
                <a:extLst>
                  <a:ext uri="{FF2B5EF4-FFF2-40B4-BE49-F238E27FC236}">
                    <a16:creationId xmlns:a16="http://schemas.microsoft.com/office/drawing/2014/main" id="{0A6B1CC1-CE3D-9840-8EA2-104F5A25A8BD}"/>
                  </a:ext>
                </a:extLst>
              </p:cNvPr>
              <p:cNvPicPr>
                <a:picLocks noChangeAspect="1"/>
              </p:cNvPicPr>
              <p:nvPr/>
            </p:nvPicPr>
            <p:blipFill>
              <a:blip r:embed="rId27"/>
              <a:stretch>
                <a:fillRect/>
              </a:stretch>
            </p:blipFill>
            <p:spPr>
              <a:xfrm>
                <a:off x="11519480" y="4153497"/>
                <a:ext cx="575469" cy="1244620"/>
              </a:xfrm>
              <a:prstGeom prst="rect">
                <a:avLst/>
              </a:prstGeom>
            </p:spPr>
          </p:pic>
          <p:sp>
            <p:nvSpPr>
              <p:cNvPr id="75" name="TextBox 74">
                <a:extLst>
                  <a:ext uri="{FF2B5EF4-FFF2-40B4-BE49-F238E27FC236}">
                    <a16:creationId xmlns:a16="http://schemas.microsoft.com/office/drawing/2014/main" id="{0C1A8762-A162-564C-AB96-5D6DDCA0EA6C}"/>
                  </a:ext>
                </a:extLst>
              </p:cNvPr>
              <p:cNvSpPr txBox="1"/>
              <p:nvPr/>
            </p:nvSpPr>
            <p:spPr>
              <a:xfrm>
                <a:off x="9804390" y="5393618"/>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maybry@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Reserved Instances</a:t>
                </a:r>
                <a:endParaRPr lang="en-US" sz="1440" dirty="0">
                  <a:solidFill>
                    <a:prstClr val="black"/>
                  </a:solidFill>
                  <a:latin typeface="Calibri" panose="020F0502020204030204"/>
                  <a:sym typeface="Helvetica"/>
                </a:endParaRPr>
              </a:p>
            </p:txBody>
          </p:sp>
          <p:sp>
            <p:nvSpPr>
              <p:cNvPr id="77" name="TextBox 76">
                <a:extLst>
                  <a:ext uri="{FF2B5EF4-FFF2-40B4-BE49-F238E27FC236}">
                    <a16:creationId xmlns:a16="http://schemas.microsoft.com/office/drawing/2014/main" id="{CF89599C-FB94-7748-AAFB-EF5CA615422B}"/>
                  </a:ext>
                </a:extLst>
              </p:cNvPr>
              <p:cNvSpPr txBox="1"/>
              <p:nvPr/>
            </p:nvSpPr>
            <p:spPr>
              <a:xfrm>
                <a:off x="10375288" y="5396796"/>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ea typeface="Helvetica Neue"/>
                    <a:cs typeface="Helvetica Neue"/>
                    <a:sym typeface="Helvetica Neue"/>
                  </a:rPr>
                  <a:t>iiiati@</a:t>
                </a:r>
                <a:br>
                  <a:rPr lang="en-US" sz="960" dirty="0">
                    <a:solidFill>
                      <a:prstClr val="black"/>
                    </a:solidFill>
                    <a:latin typeface="Calibri" panose="020F0502020204030204"/>
                    <a:ea typeface="Helvetica Neue"/>
                    <a:cs typeface="Helvetica Neue"/>
                    <a:sym typeface="Helvetica Neue"/>
                  </a:rPr>
                </a:br>
                <a:r>
                  <a:rPr lang="en-US" sz="960" dirty="0">
                    <a:solidFill>
                      <a:prstClr val="black"/>
                    </a:solidFill>
                    <a:latin typeface="Calibri" panose="020F0502020204030204"/>
                    <a:sym typeface="Helvetica"/>
                  </a:rPr>
                  <a:t>Sr. Concierge</a:t>
                </a:r>
                <a:endParaRPr lang="en-US" sz="1440" dirty="0">
                  <a:solidFill>
                    <a:prstClr val="black"/>
                  </a:solidFill>
                  <a:latin typeface="Calibri" panose="020F0502020204030204"/>
                  <a:sym typeface="Helvetica"/>
                </a:endParaRPr>
              </a:p>
            </p:txBody>
          </p:sp>
          <p:sp>
            <p:nvSpPr>
              <p:cNvPr id="78" name="TextBox 77">
                <a:extLst>
                  <a:ext uri="{FF2B5EF4-FFF2-40B4-BE49-F238E27FC236}">
                    <a16:creationId xmlns:a16="http://schemas.microsoft.com/office/drawing/2014/main" id="{423ABB6C-0B7C-EF45-9813-02C74AA1516A}"/>
                  </a:ext>
                </a:extLst>
              </p:cNvPr>
              <p:cNvSpPr txBox="1"/>
              <p:nvPr/>
            </p:nvSpPr>
            <p:spPr>
              <a:xfrm>
                <a:off x="10946562" y="5396794"/>
                <a:ext cx="696173"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thalem@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Custom Billing Analyst</a:t>
                </a:r>
                <a:endParaRPr lang="en-US" sz="1440" dirty="0">
                  <a:solidFill>
                    <a:prstClr val="black"/>
                  </a:solidFill>
                  <a:latin typeface="Calibri" panose="020F0502020204030204"/>
                  <a:sym typeface="Helvetica"/>
                </a:endParaRPr>
              </a:p>
            </p:txBody>
          </p:sp>
          <p:pic>
            <p:nvPicPr>
              <p:cNvPr id="2" name="Picture 1"/>
              <p:cNvPicPr>
                <a:picLocks noChangeAspect="1"/>
              </p:cNvPicPr>
              <p:nvPr/>
            </p:nvPicPr>
            <p:blipFill>
              <a:blip r:embed="rId28"/>
              <a:stretch>
                <a:fillRect/>
              </a:stretch>
            </p:blipFill>
            <p:spPr>
              <a:xfrm>
                <a:off x="10935633" y="4145385"/>
                <a:ext cx="583963" cy="1253273"/>
              </a:xfrm>
              <a:prstGeom prst="rect">
                <a:avLst/>
              </a:prstGeom>
            </p:spPr>
          </p:pic>
          <p:sp>
            <p:nvSpPr>
              <p:cNvPr id="83" name="TextBox 82">
                <a:extLst>
                  <a:ext uri="{FF2B5EF4-FFF2-40B4-BE49-F238E27FC236}">
                    <a16:creationId xmlns:a16="http://schemas.microsoft.com/office/drawing/2014/main" id="{423ABB6C-0B7C-EF45-9813-02C74AA1516A}"/>
                  </a:ext>
                </a:extLst>
              </p:cNvPr>
              <p:cNvSpPr txBox="1"/>
              <p:nvPr/>
            </p:nvSpPr>
            <p:spPr>
              <a:xfrm>
                <a:off x="11530896" y="5394717"/>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weaky@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Demand Generation</a:t>
                </a:r>
                <a:endParaRPr lang="en-US" sz="1440" dirty="0">
                  <a:solidFill>
                    <a:prstClr val="black"/>
                  </a:solidFill>
                  <a:latin typeface="Calibri" panose="020F0502020204030204"/>
                  <a:sym typeface="Helvetica"/>
                </a:endParaRPr>
              </a:p>
            </p:txBody>
          </p:sp>
          <p:pic>
            <p:nvPicPr>
              <p:cNvPr id="48" name="Picture 47"/>
              <p:cNvPicPr>
                <a:picLocks noChangeAspect="1"/>
              </p:cNvPicPr>
              <p:nvPr/>
            </p:nvPicPr>
            <p:blipFill>
              <a:blip r:embed="rId29"/>
              <a:stretch>
                <a:fillRect/>
              </a:stretch>
            </p:blipFill>
            <p:spPr>
              <a:xfrm>
                <a:off x="10369306" y="4157290"/>
                <a:ext cx="565806" cy="1235839"/>
              </a:xfrm>
              <a:prstGeom prst="rect">
                <a:avLst/>
              </a:prstGeom>
            </p:spPr>
          </p:pic>
        </p:grpSp>
      </p:grpSp>
      <p:grpSp>
        <p:nvGrpSpPr>
          <p:cNvPr id="61" name="Group 60"/>
          <p:cNvGrpSpPr/>
          <p:nvPr/>
        </p:nvGrpSpPr>
        <p:grpSpPr>
          <a:xfrm>
            <a:off x="317292" y="4036554"/>
            <a:ext cx="5154008" cy="3421132"/>
            <a:chOff x="197734" y="3363795"/>
            <a:chExt cx="4295007" cy="2850943"/>
          </a:xfrm>
        </p:grpSpPr>
        <p:pic>
          <p:nvPicPr>
            <p:cNvPr id="98" name="Picture 97"/>
            <p:cNvPicPr>
              <a:picLocks noChangeAspect="1"/>
            </p:cNvPicPr>
            <p:nvPr/>
          </p:nvPicPr>
          <p:blipFill>
            <a:blip r:embed="rId30"/>
            <a:stretch>
              <a:fillRect/>
            </a:stretch>
          </p:blipFill>
          <p:spPr>
            <a:xfrm>
              <a:off x="275191" y="4143737"/>
              <a:ext cx="577771" cy="1264726"/>
            </a:xfrm>
            <a:prstGeom prst="rect">
              <a:avLst/>
            </a:prstGeom>
          </p:spPr>
        </p:pic>
        <p:grpSp>
          <p:nvGrpSpPr>
            <p:cNvPr id="59" name="Group 58"/>
            <p:cNvGrpSpPr/>
            <p:nvPr/>
          </p:nvGrpSpPr>
          <p:grpSpPr>
            <a:xfrm>
              <a:off x="197734" y="3363795"/>
              <a:ext cx="4295007" cy="2850943"/>
              <a:chOff x="197734" y="3363795"/>
              <a:chExt cx="4295007" cy="2850943"/>
            </a:xfrm>
          </p:grpSpPr>
          <p:pic>
            <p:nvPicPr>
              <p:cNvPr id="94" name="Picture 93">
                <a:extLst>
                  <a:ext uri="{FF2B5EF4-FFF2-40B4-BE49-F238E27FC236}">
                    <a16:creationId xmlns:a16="http://schemas.microsoft.com/office/drawing/2014/main" id="{62940BB3-10D4-9C43-A4F5-FF988ADE5575}"/>
                  </a:ext>
                </a:extLst>
              </p:cNvPr>
              <p:cNvPicPr>
                <a:picLocks noChangeAspect="1"/>
              </p:cNvPicPr>
              <p:nvPr/>
            </p:nvPicPr>
            <p:blipFill>
              <a:blip r:embed="rId31"/>
              <a:stretch>
                <a:fillRect/>
              </a:stretch>
            </p:blipFill>
            <p:spPr>
              <a:xfrm>
                <a:off x="2007613" y="4145932"/>
                <a:ext cx="581310" cy="1262531"/>
              </a:xfrm>
              <a:prstGeom prst="rect">
                <a:avLst/>
              </a:prstGeom>
            </p:spPr>
          </p:pic>
          <p:sp>
            <p:nvSpPr>
              <p:cNvPr id="7" name="TextBox 6">
                <a:extLst>
                  <a:ext uri="{FF2B5EF4-FFF2-40B4-BE49-F238E27FC236}">
                    <a16:creationId xmlns:a16="http://schemas.microsoft.com/office/drawing/2014/main" id="{96E33D09-CDC0-1244-B162-517BA75DEF29}"/>
                  </a:ext>
                </a:extLst>
              </p:cNvPr>
              <p:cNvSpPr txBox="1"/>
              <p:nvPr/>
            </p:nvSpPr>
            <p:spPr>
              <a:xfrm>
                <a:off x="235636" y="3605289"/>
                <a:ext cx="3285335" cy="353943"/>
              </a:xfrm>
              <a:prstGeom prst="rect">
                <a:avLst/>
              </a:prstGeom>
              <a:noFill/>
            </p:spPr>
            <p:txBody>
              <a:bodyPr wrap="square" rtlCol="0">
                <a:spAutoFit/>
              </a:bodyPr>
              <a:lstStyle/>
              <a:p>
                <a:pPr defTabSz="617190">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Provide customers with technical direction, architectural guidance, and well-architected solutions.</a:t>
                </a:r>
              </a:p>
            </p:txBody>
          </p:sp>
          <p:sp>
            <p:nvSpPr>
              <p:cNvPr id="8" name="Rounded Rectangle 4">
                <a:extLst>
                  <a:ext uri="{FF2B5EF4-FFF2-40B4-BE49-F238E27FC236}">
                    <a16:creationId xmlns:a16="http://schemas.microsoft.com/office/drawing/2014/main" id="{158368F0-D940-0040-ADB8-BCEF8DC4984B}"/>
                  </a:ext>
                </a:extLst>
              </p:cNvPr>
              <p:cNvSpPr/>
              <p:nvPr/>
            </p:nvSpPr>
            <p:spPr>
              <a:xfrm>
                <a:off x="238230" y="3363795"/>
                <a:ext cx="2472167" cy="2215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Solutions Architect (SA)</a:t>
                </a:r>
              </a:p>
            </p:txBody>
          </p:sp>
          <p:pic>
            <p:nvPicPr>
              <p:cNvPr id="92" name="Picture 91">
                <a:extLst>
                  <a:ext uri="{FF2B5EF4-FFF2-40B4-BE49-F238E27FC236}">
                    <a16:creationId xmlns:a16="http://schemas.microsoft.com/office/drawing/2014/main" id="{94898629-D9C9-4D4D-898F-E6C847BF80B3}"/>
                  </a:ext>
                </a:extLst>
              </p:cNvPr>
              <p:cNvPicPr>
                <a:picLocks noChangeAspect="1"/>
              </p:cNvPicPr>
              <p:nvPr/>
            </p:nvPicPr>
            <p:blipFill>
              <a:blip r:embed="rId32"/>
              <a:stretch>
                <a:fillRect/>
              </a:stretch>
            </p:blipFill>
            <p:spPr>
              <a:xfrm>
                <a:off x="1433965" y="4137982"/>
                <a:ext cx="590189" cy="1270481"/>
              </a:xfrm>
              <a:prstGeom prst="rect">
                <a:avLst/>
              </a:prstGeom>
            </p:spPr>
          </p:pic>
          <p:pic>
            <p:nvPicPr>
              <p:cNvPr id="93" name="Picture 92">
                <a:extLst>
                  <a:ext uri="{FF2B5EF4-FFF2-40B4-BE49-F238E27FC236}">
                    <a16:creationId xmlns:a16="http://schemas.microsoft.com/office/drawing/2014/main" id="{6F63563D-B7E5-2443-8171-1E9A241B7DCB}"/>
                  </a:ext>
                </a:extLst>
              </p:cNvPr>
              <p:cNvPicPr>
                <a:picLocks noChangeAspect="1"/>
              </p:cNvPicPr>
              <p:nvPr/>
            </p:nvPicPr>
            <p:blipFill>
              <a:blip r:embed="rId33"/>
              <a:stretch>
                <a:fillRect/>
              </a:stretch>
            </p:blipFill>
            <p:spPr>
              <a:xfrm>
                <a:off x="852069" y="4137982"/>
                <a:ext cx="582873" cy="1270481"/>
              </a:xfrm>
              <a:prstGeom prst="rect">
                <a:avLst/>
              </a:prstGeom>
            </p:spPr>
          </p:pic>
          <p:sp>
            <p:nvSpPr>
              <p:cNvPr id="86" name="TextBox 85">
                <a:extLst>
                  <a:ext uri="{FF2B5EF4-FFF2-40B4-BE49-F238E27FC236}">
                    <a16:creationId xmlns:a16="http://schemas.microsoft.com/office/drawing/2014/main" id="{DD65F559-51D0-CE42-AFBD-6C42A824760A}"/>
                  </a:ext>
                </a:extLst>
              </p:cNvPr>
              <p:cNvSpPr txBox="1"/>
              <p:nvPr/>
            </p:nvSpPr>
            <p:spPr>
              <a:xfrm>
                <a:off x="197734" y="5399132"/>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eribecky@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Manager</a:t>
                </a:r>
                <a:endParaRPr lang="en-US" sz="1440" dirty="0">
                  <a:solidFill>
                    <a:prstClr val="black"/>
                  </a:solidFill>
                  <a:latin typeface="Calibri" panose="020F0502020204030204"/>
                  <a:sym typeface="Helvetica"/>
                </a:endParaRPr>
              </a:p>
            </p:txBody>
          </p:sp>
          <p:sp>
            <p:nvSpPr>
              <p:cNvPr id="87" name="TextBox 86">
                <a:extLst>
                  <a:ext uri="{FF2B5EF4-FFF2-40B4-BE49-F238E27FC236}">
                    <a16:creationId xmlns:a16="http://schemas.microsoft.com/office/drawing/2014/main" id="{AE8903BC-8C4F-3646-A61C-97FCF100754A}"/>
                  </a:ext>
                </a:extLst>
              </p:cNvPr>
              <p:cNvSpPr txBox="1"/>
              <p:nvPr/>
            </p:nvSpPr>
            <p:spPr>
              <a:xfrm>
                <a:off x="1451625" y="5399131"/>
                <a:ext cx="653541" cy="81560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donbarb@</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Principal Solutions Architect</a:t>
                </a:r>
              </a:p>
              <a:p>
                <a:pPr defTabSz="1097280"/>
                <a:r>
                  <a:rPr lang="en-US" sz="960" dirty="0" err="1">
                    <a:solidFill>
                      <a:prstClr val="black"/>
                    </a:solidFill>
                    <a:latin typeface="Calibri" panose="020F0502020204030204"/>
                    <a:sym typeface="Helvetica"/>
                  </a:rPr>
                  <a:t>PowerUP</a:t>
                </a:r>
                <a:r>
                  <a:rPr lang="en-US" sz="960" dirty="0">
                    <a:solidFill>
                      <a:prstClr val="black"/>
                    </a:solidFill>
                    <a:latin typeface="Calibri" panose="020F0502020204030204"/>
                    <a:sym typeface="Helvetica"/>
                  </a:rPr>
                  <a:t>, EP2T</a:t>
                </a:r>
                <a:endParaRPr lang="en-US" sz="1440" dirty="0">
                  <a:solidFill>
                    <a:prstClr val="black"/>
                  </a:solidFill>
                  <a:latin typeface="Calibri" panose="020F0502020204030204"/>
                  <a:sym typeface="Helvetica"/>
                </a:endParaRPr>
              </a:p>
            </p:txBody>
          </p:sp>
          <p:sp>
            <p:nvSpPr>
              <p:cNvPr id="88" name="TextBox 87">
                <a:extLst>
                  <a:ext uri="{FF2B5EF4-FFF2-40B4-BE49-F238E27FC236}">
                    <a16:creationId xmlns:a16="http://schemas.microsoft.com/office/drawing/2014/main" id="{08B282AB-099D-EF41-9940-6C22F030E233}"/>
                  </a:ext>
                </a:extLst>
              </p:cNvPr>
              <p:cNvSpPr txBox="1"/>
              <p:nvPr/>
            </p:nvSpPr>
            <p:spPr>
              <a:xfrm>
                <a:off x="859019" y="5399131"/>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mhaken@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Principal Technologist</a:t>
                </a:r>
                <a:endParaRPr lang="en-US" sz="1440" dirty="0">
                  <a:solidFill>
                    <a:prstClr val="black"/>
                  </a:solidFill>
                  <a:latin typeface="Calibri" panose="020F0502020204030204"/>
                  <a:sym typeface="Helvetica"/>
                </a:endParaRPr>
              </a:p>
            </p:txBody>
          </p:sp>
          <p:sp>
            <p:nvSpPr>
              <p:cNvPr id="89" name="TextBox 88">
                <a:extLst>
                  <a:ext uri="{FF2B5EF4-FFF2-40B4-BE49-F238E27FC236}">
                    <a16:creationId xmlns:a16="http://schemas.microsoft.com/office/drawing/2014/main" id="{59CCC3A3-6708-AF45-BCEB-B05DC05CB9A5}"/>
                  </a:ext>
                </a:extLst>
              </p:cNvPr>
              <p:cNvSpPr txBox="1"/>
              <p:nvPr/>
            </p:nvSpPr>
            <p:spPr>
              <a:xfrm>
                <a:off x="2026710" y="5399131"/>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stanaws@</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FS, Retail</a:t>
                </a:r>
                <a:endParaRPr lang="en-US" sz="1440" dirty="0">
                  <a:solidFill>
                    <a:prstClr val="black"/>
                  </a:solidFill>
                  <a:latin typeface="Calibri" panose="020F0502020204030204"/>
                  <a:sym typeface="Helvetica"/>
                </a:endParaRPr>
              </a:p>
            </p:txBody>
          </p:sp>
          <p:sp>
            <p:nvSpPr>
              <p:cNvPr id="90" name="TextBox 89">
                <a:extLst>
                  <a:ext uri="{FF2B5EF4-FFF2-40B4-BE49-F238E27FC236}">
                    <a16:creationId xmlns:a16="http://schemas.microsoft.com/office/drawing/2014/main" id="{84C3653F-C084-4C42-9FEF-B35FDA7E35A9}"/>
                  </a:ext>
                </a:extLst>
              </p:cNvPr>
              <p:cNvSpPr txBox="1"/>
              <p:nvPr/>
            </p:nvSpPr>
            <p:spPr>
              <a:xfrm>
                <a:off x="3761531" y="5399131"/>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rPr>
                  <a:t>amirnyc</a:t>
                </a:r>
                <a:r>
                  <a:rPr lang="en-US" sz="960" dirty="0">
                    <a:solidFill>
                      <a:prstClr val="black"/>
                    </a:solidFill>
                    <a:latin typeface="Calibri" panose="020F0502020204030204"/>
                    <a:sym typeface="Helvetica"/>
                  </a:rPr>
                  <a:t>@</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endParaRPr lang="en-US" sz="1440" dirty="0">
                  <a:solidFill>
                    <a:prstClr val="black"/>
                  </a:solidFill>
                  <a:latin typeface="Calibri" panose="020F0502020204030204"/>
                  <a:sym typeface="Helvetica"/>
                </a:endParaRPr>
              </a:p>
            </p:txBody>
          </p:sp>
          <p:pic>
            <p:nvPicPr>
              <p:cNvPr id="111" name="Picture 110"/>
              <p:cNvPicPr>
                <a:picLocks noChangeAspect="1"/>
              </p:cNvPicPr>
              <p:nvPr/>
            </p:nvPicPr>
            <p:blipFill>
              <a:blip r:embed="rId34"/>
              <a:stretch>
                <a:fillRect/>
              </a:stretch>
            </p:blipFill>
            <p:spPr>
              <a:xfrm>
                <a:off x="2588488" y="4144472"/>
                <a:ext cx="588957" cy="1263991"/>
              </a:xfrm>
              <a:prstGeom prst="rect">
                <a:avLst/>
              </a:prstGeom>
            </p:spPr>
          </p:pic>
          <p:sp>
            <p:nvSpPr>
              <p:cNvPr id="112" name="TextBox 111">
                <a:extLst>
                  <a:ext uri="{FF2B5EF4-FFF2-40B4-BE49-F238E27FC236}">
                    <a16:creationId xmlns:a16="http://schemas.microsoft.com/office/drawing/2014/main" id="{59CCC3A3-6708-AF45-BCEB-B05DC05CB9A5}"/>
                  </a:ext>
                </a:extLst>
              </p:cNvPr>
              <p:cNvSpPr txBox="1"/>
              <p:nvPr/>
            </p:nvSpPr>
            <p:spPr>
              <a:xfrm>
                <a:off x="2605893" y="5399131"/>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castelha@</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Card, Cyber</a:t>
                </a:r>
                <a:endParaRPr lang="en-US" sz="1440" dirty="0">
                  <a:solidFill>
                    <a:prstClr val="black"/>
                  </a:solidFill>
                  <a:latin typeface="Calibri" panose="020F0502020204030204"/>
                  <a:sym typeface="Helvetica"/>
                </a:endParaRPr>
              </a:p>
            </p:txBody>
          </p:sp>
          <p:pic>
            <p:nvPicPr>
              <p:cNvPr id="58" name="Picture 57"/>
              <p:cNvPicPr>
                <a:picLocks noChangeAspect="1"/>
              </p:cNvPicPr>
              <p:nvPr/>
            </p:nvPicPr>
            <p:blipFill>
              <a:blip r:embed="rId35"/>
              <a:stretch>
                <a:fillRect/>
              </a:stretch>
            </p:blipFill>
            <p:spPr>
              <a:xfrm>
                <a:off x="3171792" y="4150324"/>
                <a:ext cx="576265" cy="1257990"/>
              </a:xfrm>
              <a:prstGeom prst="rect">
                <a:avLst/>
              </a:prstGeom>
            </p:spPr>
          </p:pic>
          <p:sp>
            <p:nvSpPr>
              <p:cNvPr id="116" name="TextBox 115">
                <a:extLst>
                  <a:ext uri="{FF2B5EF4-FFF2-40B4-BE49-F238E27FC236}">
                    <a16:creationId xmlns:a16="http://schemas.microsoft.com/office/drawing/2014/main" id="{59CCC3A3-6708-AF45-BCEB-B05DC05CB9A5}"/>
                  </a:ext>
                </a:extLst>
              </p:cNvPr>
              <p:cNvSpPr txBox="1"/>
              <p:nvPr/>
            </p:nvSpPr>
            <p:spPr>
              <a:xfrm>
                <a:off x="3177404" y="5403884"/>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baananth@</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UK</a:t>
                </a:r>
                <a:endParaRPr lang="en-US" sz="1440" dirty="0">
                  <a:solidFill>
                    <a:prstClr val="black"/>
                  </a:solidFill>
                  <a:latin typeface="Calibri" panose="020F0502020204030204"/>
                  <a:sym typeface="Helvetica"/>
                </a:endParaRPr>
              </a:p>
            </p:txBody>
          </p:sp>
        </p:grpSp>
      </p:grpSp>
      <p:grpSp>
        <p:nvGrpSpPr>
          <p:cNvPr id="42" name="Group 41"/>
          <p:cNvGrpSpPr/>
          <p:nvPr/>
        </p:nvGrpSpPr>
        <p:grpSpPr>
          <a:xfrm>
            <a:off x="12895765" y="4142122"/>
            <a:ext cx="1853483" cy="2894459"/>
            <a:chOff x="10251170" y="3451768"/>
            <a:chExt cx="1544569" cy="2412049"/>
          </a:xfrm>
        </p:grpSpPr>
        <p:sp>
          <p:nvSpPr>
            <p:cNvPr id="104" name="Rounded Rectangle 4">
              <a:extLst>
                <a:ext uri="{FF2B5EF4-FFF2-40B4-BE49-F238E27FC236}">
                  <a16:creationId xmlns:a16="http://schemas.microsoft.com/office/drawing/2014/main" id="{FB137ED5-C818-6544-8C55-DCB66E4A5E64}"/>
                </a:ext>
              </a:extLst>
            </p:cNvPr>
            <p:cNvSpPr/>
            <p:nvPr/>
          </p:nvSpPr>
          <p:spPr>
            <a:xfrm>
              <a:off x="10306066" y="3451768"/>
              <a:ext cx="1166539" cy="241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Partner Success Manager (PSM)</a:t>
              </a:r>
            </a:p>
          </p:txBody>
        </p:sp>
        <p:sp>
          <p:nvSpPr>
            <p:cNvPr id="105" name="TextBox 104">
              <a:extLst>
                <a:ext uri="{FF2B5EF4-FFF2-40B4-BE49-F238E27FC236}">
                  <a16:creationId xmlns:a16="http://schemas.microsoft.com/office/drawing/2014/main" id="{97B9FBD5-2BB4-0840-800A-17E8D7A3D1F2}"/>
                </a:ext>
              </a:extLst>
            </p:cNvPr>
            <p:cNvSpPr txBox="1"/>
            <p:nvPr/>
          </p:nvSpPr>
          <p:spPr>
            <a:xfrm>
              <a:off x="10251170" y="3759254"/>
              <a:ext cx="1544569" cy="3539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Managing consulting and technical partners.</a:t>
              </a:r>
            </a:p>
          </p:txBody>
        </p:sp>
        <p:pic>
          <p:nvPicPr>
            <p:cNvPr id="46" name="Picture 45"/>
            <p:cNvPicPr>
              <a:picLocks noChangeAspect="1"/>
            </p:cNvPicPr>
            <p:nvPr/>
          </p:nvPicPr>
          <p:blipFill>
            <a:blip r:embed="rId36"/>
            <a:stretch>
              <a:fillRect/>
            </a:stretch>
          </p:blipFill>
          <p:spPr>
            <a:xfrm>
              <a:off x="10331060" y="4153451"/>
              <a:ext cx="570019" cy="1235654"/>
            </a:xfrm>
            <a:prstGeom prst="rect">
              <a:avLst/>
            </a:prstGeom>
          </p:spPr>
        </p:pic>
        <p:sp>
          <p:nvSpPr>
            <p:cNvPr id="117" name="TextBox 116">
              <a:extLst>
                <a:ext uri="{FF2B5EF4-FFF2-40B4-BE49-F238E27FC236}">
                  <a16:creationId xmlns:a16="http://schemas.microsoft.com/office/drawing/2014/main" id="{88F144D1-582F-084F-8051-26346873C82F}"/>
                </a:ext>
              </a:extLst>
            </p:cNvPr>
            <p:cNvSpPr txBox="1"/>
            <p:nvPr/>
          </p:nvSpPr>
          <p:spPr>
            <a:xfrm>
              <a:off x="10355544" y="5417541"/>
              <a:ext cx="731210" cy="446276"/>
            </a:xfrm>
            <a:prstGeom prst="rect">
              <a:avLst/>
            </a:prstGeom>
            <a:noFill/>
          </p:spPr>
          <p:txBody>
            <a:bodyPr wrap="square" rtlCol="0">
              <a:spAutoFit/>
            </a:bodyPr>
            <a:lstStyle/>
            <a:p>
              <a:pPr defTabSz="1097280"/>
              <a:r>
                <a:rPr lang="en-US" sz="960">
                  <a:solidFill>
                    <a:prstClr val="black"/>
                  </a:solidFill>
                  <a:latin typeface="Calibri" panose="020F0502020204030204"/>
                  <a:sym typeface="Helvetica"/>
                </a:rPr>
                <a:t>rhoweave@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Program Manager</a:t>
              </a:r>
              <a:endParaRPr lang="en-US" sz="1440" dirty="0">
                <a:solidFill>
                  <a:prstClr val="black"/>
                </a:solidFill>
                <a:latin typeface="Calibri" panose="020F0502020204030204"/>
                <a:sym typeface="Helvetica"/>
              </a:endParaRPr>
            </a:p>
          </p:txBody>
        </p:sp>
      </p:grpSp>
      <p:pic>
        <p:nvPicPr>
          <p:cNvPr id="64" name="Picture 63"/>
          <p:cNvPicPr>
            <a:picLocks noChangeAspect="1"/>
          </p:cNvPicPr>
          <p:nvPr/>
        </p:nvPicPr>
        <p:blipFill>
          <a:blip r:embed="rId37"/>
          <a:stretch>
            <a:fillRect/>
          </a:stretch>
        </p:blipFill>
        <p:spPr>
          <a:xfrm>
            <a:off x="4587195" y="4983517"/>
            <a:ext cx="696640" cy="1501145"/>
          </a:xfrm>
          <a:prstGeom prst="rect">
            <a:avLst/>
          </a:prstGeom>
        </p:spPr>
      </p:pic>
    </p:spTree>
    <p:extLst>
      <p:ext uri="{BB962C8B-B14F-4D97-AF65-F5344CB8AC3E}">
        <p14:creationId xmlns:p14="http://schemas.microsoft.com/office/powerpoint/2010/main" val="65837351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6D91-10F3-314B-9C62-316FFC780B9E}"/>
              </a:ext>
            </a:extLst>
          </p:cNvPr>
          <p:cNvSpPr>
            <a:spLocks noGrp="1"/>
          </p:cNvSpPr>
          <p:nvPr>
            <p:ph type="title"/>
          </p:nvPr>
        </p:nvSpPr>
        <p:spPr/>
        <p:txBody>
          <a:bodyPr/>
          <a:lstStyle/>
          <a:p>
            <a:r>
              <a:rPr lang="en-US" dirty="0"/>
              <a:t>Since Last PI</a:t>
            </a:r>
          </a:p>
        </p:txBody>
      </p:sp>
      <p:sp>
        <p:nvSpPr>
          <p:cNvPr id="3" name="Text Placeholder 2">
            <a:extLst>
              <a:ext uri="{FF2B5EF4-FFF2-40B4-BE49-F238E27FC236}">
                <a16:creationId xmlns:a16="http://schemas.microsoft.com/office/drawing/2014/main" id="{70AEB07B-DC11-EB4F-A241-081BFF9346A7}"/>
              </a:ext>
            </a:extLst>
          </p:cNvPr>
          <p:cNvSpPr>
            <a:spLocks noGrp="1"/>
          </p:cNvSpPr>
          <p:nvPr>
            <p:ph type="body" sz="quarter" idx="10"/>
          </p:nvPr>
        </p:nvSpPr>
        <p:spPr/>
        <p:txBody>
          <a:bodyPr/>
          <a:lstStyle/>
          <a:p>
            <a:r>
              <a:rPr lang="en-US" dirty="0"/>
              <a:t>Last PI was January 6, 2021</a:t>
            </a:r>
          </a:p>
          <a:p>
            <a:r>
              <a:rPr lang="en-US" dirty="0"/>
              <a:t>353 Announcements</a:t>
            </a:r>
          </a:p>
          <a:p>
            <a:r>
              <a:rPr lang="en-US" dirty="0"/>
              <a:t>Highlight 61 of them in 20 minutes</a:t>
            </a:r>
          </a:p>
          <a:p>
            <a:endParaRPr lang="en-US" dirty="0"/>
          </a:p>
          <a:p>
            <a:r>
              <a:rPr lang="en-US" dirty="0"/>
              <a:t>Talk more? </a:t>
            </a:r>
            <a:r>
              <a:rPr lang="en-US" dirty="0" err="1"/>
              <a:t>stanaws@amazon.com</a:t>
            </a:r>
            <a:endParaRPr lang="en-US" dirty="0"/>
          </a:p>
          <a:p>
            <a:endParaRPr lang="en-US" dirty="0"/>
          </a:p>
        </p:txBody>
      </p:sp>
    </p:spTree>
    <p:extLst>
      <p:ext uri="{BB962C8B-B14F-4D97-AF65-F5344CB8AC3E}">
        <p14:creationId xmlns:p14="http://schemas.microsoft.com/office/powerpoint/2010/main" val="427262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Announcing General Availability of AWS Fault Injection Simulator, a fully managed service to run controlled experiments</a:t>
            </a:r>
          </a:p>
        </p:txBody>
      </p:sp>
      <p:sp>
        <p:nvSpPr>
          <p:cNvPr id="3" name="Content Placeholder 2"/>
          <p:cNvSpPr>
            <a:spLocks noGrp="1"/>
          </p:cNvSpPr>
          <p:nvPr>
            <p:ph sz="half" idx="1"/>
          </p:nvPr>
        </p:nvSpPr>
        <p:spPr/>
        <p:txBody>
          <a:bodyPr/>
          <a:lstStyle/>
          <a:p>
            <a:r>
              <a:t>16 Mar</a:t>
            </a:r>
          </a:p>
          <a:p>
            <a:endParaRPr/>
          </a:p>
          <a:p>
            <a:r>
              <a:t>AWS Fault Injection Simulator is a fully managed service for running fault injection experiments on AWS that makes it easier to continuously improve an application’s performance, observability, and resiliency.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AWS Lambda adds four Trusted Advisor checks</a:t>
            </a:r>
          </a:p>
        </p:txBody>
      </p:sp>
      <p:sp>
        <p:nvSpPr>
          <p:cNvPr id="3" name="Content Placeholder 2"/>
          <p:cNvSpPr>
            <a:spLocks noGrp="1"/>
          </p:cNvSpPr>
          <p:nvPr>
            <p:ph sz="half" idx="1"/>
          </p:nvPr>
        </p:nvSpPr>
        <p:spPr/>
        <p:txBody>
          <a:bodyPr/>
          <a:lstStyle/>
          <a:p>
            <a:r>
              <a:t>08 Mar</a:t>
            </a:r>
          </a:p>
          <a:p>
            <a:endParaRPr/>
          </a:p>
          <a:p>
            <a:r>
              <a:t>AWS Lambda now supports four new Trusted Advisor checks to help customers optimize the cost, security, function runtime version and fault tolerance of their Lambda functions.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EventBridge introduces support for API Destinations</a:t>
            </a:r>
          </a:p>
        </p:txBody>
      </p:sp>
      <p:sp>
        <p:nvSpPr>
          <p:cNvPr id="3" name="Content Placeholder 2"/>
          <p:cNvSpPr>
            <a:spLocks noGrp="1"/>
          </p:cNvSpPr>
          <p:nvPr>
            <p:ph sz="half" idx="1"/>
          </p:nvPr>
        </p:nvSpPr>
        <p:spPr/>
        <p:txBody>
          <a:bodyPr/>
          <a:lstStyle/>
          <a:p>
            <a:r>
              <a:t>04 Mar</a:t>
            </a:r>
          </a:p>
          <a:p>
            <a:endParaRPr/>
          </a:p>
          <a:p>
            <a:r>
              <a:t>Amazon EventBridge now supports API Destinations, a simple and reliable way for customers to send events to any HTTP API, such as self-managed or Software-as-a-Service (SaaS) applications, allowing customers to easily extend their existing applications without writing code. Authorization is built in so customers don’t have to write or manage additional code to authorize their requests.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EventBridge now supports propagation of X-Ray trace context</a:t>
            </a:r>
          </a:p>
        </p:txBody>
      </p:sp>
      <p:sp>
        <p:nvSpPr>
          <p:cNvPr id="3" name="Content Placeholder 2"/>
          <p:cNvSpPr>
            <a:spLocks noGrp="1"/>
          </p:cNvSpPr>
          <p:nvPr>
            <p:ph sz="half" idx="1"/>
          </p:nvPr>
        </p:nvSpPr>
        <p:spPr/>
        <p:txBody>
          <a:bodyPr/>
          <a:lstStyle/>
          <a:p>
            <a:r>
              <a:t>02 Mar</a:t>
            </a:r>
          </a:p>
          <a:p>
            <a:endParaRPr/>
          </a:p>
          <a:p>
            <a:r>
              <a:t>Amazon EventBridge now supports propagation of AWS X-Ray trace context, enabling you to view the end-to-end flow of events through your applications. AWS X-Ray traces user requests as they travel through your entire application. It connects and visualizes the data generated by individual services like AWS Lambda, Amazon EC2 and the many resources that make up your application, providing you an end-to-end view of how your application is performing.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AWS Step Functions adds tooling support for YAML</a:t>
            </a:r>
          </a:p>
        </p:txBody>
      </p:sp>
      <p:sp>
        <p:nvSpPr>
          <p:cNvPr id="3" name="Content Placeholder 2"/>
          <p:cNvSpPr>
            <a:spLocks noGrp="1"/>
          </p:cNvSpPr>
          <p:nvPr>
            <p:ph sz="half" idx="1"/>
          </p:nvPr>
        </p:nvSpPr>
        <p:spPr/>
        <p:txBody>
          <a:bodyPr/>
          <a:lstStyle/>
          <a:p>
            <a:r>
              <a:t>04 Mar</a:t>
            </a:r>
          </a:p>
          <a:p>
            <a:endParaRPr/>
          </a:p>
          <a:p>
            <a:r>
              <a:t>AWS Step Functions now supports YAML state machine definitions within the AWS Toolkit for Visual Studio Code and in AWS CloudFormation, making it possible to define workflows in the same language as your infrastructure as code.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EC2 now supports UEFI boot when migrating virtual machines to EC2</a:t>
            </a:r>
          </a:p>
        </p:txBody>
      </p:sp>
      <p:sp>
        <p:nvSpPr>
          <p:cNvPr id="3" name="Content Placeholder 2"/>
          <p:cNvSpPr>
            <a:spLocks noGrp="1"/>
          </p:cNvSpPr>
          <p:nvPr>
            <p:ph sz="half" idx="1"/>
          </p:nvPr>
        </p:nvSpPr>
        <p:spPr/>
        <p:txBody>
          <a:bodyPr/>
          <a:lstStyle/>
          <a:p>
            <a:r>
              <a:t>22 Mar</a:t>
            </a:r>
          </a:p>
          <a:p>
            <a:endParaRPr/>
          </a:p>
          <a:p>
            <a:r>
              <a:t>Amazon EC2 now supports Unified Extensible Firmware Interface (UEFI) boot when migrating virtual machines from on-premise to EC2 without having to convert them to Legacy BIOS. UEFI is a modern firmware that initializes your operating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Mac Instances now support macOS Big Sur</a:t>
            </a:r>
          </a:p>
        </p:txBody>
      </p:sp>
      <p:sp>
        <p:nvSpPr>
          <p:cNvPr id="3" name="Content Placeholder 2"/>
          <p:cNvSpPr>
            <a:spLocks noGrp="1"/>
          </p:cNvSpPr>
          <p:nvPr>
            <p:ph sz="half" idx="1"/>
          </p:nvPr>
        </p:nvSpPr>
        <p:spPr/>
        <p:txBody>
          <a:bodyPr/>
          <a:lstStyle/>
          <a:p>
            <a:r>
              <a:t>23 Feb</a:t>
            </a:r>
          </a:p>
          <a:p>
            <a:endParaRPr/>
          </a:p>
          <a:p>
            <a:r>
              <a:t>Starting today, customers can run macOS Big Sur (11.2.1) as Amazon Machine Images (AMIs) on EC2 Mac instances. macOS Big Sur is the current major macOS release from Apple, and introduces multiple new capabilities and performance improvements over prior macOS versions. macOS Big Sur will support running Xcode versions 12.5 and later, which will include additional SDKs for iOS 14.5, iPadOS 14.5, tvOS 14.5, watchOS 7.4, and macOS Big Sur 11.3. Customers can now also access Amazon EFS file systems from EC2 Mac instances running macOS Big Sur.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Application Load Balancer now supports Application Cookie Stickiness</a:t>
            </a:r>
          </a:p>
        </p:txBody>
      </p:sp>
      <p:sp>
        <p:nvSpPr>
          <p:cNvPr id="3" name="Content Placeholder 2"/>
          <p:cNvSpPr>
            <a:spLocks noGrp="1"/>
          </p:cNvSpPr>
          <p:nvPr>
            <p:ph sz="half" idx="1"/>
          </p:nvPr>
        </p:nvSpPr>
        <p:spPr/>
        <p:txBody>
          <a:bodyPr/>
          <a:lstStyle/>
          <a:p>
            <a:r>
              <a:t>08 Feb</a:t>
            </a:r>
          </a:p>
          <a:p>
            <a:endParaRPr/>
          </a:p>
          <a:p>
            <a:r>
              <a:t>Application Load Balancer (ALB) now supports Application-based cookie stickiness. This new feature helps customers ensure that clients connect to the same load balancer target for the duration of their session using application cookies. This enables customers to achieve a consistent client-server experience with greater controls such as the flexibility to set custom cookie names and criteria for client-target stickiness within a target group.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 File System triples read throughput</a:t>
            </a:r>
          </a:p>
        </p:txBody>
      </p:sp>
      <p:sp>
        <p:nvSpPr>
          <p:cNvPr id="3" name="Content Placeholder 2"/>
          <p:cNvSpPr>
            <a:spLocks noGrp="1"/>
          </p:cNvSpPr>
          <p:nvPr>
            <p:ph sz="half" idx="1"/>
          </p:nvPr>
        </p:nvSpPr>
        <p:spPr/>
        <p:txBody>
          <a:bodyPr/>
          <a:lstStyle/>
          <a:p>
            <a:r>
              <a:t>29 Jan</a:t>
            </a:r>
          </a:p>
          <a:p>
            <a:endParaRPr/>
          </a:p>
          <a:p>
            <a:r>
              <a:t>Amazon Elastic File System (Amazon EFS) now allows you to drive up to 3x higher read throughput on your file system. For example, bursting mode file systems now provide 300MB/s of bursting read throughput, or 300MB/s per TiB of data stored in Amazon EFS standard, whichever is higher. If you have configured 1 GB/s of provisioned throughput, your application can now drive up to 3 GB/s for read operations (and continue to drive 1GB/s for write operations) without any application or configuration changes.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EBS announces CloudWatch metrics with 1-minute granularity on all EBS volume types</a:t>
            </a:r>
          </a:p>
        </p:txBody>
      </p:sp>
      <p:sp>
        <p:nvSpPr>
          <p:cNvPr id="3" name="Content Placeholder 2"/>
          <p:cNvSpPr>
            <a:spLocks noGrp="1"/>
          </p:cNvSpPr>
          <p:nvPr>
            <p:ph sz="half" idx="1"/>
          </p:nvPr>
        </p:nvSpPr>
        <p:spPr/>
        <p:txBody>
          <a:bodyPr/>
          <a:lstStyle/>
          <a:p>
            <a:r>
              <a:t>26 Jan</a:t>
            </a:r>
          </a:p>
          <a:p>
            <a:endParaRPr/>
          </a:p>
          <a:p>
            <a:r>
              <a:t>We are excited to announce that all Amazon Elastic Block Store (Amazon EBS) volume types now receive CloudWatch metrics with 1-minute granularity at no additional cost. You can use CloudWatch metrics to monitor the performance and status of your Amazon EBS volumes. Additionally, you can use CloudWatch alarms to automatically perform actions or send SNS Topics based on CloudWatch Metrics.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Agent Now Supports macOS on Amazon EC2 Mac instances</a:t>
            </a:r>
          </a:p>
        </p:txBody>
      </p:sp>
      <p:sp>
        <p:nvSpPr>
          <p:cNvPr id="3" name="Content Placeholder 2"/>
          <p:cNvSpPr>
            <a:spLocks noGrp="1"/>
          </p:cNvSpPr>
          <p:nvPr>
            <p:ph sz="half" idx="1"/>
          </p:nvPr>
        </p:nvSpPr>
        <p:spPr/>
        <p:txBody>
          <a:bodyPr/>
          <a:lstStyle/>
          <a:p>
            <a:r>
              <a:t>22 Jan</a:t>
            </a:r>
          </a:p>
          <a:p>
            <a:endParaRPr/>
          </a:p>
          <a:p>
            <a:r>
              <a:t>Amazon CloudWatch agent now supports macOS on Amazon EC2 Mac instances and on-premises hosts. Mac instances are the first EC2 instance type to support macOS operating system from Apple. CloudWatch collects monitoring and operational data that provides you with a unified view of data across AWS resources, applications, and services. With this launch, developers and operators can now use the CloudWatch agent to monitor macOS workloads that run on AWS and on-premises hosts.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3"/>
              </a:rPr>
              <a:t>Amazon CloudWatch Agent now supports OpenTelemetry APIs and SDKs</a:t>
            </a:r>
          </a:p>
        </p:txBody>
      </p:sp>
      <p:sp>
        <p:nvSpPr>
          <p:cNvPr id="3" name="Content Placeholder 2"/>
          <p:cNvSpPr>
            <a:spLocks noGrp="1"/>
          </p:cNvSpPr>
          <p:nvPr>
            <p:ph sz="half" idx="1"/>
          </p:nvPr>
        </p:nvSpPr>
        <p:spPr/>
        <p:txBody>
          <a:bodyPr/>
          <a:lstStyle/>
          <a:p>
            <a:r>
              <a:t>22 Jan</a:t>
            </a:r>
          </a:p>
          <a:p>
            <a:endParaRPr/>
          </a:p>
          <a:p>
            <a:r>
              <a:t>With Amazon CloudWatch agent, you can now use OpenTelemetry APIs and SDKs to send application telemetry data to CloudWatch and AWS X-Ray. This update enables the agent to receive OpenTelemetry metrics and traces from applications and services running on Amazon Elastic Compute Cloud (Amazon EC2) and is intended for existing CloudWatch agent users who want to begin monitoring applications with OpenTelemetry without installing or configuring multiple agents.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Monitor your Amazon Elastic File System (Amazon EFS) storage usage with Amazon CloudWatch</a:t>
            </a:r>
          </a:p>
        </p:txBody>
      </p:sp>
      <p:sp>
        <p:nvSpPr>
          <p:cNvPr id="3" name="Content Placeholder 2"/>
          <p:cNvSpPr>
            <a:spLocks noGrp="1"/>
          </p:cNvSpPr>
          <p:nvPr>
            <p:ph sz="half" idx="1"/>
          </p:nvPr>
        </p:nvSpPr>
        <p:spPr/>
        <p:txBody>
          <a:bodyPr/>
          <a:lstStyle/>
          <a:p>
            <a:r>
              <a:t>11 Jan</a:t>
            </a:r>
          </a:p>
          <a:p>
            <a:endParaRPr/>
          </a:p>
          <a:p>
            <a:r>
              <a:t>You can now monitor the storage size of your Amazon Elastic File System (Amazon EFS) resources using Amazon CloudWatch. Using the Amazon EFS or Amazon CloudWatch consoles, you can view your file system's storage size over time, including size in each of the EFS storage classes  - EFS Standard, and the cost-optimized EFS Infrequent Access.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Introducing AWS Transfer Family support for Amazon Elastic File System</a:t>
            </a:r>
          </a:p>
        </p:txBody>
      </p:sp>
      <p:sp>
        <p:nvSpPr>
          <p:cNvPr id="3" name="Content Placeholder 2"/>
          <p:cNvSpPr>
            <a:spLocks noGrp="1"/>
          </p:cNvSpPr>
          <p:nvPr>
            <p:ph sz="half" idx="1"/>
          </p:nvPr>
        </p:nvSpPr>
        <p:spPr/>
        <p:txBody>
          <a:bodyPr>
            <a:normAutofit lnSpcReduction="10000"/>
          </a:bodyPr>
          <a:lstStyle/>
          <a:p>
            <a:r>
              <a:t>07 Jan</a:t>
            </a:r>
          </a:p>
          <a:p>
            <a:endParaRPr/>
          </a:p>
          <a:p>
            <a:r>
              <a:t>AWS Transfer Family now supports file transfers for Amazon Elastic File System (Amazon EFS) file systems, enabling AWS Transfer Family customers to easily and securely provide their business partners and end customers access to files stored in Amazon EFS file systems for use cases such as data distribution, supply chain workflows, content management, and web serving applications. With this launch, you can use AWS Transfer Family and Amazon EFS to migrate your file transfer workflows that rely on file storage without impacting your end users or application integrations, while eliminating the need to manage any file transfer infrastructure.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Comprehend now identifies documents that contain personally identifiable information (PII)</a:t>
            </a:r>
          </a:p>
        </p:txBody>
      </p:sp>
      <p:sp>
        <p:nvSpPr>
          <p:cNvPr id="3" name="Content Placeholder 2"/>
          <p:cNvSpPr>
            <a:spLocks noGrp="1"/>
          </p:cNvSpPr>
          <p:nvPr>
            <p:ph sz="half" idx="1"/>
          </p:nvPr>
        </p:nvSpPr>
        <p:spPr/>
        <p:txBody>
          <a:bodyPr/>
          <a:lstStyle/>
          <a:p>
            <a:r>
              <a:t>17 Mar</a:t>
            </a:r>
          </a:p>
          <a:p>
            <a:endParaRPr/>
          </a:p>
          <a:p>
            <a:r>
              <a:t>Amazon Comprehend now supports identification of text documents that contain personally identifiable information (PII). You can use Amazon Comprehend’s Contains PII API synchronously to discover documents that contain PII, to set up alarms and control access on documents with sensitive information. Amazon Comprehend’s machine learning models find documents that contain PII information such as social security numbers, credit card numbers, and email addresses and allow you to target the PII of your choice.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Announcing support for multiple containers on Amazon SageMaker Inference endpoints, leading to cost savings of up to 80%</a:t>
            </a:r>
          </a:p>
        </p:txBody>
      </p:sp>
      <p:sp>
        <p:nvSpPr>
          <p:cNvPr id="3" name="Content Placeholder 2"/>
          <p:cNvSpPr>
            <a:spLocks noGrp="1"/>
          </p:cNvSpPr>
          <p:nvPr>
            <p:ph sz="half" idx="1"/>
          </p:nvPr>
        </p:nvSpPr>
        <p:spPr/>
        <p:txBody>
          <a:bodyPr>
            <a:normAutofit lnSpcReduction="10000"/>
          </a:bodyPr>
          <a:lstStyle/>
          <a:p>
            <a:r>
              <a:t>16 Mar</a:t>
            </a:r>
          </a:p>
          <a:p>
            <a:endParaRPr/>
          </a:p>
          <a:p>
            <a:r>
              <a:t>Amazon SageMaker now supports deploying multiple containers on real-time endpoints for low latency inferences and invoking them independently for each request. This new capability enables you to run up to five different machine learning (ML) models and frameworks on a single endpoint and save up to 80% in costs. This option is ideal when you have multiple ML models with similar resource needs and when individual models don't have sufficient traffic to utilize the full capacity of the endpoint instances. For example, if you have a set of ML models that are invoked infrequently or at different times, or if you have dev/test endpoints.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Release 5.32 now supports Amazon EMR on EKS, and EMR Studio Preview</a:t>
            </a:r>
          </a:p>
        </p:txBody>
      </p:sp>
      <p:sp>
        <p:nvSpPr>
          <p:cNvPr id="3" name="Content Placeholder 2"/>
          <p:cNvSpPr>
            <a:spLocks noGrp="1"/>
          </p:cNvSpPr>
          <p:nvPr>
            <p:ph sz="half" idx="1"/>
          </p:nvPr>
        </p:nvSpPr>
        <p:spPr/>
        <p:txBody>
          <a:bodyPr/>
          <a:lstStyle/>
          <a:p>
            <a:r>
              <a:t>13 Jan</a:t>
            </a:r>
          </a:p>
          <a:p>
            <a:endParaRPr/>
          </a:p>
          <a:p>
            <a:r>
              <a:t>Amazon EMR Release 5.32 now supports Amazon EMR on EKS. For more details on getting started with EMR on EKS, please see our documentation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Studio jobs can now update AWS Glue Data Catalog tables</a:t>
            </a:r>
          </a:p>
        </p:txBody>
      </p:sp>
      <p:sp>
        <p:nvSpPr>
          <p:cNvPr id="3" name="Content Placeholder 2"/>
          <p:cNvSpPr>
            <a:spLocks noGrp="1"/>
          </p:cNvSpPr>
          <p:nvPr>
            <p:ph sz="half" idx="1"/>
          </p:nvPr>
        </p:nvSpPr>
        <p:spPr/>
        <p:txBody>
          <a:bodyPr/>
          <a:lstStyle/>
          <a:p>
            <a:r>
              <a:t>17 Feb</a:t>
            </a:r>
          </a:p>
          <a:p>
            <a:endParaRPr/>
          </a:p>
          <a:p>
            <a:r>
              <a:t>AWS Glue Studio now supports updating the AWS Glue Data Catalog during job runs. This feature makes it easy to keep your tables up to date as AWS Glue writes new data into Amazon S3, making the data immediately queryable from any analytics service compatible with the AWS Glue Data Catalog.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Studio now supports reading uncatalogued data from Amazon S3 and inferring its schema</a:t>
            </a:r>
          </a:p>
        </p:txBody>
      </p:sp>
      <p:sp>
        <p:nvSpPr>
          <p:cNvPr id="3" name="Content Placeholder 2"/>
          <p:cNvSpPr>
            <a:spLocks noGrp="1"/>
          </p:cNvSpPr>
          <p:nvPr>
            <p:ph sz="half" idx="1"/>
          </p:nvPr>
        </p:nvSpPr>
        <p:spPr/>
        <p:txBody>
          <a:bodyPr/>
          <a:lstStyle/>
          <a:p>
            <a:r>
              <a:t>17 Feb</a:t>
            </a:r>
          </a:p>
          <a:p>
            <a:endParaRPr/>
          </a:p>
          <a:p>
            <a:r>
              <a:t>AWS Glue now supports reading data stored in Amazon S3 without first adding it to the AWS Glue Data Catalog. This feature makes it fast to start authoring Extract, Transform, and Load (ETL) and ELT jobs in AWS Glue Studio by allowing you to use locations and objects in Amazon S3 directly as data sources. AWS Glue infers the schema of the data in real time , allowing you to easily define transforms on it in the AWS Glue Studio visual job authoring interface.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Step Functions adds support for AWS Glue DataBrew jobs to prepare data in analytics and machine learning workflows</a:t>
            </a:r>
          </a:p>
        </p:txBody>
      </p:sp>
      <p:sp>
        <p:nvSpPr>
          <p:cNvPr id="3" name="Content Placeholder 2"/>
          <p:cNvSpPr>
            <a:spLocks noGrp="1"/>
          </p:cNvSpPr>
          <p:nvPr>
            <p:ph sz="half" idx="1"/>
          </p:nvPr>
        </p:nvSpPr>
        <p:spPr/>
        <p:txBody>
          <a:bodyPr/>
          <a:lstStyle/>
          <a:p>
            <a:r>
              <a:t>06 Jan</a:t>
            </a:r>
          </a:p>
          <a:p>
            <a:endParaRPr/>
          </a:p>
          <a:p>
            <a:r>
              <a:t>You can now include AWS Glue DataBrew data preparation jobs in your workflows created using AWS Step Functions. This saves you time and allows you to orchestrate cleaning and data normalization steps into your analytics and machine learning workflows.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supports transformations for seven additional datatypes</a:t>
            </a:r>
          </a:p>
        </p:txBody>
      </p:sp>
      <p:sp>
        <p:nvSpPr>
          <p:cNvPr id="3" name="Content Placeholder 2"/>
          <p:cNvSpPr>
            <a:spLocks noGrp="1"/>
          </p:cNvSpPr>
          <p:nvPr>
            <p:ph sz="half" idx="1"/>
          </p:nvPr>
        </p:nvSpPr>
        <p:spPr/>
        <p:txBody>
          <a:bodyPr/>
          <a:lstStyle/>
          <a:p>
            <a:r>
              <a:t>11 Feb</a:t>
            </a:r>
          </a:p>
          <a:p>
            <a:endParaRPr/>
          </a:p>
          <a:p>
            <a:r>
              <a:t>AWS Glue DataBrew now supports seven additional numeric data types including Byte, Short, Integer, Long, Float, Double, and Decimal. Customers can now cast columns in these in addition to Timestamp and Date data types.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reduces cluster creation time by 40%</a:t>
            </a:r>
          </a:p>
        </p:txBody>
      </p:sp>
      <p:sp>
        <p:nvSpPr>
          <p:cNvPr id="3" name="Content Placeholder 2"/>
          <p:cNvSpPr>
            <a:spLocks noGrp="1"/>
          </p:cNvSpPr>
          <p:nvPr>
            <p:ph sz="half" idx="1"/>
          </p:nvPr>
        </p:nvSpPr>
        <p:spPr/>
        <p:txBody>
          <a:bodyPr/>
          <a:lstStyle/>
          <a:p>
            <a:r>
              <a:t>19 Mar</a:t>
            </a:r>
          </a:p>
          <a:p>
            <a:endParaRPr/>
          </a:p>
          <a:p>
            <a:r>
              <a:t>Amazon Elastic Kubernetes Service (EKS) has reduced new cluster creation time by 40%, enabling you to create an EKS cluster in 9 minutes or less, on average.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ECS now allows you to execute commands in a container running on Amazon EC2 or AWS Fargate</a:t>
            </a:r>
          </a:p>
        </p:txBody>
      </p:sp>
      <p:sp>
        <p:nvSpPr>
          <p:cNvPr id="3" name="Content Placeholder 2"/>
          <p:cNvSpPr>
            <a:spLocks noGrp="1"/>
          </p:cNvSpPr>
          <p:nvPr>
            <p:ph sz="half" idx="1"/>
          </p:nvPr>
        </p:nvSpPr>
        <p:spPr/>
        <p:txBody>
          <a:bodyPr/>
          <a:lstStyle/>
          <a:p>
            <a:r>
              <a:t>15 Mar</a:t>
            </a:r>
          </a:p>
          <a:p>
            <a:endParaRPr/>
          </a:p>
          <a:p>
            <a:r>
              <a:t>Amazon Elastic Container Service (Amazon ECS) introduces Amazon ECS Exec - a simple, secure, and auditable way for customers to execute commands in a container running on Amazon Elastic Compute Cloud (Amazon EC2) instances or AWS Fargate. ECS Exec gives you interactive shell or single command access to a running container making it easier to debug issues, diagnose errors, collect one-off dumps and statistics, and interact with processes in the container.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Fargate updates platform version 1.4.0 to be the LATEST version</a:t>
            </a:r>
          </a:p>
        </p:txBody>
      </p:sp>
      <p:sp>
        <p:nvSpPr>
          <p:cNvPr id="3" name="Content Placeholder 2"/>
          <p:cNvSpPr>
            <a:spLocks noGrp="1"/>
          </p:cNvSpPr>
          <p:nvPr>
            <p:ph sz="half" idx="1"/>
          </p:nvPr>
        </p:nvSpPr>
        <p:spPr/>
        <p:txBody>
          <a:bodyPr/>
          <a:lstStyle/>
          <a:p>
            <a:r>
              <a:t>19 Mar</a:t>
            </a:r>
          </a:p>
          <a:p>
            <a:endParaRPr/>
          </a:p>
          <a:p>
            <a:r>
              <a:t>AWS Fargate platform version 1.4.0 is now the LATEST version. All new Amazon Elastic Container Service (Amazon ECS) Tasks or ECS Services that use the Fargate launch type and have the platformVersion parameter set to LATEST or not specified will run on platform version 1.4.0. The new version has features such as Amazon Elastic File System support and Amazon ECS Exec.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EKS now supports creation and management of add-ons using AWS CloudFormation</a:t>
            </a:r>
          </a:p>
        </p:txBody>
      </p:sp>
      <p:sp>
        <p:nvSpPr>
          <p:cNvPr id="3" name="Content Placeholder 2"/>
          <p:cNvSpPr>
            <a:spLocks noGrp="1"/>
          </p:cNvSpPr>
          <p:nvPr>
            <p:ph sz="half" idx="1"/>
          </p:nvPr>
        </p:nvSpPr>
        <p:spPr/>
        <p:txBody>
          <a:bodyPr/>
          <a:lstStyle/>
          <a:p>
            <a:r>
              <a:t>05 Mar</a:t>
            </a:r>
          </a:p>
          <a:p>
            <a:endParaRPr/>
          </a:p>
          <a:p>
            <a:r>
              <a:t>Amazon Elastic Kubernetes Service (EKS) now allows you to create and manage EKS add-ons using AWS CloudFormation. EKS add-ons provide lifecycle management for Kubernetes operational software, making it easy to consistently start and update common and critical add-on software for your EKS clusters.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Proton now supports tagging capabilities</a:t>
            </a:r>
          </a:p>
        </p:txBody>
      </p:sp>
      <p:sp>
        <p:nvSpPr>
          <p:cNvPr id="3" name="Content Placeholder 2"/>
          <p:cNvSpPr>
            <a:spLocks noGrp="1"/>
          </p:cNvSpPr>
          <p:nvPr>
            <p:ph sz="half" idx="1"/>
          </p:nvPr>
        </p:nvSpPr>
        <p:spPr/>
        <p:txBody>
          <a:bodyPr/>
          <a:lstStyle/>
          <a:p>
            <a:r>
              <a:t>05 Mar</a:t>
            </a:r>
          </a:p>
          <a:p>
            <a:endParaRPr/>
          </a:p>
          <a:p>
            <a:r>
              <a:t>AWS Proton now supports tagging of AWS Proton resources and tag-based access control. AWS Proton also tags all provisioned resources automatically with identifiers. You can now group and control your AWS Proton resources using tags, and track down all AWS resources provisioned through AWS Proton, including their costs.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Config now supports Amazon container services</a:t>
            </a:r>
          </a:p>
        </p:txBody>
      </p:sp>
      <p:sp>
        <p:nvSpPr>
          <p:cNvPr id="3" name="Content Placeholder 2"/>
          <p:cNvSpPr>
            <a:spLocks noGrp="1"/>
          </p:cNvSpPr>
          <p:nvPr>
            <p:ph sz="half" idx="1"/>
          </p:nvPr>
        </p:nvSpPr>
        <p:spPr/>
        <p:txBody>
          <a:bodyPr>
            <a:normAutofit lnSpcReduction="10000"/>
          </a:bodyPr>
          <a:lstStyle/>
          <a:p>
            <a:r>
              <a:t>26 Feb</a:t>
            </a:r>
          </a:p>
          <a:p>
            <a:endParaRPr/>
          </a:p>
          <a:p>
            <a:r>
              <a:t>AWS Config now supports Amazon Elastic Container Service (Amazon ECS), Amazon Elastic Container Registry (Amazon ECR), and Amazon Elastic Kubernetes Service (Amazon EKS) in all AWS Regions. With this launch, you can now use AWS Config to monitor configuration data for container-based resources in your AWS account, such as monitoring configuration changes to EKS cluster settings and tracking compliance for cluster configurations. AWS Config provides a detailed view of the configuration of AWS resources in your AWS account, including how resources were configured, how they relate to one another, and how the configurations and relationships change over time.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AWS App Mesh Controller for Kubernetes version 1.3.0 with mTLS support</a:t>
            </a:r>
          </a:p>
        </p:txBody>
      </p:sp>
      <p:sp>
        <p:nvSpPr>
          <p:cNvPr id="3" name="Content Placeholder 2"/>
          <p:cNvSpPr>
            <a:spLocks noGrp="1"/>
          </p:cNvSpPr>
          <p:nvPr>
            <p:ph sz="half" idx="1"/>
          </p:nvPr>
        </p:nvSpPr>
        <p:spPr/>
        <p:txBody>
          <a:bodyPr/>
          <a:lstStyle/>
          <a:p>
            <a:r>
              <a:t>04 Feb</a:t>
            </a:r>
          </a:p>
          <a:p>
            <a:endParaRPr/>
          </a:p>
          <a:p>
            <a:r>
              <a:t>AWS App Mesh Controller for Kubernetes v1.3.0 is now available and includes support for mTLS (mutual Transport Layer Security) authentication on App Mesh. The AWS App Mesh Controller for Kubernetes provides a way to configure and manage AWS App Mesh using Kubernetes directly. AWS App Mesh is a service mesh that provides application-level networking to standardize how your services communicate, giving you end-to-end visibility and allowing high availability for your applications.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ECS announces increased service quotas for tasks per service and services per cluster</a:t>
            </a:r>
          </a:p>
        </p:txBody>
      </p:sp>
      <p:sp>
        <p:nvSpPr>
          <p:cNvPr id="3" name="Content Placeholder 2"/>
          <p:cNvSpPr>
            <a:spLocks noGrp="1"/>
          </p:cNvSpPr>
          <p:nvPr>
            <p:ph sz="half" idx="1"/>
          </p:nvPr>
        </p:nvSpPr>
        <p:spPr/>
        <p:txBody>
          <a:bodyPr/>
          <a:lstStyle/>
          <a:p>
            <a:r>
              <a:t>21 Jan</a:t>
            </a:r>
          </a:p>
          <a:p>
            <a:endParaRPr/>
          </a:p>
          <a:p>
            <a:r>
              <a:t>Amazon Elastic Container Service (Amazon ECS) today increased the default service quotas for ECS tasks per service and services per cluster. You can now launch up to 5,000 tasks per service and 5,000 services per cluster, an increase from 2,000 each.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Fargate increases default resource count service quotas to 1000</a:t>
            </a:r>
          </a:p>
        </p:txBody>
      </p:sp>
      <p:sp>
        <p:nvSpPr>
          <p:cNvPr id="3" name="Content Placeholder 2"/>
          <p:cNvSpPr>
            <a:spLocks noGrp="1"/>
          </p:cNvSpPr>
          <p:nvPr>
            <p:ph sz="half" idx="1"/>
          </p:nvPr>
        </p:nvSpPr>
        <p:spPr/>
        <p:txBody>
          <a:bodyPr>
            <a:normAutofit lnSpcReduction="10000"/>
          </a:bodyPr>
          <a:lstStyle/>
          <a:p>
            <a:r>
              <a:t>16 Feb</a:t>
            </a:r>
          </a:p>
          <a:p>
            <a:endParaRPr/>
          </a:p>
          <a:p>
            <a:r>
              <a:t>AWS Fargate recently increased default service quotas to 500 and starting today you can launch up to 1000 concurrent Amazon Elastic Container Service (ECS) tasks and Amazon Elastic Kubernetes Service (EKS) pods running on Fargate On-Demand and 1000 concurrent Amazon ECS tasks running on Fargate Spot. These are default quotas (also commonly known as limits) for an account in a given AWS Region, but you can always raise these values even further to meet your application needs by requesting a quota increase. This makes it even more seamless to run your workloads at scale on Fargate, the serverless compute engine for containers that works with Amazon ECS, Amazon EKS, and AWS Batch.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ECS now supports VPC Endpoint policies</a:t>
            </a:r>
          </a:p>
        </p:txBody>
      </p:sp>
      <p:sp>
        <p:nvSpPr>
          <p:cNvPr id="3" name="Content Placeholder 2"/>
          <p:cNvSpPr>
            <a:spLocks noGrp="1"/>
          </p:cNvSpPr>
          <p:nvPr>
            <p:ph sz="half" idx="1"/>
          </p:nvPr>
        </p:nvSpPr>
        <p:spPr/>
        <p:txBody>
          <a:bodyPr/>
          <a:lstStyle/>
          <a:p>
            <a:r>
              <a:t>19 Jan</a:t>
            </a:r>
          </a:p>
          <a:p>
            <a:endParaRPr/>
          </a:p>
          <a:p>
            <a:r>
              <a:t>Amazon Elastic Container Service (ECS) now lets you attach IAM resource policies to VPC Endpoints. This allows you to control access to your ECS resources from VPC Endpoints, helping you meet compliance and regulatory requirements.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MySQL now supports rollback protection for database major version upgrades</a:t>
            </a:r>
          </a:p>
        </p:txBody>
      </p:sp>
      <p:sp>
        <p:nvSpPr>
          <p:cNvPr id="3" name="Content Placeholder 2"/>
          <p:cNvSpPr>
            <a:spLocks noGrp="1"/>
          </p:cNvSpPr>
          <p:nvPr>
            <p:ph sz="half" idx="1"/>
          </p:nvPr>
        </p:nvSpPr>
        <p:spPr/>
        <p:txBody>
          <a:bodyPr/>
          <a:lstStyle/>
          <a:p>
            <a:r>
              <a:t>18 Mar</a:t>
            </a:r>
          </a:p>
          <a:p>
            <a:endParaRPr/>
          </a:p>
          <a:p>
            <a:r>
              <a:t>Amazon Relational Database Service (Amazon RDS) for MySQL now offers rollback protection for major version upgrades.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Proxy now supports database connectivity from multiple Amazon VPCs</a:t>
            </a:r>
          </a:p>
        </p:txBody>
      </p:sp>
      <p:sp>
        <p:nvSpPr>
          <p:cNvPr id="3" name="Content Placeholder 2"/>
          <p:cNvSpPr>
            <a:spLocks noGrp="1"/>
          </p:cNvSpPr>
          <p:nvPr>
            <p:ph sz="half" idx="1"/>
          </p:nvPr>
        </p:nvSpPr>
        <p:spPr/>
        <p:txBody>
          <a:bodyPr/>
          <a:lstStyle/>
          <a:p>
            <a:r>
              <a:t>16 Mar</a:t>
            </a:r>
          </a:p>
          <a:p>
            <a:endParaRPr/>
          </a:p>
          <a:p>
            <a:r>
              <a:t>Amazon RDS Proxy now lets you create additional endpoints each with their own VPC settings, enabling access to your Aurora or RDS databases from applications in a different VPC.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Proxy adds read-only endpoints for Amazon Aurora Replicas</a:t>
            </a:r>
          </a:p>
        </p:txBody>
      </p:sp>
      <p:sp>
        <p:nvSpPr>
          <p:cNvPr id="3" name="Content Placeholder 2"/>
          <p:cNvSpPr>
            <a:spLocks noGrp="1"/>
          </p:cNvSpPr>
          <p:nvPr>
            <p:ph sz="half" idx="1"/>
          </p:nvPr>
        </p:nvSpPr>
        <p:spPr/>
        <p:txBody>
          <a:bodyPr/>
          <a:lstStyle/>
          <a:p>
            <a:r>
              <a:t>16 Mar</a:t>
            </a:r>
          </a:p>
          <a:p>
            <a:endParaRPr/>
          </a:p>
          <a:p>
            <a:r>
              <a:t>Amazon RDS Proxy now lets you create an additional read-only endpoint to connect your application to Amazon Aurora Replicas. In some cases, RDS Proxy helps improve application scalability, resiliency, and security. These benefits can extend to your Aurora Replicas when connected through the RDS Proxy. To learn about Aurora Replicas, see our documentation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Achieve up to 35% better price/performance with Amazon Aurora using new Graviton2 instances</a:t>
            </a:r>
          </a:p>
        </p:txBody>
      </p:sp>
      <p:sp>
        <p:nvSpPr>
          <p:cNvPr id="3" name="Content Placeholder 2"/>
          <p:cNvSpPr>
            <a:spLocks noGrp="1"/>
          </p:cNvSpPr>
          <p:nvPr>
            <p:ph sz="half" idx="1"/>
          </p:nvPr>
        </p:nvSpPr>
        <p:spPr/>
        <p:txBody>
          <a:bodyPr>
            <a:normAutofit fontScale="92500"/>
          </a:bodyPr>
          <a:lstStyle/>
          <a:p>
            <a:r>
              <a:t>12 Mar</a:t>
            </a:r>
          </a:p>
          <a:p>
            <a:endParaRPr/>
          </a:p>
          <a:p>
            <a:r>
              <a:t>AWS Graviton2-based database instances are now generally available for Amazon Aurora PostgreSQL Compatible Edition and Amazon Aurora MySQL Compatible Edition. Graviton2 instances provide up to 20% performance improvement and up to 35% price/performance improvement for Aurora depending on database size. You can also mix and match Graviton2 R6g and Intel R5 instances within the same cluster for your primary instance or for your read replica, enabling you to maximize price/performance improvements based on workload requirements. Graviton2 instances are already generally available for Amazon RDS for MySQL, Amazon RDS for PostgreSQL, and Amazon RDS for MariaDB.</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(for Apache Cassandra) now supports PCI DSS compliance to help you run payment processing workloads more easily</a:t>
            </a:r>
          </a:p>
        </p:txBody>
      </p:sp>
      <p:sp>
        <p:nvSpPr>
          <p:cNvPr id="3" name="Content Placeholder 2"/>
          <p:cNvSpPr>
            <a:spLocks noGrp="1"/>
          </p:cNvSpPr>
          <p:nvPr>
            <p:ph sz="half" idx="1"/>
          </p:nvPr>
        </p:nvSpPr>
        <p:spPr/>
        <p:txBody>
          <a:bodyPr/>
          <a:lstStyle/>
          <a:p>
            <a:r>
              <a:t>15 Feb</a:t>
            </a:r>
          </a:p>
          <a:p>
            <a:endParaRPr/>
          </a:p>
          <a:p>
            <a:r>
              <a:t>Amazon Keyspaces (for Apache Cassandra), a scalable, highly available, and fully managed Cassandra-compatible database service, now supports Payment Card Industry Data Security Standard (PCI DSS) compliance to help you run payment processing workloads more easily.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You now can use PartiQL with DynamoDB local to query, insert, update, and delete table data in Amazon DynamoDB</a:t>
            </a:r>
          </a:p>
        </p:txBody>
      </p:sp>
      <p:sp>
        <p:nvSpPr>
          <p:cNvPr id="3" name="Content Placeholder 2"/>
          <p:cNvSpPr>
            <a:spLocks noGrp="1"/>
          </p:cNvSpPr>
          <p:nvPr>
            <p:ph sz="half" idx="1"/>
          </p:nvPr>
        </p:nvSpPr>
        <p:spPr/>
        <p:txBody>
          <a:bodyPr/>
          <a:lstStyle/>
          <a:p>
            <a:r>
              <a:t>08 Feb</a:t>
            </a:r>
          </a:p>
          <a:p>
            <a:endParaRPr/>
          </a:p>
          <a:p>
            <a:r>
              <a:t>DynamoDB local  now supports PartiQL  (a SQL-compatible query language) so that you can query, insert, update, and delete DynamoDB table data. PartiQL is supported for all DynamoDB data-plane operations, and it helps improve the productivity of developers as they use this familiar, structured query language to perform operations. Developers can use PartiQL to develop applications, and test them offline before deploying them to production.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PostgreSQL 12</a:t>
            </a:r>
          </a:p>
        </p:txBody>
      </p:sp>
      <p:sp>
        <p:nvSpPr>
          <p:cNvPr id="3" name="Content Placeholder 2"/>
          <p:cNvSpPr>
            <a:spLocks noGrp="1"/>
          </p:cNvSpPr>
          <p:nvPr>
            <p:ph sz="half" idx="1"/>
          </p:nvPr>
        </p:nvSpPr>
        <p:spPr/>
        <p:txBody>
          <a:bodyPr/>
          <a:lstStyle/>
          <a:p>
            <a:r>
              <a:t>28 Jan</a:t>
            </a:r>
          </a:p>
          <a:p>
            <a:endParaRPr/>
          </a:p>
          <a:p>
            <a:r>
              <a:t>Amazon Aurora with PostgreSQL compatibility now supports major version 12. PostgreSQL 12  includes better index management, improved partitioning capabilities, and the ability to execute JSON path queries per SQL/JSON specifications. It also enables nondeterministic collations that support case-insensitive and accent-insensitive comparisons for ICU provided collations, most common-value statistics for improved query plans, creation of generated columns that compute values with an expression, and many additional features.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Timestream can now be used for workloads subject to HIPAA, ISO, and PCI DSS</a:t>
            </a:r>
          </a:p>
        </p:txBody>
      </p:sp>
      <p:sp>
        <p:nvSpPr>
          <p:cNvPr id="3" name="Content Placeholder 2"/>
          <p:cNvSpPr>
            <a:spLocks noGrp="1"/>
          </p:cNvSpPr>
          <p:nvPr>
            <p:ph sz="half" idx="1"/>
          </p:nvPr>
        </p:nvSpPr>
        <p:spPr/>
        <p:txBody>
          <a:bodyPr/>
          <a:lstStyle/>
          <a:p>
            <a:r>
              <a:t>27 Jan</a:t>
            </a:r>
          </a:p>
          <a:p>
            <a:endParaRPr/>
          </a:p>
          <a:p>
            <a:r>
              <a:t>Today, Amazon Web Services (AWS) announced Amazon Timestream can now be used for workloads that are subject to Health Insurance Portability and Accountability Act (HIPAA), International Organization for Standardization (ISO), and Payment Card Industry – Data Security Standard (PCI DSS).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Backup adds support for continuous backup and point-in-time recovery of Amazon RDS instances</a:t>
            </a:r>
          </a:p>
        </p:txBody>
      </p:sp>
      <p:sp>
        <p:nvSpPr>
          <p:cNvPr id="3" name="Content Placeholder 2"/>
          <p:cNvSpPr>
            <a:spLocks noGrp="1"/>
          </p:cNvSpPr>
          <p:nvPr>
            <p:ph sz="half" idx="1"/>
          </p:nvPr>
        </p:nvSpPr>
        <p:spPr/>
        <p:txBody>
          <a:bodyPr/>
          <a:lstStyle/>
          <a:p>
            <a:r>
              <a:rPr dirty="0"/>
              <a:t>10 Mar</a:t>
            </a:r>
          </a:p>
          <a:p>
            <a:endParaRPr dirty="0"/>
          </a:p>
          <a:p>
            <a:r>
              <a:rPr dirty="0"/>
              <a:t>AWS Backup adds support for continuous backups and point-in-time recovery (PITR) of Amazon Relational Database (Amazon RDS) instances. You can now streamline your backup planning, management, and access control to Amazon RDS continuous backups in addition to the existing support of scheduled Amazon RDS snapshots.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S3 now supports AWS PrivateLink</a:t>
            </a:r>
          </a:p>
        </p:txBody>
      </p:sp>
      <p:sp>
        <p:nvSpPr>
          <p:cNvPr id="3" name="Content Placeholder 2"/>
          <p:cNvSpPr>
            <a:spLocks noGrp="1"/>
          </p:cNvSpPr>
          <p:nvPr>
            <p:ph sz="half" idx="1"/>
          </p:nvPr>
        </p:nvSpPr>
        <p:spPr/>
        <p:txBody>
          <a:bodyPr/>
          <a:lstStyle/>
          <a:p>
            <a:r>
              <a:rPr dirty="0"/>
              <a:t>02 Feb</a:t>
            </a:r>
          </a:p>
          <a:p>
            <a:endParaRPr dirty="0"/>
          </a:p>
          <a:p>
            <a:r>
              <a:rPr dirty="0"/>
              <a:t>Amazon S3 now supports AWS </a:t>
            </a:r>
            <a:r>
              <a:rPr dirty="0" err="1"/>
              <a:t>PrivateLink</a:t>
            </a:r>
            <a:r>
              <a:rPr dirty="0"/>
              <a:t>, providing direct access to S3 via a private endpoint within your virtual private network. Simplify your network architecture by connecting to S3 from on-premises or in AWS using private IP addresses in your Virtual Private Cloud (VPC), eliminating the need to use public IPs, configure firewall rules, or configure an Internet Gateway to access S3 from on-premises.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Glacier announces a 40% price reduction for PUT and Lifecycle requests</a:t>
            </a:r>
          </a:p>
        </p:txBody>
      </p:sp>
      <p:sp>
        <p:nvSpPr>
          <p:cNvPr id="3" name="Content Placeholder 2"/>
          <p:cNvSpPr>
            <a:spLocks noGrp="1"/>
          </p:cNvSpPr>
          <p:nvPr>
            <p:ph sz="half" idx="1"/>
          </p:nvPr>
        </p:nvSpPr>
        <p:spPr/>
        <p:txBody>
          <a:bodyPr/>
          <a:lstStyle/>
          <a:p>
            <a:r>
              <a:t>15 Mar</a:t>
            </a:r>
          </a:p>
          <a:p>
            <a:endParaRPr/>
          </a:p>
          <a:p>
            <a:r>
              <a:t>Amazon S3 is reducing the cost to move data to Amazon S3 Glacier by lowering PUT and Lifecycle request charges by 40% for all AWS Regions. You can use the S3 PUT API to directly store compliance and backup data in S3 Glacier that does not require immediate access. You can also use S3 Lifecycle  policies to move data from S3 Standard, S3 Standard-Infrequent Access, or S3 One Zone-Infrequent Access to S3 Glacier to save on storage costs when data becomes rarely accessed.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S3 Object Lambda allows you to add your own code to S3 GET requests to modify and process data as it is returned to an application</a:t>
            </a:r>
          </a:p>
        </p:txBody>
      </p:sp>
      <p:sp>
        <p:nvSpPr>
          <p:cNvPr id="3" name="Content Placeholder 2"/>
          <p:cNvSpPr>
            <a:spLocks noGrp="1"/>
          </p:cNvSpPr>
          <p:nvPr>
            <p:ph sz="half" idx="1"/>
          </p:nvPr>
        </p:nvSpPr>
        <p:spPr/>
        <p:txBody>
          <a:bodyPr/>
          <a:lstStyle/>
          <a:p>
            <a:r>
              <a:t>18 Mar</a:t>
            </a:r>
          </a:p>
          <a:p>
            <a:endParaRPr/>
          </a:p>
          <a:p>
            <a:r>
              <a:t>With S3 Object Lambda you can add your own code to S3 GET requests to modify and process data as it is returned to an application. For the first time, you can use custom code to modify the data returned by standard S3 GET requests to filter rows, dynamically resize images, redact confidential data, and much more.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now extends governance to existing OUs in your AWS Organizations</a:t>
            </a:r>
          </a:p>
        </p:txBody>
      </p:sp>
      <p:sp>
        <p:nvSpPr>
          <p:cNvPr id="3" name="Content Placeholder 2"/>
          <p:cNvSpPr>
            <a:spLocks noGrp="1"/>
          </p:cNvSpPr>
          <p:nvPr>
            <p:ph sz="half" idx="1"/>
          </p:nvPr>
        </p:nvSpPr>
        <p:spPr/>
        <p:txBody>
          <a:bodyPr/>
          <a:lstStyle/>
          <a:p>
            <a:r>
              <a:t>28 Jan</a:t>
            </a:r>
          </a:p>
          <a:p>
            <a:endParaRPr/>
          </a:p>
          <a:p>
            <a:r>
              <a:t>You can now extend AWS Control Tower governance to existing AWS organizational units (OUs) from within the AWS Control Tower console. This feature allows you to bring your top-level OUs and included accounts under AWS Control Tower governance. When you register an Organizational Unit, AWS Control Tower will perform a series of checks to ensure successful extension of governance and enrollment of accounts within the OU.</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AWS Audit Manager now supports CIS AWS Foundations Benchmark v1.3.0, Level 1 and 2 as a new standard framework</a:t>
            </a:r>
          </a:p>
        </p:txBody>
      </p:sp>
      <p:sp>
        <p:nvSpPr>
          <p:cNvPr id="3" name="Content Placeholder 2"/>
          <p:cNvSpPr>
            <a:spLocks noGrp="1"/>
          </p:cNvSpPr>
          <p:nvPr>
            <p:ph sz="half" idx="1"/>
          </p:nvPr>
        </p:nvSpPr>
        <p:spPr/>
        <p:txBody>
          <a:bodyPr/>
          <a:lstStyle/>
          <a:p>
            <a:r>
              <a:t>22 Mar</a:t>
            </a:r>
          </a:p>
          <a:p>
            <a:endParaRPr/>
          </a:p>
          <a:p>
            <a:r>
              <a:t>AWS Audit Manager now supports the CIS Benchmark for CIS Amazon Web Services Foundations Benchmark v1.3.0, Level 1 and 2 as a new prebuilt standard framework. This framework adds to the existing prebuilt frameworks  provided in Audit Manager. With this release, you can launch an assessment from this framework with just a few clicks. Audit Manager will map your AWS resources to the requirements in the CIS AWS Foundations Benchmark and start gathering evidence automatically to help you scale your audit capability in the cloud as your business grows.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IAM Access Analyzer now supports over 100 policy checks with actionable recommendations to help you author secure and functional policies</a:t>
            </a:r>
          </a:p>
        </p:txBody>
      </p:sp>
      <p:sp>
        <p:nvSpPr>
          <p:cNvPr id="3" name="Content Placeholder 2"/>
          <p:cNvSpPr>
            <a:spLocks noGrp="1"/>
          </p:cNvSpPr>
          <p:nvPr>
            <p:ph sz="half" idx="1"/>
          </p:nvPr>
        </p:nvSpPr>
        <p:spPr/>
        <p:txBody>
          <a:bodyPr>
            <a:normAutofit fontScale="77500" lnSpcReduction="20000"/>
          </a:bodyPr>
          <a:lstStyle/>
          <a:p>
            <a:r>
              <a:t>16 Mar</a:t>
            </a:r>
          </a:p>
          <a:p>
            <a:endParaRPr/>
          </a:p>
          <a:p>
            <a:r>
              <a:t>AWS Identity and Access Management (IAM) Access Analyzer makes it easier to implement least privilege permissions by analyzing resource policies to provide provable security and help you identify unintended public or cross-account access. A recent update allows you to validate public and cross-account access before deploying permissions changes. Now, we are extending policy validation in IAM Access Analyzer by adding over 100 policy checks with actionable recommendations. These checks use static analysis to help you proactively validate your permission policies during policy authoring to set secure and functional permissions. The checks include functional validation like developers might expect from a linter, and go beyond that to evaluate best practices in granting access. These checks analyze your policy and report security warnings, errors, general warnings, and suggestions based on their impact. They provide actionable recommendations that guide you to set secure and functional permissions. For example, IAM Access Analyzer reports a security warning when your policy grants access to pass any role to any service, which is overly permissive. The security warning includes a recommendation that you scope down the permissions to pass specific role(s) instead.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IAM Access Analyzer now enables you to validate public and cross-account access before deploying permissions changes</a:t>
            </a:r>
          </a:p>
        </p:txBody>
      </p:sp>
      <p:sp>
        <p:nvSpPr>
          <p:cNvPr id="3" name="Content Placeholder 2"/>
          <p:cNvSpPr>
            <a:spLocks noGrp="1"/>
          </p:cNvSpPr>
          <p:nvPr>
            <p:ph sz="half" idx="1"/>
          </p:nvPr>
        </p:nvSpPr>
        <p:spPr/>
        <p:txBody>
          <a:bodyPr/>
          <a:lstStyle/>
          <a:p>
            <a:r>
              <a:t>10 Mar</a:t>
            </a:r>
          </a:p>
          <a:p>
            <a:endParaRPr/>
          </a:p>
          <a:p>
            <a:r>
              <a:t>AWS Identity and Access Management (IAM) Access Analyzer now enables you to validate access before deploying permissions changes. IAM Access Analyzer uses comprehensive policy analysis to provide provable security and generate findings for resource access. Now with IAM Access Analyzer, you can prevent public and cross-account access before you set permissions. You can preview findings and validate that your policy changes grant only intended access to your resources. By previewing findings, you can prevent unintended access before you deploy permissions.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AWS Security Hub adds 25 new controls to its Foundational Security Best Practices standard</a:t>
            </a:r>
          </a:p>
        </p:txBody>
      </p:sp>
      <p:sp>
        <p:nvSpPr>
          <p:cNvPr id="3" name="Content Placeholder 2"/>
          <p:cNvSpPr>
            <a:spLocks noGrp="1"/>
          </p:cNvSpPr>
          <p:nvPr>
            <p:ph sz="half" idx="1"/>
          </p:nvPr>
        </p:nvSpPr>
        <p:spPr/>
        <p:txBody>
          <a:bodyPr>
            <a:normAutofit fontScale="92500" lnSpcReduction="20000"/>
          </a:bodyPr>
          <a:lstStyle/>
          <a:p>
            <a:r>
              <a:t>08 Mar</a:t>
            </a:r>
          </a:p>
          <a:p>
            <a:endParaRPr/>
          </a:p>
          <a:p>
            <a:r>
              <a:t>AWS Security Hub has released 25 new controls for its Foundational Security Best Practice standard . These controls conduct fully automatic checks against security best practices for Amazon API Gateway (APIGateway.1), Amazon Cloudfront (CloudFront.1-4), Amazon DynamoDB (DynamoDB.1-3), Amazon Elastic Compute Cloud (EC2.9-10), Amazon Elastic File System (EFS.2), Amazon Elasticsearch Service (ES.2-3), Amazon RDS (RDS.9-10), Amazon Redshift (RedShift.1-3,6), Amazon Simple Notification System (SNS.1), AWS Elastic Load Balancing (ELB.3-6), and AWS Key Management Service (KMS.3). If you enabled the AWS Foundational Security Best Practices standard in an account and configured Security Hub to automatically enable new controls, the above new controls are enabled by default. Security Hub now supports 115 security controls to automatically check your security posture in AWS.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VPC Flow Logs now reflects AWS Service name, Traffic Path and Flow Direction</a:t>
            </a:r>
          </a:p>
        </p:txBody>
      </p:sp>
      <p:sp>
        <p:nvSpPr>
          <p:cNvPr id="3" name="Content Placeholder 2"/>
          <p:cNvSpPr>
            <a:spLocks noGrp="1"/>
          </p:cNvSpPr>
          <p:nvPr>
            <p:ph sz="half" idx="1"/>
          </p:nvPr>
        </p:nvSpPr>
        <p:spPr/>
        <p:txBody>
          <a:bodyPr/>
          <a:lstStyle/>
          <a:p>
            <a:r>
              <a:t>03 Mar</a:t>
            </a:r>
          </a:p>
          <a:p>
            <a:endParaRPr/>
          </a:p>
          <a:p>
            <a:r>
              <a:t>You can now add four additional metadata fields in your Amazon Virtual Private Cloud (Amazon VPC) flow logs, namely flow-direction, traffic-path, pkt-src-aws-service and pkt-dst-aws-service. With these enriched fields you can derive insights into the AWS services that your workloads are communicating with, differentiate between ingress and egress traffic flows and identify the next hop of your egress traffic, such as an internet gateway, a VPC peering connection or a virtual private gateway.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Macie announces a slew of new capabilities including support for cross-account sensitive data discovery, scanning by Amazon S3 object prefix, improved pre-scan cost estimation, and added location detail in findings</a:t>
            </a:r>
          </a:p>
        </p:txBody>
      </p:sp>
      <p:sp>
        <p:nvSpPr>
          <p:cNvPr id="3" name="Content Placeholder 2"/>
          <p:cNvSpPr>
            <a:spLocks noGrp="1"/>
          </p:cNvSpPr>
          <p:nvPr>
            <p:ph sz="half" idx="1"/>
          </p:nvPr>
        </p:nvSpPr>
        <p:spPr/>
        <p:txBody>
          <a:bodyPr/>
          <a:lstStyle/>
          <a:p>
            <a:r>
              <a:t>02 Feb</a:t>
            </a:r>
          </a:p>
          <a:p>
            <a:endParaRPr/>
          </a:p>
          <a:p>
            <a:r>
              <a:t>We are excited to announce a series of new capabilities that have been added to Amazon Macie to make it easier to configure, scope, and run sensitive data discovery in AWS, including support for scanning jobs that cover Amazon S3 buckets residing across multiple accounts, scoping of scans by object prefix, better cost estimation for visibility of spend before jobs are submitted, and sensitive data location information added to Macie findings.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API Gateway now supports data mapping in HTTP APIs</a:t>
            </a:r>
          </a:p>
        </p:txBody>
      </p:sp>
      <p:sp>
        <p:nvSpPr>
          <p:cNvPr id="3" name="Content Placeholder 2"/>
          <p:cNvSpPr>
            <a:spLocks noGrp="1"/>
          </p:cNvSpPr>
          <p:nvPr>
            <p:ph sz="half" idx="1"/>
          </p:nvPr>
        </p:nvSpPr>
        <p:spPr/>
        <p:txBody>
          <a:bodyPr/>
          <a:lstStyle/>
          <a:p>
            <a:r>
              <a:t>07 Jan</a:t>
            </a:r>
          </a:p>
          <a:p>
            <a:endParaRPr/>
          </a:p>
          <a:p>
            <a:r>
              <a:t>Amazon API Gateway now supports data mapping definitions from an HTTP API’s method request data (e.g. path parameters, query string and headers) to the corresponding integration request parameters and from the integration response data (e.g. headers) to the HTTP API method response parameters.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7327925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Synthetics supports canary events with Amazon EventBridge</a:t>
            </a:r>
          </a:p>
        </p:txBody>
      </p:sp>
      <p:sp>
        <p:nvSpPr>
          <p:cNvPr id="3" name="Content Placeholder 2"/>
          <p:cNvSpPr>
            <a:spLocks noGrp="1"/>
          </p:cNvSpPr>
          <p:nvPr>
            <p:ph sz="half" idx="1"/>
          </p:nvPr>
        </p:nvSpPr>
        <p:spPr/>
        <p:txBody>
          <a:bodyPr/>
          <a:lstStyle/>
          <a:p>
            <a:r>
              <a:t>19 Feb</a:t>
            </a:r>
          </a:p>
          <a:p>
            <a:endParaRPr/>
          </a:p>
          <a:p>
            <a:r>
              <a:t>CloudWatch Synthetics now supports monitoring canary events with Amazon EventBridge. This allows you to send notifications to teams, capture canary event information, and take corrective action in response to a canary state change or the completion of a canary run.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Auto Scaling Instance Refresh now supports phased deployments</a:t>
            </a:r>
          </a:p>
        </p:txBody>
      </p:sp>
      <p:sp>
        <p:nvSpPr>
          <p:cNvPr id="3" name="Content Placeholder 2"/>
          <p:cNvSpPr>
            <a:spLocks noGrp="1"/>
          </p:cNvSpPr>
          <p:nvPr>
            <p:ph sz="half" idx="1"/>
          </p:nvPr>
        </p:nvSpPr>
        <p:spPr/>
        <p:txBody>
          <a:bodyPr/>
          <a:lstStyle/>
          <a:p>
            <a:r>
              <a:t>18 Mar</a:t>
            </a:r>
          </a:p>
          <a:p>
            <a:endParaRPr/>
          </a:p>
          <a:p>
            <a:r>
              <a:t>The Amazon EC2 Auto Scaling Instance Refresh feature enables customers to update the EC2 instances in their Auto Scaling groups on a rolling basis. Now, Instance Refresh gives customers more control over the update process by letting them configure Instance Refresh checkpoints to phase their deployments. An Instance Refresh checkpoint specifies what percent of the Auto Scaling group’s instances should be replaced and how long to wait before continuing with the rolling update. This gives customers time to perform any necessary validation or testing steps at various checkpoints.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Insights is now generally available for AWS X-Ray</a:t>
            </a:r>
          </a:p>
        </p:txBody>
      </p:sp>
      <p:sp>
        <p:nvSpPr>
          <p:cNvPr id="3" name="Content Placeholder 2"/>
          <p:cNvSpPr>
            <a:spLocks noGrp="1"/>
          </p:cNvSpPr>
          <p:nvPr>
            <p:ph sz="half" idx="1"/>
          </p:nvPr>
        </p:nvSpPr>
        <p:spPr/>
        <p:txBody>
          <a:bodyPr/>
          <a:lstStyle/>
          <a:p>
            <a:r>
              <a:t>02 Feb</a:t>
            </a:r>
          </a:p>
          <a:p>
            <a:endParaRPr/>
          </a:p>
          <a:p>
            <a:r>
              <a:t>Today, AWS X-Ray launches Insights , which helps customers proactively discover issues in applications by using anomaly detection. X-Ray Insights enables developers and DevOps engineers to detect anomalies in fault rate for an application and then notify their teams on these issues and why it occurred.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MSK now supports the ability to change the size or family of your Apache Kafka brokers</a:t>
            </a:r>
          </a:p>
        </p:txBody>
      </p:sp>
      <p:sp>
        <p:nvSpPr>
          <p:cNvPr id="3" name="Content Placeholder 2"/>
          <p:cNvSpPr>
            <a:spLocks noGrp="1"/>
          </p:cNvSpPr>
          <p:nvPr>
            <p:ph sz="half" idx="1"/>
          </p:nvPr>
        </p:nvSpPr>
        <p:spPr/>
        <p:txBody>
          <a:bodyPr>
            <a:normAutofit lnSpcReduction="10000"/>
          </a:bodyPr>
          <a:lstStyle/>
          <a:p>
            <a:r>
              <a:t>21 Jan</a:t>
            </a:r>
          </a:p>
          <a:p>
            <a:endParaRPr/>
          </a:p>
          <a:p>
            <a:r>
              <a:t>You can now scale your Amazon Managed Streaming for Apache Kafka (MSK) clusters on demand by changing the size or family of your brokers without reassigning Apache Kafka partitions. Changing the size or family of your brokers gives you the flexibility to adjust your MSK cluster’s compute capacity based on changes in your workloads, without interrupting your cluster I/O. In just a few clicks, you can scale up or scale down your Amazon MSK clusters’ compute capacity that includes CPU, memory, network throughput and I/O capacity. You will be charged for the chosen broker size or family per Amazon MSK standard pricing.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enhances its data quality dashboard with a visual comparison matrix</a:t>
            </a:r>
          </a:p>
        </p:txBody>
      </p:sp>
      <p:sp>
        <p:nvSpPr>
          <p:cNvPr id="3" name="Content Placeholder 2"/>
          <p:cNvSpPr>
            <a:spLocks noGrp="1"/>
          </p:cNvSpPr>
          <p:nvPr>
            <p:ph sz="half" idx="1"/>
          </p:nvPr>
        </p:nvSpPr>
        <p:spPr/>
        <p:txBody>
          <a:bodyPr/>
          <a:lstStyle/>
          <a:p>
            <a:r>
              <a:t>09 Mar</a:t>
            </a:r>
          </a:p>
          <a:p>
            <a:endParaRPr/>
          </a:p>
          <a:p>
            <a:r>
              <a:t>When you generate data quality profiles on your datasets, DataBrew now publishes a visual dashboard on the AWS Glue DataBrew console with 40+ statistics and visualizations listed in a tabular format for easy comparison. Understanding data quality is key to the success of your analytics and machine learning projects. With this new capability in DataBrew, it’s easy to spot anomalies in data distributions, detect outliers, understand skews, and more for datasets varying from a few thousand rows to tens of millions of rows and varying file formats.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Proton introduces deletion protection for in-use templates</a:t>
            </a:r>
          </a:p>
        </p:txBody>
      </p:sp>
      <p:sp>
        <p:nvSpPr>
          <p:cNvPr id="3" name="Content Placeholder 2"/>
          <p:cNvSpPr>
            <a:spLocks noGrp="1"/>
          </p:cNvSpPr>
          <p:nvPr>
            <p:ph sz="half" idx="1"/>
          </p:nvPr>
        </p:nvSpPr>
        <p:spPr/>
        <p:txBody>
          <a:bodyPr/>
          <a:lstStyle/>
          <a:p>
            <a:r>
              <a:t>19 Mar</a:t>
            </a:r>
          </a:p>
          <a:p>
            <a:endParaRPr/>
          </a:p>
          <a:p>
            <a:r>
              <a:t>AWS Proton introduces delete validations for templates in-use, ensuring that dependent resources are not orphaned if a template version is inadvertently deleted.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clusters now support user authentication with OIDC compatible identity providers</a:t>
            </a:r>
          </a:p>
        </p:txBody>
      </p:sp>
      <p:sp>
        <p:nvSpPr>
          <p:cNvPr id="3" name="Content Placeholder 2"/>
          <p:cNvSpPr>
            <a:spLocks noGrp="1"/>
          </p:cNvSpPr>
          <p:nvPr>
            <p:ph sz="half" idx="1"/>
          </p:nvPr>
        </p:nvSpPr>
        <p:spPr/>
        <p:txBody>
          <a:bodyPr/>
          <a:lstStyle/>
          <a:p>
            <a:r>
              <a:t>12 Feb</a:t>
            </a:r>
          </a:p>
          <a:p>
            <a:endParaRPr/>
          </a:p>
          <a:p>
            <a:r>
              <a:t>Amazon Elastic Kubernetes Service (Amazon EKS) now supports using OpenID Connect (OIDC) compatible identity providers as a user authentication option to Kubernetes clusters. With OIDC authentication, you can manage user access to EKS clusters by using the standard procedures in your organization for creating, enabling, and disabling employee accounts.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now supports January 2021 Patch Set Update (PSU) for Oracle Database 12.1</a:t>
            </a:r>
          </a:p>
        </p:txBody>
      </p:sp>
      <p:sp>
        <p:nvSpPr>
          <p:cNvPr id="3" name="Content Placeholder 2"/>
          <p:cNvSpPr>
            <a:spLocks noGrp="1"/>
          </p:cNvSpPr>
          <p:nvPr>
            <p:ph sz="half" idx="1"/>
          </p:nvPr>
        </p:nvSpPr>
        <p:spPr/>
        <p:txBody>
          <a:bodyPr/>
          <a:lstStyle/>
          <a:p>
            <a:r>
              <a:t>19 Mar</a:t>
            </a:r>
          </a:p>
          <a:p>
            <a:endParaRPr/>
          </a:p>
          <a:p>
            <a:r>
              <a:t>Amazon RDS for Oracle now supports the January 2021 Patch Set Update (PSU) for Oracle Database 12.1. January 2021 Release Update (RU) for Oracle Database 12.2, 18c, and 19c have already been launched.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Achieve faster database failover with Amazon Web Services MySQL JDBC Driver - now in preview</a:t>
            </a:r>
          </a:p>
        </p:txBody>
      </p:sp>
      <p:sp>
        <p:nvSpPr>
          <p:cNvPr id="3" name="Content Placeholder 2"/>
          <p:cNvSpPr>
            <a:spLocks noGrp="1"/>
          </p:cNvSpPr>
          <p:nvPr>
            <p:ph sz="half" idx="1"/>
          </p:nvPr>
        </p:nvSpPr>
        <p:spPr/>
        <p:txBody>
          <a:bodyPr/>
          <a:lstStyle/>
          <a:p>
            <a:r>
              <a:t>07 Jan</a:t>
            </a:r>
          </a:p>
          <a:p>
            <a:endParaRPr/>
          </a:p>
          <a:p>
            <a:r>
              <a:t>The Amazon Web Services (AWS) Java (JDBC) Driver for MySQL is now available in preview. This open source database driver helps applications take advantage of clustered databases, such as Amazon Aurora with MySQL compatibility, reducing failover times from minutes to seconds.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GuardDuty enhances security incident investigation workflows through new integration with Amazon Detective</a:t>
            </a:r>
          </a:p>
        </p:txBody>
      </p:sp>
      <p:sp>
        <p:nvSpPr>
          <p:cNvPr id="3" name="Content Placeholder 2"/>
          <p:cNvSpPr>
            <a:spLocks noGrp="1"/>
          </p:cNvSpPr>
          <p:nvPr>
            <p:ph sz="half" idx="1"/>
          </p:nvPr>
        </p:nvSpPr>
        <p:spPr/>
        <p:txBody>
          <a:bodyPr/>
          <a:lstStyle/>
          <a:p>
            <a:r>
              <a:t>22 Jan</a:t>
            </a:r>
          </a:p>
          <a:p>
            <a:endParaRPr/>
          </a:p>
          <a:p>
            <a:r>
              <a:t>Amazon GuardDuty has added Amazon Detective hyperlink pivots to make it even easier to jump from a GuardDuty security finding into a pre-populated Amazon Detective investigation experience.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Shield Advanced now supports resource tagging</a:t>
            </a:r>
          </a:p>
        </p:txBody>
      </p:sp>
      <p:sp>
        <p:nvSpPr>
          <p:cNvPr id="3" name="Content Placeholder 2"/>
          <p:cNvSpPr>
            <a:spLocks noGrp="1"/>
          </p:cNvSpPr>
          <p:nvPr>
            <p:ph sz="half" idx="1"/>
          </p:nvPr>
        </p:nvSpPr>
        <p:spPr/>
        <p:txBody>
          <a:bodyPr/>
          <a:lstStyle/>
          <a:p>
            <a:r>
              <a:t>05 Mar</a:t>
            </a:r>
          </a:p>
          <a:p>
            <a:endParaRPr/>
          </a:p>
          <a:p>
            <a:r>
              <a:t>AWS Shield Advanced now supports tagging of protected resources and protection groups. You can use tagging to restrict the ability to create or modify protections to sensitive resources via IAM policies, or to organize and track your AWS Shield Advanced costs at the tag level. Resource tagging allows you to define custom names for protected application resources, such as Amazon Elastic Compute Cloud (EC2), Elastic Load Balancing (ELB), Amazon CloudFront, AWS Global Accelerator and Amazon Route 53.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Connect launches new metric capabilities for measuring queue service levels</a:t>
            </a:r>
          </a:p>
        </p:txBody>
      </p:sp>
      <p:sp>
        <p:nvSpPr>
          <p:cNvPr id="3" name="Content Placeholder 2"/>
          <p:cNvSpPr>
            <a:spLocks noGrp="1"/>
          </p:cNvSpPr>
          <p:nvPr>
            <p:ph sz="half" idx="1"/>
          </p:nvPr>
        </p:nvSpPr>
        <p:spPr/>
        <p:txBody>
          <a:bodyPr/>
          <a:lstStyle/>
          <a:p>
            <a:r>
              <a:t>17 Mar</a:t>
            </a:r>
          </a:p>
          <a:p>
            <a:endParaRPr/>
          </a:p>
          <a:p>
            <a:r>
              <a:t>Amazon Connect analytics users can now define queue service levels to measure the percentage of customer contacts answered by an agent between 1 second and 7 days for both real-time and historical metrics.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Bundle Management APIs now generally available for Amazon WorkSpaces</a:t>
            </a:r>
          </a:p>
        </p:txBody>
      </p:sp>
      <p:sp>
        <p:nvSpPr>
          <p:cNvPr id="3" name="Content Placeholder 2"/>
          <p:cNvSpPr>
            <a:spLocks noGrp="1"/>
          </p:cNvSpPr>
          <p:nvPr>
            <p:ph sz="half" idx="1"/>
          </p:nvPr>
        </p:nvSpPr>
        <p:spPr/>
        <p:txBody>
          <a:bodyPr/>
          <a:lstStyle/>
          <a:p>
            <a:r>
              <a:t>15 Mar</a:t>
            </a:r>
          </a:p>
          <a:p>
            <a:endParaRPr/>
          </a:p>
          <a:p>
            <a:r>
              <a:t>Amazon WorkSpaces bundle management APIs are now available for customers to perform WorkSpaces bundle operations via command-line interface (CLI). The new set of APIs supports creation, deletion, and image association operations for WorkSpaces bundles. These APIs are intended for use by WorkSpaces administrators who want to automate WorkSpaces management workflows.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Customer Profiles now supports data sources from Amazon S3</a:t>
            </a:r>
          </a:p>
        </p:txBody>
      </p:sp>
      <p:sp>
        <p:nvSpPr>
          <p:cNvPr id="3" name="Content Placeholder 2"/>
          <p:cNvSpPr>
            <a:spLocks noGrp="1"/>
          </p:cNvSpPr>
          <p:nvPr>
            <p:ph sz="half" idx="1"/>
          </p:nvPr>
        </p:nvSpPr>
        <p:spPr/>
        <p:txBody>
          <a:bodyPr/>
          <a:lstStyle/>
          <a:p>
            <a:r>
              <a:t>01 Mar</a:t>
            </a:r>
          </a:p>
          <a:p>
            <a:endParaRPr/>
          </a:p>
          <a:p>
            <a:r>
              <a:t>Amazon Connect Customer Profiles is a feature of Amazon Connect and automatically brings together customer information from multiple applications into a unified customer profile, delivered to agents at the beginning of the customer interaction. It now supports ingestion of customer data from homegrown and third- party applications with Amazon Simple Storage Service (Amazon S3), in addition to existing pre-built connectors for third-party applications like Salesforce, ServiceNow, Zendesk, and Marketo.</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Good to know</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QLDB Increases Verification APIs Throughput by an Order of Magnitude</a:t>
            </a:r>
          </a:p>
        </p:txBody>
      </p:sp>
      <p:sp>
        <p:nvSpPr>
          <p:cNvPr id="3" name="Content Placeholder 2"/>
          <p:cNvSpPr>
            <a:spLocks noGrp="1"/>
          </p:cNvSpPr>
          <p:nvPr>
            <p:ph sz="half" idx="1"/>
          </p:nvPr>
        </p:nvSpPr>
        <p:spPr/>
        <p:txBody>
          <a:bodyPr/>
          <a:lstStyle/>
          <a:p>
            <a:r>
              <a:t>18 Mar</a:t>
            </a:r>
          </a:p>
          <a:p>
            <a:endParaRPr/>
          </a:p>
          <a:p>
            <a:r>
              <a:t>Amazon Quantum Ledger Database (Amazon QLDB) launches increased performance and latency reduction for control plane verification APIs. With this improvement, QLDB customers will experience an average latency reduction of up to 70% and the ability to scale at least 10 times from the current call volumes in many scenarios.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Copilot launches v1.4 with support for ECS exec and more</a:t>
            </a:r>
          </a:p>
        </p:txBody>
      </p:sp>
      <p:sp>
        <p:nvSpPr>
          <p:cNvPr id="3" name="Content Placeholder 2"/>
          <p:cNvSpPr>
            <a:spLocks noGrp="1"/>
          </p:cNvSpPr>
          <p:nvPr>
            <p:ph sz="half" idx="1"/>
          </p:nvPr>
        </p:nvSpPr>
        <p:spPr/>
        <p:txBody>
          <a:bodyPr/>
          <a:lstStyle/>
          <a:p>
            <a:r>
              <a:t>16 Mar</a:t>
            </a:r>
          </a:p>
          <a:p>
            <a:endParaRPr/>
          </a:p>
          <a:p>
            <a:r>
              <a:t>Today, AWS Copilot launched version 1.4 which now provides more operational capabilities for applications hosted on Amazon Elastic Container Service (Amazon ECS). This allows you to directly access a container to troubleshoot and run commands with ECS exec. AWS Copilot also added the ability to deploy applications from a Bitbucket repository and attach Amazon Elastic File Service (EFS) volumes.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the General Availability of Amazon Corretto 16</a:t>
            </a:r>
          </a:p>
        </p:txBody>
      </p:sp>
      <p:sp>
        <p:nvSpPr>
          <p:cNvPr id="3" name="Content Placeholder 2"/>
          <p:cNvSpPr>
            <a:spLocks noGrp="1"/>
          </p:cNvSpPr>
          <p:nvPr>
            <p:ph sz="half" idx="1"/>
          </p:nvPr>
        </p:nvSpPr>
        <p:spPr/>
        <p:txBody>
          <a:bodyPr/>
          <a:lstStyle/>
          <a:p>
            <a:r>
              <a:t>16 Mar</a:t>
            </a:r>
          </a:p>
          <a:p>
            <a:endParaRPr/>
          </a:p>
          <a:p>
            <a:r>
              <a:t>Amazon Corretto 16 is now generally available. This version supports the latest Java feature release JDK 16 and is available on Linux, Windows, and macOS. You can download Corretto 16 from our GitHub Releases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Cost Anomaly Detection now supports AWS CloudFormation</a:t>
            </a:r>
          </a:p>
        </p:txBody>
      </p:sp>
      <p:sp>
        <p:nvSpPr>
          <p:cNvPr id="3" name="Content Placeholder 2"/>
          <p:cNvSpPr>
            <a:spLocks noGrp="1"/>
          </p:cNvSpPr>
          <p:nvPr>
            <p:ph sz="half" idx="1"/>
          </p:nvPr>
        </p:nvSpPr>
        <p:spPr/>
        <p:txBody>
          <a:bodyPr/>
          <a:lstStyle/>
          <a:p>
            <a:r>
              <a:t>15 Mar</a:t>
            </a:r>
          </a:p>
          <a:p>
            <a:endParaRPr/>
          </a:p>
          <a:p>
            <a:r>
              <a:t>AWS Cost Anomaly Detection now supports provisioning cost monitors and alert subscriptions via AWS CloudFormation templates . You can now set up Cost Anomaly Detection via JSON or YAML commands, enabling quick, consistent, and scalable configurations across AWS accounts.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Config Adds 3 New Config Rules for Amazon Secrets Manager</a:t>
            </a:r>
          </a:p>
        </p:txBody>
      </p:sp>
      <p:sp>
        <p:nvSpPr>
          <p:cNvPr id="3" name="Content Placeholder 2"/>
          <p:cNvSpPr>
            <a:spLocks noGrp="1"/>
          </p:cNvSpPr>
          <p:nvPr>
            <p:ph sz="half" idx="1"/>
          </p:nvPr>
        </p:nvSpPr>
        <p:spPr/>
        <p:txBody>
          <a:bodyPr/>
          <a:lstStyle/>
          <a:p>
            <a:r>
              <a:t>15 Mar</a:t>
            </a:r>
          </a:p>
          <a:p>
            <a:endParaRPr/>
          </a:p>
          <a:p>
            <a:r>
              <a:t>AWS Config now supports three new AWS Config managed rules to help you verify that your secrets in AWS Secrets Manager are configured in accordance with your organization’s security and compliance requirements. AWS Config records and evaluates configurations of your AWS resources. AWS Config managed rules are predefined rules that AWS Config uses to evaluate whether your AWS resource configurations comply with common best practices. AWS Secrets Manager helps easily rotate, manage, and retrieve database credentials, API keys, and other secrets through their lifecycle.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Auto Scaling adds support for local time zones for scheduled scaling</a:t>
            </a:r>
          </a:p>
        </p:txBody>
      </p:sp>
      <p:sp>
        <p:nvSpPr>
          <p:cNvPr id="3" name="Content Placeholder 2"/>
          <p:cNvSpPr>
            <a:spLocks noGrp="1"/>
          </p:cNvSpPr>
          <p:nvPr>
            <p:ph sz="half" idx="1"/>
          </p:nvPr>
        </p:nvSpPr>
        <p:spPr/>
        <p:txBody>
          <a:bodyPr/>
          <a:lstStyle/>
          <a:p>
            <a:r>
              <a:t>12 Mar</a:t>
            </a:r>
          </a:p>
          <a:p>
            <a:endParaRPr/>
          </a:p>
          <a:p>
            <a:r>
              <a:t>The scheduled scaling feature of Amazon EC2 Auto Scaling allows you to set a schedule for your Auto Scaling group to scale in and scale out your EC2 capacity. Amazon EC2 Auto Scaling now allows you to set a local time zone for scheduled scaling actions via the AWS Command Line Interface (CLI) and AWS SDKs, with support in the AWS Management Console  and AWS CloudFormation  coming soon. Selecting a time zone makes schedules easier to review and also removes the need to adjust schedules for Daylight Saving Time (DST).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now publishes events to Amazon CloudWatch and Amazon EventBridge for service software updates</a:t>
            </a:r>
          </a:p>
        </p:txBody>
      </p:sp>
      <p:sp>
        <p:nvSpPr>
          <p:cNvPr id="3" name="Content Placeholder 2"/>
          <p:cNvSpPr>
            <a:spLocks noGrp="1"/>
          </p:cNvSpPr>
          <p:nvPr>
            <p:ph sz="half" idx="1"/>
          </p:nvPr>
        </p:nvSpPr>
        <p:spPr/>
        <p:txBody>
          <a:bodyPr/>
          <a:lstStyle/>
          <a:p>
            <a:r>
              <a:t>11 Mar</a:t>
            </a:r>
          </a:p>
          <a:p>
            <a:endParaRPr/>
          </a:p>
          <a:p>
            <a:r>
              <a:t>Amazon Elasticsearch Service now publishes events to Amazon CloudWatch and Amazon EventBridge to provide better visibility into the service. Events to indicate the availability of a service software update for a domain, the start of an update, and the completion of an update will be included in the initial release. You will also be able to view these events under the new ‘Notifications’ view in the Amazon Elasticsearch Service console.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supports Oracle Management Agent (OMA) version 13.4 for Oracle Enterprise Manager Cloud Control 13cR4</a:t>
            </a:r>
          </a:p>
        </p:txBody>
      </p:sp>
      <p:sp>
        <p:nvSpPr>
          <p:cNvPr id="3" name="Content Placeholder 2"/>
          <p:cNvSpPr>
            <a:spLocks noGrp="1"/>
          </p:cNvSpPr>
          <p:nvPr>
            <p:ph sz="half" idx="1"/>
          </p:nvPr>
        </p:nvSpPr>
        <p:spPr/>
        <p:txBody>
          <a:bodyPr/>
          <a:lstStyle/>
          <a:p>
            <a:r>
              <a:t>11 Mar</a:t>
            </a:r>
          </a:p>
          <a:p>
            <a:endParaRPr/>
          </a:p>
          <a:p>
            <a:r>
              <a:t>Amazon RDS for Oracle now supports Oracle Management Agent (OMA) version 13.4 for Oracle Enterprise Manager (OEM) Cloud Control 13c Release 4 Update 9. OEM 13c  offers web-based tools to monitor and manage your Oracle databases. Amazon RDS for Oracle installs OMA, which then communicates with your Oracle Management Service (OMS) to provide monitoring information. Customers running OMS 13.4 can now manage databases by installing OMA 13.4.</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Amazon Redshift Data Sharing</a:t>
            </a:r>
          </a:p>
        </p:txBody>
      </p:sp>
      <p:sp>
        <p:nvSpPr>
          <p:cNvPr id="3" name="Content Placeholder 2"/>
          <p:cNvSpPr>
            <a:spLocks noGrp="1"/>
          </p:cNvSpPr>
          <p:nvPr>
            <p:ph sz="half" idx="1"/>
          </p:nvPr>
        </p:nvSpPr>
        <p:spPr/>
        <p:txBody>
          <a:bodyPr/>
          <a:lstStyle/>
          <a:p>
            <a:r>
              <a:t>10 Mar</a:t>
            </a:r>
          </a:p>
          <a:p>
            <a:endParaRPr/>
          </a:p>
          <a:p>
            <a:r>
              <a:t>Amazon Redshift Data Sharing, a secure and easy way to share live data across Redshift clusters, is now generally available. Data Sharing enables instant, granular, and high-performance data access across Amazon Redshift clusters within an AWS account, without the need to copy or move data. Data Sharing provides live access to the data so that your users always see most up-to-date and consistent information as it is updated in the data warehouse. Data Sharing can be used on your Amazon Redshift RA3 clusters at no additional cost.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Amazon Redshift Cross-database queries</a:t>
            </a:r>
          </a:p>
        </p:txBody>
      </p:sp>
      <p:sp>
        <p:nvSpPr>
          <p:cNvPr id="3" name="Content Placeholder 2"/>
          <p:cNvSpPr>
            <a:spLocks noGrp="1"/>
          </p:cNvSpPr>
          <p:nvPr>
            <p:ph sz="half" idx="1"/>
          </p:nvPr>
        </p:nvSpPr>
        <p:spPr/>
        <p:txBody>
          <a:bodyPr/>
          <a:lstStyle/>
          <a:p>
            <a:r>
              <a:t>10 Mar</a:t>
            </a:r>
          </a:p>
          <a:p>
            <a:endParaRPr/>
          </a:p>
          <a:p>
            <a:r>
              <a:t>Amazon Redshift Cross-database queries provide ability to query across databases in a Redshift cluster. This feature is now generally available in all regions where Amazon Redshift RA3 node types are available. With Cross-database queries, you can seamlessly query data from any database in the cluster, regardless of which database you are connected to. Cross-database queries can eliminate data copies and simplify your data organization to support multiple business groups on the same cluster. Cross-database queries can be used on your RA3 clusters at no additional cost.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CloudEndure Migration and CloudEndure Disaster Recovery now support EBS Local Snapshots on AWS Outposts</a:t>
            </a:r>
          </a:p>
        </p:txBody>
      </p:sp>
      <p:sp>
        <p:nvSpPr>
          <p:cNvPr id="3" name="Content Placeholder 2"/>
          <p:cNvSpPr>
            <a:spLocks noGrp="1"/>
          </p:cNvSpPr>
          <p:nvPr>
            <p:ph sz="half" idx="1"/>
          </p:nvPr>
        </p:nvSpPr>
        <p:spPr/>
        <p:txBody>
          <a:bodyPr/>
          <a:lstStyle/>
          <a:p>
            <a:r>
              <a:t>09 Mar</a:t>
            </a:r>
          </a:p>
          <a:p>
            <a:endParaRPr/>
          </a:p>
          <a:p>
            <a:r>
              <a:t>CloudEndure Migration and CloudEndure Disaster Recovery, services offered by AWS, now allow you to migrate, replicate, and recover applications from any source directly into AWS Outposts or between AWS Outposts devices, leading to lower latencies, better performance, and reduced costs. Previously, replicated data had to be transferred to and stored in a public AWS Region before being copied into EBS volumes on the AWS Outposts device. This caused increased cutover and recovery times, as well as data residency issues.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managed disaster recovery (DR) with Cross-Region Automated Backups</a:t>
            </a:r>
          </a:p>
        </p:txBody>
      </p:sp>
      <p:sp>
        <p:nvSpPr>
          <p:cNvPr id="3" name="Content Placeholder 2"/>
          <p:cNvSpPr>
            <a:spLocks noGrp="1"/>
          </p:cNvSpPr>
          <p:nvPr>
            <p:ph sz="half" idx="1"/>
          </p:nvPr>
        </p:nvSpPr>
        <p:spPr/>
        <p:txBody>
          <a:bodyPr/>
          <a:lstStyle/>
          <a:p>
            <a:r>
              <a:t>08 Mar</a:t>
            </a:r>
          </a:p>
          <a:p>
            <a:endParaRPr/>
          </a:p>
          <a:p>
            <a:r>
              <a:t>Starting today Amazon RDS for PostgreSQL supports Cross-Region Automated Backups. This feature extends the existing Amazon RDS backup functionality, giving you the ability to setup automatic replication of system snapshots and transaction logs from a primary AWS Region to a secondary AWS Region.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Proton now supports services without pipelines</a:t>
            </a:r>
          </a:p>
        </p:txBody>
      </p:sp>
      <p:sp>
        <p:nvSpPr>
          <p:cNvPr id="3" name="Content Placeholder 2"/>
          <p:cNvSpPr>
            <a:spLocks noGrp="1"/>
          </p:cNvSpPr>
          <p:nvPr>
            <p:ph sz="half" idx="1"/>
          </p:nvPr>
        </p:nvSpPr>
        <p:spPr/>
        <p:txBody>
          <a:bodyPr/>
          <a:lstStyle/>
          <a:p>
            <a:r>
              <a:t>05 Mar</a:t>
            </a:r>
          </a:p>
          <a:p>
            <a:endParaRPr/>
          </a:p>
          <a:p>
            <a:r>
              <a:t>AWS Proton now allows you to define services that do not include pipelines, giving developer and platform teams flexibility in defining, provisioning, and deploying their services.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adds binning, skewness, binarization, and transpose transformations for pre-processing data for machine learning and analytics</a:t>
            </a:r>
          </a:p>
        </p:txBody>
      </p:sp>
      <p:sp>
        <p:nvSpPr>
          <p:cNvPr id="3" name="Content Placeholder 2"/>
          <p:cNvSpPr>
            <a:spLocks noGrp="1"/>
          </p:cNvSpPr>
          <p:nvPr>
            <p:ph sz="half" idx="1"/>
          </p:nvPr>
        </p:nvSpPr>
        <p:spPr/>
        <p:txBody>
          <a:bodyPr/>
          <a:lstStyle/>
          <a:p>
            <a:r>
              <a:t>05 Mar</a:t>
            </a:r>
          </a:p>
          <a:p>
            <a:endParaRPr/>
          </a:p>
          <a:p>
            <a:r>
              <a:t>AWS Glue DataBrew adds four new visual transformations - Binning, Skewness, Binarization, and Transpose helping data analysts and data scientists leverage these transformations without writing any code.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now provides an out-of-the-box chat user interface for your website</a:t>
            </a:r>
          </a:p>
        </p:txBody>
      </p:sp>
      <p:sp>
        <p:nvSpPr>
          <p:cNvPr id="3" name="Content Placeholder 2"/>
          <p:cNvSpPr>
            <a:spLocks noGrp="1"/>
          </p:cNvSpPr>
          <p:nvPr>
            <p:ph sz="half" idx="1"/>
          </p:nvPr>
        </p:nvSpPr>
        <p:spPr/>
        <p:txBody>
          <a:bodyPr/>
          <a:lstStyle/>
          <a:p>
            <a:r>
              <a:t>05 Mar</a:t>
            </a:r>
          </a:p>
          <a:p>
            <a:endParaRPr/>
          </a:p>
          <a:p>
            <a:r>
              <a:t>Amazon Connect Chat now provides an out-of-the-box chat widget, making it easy to begin servicing your customers through chat in just a few clicks. The widget allows you to design the customer experience to align with your corporate branding by customizing the font and color scheme in the user interface. Once configured, the widget can be easily embedded for display on a website by copying and pasting a simple code snippet. The widget also provides advanced configuration options to restrict access to authenticated users or to define specific domains where the widget can be displayed.</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Secrets Manager now provides support to replicate secrets in AWS Secrets Manager to multiple AWS Regions</a:t>
            </a:r>
          </a:p>
        </p:txBody>
      </p:sp>
      <p:sp>
        <p:nvSpPr>
          <p:cNvPr id="3" name="Content Placeholder 2"/>
          <p:cNvSpPr>
            <a:spLocks noGrp="1"/>
          </p:cNvSpPr>
          <p:nvPr>
            <p:ph sz="half" idx="1"/>
          </p:nvPr>
        </p:nvSpPr>
        <p:spPr/>
        <p:txBody>
          <a:bodyPr>
            <a:normAutofit fontScale="92500"/>
          </a:bodyPr>
          <a:lstStyle/>
          <a:p>
            <a:r>
              <a:t>04 Mar</a:t>
            </a:r>
          </a:p>
          <a:p>
            <a:endParaRPr/>
          </a:p>
          <a:p>
            <a:r>
              <a:t>AWS Secrets Manager now enables you to replicate secrets across multiple AWS Regions. You can now give your multi-Region applications access to replicated secrets in the corresponding Regions and rely on AWS Secrets Manager to keep the replicas in sync with the primary secret. This feature abstracts the complexity of replicating secrets across Regions, enabling customers to leverage Secrets Manager to easily manage secrets needed to support their multi-Region applications and disaster recovery strategies. You can use this functionality through the AWS Secrets Manager console , CreateSecret  and ReplicateSecretToRegions  API, or via AWS CloudFormation  to replicate secrets in one or more Regions.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Change Manager now supports multi-level approvals</a:t>
            </a:r>
          </a:p>
        </p:txBody>
      </p:sp>
      <p:sp>
        <p:nvSpPr>
          <p:cNvPr id="3" name="Content Placeholder 2"/>
          <p:cNvSpPr>
            <a:spLocks noGrp="1"/>
          </p:cNvSpPr>
          <p:nvPr>
            <p:ph sz="half" idx="1"/>
          </p:nvPr>
        </p:nvSpPr>
        <p:spPr/>
        <p:txBody>
          <a:bodyPr/>
          <a:lstStyle/>
          <a:p>
            <a:r>
              <a:t>04 Mar</a:t>
            </a:r>
          </a:p>
          <a:p>
            <a:endParaRPr/>
          </a:p>
          <a:p>
            <a:r>
              <a:t>Change Manager, a capability of AWS Systems Manager, now allows you to define multiple, sequential levels of approvals that are required for your operational changes. Change Manager simplifies the way you can request, approve, implement, and report on operational changes to your application configuration and infrastructure on AWS and on-premises. Now, you can further streamline your change approval process by specifying the order in which approvals are required.</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OpsCenter now displays an aggregated view of all operational issues for a specified resource</a:t>
            </a:r>
          </a:p>
        </p:txBody>
      </p:sp>
      <p:sp>
        <p:nvSpPr>
          <p:cNvPr id="3" name="Content Placeholder 2"/>
          <p:cNvSpPr>
            <a:spLocks noGrp="1"/>
          </p:cNvSpPr>
          <p:nvPr>
            <p:ph sz="half" idx="1"/>
          </p:nvPr>
        </p:nvSpPr>
        <p:spPr/>
        <p:txBody>
          <a:bodyPr/>
          <a:lstStyle/>
          <a:p>
            <a:r>
              <a:t>03 Mar</a:t>
            </a:r>
          </a:p>
          <a:p>
            <a:endParaRPr/>
          </a:p>
          <a:p>
            <a:r>
              <a:t>Starting today, you can view all operational issues (OpsItems) for an impacted resource in AWS Systems Manager OpsCenter. OpsCenter allows operations engineers and IT professionals to investigate, diagnose, and resolve operational issues related to AWS resources from a central place. This enables you to understand the greater context while troubleshooting an issue such as an instance failure, and helps you to resolve issues faster.</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Certificate Manager now provides certificate expiry monitoring through Amazon CloudWatch</a:t>
            </a:r>
          </a:p>
        </p:txBody>
      </p:sp>
      <p:sp>
        <p:nvSpPr>
          <p:cNvPr id="3" name="Content Placeholder 2"/>
          <p:cNvSpPr>
            <a:spLocks noGrp="1"/>
          </p:cNvSpPr>
          <p:nvPr>
            <p:ph sz="half" idx="1"/>
          </p:nvPr>
        </p:nvSpPr>
        <p:spPr/>
        <p:txBody>
          <a:bodyPr/>
          <a:lstStyle/>
          <a:p>
            <a:r>
              <a:t>03 Mar</a:t>
            </a:r>
          </a:p>
          <a:p>
            <a:endParaRPr/>
          </a:p>
          <a:p>
            <a:r>
              <a:t>AWS Certificate Manager (ACM) now publishes certificate metrics and events through Amazon CloudWatch  and Amazon EventBridge . Secure Sockets Layer/Transport Layer Security (SSL/TLS) certificates are used to secure network communication and establish the identity of websites over the internet. Certificates have a defined lifetime and for continued use need to be renewed before they expire. These new metrics and events help administrators keep track of certificate expiration dates and take necessary action or configure automation to prevent certificate expiry and related outages.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extends its datasets to support files without an explicit file extension or a header row</a:t>
            </a:r>
          </a:p>
        </p:txBody>
      </p:sp>
      <p:sp>
        <p:nvSpPr>
          <p:cNvPr id="3" name="Content Placeholder 2"/>
          <p:cNvSpPr>
            <a:spLocks noGrp="1"/>
          </p:cNvSpPr>
          <p:nvPr>
            <p:ph sz="half" idx="1"/>
          </p:nvPr>
        </p:nvSpPr>
        <p:spPr/>
        <p:txBody>
          <a:bodyPr/>
          <a:lstStyle/>
          <a:p>
            <a:r>
              <a:t>02 Mar</a:t>
            </a:r>
          </a:p>
          <a:p>
            <a:endParaRPr/>
          </a:p>
          <a:p>
            <a:r>
              <a:t>AWS Glue DataBrew extends its datasets to support files without an explicit file extension or a header row. Often times, extensionless files are tricky to work with and require visually exploring the data to understand it. Similarly, customers often work with files without an explicit row that defines the header in the file. In both of these cases, you can now define both these configurations when you create a dataset in DataBrew.</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Ethereum on Amazon Managed Blockchain</a:t>
            </a:r>
          </a:p>
        </p:txBody>
      </p:sp>
      <p:sp>
        <p:nvSpPr>
          <p:cNvPr id="3" name="Content Placeholder 2"/>
          <p:cNvSpPr>
            <a:spLocks noGrp="1"/>
          </p:cNvSpPr>
          <p:nvPr>
            <p:ph sz="half" idx="1"/>
          </p:nvPr>
        </p:nvSpPr>
        <p:spPr/>
        <p:txBody>
          <a:bodyPr>
            <a:normAutofit fontScale="92500" lnSpcReduction="20000"/>
          </a:bodyPr>
          <a:lstStyle/>
          <a:p>
            <a:r>
              <a:t>02 Mar</a:t>
            </a:r>
          </a:p>
          <a:p>
            <a:endParaRPr/>
          </a:p>
          <a:p>
            <a:r>
              <a:t>Amazon Web Services (AWS) announces general availability of Ethereum on Amazon Managed Blockchain. Ethereum is a popular decentralized blockchain framework that establishes a peer-to-peer network allowing participants to transact without a trusted central authority. It enables popular use cases such as decentralized finance (DeFi), a network of financial applications built on top of blockchain networks. DeFi is different from existing financial networks because it is open and programmable, operates without a central authority, and enables customers to offer new methods for payments, investing, lending and trading. As customers build these Ethereum-based applications, they find it complicated and time-consuming to operate and manage their Ethereum infrastructure. Specific concerns include data reliability due to out-of-sync nodes, data storage scaling challenges, and time-sensitive Ethereum software upgrades.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now supports tag-based authorization for configuration APIs</a:t>
            </a:r>
          </a:p>
        </p:txBody>
      </p:sp>
      <p:sp>
        <p:nvSpPr>
          <p:cNvPr id="3" name="Content Placeholder 2"/>
          <p:cNvSpPr>
            <a:spLocks noGrp="1"/>
          </p:cNvSpPr>
          <p:nvPr>
            <p:ph sz="half" idx="1"/>
          </p:nvPr>
        </p:nvSpPr>
        <p:spPr/>
        <p:txBody>
          <a:bodyPr/>
          <a:lstStyle/>
          <a:p>
            <a:r>
              <a:t>02 Mar</a:t>
            </a:r>
          </a:p>
          <a:p>
            <a:endParaRPr/>
          </a:p>
          <a:p>
            <a:r>
              <a:t>Amazon Elasticsearch Service now supports tag-based authorization for easy management of access to configuration APIs that are used for operations such as creating, modifying, or updating Amazon Elasticsearch Service domains.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AWS Lambda console now features a new navigation design</a:t>
            </a:r>
          </a:p>
        </p:txBody>
      </p:sp>
      <p:sp>
        <p:nvSpPr>
          <p:cNvPr id="3" name="Content Placeholder 2"/>
          <p:cNvSpPr>
            <a:spLocks noGrp="1"/>
          </p:cNvSpPr>
          <p:nvPr>
            <p:ph sz="half" idx="1"/>
          </p:nvPr>
        </p:nvSpPr>
        <p:spPr/>
        <p:txBody>
          <a:bodyPr/>
          <a:lstStyle/>
          <a:p>
            <a:r>
              <a:t>02 Mar</a:t>
            </a:r>
          </a:p>
          <a:p>
            <a:endParaRPr/>
          </a:p>
          <a:p>
            <a:r>
              <a:t>We reorganized features on the console based on key tasks such as, writing code, testing, monitoring and configuring. With this update, we reduced the amount of scrolling needed to access common configuration options by creating a dedicated configuration tab. In addition, the new navigation design orients your work on the Lambda console towards the tasks you want to complete and focuses your work around relevant features. This change will also help you find new features more easily when they are available in the console.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now supports adding KMS envelope encryption to existing clusters to enhance security for secrets</a:t>
            </a:r>
          </a:p>
        </p:txBody>
      </p:sp>
      <p:sp>
        <p:nvSpPr>
          <p:cNvPr id="3" name="Content Placeholder 2"/>
          <p:cNvSpPr>
            <a:spLocks noGrp="1"/>
          </p:cNvSpPr>
          <p:nvPr>
            <p:ph sz="half" idx="1"/>
          </p:nvPr>
        </p:nvSpPr>
        <p:spPr/>
        <p:txBody>
          <a:bodyPr/>
          <a:lstStyle/>
          <a:p>
            <a:r>
              <a:t>01 Mar</a:t>
            </a:r>
          </a:p>
          <a:p>
            <a:endParaRPr/>
          </a:p>
          <a:p>
            <a:r>
              <a:t>Amazon Elastic Kubernetes Service (EKS) now allows you to implement envelope encryption of Kubernetes secrets using AWS Key Management Service (KMS) keys for existing EKS clusters. Envelope encryption adds an addition, customer-managed layer of encryption for application secrets or user data that is stored within a Kubernetes cluster. Implementing envelope encryption is considered a security best practice for applications that store sensitive data and is part of a defense in depth security strategy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now supports 15 minute intervals for historical metric reporting</a:t>
            </a:r>
          </a:p>
        </p:txBody>
      </p:sp>
      <p:sp>
        <p:nvSpPr>
          <p:cNvPr id="3" name="Content Placeholder 2"/>
          <p:cNvSpPr>
            <a:spLocks noGrp="1"/>
          </p:cNvSpPr>
          <p:nvPr>
            <p:ph sz="half" idx="1"/>
          </p:nvPr>
        </p:nvSpPr>
        <p:spPr/>
        <p:txBody>
          <a:bodyPr/>
          <a:lstStyle/>
          <a:p>
            <a:r>
              <a:t>01 Mar</a:t>
            </a:r>
          </a:p>
          <a:p>
            <a:endParaRPr/>
          </a:p>
          <a:p>
            <a:r>
              <a:t>Amazon Connect now allows you to separate historical metrics into 15 minute intervals. Historical metrics reports include data about past, completed activity and performance in your contact center. This 15 minute interval provides a new time range to allow more granular insights into queue, routing profile, and agent performance. These insights can be used in variety of ways, which includes improving the accuracy of contact forecasting and staffing plans.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Get ready to roll! 2021 AWS DeepRacer League Season is now underway</a:t>
            </a:r>
          </a:p>
        </p:txBody>
      </p:sp>
      <p:sp>
        <p:nvSpPr>
          <p:cNvPr id="3" name="Content Placeholder 2"/>
          <p:cNvSpPr>
            <a:spLocks noGrp="1"/>
          </p:cNvSpPr>
          <p:nvPr>
            <p:ph sz="half" idx="1"/>
          </p:nvPr>
        </p:nvSpPr>
        <p:spPr/>
        <p:txBody>
          <a:bodyPr/>
          <a:lstStyle/>
          <a:p>
            <a:r>
              <a:t>01 Mar</a:t>
            </a:r>
          </a:p>
          <a:p>
            <a:endParaRPr/>
          </a:p>
          <a:p>
            <a:r>
              <a:t>AWS DeepRacer allows you to get hands-on with machine learning (ML) through a fully autonomous 1/18th scale race car driven by reinforcement learning, a 3D racing simulator on the AWS DeepRacer console , a global racing league, and hundreds of customer-initiated community races. Whether you want to win, or just increase your understanding of machine learning, the AWS DeepRacer League is the best way to get rolling with ML.</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Synthetics now supports cross region bucket access and upgraded dependencies</a:t>
            </a:r>
          </a:p>
        </p:txBody>
      </p:sp>
      <p:sp>
        <p:nvSpPr>
          <p:cNvPr id="3" name="Content Placeholder 2"/>
          <p:cNvSpPr>
            <a:spLocks noGrp="1"/>
          </p:cNvSpPr>
          <p:nvPr>
            <p:ph sz="half" idx="1"/>
          </p:nvPr>
        </p:nvSpPr>
        <p:spPr/>
        <p:txBody>
          <a:bodyPr/>
          <a:lstStyle/>
          <a:p>
            <a:r>
              <a:t>01 Mar</a:t>
            </a:r>
          </a:p>
          <a:p>
            <a:endParaRPr/>
          </a:p>
          <a:p>
            <a:r>
              <a:t>CloudWatch Synthetics now supports storing your canary run artifacts, including log files, screenshots, and HAR files, in an Amazon Simple Storage Service (S3) bucket in another Region with a new major runtime version, syn-nodejs-puppeteer-3.0. CloudWatch Synthetics now also supports upgraded major versions of the Puppeteer, Chromium, and Node.js dependencies.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Network Firewall Deployment Automations for AWS Transit Gateway is Generally Available</a:t>
            </a:r>
          </a:p>
        </p:txBody>
      </p:sp>
      <p:sp>
        <p:nvSpPr>
          <p:cNvPr id="3" name="Content Placeholder 2"/>
          <p:cNvSpPr>
            <a:spLocks noGrp="1"/>
          </p:cNvSpPr>
          <p:nvPr>
            <p:ph sz="half" idx="1"/>
          </p:nvPr>
        </p:nvSpPr>
        <p:spPr/>
        <p:txBody>
          <a:bodyPr/>
          <a:lstStyle/>
          <a:p>
            <a:r>
              <a:t>24 Feb</a:t>
            </a:r>
          </a:p>
          <a:p>
            <a:endParaRPr/>
          </a:p>
          <a:p>
            <a:r>
              <a:t>We’re excited to announce the launch of AWS Network Firewall Deployment Automations for AWS Transit Gateway, a reference implementation to help customers deploy and configure the AWS resources needed to inspect and filter VPC-to-VPC (East-West) traffic.</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now supports rollups, reducing storage costs for extended retention</a:t>
            </a:r>
          </a:p>
        </p:txBody>
      </p:sp>
      <p:sp>
        <p:nvSpPr>
          <p:cNvPr id="3" name="Content Placeholder 2"/>
          <p:cNvSpPr>
            <a:spLocks noGrp="1"/>
          </p:cNvSpPr>
          <p:nvPr>
            <p:ph sz="half" idx="1"/>
          </p:nvPr>
        </p:nvSpPr>
        <p:spPr/>
        <p:txBody>
          <a:bodyPr/>
          <a:lstStyle/>
          <a:p>
            <a:r>
              <a:t>24 Feb</a:t>
            </a:r>
          </a:p>
          <a:p>
            <a:endParaRPr/>
          </a:p>
          <a:p>
            <a:r>
              <a:t>Amazon Elasticsearch Service introduces index rollups that lets you summarize high granularity data and preserve feature-rich aggregations over large data sets for analytics while reducing the storage costs.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now supports PostgreSQL 13</a:t>
            </a:r>
          </a:p>
        </p:txBody>
      </p:sp>
      <p:sp>
        <p:nvSpPr>
          <p:cNvPr id="3" name="Content Placeholder 2"/>
          <p:cNvSpPr>
            <a:spLocks noGrp="1"/>
          </p:cNvSpPr>
          <p:nvPr>
            <p:ph sz="half" idx="1"/>
          </p:nvPr>
        </p:nvSpPr>
        <p:spPr/>
        <p:txBody>
          <a:bodyPr/>
          <a:lstStyle/>
          <a:p>
            <a:r>
              <a:t>24 Feb</a:t>
            </a:r>
          </a:p>
          <a:p>
            <a:endParaRPr/>
          </a:p>
          <a:p>
            <a:r>
              <a:t>Amazon RDS for PostgreSQL now supports major version 13. PostgreSQL 13  includes improved functionality and performance from new features and performance from new features and enhancements such as de-duplication of B-tree index entries, improved performance for queries that use partitioned tables, incremental sorting to accelerate data sorts, parallel processing of indexes with the VACUUM command, more ways to monitor activity within a PostgreSQL database, new security capabilities, and more. This release also adds support for bool_plperl, which simplifies writing Perl procedures.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Auto Scaling now shows scaling history for deleted groups</a:t>
            </a:r>
          </a:p>
        </p:txBody>
      </p:sp>
      <p:sp>
        <p:nvSpPr>
          <p:cNvPr id="3" name="Content Placeholder 2"/>
          <p:cNvSpPr>
            <a:spLocks noGrp="1"/>
          </p:cNvSpPr>
          <p:nvPr>
            <p:ph sz="half" idx="1"/>
          </p:nvPr>
        </p:nvSpPr>
        <p:spPr/>
        <p:txBody>
          <a:bodyPr/>
          <a:lstStyle/>
          <a:p>
            <a:r>
              <a:t>23 Feb</a:t>
            </a:r>
          </a:p>
          <a:p>
            <a:endParaRPr/>
          </a:p>
          <a:p>
            <a:r>
              <a:t>Amazon EC2 Auto Scaling now allows you to view deleted Auto Scaling groups in the scaling history. Previously if you deleted an Auto Scaling group, you needed to either maintain a record of scaling activities for deleted Auto Scaling groups or ask AWS support team to retrieve the scaling activities for you. Now, you can specify one additional parameter in a describe call to get a description of the scaling history for deleted Auto Scaling groups. This makes it easier to keep a record of scaling activities after an application has been shut down.</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Access Amazon EFS file systems from EC2 Mac instances running macOS Big Sur</a:t>
            </a:r>
          </a:p>
        </p:txBody>
      </p:sp>
      <p:sp>
        <p:nvSpPr>
          <p:cNvPr id="3" name="Content Placeholder 2"/>
          <p:cNvSpPr>
            <a:spLocks noGrp="1"/>
          </p:cNvSpPr>
          <p:nvPr>
            <p:ph sz="half" idx="1"/>
          </p:nvPr>
        </p:nvSpPr>
        <p:spPr/>
        <p:txBody>
          <a:bodyPr/>
          <a:lstStyle/>
          <a:p>
            <a:r>
              <a:t>23 Feb</a:t>
            </a:r>
          </a:p>
          <a:p>
            <a:endParaRPr/>
          </a:p>
          <a:p>
            <a:r>
              <a:t>Starting today, you can access Amazon Elastic File System (Amazon EFS) file systems from your Amazon EC2 Mac instances running macOS Big Sur. You can now mount your Amazon EFS file systems on your instances by using the Amazon EFS client , an open source toolset, installed using the Homebrew package manager. You can also mount your Amazon EFS file systems on your instances using the macOS native NFS client version 4.0. To learn more about mounting Amazon EFS file systems on EC2 Mac instances, see the Amazon EFS documentation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Patches 1.8.2 / 2.6.2 / 3.3.2 now available</a:t>
            </a:r>
          </a:p>
        </p:txBody>
      </p:sp>
      <p:sp>
        <p:nvSpPr>
          <p:cNvPr id="3" name="Content Placeholder 2"/>
          <p:cNvSpPr>
            <a:spLocks noGrp="1"/>
          </p:cNvSpPr>
          <p:nvPr>
            <p:ph sz="half" idx="1"/>
          </p:nvPr>
        </p:nvSpPr>
        <p:spPr/>
        <p:txBody>
          <a:bodyPr/>
          <a:lstStyle/>
          <a:p>
            <a:r>
              <a:t>23 Feb</a:t>
            </a:r>
          </a:p>
          <a:p>
            <a:endParaRPr/>
          </a:p>
          <a:p>
            <a:r>
              <a:t>Patches 1.8.2 / 2.6.2 / 3.3.2 are now available for customers using Amazon Aurora PostgreSQL. For detailed release notes visit our version documentation . You can apply the new patch version in the AWS Management Console, via the AWS CLI, or via the RDS API. For detailed instructions, please see our technical documentation .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add support for Reporting in Kibana</a:t>
            </a:r>
          </a:p>
        </p:txBody>
      </p:sp>
      <p:sp>
        <p:nvSpPr>
          <p:cNvPr id="3" name="Content Placeholder 2"/>
          <p:cNvSpPr>
            <a:spLocks noGrp="1"/>
          </p:cNvSpPr>
          <p:nvPr>
            <p:ph sz="half" idx="1"/>
          </p:nvPr>
        </p:nvSpPr>
        <p:spPr/>
        <p:txBody>
          <a:bodyPr/>
          <a:lstStyle/>
          <a:p>
            <a:r>
              <a:t>23 Feb</a:t>
            </a:r>
          </a:p>
          <a:p>
            <a:endParaRPr/>
          </a:p>
          <a:p>
            <a:r>
              <a:t>Amazon Elasticsearch Service now supports Reporting, a new feature that enables Kibana users to generate and download reports. They can now generate reports directly from the Dashboard, Visualize and Discover panels, and export them to PDF, CSV and PNG file formats.</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Contributor Insights for Amazon DynamoDB now supports AWS CloudFormation</a:t>
            </a:r>
          </a:p>
        </p:txBody>
      </p:sp>
      <p:sp>
        <p:nvSpPr>
          <p:cNvPr id="3" name="Content Placeholder 2"/>
          <p:cNvSpPr>
            <a:spLocks noGrp="1"/>
          </p:cNvSpPr>
          <p:nvPr>
            <p:ph sz="half" idx="1"/>
          </p:nvPr>
        </p:nvSpPr>
        <p:spPr/>
        <p:txBody>
          <a:bodyPr/>
          <a:lstStyle/>
          <a:p>
            <a:r>
              <a:t>23 Feb</a:t>
            </a:r>
          </a:p>
          <a:p>
            <a:endParaRPr/>
          </a:p>
          <a:p>
            <a:r>
              <a:t>Amazon CloudWatch Contributor Insights for Amazon DynamoDB now supports AWS CloudFormation, enabling you to manage Contributor Insights settings for DynamoDB with CloudFormation templates.  </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now provides disconnect reason for Voice Calls &amp; Tasks</a:t>
            </a:r>
          </a:p>
        </p:txBody>
      </p:sp>
      <p:sp>
        <p:nvSpPr>
          <p:cNvPr id="3" name="Content Placeholder 2"/>
          <p:cNvSpPr>
            <a:spLocks noGrp="1"/>
          </p:cNvSpPr>
          <p:nvPr>
            <p:ph sz="half" idx="1"/>
          </p:nvPr>
        </p:nvSpPr>
        <p:spPr/>
        <p:txBody>
          <a:bodyPr/>
          <a:lstStyle/>
          <a:p>
            <a:r>
              <a:t>22 Feb</a:t>
            </a:r>
          </a:p>
          <a:p>
            <a:endParaRPr/>
          </a:p>
          <a:p>
            <a:r>
              <a:t>Amazon Connect CTR (contact trace records) stream now includes disconnect reason for Voice calls &amp; Tasks. This will indicate whether an agent or customer disconnected the call, or whether a telecom or network issue caused a call to disconnect, or if a task was completed by an agent or flow.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CodeBuild supports Arm-based workloads using AWS Graviton2</a:t>
            </a:r>
          </a:p>
        </p:txBody>
      </p:sp>
      <p:sp>
        <p:nvSpPr>
          <p:cNvPr id="3" name="Content Placeholder 2"/>
          <p:cNvSpPr>
            <a:spLocks noGrp="1"/>
          </p:cNvSpPr>
          <p:nvPr>
            <p:ph sz="half" idx="1"/>
          </p:nvPr>
        </p:nvSpPr>
        <p:spPr/>
        <p:txBody>
          <a:bodyPr/>
          <a:lstStyle/>
          <a:p>
            <a:r>
              <a:t>22 Feb</a:t>
            </a:r>
          </a:p>
          <a:p>
            <a:endParaRPr/>
          </a:p>
          <a:p>
            <a:r>
              <a:t>AWS CodeBuild’s support for Arm-based workloads now run on AWS Graviton2 without any additional configuration.</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now provides region selection</a:t>
            </a:r>
          </a:p>
        </p:txBody>
      </p:sp>
      <p:sp>
        <p:nvSpPr>
          <p:cNvPr id="3" name="Content Placeholder 2"/>
          <p:cNvSpPr>
            <a:spLocks noGrp="1"/>
          </p:cNvSpPr>
          <p:nvPr>
            <p:ph sz="half" idx="1"/>
          </p:nvPr>
        </p:nvSpPr>
        <p:spPr/>
        <p:txBody>
          <a:bodyPr/>
          <a:lstStyle/>
          <a:p>
            <a:r>
              <a:t>22 Feb</a:t>
            </a:r>
          </a:p>
          <a:p>
            <a:endParaRPr/>
          </a:p>
          <a:p>
            <a:r>
              <a:t>Today, we are announcing AWS Control Tower Region Selection, a new capability that provides you the ability to efficiently manage the geographical footprint of your AWS Control Tower resources. You can now select the additional Regions you would like AWS Control Tower to govern; providing you with the capabilities to address compliance and regulatory concerns while balancing the costs associated with expanding into additional regions.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Support for KMS encryption on S3 buckets used by AWS Config</a:t>
            </a:r>
          </a:p>
        </p:txBody>
      </p:sp>
      <p:sp>
        <p:nvSpPr>
          <p:cNvPr id="3" name="Content Placeholder 2"/>
          <p:cNvSpPr>
            <a:spLocks noGrp="1"/>
          </p:cNvSpPr>
          <p:nvPr>
            <p:ph sz="half" idx="1"/>
          </p:nvPr>
        </p:nvSpPr>
        <p:spPr/>
        <p:txBody>
          <a:bodyPr/>
          <a:lstStyle/>
          <a:p>
            <a:r>
              <a:t>19 Feb</a:t>
            </a:r>
          </a:p>
          <a:p>
            <a:endParaRPr/>
          </a:p>
          <a:p>
            <a:r>
              <a:t>AWS Config now supports the ability to use an AWS Key Management Service (KMS) key or alias Amazon Resource Name (ARN) that you provide, to encrypt the data delivered to your Amazon Simple Storage Service (S3) bucket. By default, AWS Config delivers configuration history and snapshot files to your S3 bucket and encrypts the data at rest using S3 AES-256 server-side encryption, SSE-S3. With this release, if you provide AWS Config with your KMS key or alias ARN, AWS Config will use that KMS key instead of using AES-256 encryption.</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Publishes New Events for Multi-AZ Deployments</a:t>
            </a:r>
          </a:p>
        </p:txBody>
      </p:sp>
      <p:sp>
        <p:nvSpPr>
          <p:cNvPr id="3" name="Content Placeholder 2"/>
          <p:cNvSpPr>
            <a:spLocks noGrp="1"/>
          </p:cNvSpPr>
          <p:nvPr>
            <p:ph sz="half" idx="1"/>
          </p:nvPr>
        </p:nvSpPr>
        <p:spPr/>
        <p:txBody>
          <a:bodyPr/>
          <a:lstStyle/>
          <a:p>
            <a:r>
              <a:t>19 Feb</a:t>
            </a:r>
          </a:p>
          <a:p>
            <a:endParaRPr/>
          </a:p>
          <a:p>
            <a:r>
              <a:t>Amazon RDS adds new events reporting the cause of an Amazon RDS Multi-AZ automated database failover so that you can detect and respond to your outage faster. You can view these failover reasons  in the event log.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Assign a Delegated Administrator to manage AWS CloudFormation StackSets across your AWS Organization</a:t>
            </a:r>
          </a:p>
        </p:txBody>
      </p:sp>
      <p:sp>
        <p:nvSpPr>
          <p:cNvPr id="3" name="Content Placeholder 2"/>
          <p:cNvSpPr>
            <a:spLocks noGrp="1"/>
          </p:cNvSpPr>
          <p:nvPr>
            <p:ph sz="half" idx="1"/>
          </p:nvPr>
        </p:nvSpPr>
        <p:spPr/>
        <p:txBody>
          <a:bodyPr>
            <a:normAutofit fontScale="85000" lnSpcReduction="10000"/>
          </a:bodyPr>
          <a:lstStyle/>
          <a:p>
            <a:r>
              <a:t>19 Feb</a:t>
            </a:r>
          </a:p>
          <a:p>
            <a:endParaRPr/>
          </a:p>
          <a:p>
            <a:r>
              <a:t>AWS CloudFormation StackSets  extends the functionality of stacks by enabling you to create, update, or delete stacks across multiple accounts and regions with a single operation. Last year, we introduced StackSets integration with AWS Organizations, allowing you to define a central template that can be applied across AWS accounts, reducing the need for you to set up permissions, networking needs, and infrastructure for each new account, and allowing you to easily apply changes across your organization. We are now announcing the ability to delegate an AWS member account in your organization as an administrator to create and manage stack sets for your entire organization. Delegated administration removes the need for you to access the management account for stack sets administration on behalf of the organization. Using this feature enables you to adopt an AWS security best-practice, which recommends that you delegate responsibilities outside of the management account where possible.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adds Trace Analytics, a new feature for distributed tracing</a:t>
            </a:r>
          </a:p>
        </p:txBody>
      </p:sp>
      <p:sp>
        <p:nvSpPr>
          <p:cNvPr id="3" name="Content Placeholder 2"/>
          <p:cNvSpPr>
            <a:spLocks noGrp="1"/>
          </p:cNvSpPr>
          <p:nvPr>
            <p:ph sz="half" idx="1"/>
          </p:nvPr>
        </p:nvSpPr>
        <p:spPr/>
        <p:txBody>
          <a:bodyPr/>
          <a:lstStyle/>
          <a:p>
            <a:r>
              <a:t>17 Feb</a:t>
            </a:r>
          </a:p>
          <a:p>
            <a:endParaRPr/>
          </a:p>
          <a:p>
            <a:r>
              <a:t>Amazon Elasticsearch Service adds Trace Analytics, a new feature for distributed tracing that enables developers and IT operators to find and fix performance problems in distributed applications, leading to faster problem resolution times.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and EKS Distro now supports Kubernetes version 1.19</a:t>
            </a:r>
          </a:p>
        </p:txBody>
      </p:sp>
      <p:sp>
        <p:nvSpPr>
          <p:cNvPr id="3" name="Content Placeholder 2"/>
          <p:cNvSpPr>
            <a:spLocks noGrp="1"/>
          </p:cNvSpPr>
          <p:nvPr>
            <p:ph sz="half" idx="1"/>
          </p:nvPr>
        </p:nvSpPr>
        <p:spPr/>
        <p:txBody>
          <a:bodyPr/>
          <a:lstStyle/>
          <a:p>
            <a:r>
              <a:t>16 Feb</a:t>
            </a:r>
          </a:p>
          <a:p>
            <a:endParaRPr/>
          </a:p>
          <a:p>
            <a:r>
              <a:t>Kubernetes is rapidly evolving, with frequent feature releases and bug fixes. Highlights of the Kubernetes 1.19 release include Ingress API  and Pod Topology Spread  reaching stable status, EndpointSlices  being enabled by default, and immutable Secrets  and ConfigMaps . Learn more about Kubernetes version 1.19 in the Kubernetes project release notes .</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Direct Connect Announces Native 100 Gbps Dedicated Connections at Select Locations</a:t>
            </a:r>
          </a:p>
        </p:txBody>
      </p:sp>
      <p:sp>
        <p:nvSpPr>
          <p:cNvPr id="3" name="Content Placeholder 2"/>
          <p:cNvSpPr>
            <a:spLocks noGrp="1"/>
          </p:cNvSpPr>
          <p:nvPr>
            <p:ph sz="half" idx="1"/>
          </p:nvPr>
        </p:nvSpPr>
        <p:spPr/>
        <p:txBody>
          <a:bodyPr/>
          <a:lstStyle/>
          <a:p>
            <a:r>
              <a:t>15 Feb</a:t>
            </a:r>
          </a:p>
          <a:p>
            <a:endParaRPr/>
          </a:p>
          <a:p>
            <a:r>
              <a:t>AWS Direct Connect now offers native 100 Gbps Dedicated Connections to support your private connectivity needs to the cloud.</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DynamoDB Accelerator (DAX) now supports next generation, burstable general-purpose Amazon EC2 T3 instance types</a:t>
            </a:r>
          </a:p>
        </p:txBody>
      </p:sp>
      <p:sp>
        <p:nvSpPr>
          <p:cNvPr id="3" name="Content Placeholder 2"/>
          <p:cNvSpPr>
            <a:spLocks noGrp="1"/>
          </p:cNvSpPr>
          <p:nvPr>
            <p:ph sz="half" idx="1"/>
          </p:nvPr>
        </p:nvSpPr>
        <p:spPr/>
        <p:txBody>
          <a:bodyPr/>
          <a:lstStyle/>
          <a:p>
            <a:r>
              <a:t>15 Feb</a:t>
            </a:r>
          </a:p>
          <a:p>
            <a:endParaRPr/>
          </a:p>
          <a:p>
            <a:r>
              <a:t>Amazon DynamoDB Accelerator (DAX) now supports next-generation, burstable general-purpose Amazon EC2 T3 instance types, which provide a baseline level of CPU performance with the ability to burst CPU usage however long is required.</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MySQL and MariaDB support replication filtering</a:t>
            </a:r>
          </a:p>
        </p:txBody>
      </p:sp>
      <p:sp>
        <p:nvSpPr>
          <p:cNvPr id="3" name="Content Placeholder 2"/>
          <p:cNvSpPr>
            <a:spLocks noGrp="1"/>
          </p:cNvSpPr>
          <p:nvPr>
            <p:ph sz="half" idx="1"/>
          </p:nvPr>
        </p:nvSpPr>
        <p:spPr/>
        <p:txBody>
          <a:bodyPr/>
          <a:lstStyle/>
          <a:p>
            <a:r>
              <a:t>12 Feb</a:t>
            </a:r>
          </a:p>
          <a:p>
            <a:endParaRPr/>
          </a:p>
          <a:p>
            <a:r>
              <a:t>Amazon Relational Database Service (Amazon RDS) now supports replication filters for MySQL and MariaDB instances. Replication filters specify which databases and tables are replicated in a read replica. Customers create lists of databases and tables to include or exclude for each replica.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Launch Amazon SageMaker Studio using AWS CloudFormation</a:t>
            </a:r>
          </a:p>
        </p:txBody>
      </p:sp>
      <p:sp>
        <p:nvSpPr>
          <p:cNvPr id="3" name="Content Placeholder 2"/>
          <p:cNvSpPr>
            <a:spLocks noGrp="1"/>
          </p:cNvSpPr>
          <p:nvPr>
            <p:ph sz="half" idx="1"/>
          </p:nvPr>
        </p:nvSpPr>
        <p:spPr/>
        <p:txBody>
          <a:bodyPr/>
          <a:lstStyle/>
          <a:p>
            <a:r>
              <a:t>12 Feb</a:t>
            </a:r>
          </a:p>
          <a:p>
            <a:endParaRPr/>
          </a:p>
          <a:p>
            <a:r>
              <a:t>Amazon SageMaker Studio is the first fully integrated development environment (IDE) for machine learning (ML). SageMaker Studio provides a single, web-based visual interface where you can perform all ML development steps required to prepare, build, train and tune, deploy and manage models. Starting today, you can now automate the process of creating SageMaker Studio domains  and adding user profiles using AWS CloudFormation.</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WAF adds support for JSON parsing and inspection</a:t>
            </a:r>
          </a:p>
        </p:txBody>
      </p:sp>
      <p:sp>
        <p:nvSpPr>
          <p:cNvPr id="3" name="Content Placeholder 2"/>
          <p:cNvSpPr>
            <a:spLocks noGrp="1"/>
          </p:cNvSpPr>
          <p:nvPr>
            <p:ph sz="half" idx="1"/>
          </p:nvPr>
        </p:nvSpPr>
        <p:spPr/>
        <p:txBody>
          <a:bodyPr/>
          <a:lstStyle/>
          <a:p>
            <a:r>
              <a:t>12 Feb</a:t>
            </a:r>
          </a:p>
          <a:p>
            <a:endParaRPr/>
          </a:p>
          <a:p>
            <a:r>
              <a:t>AWS WAF can now natively parse request body JSON content, allowing you to inspect specific keys or values of the JSON content with AWS WAF rules. This capability helps you protect your APIs by checking for valid JSON structure, inspecting the JSON content for common threats against your application, and reducing false positives by inspecting only the keys or values in the JSON content.</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VPC Endpoints for AWS CloudHSM</a:t>
            </a:r>
          </a:p>
        </p:txBody>
      </p:sp>
      <p:sp>
        <p:nvSpPr>
          <p:cNvPr id="3" name="Content Placeholder 2"/>
          <p:cNvSpPr>
            <a:spLocks noGrp="1"/>
          </p:cNvSpPr>
          <p:nvPr>
            <p:ph sz="half" idx="1"/>
          </p:nvPr>
        </p:nvSpPr>
        <p:spPr/>
        <p:txBody>
          <a:bodyPr/>
          <a:lstStyle/>
          <a:p>
            <a:r>
              <a:t>11 Feb</a:t>
            </a:r>
          </a:p>
          <a:p>
            <a:endParaRPr/>
          </a:p>
          <a:p>
            <a:r>
              <a:t>You can now access AWS CloudHSM service APIs from your Amazon Virtual Private Cloud (Amazon VPC) using VPC endpoints. Amazon VPC endpoints are easy to configure and provide reliable connectivity to AWS CloudHSM service APIs without requiring an internet gateway or a Network Address Translation (NAT) instance.</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Identity and Access Management now supports tags on additional resources</a:t>
            </a:r>
          </a:p>
        </p:txBody>
      </p:sp>
      <p:sp>
        <p:nvSpPr>
          <p:cNvPr id="3" name="Content Placeholder 2"/>
          <p:cNvSpPr>
            <a:spLocks noGrp="1"/>
          </p:cNvSpPr>
          <p:nvPr>
            <p:ph sz="half" idx="1"/>
          </p:nvPr>
        </p:nvSpPr>
        <p:spPr/>
        <p:txBody>
          <a:bodyPr/>
          <a:lstStyle/>
          <a:p>
            <a:r>
              <a:t>11 Feb</a:t>
            </a:r>
          </a:p>
          <a:p>
            <a:endParaRPr/>
          </a:p>
          <a:p>
            <a:r>
              <a:t>AWS Identity and Access Management (IAM ) now allows administrators to use tags to manage and secure access to Customer Managed Policies , Instance Profiles , OpenID Connect Providers , SAML Providers , Server Certificates , and Virtual MFAs .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Global Database supports managed planned failover</a:t>
            </a:r>
          </a:p>
        </p:txBody>
      </p:sp>
      <p:sp>
        <p:nvSpPr>
          <p:cNvPr id="3" name="Content Placeholder 2"/>
          <p:cNvSpPr>
            <a:spLocks noGrp="1"/>
          </p:cNvSpPr>
          <p:nvPr>
            <p:ph sz="half" idx="1"/>
          </p:nvPr>
        </p:nvSpPr>
        <p:spPr/>
        <p:txBody>
          <a:bodyPr>
            <a:normAutofit fontScale="92500" lnSpcReduction="20000"/>
          </a:bodyPr>
          <a:lstStyle/>
          <a:p>
            <a:r>
              <a:t>11 Feb</a:t>
            </a:r>
          </a:p>
          <a:p>
            <a:endParaRPr/>
          </a:p>
          <a:p>
            <a:r>
              <a:t>An Amazon Aurora Global Database is a single database that can span up to 6 AWS Regions, enabling disaster recovery from region-wide outages and low latency global reads. With today’s launch, you can seamlessly change your global cluster’s primary AWS Region, the region that serves writes, while preserving the replication between all regions in the global cluster. With this managed planned failover capability, you can repeatedly change which AWS Region hosts the primary cluster while preserving the physical topology of your global database and avoiding unnecessary application changes. Aurora Global Database managed planned fail over simplifies the planned fail over process in scenarios like rotating the primary region for regulatory compliance or disaster recovery exercises. Check out this blog to learn how to perform managed planned failovers with Global Database.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now allows you to configure the size of the dataset when auto-generating data quality statistics</a:t>
            </a:r>
          </a:p>
        </p:txBody>
      </p:sp>
      <p:sp>
        <p:nvSpPr>
          <p:cNvPr id="3" name="Content Placeholder 2"/>
          <p:cNvSpPr>
            <a:spLocks noGrp="1"/>
          </p:cNvSpPr>
          <p:nvPr>
            <p:ph sz="half" idx="1"/>
          </p:nvPr>
        </p:nvSpPr>
        <p:spPr/>
        <p:txBody>
          <a:bodyPr/>
          <a:lstStyle/>
          <a:p>
            <a:r>
              <a:t>11 Feb</a:t>
            </a:r>
          </a:p>
          <a:p>
            <a:endParaRPr/>
          </a:p>
          <a:p>
            <a:r>
              <a:t>When running profile jobs in AWS Glue DataBrew to auto-generate 40+ data quality statistics like column-level cardinality, numerical correlations, unique values, standard deviation, and other statistics, you can now configure the size of the dataset you want analyzed. This allows you to customize your profile to run on x% of the dataset for really large datasets or focus on a sub-sample of the dataset for faster results.</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VPC Traffic Mirroring is now supported on select non-Nitro instance types</a:t>
            </a:r>
          </a:p>
        </p:txBody>
      </p:sp>
      <p:sp>
        <p:nvSpPr>
          <p:cNvPr id="3" name="Content Placeholder 2"/>
          <p:cNvSpPr>
            <a:spLocks noGrp="1"/>
          </p:cNvSpPr>
          <p:nvPr>
            <p:ph sz="half" idx="1"/>
          </p:nvPr>
        </p:nvSpPr>
        <p:spPr/>
        <p:txBody>
          <a:bodyPr/>
          <a:lstStyle/>
          <a:p>
            <a:r>
              <a:t>10 Feb</a:t>
            </a:r>
          </a:p>
          <a:p>
            <a:endParaRPr/>
          </a:p>
          <a:p>
            <a:r>
              <a:t>Amazon Virtual Private Cloud (Amazon VPC) Traffic Mirroring is now supported on additional select non-Nitro instance types. Amazon VPC Traffic Mirroring allows you to replicate the network traffic from EC2 instances within your VPC to security and monitoring appliances for use cases such as content inspection, threat monitoring, and troubleshooting.</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Timestream now offers cross table queries, query execution statistics, and more</a:t>
            </a:r>
          </a:p>
        </p:txBody>
      </p:sp>
      <p:sp>
        <p:nvSpPr>
          <p:cNvPr id="3" name="Content Placeholder 2"/>
          <p:cNvSpPr>
            <a:spLocks noGrp="1"/>
          </p:cNvSpPr>
          <p:nvPr>
            <p:ph sz="half" idx="1"/>
          </p:nvPr>
        </p:nvSpPr>
        <p:spPr/>
        <p:txBody>
          <a:bodyPr/>
          <a:lstStyle/>
          <a:p>
            <a:r>
              <a:t>10 Feb</a:t>
            </a:r>
          </a:p>
          <a:p>
            <a:endParaRPr/>
          </a:p>
          <a:p>
            <a:r>
              <a:t>Amazon Timestream has added new capabilities to its SQL query language to enable customers to gain deeper insights from their time series data by running cross table queries and queries with advanced time series functions. Starting today, customers can also gain more transparency into the query execution statistics, to better understand the cost and duration of a running query. Lastly, the implementation of Amazon Timestream’s JDBC Driver is now available under the Apache 2.0 License on GitHub , so customers can contribute new features and enhancements to the JDBC driver.</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now provides column importance metrics in the FindMatches machine learning transform</a:t>
            </a:r>
          </a:p>
        </p:txBody>
      </p:sp>
      <p:sp>
        <p:nvSpPr>
          <p:cNvPr id="3" name="Content Placeholder 2"/>
          <p:cNvSpPr>
            <a:spLocks noGrp="1"/>
          </p:cNvSpPr>
          <p:nvPr>
            <p:ph sz="half" idx="1"/>
          </p:nvPr>
        </p:nvSpPr>
        <p:spPr/>
        <p:txBody>
          <a:bodyPr/>
          <a:lstStyle/>
          <a:p>
            <a:r>
              <a:t>10 Feb</a:t>
            </a:r>
          </a:p>
          <a:p>
            <a:endParaRPr/>
          </a:p>
          <a:p>
            <a:r>
              <a:t>The FindMatches ML transform in AWS Glue now includes information on how much each column in the dataset contributed to determining if records were matches. The FindMatches transform enables you to identify duplicate or matching records in your dataset, even when the records do not have a common unique identifier and no fields match exactly. This feature makes it easier to decide how to improve your FindMatches transforms.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(for Apache Cassandra) now helps you automate table creation by supporting point-in-time recovery and tag settings in AWS CloudFormation</a:t>
            </a:r>
          </a:p>
        </p:txBody>
      </p:sp>
      <p:sp>
        <p:nvSpPr>
          <p:cNvPr id="3" name="Content Placeholder 2"/>
          <p:cNvSpPr>
            <a:spLocks noGrp="1"/>
          </p:cNvSpPr>
          <p:nvPr>
            <p:ph sz="half" idx="1"/>
          </p:nvPr>
        </p:nvSpPr>
        <p:spPr/>
        <p:txBody>
          <a:bodyPr/>
          <a:lstStyle/>
          <a:p>
            <a:r>
              <a:t>09 Feb</a:t>
            </a:r>
          </a:p>
          <a:p>
            <a:endParaRPr/>
          </a:p>
          <a:p>
            <a:r>
              <a:t>Amazon Keyspaces (for Apache Cassandra), a scalable, highly available, and fully managed Apache Cassandra–compatible database service, now helps you automate table creation by supporting point-in-time recovery  (PITR) and tag settings  in AWS CloudFormation.</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 Map now supports resource tagging in AWS Console</a:t>
            </a:r>
          </a:p>
        </p:txBody>
      </p:sp>
      <p:sp>
        <p:nvSpPr>
          <p:cNvPr id="3" name="Content Placeholder 2"/>
          <p:cNvSpPr>
            <a:spLocks noGrp="1"/>
          </p:cNvSpPr>
          <p:nvPr>
            <p:ph sz="half" idx="1"/>
          </p:nvPr>
        </p:nvSpPr>
        <p:spPr/>
        <p:txBody>
          <a:bodyPr/>
          <a:lstStyle/>
          <a:p>
            <a:r>
              <a:t>08 Feb</a:t>
            </a:r>
          </a:p>
          <a:p>
            <a:endParaRPr/>
          </a:p>
          <a:p>
            <a:r>
              <a:t>You can now tag your AWS Cloud Map namespaces and services through AWS Console. AWS Cloud Map is a cloud resource discovery service. Using AWS Cloud Map, you can define custom names for your application resources, such as Amazon ECS tasks, Amazon EC2 instances, Amazon S3 buckets, or any other cloud resource. Your application can then discover the location and metadata of cloud resources associated with these custom names via AWS SDK or by making authenticated API calls. </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EC2 M5n, M5dn, R5n, and R5dn Bare Metal Instances</a:t>
            </a:r>
          </a:p>
        </p:txBody>
      </p:sp>
      <p:sp>
        <p:nvSpPr>
          <p:cNvPr id="3" name="Content Placeholder 2"/>
          <p:cNvSpPr>
            <a:spLocks noGrp="1"/>
          </p:cNvSpPr>
          <p:nvPr>
            <p:ph sz="half" idx="1"/>
          </p:nvPr>
        </p:nvSpPr>
        <p:spPr/>
        <p:txBody>
          <a:bodyPr/>
          <a:lstStyle/>
          <a:p>
            <a:r>
              <a:t>05 Feb</a:t>
            </a:r>
          </a:p>
          <a:p>
            <a:endParaRPr/>
          </a:p>
          <a:p>
            <a:r>
              <a:t>Starting today, Amazon EC2 M5n, M5dn, R5n, and R5dn bare metal instances that can utilize up to 100 Gbps of network bandwidth, and Elastic Fabric Adapter (EFA) for HPC/ML workloads are generally available. Amazon EC2 bare metal instances provide your applications with direct access to the Intel® Xeon® Scalable processor and memory resources of the underlying server. These instances are ideal for workloads that require access to the hardware feature set (such as Intel® VT-x), or for applications that need to run in non-virtualized environments for licensing or support requirements.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Copilot launches v1.2 providing more deployment capabilities</a:t>
            </a:r>
          </a:p>
        </p:txBody>
      </p:sp>
      <p:sp>
        <p:nvSpPr>
          <p:cNvPr id="3" name="Content Placeholder 2"/>
          <p:cNvSpPr>
            <a:spLocks noGrp="1"/>
          </p:cNvSpPr>
          <p:nvPr>
            <p:ph sz="half" idx="1"/>
          </p:nvPr>
        </p:nvSpPr>
        <p:spPr/>
        <p:txBody>
          <a:bodyPr/>
          <a:lstStyle/>
          <a:p>
            <a:r>
              <a:t>04 Feb</a:t>
            </a:r>
          </a:p>
          <a:p>
            <a:endParaRPr/>
          </a:p>
          <a:p>
            <a:r>
              <a:t>Today, AWS Copilot  launched version 1.2 which now provides more deployment capabilities for applications hosted on Amazon Elastic Container Service (Amazon ECS).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 Mesh now supports mutual TLS authentication</a:t>
            </a:r>
          </a:p>
        </p:txBody>
      </p:sp>
      <p:sp>
        <p:nvSpPr>
          <p:cNvPr id="3" name="Content Placeholder 2"/>
          <p:cNvSpPr>
            <a:spLocks noGrp="1"/>
          </p:cNvSpPr>
          <p:nvPr>
            <p:ph sz="half" idx="1"/>
          </p:nvPr>
        </p:nvSpPr>
        <p:spPr/>
        <p:txBody>
          <a:bodyPr/>
          <a:lstStyle/>
          <a:p>
            <a:r>
              <a:t>04 Feb</a:t>
            </a:r>
          </a:p>
          <a:p>
            <a:endParaRPr/>
          </a:p>
          <a:p>
            <a:r>
              <a:t>AWS App Mesh now supports mutual TLS (Transport Layer Security) authentication that offers two-way peer authentication. AWS App Mesh is a service mesh that provides application-level networking to standardize how your services communicate, giving you end-to-end visibility and options to tune for high-availability of your applications.</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Backup Events and Metrics now available in Amazon CloudWatch</a:t>
            </a:r>
          </a:p>
        </p:txBody>
      </p:sp>
      <p:sp>
        <p:nvSpPr>
          <p:cNvPr id="3" name="Content Placeholder 2"/>
          <p:cNvSpPr>
            <a:spLocks noGrp="1"/>
          </p:cNvSpPr>
          <p:nvPr>
            <p:ph sz="half" idx="1"/>
          </p:nvPr>
        </p:nvSpPr>
        <p:spPr/>
        <p:txBody>
          <a:bodyPr/>
          <a:lstStyle/>
          <a:p>
            <a:r>
              <a:t>03 Feb</a:t>
            </a:r>
          </a:p>
          <a:p>
            <a:endParaRPr/>
          </a:p>
          <a:p>
            <a:r>
              <a:t>AWS Backup adds the ability to monitor your AWS Backup metrics and events via Amazon CloudWatch. AWS Backup enables you to centralize and automate data protection across AWS services and accounts, helping you support your regulatory compliance obligations and meet business continuity goals.</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Take actions before and after patching to improve safety during patch installation</a:t>
            </a:r>
          </a:p>
        </p:txBody>
      </p:sp>
      <p:sp>
        <p:nvSpPr>
          <p:cNvPr id="3" name="Content Placeholder 2"/>
          <p:cNvSpPr>
            <a:spLocks noGrp="1"/>
          </p:cNvSpPr>
          <p:nvPr>
            <p:ph sz="half" idx="1"/>
          </p:nvPr>
        </p:nvSpPr>
        <p:spPr/>
        <p:txBody>
          <a:bodyPr/>
          <a:lstStyle/>
          <a:p>
            <a:r>
              <a:t>03 Feb</a:t>
            </a:r>
          </a:p>
          <a:p>
            <a:endParaRPr/>
          </a:p>
          <a:p>
            <a:r>
              <a:t>Patch Manager, a capability of AWS Systems Manager, now enables you to configure actions to be performed on a managed instance before and after installing patches. Using this feature, you can configure actions to perform pre-installation checks such as ensuring that “Windows Update Service” is running before patching instances. Furthermore, you can configure actions that perform post-installation health checks to ensure that your instances are healthy after being patched.  </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now supports Node.js 14</a:t>
            </a:r>
          </a:p>
        </p:txBody>
      </p:sp>
      <p:sp>
        <p:nvSpPr>
          <p:cNvPr id="3" name="Content Placeholder 2"/>
          <p:cNvSpPr>
            <a:spLocks noGrp="1"/>
          </p:cNvSpPr>
          <p:nvPr>
            <p:ph sz="half" idx="1"/>
          </p:nvPr>
        </p:nvSpPr>
        <p:spPr/>
        <p:txBody>
          <a:bodyPr/>
          <a:lstStyle/>
          <a:p>
            <a:r>
              <a:t>03 Feb</a:t>
            </a:r>
          </a:p>
          <a:p>
            <a:endParaRPr/>
          </a:p>
          <a:p>
            <a:r>
              <a:t>You can now author AWS Lambda functions in Node.js 14 and use its new features, such as top-level-await, enhanced diagnostics, modifications of the streams APIs, and a revised JavaScript engine for better performance. Lambda functions written in Node.js 14 run on Amazon Linux 2, the latest generation of Amazon Linux. To learn more about writing functions in Node.js 14, see the Node.js programming model  in the Lambda documentation.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Synthetics supports Amazon API Gateway in API blueprint</a:t>
            </a:r>
          </a:p>
        </p:txBody>
      </p:sp>
      <p:sp>
        <p:nvSpPr>
          <p:cNvPr id="3" name="Content Placeholder 2"/>
          <p:cNvSpPr>
            <a:spLocks noGrp="1"/>
          </p:cNvSpPr>
          <p:nvPr>
            <p:ph sz="half" idx="1"/>
          </p:nvPr>
        </p:nvSpPr>
        <p:spPr/>
        <p:txBody>
          <a:bodyPr/>
          <a:lstStyle/>
          <a:p>
            <a:r>
              <a:t>02 Feb</a:t>
            </a:r>
          </a:p>
          <a:p>
            <a:endParaRPr/>
          </a:p>
          <a:p>
            <a:r>
              <a:t>Amazon CloudWatch Synthetics adds support to create canaries for your Amazon API Gateway APIs using the API blueprint. This simplifies your canary setup time and makes it easy to monitor your API Gateway APIs.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supports Oracle Application Express (APEX) Version 20.2</a:t>
            </a:r>
          </a:p>
        </p:txBody>
      </p:sp>
      <p:sp>
        <p:nvSpPr>
          <p:cNvPr id="3" name="Content Placeholder 2"/>
          <p:cNvSpPr>
            <a:spLocks noGrp="1"/>
          </p:cNvSpPr>
          <p:nvPr>
            <p:ph sz="half" idx="1"/>
          </p:nvPr>
        </p:nvSpPr>
        <p:spPr/>
        <p:txBody>
          <a:bodyPr/>
          <a:lstStyle/>
          <a:p>
            <a:r>
              <a:t>02 Feb</a:t>
            </a:r>
          </a:p>
          <a:p>
            <a:endParaRPr/>
          </a:p>
          <a:p>
            <a:r>
              <a:t>Amazon RDS for Oracle now supports 20.2 version of Oracle Application Express  (APEX) for 12.1, 12.2, 18c and 19c versions of Oracle Database. Using APEX, developers can build applications entirely within their web browser.</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Batch Operations adds support for Delete Object Tagging</a:t>
            </a:r>
          </a:p>
        </p:txBody>
      </p:sp>
      <p:sp>
        <p:nvSpPr>
          <p:cNvPr id="3" name="Content Placeholder 2"/>
          <p:cNvSpPr>
            <a:spLocks noGrp="1"/>
          </p:cNvSpPr>
          <p:nvPr>
            <p:ph sz="half" idx="1"/>
          </p:nvPr>
        </p:nvSpPr>
        <p:spPr/>
        <p:txBody>
          <a:bodyPr/>
          <a:lstStyle/>
          <a:p>
            <a:r>
              <a:t>02 Feb</a:t>
            </a:r>
          </a:p>
          <a:p>
            <a:endParaRPr/>
          </a:p>
          <a:p>
            <a:r>
              <a:t>You can now perform S3 Delete Object Tagging operations using Amazon S3 Batch Operations to delete object tags across many objects with a single API request or a few clicks in the S3 Management Console. S3 Batch Operations lets you perform repetitive or bulk actions like copying objects or replacing tag sets across billions of objects. S3 Batch Operations handles all the manual work, including managing retries and displaying progress.  </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Scheduled Actions of Application Auto Scaling now support Local Time Zone</a:t>
            </a:r>
          </a:p>
        </p:txBody>
      </p:sp>
      <p:sp>
        <p:nvSpPr>
          <p:cNvPr id="3" name="Content Placeholder 2"/>
          <p:cNvSpPr>
            <a:spLocks noGrp="1"/>
          </p:cNvSpPr>
          <p:nvPr>
            <p:ph sz="half" idx="1"/>
          </p:nvPr>
        </p:nvSpPr>
        <p:spPr/>
        <p:txBody>
          <a:bodyPr/>
          <a:lstStyle/>
          <a:p>
            <a:r>
              <a:t>02 Feb</a:t>
            </a:r>
          </a:p>
          <a:p>
            <a:endParaRPr/>
          </a:p>
          <a:p>
            <a:r>
              <a:t>Application Auto Scaling’s scheduled scaling, commonly known as scheduled actions, now supports Local Time Zones in addition to the default Coordinated Universal Time (UTC). You can now create the scheduled actions in your local time zone or another time zone from your network.  </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GuardDuty introduces machine learning domain reputation model to expand threat detection and improve accuracy</a:t>
            </a:r>
          </a:p>
        </p:txBody>
      </p:sp>
      <p:sp>
        <p:nvSpPr>
          <p:cNvPr id="3" name="Content Placeholder 2"/>
          <p:cNvSpPr>
            <a:spLocks noGrp="1"/>
          </p:cNvSpPr>
          <p:nvPr>
            <p:ph sz="half" idx="1"/>
          </p:nvPr>
        </p:nvSpPr>
        <p:spPr/>
        <p:txBody>
          <a:bodyPr/>
          <a:lstStyle/>
          <a:p>
            <a:r>
              <a:t>29 Jan</a:t>
            </a:r>
          </a:p>
          <a:p>
            <a:endParaRPr/>
          </a:p>
          <a:p>
            <a:r>
              <a:t>Amazon GuardDuty introduces a new machine learning domain reputation model that can categorize previously unseen domains as highly likely to be malicious or benign based on their behavioral characteristics. GuardDuty uses this new capability to alert customers when an EC2 instance in their AWS environment is communicating with a domain identified as malicious and to improve the accuracy of existing domain based threat detections.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SNS now supports 1-minute CloudWatch metrics</a:t>
            </a:r>
          </a:p>
        </p:txBody>
      </p:sp>
      <p:sp>
        <p:nvSpPr>
          <p:cNvPr id="3" name="Content Placeholder 2"/>
          <p:cNvSpPr>
            <a:spLocks noGrp="1"/>
          </p:cNvSpPr>
          <p:nvPr>
            <p:ph sz="half" idx="1"/>
          </p:nvPr>
        </p:nvSpPr>
        <p:spPr/>
        <p:txBody>
          <a:bodyPr/>
          <a:lstStyle/>
          <a:p>
            <a:r>
              <a:t>29 Jan</a:t>
            </a:r>
          </a:p>
          <a:p>
            <a:endParaRPr/>
          </a:p>
          <a:p>
            <a:r>
              <a:t>Amazon Simple Notification Service (Amazon SNS) now publishes metrics at 1-minute resolution to Amazon CloudWatch, providing granular monitoring for Amazon SNS standard and FIFO topics. Previously, Amazon SNS published metrics to Amazon CloudWatch in 5-minute resolution.  </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Managed Blockchain now supports resource tagging and tag-based access control</a:t>
            </a:r>
          </a:p>
        </p:txBody>
      </p:sp>
      <p:sp>
        <p:nvSpPr>
          <p:cNvPr id="3" name="Content Placeholder 2"/>
          <p:cNvSpPr>
            <a:spLocks noGrp="1"/>
          </p:cNvSpPr>
          <p:nvPr>
            <p:ph sz="half" idx="1"/>
          </p:nvPr>
        </p:nvSpPr>
        <p:spPr/>
        <p:txBody>
          <a:bodyPr/>
          <a:lstStyle/>
          <a:p>
            <a:r>
              <a:t>29 Jan</a:t>
            </a:r>
          </a:p>
          <a:p>
            <a:endParaRPr/>
          </a:p>
          <a:p>
            <a:r>
              <a:t>Amazon Managed Blockchain now supports assigning tags to networks, members, proposals, invitations, and nodes. Tags can be assigned to existing resources and to new resources at the time of creation. You can also define fine-grained access controls using tags and AWS Identity and Access Management (IAM) policies to control access to resources and actions. Tags are key-value pairs that you can assign to resources to easily organize and search for resources, automate resource activities, create cost allocation reports, and control access to resources.</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now adds Fluent Bit support for container logs from Amazon EKS and Kubernetes</a:t>
            </a:r>
          </a:p>
        </p:txBody>
      </p:sp>
      <p:sp>
        <p:nvSpPr>
          <p:cNvPr id="3" name="Content Placeholder 2"/>
          <p:cNvSpPr>
            <a:spLocks noGrp="1"/>
          </p:cNvSpPr>
          <p:nvPr>
            <p:ph sz="half" idx="1"/>
          </p:nvPr>
        </p:nvSpPr>
        <p:spPr/>
        <p:txBody>
          <a:bodyPr/>
          <a:lstStyle/>
          <a:p>
            <a:r>
              <a:t>28 Jan</a:t>
            </a:r>
          </a:p>
          <a:p>
            <a:endParaRPr/>
          </a:p>
          <a:p>
            <a:r>
              <a:t>AWS announces the availability of Fluent Bit support for Amazon CloudWatch, a fully managed, pay-as-you-go monitoring and observability service for resources running on AWS and on-premises. CloudWatch Container Insights  and Log Insights  enables you to explore, analyze, and visualize your container logs collected from the Fluent Bit processor. Container Insights also provides access to the automated dashboards that summarize the performance and availability of the FluentBit Daemon set running on Amazon Elastic Kubernetes Service (EKS) and Kubernetes.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in-place upgrades from PostgreSQL 11 to 12</a:t>
            </a:r>
          </a:p>
        </p:txBody>
      </p:sp>
      <p:sp>
        <p:nvSpPr>
          <p:cNvPr id="3" name="Content Placeholder 2"/>
          <p:cNvSpPr>
            <a:spLocks noGrp="1"/>
          </p:cNvSpPr>
          <p:nvPr>
            <p:ph sz="half" idx="1"/>
          </p:nvPr>
        </p:nvSpPr>
        <p:spPr/>
        <p:txBody>
          <a:bodyPr/>
          <a:lstStyle/>
          <a:p>
            <a:r>
              <a:t>28 Jan</a:t>
            </a:r>
          </a:p>
          <a:p>
            <a:endParaRPr/>
          </a:p>
          <a:p>
            <a:r>
              <a:t>Starting today, you can perform an in-place upgrade of your Amazon Aurora database cluster from PostgreSQL major version 11 to 12. Instead of backing up and restoring the database to the new version, you can upgrade with just a few clicks in the Amazon RDS Management Console  or by using the AWS SDK or CLI.</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extends encryption at rest and node-to-node encryption to existing domains</a:t>
            </a:r>
          </a:p>
        </p:txBody>
      </p:sp>
      <p:sp>
        <p:nvSpPr>
          <p:cNvPr id="3" name="Content Placeholder 2"/>
          <p:cNvSpPr>
            <a:spLocks noGrp="1"/>
          </p:cNvSpPr>
          <p:nvPr>
            <p:ph sz="half" idx="1"/>
          </p:nvPr>
        </p:nvSpPr>
        <p:spPr/>
        <p:txBody>
          <a:bodyPr/>
          <a:lstStyle/>
          <a:p>
            <a:r>
              <a:t>27 Jan</a:t>
            </a:r>
          </a:p>
          <a:p>
            <a:endParaRPr/>
          </a:p>
          <a:p>
            <a:r>
              <a:t>Amazon Elasticsearch Service now supports encryption of data at rest and node-to-node encryption on existing domains, enabling organizations hosting sensitive workloads to meet stringent security and compliance requirements.</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Discover, review, and remediate unintended access to Secrets Manager secrets using IAM Access Analyzer</a:t>
            </a:r>
          </a:p>
        </p:txBody>
      </p:sp>
      <p:sp>
        <p:nvSpPr>
          <p:cNvPr id="3" name="Content Placeholder 2"/>
          <p:cNvSpPr>
            <a:spLocks noGrp="1"/>
          </p:cNvSpPr>
          <p:nvPr>
            <p:ph sz="half" idx="1"/>
          </p:nvPr>
        </p:nvSpPr>
        <p:spPr/>
        <p:txBody>
          <a:bodyPr/>
          <a:lstStyle/>
          <a:p>
            <a:r>
              <a:t>27 Jan</a:t>
            </a:r>
          </a:p>
          <a:p>
            <a:endParaRPr/>
          </a:p>
          <a:p>
            <a:r>
              <a:t>AWS Identity and Access Management (IAM) Access Analyzer now analyzes AWS Secrets Manager resource-based policies to help you discover secrets that can be accessed publicly or from other accounts or organizations. IAM Access Analyzer makes it easier to identify and remediate unintended public, cross-account, or cross-organization sharing of your Secrets Manager secrets. This helps you reduce access to your secrets and adhere to the security best practice of least privilege.</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Shield Advanced now provides mitigation metrics and network traffic timelines</a:t>
            </a:r>
          </a:p>
        </p:txBody>
      </p:sp>
      <p:sp>
        <p:nvSpPr>
          <p:cNvPr id="3" name="Content Placeholder 2"/>
          <p:cNvSpPr>
            <a:spLocks noGrp="1"/>
          </p:cNvSpPr>
          <p:nvPr>
            <p:ph sz="half" idx="1"/>
          </p:nvPr>
        </p:nvSpPr>
        <p:spPr/>
        <p:txBody>
          <a:bodyPr/>
          <a:lstStyle/>
          <a:p>
            <a:r>
              <a:t>25 Jan</a:t>
            </a:r>
          </a:p>
          <a:p>
            <a:endParaRPr/>
          </a:p>
          <a:p>
            <a:r>
              <a:t>The AWS Shield Advanced dashboard now displays additional mitigation metrics and network traffic timeline details for events detected on protected resources. This also includes details about the actions automatically taken to mitigate DDoS attacks. You can use this information to more easily evaluate your applications when an unexpected increase in traffic is detected by Shield Advanced and better understand the actions taken by Shield Advanced to protect your availability.</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doubles managed storage quota to 128 TB per node for RA3.16XL and RA3.4XL node-types</a:t>
            </a:r>
          </a:p>
        </p:txBody>
      </p:sp>
      <p:sp>
        <p:nvSpPr>
          <p:cNvPr id="3" name="Content Placeholder 2"/>
          <p:cNvSpPr>
            <a:spLocks noGrp="1"/>
          </p:cNvSpPr>
          <p:nvPr>
            <p:ph sz="half" idx="1"/>
          </p:nvPr>
        </p:nvSpPr>
        <p:spPr/>
        <p:txBody>
          <a:bodyPr/>
          <a:lstStyle/>
          <a:p>
            <a:r>
              <a:t>25 Jan</a:t>
            </a:r>
          </a:p>
          <a:p>
            <a:endParaRPr/>
          </a:p>
          <a:p>
            <a:r>
              <a:t>Amazon Redshift, the most widely used cloud data warehouse, doubles the managed storage capacity for RA3.16XL and RA3.4XL node-types to 128 TB per node. If your data is growing rapidly, doubling the managed storage quota will help you analyze even more data without increasing your compute cost or changing your workload.</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(for Apache Cassandra) now supports JSON syntax to help you read and write data from other systems more easily</a:t>
            </a:r>
          </a:p>
        </p:txBody>
      </p:sp>
      <p:sp>
        <p:nvSpPr>
          <p:cNvPr id="3" name="Content Placeholder 2"/>
          <p:cNvSpPr>
            <a:spLocks noGrp="1"/>
          </p:cNvSpPr>
          <p:nvPr>
            <p:ph sz="half" idx="1"/>
          </p:nvPr>
        </p:nvSpPr>
        <p:spPr/>
        <p:txBody>
          <a:bodyPr/>
          <a:lstStyle/>
          <a:p>
            <a:r>
              <a:t>22 Jan</a:t>
            </a:r>
          </a:p>
          <a:p>
            <a:endParaRPr/>
          </a:p>
          <a:p>
            <a:r>
              <a:t>Amazon Keyspaces (for Apache Cassandra), a scalable, highly available, and fully managed Cassandra-compatible database service, now supports JavaScript Object Notation (JSON) syntax to help you read and write data from other systems more easily. </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Resource Groups Tagging API launches ResourceARNList parameter for the GetResources operation</a:t>
            </a:r>
          </a:p>
        </p:txBody>
      </p:sp>
      <p:sp>
        <p:nvSpPr>
          <p:cNvPr id="3" name="Content Placeholder 2"/>
          <p:cNvSpPr>
            <a:spLocks noGrp="1"/>
          </p:cNvSpPr>
          <p:nvPr>
            <p:ph sz="half" idx="1"/>
          </p:nvPr>
        </p:nvSpPr>
        <p:spPr/>
        <p:txBody>
          <a:bodyPr>
            <a:normAutofit fontScale="92500"/>
          </a:bodyPr>
          <a:lstStyle/>
          <a:p>
            <a:r>
              <a:t>21 Jan</a:t>
            </a:r>
          </a:p>
          <a:p>
            <a:endParaRPr/>
          </a:p>
          <a:p>
            <a:r>
              <a:t>The GetResources  operation of the Resource Groups Tagging API  helps you return all the tagged or previously tagged resources located in the specified region in an AWS account. The GetResources operation now supports the ResourceARNList  parameter. This new parameter accepts a list of up to 100 Amazon Resource Names  (ARNs), and returns a list of the specified resources and the tag data attached to each. This new ResourceARNList parameter lets you keep track of the tag status of the AWS resources you care about. Instead of having to do multiple calls to check for each resource individually, and then assemble the results, this feature lets you check tag status for multiple ARNs and get the results using a single call.</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Detective enhances IP Address Analytics</a:t>
            </a:r>
          </a:p>
        </p:txBody>
      </p:sp>
      <p:sp>
        <p:nvSpPr>
          <p:cNvPr id="3" name="Content Placeholder 2"/>
          <p:cNvSpPr>
            <a:spLocks noGrp="1"/>
          </p:cNvSpPr>
          <p:nvPr>
            <p:ph sz="half" idx="1"/>
          </p:nvPr>
        </p:nvSpPr>
        <p:spPr/>
        <p:txBody>
          <a:bodyPr>
            <a:normAutofit lnSpcReduction="10000"/>
          </a:bodyPr>
          <a:lstStyle/>
          <a:p>
            <a:r>
              <a:t>21 Jan</a:t>
            </a:r>
          </a:p>
          <a:p>
            <a:endParaRPr/>
          </a:p>
          <a:p>
            <a:r>
              <a:t>Amazon Detective now provides enhanced IP address analytics enabling faster security investigations. With this new capability you can answer questions about a specific IP address such as “how long has this IP address been interacting with the resources in my accounts”, “which of my EC2 instances did this IP address communicate with?”, “What were the data volumes exchanged with this IP address and which ports did the communication occur on?”, or “Which users and roles invoked API operations from this IP address?”. By providing answers to questions such as these, Detective empowers security analysts to quickly determine IP address behavior and diagnose security incidents.</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pg_cron Extension for Scheduling Database Jobs</a:t>
            </a:r>
          </a:p>
        </p:txBody>
      </p:sp>
      <p:sp>
        <p:nvSpPr>
          <p:cNvPr id="3" name="Content Placeholder 2"/>
          <p:cNvSpPr>
            <a:spLocks noGrp="1"/>
          </p:cNvSpPr>
          <p:nvPr>
            <p:ph sz="half" idx="1"/>
          </p:nvPr>
        </p:nvSpPr>
        <p:spPr/>
        <p:txBody>
          <a:bodyPr/>
          <a:lstStyle/>
          <a:p>
            <a:r>
              <a:t>19 Jan</a:t>
            </a:r>
          </a:p>
          <a:p>
            <a:endParaRPr/>
          </a:p>
          <a:p>
            <a:r>
              <a:t>Amazon RDS for PostgreSQL adds support for the pg_cron  extension.  </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Certificate Manager Private Certificate Authority now supports additional certificate customization</a:t>
            </a:r>
          </a:p>
        </p:txBody>
      </p:sp>
      <p:sp>
        <p:nvSpPr>
          <p:cNvPr id="3" name="Content Placeholder 2"/>
          <p:cNvSpPr>
            <a:spLocks noGrp="1"/>
          </p:cNvSpPr>
          <p:nvPr>
            <p:ph sz="half" idx="1"/>
          </p:nvPr>
        </p:nvSpPr>
        <p:spPr/>
        <p:txBody>
          <a:bodyPr/>
          <a:lstStyle/>
          <a:p>
            <a:r>
              <a:t>19 Jan</a:t>
            </a:r>
          </a:p>
          <a:p>
            <a:endParaRPr/>
          </a:p>
          <a:p>
            <a:r>
              <a:t>AWS Certificate Manager (ACM) Private Certificate Authority (CA) now supports additional customization options for issuing CA and end entity certificates to meet additional use cases such as identity certificates, including smart card certificates. Customers can now include certificate attributes via API calls at the time of issuance in addition to inclusion in the certificate signing request (CSR). Additionally, with this launch, customers can configure the certificate start date and time to account for clock skew and other situations in which IoT or other devices reset to a specific date in the past when they lose power.</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SDK for Go version 2 is now generally available</a:t>
            </a:r>
          </a:p>
        </p:txBody>
      </p:sp>
      <p:sp>
        <p:nvSpPr>
          <p:cNvPr id="3" name="Content Placeholder 2"/>
          <p:cNvSpPr>
            <a:spLocks noGrp="1"/>
          </p:cNvSpPr>
          <p:nvPr>
            <p:ph sz="half" idx="1"/>
          </p:nvPr>
        </p:nvSpPr>
        <p:spPr/>
        <p:txBody>
          <a:bodyPr/>
          <a:lstStyle/>
          <a:p>
            <a:r>
              <a:t>19 Jan</a:t>
            </a:r>
          </a:p>
          <a:p>
            <a:endParaRPr/>
          </a:p>
          <a:p>
            <a:r>
              <a:t>Today, the AWS SDKs and Tools announces general availability of the AWS SDK for Go, version 2 (v2) . This release has a modular architecture that allows customers to model service dependencies in their application and independently control service client updates using Go modules. A marked improvement in CPU and memory utilization provides more resources for application’s compute and memory intensive tasks.</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Application Insights supports Oracle database monitoring</a:t>
            </a:r>
          </a:p>
        </p:txBody>
      </p:sp>
      <p:sp>
        <p:nvSpPr>
          <p:cNvPr id="3" name="Content Placeholder 2"/>
          <p:cNvSpPr>
            <a:spLocks noGrp="1"/>
          </p:cNvSpPr>
          <p:nvPr>
            <p:ph sz="half" idx="1"/>
          </p:nvPr>
        </p:nvSpPr>
        <p:spPr/>
        <p:txBody>
          <a:bodyPr/>
          <a:lstStyle/>
          <a:p>
            <a:r>
              <a:t>19 Jan</a:t>
            </a:r>
          </a:p>
          <a:p>
            <a:endParaRPr/>
          </a:p>
          <a:p>
            <a:r>
              <a:t>Now enterprises with Oracle databases can easily setup monitoring, alerting and dashboards for their EC2 and RDS Oracle instances on AWS with CloudWatch Application Insights. CloudWatch Application Insights is a capability that helps customers simply setup monitoring and enhanced observability for their enterprise applications running on AWS resources. The new feature automatically setups the metrics, telemetry and logs for monitoring the health and wellness of Oracle databases running in AWS. </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Amazon Builders’ Library Article: Making retries safe with idempotent APIs</a:t>
            </a:r>
          </a:p>
        </p:txBody>
      </p:sp>
      <p:sp>
        <p:nvSpPr>
          <p:cNvPr id="3" name="Content Placeholder 2"/>
          <p:cNvSpPr>
            <a:spLocks noGrp="1"/>
          </p:cNvSpPr>
          <p:nvPr>
            <p:ph sz="half" idx="1"/>
          </p:nvPr>
        </p:nvSpPr>
        <p:spPr/>
        <p:txBody>
          <a:bodyPr/>
          <a:lstStyle/>
          <a:p>
            <a:r>
              <a:t>15 Jan</a:t>
            </a:r>
          </a:p>
          <a:p>
            <a:endParaRPr/>
          </a:p>
          <a:p>
            <a:r>
              <a:t>The Amazon Builders’ Library published a new article titled, Making retries safe with idempotent APIs . AWS Principal Engineer Malcolm Featonby write about how you can use APIs to manage retries, he walks you through the strategies used at Amazon for using idempotent APIs to reduce complexity and handle retries.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Container Insights now available on AWS Graviton2</a:t>
            </a:r>
          </a:p>
        </p:txBody>
      </p:sp>
      <p:sp>
        <p:nvSpPr>
          <p:cNvPr id="3" name="Content Placeholder 2"/>
          <p:cNvSpPr>
            <a:spLocks noGrp="1"/>
          </p:cNvSpPr>
          <p:nvPr>
            <p:ph sz="half" idx="1"/>
          </p:nvPr>
        </p:nvSpPr>
        <p:spPr/>
        <p:txBody>
          <a:bodyPr>
            <a:normAutofit lnSpcReduction="10000"/>
          </a:bodyPr>
          <a:lstStyle/>
          <a:p>
            <a:r>
              <a:t>15 Jan</a:t>
            </a:r>
          </a:p>
          <a:p>
            <a:endParaRPr/>
          </a:p>
          <a:p>
            <a:r>
              <a:t>AWS announces the availability of Amazon CloudWatch Container Insights, a fully managed, integrated, and pay-as-you-go container monitoring and analytics service for CloudWatch on AWS Graviton2. CloudWatch Container Insights enables you to explore, analyze, and visualize your container metrics, Prometheus metrics, application logs, and performance events through automated dashboards in the CloudWatch console. These dashboards summarize the performance and availability of clusters, nodes or EC2 instances, services, tasks, pods, and containers running on Amazon Elastic Containers (ECS), Amazon Elastic Kubernetes Service (EKS), AWS Fargate, and Kubernetes. </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update to Multi-Region Application Architecture</a:t>
            </a:r>
          </a:p>
        </p:txBody>
      </p:sp>
      <p:sp>
        <p:nvSpPr>
          <p:cNvPr id="3" name="Content Placeholder 2"/>
          <p:cNvSpPr>
            <a:spLocks noGrp="1"/>
          </p:cNvSpPr>
          <p:nvPr>
            <p:ph sz="half" idx="1"/>
          </p:nvPr>
        </p:nvSpPr>
        <p:spPr/>
        <p:txBody>
          <a:bodyPr/>
          <a:lstStyle/>
          <a:p>
            <a:r>
              <a:t>15 Jan</a:t>
            </a:r>
          </a:p>
          <a:p>
            <a:endParaRPr/>
          </a:p>
          <a:p>
            <a:r>
              <a:t>The AWS Solutions team recently updated Multi-Region Application Architecture, a reference architecture that models a serverless active/passive workload with asynchronous replication of application data and failover from a primary to a secondary AWS Region.</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Fraud Detector launches ability to cancel in-progress model trainings</a:t>
            </a:r>
          </a:p>
        </p:txBody>
      </p:sp>
      <p:sp>
        <p:nvSpPr>
          <p:cNvPr id="3" name="Content Placeholder 2"/>
          <p:cNvSpPr>
            <a:spLocks noGrp="1"/>
          </p:cNvSpPr>
          <p:nvPr>
            <p:ph sz="half" idx="1"/>
          </p:nvPr>
        </p:nvSpPr>
        <p:spPr/>
        <p:txBody>
          <a:bodyPr/>
          <a:lstStyle/>
          <a:p>
            <a:r>
              <a:t>13 Jan</a:t>
            </a:r>
          </a:p>
          <a:p>
            <a:endParaRPr/>
          </a:p>
          <a:p>
            <a:r>
              <a:t>Amazon Fraud Detector is a fully managed service that makes it easy to identify potentially fraudulent online activities, such as the creation of fake accounts or online payment fraud, using customized machine learning (ML) models. In just a few clicks you can create and train a fraud detection model, with no prior machine learning experience required.</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New Minor Versions 12.5, 11.10, 10.15, 9.6.20, and 9.5.24</a:t>
            </a:r>
          </a:p>
        </p:txBody>
      </p:sp>
      <p:sp>
        <p:nvSpPr>
          <p:cNvPr id="3" name="Content Placeholder 2"/>
          <p:cNvSpPr>
            <a:spLocks noGrp="1"/>
          </p:cNvSpPr>
          <p:nvPr>
            <p:ph sz="half" idx="1"/>
          </p:nvPr>
        </p:nvSpPr>
        <p:spPr/>
        <p:txBody>
          <a:bodyPr/>
          <a:lstStyle/>
          <a:p>
            <a:r>
              <a:t>12 Jan</a:t>
            </a:r>
          </a:p>
          <a:p>
            <a:endParaRPr/>
          </a:p>
          <a:p>
            <a:r>
              <a:t>Following the announcement of updates to the PostgreSQL database , we have updated Amazon RDS for PostgreSQL to support PostgreSQL minor versions 12.5, 11.10, 10.15, 9.6.20, and 9.5.24. This release closes security vulnerabilities in PostgreSQL and contains bug fixes and improvements done by the PostgreSQL community. We recommend that customers upgrade to any of the new minor versions to fix known security vulnerabilities in prior versions of PostgreSQL.</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now supports fine-grained access control on COPY and UNLOAD commands</a:t>
            </a:r>
          </a:p>
        </p:txBody>
      </p:sp>
      <p:sp>
        <p:nvSpPr>
          <p:cNvPr id="3" name="Content Placeholder 2"/>
          <p:cNvSpPr>
            <a:spLocks noGrp="1"/>
          </p:cNvSpPr>
          <p:nvPr>
            <p:ph sz="half" idx="1"/>
          </p:nvPr>
        </p:nvSpPr>
        <p:spPr/>
        <p:txBody>
          <a:bodyPr/>
          <a:lstStyle/>
          <a:p>
            <a:r>
              <a:t>12 Jan</a:t>
            </a:r>
          </a:p>
          <a:p>
            <a:endParaRPr/>
          </a:p>
          <a:p>
            <a:r>
              <a:t>You can now grant the privilege to run COPY and UNLOAD commands to specific users and groups in your Amazon Redshift cluster to create more fine-grained access control policy.</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SNS adds support for message archiving and analytics via Kinesis Data Firehose subscriptions</a:t>
            </a:r>
          </a:p>
        </p:txBody>
      </p:sp>
      <p:sp>
        <p:nvSpPr>
          <p:cNvPr id="3" name="Content Placeholder 2"/>
          <p:cNvSpPr>
            <a:spLocks noGrp="1"/>
          </p:cNvSpPr>
          <p:nvPr>
            <p:ph sz="half" idx="1"/>
          </p:nvPr>
        </p:nvSpPr>
        <p:spPr/>
        <p:txBody>
          <a:bodyPr/>
          <a:lstStyle/>
          <a:p>
            <a:r>
              <a:t>12 Jan</a:t>
            </a:r>
          </a:p>
          <a:p>
            <a:endParaRPr/>
          </a:p>
          <a:p>
            <a:r>
              <a:t>You can now use Amazon Simple Notification Service (SNS) to deliver messages to Amazon Kinesis Data Firehose. This new subscription type for SNS enables message storage, analytics, and auditing by providing a simple way to send Amazon SNS messages to data lakes, data stores, and analytics services.</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in-place upgrades from MySQL 5.6 to 5.7</a:t>
            </a:r>
          </a:p>
        </p:txBody>
      </p:sp>
      <p:sp>
        <p:nvSpPr>
          <p:cNvPr id="3" name="Content Placeholder 2"/>
          <p:cNvSpPr>
            <a:spLocks noGrp="1"/>
          </p:cNvSpPr>
          <p:nvPr>
            <p:ph sz="half" idx="1"/>
          </p:nvPr>
        </p:nvSpPr>
        <p:spPr/>
        <p:txBody>
          <a:bodyPr/>
          <a:lstStyle/>
          <a:p>
            <a:r>
              <a:t>11 Jan</a:t>
            </a:r>
          </a:p>
          <a:p>
            <a:endParaRPr/>
          </a:p>
          <a:p>
            <a:r>
              <a:t>Starting today, you can perform an in-place upgrade of your Amazon Aurora database cluster from MySQL major version 5.6 to 5.7. Instead of backing up and restoring the database to the new version, you can upgrade with just a few clicks in the Amazon RDS Management Console  or by using the AWS SDK or CLI. </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API now supports Internet Protocol Version 6 (IPv6)</a:t>
            </a:r>
          </a:p>
        </p:txBody>
      </p:sp>
      <p:sp>
        <p:nvSpPr>
          <p:cNvPr id="3" name="Content Placeholder 2"/>
          <p:cNvSpPr>
            <a:spLocks noGrp="1"/>
          </p:cNvSpPr>
          <p:nvPr>
            <p:ph sz="half" idx="1"/>
          </p:nvPr>
        </p:nvSpPr>
        <p:spPr/>
        <p:txBody>
          <a:bodyPr/>
          <a:lstStyle/>
          <a:p>
            <a:r>
              <a:t>11 Jan</a:t>
            </a:r>
          </a:p>
          <a:p>
            <a:endParaRPr/>
          </a:p>
          <a:p>
            <a:r>
              <a:t>The Amazon EC2 API now supports the IPv6 protocol, allowing applications to connect over IPv6. This allows you to more easily meet IPv6 compliance requirements, more easily integrate with existing IPv6-based on-premises applications, and remove the need for expensive networking equipment to handle the address translation between IPv4 and IPv6.</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now supports AWS DataSync</a:t>
            </a:r>
          </a:p>
        </p:txBody>
      </p:sp>
      <p:sp>
        <p:nvSpPr>
          <p:cNvPr id="3" name="Content Placeholder 2"/>
          <p:cNvSpPr>
            <a:spLocks noGrp="1"/>
          </p:cNvSpPr>
          <p:nvPr>
            <p:ph sz="half" idx="1"/>
          </p:nvPr>
        </p:nvSpPr>
        <p:spPr/>
        <p:txBody>
          <a:bodyPr/>
          <a:lstStyle/>
          <a:p>
            <a:r>
              <a:t>08 Jan</a:t>
            </a:r>
          </a:p>
          <a:p>
            <a:endParaRPr/>
          </a:p>
          <a:p>
            <a:r>
              <a:t>Using AWS CloudFormation, you can now model and provision AWS DataSync resources, along with other resources within your AWS infrastructure, in a safe, predictable, and repeatable way. This enables you to standardize the creation of DataSync resources such as Tasks and Locations across deployments.</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now supports Apache Ranger for fine-grained data access control</a:t>
            </a:r>
          </a:p>
        </p:txBody>
      </p:sp>
      <p:sp>
        <p:nvSpPr>
          <p:cNvPr id="3" name="Content Placeholder 2"/>
          <p:cNvSpPr>
            <a:spLocks noGrp="1"/>
          </p:cNvSpPr>
          <p:nvPr>
            <p:ph sz="half" idx="1"/>
          </p:nvPr>
        </p:nvSpPr>
        <p:spPr/>
        <p:txBody>
          <a:bodyPr/>
          <a:lstStyle/>
          <a:p>
            <a:r>
              <a:t>08 Jan</a:t>
            </a:r>
          </a:p>
          <a:p>
            <a:endParaRPr/>
          </a:p>
          <a:p>
            <a:r>
              <a:t>Amazon EMR now natively integrates with Apache Ranger , allowing you to define, enforce, and audit fine-grained data access control. With this feature, you can define and enforce 1/ database, table, and column level authorization policies for Apache Spark and Apache Hive users to access data through Hive Metastore, and 2/ prefix and object level authorization policies when accessing data in Amazon S3 via the Amazon EMR File System (EMRFS) , leveraging Amazon CloudWatch to capture auditing logs.</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 Map achieves PCI DSS Certification</a:t>
            </a:r>
          </a:p>
        </p:txBody>
      </p:sp>
      <p:sp>
        <p:nvSpPr>
          <p:cNvPr id="3" name="Content Placeholder 2"/>
          <p:cNvSpPr>
            <a:spLocks noGrp="1"/>
          </p:cNvSpPr>
          <p:nvPr>
            <p:ph sz="half" idx="1"/>
          </p:nvPr>
        </p:nvSpPr>
        <p:spPr/>
        <p:txBody>
          <a:bodyPr>
            <a:normAutofit lnSpcReduction="10000"/>
          </a:bodyPr>
          <a:lstStyle/>
          <a:p>
            <a:r>
              <a:t>08 Jan</a:t>
            </a:r>
          </a:p>
          <a:p>
            <a:endParaRPr/>
          </a:p>
          <a:p>
            <a:r>
              <a:t>AWS Cloud Map is now certified as a Payment Card Industry Data Security Standard (PCI DSS) service. AWS Cloud Map is a cloud resource discovery service. With AWS Cloud Map, you can define custom names for your application resources, such as Amazon Elastic Container Services (Amazon ECS) tasks, Amazon Elastic Compute Cloud (Amazon EC2) instances, Amazon DynamoDB tables, or any other cloud resource. You can then use these custom names to discover the location and metadata of cloud resources from your applications using AWS SDK and authenticated API queries. AWS Cloud Map is a highly available, managed service with rapid change propagation. </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 Mesh achieves PCI DSS Certification</a:t>
            </a:r>
          </a:p>
        </p:txBody>
      </p:sp>
      <p:sp>
        <p:nvSpPr>
          <p:cNvPr id="3" name="Content Placeholder 2"/>
          <p:cNvSpPr>
            <a:spLocks noGrp="1"/>
          </p:cNvSpPr>
          <p:nvPr>
            <p:ph sz="half" idx="1"/>
          </p:nvPr>
        </p:nvSpPr>
        <p:spPr/>
        <p:txBody>
          <a:bodyPr/>
          <a:lstStyle/>
          <a:p>
            <a:r>
              <a:t>08 Jan</a:t>
            </a:r>
          </a:p>
          <a:p>
            <a:endParaRPr/>
          </a:p>
          <a:p>
            <a:r>
              <a:t>AWS App Mesh is now certified as a Payment Card Industry Data Security Standard (PCI DSS) service. AWS App Mesh is a service mesh that provides application-level networking to standardize how your services communicate, giving you end-to-end visibility and enables options to tune for high-availability of your applications. </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Auto Scaling now allows up to 40 instance types when defining a Mixed Instances Policy</a:t>
            </a:r>
          </a:p>
        </p:txBody>
      </p:sp>
      <p:sp>
        <p:nvSpPr>
          <p:cNvPr id="3" name="Content Placeholder 2"/>
          <p:cNvSpPr>
            <a:spLocks noGrp="1"/>
          </p:cNvSpPr>
          <p:nvPr>
            <p:ph sz="half" idx="1"/>
          </p:nvPr>
        </p:nvSpPr>
        <p:spPr/>
        <p:txBody>
          <a:bodyPr>
            <a:normAutofit fontScale="92500" lnSpcReduction="20000"/>
          </a:bodyPr>
          <a:lstStyle/>
          <a:p>
            <a:r>
              <a:t>06 Jan</a:t>
            </a:r>
          </a:p>
          <a:p>
            <a:endParaRPr/>
          </a:p>
          <a:p>
            <a:r>
              <a:t>Amazon EC2 Auto Scaling now supports using up to 40 instance types with mixed instances policies. This doubles the number of instance types you can specify. Previously, you could only specify 20 instance types. Now, you can specify up to 40 instance types when you first create an Auto Scaling group, and when you update existing Auto Scaling groups. You can use the Overrides section in your mixed instances policy structure to input up to 40 instance types that Amazon EC2 Auto Scaling can use to provision your On-Demand and Spot Instances. By using a variety of instance types, you can maintain your workload’s availability as you can provision your application’s resources across more Spot instance pools per Availability Zone and reduce the chance of getting insufficient capacity error in case of On-Demand. Running your application's resources across diverse Spot instance pools also allows you to further reduce your operating costs over time. </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SQS announces tiered pricing</a:t>
            </a:r>
          </a:p>
        </p:txBody>
      </p:sp>
      <p:sp>
        <p:nvSpPr>
          <p:cNvPr id="3" name="Content Placeholder 2"/>
          <p:cNvSpPr>
            <a:spLocks noGrp="1"/>
          </p:cNvSpPr>
          <p:nvPr>
            <p:ph sz="half" idx="1"/>
          </p:nvPr>
        </p:nvSpPr>
        <p:spPr/>
        <p:txBody>
          <a:bodyPr/>
          <a:lstStyle/>
          <a:p>
            <a:r>
              <a:t>05 Jan</a:t>
            </a:r>
          </a:p>
          <a:p>
            <a:endParaRPr/>
          </a:p>
          <a:p>
            <a:r>
              <a:t>Effective Jan 1st, 2021, Amazon Simple Queue Service (SQS) provides tiered pricing for monthly API requests. Tiered pricing will provide discounts based on your monthly usage of Amazon SQS. Amazon SQS is a fully managed message queuing service that enables you to decouple and scale microservices, distributed systems, and serverless applications. Using Amazon SQS, you can send, store, and receive messages between software components at any volume, without losing messages or requiring other services to be available.</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launches new contact search page with an enhanced user experience</a:t>
            </a:r>
          </a:p>
        </p:txBody>
      </p:sp>
      <p:sp>
        <p:nvSpPr>
          <p:cNvPr id="3" name="Content Placeholder 2"/>
          <p:cNvSpPr>
            <a:spLocks noGrp="1"/>
          </p:cNvSpPr>
          <p:nvPr>
            <p:ph sz="half" idx="1"/>
          </p:nvPr>
        </p:nvSpPr>
        <p:spPr/>
        <p:txBody>
          <a:bodyPr>
            <a:normAutofit fontScale="92500" lnSpcReduction="10000"/>
          </a:bodyPr>
          <a:lstStyle/>
          <a:p>
            <a:r>
              <a:t>05 Jan</a:t>
            </a:r>
          </a:p>
          <a:p>
            <a:endParaRPr/>
          </a:p>
          <a:p>
            <a:r>
              <a:t>Amazon Connect has launched a new version of Contact search. You can now use an enhanced UI to search with an extended eight-week timeframe getting unlimited results, use more filters, and multi-select values such as Agent name and Queue name. Search was also rebuilt to offer faster rate of return. This means you can build queries incrementally and explore results faster. You can also bookmark commonly used search criteria and review multiple chat transcripts, call recordings, and contact categorization results from the search page. We are maintaining the previous version of search during transition period and customers can switch back and compare with the previous experience with one click. To learn more, see the Contact Search documentation .</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Less Relevant</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AWS Media Intelligence solutions</a:t>
            </a:r>
          </a:p>
        </p:txBody>
      </p:sp>
      <p:sp>
        <p:nvSpPr>
          <p:cNvPr id="3" name="Content Placeholder 2"/>
          <p:cNvSpPr>
            <a:spLocks noGrp="1"/>
          </p:cNvSpPr>
          <p:nvPr>
            <p:ph sz="half" idx="1"/>
          </p:nvPr>
        </p:nvSpPr>
        <p:spPr/>
        <p:txBody>
          <a:bodyPr/>
          <a:lstStyle/>
          <a:p>
            <a:r>
              <a:t>23 Mar</a:t>
            </a:r>
          </a:p>
          <a:p>
            <a:endParaRPr/>
          </a:p>
          <a:p>
            <a:r>
              <a:t>Today we are delighted to announce the availability of AWS Media Intelligence (MI) solutions, a combination of services that empower customers to easily integrate AI into their media content workflows. AWS MI allows customers to analyze their media, improve content engagement rates, reduce production costs, and increase the lifetime value of media content. With AWS MI, customers can choose turnkey solutions from participating AWS Partners or leverage AWS Solutions to avoid starting from scratch.</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Db2 LUW version 11.5 as a source</a:t>
            </a:r>
          </a:p>
        </p:txBody>
      </p:sp>
      <p:sp>
        <p:nvSpPr>
          <p:cNvPr id="3" name="Content Placeholder 2"/>
          <p:cNvSpPr>
            <a:spLocks noGrp="1"/>
          </p:cNvSpPr>
          <p:nvPr>
            <p:ph sz="half" idx="1"/>
          </p:nvPr>
        </p:nvSpPr>
        <p:spPr/>
        <p:txBody>
          <a:bodyPr/>
          <a:lstStyle/>
          <a:p>
            <a:r>
              <a:t>22 Mar</a:t>
            </a:r>
          </a:p>
          <a:p>
            <a:endParaRPr/>
          </a:p>
          <a:p>
            <a:r>
              <a:t>AWS Database Migration Service (AWS DMS) has expanded functionality by adding support for Db2 LUW version 11.5 as a source. Using AWS DMS, you can now perform live migrations from Db2 LUW version 11.5 databases to any AWS DMS supported targets .</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Sellers can now manage versions and update information of their AMI and Container products through the AWS Marketplace Catalog API</a:t>
            </a:r>
          </a:p>
        </p:txBody>
      </p:sp>
      <p:sp>
        <p:nvSpPr>
          <p:cNvPr id="3" name="Content Placeholder 2"/>
          <p:cNvSpPr>
            <a:spLocks noGrp="1"/>
          </p:cNvSpPr>
          <p:nvPr>
            <p:ph sz="half" idx="1"/>
          </p:nvPr>
        </p:nvSpPr>
        <p:spPr/>
        <p:txBody>
          <a:bodyPr/>
          <a:lstStyle/>
          <a:p>
            <a:r>
              <a:t>22 Mar</a:t>
            </a:r>
          </a:p>
          <a:p>
            <a:endParaRPr/>
          </a:p>
          <a:p>
            <a:r>
              <a:t>Today, AWS Marketplace announced that sellers can now manage versions and update product information for AMI and Container products through the AWS Marketplace Catalog API. This launch builds upon a prior release for self-service listing updates through the AWS Marketplace Management Portal. Now, sellers can use the Catalog API to automate their workflows for making new versions available to customers.</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Core’s Apache Kafka action now supports username and password authentication for Amazon Managed Streaming for Apache Kafka (Amazon MSK)</a:t>
            </a:r>
          </a:p>
        </p:txBody>
      </p:sp>
      <p:sp>
        <p:nvSpPr>
          <p:cNvPr id="3" name="Content Placeholder 2"/>
          <p:cNvSpPr>
            <a:spLocks noGrp="1"/>
          </p:cNvSpPr>
          <p:nvPr>
            <p:ph sz="half" idx="1"/>
          </p:nvPr>
        </p:nvSpPr>
        <p:spPr/>
        <p:txBody>
          <a:bodyPr/>
          <a:lstStyle/>
          <a:p>
            <a:r>
              <a:t>22 Mar</a:t>
            </a:r>
          </a:p>
          <a:p>
            <a:endParaRPr/>
          </a:p>
          <a:p>
            <a:r>
              <a:t>Customers using the AWS IoT Core Apache Kafka action to connect their IoT applications to Amazon Managed Streaming for Apache Kafka (Amazon MSK) clusters can now use usernames and passwords to authenticate their rules. The Apache Kafka action for AWS IoT Core evaluates inbound messages and delivers them to your Amazon MSK or self managed Apache Kafka cluster.</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Client VPN announces expanded presence inside six AWS Regions</a:t>
            </a:r>
          </a:p>
        </p:txBody>
      </p:sp>
      <p:sp>
        <p:nvSpPr>
          <p:cNvPr id="3" name="Content Placeholder 2"/>
          <p:cNvSpPr>
            <a:spLocks noGrp="1"/>
          </p:cNvSpPr>
          <p:nvPr>
            <p:ph sz="half" idx="1"/>
          </p:nvPr>
        </p:nvSpPr>
        <p:spPr/>
        <p:txBody>
          <a:bodyPr/>
          <a:lstStyle/>
          <a:p>
            <a:r>
              <a:t>22 Mar</a:t>
            </a:r>
          </a:p>
          <a:p>
            <a:endParaRPr/>
          </a:p>
          <a:p>
            <a:r>
              <a:t>AWS Client VPN has expanded the number of Availability Zones supported inside the US East (Northern Virginia), US West (Oregon), Asia Pacific (Mumbai), Asia Pacific (Seoul), Asia Pacific (Sydney), and Canada (Central) regions. This expansion gives you more zones to choose from and additional flexibility when associating subnets. This change also increases the number of concurrent connections you can make per endpoint in these Regions.</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Solutions Implementation - The Discovering Hot Topics Using Machine Learning solution adds the capability to filter and visualize Twitter topics based on geographical coordinates</a:t>
            </a:r>
          </a:p>
        </p:txBody>
      </p:sp>
      <p:sp>
        <p:nvSpPr>
          <p:cNvPr id="3" name="Content Placeholder 2"/>
          <p:cNvSpPr>
            <a:spLocks noGrp="1"/>
          </p:cNvSpPr>
          <p:nvPr>
            <p:ph sz="half" idx="1"/>
          </p:nvPr>
        </p:nvSpPr>
        <p:spPr/>
        <p:txBody>
          <a:bodyPr>
            <a:normAutofit lnSpcReduction="10000"/>
          </a:bodyPr>
          <a:lstStyle/>
          <a:p>
            <a:r>
              <a:t>19 Mar</a:t>
            </a:r>
          </a:p>
          <a:p>
            <a:endParaRPr/>
          </a:p>
          <a:p>
            <a:r>
              <a:t>AWS Solutions has updated Discovering Hot Topics using Machine Learning, an AWS Solutions Implementation that ingests text, image and video (video: upcoming feature) from online discourse in order to perform topic modeling, sentiment analysis on plain text and text embedded within images as well as detection of unsafe content in images. In this updated version, the solution allows customers to use geographical coordinates as parameters to filter ingested Twitter data and to narrow visual results. With this capability, organizations can now analyze tweets originating from geographic locations that are relevant to their business and use case.</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Gateway Load Balancer is now available in additional 9 regions</a:t>
            </a:r>
          </a:p>
        </p:txBody>
      </p:sp>
      <p:sp>
        <p:nvSpPr>
          <p:cNvPr id="3" name="Content Placeholder 2"/>
          <p:cNvSpPr>
            <a:spLocks noGrp="1"/>
          </p:cNvSpPr>
          <p:nvPr>
            <p:ph sz="half" idx="1"/>
          </p:nvPr>
        </p:nvSpPr>
        <p:spPr/>
        <p:txBody>
          <a:bodyPr>
            <a:normAutofit fontScale="85000" lnSpcReduction="20000"/>
          </a:bodyPr>
          <a:lstStyle/>
          <a:p>
            <a:r>
              <a:t>19 Mar</a:t>
            </a:r>
          </a:p>
          <a:p>
            <a:endParaRPr/>
          </a:p>
          <a:p>
            <a:r>
              <a:t>Starting today, AWS Gateway Load Balancer is available in the following 9 regions:</a:t>
            </a:r>
          </a:p>
          <a:p>
            <a:r>
              <a:t>US West (N. California)</a:t>
            </a:r>
          </a:p>
          <a:p>
            <a:r>
              <a:t>EU (London)</a:t>
            </a:r>
          </a:p>
          <a:p>
            <a:r>
              <a:t>EU (Paris)</a:t>
            </a:r>
          </a:p>
          <a:p>
            <a:r>
              <a:t>EU (Milano)</a:t>
            </a:r>
          </a:p>
          <a:p>
            <a:r>
              <a:t>Africa (Cape Town)</a:t>
            </a:r>
          </a:p>
          <a:p>
            <a:r>
              <a:t>Middle East (Baharain)</a:t>
            </a:r>
          </a:p>
          <a:p>
            <a:r>
              <a:t>Asia Pacific (Hong Kong)</a:t>
            </a:r>
          </a:p>
          <a:p>
            <a:r>
              <a:t>Asia Pacific (Singapore)</a:t>
            </a:r>
          </a:p>
          <a:p>
            <a:r>
              <a:t>Asia Pacific (Mumbai)</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Launch Wizard now supports ‘No Rollback on Failure’</a:t>
            </a:r>
          </a:p>
        </p:txBody>
      </p:sp>
      <p:sp>
        <p:nvSpPr>
          <p:cNvPr id="3" name="Content Placeholder 2"/>
          <p:cNvSpPr>
            <a:spLocks noGrp="1"/>
          </p:cNvSpPr>
          <p:nvPr>
            <p:ph sz="half" idx="1"/>
          </p:nvPr>
        </p:nvSpPr>
        <p:spPr/>
        <p:txBody>
          <a:bodyPr/>
          <a:lstStyle/>
          <a:p>
            <a:r>
              <a:t>18 Mar</a:t>
            </a:r>
          </a:p>
          <a:p>
            <a:endParaRPr/>
          </a:p>
          <a:p>
            <a:r>
              <a:t>Starting today, AWS Launch Wizard deployments support the ‘No Rollback on Failure’ feature for all Launch Wizard applications. Now, when a Launch Wizard deployment fails, resources that were created as part of the deployment will not be immediately deleted/rolled back.</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AWS Cloud Technical Essentials</a:t>
            </a:r>
          </a:p>
        </p:txBody>
      </p:sp>
      <p:sp>
        <p:nvSpPr>
          <p:cNvPr id="3" name="Content Placeholder 2"/>
          <p:cNvSpPr>
            <a:spLocks noGrp="1"/>
          </p:cNvSpPr>
          <p:nvPr>
            <p:ph sz="half" idx="1"/>
          </p:nvPr>
        </p:nvSpPr>
        <p:spPr/>
        <p:txBody>
          <a:bodyPr/>
          <a:lstStyle/>
          <a:p>
            <a:r>
              <a:t>18 Mar</a:t>
            </a:r>
          </a:p>
          <a:p>
            <a:endParaRPr/>
          </a:p>
          <a:p>
            <a:r>
              <a:t>AWS Training and Certification launched a new course entitled AWS Cloud Technical Essentials. Available for free on Coursera and edX, this course uses video lectures and demonstrations to teach the technical fundamentals of AWS. Upon course completion, learners will be able to make an informed decision about when and how to apply core AWS services for compute, storage, and database to different use cases.</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X-Ray Insights is now available in AWS GovCloud (US) Regions</a:t>
            </a:r>
          </a:p>
        </p:txBody>
      </p:sp>
      <p:sp>
        <p:nvSpPr>
          <p:cNvPr id="3" name="Content Placeholder 2"/>
          <p:cNvSpPr>
            <a:spLocks noGrp="1"/>
          </p:cNvSpPr>
          <p:nvPr>
            <p:ph sz="half" idx="1"/>
          </p:nvPr>
        </p:nvSpPr>
        <p:spPr/>
        <p:txBody>
          <a:bodyPr/>
          <a:lstStyle/>
          <a:p>
            <a:r>
              <a:t>17 Mar</a:t>
            </a:r>
          </a:p>
          <a:p>
            <a:endParaRPr/>
          </a:p>
          <a:p>
            <a:r>
              <a:t>Today, AWS X-Ray launches Insights  in the AWS GovCloud (US) Regions. X-Ray Insights helps customers proactively discover issues in applications by using anomaly detection. it also enables developers and DevOps engineers to detect anomalies in fault rate for an application and then notify their teams on these issues and why it occurred.</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General Availability of Six New Regions for Amazon GameLift</a:t>
            </a:r>
          </a:p>
        </p:txBody>
      </p:sp>
      <p:sp>
        <p:nvSpPr>
          <p:cNvPr id="3" name="Content Placeholder 2"/>
          <p:cNvSpPr>
            <a:spLocks noGrp="1"/>
          </p:cNvSpPr>
          <p:nvPr>
            <p:ph sz="half" idx="1"/>
          </p:nvPr>
        </p:nvSpPr>
        <p:spPr/>
        <p:txBody>
          <a:bodyPr/>
          <a:lstStyle/>
          <a:p>
            <a:r>
              <a:t>17 Mar</a:t>
            </a:r>
          </a:p>
          <a:p>
            <a:endParaRPr/>
          </a:p>
          <a:p>
            <a:r>
              <a:t>Today, we are excited to announce the general availability (GA) of an update to Amazon GameLift, which increases global coverage for developers, while providing seamless, low-latency gameplay experiences for players worldwide. Trusted by some of the most successful game companies in the world like Gungho and Ubisoft, GameLift deploys, operates, and scales dedicated servers for multiplayer games. With this update, you as a game developer can now tap into six new regions (from 15 to 21), while also getting up and running faster from simpler fleet management.  </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SSO gallery app simplifies Azure AD set-up with AWS</a:t>
            </a:r>
          </a:p>
        </p:txBody>
      </p:sp>
      <p:sp>
        <p:nvSpPr>
          <p:cNvPr id="3" name="Content Placeholder 2"/>
          <p:cNvSpPr>
            <a:spLocks noGrp="1"/>
          </p:cNvSpPr>
          <p:nvPr>
            <p:ph sz="half" idx="1"/>
          </p:nvPr>
        </p:nvSpPr>
        <p:spPr/>
        <p:txBody>
          <a:bodyPr/>
          <a:lstStyle/>
          <a:p>
            <a:r>
              <a:t>17 Mar</a:t>
            </a:r>
          </a:p>
          <a:p>
            <a:endParaRPr/>
          </a:p>
          <a:p>
            <a:r>
              <a:t>The new AWS Single Sign-On (SSO) app, found in the Azure Active Directory app gallery, makes it easier to use your Azure AD identities for sign-in across multiple AWS accounts and AWS SSO integrated applications. Customers who want a centralized way to manage Azure AD users and groups across AWS can use the app to connect Azure AD to AWS SSO once. Customers can then manage permissions to AWS centrally in AWS SSO, and enable users to sign in using Azure AD to access assigned AWS accounts and applications, such as Amazon SageMaker Studio Notebooks.</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Support for SRT protocol added to AWS Elemental MediaConnect</a:t>
            </a:r>
          </a:p>
        </p:txBody>
      </p:sp>
      <p:sp>
        <p:nvSpPr>
          <p:cNvPr id="3" name="Content Placeholder 2"/>
          <p:cNvSpPr>
            <a:spLocks noGrp="1"/>
          </p:cNvSpPr>
          <p:nvPr>
            <p:ph sz="half" idx="1"/>
          </p:nvPr>
        </p:nvSpPr>
        <p:spPr/>
        <p:txBody>
          <a:bodyPr/>
          <a:lstStyle/>
          <a:p>
            <a:r>
              <a:t>17 Mar</a:t>
            </a:r>
          </a:p>
          <a:p>
            <a:endParaRPr/>
          </a:p>
          <a:p>
            <a:r>
              <a:t>Starting today, you can use AWS Elemental MediaConnect to transport live video using the Secure Reliable Transport (SRT) protocol. With the addition of SRT, you have more flexibility and compatibility for creating highly reliable, low-latency live video transport workflows.</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Developer Preview release of opinionated deployment tool for .NET CLI</a:t>
            </a:r>
          </a:p>
        </p:txBody>
      </p:sp>
      <p:sp>
        <p:nvSpPr>
          <p:cNvPr id="3" name="Content Placeholder 2"/>
          <p:cNvSpPr>
            <a:spLocks noGrp="1"/>
          </p:cNvSpPr>
          <p:nvPr>
            <p:ph sz="half" idx="1"/>
          </p:nvPr>
        </p:nvSpPr>
        <p:spPr/>
        <p:txBody>
          <a:bodyPr/>
          <a:lstStyle/>
          <a:p>
            <a:r>
              <a:t>17 Mar</a:t>
            </a:r>
          </a:p>
          <a:p>
            <a:endParaRPr/>
          </a:p>
          <a:p>
            <a:r>
              <a:t>AWS introduces the Developer Preview of its opinionated deployment tool for .NET cloud-native applications. Using this tool, developers can now deploy their .NET applications in just a few easy steps from the .NET CLI.  </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Deploy Containers on AWS</a:t>
            </a:r>
          </a:p>
        </p:txBody>
      </p:sp>
      <p:sp>
        <p:nvSpPr>
          <p:cNvPr id="3" name="Content Placeholder 2"/>
          <p:cNvSpPr>
            <a:spLocks noGrp="1"/>
          </p:cNvSpPr>
          <p:nvPr>
            <p:ph sz="half" idx="1"/>
          </p:nvPr>
        </p:nvSpPr>
        <p:spPr/>
        <p:txBody>
          <a:bodyPr/>
          <a:lstStyle/>
          <a:p>
            <a:r>
              <a:t>16 Mar</a:t>
            </a:r>
          </a:p>
          <a:p>
            <a:endParaRPr/>
          </a:p>
          <a:p>
            <a:r>
              <a:t>Deploy Containers on AWS is an AWS Solutions Consulting Offer delivered via a consulting engagement from NTT DATA Services, an AWS DevOps Competency Partner. Deploy Containers on AWS delivers a ready-to-deploy secure foundation that expedites the deployment of both greenfield container-based applications and already-containerized applications. Customers that request this consulting offer will participate in an engagement that delivers a current state assessment, deployment of the solution, and a solution walk-through.</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Build Cloud Foundations</a:t>
            </a:r>
          </a:p>
        </p:txBody>
      </p:sp>
      <p:sp>
        <p:nvSpPr>
          <p:cNvPr id="3" name="Content Placeholder 2"/>
          <p:cNvSpPr>
            <a:spLocks noGrp="1"/>
          </p:cNvSpPr>
          <p:nvPr>
            <p:ph sz="half" idx="1"/>
          </p:nvPr>
        </p:nvSpPr>
        <p:spPr/>
        <p:txBody>
          <a:bodyPr/>
          <a:lstStyle/>
          <a:p>
            <a:r>
              <a:t>16 Mar</a:t>
            </a:r>
          </a:p>
          <a:p>
            <a:endParaRPr/>
          </a:p>
          <a:p>
            <a:r>
              <a:t>Build Cloud Foundations is an AWS Solutions Consulting Offer delivered via a consulting engagement from NTT DATA Services, an AWS DevOps Competency Partner. Build Cloud Foundations provides a secure, scalable cloud foundation to accelerate your cloud adoption journey. Customers that request this consulting offer will participate in an engagement that delivers a multiple-account security strategy that accelerates cloud adoption with training, documentation, and resources to help teams get the skills they need.</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SiteWise Monitor adds support for accessing Monitor portals using AWS Identity and Access Management (IAM) users and roles</a:t>
            </a:r>
          </a:p>
        </p:txBody>
      </p:sp>
      <p:sp>
        <p:nvSpPr>
          <p:cNvPr id="3" name="Content Placeholder 2"/>
          <p:cNvSpPr>
            <a:spLocks noGrp="1"/>
          </p:cNvSpPr>
          <p:nvPr>
            <p:ph sz="half" idx="1"/>
          </p:nvPr>
        </p:nvSpPr>
        <p:spPr/>
        <p:txBody>
          <a:bodyPr/>
          <a:lstStyle/>
          <a:p>
            <a:r>
              <a:t>16 Mar</a:t>
            </a:r>
          </a:p>
          <a:p>
            <a:endParaRPr/>
          </a:p>
          <a:p>
            <a:r>
              <a:t>AWS IoT SiteWise is a managed service that makes it easy to collect, store, organize and monitor data from industrial equipment at scale to help you make better, data-driven decisions.</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Amazon S3 Cost Optimization</a:t>
            </a:r>
          </a:p>
        </p:txBody>
      </p:sp>
      <p:sp>
        <p:nvSpPr>
          <p:cNvPr id="3" name="Content Placeholder 2"/>
          <p:cNvSpPr>
            <a:spLocks noGrp="1"/>
          </p:cNvSpPr>
          <p:nvPr>
            <p:ph sz="half" idx="1"/>
          </p:nvPr>
        </p:nvSpPr>
        <p:spPr/>
        <p:txBody>
          <a:bodyPr/>
          <a:lstStyle/>
          <a:p>
            <a:r>
              <a:t>16 Mar</a:t>
            </a:r>
          </a:p>
          <a:p>
            <a:endParaRPr/>
          </a:p>
          <a:p>
            <a:r>
              <a:t>We’re excited to announce a free digital course: Amazon Simple Storage Service Cost Optimization. This advanced 60-minute course explores techniques and tools you can use to optimize your Amazon S3 costs. Designed for cloud architects, storage architects, developers, and operations engineers, it includes interactive lessons and video demonstrations. </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Lower Cost Storage Classes for Amazon Elastic File System are now available in additional regions</a:t>
            </a:r>
          </a:p>
        </p:txBody>
      </p:sp>
      <p:sp>
        <p:nvSpPr>
          <p:cNvPr id="3" name="Content Placeholder 2"/>
          <p:cNvSpPr>
            <a:spLocks noGrp="1"/>
          </p:cNvSpPr>
          <p:nvPr>
            <p:ph sz="half" idx="1"/>
          </p:nvPr>
        </p:nvSpPr>
        <p:spPr/>
        <p:txBody>
          <a:bodyPr/>
          <a:lstStyle/>
          <a:p>
            <a:r>
              <a:t>16 Mar</a:t>
            </a:r>
          </a:p>
          <a:p>
            <a:endParaRPr/>
          </a:p>
          <a:p>
            <a:r>
              <a:t>Amazon Elastic File System (Amazon EFS) One Zone is now available in 5 additional regions, reducing storage costs by 47% compared to Amazon EFS Standard storage classes, while maintaining the Amazon EFS capabilities that customers love.  </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Amazon EC2 X2gd instances powered by AWS Graviton2 processors</a:t>
            </a:r>
          </a:p>
        </p:txBody>
      </p:sp>
      <p:sp>
        <p:nvSpPr>
          <p:cNvPr id="3" name="Content Placeholder 2"/>
          <p:cNvSpPr>
            <a:spLocks noGrp="1"/>
          </p:cNvSpPr>
          <p:nvPr>
            <p:ph sz="half" idx="1"/>
          </p:nvPr>
        </p:nvSpPr>
        <p:spPr/>
        <p:txBody>
          <a:bodyPr>
            <a:normAutofit fontScale="85000" lnSpcReduction="20000"/>
          </a:bodyPr>
          <a:lstStyle/>
          <a:p>
            <a:r>
              <a:t>16 Mar</a:t>
            </a:r>
          </a:p>
          <a:p>
            <a:endParaRPr/>
          </a:p>
          <a:p>
            <a:r>
              <a:t>Starting today, the next generation of memory optimized Amazon EC2 X2gd instances are available. These instances are built on the AWS Nitro System and are powered by AWS-designed, Arm-based AWS Graviton2 processors. They deliver up to 55% better price performance compared to current generation x86-based X1 instances and provide high memory per vCPU at the lowest cost per GiB of memory in Amazon EC2. The higher performance and additional memory of X2gd instances enable customers to run memory-intensive workloads such as in-memory databases (Redis, Memcached), relational databases (MySQL, PostGreSQL), electronic design automation (EDA) workloads, real-time analytics, and real-time caching servers. Customers running containerized workloads can also use X2gd instances to optimize their infrastructure by consolidating more containers on a single instance. X2gd instances also feature local NVMe-based SSD storage for applications that need high speed, low latency access to data.</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Batch now available in the Africa (Cape Town) and the Asia-Pacific (Osaka) Regions</a:t>
            </a:r>
          </a:p>
        </p:txBody>
      </p:sp>
      <p:sp>
        <p:nvSpPr>
          <p:cNvPr id="3" name="Content Placeholder 2"/>
          <p:cNvSpPr>
            <a:spLocks noGrp="1"/>
          </p:cNvSpPr>
          <p:nvPr>
            <p:ph sz="half" idx="1"/>
          </p:nvPr>
        </p:nvSpPr>
        <p:spPr/>
        <p:txBody>
          <a:bodyPr/>
          <a:lstStyle/>
          <a:p>
            <a:r>
              <a:t>16 Mar</a:t>
            </a:r>
          </a:p>
          <a:p>
            <a:endParaRPr/>
          </a:p>
          <a:p>
            <a:r>
              <a:t>Today, AWS Batch is available in the Africa (Cape Town) and the Asia-Pacific (Osaka) Regions.  </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operations plan AWS Managed Services Accelerate</a:t>
            </a:r>
          </a:p>
        </p:txBody>
      </p:sp>
      <p:sp>
        <p:nvSpPr>
          <p:cNvPr id="3" name="Content Placeholder 2"/>
          <p:cNvSpPr>
            <a:spLocks noGrp="1"/>
          </p:cNvSpPr>
          <p:nvPr>
            <p:ph sz="half" idx="1"/>
          </p:nvPr>
        </p:nvSpPr>
        <p:spPr/>
        <p:txBody>
          <a:bodyPr/>
          <a:lstStyle/>
          <a:p>
            <a:r>
              <a:t>16 Mar</a:t>
            </a:r>
          </a:p>
          <a:p>
            <a:endParaRPr/>
          </a:p>
          <a:p>
            <a:r>
              <a:t>Accelerate is a new operations plan from AWS Managed Services (AMS) that offers operations support for customers with existing workloads, with new planned workloads, or migrating to AWS. AMS Accelerate provides operational services such as monitoring, incident management, security, patch, and backup to help you with day-to-day operations management so that your teams can focus on business transformation in the cloud.</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is now available in Asia Pacific (Seoul), North America (Montreal), and South America (Sao Paulo) AWS Regions</a:t>
            </a:r>
          </a:p>
        </p:txBody>
      </p:sp>
      <p:sp>
        <p:nvSpPr>
          <p:cNvPr id="3" name="Content Placeholder 2"/>
          <p:cNvSpPr>
            <a:spLocks noGrp="1"/>
          </p:cNvSpPr>
          <p:nvPr>
            <p:ph sz="half" idx="1"/>
          </p:nvPr>
        </p:nvSpPr>
        <p:spPr/>
        <p:txBody>
          <a:bodyPr/>
          <a:lstStyle/>
          <a:p>
            <a:r>
              <a:t>15 Mar</a:t>
            </a:r>
          </a:p>
          <a:p>
            <a:endParaRPr/>
          </a:p>
          <a:p>
            <a:r>
              <a:t>AWS Glue DataBrew, a visual data preparation tool that makes it easy for data analysts and data scientists to clean and normalize data for analytics and machine learning, is now available in the following three additional AWS Regions:</a:t>
            </a:r>
          </a:p>
          <a:p>
            <a:r>
              <a:t>Asia Pacific (Seoul)</a:t>
            </a:r>
          </a:p>
          <a:p>
            <a:r>
              <a:t>North America (Montreal)</a:t>
            </a:r>
          </a:p>
          <a:p>
            <a:r>
              <a:t>South America (Sao Paulo)</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Wavelength is now ISO 9001, 27001, 27017 and 27018 compliant</a:t>
            </a:r>
          </a:p>
        </p:txBody>
      </p:sp>
      <p:sp>
        <p:nvSpPr>
          <p:cNvPr id="3" name="Content Placeholder 2"/>
          <p:cNvSpPr>
            <a:spLocks noGrp="1"/>
          </p:cNvSpPr>
          <p:nvPr>
            <p:ph sz="half" idx="1"/>
          </p:nvPr>
        </p:nvSpPr>
        <p:spPr/>
        <p:txBody>
          <a:bodyPr/>
          <a:lstStyle/>
          <a:p>
            <a:r>
              <a:t>12 Mar</a:t>
            </a:r>
          </a:p>
          <a:p>
            <a:endParaRPr/>
          </a:p>
          <a:p>
            <a:r>
              <a:t>ISO Eligible AWS Services deployed in AWS Wavelength are now in compliance with ISO 9001, ISO/IEC 27001, ISO/IEC 27017, and ISO/IEC 27018 standards. AWS maintains certifications through extensive audits of its controls to ensure that information security risks that affect the confidentiality, integrity, and availability of company and customer information are appropriately managed.</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Virtual Desktop Accelerator</a:t>
            </a:r>
          </a:p>
        </p:txBody>
      </p:sp>
      <p:sp>
        <p:nvSpPr>
          <p:cNvPr id="3" name="Content Placeholder 2"/>
          <p:cNvSpPr>
            <a:spLocks noGrp="1"/>
          </p:cNvSpPr>
          <p:nvPr>
            <p:ph sz="half" idx="1"/>
          </p:nvPr>
        </p:nvSpPr>
        <p:spPr/>
        <p:txBody>
          <a:bodyPr/>
          <a:lstStyle/>
          <a:p>
            <a:r>
              <a:t>12 Mar</a:t>
            </a:r>
          </a:p>
          <a:p>
            <a:endParaRPr/>
          </a:p>
          <a:p>
            <a:r>
              <a:t>Virtual Desktop Accelerator is an AWS Solutions Consulting Offer delivered via a consulting engagement from RedNight Consulting, an AWS Digital Workplace Competency Partner. Virtual Desktop Accelerator will accelerate your Amazon WorkSpaces deployment and empower you to manage and scale your virtual environment. Customers that request this consulting offer will participate in an engagement that delivers a walkthrough of the critical design elements, help making decisions on features and functions to use, and deployment of Amazon WorkSpaces for your organization.</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Conversational AI Platform</a:t>
            </a:r>
          </a:p>
        </p:txBody>
      </p:sp>
      <p:sp>
        <p:nvSpPr>
          <p:cNvPr id="3" name="Content Placeholder 2"/>
          <p:cNvSpPr>
            <a:spLocks noGrp="1"/>
          </p:cNvSpPr>
          <p:nvPr>
            <p:ph sz="half" idx="1"/>
          </p:nvPr>
        </p:nvSpPr>
        <p:spPr/>
        <p:txBody>
          <a:bodyPr/>
          <a:lstStyle/>
          <a:p>
            <a:r>
              <a:t>12 Mar</a:t>
            </a:r>
          </a:p>
          <a:p>
            <a:endParaRPr/>
          </a:p>
          <a:p>
            <a:r>
              <a:t>Conversational AI Platform is an AWS Solutions Consulting Offer delivered via a consulting engagement from Accenture, an AWS Machine Learning Competency Partner. Conversational AI Platform helps organizations manage a conversational AI solution's end-to-end lifecycle. Customers that request this consulting offer will participate in an engagement that delivers discovery and planning, proof of value, a solution pilot, and ongoing scaling and management.</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Design and Implementation for Druva Data Protection Solutions</a:t>
            </a:r>
          </a:p>
        </p:txBody>
      </p:sp>
      <p:sp>
        <p:nvSpPr>
          <p:cNvPr id="3" name="Content Placeholder 2"/>
          <p:cNvSpPr>
            <a:spLocks noGrp="1"/>
          </p:cNvSpPr>
          <p:nvPr>
            <p:ph sz="half" idx="1"/>
          </p:nvPr>
        </p:nvSpPr>
        <p:spPr/>
        <p:txBody>
          <a:bodyPr/>
          <a:lstStyle/>
          <a:p>
            <a:r>
              <a:t>12 Mar</a:t>
            </a:r>
          </a:p>
          <a:p>
            <a:endParaRPr/>
          </a:p>
          <a:p>
            <a:r>
              <a:t>Design and Implementation for Druva Data Protection Solutions is an AWS Solutions Consulting Offer delivered via a consulting engagement from Softcat, an AWS Storage Competency Partner. With the Design and Implementation for Druva Data Protection Solutions consulting offer, Softcat can design and deploy a fully executed backup solution for your organization. Customers that request this consulting offer will participate in an engagement that includes performing the total cost of ownership (TCO) analysis, planning the implementation, procuring the software, and delivering the project.</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supports word-level confidence scores for streaming transcription</a:t>
            </a:r>
          </a:p>
        </p:txBody>
      </p:sp>
      <p:sp>
        <p:nvSpPr>
          <p:cNvPr id="3" name="Content Placeholder 2"/>
          <p:cNvSpPr>
            <a:spLocks noGrp="1"/>
          </p:cNvSpPr>
          <p:nvPr>
            <p:ph sz="half" idx="1"/>
          </p:nvPr>
        </p:nvSpPr>
        <p:spPr/>
        <p:txBody>
          <a:bodyPr/>
          <a:lstStyle/>
          <a:p>
            <a:r>
              <a:t>11 Mar</a:t>
            </a:r>
          </a:p>
          <a:p>
            <a:endParaRPr/>
          </a:p>
          <a:p>
            <a:r>
              <a:t>Amazon Transcribe is an automatic speech recognition (ASR) service that makes it easy for developers to add speech-to-text capabilities to their voice-enabled applications. Up until now, Amazon Transcribe has offered confidence scores for each word in its transcription output for its batch (asynchronous) API. Starting today, Amazon Transcribe will surface word-level confidence scores for its streaming (synchronous) transcription API as well.</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MediaTailor introduces Channel Assembly for creating virtual linear OTT channels</a:t>
            </a:r>
          </a:p>
        </p:txBody>
      </p:sp>
      <p:sp>
        <p:nvSpPr>
          <p:cNvPr id="3" name="Content Placeholder 2"/>
          <p:cNvSpPr>
            <a:spLocks noGrp="1"/>
          </p:cNvSpPr>
          <p:nvPr>
            <p:ph sz="half" idx="1"/>
          </p:nvPr>
        </p:nvSpPr>
        <p:spPr/>
        <p:txBody>
          <a:bodyPr/>
          <a:lstStyle/>
          <a:p>
            <a:r>
              <a:t>11 Mar</a:t>
            </a:r>
          </a:p>
          <a:p>
            <a:endParaRPr/>
          </a:p>
          <a:p>
            <a:r>
              <a:t>Today we are excited to announce Channel Assembly with AWS Elemental MediaTailor. With Channel Assembly, you can create linear channels that are delivered over-the-top (OTT) in a cost-efficient way, even for channels with low viewership. Virtual live streams are created with a low running cost by using existing multi-bitrate encoded and packaged VOD content. You can also easily monetize Channel Assembly linear streams by inserting ad breaks in your programs without having to condition the content with SCTE-35 markers.</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Kinesis Video Streams updates media playback API service quotas to enable up to 10x more simultaneous consumers</a:t>
            </a:r>
          </a:p>
        </p:txBody>
      </p:sp>
      <p:sp>
        <p:nvSpPr>
          <p:cNvPr id="3" name="Content Placeholder 2"/>
          <p:cNvSpPr>
            <a:spLocks noGrp="1"/>
          </p:cNvSpPr>
          <p:nvPr>
            <p:ph sz="half" idx="1"/>
          </p:nvPr>
        </p:nvSpPr>
        <p:spPr/>
        <p:txBody>
          <a:bodyPr/>
          <a:lstStyle/>
          <a:p>
            <a:r>
              <a:t>10 Mar</a:t>
            </a:r>
          </a:p>
          <a:p>
            <a:endParaRPr/>
          </a:p>
          <a:p>
            <a:r>
              <a:t>Amazon Kinesis Video Streams (KVS) updates the service quota model for its media playback APIs to throttle based on the number of fragments requested rather than the number of playback sessions. This gives developers the flexibility to enable up to 10x more simultaneous playback sessions for applications that use Kinesis Video Streams for live or on-demand playback.</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 new API allowing you to stop in-progress workflows in Amazon Forecast</a:t>
            </a:r>
          </a:p>
        </p:txBody>
      </p:sp>
      <p:sp>
        <p:nvSpPr>
          <p:cNvPr id="3" name="Content Placeholder 2"/>
          <p:cNvSpPr>
            <a:spLocks noGrp="1"/>
          </p:cNvSpPr>
          <p:nvPr>
            <p:ph sz="half" idx="1"/>
          </p:nvPr>
        </p:nvSpPr>
        <p:spPr/>
        <p:txBody>
          <a:bodyPr/>
          <a:lstStyle/>
          <a:p>
            <a:r>
              <a:t>09 Mar</a:t>
            </a:r>
          </a:p>
          <a:p>
            <a:endParaRPr/>
          </a:p>
          <a:p>
            <a:r>
              <a:t>Amazon Forecast uses machine learning (ML) to generate more accurate demand forecasts, without requiring any prior ML experience. Forecast brings the same technology used at Amazon.com to developers as a fully managed service, removing the need to manage resources or rebuild your systems.</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PostgreSQL-Compatible edition supports simultaneous authentication with both Microsoft Active Directory (AD) and AWS Identity and Access Management (IAM)</a:t>
            </a:r>
          </a:p>
        </p:txBody>
      </p:sp>
      <p:sp>
        <p:nvSpPr>
          <p:cNvPr id="3" name="Content Placeholder 2"/>
          <p:cNvSpPr>
            <a:spLocks noGrp="1"/>
          </p:cNvSpPr>
          <p:nvPr>
            <p:ph sz="half" idx="1"/>
          </p:nvPr>
        </p:nvSpPr>
        <p:spPr/>
        <p:txBody>
          <a:bodyPr>
            <a:normAutofit lnSpcReduction="10000"/>
          </a:bodyPr>
          <a:lstStyle/>
          <a:p>
            <a:r>
              <a:t>09 Mar</a:t>
            </a:r>
          </a:p>
          <a:p>
            <a:endParaRPr/>
          </a:p>
          <a:p>
            <a:r>
              <a:t>Customers can now enable multiple authentications protocols at the same time for an Amazon Aurora PostgreSQL-Compatible Edition cluster. Amazon Aurora with PostgreSQL compatibility supports both Kerberos authentication with Microsoft Active Directory (AD)  and IAM database authentication , but in the past you could choose only one for a given cluster. Now, Amazon Aurora with PostgreSQL compatibility supports enabling Kerberos and IAM authentication  for a cluster simultaneously. For example, customers can enable IAM for authenticating AWS Lambda and enable Kerberos for other authentication situations.</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Lower Cost Storage Classes for Amazon Elastic File System</a:t>
            </a:r>
          </a:p>
        </p:txBody>
      </p:sp>
      <p:sp>
        <p:nvSpPr>
          <p:cNvPr id="3" name="Content Placeholder 2"/>
          <p:cNvSpPr>
            <a:spLocks noGrp="1"/>
          </p:cNvSpPr>
          <p:nvPr>
            <p:ph sz="half" idx="1"/>
          </p:nvPr>
        </p:nvSpPr>
        <p:spPr/>
        <p:txBody>
          <a:bodyPr/>
          <a:lstStyle/>
          <a:p>
            <a:r>
              <a:t>09 Mar</a:t>
            </a:r>
          </a:p>
          <a:p>
            <a:endParaRPr/>
          </a:p>
          <a:p>
            <a:r>
              <a:t>Amazon Elastic File System (Amazon EFS) now supports single Availability Zone (AZ) storage classes (One Zone), reducing storage costs by 47% compared to Amazon EFS Standard storage classes, while maintaining the EFS capabilities that customers love. With this launch, you can achieve an effective storage price of $0.043/GB-month.[1]</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Global Database Expands Availability to São Paulo and Stockholm</a:t>
            </a:r>
          </a:p>
        </p:txBody>
      </p:sp>
      <p:sp>
        <p:nvSpPr>
          <p:cNvPr id="3" name="Content Placeholder 2"/>
          <p:cNvSpPr>
            <a:spLocks noGrp="1"/>
          </p:cNvSpPr>
          <p:nvPr>
            <p:ph sz="half" idx="1"/>
          </p:nvPr>
        </p:nvSpPr>
        <p:spPr/>
        <p:txBody>
          <a:bodyPr/>
          <a:lstStyle/>
          <a:p>
            <a:r>
              <a:t>09 Mar</a:t>
            </a:r>
          </a:p>
          <a:p>
            <a:endParaRPr/>
          </a:p>
          <a:p>
            <a:r>
              <a:t>An Amazon Aurora Global Database is a single database that spans multiple AWS Regions, enabling disaster recovery from region-wide outages and low latency global reads. With today’s launch, the feature is available in the AWS Americas (São Paulo) and AWS Europe (Stockholm) Regions.  </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Lower Cost Storage Classes for Amazon Elastic File System</a:t>
            </a:r>
          </a:p>
        </p:txBody>
      </p:sp>
      <p:sp>
        <p:nvSpPr>
          <p:cNvPr id="3" name="Content Placeholder 2"/>
          <p:cNvSpPr>
            <a:spLocks noGrp="1"/>
          </p:cNvSpPr>
          <p:nvPr>
            <p:ph sz="half" idx="1"/>
          </p:nvPr>
        </p:nvSpPr>
        <p:spPr/>
        <p:txBody>
          <a:bodyPr/>
          <a:lstStyle/>
          <a:p>
            <a:r>
              <a:t>09 Mar</a:t>
            </a:r>
          </a:p>
          <a:p>
            <a:endParaRPr/>
          </a:p>
          <a:p>
            <a:r>
              <a:t>Amazon Elastic File System (Amazon EFS) now supports single Availability Zone (AZ) storage classes (One Zone), reducing storage costs by 47% compared to Amazon EFS Standard storage classes, while maintaining the EFS capabilities that customers love. With this launch, you can achieve an effective storage price of $0.043/GB-month.[1]</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M6g and R6g instances now available in N. California, Canada, São Paulo, and London regions</a:t>
            </a:r>
          </a:p>
        </p:txBody>
      </p:sp>
      <p:sp>
        <p:nvSpPr>
          <p:cNvPr id="3" name="Content Placeholder 2"/>
          <p:cNvSpPr>
            <a:spLocks noGrp="1"/>
          </p:cNvSpPr>
          <p:nvPr>
            <p:ph sz="half" idx="1"/>
          </p:nvPr>
        </p:nvSpPr>
        <p:spPr/>
        <p:txBody>
          <a:bodyPr/>
          <a:lstStyle/>
          <a:p>
            <a:r>
              <a:t>08 Mar</a:t>
            </a:r>
          </a:p>
          <a:p>
            <a:endParaRPr/>
          </a:p>
          <a:p>
            <a:r>
              <a:t>AWS Graviton2-based database instances for Amazon Relational Database Service (RDS) for PostgreSQL are now supported in: US West (N. California), Canada (Central), South America (São Paulo), and Europe (London). Graviton2 instances provide up to 35% performance improvement and up to 52% price/performance improvement over comparable current generation x86-based instances for RDS open source databases depending on database engine, version, and workload. You can launch these database instances when using Amazon RDS for PostgreSQL.</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WorkSpaces is available in the Asia Pacific (Mumbai) Region</a:t>
            </a:r>
          </a:p>
        </p:txBody>
      </p:sp>
      <p:sp>
        <p:nvSpPr>
          <p:cNvPr id="3" name="Content Placeholder 2"/>
          <p:cNvSpPr>
            <a:spLocks noGrp="1"/>
          </p:cNvSpPr>
          <p:nvPr>
            <p:ph sz="half" idx="1"/>
          </p:nvPr>
        </p:nvSpPr>
        <p:spPr/>
        <p:txBody>
          <a:bodyPr>
            <a:normAutofit fontScale="92500" lnSpcReduction="10000"/>
          </a:bodyPr>
          <a:lstStyle/>
          <a:p>
            <a:r>
              <a:t>08 Mar</a:t>
            </a:r>
          </a:p>
          <a:p>
            <a:endParaRPr/>
          </a:p>
          <a:p>
            <a:r>
              <a:t>Amazon WorkSpaces is now available in the Asia Pacific (Mumbai) region, increasing the number of AWS Regions in which WorkSpaces is available to 14. This expansion into a new AWS Region allows you to provision WorkSpaces closer to your users and data, providing a more responsive experience. Additionally, you can better meet data sovereignty requirements without the cost and complexity of building on-premises Virtual Desktop Infrastructure (VDI). For companies that provide services such as customer support, development, or back office services like accounting or IT support, using Amazon WorkSpaces in Asia Pacific (Mumbai) can enable a more reliable way of giving users a persistent desktop while helping you to reduce the risk of data leakage, with the closest possible AWS Region.</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Kotlin-centric developer experience in Amplify Android</a:t>
            </a:r>
          </a:p>
        </p:txBody>
      </p:sp>
      <p:sp>
        <p:nvSpPr>
          <p:cNvPr id="3" name="Content Placeholder 2"/>
          <p:cNvSpPr>
            <a:spLocks noGrp="1"/>
          </p:cNvSpPr>
          <p:nvPr>
            <p:ph sz="half" idx="1"/>
          </p:nvPr>
        </p:nvSpPr>
        <p:spPr/>
        <p:txBody>
          <a:bodyPr/>
          <a:lstStyle/>
          <a:p>
            <a:r>
              <a:t>08 Mar</a:t>
            </a:r>
          </a:p>
          <a:p>
            <a:endParaRPr/>
          </a:p>
          <a:p>
            <a:r>
              <a:t>Today, we are announcing first-class support for Kotlin in Amplify Android. Amplify Android is part of AWS Amplify, a set of libraries, tools, and services that help frontend web and mobile developers build secure, scalable, full-stack applications. Kotlin is a popular programming language commonly used by Android developers, among others.</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now supports Amazon S3 on Outposts</a:t>
            </a:r>
          </a:p>
        </p:txBody>
      </p:sp>
      <p:sp>
        <p:nvSpPr>
          <p:cNvPr id="3" name="Content Placeholder 2"/>
          <p:cNvSpPr>
            <a:spLocks noGrp="1"/>
          </p:cNvSpPr>
          <p:nvPr>
            <p:ph sz="half" idx="1"/>
          </p:nvPr>
        </p:nvSpPr>
        <p:spPr/>
        <p:txBody>
          <a:bodyPr/>
          <a:lstStyle/>
          <a:p>
            <a:r>
              <a:t>05 Mar</a:t>
            </a:r>
          </a:p>
          <a:p>
            <a:endParaRPr/>
          </a:p>
          <a:p>
            <a:r>
              <a:t>You can now use AWS CloudFormation templates to create and manage Amazon S3 on Outposts resources, allowing you to create buckets, endpoints and access points. Amazon S3 on Outposts delivers object storage to your on-premises AWS Outposts environment to meet local data processing and data residency needs. Using Amazon S3 APIs and features, Amazon S3 on Outposts makes it easy to store and manage data on your Outpost.</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introduces instance fleets to help lower cost and improve cluster provisioning in AWS GovCloud (US) Regions</a:t>
            </a:r>
          </a:p>
        </p:txBody>
      </p:sp>
      <p:sp>
        <p:nvSpPr>
          <p:cNvPr id="3" name="Content Placeholder 2"/>
          <p:cNvSpPr>
            <a:spLocks noGrp="1"/>
          </p:cNvSpPr>
          <p:nvPr>
            <p:ph sz="half" idx="1"/>
          </p:nvPr>
        </p:nvSpPr>
        <p:spPr/>
        <p:txBody>
          <a:bodyPr/>
          <a:lstStyle/>
          <a:p>
            <a:r>
              <a:t>05 Mar</a:t>
            </a:r>
          </a:p>
          <a:p>
            <a:endParaRPr/>
          </a:p>
          <a:p>
            <a:r>
              <a:t>Amazon EMR now supports instance fleets: a new way to provision clusters in AWS GovCloud (US) Regions. Instead of specifying an Amazon EC2 availability zone for your Amazon EMR cluster and an Amazon EC2 instance type for an Amazon EMR instance group, you can now provide a list of availability zones and instances, and Amazon EMR will automatically select an optimal combination based on cost and availability.</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Device SDK for Embedded C now supports over-the-air update, AWS IoT Device Defender custom metrics, and multiple shadows for a single IoT device</a:t>
            </a:r>
          </a:p>
        </p:txBody>
      </p:sp>
      <p:sp>
        <p:nvSpPr>
          <p:cNvPr id="3" name="Content Placeholder 2"/>
          <p:cNvSpPr>
            <a:spLocks noGrp="1"/>
          </p:cNvSpPr>
          <p:nvPr>
            <p:ph sz="half" idx="1"/>
          </p:nvPr>
        </p:nvSpPr>
        <p:spPr/>
        <p:txBody>
          <a:bodyPr/>
          <a:lstStyle/>
          <a:p>
            <a:r>
              <a:t>05 Mar</a:t>
            </a:r>
          </a:p>
          <a:p>
            <a:endParaRPr/>
          </a:p>
          <a:p>
            <a:r>
              <a:t>The over-the-air update (OTA), AWS IoT Device Defender custom metrics, and AWS IoT Device Shadow named shadow features are now generally available in AWS IoT Device SDK for Embedded C (C-SDK) version 202103.00. With this release, developers can use the C-SDK libraries to update firmware, manage device fleets, monitor fleet metrics, and create multiple shadows for their IoT device.</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D3 instances with dense local HDD storage now available in Asia Pacific (Singapore, Sydney and Tokyo), and Europe (Frankfurt) regions</a:t>
            </a:r>
          </a:p>
        </p:txBody>
      </p:sp>
      <p:sp>
        <p:nvSpPr>
          <p:cNvPr id="3" name="Content Placeholder 2"/>
          <p:cNvSpPr>
            <a:spLocks noGrp="1"/>
          </p:cNvSpPr>
          <p:nvPr>
            <p:ph sz="half" idx="1"/>
          </p:nvPr>
        </p:nvSpPr>
        <p:spPr/>
        <p:txBody>
          <a:bodyPr/>
          <a:lstStyle/>
          <a:p>
            <a:r>
              <a:t>05 Mar</a:t>
            </a:r>
          </a:p>
          <a:p>
            <a:endParaRPr/>
          </a:p>
          <a:p>
            <a:r>
              <a:t>Starting today, Amazon EC2 D3 instances, the latest generation of the dense HDD-storage instances, are available in the Asia Pacific (Singapore, Sydney and Tokyo) and Europe (Frankfurt) regions.</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Proton makes new fields available for Jinja parametrization</a:t>
            </a:r>
          </a:p>
        </p:txBody>
      </p:sp>
      <p:sp>
        <p:nvSpPr>
          <p:cNvPr id="3" name="Content Placeholder 2"/>
          <p:cNvSpPr>
            <a:spLocks noGrp="1"/>
          </p:cNvSpPr>
          <p:nvPr>
            <p:ph sz="half" idx="1"/>
          </p:nvPr>
        </p:nvSpPr>
        <p:spPr/>
        <p:txBody>
          <a:bodyPr/>
          <a:lstStyle/>
          <a:p>
            <a:r>
              <a:t>05 Mar</a:t>
            </a:r>
          </a:p>
          <a:p>
            <a:endParaRPr/>
          </a:p>
          <a:p>
            <a:r>
              <a:t>AWS Proton has made two new fields, service_instance and service_instance_name, available as inputs for the Jinja parametrization of templates.  Template writers can use these fields to name individual resources in the template without requiring additional inputs from developers.  </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MediaLive launches Workflow Wizard</a:t>
            </a:r>
          </a:p>
        </p:txBody>
      </p:sp>
      <p:sp>
        <p:nvSpPr>
          <p:cNvPr id="3" name="Content Placeholder 2"/>
          <p:cNvSpPr>
            <a:spLocks noGrp="1"/>
          </p:cNvSpPr>
          <p:nvPr>
            <p:ph sz="half" idx="1"/>
          </p:nvPr>
        </p:nvSpPr>
        <p:spPr/>
        <p:txBody>
          <a:bodyPr/>
          <a:lstStyle/>
          <a:p>
            <a:r>
              <a:t>05 Mar</a:t>
            </a:r>
          </a:p>
          <a:p>
            <a:endParaRPr/>
          </a:p>
          <a:p>
            <a:r>
              <a:t>AWS Elemental MediaLive now offers a Workflow Wizard to help you create a live streaming workflow in just a few minutes. The Workflow Wizard guides you through setting up a live streaming workflow using AWS Elemental MediaLive and other AWS services including AWS Elemental MediaStore, AWS Elemental MediaPackage, and Amazon CloudFront.  </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Quicksight Launches Sankey Diagram, Field folders and more</a:t>
            </a:r>
          </a:p>
        </p:txBody>
      </p:sp>
      <p:sp>
        <p:nvSpPr>
          <p:cNvPr id="3" name="Content Placeholder 2"/>
          <p:cNvSpPr>
            <a:spLocks noGrp="1"/>
          </p:cNvSpPr>
          <p:nvPr>
            <p:ph sz="half" idx="1"/>
          </p:nvPr>
        </p:nvSpPr>
        <p:spPr/>
        <p:txBody>
          <a:bodyPr/>
          <a:lstStyle/>
          <a:p>
            <a:r>
              <a:t>05 Mar</a:t>
            </a:r>
          </a:p>
          <a:p>
            <a:endParaRPr/>
          </a:p>
          <a:p>
            <a:r>
              <a:t>Amazon Quicksight now supports Sankey diagram. Sankey diagram is used to depict a flow from one set of values to another like customer journey, cash flows, process flow, or analysis of an energy system. For example, a Sankey diagram can show the path a web visitor takes from one page to the next on a company website, with possible stops along the way. See here  for more details.</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Device Defender now supports CloudFormation</a:t>
            </a:r>
          </a:p>
        </p:txBody>
      </p:sp>
      <p:sp>
        <p:nvSpPr>
          <p:cNvPr id="3" name="Content Placeholder 2"/>
          <p:cNvSpPr>
            <a:spLocks noGrp="1"/>
          </p:cNvSpPr>
          <p:nvPr>
            <p:ph sz="half" idx="1"/>
          </p:nvPr>
        </p:nvSpPr>
        <p:spPr/>
        <p:txBody>
          <a:bodyPr/>
          <a:lstStyle/>
          <a:p>
            <a:r>
              <a:t>05 Mar</a:t>
            </a:r>
          </a:p>
          <a:p>
            <a:endParaRPr/>
          </a:p>
          <a:p>
            <a:r>
              <a:t>AWS IoT Device Defender now supports AWS CloudFormation for creating and configuring AWS IoT Device Defender resources such as scheduled audits and Security Profiles in a secure, efficient, and repeatable way.</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Network Firewall is now available in the US East (Ohio), Asia Pacific (Tokyo), Europe (Frankfurt), and Europe (Stockholm) AWS Regions</a:t>
            </a:r>
          </a:p>
        </p:txBody>
      </p:sp>
      <p:sp>
        <p:nvSpPr>
          <p:cNvPr id="3" name="Content Placeholder 2"/>
          <p:cNvSpPr>
            <a:spLocks noGrp="1"/>
          </p:cNvSpPr>
          <p:nvPr>
            <p:ph sz="half" idx="1"/>
          </p:nvPr>
        </p:nvSpPr>
        <p:spPr/>
        <p:txBody>
          <a:bodyPr/>
          <a:lstStyle/>
          <a:p>
            <a:r>
              <a:t>04 Mar</a:t>
            </a:r>
          </a:p>
          <a:p>
            <a:endParaRPr/>
          </a:p>
          <a:p>
            <a:r>
              <a:t>Starting today, AWS Network Firewall is available in the US East (Ohio), Asia Pacific (Tokyo), Europe (Frankfurt), Europe (Stockholm) AWS Regions.</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on EKS is now available in US West (N. California), US East (Ohio), Canada (Central), EU (Frankfurt and London), Asia Pacific (Mumbai, Seoul, Singapore, Sydney, and Tokyo) regions</a:t>
            </a:r>
          </a:p>
        </p:txBody>
      </p:sp>
      <p:sp>
        <p:nvSpPr>
          <p:cNvPr id="3" name="Content Placeholder 2"/>
          <p:cNvSpPr>
            <a:spLocks noGrp="1"/>
          </p:cNvSpPr>
          <p:nvPr>
            <p:ph sz="half" idx="1"/>
          </p:nvPr>
        </p:nvSpPr>
        <p:spPr/>
        <p:txBody>
          <a:bodyPr/>
          <a:lstStyle/>
          <a:p>
            <a:r>
              <a:t>04 Mar</a:t>
            </a:r>
          </a:p>
          <a:p>
            <a:endParaRPr/>
          </a:p>
          <a:p>
            <a:r>
              <a:t>Starting today, Amazon EMR on Amazon EKS is now available in US West (N. California), US East (Ohio), Canada (Central), EU (Frankfurt and London), and Asia Pacific (Mumbai, Seoul, Singapore, Sydney, and Tokyo) regions.</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P4d Instances now available in the US East (Ohio) and Asia Pacific (Tokyo) regions</a:t>
            </a:r>
          </a:p>
        </p:txBody>
      </p:sp>
      <p:sp>
        <p:nvSpPr>
          <p:cNvPr id="3" name="Content Placeholder 2"/>
          <p:cNvSpPr>
            <a:spLocks noGrp="1"/>
          </p:cNvSpPr>
          <p:nvPr>
            <p:ph sz="half" idx="1"/>
          </p:nvPr>
        </p:nvSpPr>
        <p:spPr/>
        <p:txBody>
          <a:bodyPr/>
          <a:lstStyle/>
          <a:p>
            <a:r>
              <a:t>04 Mar</a:t>
            </a:r>
          </a:p>
          <a:p>
            <a:endParaRPr/>
          </a:p>
          <a:p>
            <a:r>
              <a:t>Amazon EC2 P4d instances which provide the highest performance for machine learning training and high performance computing in the cloud are now available in the US East (Ohio) and Asia Pacific (Tokyo) regions.</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launches RA3.16xlarge and RA3.4xlarge in AWS GovCloud (US) Regions and RA3.xlplus in additional AWS Regions</a:t>
            </a:r>
          </a:p>
        </p:txBody>
      </p:sp>
      <p:sp>
        <p:nvSpPr>
          <p:cNvPr id="3" name="Content Placeholder 2"/>
          <p:cNvSpPr>
            <a:spLocks noGrp="1"/>
          </p:cNvSpPr>
          <p:nvPr>
            <p:ph sz="half" idx="1"/>
          </p:nvPr>
        </p:nvSpPr>
        <p:spPr/>
        <p:txBody>
          <a:bodyPr/>
          <a:lstStyle/>
          <a:p>
            <a:r>
              <a:t>04 Mar</a:t>
            </a:r>
          </a:p>
          <a:p>
            <a:endParaRPr/>
          </a:p>
          <a:p>
            <a:r>
              <a:t>Amazon Redshift RA3.16xlarge and RA3.4xlarge nodes are now available in the AWS GovCloud (US) Regions. In addition, the smallest RA3 node type, RA3.xlplus, is also now available in five additional AWS regions. RA3.xlplus is now available in Asia Pacific (Singapore, Mumbai) and EU (Frankfurt, London, Stockholm), in addition to the previously available regions Asia Pacific (Seoul, Sydney, Tokyo), Brazil (São Paulo), Canada (Central), EU (Ireland, Paris), US East (N. Virginia, Ohio), and US West (N. California, Oregon).</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Solutions: Serverless Bot Framework adds Amazon Lex V2 Console and API integration for an improved bot building experience</a:t>
            </a:r>
          </a:p>
        </p:txBody>
      </p:sp>
      <p:sp>
        <p:nvSpPr>
          <p:cNvPr id="3" name="Content Placeholder 2"/>
          <p:cNvSpPr>
            <a:spLocks noGrp="1"/>
          </p:cNvSpPr>
          <p:nvPr>
            <p:ph sz="half" idx="1"/>
          </p:nvPr>
        </p:nvSpPr>
        <p:spPr/>
        <p:txBody>
          <a:bodyPr/>
          <a:lstStyle/>
          <a:p>
            <a:r>
              <a:t>04 Mar</a:t>
            </a:r>
          </a:p>
          <a:p>
            <a:endParaRPr/>
          </a:p>
          <a:p>
            <a:r>
              <a:t>AWS has updated Serverless Bot Framework, an AWS Solutions Implementation that automatically sets up a chatbot application with sample interactions. This update enables customers to build and iterate on their chatbots faster. The new functionalities help customers scale the use of their chatbots with additional languages and support for more natural conversations.</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 File System (Amazon EFS) is now available in the AWS Asia Pacific (Osaka) region</a:t>
            </a:r>
          </a:p>
        </p:txBody>
      </p:sp>
      <p:sp>
        <p:nvSpPr>
          <p:cNvPr id="3" name="Content Placeholder 2"/>
          <p:cNvSpPr>
            <a:spLocks noGrp="1"/>
          </p:cNvSpPr>
          <p:nvPr>
            <p:ph sz="half" idx="1"/>
          </p:nvPr>
        </p:nvSpPr>
        <p:spPr/>
        <p:txBody>
          <a:bodyPr/>
          <a:lstStyle/>
          <a:p>
            <a:r>
              <a:t>03 Mar</a:t>
            </a:r>
          </a:p>
          <a:p>
            <a:endParaRPr/>
          </a:p>
          <a:p>
            <a:r>
              <a:t>Customers in the AWS Asia Pacific (Osaka) Region can now use Amazon Elastic File System (Amazon EFS).</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FreeRTOS demonstrates meeting a set of security criteria for IoT platforms</a:t>
            </a:r>
          </a:p>
        </p:txBody>
      </p:sp>
      <p:sp>
        <p:nvSpPr>
          <p:cNvPr id="3" name="Content Placeholder 2"/>
          <p:cNvSpPr>
            <a:spLocks noGrp="1"/>
          </p:cNvSpPr>
          <p:nvPr>
            <p:ph sz="half" idx="1"/>
          </p:nvPr>
        </p:nvSpPr>
        <p:spPr/>
        <p:txBody>
          <a:bodyPr>
            <a:normAutofit fontScale="92500" lnSpcReduction="10000"/>
          </a:bodyPr>
          <a:lstStyle/>
          <a:p>
            <a:r>
              <a:t>03 Mar</a:t>
            </a:r>
          </a:p>
          <a:p>
            <a:endParaRPr/>
          </a:p>
          <a:p>
            <a:r>
              <a:t>FreeRTOS is now certified  for the Security Evaluation Standard for IoT Platforms  (SESIP) Assurance Level 2. With this certification, FreeRTOS libraries have demonstrated meeting a specific set  of security criteria for IoT platforms. In addition, embedded developers writing FreeRTOS-based applications can achieve SESIP certification for their own applications more quickly because the underlying libraries have been tested for compliance. According to the technical standards organization GlobalPlatform , SESIP provides a common and optimized approach for evaluating the security of connected products that meets the specific compliance, security, privacy and scalability challenges of the evolving IoT ecosystem. SESIP is based on the industry-established Common Criteria  framework.</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Driving Digital Transformation with Sitecore</a:t>
            </a:r>
          </a:p>
        </p:txBody>
      </p:sp>
      <p:sp>
        <p:nvSpPr>
          <p:cNvPr id="3" name="Content Placeholder 2"/>
          <p:cNvSpPr>
            <a:spLocks noGrp="1"/>
          </p:cNvSpPr>
          <p:nvPr>
            <p:ph sz="half" idx="1"/>
          </p:nvPr>
        </p:nvSpPr>
        <p:spPr/>
        <p:txBody>
          <a:bodyPr>
            <a:normAutofit lnSpcReduction="10000"/>
          </a:bodyPr>
          <a:lstStyle/>
          <a:p>
            <a:r>
              <a:t>03 Mar</a:t>
            </a:r>
          </a:p>
          <a:p>
            <a:endParaRPr/>
          </a:p>
          <a:p>
            <a:r>
              <a:t>Driving Digital Transformation with Sitecore is an AWS Solutions Consulting Offer delivered via a consulting engagement from Slalom, an AWS DevOps Competency and AWS Digital Experience Competency Partner. With the Driving Digital Transformation with Sitecore consulting offer, Slalom leverages Sitecore’s combination of content management, commerce, and customer insights to design and create a complete, customer-centric strategy and solution. Customers that request this consulting offer will participate in an engagement that delivers a customized Sitecore configuration and deployment as well as customer experience strategy, training, and support.</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Four new digital training offerings for AWS End User Computing</a:t>
            </a:r>
          </a:p>
        </p:txBody>
      </p:sp>
      <p:sp>
        <p:nvSpPr>
          <p:cNvPr id="3" name="Content Placeholder 2"/>
          <p:cNvSpPr>
            <a:spLocks noGrp="1"/>
          </p:cNvSpPr>
          <p:nvPr>
            <p:ph sz="half" idx="1"/>
          </p:nvPr>
        </p:nvSpPr>
        <p:spPr/>
        <p:txBody>
          <a:bodyPr/>
          <a:lstStyle/>
          <a:p>
            <a:r>
              <a:t>02 Mar</a:t>
            </a:r>
          </a:p>
          <a:p>
            <a:endParaRPr/>
          </a:p>
          <a:p>
            <a:r>
              <a:t>We’re excited to introduce four new digital training offerings that help you learn how to plan, deploy, secure, and manage cloud-based desktops and applications. The offerings are designed for desktop or virtual desktop infrastructure managers, IT administrators, and technical professionals interested in cloud-based virtualization. These free self-paced courses and curriculums include presentations, interactive e-learning modules, videos, demonstrations, and quizzes.</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Intelligent SAP Migration and Management on AWS</a:t>
            </a:r>
          </a:p>
        </p:txBody>
      </p:sp>
      <p:sp>
        <p:nvSpPr>
          <p:cNvPr id="3" name="Content Placeholder 2"/>
          <p:cNvSpPr>
            <a:spLocks noGrp="1"/>
          </p:cNvSpPr>
          <p:nvPr>
            <p:ph sz="half" idx="1"/>
          </p:nvPr>
        </p:nvSpPr>
        <p:spPr/>
        <p:txBody>
          <a:bodyPr/>
          <a:lstStyle/>
          <a:p>
            <a:r>
              <a:t>02 Mar</a:t>
            </a:r>
          </a:p>
          <a:p>
            <a:endParaRPr/>
          </a:p>
          <a:p>
            <a:r>
              <a:t>Intelligent SAP Migration and Management on AWS is an AWS Solutions Consulting Offer delivered via a consulting engagement from Protera, an AWS SAP Competency Partner. Intelligent SAP Migration and Management uses the Protera FlexBridge® platform to speed up your migration, reduce your project risk, and run your SAP environment more efficiently on AWS. Customers that request this consulting offer will participate in an engagement that delivers analysis of existing SAP systems, AWS target architecture design, cost modeling, and migration and management of your SAP environment on AWS.</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PostgreSQL 11.9, 10.14, and 9.6.19 in AWS GovCloud (US) Regions</a:t>
            </a:r>
          </a:p>
        </p:txBody>
      </p:sp>
      <p:sp>
        <p:nvSpPr>
          <p:cNvPr id="3" name="Content Placeholder 2"/>
          <p:cNvSpPr>
            <a:spLocks noGrp="1"/>
          </p:cNvSpPr>
          <p:nvPr>
            <p:ph sz="half" idx="1"/>
          </p:nvPr>
        </p:nvSpPr>
        <p:spPr/>
        <p:txBody>
          <a:bodyPr/>
          <a:lstStyle/>
          <a:p>
            <a:r>
              <a:t>02 Mar</a:t>
            </a:r>
          </a:p>
          <a:p>
            <a:endParaRPr/>
          </a:p>
          <a:p>
            <a:r>
              <a:t>Following the announcement of updates to the PostgreSQL database  by the open source community, we have updated Amazon Aurora PostgreSQL-Compatible Edition to support PostgreSQL versions 11.9, 10.14, and 9.6.19 in AWS GovCloud (US) Regions. These releases contain bug fixes and improvements by the PostgreSQL community.</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FreeRTOS Long Term Support now includes AWS IoT over-the-air update, AWS IoT Device Defender, and AWS IoT Jobs libraries</a:t>
            </a:r>
          </a:p>
        </p:txBody>
      </p:sp>
      <p:sp>
        <p:nvSpPr>
          <p:cNvPr id="3" name="Content Placeholder 2"/>
          <p:cNvSpPr>
            <a:spLocks noGrp="1"/>
          </p:cNvSpPr>
          <p:nvPr>
            <p:ph sz="half" idx="1"/>
          </p:nvPr>
        </p:nvSpPr>
        <p:spPr/>
        <p:txBody>
          <a:bodyPr/>
          <a:lstStyle/>
          <a:p>
            <a:r>
              <a:t>02 Mar</a:t>
            </a:r>
          </a:p>
          <a:p>
            <a:endParaRPr/>
          </a:p>
          <a:p>
            <a:r>
              <a:t>FreeRTOS Long Term Support (LTS) release 202012.01 now includes the over-the-air update (OTA), AWS IoT Device Defender, and AWS IoT Jobs libraries in the first LTS release (FreeRTOS 202012.00 LTS). With this release, developers can use the FreeRTOS LTS libraries to update firmware, manage device fleets, and monitor fleet metrics for their microcontroller-based IoT devices. In addition, developers can rely on a FreeRTOS version that provides feature stability, and security patches and critical bug fixes for two years.</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Amazon SNS Console Now Available in AWS GovCloud (US) Regions</a:t>
            </a:r>
          </a:p>
        </p:txBody>
      </p:sp>
      <p:sp>
        <p:nvSpPr>
          <p:cNvPr id="3" name="Content Placeholder 2"/>
          <p:cNvSpPr>
            <a:spLocks noGrp="1"/>
          </p:cNvSpPr>
          <p:nvPr>
            <p:ph sz="half" idx="1"/>
          </p:nvPr>
        </p:nvSpPr>
        <p:spPr/>
        <p:txBody>
          <a:bodyPr/>
          <a:lstStyle/>
          <a:p>
            <a:r>
              <a:t>02 Mar</a:t>
            </a:r>
          </a:p>
          <a:p>
            <a:endParaRPr/>
          </a:p>
          <a:p>
            <a:r>
              <a:t>The Amazon Simple Notification Service (Amazon SNS) console with a new and updated user interface is now available in AWS GovCloud (US) Regions.</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AppConfig is now available in AWS GovCloud (US) Regions</a:t>
            </a:r>
          </a:p>
        </p:txBody>
      </p:sp>
      <p:sp>
        <p:nvSpPr>
          <p:cNvPr id="3" name="Content Placeholder 2"/>
          <p:cNvSpPr>
            <a:spLocks noGrp="1"/>
          </p:cNvSpPr>
          <p:nvPr>
            <p:ph sz="half" idx="1"/>
          </p:nvPr>
        </p:nvSpPr>
        <p:spPr/>
        <p:txBody>
          <a:bodyPr/>
          <a:lstStyle/>
          <a:p>
            <a:r>
              <a:t>02 Mar</a:t>
            </a:r>
          </a:p>
          <a:p>
            <a:endParaRPr/>
          </a:p>
          <a:p>
            <a:r>
              <a:t>AWS AppConfig is now available in the AWS GovCloud (US) Regions. AWS AppConfig helps you deploy application configurations in a managed and monitored way just like you do with code deployments, but without the need to change the code if a configuration value changes. AWS AppConfig is intended for users who want to quickly and safely deploy changes that are used during runtime of an application or platform. AWS AppConfig is a feature of AWS Systems Manager, which helps you to automate operational tasks across your AWS resources.</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CodePipeline now supports 1000 pipelines per account</a:t>
            </a:r>
          </a:p>
        </p:txBody>
      </p:sp>
      <p:sp>
        <p:nvSpPr>
          <p:cNvPr id="3" name="Content Placeholder 2"/>
          <p:cNvSpPr>
            <a:spLocks noGrp="1"/>
          </p:cNvSpPr>
          <p:nvPr>
            <p:ph sz="half" idx="1"/>
          </p:nvPr>
        </p:nvSpPr>
        <p:spPr/>
        <p:txBody>
          <a:bodyPr/>
          <a:lstStyle/>
          <a:p>
            <a:r>
              <a:t>01 Mar</a:t>
            </a:r>
          </a:p>
          <a:p>
            <a:endParaRPr/>
          </a:p>
          <a:p>
            <a:r>
              <a:t>Starting today, AWS CodePipeline supports 1,000 pipelines per account by default, an increase from the previous limit of 300. You can request a limit increase beyond 1,000 pipelines per Region/Account through the Support Center Console.</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the newly expanded AWS Asia Pacific (Osaka) Region</a:t>
            </a:r>
          </a:p>
        </p:txBody>
      </p:sp>
      <p:sp>
        <p:nvSpPr>
          <p:cNvPr id="3" name="Content Placeholder 2"/>
          <p:cNvSpPr>
            <a:spLocks noGrp="1"/>
          </p:cNvSpPr>
          <p:nvPr>
            <p:ph sz="half" idx="1"/>
          </p:nvPr>
        </p:nvSpPr>
        <p:spPr/>
        <p:txBody>
          <a:bodyPr/>
          <a:lstStyle/>
          <a:p>
            <a:r>
              <a:t>01 Mar</a:t>
            </a:r>
          </a:p>
          <a:p>
            <a:endParaRPr/>
          </a:p>
          <a:p>
            <a:r>
              <a:t>Amazon Web Services (AWS) is announcing the launch of Asia Pacific (Osaka) as a standard AWS Region, expanding Osaka from its design as a Local Region. The number of Availability Zones (AZs) in Asia Pacific (Osaka) is increasing from one to three, the service portfolio is expanding, and new pricing options are available.</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Gateway Load Balancer is now available in the US East (Ohio), Asia Pacific (Tokyo), and EU (Frankfurt and Stockholm) Regions</a:t>
            </a:r>
          </a:p>
        </p:txBody>
      </p:sp>
      <p:sp>
        <p:nvSpPr>
          <p:cNvPr id="3" name="Content Placeholder 2"/>
          <p:cNvSpPr>
            <a:spLocks noGrp="1"/>
          </p:cNvSpPr>
          <p:nvPr>
            <p:ph sz="half" idx="1"/>
          </p:nvPr>
        </p:nvSpPr>
        <p:spPr/>
        <p:txBody>
          <a:bodyPr/>
          <a:lstStyle/>
          <a:p>
            <a:r>
              <a:t>01 Mar</a:t>
            </a:r>
          </a:p>
          <a:p>
            <a:endParaRPr/>
          </a:p>
          <a:p>
            <a:r>
              <a:t>Starting today, AWS Gateway Load Balancer is available in the US East (Ohio), Asia Pacific (Tokyo), and EU (Frankfurt and Stockholm) regions.  </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Real-Time Contact Lens for Amazon Connect is now available in the Europe (London), Europe (Frankfurt), and Asia Pacific (Tokyo) AWS Regions</a:t>
            </a:r>
          </a:p>
        </p:txBody>
      </p:sp>
      <p:sp>
        <p:nvSpPr>
          <p:cNvPr id="3" name="Content Placeholder 2"/>
          <p:cNvSpPr>
            <a:spLocks noGrp="1"/>
          </p:cNvSpPr>
          <p:nvPr>
            <p:ph sz="half" idx="1"/>
          </p:nvPr>
        </p:nvSpPr>
        <p:spPr/>
        <p:txBody>
          <a:bodyPr/>
          <a:lstStyle/>
          <a:p>
            <a:r>
              <a:t>26 Feb</a:t>
            </a:r>
          </a:p>
          <a:p>
            <a:endParaRPr/>
          </a:p>
          <a:p>
            <a:r>
              <a:t>Today, we are announcing the launch of Real-Time Contact Lens for Amazon Connect in the Europe (London), Europe (Frankfurt), and Asia Pacific (Tokyo) AWS Regions. This expands support for Real-Time Contact Lens from the US West (Oregon), US East (N. Virginia), and Asia Pacific (Sydney) AWS regions that were launched at re:Invent 2020.</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Support for AS923-1 frequency band is now generally available for AWS IoT Core for LoRaWAN</a:t>
            </a:r>
          </a:p>
        </p:txBody>
      </p:sp>
      <p:sp>
        <p:nvSpPr>
          <p:cNvPr id="3" name="Content Placeholder 2"/>
          <p:cNvSpPr>
            <a:spLocks noGrp="1"/>
          </p:cNvSpPr>
          <p:nvPr>
            <p:ph sz="half" idx="1"/>
          </p:nvPr>
        </p:nvSpPr>
        <p:spPr/>
        <p:txBody>
          <a:bodyPr>
            <a:normAutofit fontScale="92500"/>
          </a:bodyPr>
          <a:lstStyle/>
          <a:p>
            <a:r>
              <a:t>26 Feb</a:t>
            </a:r>
          </a:p>
          <a:p>
            <a:endParaRPr/>
          </a:p>
          <a:p>
            <a:r>
              <a:t>Starting today, AWS IoT Core for LoRaWAN customers can use the AS923-1 frequency band to connect LoRaWAN gateways and devices that are physically present in countries that support the frequency ranges and characteristics of this band. AWS IoT Core for LoRaWAN enables customers to setup a private LoRaWAN network by connecting their LoRaWAN devices and gateways to the AWS cloud without developing or operating a LoRa Network Server (LNS). AS923-1 is commonly used in Australia, New Zealand, Japan, Singapore, and Taiwan among other countries. In addition, AWS IoT Core for LoRaWAN also supports the US902-928 and EU863-870 bands, commonly used in the North America and European regions, respectively.</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Launch Wizard now allows you to specify IP addresses for SAP deployments</a:t>
            </a:r>
          </a:p>
        </p:txBody>
      </p:sp>
      <p:sp>
        <p:nvSpPr>
          <p:cNvPr id="3" name="Content Placeholder 2"/>
          <p:cNvSpPr>
            <a:spLocks noGrp="1"/>
          </p:cNvSpPr>
          <p:nvPr>
            <p:ph sz="half" idx="1"/>
          </p:nvPr>
        </p:nvSpPr>
        <p:spPr/>
        <p:txBody>
          <a:bodyPr/>
          <a:lstStyle/>
          <a:p>
            <a:r>
              <a:t>26 Feb</a:t>
            </a:r>
          </a:p>
          <a:p>
            <a:endParaRPr/>
          </a:p>
          <a:p>
            <a:r>
              <a:t>AWS Launch Wizard now gives you the option to specify a private IP address of your choice for each EC2 instance in your SAP deployment. This makes it easy to adhere to organizational security/ governance processes that dictate which IP addresses are permissible.</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MediaTailor now supports many media origins and paths within a single configuration with Configuration Aliases</a:t>
            </a:r>
          </a:p>
        </p:txBody>
      </p:sp>
      <p:sp>
        <p:nvSpPr>
          <p:cNvPr id="3" name="Content Placeholder 2"/>
          <p:cNvSpPr>
            <a:spLocks noGrp="1"/>
          </p:cNvSpPr>
          <p:nvPr>
            <p:ph sz="half" idx="1"/>
          </p:nvPr>
        </p:nvSpPr>
        <p:spPr/>
        <p:txBody>
          <a:bodyPr/>
          <a:lstStyle/>
          <a:p>
            <a:r>
              <a:t>25 Feb</a:t>
            </a:r>
          </a:p>
          <a:p>
            <a:endParaRPr/>
          </a:p>
          <a:p>
            <a:r>
              <a:t>AWS Elemental MediaTailor introduces new Configuration Aliases, that can reduce the number of MediaTailor configurations needed to support multiple origins and media paths. This feature enables a single MediaTailor configuration to support URL fields with dynamic user-defined variables.</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JumpStart for Amazon Textract</a:t>
            </a:r>
          </a:p>
        </p:txBody>
      </p:sp>
      <p:sp>
        <p:nvSpPr>
          <p:cNvPr id="3" name="Content Placeholder 2"/>
          <p:cNvSpPr>
            <a:spLocks noGrp="1"/>
          </p:cNvSpPr>
          <p:nvPr>
            <p:ph sz="half" idx="1"/>
          </p:nvPr>
        </p:nvSpPr>
        <p:spPr/>
        <p:txBody>
          <a:bodyPr/>
          <a:lstStyle/>
          <a:p>
            <a:r>
              <a:t>25 Feb</a:t>
            </a:r>
          </a:p>
          <a:p>
            <a:endParaRPr/>
          </a:p>
          <a:p>
            <a:r>
              <a:t>JumpStart for Amazon Textract  is an AWS Solutions Consulting Offer delivered via a consulting engagement from TensorIoT, an AWS Machine Learning Competency Partner. JumpStart for Amazon Textract enhances the the benefits of Amazon Textract by reducing setup time and adding functionality that improves the data extraction experience and streamlines the user interface. Customers that request this consulting offer will participate in an engagement that delivers identification of requirements; development, testing, and verification of form templates; and deployment of the solution.</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digital course on Coursera and edX - AWS Cloud Practitioner Essentials</a:t>
            </a:r>
          </a:p>
        </p:txBody>
      </p:sp>
      <p:sp>
        <p:nvSpPr>
          <p:cNvPr id="3" name="Content Placeholder 2"/>
          <p:cNvSpPr>
            <a:spLocks noGrp="1"/>
          </p:cNvSpPr>
          <p:nvPr>
            <p:ph sz="half" idx="1"/>
          </p:nvPr>
        </p:nvSpPr>
        <p:spPr/>
        <p:txBody>
          <a:bodyPr/>
          <a:lstStyle/>
          <a:p>
            <a:r>
              <a:t>25 Feb</a:t>
            </a:r>
          </a:p>
          <a:p>
            <a:endParaRPr/>
          </a:p>
          <a:p>
            <a:r>
              <a:t>AWS Training and Certification is excited to announce the launch of the updated AWS Cloud Practitioner Essentials digital course on Coursera and edX. If you’re new to the cloud or in a technical or non-technical role such as finance, legal, sales, or marketing, this course provides you with an understanding of fundamental AWS Cloud concepts to help you gain the confidence to contribute to your organization’s cloud initiatives.</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class and lab on DevOps on AWS</a:t>
            </a:r>
          </a:p>
        </p:txBody>
      </p:sp>
      <p:sp>
        <p:nvSpPr>
          <p:cNvPr id="3" name="Content Placeholder 2"/>
          <p:cNvSpPr>
            <a:spLocks noGrp="1"/>
          </p:cNvSpPr>
          <p:nvPr>
            <p:ph sz="half" idx="1"/>
          </p:nvPr>
        </p:nvSpPr>
        <p:spPr/>
        <p:txBody>
          <a:bodyPr/>
          <a:lstStyle/>
          <a:p>
            <a:r>
              <a:t>25 Feb</a:t>
            </a:r>
          </a:p>
          <a:p>
            <a:endParaRPr/>
          </a:p>
          <a:p>
            <a:r>
              <a:t>We are excited to announce the launch of our new digital course, Getting Started with DevOps on AWS, together with the optional Getting Started with DevOps on AWS self-paced lab. This course explores the basics of developing, delivering, and maintaining high-quality secure applications and services at high velocity on AWS. The course covers the philosophies, practices, and tools used to implement a DevOps environment on AWS, while the lab gives you practical experience with the technologies discussed in the course.</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two new on-demand digital courses for Media Services</a:t>
            </a:r>
          </a:p>
        </p:txBody>
      </p:sp>
      <p:sp>
        <p:nvSpPr>
          <p:cNvPr id="3" name="Content Placeholder 2"/>
          <p:cNvSpPr>
            <a:spLocks noGrp="1"/>
          </p:cNvSpPr>
          <p:nvPr>
            <p:ph sz="half" idx="1"/>
          </p:nvPr>
        </p:nvSpPr>
        <p:spPr/>
        <p:txBody>
          <a:bodyPr/>
          <a:lstStyle/>
          <a:p>
            <a:r>
              <a:t>24 Feb</a:t>
            </a:r>
          </a:p>
          <a:p>
            <a:endParaRPr/>
          </a:p>
          <a:p>
            <a:r>
              <a:t>AWS Training and Certification is excited to announce two new courses for Media Services: Media Supply Chain: Video Processing and Delivery  and Introduction to AWS Media Services by Use Case . These digital courses are designed for organizations and individuals seeking to build cloud-based media workflows. </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curriculum: Build Modern Apps with Purpose-Built Databases</a:t>
            </a:r>
          </a:p>
        </p:txBody>
      </p:sp>
      <p:sp>
        <p:nvSpPr>
          <p:cNvPr id="3" name="Content Placeholder 2"/>
          <p:cNvSpPr>
            <a:spLocks noGrp="1"/>
          </p:cNvSpPr>
          <p:nvPr>
            <p:ph sz="half" idx="1"/>
          </p:nvPr>
        </p:nvSpPr>
        <p:spPr/>
        <p:txBody>
          <a:bodyPr/>
          <a:lstStyle/>
          <a:p>
            <a:r>
              <a:t>24 Feb</a:t>
            </a:r>
          </a:p>
          <a:p>
            <a:endParaRPr/>
          </a:p>
          <a:p>
            <a:r>
              <a:t>We’re excited to announce a free new digital curriculum: Build Modern Apps with Purpose-Built Databases. The curriculum explores the benefits of Amazon purpose-built databases and illustrates a step-by-step process for creating and modeling the databases for modern applications. Designed for data engineers, database developers, and solutions architects, this intermediate, three-hour curriculum has six self-paced modules that include presentations, video demonstrations, and downloadable user guides. </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Automate quality inspection with Amazon Lookout for Vision — now generally available</a:t>
            </a:r>
          </a:p>
        </p:txBody>
      </p:sp>
      <p:sp>
        <p:nvSpPr>
          <p:cNvPr id="3" name="Content Placeholder 2"/>
          <p:cNvSpPr>
            <a:spLocks noGrp="1"/>
          </p:cNvSpPr>
          <p:nvPr>
            <p:ph sz="half" idx="1"/>
          </p:nvPr>
        </p:nvSpPr>
        <p:spPr/>
        <p:txBody>
          <a:bodyPr/>
          <a:lstStyle/>
          <a:p>
            <a:r>
              <a:t>24 Feb</a:t>
            </a:r>
          </a:p>
          <a:p>
            <a:endParaRPr/>
          </a:p>
          <a:p>
            <a:r>
              <a:t>Today, Amazon Lookout for Vision is generally available to all AWS customers. Amazon Lookout for Vision is a machine learning (ML) service that spots defects and anomalies in visual representations of manufactured products using computer vision (CV), allowing you to automate quality inspection.</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Transfer Family is now available in AWS Middle East (Bahrain), AWS Asia Pacific (Hong Kong), and AWS Africa (Cape Town) Regions</a:t>
            </a:r>
          </a:p>
        </p:txBody>
      </p:sp>
      <p:sp>
        <p:nvSpPr>
          <p:cNvPr id="3" name="Content Placeholder 2"/>
          <p:cNvSpPr>
            <a:spLocks noGrp="1"/>
          </p:cNvSpPr>
          <p:nvPr>
            <p:ph sz="half" idx="1"/>
          </p:nvPr>
        </p:nvSpPr>
        <p:spPr/>
        <p:txBody>
          <a:bodyPr/>
          <a:lstStyle/>
          <a:p>
            <a:r>
              <a:t>24 Feb</a:t>
            </a:r>
          </a:p>
          <a:p>
            <a:endParaRPr/>
          </a:p>
          <a:p>
            <a:r>
              <a:t>AWS Transfer Family, a service that provides fully managed serverless file transfers for Amazon Simple Storage Service (Amazon S3) and Amazon Elastic File System (EFS), is now available in AWS Middle East (Bahrain), AWS Asia Pacific (Hong Kong), and AWS Africa (Cape Town) Regions. With this launch, AWS Transfer Family is now available in 19 commercial and AWS GovCloud (US) Regions.</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troubleshooting feature now generally available for AWS IoT Events</a:t>
            </a:r>
          </a:p>
        </p:txBody>
      </p:sp>
      <p:sp>
        <p:nvSpPr>
          <p:cNvPr id="3" name="Content Placeholder 2"/>
          <p:cNvSpPr>
            <a:spLocks noGrp="1"/>
          </p:cNvSpPr>
          <p:nvPr>
            <p:ph sz="half" idx="1"/>
          </p:nvPr>
        </p:nvSpPr>
        <p:spPr/>
        <p:txBody>
          <a:bodyPr>
            <a:normAutofit fontScale="92500" lnSpcReduction="20000"/>
          </a:bodyPr>
          <a:lstStyle/>
          <a:p>
            <a:r>
              <a:t>23 Feb</a:t>
            </a:r>
          </a:p>
          <a:p>
            <a:endParaRPr/>
          </a:p>
          <a:p>
            <a:r>
              <a:t>Today, AWS launched a new feature for static analysis of your event “detector models” (representations of your IoT devices as state machines on the AWS cloud) in AWS IoT Events. The feature automatically performs 7 different analyses (see list in developer guide ) of your models for potential syntax errors (e.g. bad expressions or payloads), structural issues (e.g. missing states or input triggers) and runtime errors (e.g. data type mismatch, missing data, potential to hit service limits, etc.). This debugging tool is particularly useful for complex detector models which have a large number of state changes, each with unique conditional logic triggered by multiple input data streams. The analysis summarizes diagnostic information of each of the 7 analyses by severity level ('info', 'warning', 'error') and identifies its location within the model (state, transition, action, etc.) to help you fix issues in your model even before publishing it.</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now supports Always On Availability Groups for Standard Edition</a:t>
            </a:r>
          </a:p>
        </p:txBody>
      </p:sp>
      <p:sp>
        <p:nvSpPr>
          <p:cNvPr id="3" name="Content Placeholder 2"/>
          <p:cNvSpPr>
            <a:spLocks noGrp="1"/>
          </p:cNvSpPr>
          <p:nvPr>
            <p:ph sz="half" idx="1"/>
          </p:nvPr>
        </p:nvSpPr>
        <p:spPr/>
        <p:txBody>
          <a:bodyPr/>
          <a:lstStyle/>
          <a:p>
            <a:r>
              <a:t>23 Feb</a:t>
            </a:r>
          </a:p>
          <a:p>
            <a:endParaRPr/>
          </a:p>
          <a:p>
            <a:r>
              <a:t>Amazon RDS for SQL Server now offers Always On Availability Groups (AGs) for the Multi-AZ configuration in all AWS Regions on Standard Edition. This new high-availability option meets the requirements of enterprise-grade production workloads on SQL Server.  </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MariaDB version 10.5</a:t>
            </a:r>
          </a:p>
        </p:txBody>
      </p:sp>
      <p:sp>
        <p:nvSpPr>
          <p:cNvPr id="3" name="Content Placeholder 2"/>
          <p:cNvSpPr>
            <a:spLocks noGrp="1"/>
          </p:cNvSpPr>
          <p:nvPr>
            <p:ph sz="half" idx="1"/>
          </p:nvPr>
        </p:nvSpPr>
        <p:spPr/>
        <p:txBody>
          <a:bodyPr/>
          <a:lstStyle/>
          <a:p>
            <a:r>
              <a:t>23 Feb</a:t>
            </a:r>
          </a:p>
          <a:p>
            <a:endParaRPr/>
          </a:p>
          <a:p>
            <a:r>
              <a:t>AWS Database Migration Service (AWS DMS) has expanded functionality by adding support for MariaDB version 10.5 . Using AWS DMS, you can now perform live migrations from any AWS DMS supported sources  to MariaDB 10.5 databases, and from MariaDB 10.5 databases to any AWS DMS supported targets .  </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our new Solutions Training for Partners: Sales Best Practices courses</a:t>
            </a:r>
          </a:p>
        </p:txBody>
      </p:sp>
      <p:sp>
        <p:nvSpPr>
          <p:cNvPr id="3" name="Content Placeholder 2"/>
          <p:cNvSpPr>
            <a:spLocks noGrp="1"/>
          </p:cNvSpPr>
          <p:nvPr>
            <p:ph sz="half" idx="1"/>
          </p:nvPr>
        </p:nvSpPr>
        <p:spPr/>
        <p:txBody>
          <a:bodyPr/>
          <a:lstStyle/>
          <a:p>
            <a:r>
              <a:t>23 Feb</a:t>
            </a:r>
          </a:p>
          <a:p>
            <a:endParaRPr/>
          </a:p>
          <a:p>
            <a:r>
              <a:t>AWS Training and Certification is excited to launch the Solutions Training for Partners: Sales Best Practices digital training series. These 30-minute fundamental courses are designed to introduce AWS Partners to cloud concepts and relevant AWS solutions for services that customers leverage most to innovate and transform their business.</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IoT Static IP Endpoints</a:t>
            </a:r>
          </a:p>
        </p:txBody>
      </p:sp>
      <p:sp>
        <p:nvSpPr>
          <p:cNvPr id="3" name="Content Placeholder 2"/>
          <p:cNvSpPr>
            <a:spLocks noGrp="1"/>
          </p:cNvSpPr>
          <p:nvPr>
            <p:ph sz="half" idx="1"/>
          </p:nvPr>
        </p:nvSpPr>
        <p:spPr/>
        <p:txBody>
          <a:bodyPr/>
          <a:lstStyle/>
          <a:p>
            <a:r>
              <a:t>23 Feb</a:t>
            </a:r>
          </a:p>
          <a:p>
            <a:endParaRPr/>
          </a:p>
          <a:p>
            <a:r>
              <a:t>We are delighted to announce the addition of IoT Static IP Endpoints to the AWS Solutions Implementations portfolio. AWS Solutions Implementations help you solve common problems and build faster using the AWS platform.  </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now supports January 2021 Release Updates (RU)</a:t>
            </a:r>
          </a:p>
        </p:txBody>
      </p:sp>
      <p:sp>
        <p:nvSpPr>
          <p:cNvPr id="3" name="Content Placeholder 2"/>
          <p:cNvSpPr>
            <a:spLocks noGrp="1"/>
          </p:cNvSpPr>
          <p:nvPr>
            <p:ph sz="half" idx="1"/>
          </p:nvPr>
        </p:nvSpPr>
        <p:spPr/>
        <p:txBody>
          <a:bodyPr/>
          <a:lstStyle/>
          <a:p>
            <a:r>
              <a:t>22 Feb</a:t>
            </a:r>
          </a:p>
          <a:p>
            <a:endParaRPr/>
          </a:p>
          <a:p>
            <a:r>
              <a:t>Amazon RDS for Oracle now supports the January 2021 Release Update (RU) for Oracle Database 12.2, 18c, and 19c. January 2021 Patch Set Update (PSU) for Oracle Database 12.1 will be launched soon.  </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Amazon EC2 T4g instances powered by AWS Graviton2 processors in Asia Pacific (Hong Kong), and Europe (Stockholm) regions</a:t>
            </a:r>
          </a:p>
        </p:txBody>
      </p:sp>
      <p:sp>
        <p:nvSpPr>
          <p:cNvPr id="3" name="Content Placeholder 2"/>
          <p:cNvSpPr>
            <a:spLocks noGrp="1"/>
          </p:cNvSpPr>
          <p:nvPr>
            <p:ph sz="half" idx="1"/>
          </p:nvPr>
        </p:nvSpPr>
        <p:spPr/>
        <p:txBody>
          <a:bodyPr>
            <a:normAutofit fontScale="92500"/>
          </a:bodyPr>
          <a:lstStyle/>
          <a:p>
            <a:r>
              <a:t>22 Feb</a:t>
            </a:r>
          </a:p>
          <a:p>
            <a:endParaRPr/>
          </a:p>
          <a:p>
            <a:r>
              <a:t>Starting today, the latest generation of burstable, general purpose Amazon EC2 T4g instances are now available in Asia Pacific (Hong Kong), and Europe (Stockholm) regions. These instances are powered by Arm-based AWS Graviton2 processors and deliver up to 40% better price performance over T3 instances. The T4g instances provide a baseline level of CPU performance with the ability to burst CPU usage at any time for as long as required. They offer a balance of compute, memory, and network resources for a broad spectrum of general purpose workloads, including large scale micro-services, caching servers, search engine indexing, e-commerce platforms, small and medium databases, virtual desktops, and business-critical applications.</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Amazon EC2 T4g instances powered by AWS Graviton2 processors along with a T4g free trial in Asia Pacific (Seoul) region</a:t>
            </a:r>
          </a:p>
        </p:txBody>
      </p:sp>
      <p:sp>
        <p:nvSpPr>
          <p:cNvPr id="3" name="Content Placeholder 2"/>
          <p:cNvSpPr>
            <a:spLocks noGrp="1"/>
          </p:cNvSpPr>
          <p:nvPr>
            <p:ph sz="half" idx="1"/>
          </p:nvPr>
        </p:nvSpPr>
        <p:spPr/>
        <p:txBody>
          <a:bodyPr>
            <a:normAutofit fontScale="92500"/>
          </a:bodyPr>
          <a:lstStyle/>
          <a:p>
            <a:r>
              <a:t>22 Feb</a:t>
            </a:r>
          </a:p>
          <a:p>
            <a:endParaRPr/>
          </a:p>
          <a:p>
            <a:r>
              <a:t>Starting today, the latest generation of burstable, general purpose Amazon EC2 T4g instances are now available in Asia Pacific (Seoul) region. These instances are powered by Arm-based AWS Graviton2 processors and deliver up to 40% better price performance over T3 instances. The T4g instances provide a baseline level of CPU performance with the ability to burst CPU usage at any time for as long as required. They offer a balance of compute, memory, and network resources for a broad spectrum of general purpose workloads, including large scale micro-services, caching servers, search engine indexing, e-commerce platforms, small and medium databases, virtual desktops, and business-critical applications.</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create Amazon SageMaker Studio presigned URL with custom expiration time</a:t>
            </a:r>
          </a:p>
        </p:txBody>
      </p:sp>
      <p:sp>
        <p:nvSpPr>
          <p:cNvPr id="3" name="Content Placeholder 2"/>
          <p:cNvSpPr>
            <a:spLocks noGrp="1"/>
          </p:cNvSpPr>
          <p:nvPr>
            <p:ph sz="half" idx="1"/>
          </p:nvPr>
        </p:nvSpPr>
        <p:spPr/>
        <p:txBody>
          <a:bodyPr/>
          <a:lstStyle/>
          <a:p>
            <a:r>
              <a:t>19 Feb</a:t>
            </a:r>
          </a:p>
          <a:p>
            <a:endParaRPr/>
          </a:p>
          <a:p>
            <a:r>
              <a:t>Amazon SageMaker Studio is the first fully integrated development environment (IDE) for machine learning (ML). SageMaker Studio provides a single, web-based visual interface where you can perform all ML development steps required to prepare, build, train and tune, deploy and manage models.</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digital training for AWS Partners on End User Computing and Machine Learning</a:t>
            </a:r>
          </a:p>
        </p:txBody>
      </p:sp>
      <p:sp>
        <p:nvSpPr>
          <p:cNvPr id="3" name="Content Placeholder 2"/>
          <p:cNvSpPr>
            <a:spLocks noGrp="1"/>
          </p:cNvSpPr>
          <p:nvPr>
            <p:ph sz="half" idx="1"/>
          </p:nvPr>
        </p:nvSpPr>
        <p:spPr/>
        <p:txBody>
          <a:bodyPr/>
          <a:lstStyle/>
          <a:p>
            <a:r>
              <a:t>18 Feb</a:t>
            </a:r>
          </a:p>
          <a:p>
            <a:endParaRPr/>
          </a:p>
          <a:p>
            <a:r>
              <a:t>AWS Training and Certification is excited to announce the availability of three updated digital courses for AWS Partners.</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Query Editor now supports clusters with enhanced VPC routing, longer query run times, and all node types</a:t>
            </a:r>
          </a:p>
        </p:txBody>
      </p:sp>
      <p:sp>
        <p:nvSpPr>
          <p:cNvPr id="3" name="Content Placeholder 2"/>
          <p:cNvSpPr>
            <a:spLocks noGrp="1"/>
          </p:cNvSpPr>
          <p:nvPr>
            <p:ph sz="half" idx="1"/>
          </p:nvPr>
        </p:nvSpPr>
        <p:spPr/>
        <p:txBody>
          <a:bodyPr/>
          <a:lstStyle/>
          <a:p>
            <a:r>
              <a:t>17 Feb</a:t>
            </a:r>
          </a:p>
          <a:p>
            <a:endParaRPr/>
          </a:p>
          <a:p>
            <a:r>
              <a:t>You can now use the Amazon Redshift Query editor with Amazon Redshift clusters enabled with enhanced VPC routing. You can leverage AWS Secrets Manager to store your cluster credentials and use that with the Amazon Redshift Query Editor.</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Simplified Amazon Elastic File System management console now available in AWS GovCloud (US) Regions</a:t>
            </a:r>
          </a:p>
        </p:txBody>
      </p:sp>
      <p:sp>
        <p:nvSpPr>
          <p:cNvPr id="3" name="Content Placeholder 2"/>
          <p:cNvSpPr>
            <a:spLocks noGrp="1"/>
          </p:cNvSpPr>
          <p:nvPr>
            <p:ph sz="half" idx="1"/>
          </p:nvPr>
        </p:nvSpPr>
        <p:spPr/>
        <p:txBody>
          <a:bodyPr/>
          <a:lstStyle/>
          <a:p>
            <a:r>
              <a:t>17 Feb</a:t>
            </a:r>
          </a:p>
          <a:p>
            <a:endParaRPr/>
          </a:p>
          <a:p>
            <a:r>
              <a:t>You can now use the updated Amazon Elastic File System (Amazon EFS) console  in the AWS GovCloud (US) Regions. The updated console makes it even easier for you to create and manage your file system resources. In addition to a refreshed look and feel, you can create file systems configured with the recommended settings in just few clicks. You can also monitor your file system’s behavior using Amazon CloudWatch metrics and alarms natively in the Amazon EFS console.</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Pinpoint now supports 10DLC and toll-free numbers</a:t>
            </a:r>
          </a:p>
        </p:txBody>
      </p:sp>
      <p:sp>
        <p:nvSpPr>
          <p:cNvPr id="3" name="Content Placeholder 2"/>
          <p:cNvSpPr>
            <a:spLocks noGrp="1"/>
          </p:cNvSpPr>
          <p:nvPr>
            <p:ph sz="half" idx="1"/>
          </p:nvPr>
        </p:nvSpPr>
        <p:spPr/>
        <p:txBody>
          <a:bodyPr/>
          <a:lstStyle/>
          <a:p>
            <a:r>
              <a:t>17 Feb</a:t>
            </a:r>
          </a:p>
          <a:p>
            <a:endParaRPr/>
          </a:p>
          <a:p>
            <a:r>
              <a:t>Amazon Pinpoint now includes the ability to register Ten-Digit Long Codes (10DLC), and purchase toll-free phone numbers. Both 10DLC phone numbers and toll-free numbers are used to send SMS text messages to recipients in the United States. Both of these types of phone numbers enable you to send Application-to-Person (A2P) messages with improved delivery rates and at an affordable price.  </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ml.Inf1 instances are now available on Amazon SageMaker in 14 additional AWS regions</a:t>
            </a:r>
          </a:p>
        </p:txBody>
      </p:sp>
      <p:sp>
        <p:nvSpPr>
          <p:cNvPr id="3" name="Content Placeholder 2"/>
          <p:cNvSpPr>
            <a:spLocks noGrp="1"/>
          </p:cNvSpPr>
          <p:nvPr>
            <p:ph sz="half" idx="1"/>
          </p:nvPr>
        </p:nvSpPr>
        <p:spPr/>
        <p:txBody>
          <a:bodyPr>
            <a:normAutofit fontScale="92500" lnSpcReduction="10000"/>
          </a:bodyPr>
          <a:lstStyle/>
          <a:p>
            <a:r>
              <a:t>17 Feb</a:t>
            </a:r>
          </a:p>
          <a:p>
            <a:endParaRPr/>
          </a:p>
          <a:p>
            <a:r>
              <a:t>Amazon SageMaker is a fully managed service that provides every developer and data scientist with the ability to build, train, and deploy machine learning (ML) models quickly. To deploy ML models for real-time predictions, Amazon SageMaker provides you with a large selection of AWS compute instances, so you can find the right cost to performance ratio depending on your requirements. One such instance type is Amazon Inf1, powered by AWS Inferentia, a custom chip built from the ground up by AWS to accelerate ML inference workloads. Amazon ml.Inf1 instances were available in Amazon SageMaker in the US East (N. Virginia) and US West (Oregon) regions. Starting today, Amazon ml.Inf1 instances are available on Amazon SageMaker in 14 additional AWS regions worldwide.</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SNS now supports sending SMS messages to US destinations using ten-digit long codes and toll-free numbers</a:t>
            </a:r>
          </a:p>
        </p:txBody>
      </p:sp>
      <p:sp>
        <p:nvSpPr>
          <p:cNvPr id="3" name="Content Placeholder 2"/>
          <p:cNvSpPr>
            <a:spLocks noGrp="1"/>
          </p:cNvSpPr>
          <p:nvPr>
            <p:ph sz="half" idx="1"/>
          </p:nvPr>
        </p:nvSpPr>
        <p:spPr/>
        <p:txBody>
          <a:bodyPr/>
          <a:lstStyle/>
          <a:p>
            <a:r>
              <a:t>17 Feb</a:t>
            </a:r>
          </a:p>
          <a:p>
            <a:endParaRPr/>
          </a:p>
          <a:p>
            <a:r>
              <a:t>Amazon Simple Notification Service (Amazon SNS) now supports ten-digit long codes (10DLC) and toll-free numbers (TFN) for sending SMS text messages from businesses to consumers in the US. These new origination ID types enable SNS customers to send messages using a phone number that is unique to them, and provide improved delivery rates.</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 content of inbound and outbound emails using AWS Lambda in Amazon WorkMail</a:t>
            </a:r>
          </a:p>
        </p:txBody>
      </p:sp>
      <p:sp>
        <p:nvSpPr>
          <p:cNvPr id="3" name="Content Placeholder 2"/>
          <p:cNvSpPr>
            <a:spLocks noGrp="1"/>
          </p:cNvSpPr>
          <p:nvPr>
            <p:ph sz="half" idx="1"/>
          </p:nvPr>
        </p:nvSpPr>
        <p:spPr/>
        <p:txBody>
          <a:bodyPr/>
          <a:lstStyle/>
          <a:p>
            <a:r>
              <a:t>16 Feb</a:t>
            </a:r>
          </a:p>
          <a:p>
            <a:endParaRPr/>
          </a:p>
          <a:p>
            <a:r>
              <a:t>Today, Amazon WorkMail announced that you can now update content of in-transit emails to and from your organization with AWS Lambda functions when using Email Flow Rules. With this, you can easily update the contents of the email as it flows in and out of your organization in order to help meet security, compliance, or productivity needs. For example, you can create a Lambda function which removes all attachments, or adds disclaimers or signatures on the email before it is delivered.</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Config now supports the ability to save advanced queries in AWS GovCloud (US) Regions</a:t>
            </a:r>
          </a:p>
        </p:txBody>
      </p:sp>
      <p:sp>
        <p:nvSpPr>
          <p:cNvPr id="3" name="Content Placeholder 2"/>
          <p:cNvSpPr>
            <a:spLocks noGrp="1"/>
          </p:cNvSpPr>
          <p:nvPr>
            <p:ph sz="half" idx="1"/>
          </p:nvPr>
        </p:nvSpPr>
        <p:spPr/>
        <p:txBody>
          <a:bodyPr/>
          <a:lstStyle/>
          <a:p>
            <a:r>
              <a:t>16 Feb</a:t>
            </a:r>
          </a:p>
          <a:p>
            <a:endParaRPr/>
          </a:p>
          <a:p>
            <a:r>
              <a:t>AWS Config advanced queries  feature now supports the ability to save your queries in your AWS Config account in AWS GovCloud (US) Regions. Now, when you customize a sample query or write your query, you can save it with a name, description, and tags. This reduces the need to save a query in a separate repository or rewrite it every time you want to run it. After you save the query, you can search it, copy it to the query editor, edit it, or delete it.</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MediaLive now supports region transfer for AWS Elemental Link</a:t>
            </a:r>
          </a:p>
        </p:txBody>
      </p:sp>
      <p:sp>
        <p:nvSpPr>
          <p:cNvPr id="3" name="Content Placeholder 2"/>
          <p:cNvSpPr>
            <a:spLocks noGrp="1"/>
          </p:cNvSpPr>
          <p:nvPr>
            <p:ph sz="half" idx="1"/>
          </p:nvPr>
        </p:nvSpPr>
        <p:spPr/>
        <p:txBody>
          <a:bodyPr/>
          <a:lstStyle/>
          <a:p>
            <a:r>
              <a:t>16 Feb</a:t>
            </a:r>
          </a:p>
          <a:p>
            <a:endParaRPr/>
          </a:p>
          <a:p>
            <a:r>
              <a:t>AWS Elemental MediaLive now supports the ability to transfer your AWS Elemental Link device from one service region to another. You can transfer the device to any region that supports MediaLive.</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Link now available in Europe (Paris) region</a:t>
            </a:r>
          </a:p>
        </p:txBody>
      </p:sp>
      <p:sp>
        <p:nvSpPr>
          <p:cNvPr id="3" name="Content Placeholder 2"/>
          <p:cNvSpPr>
            <a:spLocks noGrp="1"/>
          </p:cNvSpPr>
          <p:nvPr>
            <p:ph sz="half" idx="1"/>
          </p:nvPr>
        </p:nvSpPr>
        <p:spPr/>
        <p:txBody>
          <a:bodyPr/>
          <a:lstStyle/>
          <a:p>
            <a:r>
              <a:t>16 Feb</a:t>
            </a:r>
          </a:p>
          <a:p>
            <a:endParaRPr/>
          </a:p>
          <a:p>
            <a:r>
              <a:t>AWS Elemental Link is now available in the Europe (Paris) region. Using Link, you can now ingest your high-quality video in the AWS Cloud in more locations globally.</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Graviton2 based M6g, C6g, and R6g instances are now available in EU (Stockholm) region, and M6gd, C6gd, and R6gd instances are now available in US West (Northern California), and Asia Pacific (Tokyo) regions</a:t>
            </a:r>
          </a:p>
        </p:txBody>
      </p:sp>
      <p:sp>
        <p:nvSpPr>
          <p:cNvPr id="3" name="Content Placeholder 2"/>
          <p:cNvSpPr>
            <a:spLocks noGrp="1"/>
          </p:cNvSpPr>
          <p:nvPr>
            <p:ph sz="half" idx="1"/>
          </p:nvPr>
        </p:nvSpPr>
        <p:spPr/>
        <p:txBody>
          <a:bodyPr/>
          <a:lstStyle/>
          <a:p>
            <a:r>
              <a:t>16 Feb</a:t>
            </a:r>
          </a:p>
          <a:p>
            <a:endParaRPr/>
          </a:p>
          <a:p>
            <a:r>
              <a:t>Starting today, Amazon EC2 M6g, C6g, and R6g instances are available in EU (Stockholm) region. Additionally, Amazon EC2 M6gd, C6gd and R6gd instances with local NVMe-based SSD storage are now available in US West (Northern California), and Asia Pacific (Tokyo) regions.  </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Amplify Flutter, with new data and authentication support</a:t>
            </a:r>
          </a:p>
        </p:txBody>
      </p:sp>
      <p:sp>
        <p:nvSpPr>
          <p:cNvPr id="3" name="Content Placeholder 2"/>
          <p:cNvSpPr>
            <a:spLocks noGrp="1"/>
          </p:cNvSpPr>
          <p:nvPr>
            <p:ph sz="half" idx="1"/>
          </p:nvPr>
        </p:nvSpPr>
        <p:spPr/>
        <p:txBody>
          <a:bodyPr>
            <a:normAutofit lnSpcReduction="10000"/>
          </a:bodyPr>
          <a:lstStyle/>
          <a:p>
            <a:r>
              <a:t>15 Feb</a:t>
            </a:r>
          </a:p>
          <a:p>
            <a:endParaRPr/>
          </a:p>
          <a:p>
            <a:r>
              <a:t>Flutter support in AWS Amplify is now generally available (GA). Amplify is a set of tools and services that help frontend web and mobile developers build secure, scalable, full-stack applications. Flutter is an open-source UI software development kit created by Google for developing applications for Android and iOS from a single codebase. Amplify Flutter brings together Amplify and Flutter. It is designed for developers who have invested in the Flutter ecosystem and now want to take advantage of the power of AWS. You can use the Amplify Flutter libraries with Amplify-created backends, as well as existing AWS backends.</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on Outposts adds a smaller storage tier</a:t>
            </a:r>
          </a:p>
        </p:txBody>
      </p:sp>
      <p:sp>
        <p:nvSpPr>
          <p:cNvPr id="3" name="Content Placeholder 2"/>
          <p:cNvSpPr>
            <a:spLocks noGrp="1"/>
          </p:cNvSpPr>
          <p:nvPr>
            <p:ph sz="half" idx="1"/>
          </p:nvPr>
        </p:nvSpPr>
        <p:spPr/>
        <p:txBody>
          <a:bodyPr/>
          <a:lstStyle/>
          <a:p>
            <a:r>
              <a:t>15 Feb</a:t>
            </a:r>
          </a:p>
          <a:p>
            <a:endParaRPr/>
          </a:p>
          <a:p>
            <a:r>
              <a:t>AWS Outposts now offers a 26 TB storage tier for Amazon S3 on Outposts. This new storage tier gives you flexibility to configure 26 TB of Amazon S3 storage alongside up to 11 TB of Amazon EBS on your AWS Outposts. This adds to the 48 TB and 96 TB tiers of S3 storage currently available for S3 on Outposts.  </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MediaLive expands its automatic input failover capabilities</a:t>
            </a:r>
          </a:p>
        </p:txBody>
      </p:sp>
      <p:sp>
        <p:nvSpPr>
          <p:cNvPr id="3" name="Content Placeholder 2"/>
          <p:cNvSpPr>
            <a:spLocks noGrp="1"/>
          </p:cNvSpPr>
          <p:nvPr>
            <p:ph sz="half" idx="1"/>
          </p:nvPr>
        </p:nvSpPr>
        <p:spPr/>
        <p:txBody>
          <a:bodyPr/>
          <a:lstStyle/>
          <a:p>
            <a:r>
              <a:t>15 Feb</a:t>
            </a:r>
          </a:p>
          <a:p>
            <a:endParaRPr/>
          </a:p>
          <a:p>
            <a:r>
              <a:t>AWS Elemental MediaLive now supports additional automatic input failover  conditions including black frame and audio loss detection. You can use automatic input failover to build highly resilient and redundant live streaming workflows on AWS.</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Simple Email Service launches a redesigned service console experience</a:t>
            </a:r>
          </a:p>
        </p:txBody>
      </p:sp>
      <p:sp>
        <p:nvSpPr>
          <p:cNvPr id="3" name="Content Placeholder 2"/>
          <p:cNvSpPr>
            <a:spLocks noGrp="1"/>
          </p:cNvSpPr>
          <p:nvPr>
            <p:ph sz="half" idx="1"/>
          </p:nvPr>
        </p:nvSpPr>
        <p:spPr/>
        <p:txBody>
          <a:bodyPr/>
          <a:lstStyle/>
          <a:p>
            <a:r>
              <a:t>12 Feb</a:t>
            </a:r>
          </a:p>
          <a:p>
            <a:endParaRPr/>
          </a:p>
          <a:p>
            <a:r>
              <a:t>Amazon Simple Email Service (Amazon SES) has launched a redesigned service console that customers can access via an opt-in link on the classic console. With its streamlined look and feel, the new console makes it even easier for customers to leverage the speed, reliability, and flexibility that Amazon SES has to offer.</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StackSets is now available in Japan (Osaka) Region</a:t>
            </a:r>
          </a:p>
        </p:txBody>
      </p:sp>
      <p:sp>
        <p:nvSpPr>
          <p:cNvPr id="3" name="Content Placeholder 2"/>
          <p:cNvSpPr>
            <a:spLocks noGrp="1"/>
          </p:cNvSpPr>
          <p:nvPr>
            <p:ph sz="half" idx="1"/>
          </p:nvPr>
        </p:nvSpPr>
        <p:spPr/>
        <p:txBody>
          <a:bodyPr/>
          <a:lstStyle/>
          <a:p>
            <a:r>
              <a:t>12 Feb</a:t>
            </a:r>
          </a:p>
          <a:p>
            <a:endParaRPr/>
          </a:p>
          <a:p>
            <a:r>
              <a:t>AWS CloudFormation has expanded the availability of StackSets  to Japan (Osaka region). StackSets is a CloudFormation feature that allows you to centrally manage deployment of cloud resources to multiple AWS accounts and Regions in a single operation. StackSets is also integrated with AWS Organizations so you can take advantage of automatic deployments whenever an account enters an organization.</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M5zn instances, with high frequency processors and 100 Gbps networking are now available in Asia Pacific (Singapore and Sydney)</a:t>
            </a:r>
          </a:p>
        </p:txBody>
      </p:sp>
      <p:sp>
        <p:nvSpPr>
          <p:cNvPr id="3" name="Content Placeholder 2"/>
          <p:cNvSpPr>
            <a:spLocks noGrp="1"/>
          </p:cNvSpPr>
          <p:nvPr>
            <p:ph sz="half" idx="1"/>
          </p:nvPr>
        </p:nvSpPr>
        <p:spPr/>
        <p:txBody>
          <a:bodyPr/>
          <a:lstStyle/>
          <a:p>
            <a:r>
              <a:t>11 Feb</a:t>
            </a:r>
          </a:p>
          <a:p>
            <a:endParaRPr/>
          </a:p>
          <a:p>
            <a:r>
              <a:t>Starting today, general purpose Amazon EC2 M5zn instances are available in the AWS Asia Pacific (Singapore and Sydney) regions. These new instances are a high frequency, high speed and low-latency networking variant of Amazon EC2 M5 instances, powered by custom 2nd Generation Intel Xeon Scalable Processors (Cascade Lake). M5zn instances deliver the highest all-core turbo CPU performance from Intel Xeon Scalable processors in the cloud, with a frequency up to 4.5 GHz.</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Serverless Image Handler v5.2</a:t>
            </a:r>
          </a:p>
        </p:txBody>
      </p:sp>
      <p:sp>
        <p:nvSpPr>
          <p:cNvPr id="3" name="Content Placeholder 2"/>
          <p:cNvSpPr>
            <a:spLocks noGrp="1"/>
          </p:cNvSpPr>
          <p:nvPr>
            <p:ph sz="half" idx="1"/>
          </p:nvPr>
        </p:nvSpPr>
        <p:spPr/>
        <p:txBody>
          <a:bodyPr/>
          <a:lstStyle/>
          <a:p>
            <a:r>
              <a:t>10 Feb</a:t>
            </a:r>
          </a:p>
          <a:p>
            <a:endParaRPr/>
          </a:p>
          <a:p>
            <a:r>
              <a:t>The Serverless Image Handler solution enables fast and cost-effective image manipulation in the cloud by combining highly available, trusted AWS Services with the open-source imaging processing suite, Sharp . The solution automatically deploys and configures a serverless architecture optimized for dynamic image manipulation. It uses Amazon CloudFront for global content delivery and Amazon Simple Storage Service (Amazon S3) for reliable and durable cloud storage at low costs.</a:t>
            </a: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is now available in the AWS GovCloud (US-West) Region</a:t>
            </a:r>
          </a:p>
        </p:txBody>
      </p:sp>
      <p:sp>
        <p:nvSpPr>
          <p:cNvPr id="3" name="Content Placeholder 2"/>
          <p:cNvSpPr>
            <a:spLocks noGrp="1"/>
          </p:cNvSpPr>
          <p:nvPr>
            <p:ph sz="half" idx="1"/>
          </p:nvPr>
        </p:nvSpPr>
        <p:spPr/>
        <p:txBody>
          <a:bodyPr>
            <a:normAutofit lnSpcReduction="10000"/>
          </a:bodyPr>
          <a:lstStyle/>
          <a:p>
            <a:r>
              <a:t>10 Feb</a:t>
            </a:r>
          </a:p>
          <a:p>
            <a:endParaRPr/>
          </a:p>
          <a:p>
            <a:r>
              <a:t>Amazon Lex, a service for building conversational interfaces into any application using voice and text, is now available in the AWS GovCloud (US-West) Region. Amazon Lex provides the advanced deep learning functionalities of automatic speech recognition (ASR) for converting speech to text, and natural language understanding (NLU) to recognize the intent of the text, to enable you to build applications with highly engaging user experiences and lifelike conversational interactions. With Amazon Lex, you can quickly and easily build sophisticated, natural language, conversational bots (“chatbots”), virtual agents and IVR systems.</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AMD instance support for Amazon GameLift FleetIQ</a:t>
            </a:r>
          </a:p>
        </p:txBody>
      </p:sp>
      <p:sp>
        <p:nvSpPr>
          <p:cNvPr id="3" name="Content Placeholder 2"/>
          <p:cNvSpPr>
            <a:spLocks noGrp="1"/>
          </p:cNvSpPr>
          <p:nvPr>
            <p:ph sz="half" idx="1"/>
          </p:nvPr>
        </p:nvSpPr>
        <p:spPr/>
        <p:txBody>
          <a:bodyPr/>
          <a:lstStyle/>
          <a:p>
            <a:r>
              <a:t>10 Feb</a:t>
            </a:r>
          </a:p>
          <a:p>
            <a:endParaRPr/>
          </a:p>
          <a:p>
            <a:r>
              <a:t>Today, we are excited to announce the general availability (GA) of an update to Amazon GameLift FleetIQ, enabling you as a game developer to use AMD EPYC™ processor-based instances. GameLift is an AWS managed service for deploying, operating, and scaling dedicated servers for multiplayer games, and it is trusted by some of the most successful game companies in the world, including Ubisoft, Gameloft, and N3TWORK. With this update, GameLift FleetIQ adds AMD EPYC instance families allowing game developers more server types to choose, while still delivering the same low-cost, low-latency player experience.</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Cloud9 launches visual source control integration for Git</a:t>
            </a:r>
          </a:p>
        </p:txBody>
      </p:sp>
      <p:sp>
        <p:nvSpPr>
          <p:cNvPr id="3" name="Content Placeholder 2"/>
          <p:cNvSpPr>
            <a:spLocks noGrp="1"/>
          </p:cNvSpPr>
          <p:nvPr>
            <p:ph sz="half" idx="1"/>
          </p:nvPr>
        </p:nvSpPr>
        <p:spPr/>
        <p:txBody>
          <a:bodyPr/>
          <a:lstStyle/>
          <a:p>
            <a:r>
              <a:t>10 Feb</a:t>
            </a:r>
          </a:p>
          <a:p>
            <a:endParaRPr/>
          </a:p>
          <a:p>
            <a:r>
              <a:t>AWS Cloud9 now includes visual source control integration for Git (Git panel) built in to Cloud9. Prior to this release Git could only be used on the command line of the integrated Cloud9 terminal. Today’s release gives you the option to use a visual tool, built in to the IDE, to clone, push, pull, add, and commit files to your Git repositories on Cloud9 environments.</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DeepComposer launches Transformer Notebook on GitHub</a:t>
            </a:r>
          </a:p>
        </p:txBody>
      </p:sp>
      <p:sp>
        <p:nvSpPr>
          <p:cNvPr id="3" name="Content Placeholder 2"/>
          <p:cNvSpPr>
            <a:spLocks noGrp="1"/>
          </p:cNvSpPr>
          <p:nvPr>
            <p:ph sz="half" idx="1"/>
          </p:nvPr>
        </p:nvSpPr>
        <p:spPr/>
        <p:txBody>
          <a:bodyPr>
            <a:normAutofit fontScale="92500" lnSpcReduction="10000"/>
          </a:bodyPr>
          <a:lstStyle/>
          <a:p>
            <a:r>
              <a:t>09 Feb</a:t>
            </a:r>
          </a:p>
          <a:p>
            <a:endParaRPr/>
          </a:p>
          <a:p>
            <a:r>
              <a:t>Today, we are excited to announce the launch of a new Transformer notebook on GitHub. AWS DeepComposer gives developers a creative way to get hands-on with the latest generative AI techniques expand their machine learning skills. The Transformer is a state-of-the-art model that works with sequential data such as genomic data or stock prices. By using a mechanism called attention, the algorithm attempts to learn the relationships between the different data points so it can generate better predictions. In the AWS DeepComposer Music studio, the Transformers feature will allow you to iteratively extend a melody to create new and longer compositions. Learn more about the Transformer technique in the learning capsule  in the AWS DeepComposer Console.</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curriculum: Managing Amazon S3</a:t>
            </a:r>
          </a:p>
        </p:txBody>
      </p:sp>
      <p:sp>
        <p:nvSpPr>
          <p:cNvPr id="3" name="Content Placeholder 2"/>
          <p:cNvSpPr>
            <a:spLocks noGrp="1"/>
          </p:cNvSpPr>
          <p:nvPr>
            <p:ph sz="half" idx="1"/>
          </p:nvPr>
        </p:nvSpPr>
        <p:spPr/>
        <p:txBody>
          <a:bodyPr/>
          <a:lstStyle/>
          <a:p>
            <a:r>
              <a:t>09 Feb</a:t>
            </a:r>
          </a:p>
          <a:p>
            <a:endParaRPr/>
          </a:p>
          <a:p>
            <a:r>
              <a:t>We’re excited to announce a free new digital curriculum: Managing Amazon Simple Storage Service. This advanced 150-minute curriculum covers techniques to simplify the management of Amazon S3 storage. Designed for cloud architects, storage architects, developers, and operations engineers, it includes interactive lessons, video demonstrations, a self-paced lab, and quizzes. The self-paced lab costs up to 15 USD per lab (this cost is not included with free digital training on aws.training).</a:t>
            </a: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is now available in the AWS Africa (Cape Town) Region</a:t>
            </a:r>
          </a:p>
        </p:txBody>
      </p:sp>
      <p:sp>
        <p:nvSpPr>
          <p:cNvPr id="3" name="Content Placeholder 2"/>
          <p:cNvSpPr>
            <a:spLocks noGrp="1"/>
          </p:cNvSpPr>
          <p:nvPr>
            <p:ph sz="half" idx="1"/>
          </p:nvPr>
        </p:nvSpPr>
        <p:spPr/>
        <p:txBody>
          <a:bodyPr/>
          <a:lstStyle/>
          <a:p>
            <a:r>
              <a:t>09 Feb</a:t>
            </a:r>
          </a:p>
          <a:p>
            <a:endParaRPr/>
          </a:p>
          <a:p>
            <a:r>
              <a:t>AWS Glue is now available in the AWS Africa (Cape Town) Region. AWS Glue is a serverless data integration service that makes it easy to discover, prepare, and combine data for analytics, machine learning, and application development. AWS Glue provides both visual and code-based interfaces to make data integration easier so that you can start analyzing your data and putting it to use in minutes instead of months.</a:t>
            </a: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Lake Formation is now available in Asia Pacific (Hong Kong) region</a:t>
            </a:r>
          </a:p>
        </p:txBody>
      </p:sp>
      <p:sp>
        <p:nvSpPr>
          <p:cNvPr id="3" name="Content Placeholder 2"/>
          <p:cNvSpPr>
            <a:spLocks noGrp="1"/>
          </p:cNvSpPr>
          <p:nvPr>
            <p:ph sz="half" idx="1"/>
          </p:nvPr>
        </p:nvSpPr>
        <p:spPr/>
        <p:txBody>
          <a:bodyPr/>
          <a:lstStyle/>
          <a:p>
            <a:r>
              <a:t>09 Feb</a:t>
            </a:r>
          </a:p>
          <a:p>
            <a:endParaRPr/>
          </a:p>
          <a:p>
            <a:r>
              <a:t>You can now use AWS Lake Formation in the Asia Pacific (Hong Kong) region.  </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 Exchange enables subscribers to export full revisions</a:t>
            </a:r>
          </a:p>
        </p:txBody>
      </p:sp>
      <p:sp>
        <p:nvSpPr>
          <p:cNvPr id="3" name="Content Placeholder 2"/>
          <p:cNvSpPr>
            <a:spLocks noGrp="1"/>
          </p:cNvSpPr>
          <p:nvPr>
            <p:ph sz="half" idx="1"/>
          </p:nvPr>
        </p:nvSpPr>
        <p:spPr/>
        <p:txBody>
          <a:bodyPr/>
          <a:lstStyle/>
          <a:p>
            <a:r>
              <a:t>09 Feb</a:t>
            </a:r>
          </a:p>
          <a:p>
            <a:endParaRPr/>
          </a:p>
          <a:p>
            <a:r>
              <a:t>AWS Data Exchange now allows subscribers to export full data set revisions to Amazon S3 in a single export job. Starting today, subscribers who want to export all assets within a data set revision can do so using the AWS Data Exchange console or programmatically using the AWS Data Exchange API . This functionality eliminates the need to set-up and maintain code when configuring the export of revisions with many assets. For customers who have subscribed to 3rd party data sets containing hundreds or thousands of assets in individual revisions, this feature materially simplifies the receipt and ingestion of data.</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CloudFront launches in Croatia</a:t>
            </a:r>
          </a:p>
        </p:txBody>
      </p:sp>
      <p:sp>
        <p:nvSpPr>
          <p:cNvPr id="3" name="Content Placeholder 2"/>
          <p:cNvSpPr>
            <a:spLocks noGrp="1"/>
          </p:cNvSpPr>
          <p:nvPr>
            <p:ph sz="half" idx="1"/>
          </p:nvPr>
        </p:nvSpPr>
        <p:spPr/>
        <p:txBody>
          <a:bodyPr/>
          <a:lstStyle/>
          <a:p>
            <a:r>
              <a:t>09 Feb</a:t>
            </a:r>
          </a:p>
          <a:p>
            <a:endParaRPr/>
          </a:p>
          <a:p>
            <a:r>
              <a:t>Amazon CloudFront announces its first edge location in Zagreb, Croatia. This new edge location in Zagreb will provide viewers as much as a 14% reduction in first-byte latency and is included within CloudFront's European region pricing. For more</a:t>
            </a:r>
          </a:p>
          <a:p>
            <a:r>
              <a:t>information about CloudFront’s global infrastructure, see Amazon CloudFront Infrastructure.</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Persistent Digital Bank and Credit Union Solution</a:t>
            </a:r>
          </a:p>
        </p:txBody>
      </p:sp>
      <p:sp>
        <p:nvSpPr>
          <p:cNvPr id="3" name="Content Placeholder 2"/>
          <p:cNvSpPr>
            <a:spLocks noGrp="1"/>
          </p:cNvSpPr>
          <p:nvPr>
            <p:ph sz="half" idx="1"/>
          </p:nvPr>
        </p:nvSpPr>
        <p:spPr/>
        <p:txBody>
          <a:bodyPr/>
          <a:lstStyle/>
          <a:p>
            <a:r>
              <a:t>08 Feb</a:t>
            </a:r>
          </a:p>
          <a:p>
            <a:endParaRPr/>
          </a:p>
          <a:p>
            <a:r>
              <a:t>Persistent Digital Bank and Credit Union Solution (PDBCUS) is an AWS Solutions Consulting Offer delivered via a consulting engagement from Persistent Systems, an AWS Financial Services Competency Partner. PDBCUS will enable you to deploy new digital banking capabilities including customer onboarding, digital deposits, loan account opening, and automated credit decisioning. Customers that request this consulting offer will participate in an engagement that delivers discovery, onboarding, configuration, and deployment.</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CloudHSM Adds New Availability Zones</a:t>
            </a:r>
          </a:p>
        </p:txBody>
      </p:sp>
      <p:sp>
        <p:nvSpPr>
          <p:cNvPr id="3" name="Content Placeholder 2"/>
          <p:cNvSpPr>
            <a:spLocks noGrp="1"/>
          </p:cNvSpPr>
          <p:nvPr>
            <p:ph sz="half" idx="1"/>
          </p:nvPr>
        </p:nvSpPr>
        <p:spPr/>
        <p:txBody>
          <a:bodyPr/>
          <a:lstStyle/>
          <a:p>
            <a:r>
              <a:t>08 Feb</a:t>
            </a:r>
          </a:p>
          <a:p>
            <a:endParaRPr/>
          </a:p>
          <a:p>
            <a:r>
              <a:t>Today, AWS CloudHSM launched service in additional Availability Zones (AZs) in US East (N. Virginia), Asia Pacific (Singapore), Asia Pacific (Tokyo) and AWS GovCloud (US-West) to support high demand from our growing customer base.  </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Digital Banking Engagement Platform</a:t>
            </a:r>
          </a:p>
        </p:txBody>
      </p:sp>
      <p:sp>
        <p:nvSpPr>
          <p:cNvPr id="3" name="Content Placeholder 2"/>
          <p:cNvSpPr>
            <a:spLocks noGrp="1"/>
          </p:cNvSpPr>
          <p:nvPr>
            <p:ph sz="half" idx="1"/>
          </p:nvPr>
        </p:nvSpPr>
        <p:spPr/>
        <p:txBody>
          <a:bodyPr/>
          <a:lstStyle/>
          <a:p>
            <a:r>
              <a:t>08 Feb</a:t>
            </a:r>
          </a:p>
          <a:p>
            <a:endParaRPr/>
          </a:p>
          <a:p>
            <a:r>
              <a:t>Digital Banking Engagement Platform (DBEP) is an AWS Solutions Consulting Offer delivered via a consulting engagement from Sopra Steria, an AWS Financial Services Competency Partner, and its subsidiary Sopra Banking Software. DBEP offers data-driven financial services to help institutions adopt Open Banking capabilities and enhance customer engagement. Customers that request this consulting offer will participate in an engagement that delivers inception, design, and implementation of the platform.</a:t>
            </a: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AI-Powered Inventory Management</a:t>
            </a:r>
          </a:p>
        </p:txBody>
      </p:sp>
      <p:sp>
        <p:nvSpPr>
          <p:cNvPr id="3" name="Content Placeholder 2"/>
          <p:cNvSpPr>
            <a:spLocks noGrp="1"/>
          </p:cNvSpPr>
          <p:nvPr>
            <p:ph sz="half" idx="1"/>
          </p:nvPr>
        </p:nvSpPr>
        <p:spPr/>
        <p:txBody>
          <a:bodyPr/>
          <a:lstStyle/>
          <a:p>
            <a:r>
              <a:t>08 Feb</a:t>
            </a:r>
          </a:p>
          <a:p>
            <a:endParaRPr/>
          </a:p>
          <a:p>
            <a:r>
              <a:t>AI-Powered Inventory Management is an AWS Solutions Consulting Offer delivered via a consulting engagement from Intellify, an AWS Machine Learning Competency Partner. AI-Powered Inventory Management helps improve inventory health by automating inventory forecasting to take the time and guesswork out of inventory management. Customers that request this consulting offer will participate in an engagement that delivers data integration, machine learning modelling, solution deployment, and support.</a:t>
            </a: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ECS Service Discovery Now Available in Africa (Cape Town) and Europe (Milan)</a:t>
            </a:r>
          </a:p>
        </p:txBody>
      </p:sp>
      <p:sp>
        <p:nvSpPr>
          <p:cNvPr id="3" name="Content Placeholder 2"/>
          <p:cNvSpPr>
            <a:spLocks noGrp="1"/>
          </p:cNvSpPr>
          <p:nvPr>
            <p:ph sz="half" idx="1"/>
          </p:nvPr>
        </p:nvSpPr>
        <p:spPr/>
        <p:txBody>
          <a:bodyPr/>
          <a:lstStyle/>
          <a:p>
            <a:r>
              <a:t>08 Feb</a:t>
            </a:r>
          </a:p>
          <a:p>
            <a:endParaRPr/>
          </a:p>
          <a:p>
            <a:r>
              <a:t>Today, Amazon Elastic Container Service (ECS) launches integrated service discovery in the Africa (Cape Town) and Europe (Milan) regions.</a:t>
            </a: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CloudFront Security Savings Bundle</a:t>
            </a:r>
          </a:p>
        </p:txBody>
      </p:sp>
      <p:sp>
        <p:nvSpPr>
          <p:cNvPr id="3" name="Content Placeholder 2"/>
          <p:cNvSpPr>
            <a:spLocks noGrp="1"/>
          </p:cNvSpPr>
          <p:nvPr>
            <p:ph sz="half" idx="1"/>
          </p:nvPr>
        </p:nvSpPr>
        <p:spPr/>
        <p:txBody>
          <a:bodyPr/>
          <a:lstStyle/>
          <a:p>
            <a:r>
              <a:t>05 Feb</a:t>
            </a:r>
          </a:p>
          <a:p>
            <a:endParaRPr/>
          </a:p>
          <a:p>
            <a:r>
              <a:t>Today, we are announcing the Amazon CloudFront Security Savings Bundle, a flexible self-service pricing plan that helps you save up to 30% on your CloudFront bill in exchange for a monthly spend commitment for a 1-year term. The savings bundle also includes free AWS WAF (Web Application Firewall) usage up to 10% of your committed amount. Any additional Standard CloudFront or WAF charges not covered by the CloudFront Security Savings Bundle still apply.</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Graviton2 M6g, C6g, and R6g instances now available in Asia Pacific (Seoul, Hong Kong) regions, and M6gd, C6gd, and R6gd instances now available in EU (Frankfurt), and Asia Pacific (Singapore, Sydney) regions</a:t>
            </a:r>
          </a:p>
        </p:txBody>
      </p:sp>
      <p:sp>
        <p:nvSpPr>
          <p:cNvPr id="3" name="Content Placeholder 2"/>
          <p:cNvSpPr>
            <a:spLocks noGrp="1"/>
          </p:cNvSpPr>
          <p:nvPr>
            <p:ph sz="half" idx="1"/>
          </p:nvPr>
        </p:nvSpPr>
        <p:spPr/>
        <p:txBody>
          <a:bodyPr/>
          <a:lstStyle/>
          <a:p>
            <a:r>
              <a:t>05 Feb</a:t>
            </a:r>
          </a:p>
          <a:p>
            <a:endParaRPr/>
          </a:p>
          <a:p>
            <a:r>
              <a:t>Starting today, Amazon EC2 M6g, C6g, and R6g instances are available in Asia Pacific (Seoul), and Asia Pacific (Hong Kong) regions. Additionally, Amazon EC2 M6gd, C6gd and R6gd instances with local NVMe-based SSD storage are now available in EU (Frankfurt), Asia Pacific (Singapore), and Asia Pacific (Sydney) regions.</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Solutions Implementation - AWS Data Streaming Solution for Amazon MSK adds a template for you to read events and store data to Amazon S3 from a streaming application</a:t>
            </a:r>
          </a:p>
        </p:txBody>
      </p:sp>
      <p:sp>
        <p:nvSpPr>
          <p:cNvPr id="3" name="Content Placeholder 2"/>
          <p:cNvSpPr>
            <a:spLocks noGrp="1"/>
          </p:cNvSpPr>
          <p:nvPr>
            <p:ph sz="half" idx="1"/>
          </p:nvPr>
        </p:nvSpPr>
        <p:spPr/>
        <p:txBody>
          <a:bodyPr/>
          <a:lstStyle/>
          <a:p>
            <a:r>
              <a:t>05 Feb</a:t>
            </a:r>
          </a:p>
          <a:p>
            <a:endParaRPr/>
          </a:p>
          <a:p>
            <a:r>
              <a:t>The AWS Solutions team recently updated AWS Streaming Data Solution for Amazon MSK, an AWS Solutions Implementation that provides an automated configuration of the AWS services necessary to easily capture, store, process, and deliver streaming data. This update adds a template that accelerates development of streaming data workloads by reducing the need for you to model and provision resources using AWS CloudFormation; set up Amazon CloudWatch alarms, dashboards, and logging; and manually implement streaming data best practices in AWS.</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Solutions Implementation - AWS MLOps Framework adds a model monitoring pipeline for customers to take remedial action when there are deviations in model quality</a:t>
            </a:r>
          </a:p>
        </p:txBody>
      </p:sp>
      <p:sp>
        <p:nvSpPr>
          <p:cNvPr id="3" name="Content Placeholder 2"/>
          <p:cNvSpPr>
            <a:spLocks noGrp="1"/>
          </p:cNvSpPr>
          <p:nvPr>
            <p:ph sz="half" idx="1"/>
          </p:nvPr>
        </p:nvSpPr>
        <p:spPr/>
        <p:txBody>
          <a:bodyPr/>
          <a:lstStyle/>
          <a:p>
            <a:r>
              <a:t>05 Feb</a:t>
            </a:r>
          </a:p>
          <a:p>
            <a:endParaRPr/>
          </a:p>
          <a:p>
            <a:r>
              <a:t>AWS Solutions has updated the AWS MLOps Framework, an AWS Solutions Implementation that now provides a pipeline for model monitoring. In addition to the bring-your-own-model pipeline, the solution offers the ability to provision multiple model monitor pipelines to periodically monitor the quality of deployed ML models on Amazon SageMaker endpoints. This added functionality is key in ensuring model performance as customers can get notified when drift in model quality, bias, and feature importance occur in production.</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EBS Local Snapshots on Outposts</a:t>
            </a:r>
          </a:p>
        </p:txBody>
      </p:sp>
      <p:sp>
        <p:nvSpPr>
          <p:cNvPr id="3" name="Content Placeholder 2"/>
          <p:cNvSpPr>
            <a:spLocks noGrp="1"/>
          </p:cNvSpPr>
          <p:nvPr>
            <p:ph sz="half" idx="1"/>
          </p:nvPr>
        </p:nvSpPr>
        <p:spPr/>
        <p:txBody>
          <a:bodyPr/>
          <a:lstStyle/>
          <a:p>
            <a:r>
              <a:t>04 Feb</a:t>
            </a:r>
          </a:p>
          <a:p>
            <a:endParaRPr/>
          </a:p>
          <a:p>
            <a:r>
              <a:t>Starting today, with Amazon EBS Local Snapshots on Outposts you can store snapshots of your Amazon EBS volumes locally on Amazon S3 on Outposts to meet your data residency and local data processing needs. EBS Local Snapshots on Outposts require your Outpost to be provisioned with S3 on Outposts. You can also continue to back up your EBS volumes to snapshots stored on S3 in the AWS Region. Snapshots are point-in-time copies of your data which can be used to enable disaster recovery and improve backup compliance.</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AWS Wavelength Zone in Osaka, Japan</a:t>
            </a:r>
          </a:p>
        </p:txBody>
      </p:sp>
      <p:sp>
        <p:nvSpPr>
          <p:cNvPr id="3" name="Content Placeholder 2"/>
          <p:cNvSpPr>
            <a:spLocks noGrp="1"/>
          </p:cNvSpPr>
          <p:nvPr>
            <p:ph sz="half" idx="1"/>
          </p:nvPr>
        </p:nvSpPr>
        <p:spPr/>
        <p:txBody>
          <a:bodyPr/>
          <a:lstStyle/>
          <a:p>
            <a:r>
              <a:t>04 Feb</a:t>
            </a:r>
          </a:p>
          <a:p>
            <a:endParaRPr/>
          </a:p>
          <a:p>
            <a:r>
              <a:t>Today, we are announcing the availability of a new AWS Wavelength Zone on KDDI’s 5G network in Osaka. Wavelength Zones are now available in 2 locations in Japan, including the previously announced Wavelength Zone in Tokyo.</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Hosting adds monitoring capabilities with Amazon CloudWatch integration</a:t>
            </a:r>
          </a:p>
        </p:txBody>
      </p:sp>
      <p:sp>
        <p:nvSpPr>
          <p:cNvPr id="3" name="Content Placeholder 2"/>
          <p:cNvSpPr>
            <a:spLocks noGrp="1"/>
          </p:cNvSpPr>
          <p:nvPr>
            <p:ph sz="half" idx="1"/>
          </p:nvPr>
        </p:nvSpPr>
        <p:spPr/>
        <p:txBody>
          <a:bodyPr/>
          <a:lstStyle/>
          <a:p>
            <a:r>
              <a:t>04 Feb</a:t>
            </a:r>
          </a:p>
          <a:p>
            <a:endParaRPr/>
          </a:p>
          <a:p>
            <a:r>
              <a:t>AWS Amplify Hosting now allows users to monitor metrics for Amplify hosted applications in near real-time. Amplify provides a dashboard with metrics for Incoming requests, Bytes downloaded, Bytes uploaded, 4XX/5XX errors, and latency. You can create CloudWatch alarms in the Amplify console that send notiﬁcations when speciﬁc criteria are met. An alarm watches a single metric and sends an Amazon Simple Notiﬁcation Service notiﬁcation when the metric breaches the threshold for a speciﬁed number of evaluation periods.</a:t>
            </a: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is now available in the AWS GovCloud (US-West) Region</a:t>
            </a:r>
          </a:p>
        </p:txBody>
      </p:sp>
      <p:sp>
        <p:nvSpPr>
          <p:cNvPr id="3" name="Content Placeholder 2"/>
          <p:cNvSpPr>
            <a:spLocks noGrp="1"/>
          </p:cNvSpPr>
          <p:nvPr>
            <p:ph sz="half" idx="1"/>
          </p:nvPr>
        </p:nvSpPr>
        <p:spPr/>
        <p:txBody>
          <a:bodyPr/>
          <a:lstStyle/>
          <a:p>
            <a:r>
              <a:t>03 Feb</a:t>
            </a:r>
          </a:p>
          <a:p>
            <a:endParaRPr/>
          </a:p>
          <a:p>
            <a:r>
              <a:t>Amazon Connect is now available in the AWS GovCloud (US-West) Region, increasing the number of AWS Regions where Amazon Connect is available to eight. Amazon Connect is an easy-to-use cloud contact center service that helps organizations of any size deliver superior customer service at lower cost. The expansion into the AWS GovCloud (US-West) Region allows U.S. government agencies and contractors to move more sensitive workloads into the cloud by addressing their specific regulatory and compliance requirements.</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MediaLive adds support for VPC outputs</a:t>
            </a:r>
          </a:p>
        </p:txBody>
      </p:sp>
      <p:sp>
        <p:nvSpPr>
          <p:cNvPr id="3" name="Content Placeholder 2"/>
          <p:cNvSpPr>
            <a:spLocks noGrp="1"/>
          </p:cNvSpPr>
          <p:nvPr>
            <p:ph sz="half" idx="1"/>
          </p:nvPr>
        </p:nvSpPr>
        <p:spPr/>
        <p:txBody>
          <a:bodyPr/>
          <a:lstStyle/>
          <a:p>
            <a:r>
              <a:t>03 Feb</a:t>
            </a:r>
          </a:p>
          <a:p>
            <a:endParaRPr/>
          </a:p>
          <a:p>
            <a:r>
              <a:t>You can now configure AWS Elemental MediaLive to deliver live video directly to your own Amazon Virtual Private Cloud (Amazon VPC). For customers running specialized video workflows in their own Amazon VPC, MediaLive can now deliver live video to those applications without using public IPs. MediaLive already supports VPC inputs for a MediaLive channel.</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Virtual Private Cloud (VPC) customers can now customize reverse DNS for their Elastic IP addresses</a:t>
            </a:r>
          </a:p>
        </p:txBody>
      </p:sp>
      <p:sp>
        <p:nvSpPr>
          <p:cNvPr id="3" name="Content Placeholder 2"/>
          <p:cNvSpPr>
            <a:spLocks noGrp="1"/>
          </p:cNvSpPr>
          <p:nvPr>
            <p:ph sz="half" idx="1"/>
          </p:nvPr>
        </p:nvSpPr>
        <p:spPr/>
        <p:txBody>
          <a:bodyPr/>
          <a:lstStyle/>
          <a:p>
            <a:r>
              <a:t>03 Feb</a:t>
            </a:r>
          </a:p>
          <a:p>
            <a:endParaRPr/>
          </a:p>
          <a:p>
            <a:r>
              <a:t>Amazon Virtual Private Cloud (VPC) makes it easier to setup reverse Domain Name System (DNS) lookup for your Elastic IP addresses and improves your email deliverability. A reverse DNS lookup for an IP address returns its domain name and is commonly used by email services to filter out spams. This release improves your email deliverability from EC2 by enabling you to set reverse DNS lookup with just a few clicks and meet a key spam filter requirement.</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Console Mobile Application adds support for new regions</a:t>
            </a:r>
          </a:p>
        </p:txBody>
      </p:sp>
      <p:sp>
        <p:nvSpPr>
          <p:cNvPr id="3" name="Content Placeholder 2"/>
          <p:cNvSpPr>
            <a:spLocks noGrp="1"/>
          </p:cNvSpPr>
          <p:nvPr>
            <p:ph sz="half" idx="1"/>
          </p:nvPr>
        </p:nvSpPr>
        <p:spPr/>
        <p:txBody>
          <a:bodyPr/>
          <a:lstStyle/>
          <a:p>
            <a:r>
              <a:t>02 Feb</a:t>
            </a:r>
          </a:p>
          <a:p>
            <a:endParaRPr/>
          </a:p>
          <a:p>
            <a:r>
              <a:t>AWS Console Mobile Application users can now use Asia Pacific (Hong Kong), Middle East (Bahrain), Europe (Milan), and Africa (Cape Town) regions on the Console mobile app.</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delivers better cold query performance to three additional AWS regions</a:t>
            </a:r>
          </a:p>
        </p:txBody>
      </p:sp>
      <p:sp>
        <p:nvSpPr>
          <p:cNvPr id="3" name="Content Placeholder 2"/>
          <p:cNvSpPr>
            <a:spLocks noGrp="1"/>
          </p:cNvSpPr>
          <p:nvPr>
            <p:ph sz="half" idx="1"/>
          </p:nvPr>
        </p:nvSpPr>
        <p:spPr/>
        <p:txBody>
          <a:bodyPr/>
          <a:lstStyle/>
          <a:p>
            <a:r>
              <a:t>01 Feb</a:t>
            </a:r>
          </a:p>
          <a:p>
            <a:endParaRPr/>
          </a:p>
          <a:p>
            <a:r>
              <a:t>Improved cold query performance is now available in South America (São Paulo), Canada (Central) and Asia Pacific (Mumbai) regions.</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Launch Wizard now configures RHEL and SLES clustering for SAP application High Availability</a:t>
            </a:r>
          </a:p>
        </p:txBody>
      </p:sp>
      <p:sp>
        <p:nvSpPr>
          <p:cNvPr id="3" name="Content Placeholder 2"/>
          <p:cNvSpPr>
            <a:spLocks noGrp="1"/>
          </p:cNvSpPr>
          <p:nvPr>
            <p:ph sz="half" idx="1"/>
          </p:nvPr>
        </p:nvSpPr>
        <p:spPr/>
        <p:txBody>
          <a:bodyPr/>
          <a:lstStyle/>
          <a:p>
            <a:r>
              <a:t>01 Feb</a:t>
            </a:r>
          </a:p>
          <a:p>
            <a:endParaRPr/>
          </a:p>
          <a:p>
            <a:r>
              <a:t>AWS Launch Wizard now configures Red Hat Enterprise Linux (RHEL) and SUSE Linux Enterprise Server (SLES) clustering for High Availability (HA) at the SAP application layer.</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Medical now provides automatic Protected Health Information (PHI) identification</a:t>
            </a:r>
          </a:p>
        </p:txBody>
      </p:sp>
      <p:sp>
        <p:nvSpPr>
          <p:cNvPr id="3" name="Content Placeholder 2"/>
          <p:cNvSpPr>
            <a:spLocks noGrp="1"/>
          </p:cNvSpPr>
          <p:nvPr>
            <p:ph sz="half" idx="1"/>
          </p:nvPr>
        </p:nvSpPr>
        <p:spPr/>
        <p:txBody>
          <a:bodyPr>
            <a:normAutofit lnSpcReduction="10000"/>
          </a:bodyPr>
          <a:lstStyle/>
          <a:p>
            <a:r>
              <a:t>29 Jan</a:t>
            </a:r>
          </a:p>
          <a:p>
            <a:endParaRPr/>
          </a:p>
          <a:p>
            <a:r>
              <a:t>Amazon Transcribe Medical is a HIPAA-eligible automatic speech recognition (ASR) service that makes it easy for developers to add speech-to-text capabilities to healthcare and life science applications. As of today, we’re excited to launch support for the automatic identification of protected health information (PHI) in your medical transcriptions. With automatic PHI identification, customers can reduce the cost, time, and effort expended on identifying PHI content through manual processes. PHI entities are labeled clearly with each output transcript, making it convenient to build additional downstream processing for a variety of purposes, such as redaction prior to text analytics.</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is now available in six additional AWS Regions</a:t>
            </a:r>
          </a:p>
        </p:txBody>
      </p:sp>
      <p:sp>
        <p:nvSpPr>
          <p:cNvPr id="3" name="Content Placeholder 2"/>
          <p:cNvSpPr>
            <a:spLocks noGrp="1"/>
          </p:cNvSpPr>
          <p:nvPr>
            <p:ph sz="half" idx="1"/>
          </p:nvPr>
        </p:nvSpPr>
        <p:spPr/>
        <p:txBody>
          <a:bodyPr>
            <a:normAutofit fontScale="92500" lnSpcReduction="10000"/>
          </a:bodyPr>
          <a:lstStyle/>
          <a:p>
            <a:r>
              <a:t>28 Jan</a:t>
            </a:r>
          </a:p>
          <a:p>
            <a:endParaRPr/>
          </a:p>
          <a:p>
            <a:r>
              <a:t>AWS Glue DataBrew, a visual data preparation tool that makes it easy for data analysts and data scientists to clean and normalize data for analytics and machine learning, is now available in the following six additional AWS Regions:</a:t>
            </a:r>
          </a:p>
          <a:p>
            <a:r>
              <a:t>US West (N. California)</a:t>
            </a:r>
          </a:p>
          <a:p>
            <a:r>
              <a:t>Asia Pacific (Singapore)</a:t>
            </a:r>
          </a:p>
          <a:p>
            <a:r>
              <a:t>Asia Pacific (Mumbai)</a:t>
            </a:r>
          </a:p>
          <a:p>
            <a:r>
              <a:t>EU (Stockholm)</a:t>
            </a:r>
          </a:p>
          <a:p>
            <a:r>
              <a:t>EU (London)</a:t>
            </a:r>
          </a:p>
          <a:p>
            <a:r>
              <a:t>EU (Paris)</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now available in Canada, Frankfurt, London, Stockholm and Singapore AWS Regions</a:t>
            </a:r>
          </a:p>
        </p:txBody>
      </p:sp>
      <p:sp>
        <p:nvSpPr>
          <p:cNvPr id="3" name="Content Placeholder 2"/>
          <p:cNvSpPr>
            <a:spLocks noGrp="1"/>
          </p:cNvSpPr>
          <p:nvPr>
            <p:ph sz="half" idx="1"/>
          </p:nvPr>
        </p:nvSpPr>
        <p:spPr/>
        <p:txBody>
          <a:bodyPr/>
          <a:lstStyle/>
          <a:p>
            <a:r>
              <a:t>28 Jan</a:t>
            </a:r>
          </a:p>
          <a:p>
            <a:endParaRPr/>
          </a:p>
          <a:p>
            <a:r>
              <a:t>AWS Control Tower is now available in 5 additional AWS Regions: Canada (Central), Europe (Frankfurt), Europe (London), Europe (Stockholm), and Asia Pacific (Singapore). AWS Control Tower is also available in US East (N. Virginia), US East (Ohio), US West (Oregon), Europe (Ireland), and Asia Pacific (Sydney). With this launch, AWS Control Tower is now available in 10 AWS Regions.</a:t>
            </a: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Marketplace announces support for multiple Private Marketplace catalogs</a:t>
            </a:r>
          </a:p>
        </p:txBody>
      </p:sp>
      <p:sp>
        <p:nvSpPr>
          <p:cNvPr id="3" name="Content Placeholder 2"/>
          <p:cNvSpPr>
            <a:spLocks noGrp="1"/>
          </p:cNvSpPr>
          <p:nvPr>
            <p:ph sz="half" idx="1"/>
          </p:nvPr>
        </p:nvSpPr>
        <p:spPr/>
        <p:txBody>
          <a:bodyPr/>
          <a:lstStyle/>
          <a:p>
            <a:r>
              <a:t>28 Jan</a:t>
            </a:r>
          </a:p>
          <a:p>
            <a:endParaRPr/>
          </a:p>
          <a:p>
            <a:r>
              <a:t>Today, AWS Marketplace announced support for multiple Private Marketplace catalogs, which allows customers to create unique sets of approved software available in AWS Marketplace for different AWS accounts within their organization. Before today, customers were limited to one Private Marketplace catalog per AWS account structure. This launch expands AWS Marketplace's Private Marketplace functionality to empower customers to scale their software governance for diverse user groups while increasing agility to enable a faster software procurement process.</a:t>
            </a: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RoboMaker supports data upload configurations in simulation jobs</a:t>
            </a:r>
          </a:p>
        </p:txBody>
      </p:sp>
      <p:sp>
        <p:nvSpPr>
          <p:cNvPr id="3" name="Content Placeholder 2"/>
          <p:cNvSpPr>
            <a:spLocks noGrp="1"/>
          </p:cNvSpPr>
          <p:nvPr>
            <p:ph sz="half" idx="1"/>
          </p:nvPr>
        </p:nvSpPr>
        <p:spPr/>
        <p:txBody>
          <a:bodyPr/>
          <a:lstStyle/>
          <a:p>
            <a:r>
              <a:t>28 Jan</a:t>
            </a:r>
          </a:p>
          <a:p>
            <a:endParaRPr/>
          </a:p>
          <a:p>
            <a:r>
              <a:t>AWS RoboMaker now supports data upload configurations in simulation jobs, which allows developers to define the type of simulation data they want to upload, choose the upload behavior, and reliably upload the simulation data to their preferred Amazon S3 output location. This functionality makes it easier for developers to review or analyze application output generated during a simulation run or reuse artifacts.</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FSx is now available in the AWS Africa (Cape Town), Europe (Milan), and Middle East (Bahrain) Regions</a:t>
            </a:r>
          </a:p>
        </p:txBody>
      </p:sp>
      <p:sp>
        <p:nvSpPr>
          <p:cNvPr id="3" name="Content Placeholder 2"/>
          <p:cNvSpPr>
            <a:spLocks noGrp="1"/>
          </p:cNvSpPr>
          <p:nvPr>
            <p:ph sz="half" idx="1"/>
          </p:nvPr>
        </p:nvSpPr>
        <p:spPr/>
        <p:txBody>
          <a:bodyPr/>
          <a:lstStyle/>
          <a:p>
            <a:r>
              <a:t>27 Jan</a:t>
            </a:r>
          </a:p>
          <a:p>
            <a:endParaRPr/>
          </a:p>
          <a:p>
            <a:r>
              <a:t>Amazon FSx, a fully managed service that makes it easy to launch and run feature-rich and highly-performant file systems, is now available in the Africa (Cape Town), Europe (Milan), and Middle East (Bahrain) Regions. With this launch, Amazon FSx is now available in all standard AWS Regions.</a:t>
            </a: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CodePipeline now available in Europe South (Milan) region</a:t>
            </a:r>
          </a:p>
        </p:txBody>
      </p:sp>
      <p:sp>
        <p:nvSpPr>
          <p:cNvPr id="3" name="Content Placeholder 2"/>
          <p:cNvSpPr>
            <a:spLocks noGrp="1"/>
          </p:cNvSpPr>
          <p:nvPr>
            <p:ph sz="half" idx="1"/>
          </p:nvPr>
        </p:nvSpPr>
        <p:spPr/>
        <p:txBody>
          <a:bodyPr/>
          <a:lstStyle/>
          <a:p>
            <a:r>
              <a:t>27 Jan</a:t>
            </a:r>
          </a:p>
          <a:p>
            <a:endParaRPr/>
          </a:p>
          <a:p>
            <a:r>
              <a:t>Starting today, AWS CodePipeline is now available in the Europe South (Milan) Region.</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adds 1 new integration globally and adds 5 integrations to AWS GovCloud (US) Regions</a:t>
            </a:r>
          </a:p>
        </p:txBody>
      </p:sp>
      <p:sp>
        <p:nvSpPr>
          <p:cNvPr id="3" name="Content Placeholder 2"/>
          <p:cNvSpPr>
            <a:spLocks noGrp="1"/>
          </p:cNvSpPr>
          <p:nvPr>
            <p:ph sz="half" idx="1"/>
          </p:nvPr>
        </p:nvSpPr>
        <p:spPr/>
        <p:txBody>
          <a:bodyPr>
            <a:normAutofit fontScale="92500" lnSpcReduction="20000"/>
          </a:bodyPr>
          <a:lstStyle/>
          <a:p>
            <a:r>
              <a:t>27 Jan</a:t>
            </a:r>
          </a:p>
          <a:p>
            <a:endParaRPr/>
          </a:p>
          <a:p>
            <a:r>
              <a:t>AWS Security Hub is now integrated with Cloud Storage Security: Antivirus for Amazon S3. Cloud Storage Security uses the AWS Security Finding Format (ASFF) to send findings to Security Hub. Security Hub’s integrations with Forcepoint CASB (Cloud Access Security Broker), Forcepoint DLP (Data Loss Prevention), Forcepoint NGFW (Next-Generation Firewall), Palo Alto Networks Prisma Cloud Compute and Palo Alto Networks Prisma Cloud Enterprise are now available in AWS GovCloud (US) Regions. Forcepoint CASB, Forcepoint DLP, Forcepoint NGFW, Palo Alto Networks Prisma Compute and Palo Alto Networks Prisma Enterprise now send findings to Security Hub using the ASFF. To learn more, visit the Integration pages in the Security Hub console  and click on the "Configuration" link for the integration to learn more about the integration and how to set it up.</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SES now lets you assign a configuration set to an email identity</a:t>
            </a:r>
          </a:p>
        </p:txBody>
      </p:sp>
      <p:sp>
        <p:nvSpPr>
          <p:cNvPr id="3" name="Content Placeholder 2"/>
          <p:cNvSpPr>
            <a:spLocks noGrp="1"/>
          </p:cNvSpPr>
          <p:nvPr>
            <p:ph sz="half" idx="1"/>
          </p:nvPr>
        </p:nvSpPr>
        <p:spPr/>
        <p:txBody>
          <a:bodyPr>
            <a:normAutofit lnSpcReduction="10000"/>
          </a:bodyPr>
          <a:lstStyle/>
          <a:p>
            <a:r>
              <a:t>27 Jan</a:t>
            </a:r>
          </a:p>
          <a:p>
            <a:endParaRPr/>
          </a:p>
          <a:p>
            <a:r>
              <a:t>Amazon Simple Email Service (Amazon SES) now enables you to assign a configuration set to an email identity, such as a specific email domain or individual email address. This allows rules from the configuration set to be applied to all emails sent from that email identity. Configuration sets are a grouping of rules that enable customers to publish open, click, send, delivery, bounce, and complaint events from sent emails. They are also used to organize sending results from IP address pools. For example, customers can associate one pool of dedicated IP addresses for sending marketing communications, and another for sending transactional emails.</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now supports tempdb on local instance store with R5d and M5d instance types</a:t>
            </a:r>
          </a:p>
        </p:txBody>
      </p:sp>
      <p:sp>
        <p:nvSpPr>
          <p:cNvPr id="3" name="Content Placeholder 2"/>
          <p:cNvSpPr>
            <a:spLocks noGrp="1"/>
          </p:cNvSpPr>
          <p:nvPr>
            <p:ph sz="half" idx="1"/>
          </p:nvPr>
        </p:nvSpPr>
        <p:spPr/>
        <p:txBody>
          <a:bodyPr/>
          <a:lstStyle/>
          <a:p>
            <a:r>
              <a:t>27 Jan</a:t>
            </a:r>
          </a:p>
          <a:p>
            <a:endParaRPr/>
          </a:p>
          <a:p>
            <a:r>
              <a:t>Starting today, you can launch Amazon Relational Database Service (Amazon RDS) for SQL Server on Amazon EC2 R5d and Amazon EC2 M5d instance types with tempdb configured to use local instance storage. By placing tempdb data files and log files locally, you can achieve lower read and write latencies when compared to the standard EBS based offerings.</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Direct Connect launches second location in Italy</a:t>
            </a:r>
          </a:p>
        </p:txBody>
      </p:sp>
      <p:sp>
        <p:nvSpPr>
          <p:cNvPr id="3" name="Content Placeholder 2"/>
          <p:cNvSpPr>
            <a:spLocks noGrp="1"/>
          </p:cNvSpPr>
          <p:nvPr>
            <p:ph sz="half" idx="1"/>
          </p:nvPr>
        </p:nvSpPr>
        <p:spPr/>
        <p:txBody>
          <a:bodyPr/>
          <a:lstStyle/>
          <a:p>
            <a:r>
              <a:t>26 Jan</a:t>
            </a:r>
          </a:p>
          <a:p>
            <a:endParaRPr/>
          </a:p>
          <a:p>
            <a:r>
              <a:t>AWS Direct Connect is now live at Equinix ML2, Milano, Italy. This is the second Direct Connect location in Italy. Equinix ML2 compliments the existing CDLAN Srl in Via Caldera 21, Milano, Italy Direct Connect location. Customers in Italy can use both Milan locations to deploy location-redundant connectivity.</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Amazon EC2 T4g instances powered by AWS Graviton2 processors along with a T4g free trial in Asia Pacific (Sydney, Singapore), Europe (London), North Americas (Canada Central, San Francisco), and South Americas (Sao Paulo) regions</a:t>
            </a:r>
          </a:p>
        </p:txBody>
      </p:sp>
      <p:sp>
        <p:nvSpPr>
          <p:cNvPr id="3" name="Content Placeholder 2"/>
          <p:cNvSpPr>
            <a:spLocks noGrp="1"/>
          </p:cNvSpPr>
          <p:nvPr>
            <p:ph sz="half" idx="1"/>
          </p:nvPr>
        </p:nvSpPr>
        <p:spPr/>
        <p:txBody>
          <a:bodyPr>
            <a:normAutofit fontScale="92500" lnSpcReduction="10000"/>
          </a:bodyPr>
          <a:lstStyle/>
          <a:p>
            <a:r>
              <a:t>22 Jan</a:t>
            </a:r>
          </a:p>
          <a:p>
            <a:endParaRPr/>
          </a:p>
          <a:p>
            <a:r>
              <a:t>Starting today, the latest generation of burstable, general purpose Amazon EC2 T4g instances are now available in Asia Pacific (Singapore, Sydney), Europe (London), North Amreicas (Canada Central, San Francisco), and South Americas (Sao Paulo) regions. These instances are powered by Arm-based AWS Graviton2 processors and deliver up to 40% better price performance over T3 instances. The T4g instances provide a baseline level of CPU performance with the ability to burst CPU usage at any time for as long as required. They offer a balance of compute, memory, and network resources for a broad spectrum of general purpose workloads, including large scale micro-services, caching servers, search engine indexing, e-commerce platforms, small and medium databases, virtual desktops, and business-critical applications.  </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EBS direct APIs now enable you to create EBS snapshots in the Asia Pacific (Osaka-Local) Region directly from any block storage</a:t>
            </a:r>
          </a:p>
        </p:txBody>
      </p:sp>
      <p:sp>
        <p:nvSpPr>
          <p:cNvPr id="3" name="Content Placeholder 2"/>
          <p:cNvSpPr>
            <a:spLocks noGrp="1"/>
          </p:cNvSpPr>
          <p:nvPr>
            <p:ph sz="half" idx="1"/>
          </p:nvPr>
        </p:nvSpPr>
        <p:spPr/>
        <p:txBody>
          <a:bodyPr/>
          <a:lstStyle/>
          <a:p>
            <a:r>
              <a:t>22 Jan</a:t>
            </a:r>
          </a:p>
          <a:p>
            <a:endParaRPr/>
          </a:p>
          <a:p>
            <a:r>
              <a:t>Starting today, customers can use Amazon Elastic Block Store (EBS) direct APIs to create EBS snapshots in the Asia Pacific (Osaka-Local) Region directly from any block storage data, including on-premises data. With a set of API calls, customers can use EBS snapshots to store data in AWS, regardless of where it resides. This enables customers to achieve business continuity in AWS at a lower cost.</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Launching Amazon Lex streaming conversation APIs for improved virtual agent conversational experiences</a:t>
            </a:r>
          </a:p>
        </p:txBody>
      </p:sp>
      <p:sp>
        <p:nvSpPr>
          <p:cNvPr id="3" name="Content Placeholder 2"/>
          <p:cNvSpPr>
            <a:spLocks noGrp="1"/>
          </p:cNvSpPr>
          <p:nvPr>
            <p:ph sz="half" idx="1"/>
          </p:nvPr>
        </p:nvSpPr>
        <p:spPr/>
        <p:txBody>
          <a:bodyPr/>
          <a:lstStyle/>
          <a:p>
            <a:r>
              <a:t>22 Jan</a:t>
            </a:r>
          </a:p>
          <a:p>
            <a:endParaRPr/>
          </a:p>
          <a:p>
            <a:r>
              <a:t>In a conversation, we often pause to lookup information or interrupt a speaker with an answer before they finish asking a question. Today we are launching streaming conversation APIs, so you can easily configure your bot to handle such pauses and interruptions that might occur in a conversation. With streaming capabilities, bot builders can quickly enhance the ability of virtual contact center agents and smart assistants. </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achieves ISO and PCI compliance</a:t>
            </a:r>
          </a:p>
        </p:txBody>
      </p:sp>
      <p:sp>
        <p:nvSpPr>
          <p:cNvPr id="3" name="Content Placeholder 2"/>
          <p:cNvSpPr>
            <a:spLocks noGrp="1"/>
          </p:cNvSpPr>
          <p:nvPr>
            <p:ph sz="half" idx="1"/>
          </p:nvPr>
        </p:nvSpPr>
        <p:spPr/>
        <p:txBody>
          <a:bodyPr/>
          <a:lstStyle/>
          <a:p>
            <a:r>
              <a:t>22 Jan</a:t>
            </a:r>
          </a:p>
          <a:p>
            <a:endParaRPr/>
          </a:p>
          <a:p>
            <a:r>
              <a:t>Today, Amazon Web Services (AWS) announced Amazon Kendra, an intelligent search service powered by machine learning, can now be used for workloads subject to International Organization for Standardization (ISO) and Payment Card Industry Data Security Standard (PCI DSS) compliance. This is in addition to eligibility for U.S. Health Insurance Portability and Accountability Act (HIPAA), announced by Amazon Kendra previously.</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 Mesh is now available in Africa (Cape Town) AWS Region</a:t>
            </a:r>
          </a:p>
        </p:txBody>
      </p:sp>
      <p:sp>
        <p:nvSpPr>
          <p:cNvPr id="3" name="Content Placeholder 2"/>
          <p:cNvSpPr>
            <a:spLocks noGrp="1"/>
          </p:cNvSpPr>
          <p:nvPr>
            <p:ph sz="half" idx="1"/>
          </p:nvPr>
        </p:nvSpPr>
        <p:spPr/>
        <p:txBody>
          <a:bodyPr/>
          <a:lstStyle/>
          <a:p>
            <a:r>
              <a:t>22 Jan</a:t>
            </a:r>
          </a:p>
          <a:p>
            <a:endParaRPr/>
          </a:p>
          <a:p>
            <a:r>
              <a:t>AWS App Mesh is a service mesh that provides application-level networking to make it easy for your services to communicate with each other across multiple types of compute infrastructure. AWS App Mesh standardizes how your services communicate, giving you end-to-end visibility and options to tune for high-availability of your applications. </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 Map Updates Service Level Agreement</a:t>
            </a:r>
          </a:p>
        </p:txBody>
      </p:sp>
      <p:sp>
        <p:nvSpPr>
          <p:cNvPr id="3" name="Content Placeholder 2"/>
          <p:cNvSpPr>
            <a:spLocks noGrp="1"/>
          </p:cNvSpPr>
          <p:nvPr>
            <p:ph sz="half" idx="1"/>
          </p:nvPr>
        </p:nvSpPr>
        <p:spPr/>
        <p:txBody>
          <a:bodyPr/>
          <a:lstStyle/>
          <a:p>
            <a:r>
              <a:t>22 Jan</a:t>
            </a:r>
          </a:p>
          <a:p>
            <a:endParaRPr/>
          </a:p>
          <a:p>
            <a:r>
              <a:t>AWS has updated the Monthly Uptime Percentage in the service level agreement (SLA) for AWS Cloud Map to 99.95%.</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Launching Amazon Lex V2 console and APIs for an improved bot building experience</a:t>
            </a:r>
          </a:p>
        </p:txBody>
      </p:sp>
      <p:sp>
        <p:nvSpPr>
          <p:cNvPr id="3" name="Content Placeholder 2"/>
          <p:cNvSpPr>
            <a:spLocks noGrp="1"/>
          </p:cNvSpPr>
          <p:nvPr>
            <p:ph sz="half" idx="1"/>
          </p:nvPr>
        </p:nvSpPr>
        <p:spPr/>
        <p:txBody>
          <a:bodyPr/>
          <a:lstStyle/>
          <a:p>
            <a:r>
              <a:t>22 Jan</a:t>
            </a:r>
          </a:p>
          <a:p>
            <a:endParaRPr/>
          </a:p>
          <a:p>
            <a:r>
              <a:t>Amazon Lex is a service for building conversational interfaces into any application. Today, Amazon Lex launches an enhanced, V2 management console and APIs that make it easier to build, deploy and manage bots. With the Lex V2 console and revised APIs, you can expedite your process in building virtual agents, conversational IVR system, self-service chatbots, or informational bots.</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partner training on migration, cloud governance, and machine learning</a:t>
            </a:r>
          </a:p>
        </p:txBody>
      </p:sp>
      <p:sp>
        <p:nvSpPr>
          <p:cNvPr id="3" name="Content Placeholder 2"/>
          <p:cNvSpPr>
            <a:spLocks noGrp="1"/>
          </p:cNvSpPr>
          <p:nvPr>
            <p:ph sz="half" idx="1"/>
          </p:nvPr>
        </p:nvSpPr>
        <p:spPr/>
        <p:txBody>
          <a:bodyPr/>
          <a:lstStyle/>
          <a:p>
            <a:r>
              <a:t>21 Jan</a:t>
            </a:r>
          </a:p>
          <a:p>
            <a:endParaRPr/>
          </a:p>
          <a:p>
            <a:r>
              <a:t>AWS Training and Certification is excited to announce the availability of three new courses for AWS Partners.</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MariaDB now supports version 10.5.8</a:t>
            </a:r>
          </a:p>
        </p:txBody>
      </p:sp>
      <p:sp>
        <p:nvSpPr>
          <p:cNvPr id="3" name="Content Placeholder 2"/>
          <p:cNvSpPr>
            <a:spLocks noGrp="1"/>
          </p:cNvSpPr>
          <p:nvPr>
            <p:ph sz="half" idx="1"/>
          </p:nvPr>
        </p:nvSpPr>
        <p:spPr/>
        <p:txBody>
          <a:bodyPr/>
          <a:lstStyle/>
          <a:p>
            <a:r>
              <a:t>21 Jan</a:t>
            </a:r>
          </a:p>
          <a:p>
            <a:endParaRPr/>
          </a:p>
          <a:p>
            <a:r>
              <a:t>Amazon Relational Database Service (Amazon RDS) for MariaDB now supports MariaDB version 10.5.8 in all AWS regions. This release includes fixes to bugs in MariaDB 10.5.7 affecting point-in-time restore, data replication, and tables with triggers that caused database crashes and data corruption. To read more about this version, please see the release notes for MariaDB 10.5.8 .</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SQS now supports 1-Minute CloudWatch Metrics in AWS GovCloud (US) Regions</a:t>
            </a:r>
          </a:p>
        </p:txBody>
      </p:sp>
      <p:sp>
        <p:nvSpPr>
          <p:cNvPr id="3" name="Content Placeholder 2"/>
          <p:cNvSpPr>
            <a:spLocks noGrp="1"/>
          </p:cNvSpPr>
          <p:nvPr>
            <p:ph sz="half" idx="1"/>
          </p:nvPr>
        </p:nvSpPr>
        <p:spPr/>
        <p:txBody>
          <a:bodyPr/>
          <a:lstStyle/>
          <a:p>
            <a:r>
              <a:t>21 Jan</a:t>
            </a:r>
          </a:p>
          <a:p>
            <a:endParaRPr/>
          </a:p>
          <a:p>
            <a:r>
              <a:t>Amazon Simple Queue Service (SQS) now supports Amazon CloudWatch 1-minute metrics in both AWS GovCloud (US) Regions Amazon SQS already supports Amazon CloudWatch 1-minute metrics in all commercial regions.</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Chime SDKs for iOS and Android now support screen share</a:t>
            </a:r>
          </a:p>
        </p:txBody>
      </p:sp>
      <p:sp>
        <p:nvSpPr>
          <p:cNvPr id="3" name="Content Placeholder 2"/>
          <p:cNvSpPr>
            <a:spLocks noGrp="1"/>
          </p:cNvSpPr>
          <p:nvPr>
            <p:ph sz="half" idx="1"/>
          </p:nvPr>
        </p:nvSpPr>
        <p:spPr/>
        <p:txBody>
          <a:bodyPr>
            <a:normAutofit lnSpcReduction="10000"/>
          </a:bodyPr>
          <a:lstStyle/>
          <a:p>
            <a:r>
              <a:t>21 Jan</a:t>
            </a:r>
          </a:p>
          <a:p>
            <a:endParaRPr/>
          </a:p>
          <a:p>
            <a:r>
              <a:t>The Amazon Chime SDKs for iOS  and Android  now enables developers to support screen sharing in their iOS and Android applications. The Amazon Chime SDKs for iOS and Android support screen share as a second video stream, in addition to the audio and camera video stream. Screen sharing for the Amazon Chime SDKs for iOS and Android use the same content sharing concept  introduced in the Amazon Chime SDK for JavaScript (except that audio sharing is not supported). By including screen share video in their iOS and Android applications, developers can enable users to share their mobile screen with other meeting participants or view shared content.</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CDK Support for AWS Chalice</a:t>
            </a:r>
          </a:p>
        </p:txBody>
      </p:sp>
      <p:sp>
        <p:nvSpPr>
          <p:cNvPr id="3" name="Content Placeholder 2"/>
          <p:cNvSpPr>
            <a:spLocks noGrp="1"/>
          </p:cNvSpPr>
          <p:nvPr>
            <p:ph sz="half" idx="1"/>
          </p:nvPr>
        </p:nvSpPr>
        <p:spPr/>
        <p:txBody>
          <a:bodyPr/>
          <a:lstStyle/>
          <a:p>
            <a:r>
              <a:t>21 Jan</a:t>
            </a:r>
          </a:p>
          <a:p>
            <a:endParaRPr/>
          </a:p>
          <a:p>
            <a:r>
              <a:t>AWS Chalice  now integrates with the AWS Cloud Development Kit (CDK). With CDK integration, you can now combine the familiar, decorator-based APIs of Chalice to write your application code with the entire CDK constructs to define your service infrastructure. This enables you to deploy your serverless application as a single, cohesive stack using the CDK.</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IoT Device Client simplifies onboarding to AWS IoT Core, AWS IoT Device Management, and AWS IoT Device Defender</a:t>
            </a:r>
          </a:p>
        </p:txBody>
      </p:sp>
      <p:sp>
        <p:nvSpPr>
          <p:cNvPr id="3" name="Content Placeholder 2"/>
          <p:cNvSpPr>
            <a:spLocks noGrp="1"/>
          </p:cNvSpPr>
          <p:nvPr>
            <p:ph sz="half" idx="1"/>
          </p:nvPr>
        </p:nvSpPr>
        <p:spPr/>
        <p:txBody>
          <a:bodyPr/>
          <a:lstStyle/>
          <a:p>
            <a:r>
              <a:t>21 Jan</a:t>
            </a:r>
          </a:p>
          <a:p>
            <a:endParaRPr/>
          </a:p>
          <a:p>
            <a:r>
              <a:t>AWS IoT is excited to announce the launch of the AWS IoT Device Client. This provides a free, open-source, and modular device-side reference implementation written in C++ that you can compile and install on Embedded Linux based IoT devices, allowing you to easily access AWS IoT Core, AWS IoT Device Management, and AWS IoT Device Defender features by default. Moreover, since it is open-source, you can modify it to fit your use cases, and optimize it to your business needs as you move from proof of concept (PoC) to production.</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FSx now supports FIPS 140-2 validated endpoints</a:t>
            </a:r>
          </a:p>
        </p:txBody>
      </p:sp>
      <p:sp>
        <p:nvSpPr>
          <p:cNvPr id="3" name="Content Placeholder 2"/>
          <p:cNvSpPr>
            <a:spLocks noGrp="1"/>
          </p:cNvSpPr>
          <p:nvPr>
            <p:ph sz="half" idx="1"/>
          </p:nvPr>
        </p:nvSpPr>
        <p:spPr/>
        <p:txBody>
          <a:bodyPr>
            <a:normAutofit lnSpcReduction="10000"/>
          </a:bodyPr>
          <a:lstStyle/>
          <a:p>
            <a:r>
              <a:t>21 Jan</a:t>
            </a:r>
          </a:p>
          <a:p>
            <a:endParaRPr/>
          </a:p>
          <a:p>
            <a:r>
              <a:t>Amazon FSx, a fully managed service that makes it easy to launch and run feature-rich and highly-performant file systems, now offers Federal Information Processing Standard (FIPS) 140-2 validated endpoints to help you protect sensitive information. FIPS 140-2 is a U.S. and Canadian government standard that specifies the security requirements for cryptographic modules that protect sensitive information. U.S. Federal agencies and companies contracting with the U.S. Federal government can leverage this validation to help them better meet the FIPS security requirement to encrypt sensitive data on their Amazon FSx file systems.</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date and time functions and timezone support in AWS IoT SiteWise</a:t>
            </a:r>
          </a:p>
        </p:txBody>
      </p:sp>
      <p:sp>
        <p:nvSpPr>
          <p:cNvPr id="3" name="Content Placeholder 2"/>
          <p:cNvSpPr>
            <a:spLocks noGrp="1"/>
          </p:cNvSpPr>
          <p:nvPr>
            <p:ph sz="half" idx="1"/>
          </p:nvPr>
        </p:nvSpPr>
        <p:spPr/>
        <p:txBody>
          <a:bodyPr>
            <a:normAutofit lnSpcReduction="10000"/>
          </a:bodyPr>
          <a:lstStyle/>
          <a:p>
            <a:r>
              <a:t>21 Jan</a:t>
            </a:r>
          </a:p>
          <a:p>
            <a:endParaRPr/>
          </a:p>
          <a:p>
            <a:r>
              <a:t>We are excited to announce that AWS IoT SiteWise now supports date and time functions, and global time zones for use in metric  and transform  computations in the AWS IoT SiteWise asset model. You can now use date and time expressions to retrieve the current timestamp of equipment data in UTC (Coordinated Universal Time) or in your local time zone, construct timestamps given input parameters such as year, month, day of the month and time, and extract different time fields such as year or month given a specific timestamp value. The date and time functions supported by AWS IoT SiteWise are listed below.</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self-paced course about designing data lakes on edX and Coursera</a:t>
            </a:r>
          </a:p>
        </p:txBody>
      </p:sp>
      <p:sp>
        <p:nvSpPr>
          <p:cNvPr id="3" name="Content Placeholder 2"/>
          <p:cNvSpPr>
            <a:spLocks noGrp="1"/>
          </p:cNvSpPr>
          <p:nvPr>
            <p:ph sz="half" idx="1"/>
          </p:nvPr>
        </p:nvSpPr>
        <p:spPr/>
        <p:txBody>
          <a:bodyPr/>
          <a:lstStyle/>
          <a:p>
            <a:r>
              <a:t>20 Jan</a:t>
            </a:r>
          </a:p>
          <a:p>
            <a:endParaRPr/>
          </a:p>
          <a:p>
            <a:r>
              <a:t>AWS Training and Certification has launched a new self-paced digital course: Introduction to Designing Data Lakes in AWS. This course is for learners ranging from storage administrators to data scientists who want to explore how to create and operate a data lake in a secure and scalable way.</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P4d Instances now available in the Europe (Ireland) region</a:t>
            </a:r>
          </a:p>
        </p:txBody>
      </p:sp>
      <p:sp>
        <p:nvSpPr>
          <p:cNvPr id="3" name="Content Placeholder 2"/>
          <p:cNvSpPr>
            <a:spLocks noGrp="1"/>
          </p:cNvSpPr>
          <p:nvPr>
            <p:ph sz="half" idx="1"/>
          </p:nvPr>
        </p:nvSpPr>
        <p:spPr/>
        <p:txBody>
          <a:bodyPr/>
          <a:lstStyle/>
          <a:p>
            <a:r>
              <a:t>20 Jan</a:t>
            </a:r>
          </a:p>
          <a:p>
            <a:endParaRPr/>
          </a:p>
          <a:p>
            <a:r>
              <a:t>Amazon EC2 P4d instances which provide the highest performance for machine learning training and high performance computing in the cloud are now available in the Europe (Ireland) region. </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PCI DSS compliance for AWS Wavelength</a:t>
            </a:r>
          </a:p>
        </p:txBody>
      </p:sp>
      <p:sp>
        <p:nvSpPr>
          <p:cNvPr id="3" name="Content Placeholder 2"/>
          <p:cNvSpPr>
            <a:spLocks noGrp="1"/>
          </p:cNvSpPr>
          <p:nvPr>
            <p:ph sz="half" idx="1"/>
          </p:nvPr>
        </p:nvSpPr>
        <p:spPr/>
        <p:txBody>
          <a:bodyPr>
            <a:normAutofit lnSpcReduction="10000"/>
          </a:bodyPr>
          <a:lstStyle/>
          <a:p>
            <a:r>
              <a:t>19 Jan</a:t>
            </a:r>
          </a:p>
          <a:p>
            <a:endParaRPr/>
          </a:p>
          <a:p>
            <a:r>
              <a:t>PCI Eligible AWS services deployed in AWS Wavelength can now store, process, or transmit cardholder data (CHD) or sensitive authentication data (SAD), including merchants, processors, acquirers, issuers, and service providers. PCI DSS (Payment Card Industry Data Security Standard) is a proprietary information security standard administered by the PCI Security Standard Council . Many Wavelength use cases like interactive live video streams, AR/VR, and real-time gaming require in-app purchases. Starting today, you can use AWS Wavelength to build, deploy, and run applications that store and use sensitive payment card data in compliance with PCI DSS. </a:t>
            </a: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three new digital courses for Amazon S3</a:t>
            </a:r>
          </a:p>
        </p:txBody>
      </p:sp>
      <p:sp>
        <p:nvSpPr>
          <p:cNvPr id="3" name="Content Placeholder 2"/>
          <p:cNvSpPr>
            <a:spLocks noGrp="1"/>
          </p:cNvSpPr>
          <p:nvPr>
            <p:ph sz="half" idx="1"/>
          </p:nvPr>
        </p:nvSpPr>
        <p:spPr/>
        <p:txBody>
          <a:bodyPr/>
          <a:lstStyle/>
          <a:p>
            <a:r>
              <a:t>19 Jan</a:t>
            </a:r>
          </a:p>
          <a:p>
            <a:endParaRPr/>
          </a:p>
          <a:p>
            <a:r>
              <a:t>We’re excited to introduce three free digital courses that help you learn how to configure, optimize, secure, and audit your Amazon S3 implementation. Designed for cloud architects, storage architects, developers, and operations engineers, these intermediate courses include reading modules, demonstrations, quizzes, and optional self-paced labs. The self-paced labs cost up to 15 USD per lab (this cost is not included with free digital training on aws.training).</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graphical user interface of Porting Assistant for .NET is now open source</a:t>
            </a:r>
          </a:p>
        </p:txBody>
      </p:sp>
      <p:sp>
        <p:nvSpPr>
          <p:cNvPr id="3" name="Content Placeholder 2"/>
          <p:cNvSpPr>
            <a:spLocks noGrp="1"/>
          </p:cNvSpPr>
          <p:nvPr>
            <p:ph sz="half" idx="1"/>
          </p:nvPr>
        </p:nvSpPr>
        <p:spPr/>
        <p:txBody>
          <a:bodyPr/>
          <a:lstStyle/>
          <a:p>
            <a:r>
              <a:t>15 Jan</a:t>
            </a:r>
          </a:p>
          <a:p>
            <a:endParaRPr/>
          </a:p>
          <a:p>
            <a:r>
              <a:t>The graphical user interface of Porting Assistant for .NET is now available in open source . Users can now view, modify, and contribute to its source code. The Porting Assistant for .NET data store and analytics engine , which includes information such as package compatibility and their known replacements, is already available through open source. With the new release, user can also participate in the UI development process.</a:t>
            </a: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Rekognition Custom Labels is now available in the Asia Pacific (Singapore), Asia Pacific (Sydney), Asia Pacific (Seoul), and Asia Pacific (Tokyo) AWS Regions</a:t>
            </a:r>
          </a:p>
        </p:txBody>
      </p:sp>
      <p:sp>
        <p:nvSpPr>
          <p:cNvPr id="3" name="Content Placeholder 2"/>
          <p:cNvSpPr>
            <a:spLocks noGrp="1"/>
          </p:cNvSpPr>
          <p:nvPr>
            <p:ph sz="half" idx="1"/>
          </p:nvPr>
        </p:nvSpPr>
        <p:spPr/>
        <p:txBody>
          <a:bodyPr/>
          <a:lstStyle/>
          <a:p>
            <a:r>
              <a:t>15 Jan</a:t>
            </a:r>
          </a:p>
          <a:p>
            <a:endParaRPr/>
          </a:p>
          <a:p>
            <a:r>
              <a:t>Amazon Rekognition Custom Labels is now available in four additional regions AWS regions: Asia Pacific (Singapore), Asia Pacific (Sydney), Asia Pacific (Seoul), and Asia Pacific (Tokyo). Amazon Rekognition Custom Labels is an automated machine learning (AutoML) feature that allows customers to find objects and scenes in images, unique to their business needs, with a simple inference API. Customers can create a custom ML model simply by uploading labeled images. No ML expertise is required.</a:t>
            </a:r>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X1 and X1e instances are now available in additional AWS regions</a:t>
            </a:r>
          </a:p>
        </p:txBody>
      </p:sp>
      <p:sp>
        <p:nvSpPr>
          <p:cNvPr id="3" name="Content Placeholder 2"/>
          <p:cNvSpPr>
            <a:spLocks noGrp="1"/>
          </p:cNvSpPr>
          <p:nvPr>
            <p:ph sz="half" idx="1"/>
          </p:nvPr>
        </p:nvSpPr>
        <p:spPr/>
        <p:txBody>
          <a:bodyPr>
            <a:normAutofit fontScale="92500"/>
          </a:bodyPr>
          <a:lstStyle/>
          <a:p>
            <a:r>
              <a:t>15 Jan</a:t>
            </a:r>
          </a:p>
          <a:p>
            <a:endParaRPr/>
          </a:p>
          <a:p>
            <a:r>
              <a:t>Starting today, Amazon EC2 X1 and X1e instances are available in the AWS Africa (Cape Town) and Asia Pacific (Osaka) regions. X1 and X1e instances are memory-optimized instances designed for running large-scale and in-memory applications in the AWS Cloud. X1 instances offer up to 1,952 GiB of memory while X1e instances offer up to 3,904 GiB of memory. Both, X1 and X1e, instances are powered by four Intel® Xeon® E7 8880 v3 processors and offer up to 128 vCPUs. EC2 X1 and X1e instances are ideal for running in-memory databases, like SAP HANA, high-performance databases, big data processing engines like Apache Spark or Presto, and high-performance computing (HPC) applications.</a:t>
            </a: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Segmentation Capabilities for Amazon Pinpoint</a:t>
            </a:r>
          </a:p>
        </p:txBody>
      </p:sp>
      <p:sp>
        <p:nvSpPr>
          <p:cNvPr id="3" name="Content Placeholder 2"/>
          <p:cNvSpPr>
            <a:spLocks noGrp="1"/>
          </p:cNvSpPr>
          <p:nvPr>
            <p:ph sz="half" idx="1"/>
          </p:nvPr>
        </p:nvSpPr>
        <p:spPr/>
        <p:txBody>
          <a:bodyPr/>
          <a:lstStyle/>
          <a:p>
            <a:r>
              <a:t>14 Jan</a:t>
            </a:r>
          </a:p>
          <a:p>
            <a:endParaRPr/>
          </a:p>
          <a:p>
            <a:r>
              <a:t>Amazon Pinpoint now provides customers additional filters to perform more granular segmentation. Amazon Pinpoint customers can now increase the level of campaign and message personalization by being able to reach more specific audiences. </a:t>
            </a: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Public Datasets available from the Illumina, the University of Alaska Fairbanks, IntelinAir, and others</a:t>
            </a:r>
          </a:p>
        </p:txBody>
      </p:sp>
      <p:sp>
        <p:nvSpPr>
          <p:cNvPr id="3" name="Content Placeholder 2"/>
          <p:cNvSpPr>
            <a:spLocks noGrp="1"/>
          </p:cNvSpPr>
          <p:nvPr>
            <p:ph sz="half" idx="1"/>
          </p:nvPr>
        </p:nvSpPr>
        <p:spPr/>
        <p:txBody>
          <a:bodyPr/>
          <a:lstStyle/>
          <a:p>
            <a:r>
              <a:t>14 Jan</a:t>
            </a:r>
          </a:p>
          <a:p>
            <a:endParaRPr/>
          </a:p>
          <a:p>
            <a:r>
              <a:t>Eighteen new or updated datasets from Illumina, the University of Alaska Fairbanks, IntelinAir, and others are available on the Registry of Open Data in the following categories.</a:t>
            </a: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and lab: AWS Cloud Development Kit (CDK) Primer</a:t>
            </a:r>
          </a:p>
        </p:txBody>
      </p:sp>
      <p:sp>
        <p:nvSpPr>
          <p:cNvPr id="3" name="Content Placeholder 2"/>
          <p:cNvSpPr>
            <a:spLocks noGrp="1"/>
          </p:cNvSpPr>
          <p:nvPr>
            <p:ph sz="half" idx="1"/>
          </p:nvPr>
        </p:nvSpPr>
        <p:spPr/>
        <p:txBody>
          <a:bodyPr/>
          <a:lstStyle/>
          <a:p>
            <a:r>
              <a:t>14 Jan</a:t>
            </a:r>
          </a:p>
          <a:p>
            <a:endParaRPr/>
          </a:p>
          <a:p>
            <a:r>
              <a:t>Learn how to define and provision cloud infrastructure using the AWS Cloud Development Kit (CDK) with our new digital course AWS Cloud Development Kit (CDK) Primer. This intermediate course is designed for developers that are familiar with AWS services, including AWS CloudFormation.</a:t>
            </a:r>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Configuring and Deploying VPCs with Multiple Subnets</a:t>
            </a:r>
          </a:p>
        </p:txBody>
      </p:sp>
      <p:sp>
        <p:nvSpPr>
          <p:cNvPr id="3" name="Content Placeholder 2"/>
          <p:cNvSpPr>
            <a:spLocks noGrp="1"/>
          </p:cNvSpPr>
          <p:nvPr>
            <p:ph sz="half" idx="1"/>
          </p:nvPr>
        </p:nvSpPr>
        <p:spPr/>
        <p:txBody>
          <a:bodyPr/>
          <a:lstStyle/>
          <a:p>
            <a:r>
              <a:t>14 Jan</a:t>
            </a:r>
          </a:p>
          <a:p>
            <a:endParaRPr/>
          </a:p>
          <a:p>
            <a:r>
              <a:t>We’re excited to announce a free new digital course: Configuring and Deploying VPCs with Multiple Subnets. The course covers how to create a secure AWS network environment with Amazon Virtual Private Cloud (Amazon VPC) service. This intermediate, one-hour course includes reading modules, video demonstrations, a quiz, and an optional self-paced lab. The course is designed for network engineers, solutions architects, and cloud architects.</a:t>
            </a:r>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Amplify DataStore launches support for sorting and selectively syncing app data</a:t>
            </a:r>
          </a:p>
        </p:txBody>
      </p:sp>
      <p:sp>
        <p:nvSpPr>
          <p:cNvPr id="3" name="Content Placeholder 2"/>
          <p:cNvSpPr>
            <a:spLocks noGrp="1"/>
          </p:cNvSpPr>
          <p:nvPr>
            <p:ph sz="half" idx="1"/>
          </p:nvPr>
        </p:nvSpPr>
        <p:spPr/>
        <p:txBody>
          <a:bodyPr/>
          <a:lstStyle/>
          <a:p>
            <a:r>
              <a:t>14 Jan</a:t>
            </a:r>
          </a:p>
          <a:p>
            <a:endParaRPr/>
          </a:p>
          <a:p>
            <a:r>
              <a:t>With the recent Amplify Library release, Amplify DataStore gains the ability to selectively sync a subset of your app data and to sort your app data. DataStore provides frontend web and mobile developers a persistent on-device storage repository for you to write, read, and observe changes to data even if you are online or offline, and seamlessly sync to the cloud as well as across devices.  </a:t>
            </a: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Cognito Identity Pools enables using user attributes from identity providers for access control to simplify permissions management in AWS</a:t>
            </a:r>
          </a:p>
        </p:txBody>
      </p:sp>
      <p:sp>
        <p:nvSpPr>
          <p:cNvPr id="3" name="Content Placeholder 2"/>
          <p:cNvSpPr>
            <a:spLocks noGrp="1"/>
          </p:cNvSpPr>
          <p:nvPr>
            <p:ph sz="half" idx="1"/>
          </p:nvPr>
        </p:nvSpPr>
        <p:spPr/>
        <p:txBody>
          <a:bodyPr/>
          <a:lstStyle/>
          <a:p>
            <a:r>
              <a:t>14 Jan</a:t>
            </a:r>
          </a:p>
          <a:p>
            <a:endParaRPr/>
          </a:p>
          <a:p>
            <a:r>
              <a:t>Amazon Cognito Identity Pools now enables you to use attributes from social and corporate identity providers to make access control decisions and simplify permissions management to AWS resources.</a:t>
            </a: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 Family console further simplifies Snow data transfer and compute job creation and management</a:t>
            </a:r>
          </a:p>
        </p:txBody>
      </p:sp>
      <p:sp>
        <p:nvSpPr>
          <p:cNvPr id="3" name="Content Placeholder 2"/>
          <p:cNvSpPr>
            <a:spLocks noGrp="1"/>
          </p:cNvSpPr>
          <p:nvPr>
            <p:ph sz="half" idx="1"/>
          </p:nvPr>
        </p:nvSpPr>
        <p:spPr/>
        <p:txBody>
          <a:bodyPr/>
          <a:lstStyle/>
          <a:p>
            <a:r>
              <a:t>13 Jan</a:t>
            </a:r>
          </a:p>
          <a:p>
            <a:endParaRPr/>
          </a:p>
          <a:p>
            <a:r>
              <a:t>The AWS Snow Family console  has been enhanced to make it easier for you to create and monitor your Snow data transfer and compute jobs. In addition to an improved user experience, the AWS Snow Family console will enable you to more easily understand which Snow device is more suitable for your use case depending on the size and type of your workloads. You can also now order an AWS Snow Family device with just a few clicks in the AWS Snow Family console.</a:t>
            </a: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AppStream 2.0 now supports using smart cards for Active Directory domain login and streaming applications</a:t>
            </a:r>
          </a:p>
        </p:txBody>
      </p:sp>
      <p:sp>
        <p:nvSpPr>
          <p:cNvPr id="3" name="Content Placeholder 2"/>
          <p:cNvSpPr>
            <a:spLocks noGrp="1"/>
          </p:cNvSpPr>
          <p:nvPr>
            <p:ph sz="half" idx="1"/>
          </p:nvPr>
        </p:nvSpPr>
        <p:spPr/>
        <p:txBody>
          <a:bodyPr>
            <a:normAutofit lnSpcReduction="10000"/>
          </a:bodyPr>
          <a:lstStyle/>
          <a:p>
            <a:r>
              <a:t>13 Jan</a:t>
            </a:r>
          </a:p>
          <a:p>
            <a:endParaRPr/>
          </a:p>
          <a:p>
            <a:r>
              <a:t>Amazon AppStream 2.0 now supports the use of smart cards such as Personal Identity Verification (PIV)  and Common Access Card (CAC)  smart cards for authentication to AppStream 2.0 streaming instances. Smart cards are also supported for in-session authentication for streaming applications. With this launch, your users can use a smart card reader and smart card connected to their local computer to sign in to an AppStream 2.0 streaming instance that is joined to a Microsoft Active Directory domain. They can also use their local smart card reader and smart card to sign in to applications within their streaming session.  </a:t>
            </a:r>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support for Methods via Uniform Function Call syntax in AWS IoT SiteWise</a:t>
            </a:r>
          </a:p>
        </p:txBody>
      </p:sp>
      <p:sp>
        <p:nvSpPr>
          <p:cNvPr id="3" name="Content Placeholder 2"/>
          <p:cNvSpPr>
            <a:spLocks noGrp="1"/>
          </p:cNvSpPr>
          <p:nvPr>
            <p:ph sz="half" idx="1"/>
          </p:nvPr>
        </p:nvSpPr>
        <p:spPr/>
        <p:txBody>
          <a:bodyPr/>
          <a:lstStyle/>
          <a:p>
            <a:r>
              <a:t>12 Jan</a:t>
            </a:r>
          </a:p>
          <a:p>
            <a:endParaRPr/>
          </a:p>
          <a:p>
            <a:r>
              <a:t>AWS IoT SiteWise now supports usage of methods in formula expressions through Uniform Function Call Syntax (UFCS).</a:t>
            </a: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the global expansion of AWS Contact Center Intelligence solutions</a:t>
            </a:r>
          </a:p>
        </p:txBody>
      </p:sp>
      <p:sp>
        <p:nvSpPr>
          <p:cNvPr id="3" name="Content Placeholder 2"/>
          <p:cNvSpPr>
            <a:spLocks noGrp="1"/>
          </p:cNvSpPr>
          <p:nvPr>
            <p:ph sz="half" idx="1"/>
          </p:nvPr>
        </p:nvSpPr>
        <p:spPr/>
        <p:txBody>
          <a:bodyPr>
            <a:normAutofit fontScale="92500" lnSpcReduction="10000"/>
          </a:bodyPr>
          <a:lstStyle/>
          <a:p>
            <a:r>
              <a:t>12 Jan</a:t>
            </a:r>
          </a:p>
          <a:p>
            <a:endParaRPr/>
          </a:p>
          <a:p>
            <a:r>
              <a:t>Today we are delighted to announce the global expansion of AWS Contact Center Intelligence (CCI) solutions powered by AWS AI Services and made available through the AWS Partner Network. With our partners, you can quickly implement AWS CCI solutions to add AWS machine learning (ML) capabilities into your current contact center infrastructure to increase operational efficiencies and deliver a better customer experience with no machine learning expertise required. AWS CCI provides solutions comprised of AWS AI-powered services such as Amazon Transcribe for call transcriptions, Amazon Translate for translation, Amazon Kendra for intelligent search, Amazon Lex for conversational AI, and Amazon Comprehend for language comprehension functionalities.</a:t>
            </a: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Snowcone now supports multicast streams and routing by providing instances with direct access to external networks</a:t>
            </a:r>
          </a:p>
        </p:txBody>
      </p:sp>
      <p:sp>
        <p:nvSpPr>
          <p:cNvPr id="3" name="Content Placeholder 2"/>
          <p:cNvSpPr>
            <a:spLocks noGrp="1"/>
          </p:cNvSpPr>
          <p:nvPr>
            <p:ph sz="half" idx="1"/>
          </p:nvPr>
        </p:nvSpPr>
        <p:spPr/>
        <p:txBody>
          <a:bodyPr/>
          <a:lstStyle/>
          <a:p>
            <a:r>
              <a:t>12 Jan</a:t>
            </a:r>
          </a:p>
          <a:p>
            <a:endParaRPr/>
          </a:p>
          <a:p>
            <a:r>
              <a:t>AWS Snowcone now supports multicast streams, routing, load balancing, and other networking use cases by enabling instances on a Snow device to have direct access to an external network. By providing instances with layer 2 network access without any intermediary translation or filtering, customers gain increased flexibility over the network configuration of their Snow device along with improved network performance, enabling use cases that were previously not possible. </a:t>
            </a:r>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Lightsail now supports IPv6</a:t>
            </a:r>
          </a:p>
        </p:txBody>
      </p:sp>
      <p:sp>
        <p:nvSpPr>
          <p:cNvPr id="3" name="Content Placeholder 2"/>
          <p:cNvSpPr>
            <a:spLocks noGrp="1"/>
          </p:cNvSpPr>
          <p:nvPr>
            <p:ph sz="half" idx="1"/>
          </p:nvPr>
        </p:nvSpPr>
        <p:spPr/>
        <p:txBody>
          <a:bodyPr/>
          <a:lstStyle/>
          <a:p>
            <a:r>
              <a:t>12 Jan</a:t>
            </a:r>
          </a:p>
          <a:p>
            <a:endParaRPr/>
          </a:p>
          <a:p>
            <a:r>
              <a:t>Amazon Lightsail now supports Internet Protocol version 6 (IPv6) on Lightsail resources like instances, containers, load balancers and CDN. With this launch, Lightsail resources operate in dual-stack mode, accepting both IPv4 and IPv6 client connections. This helps unlock application scenarios where some end user clients are IPv6 only.</a:t>
            </a: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Customers can now tag resources in the Amazon Braket console</a:t>
            </a:r>
          </a:p>
        </p:txBody>
      </p:sp>
      <p:sp>
        <p:nvSpPr>
          <p:cNvPr id="3" name="Content Placeholder 2"/>
          <p:cNvSpPr>
            <a:spLocks noGrp="1"/>
          </p:cNvSpPr>
          <p:nvPr>
            <p:ph sz="half" idx="1"/>
          </p:nvPr>
        </p:nvSpPr>
        <p:spPr/>
        <p:txBody>
          <a:bodyPr/>
          <a:lstStyle/>
          <a:p>
            <a:r>
              <a:t>11 Jan</a:t>
            </a:r>
          </a:p>
          <a:p>
            <a:endParaRPr/>
          </a:p>
          <a:p>
            <a:r>
              <a:t>You can now manage custom tags for quantum tasks and notebooks directly in the Amazon Braket console. A tag is a simple label consisting of a customer-defined key and value pair. The ability to attach tags such as owner name, project, or cost center makes it easier for you to organize your resources into categories that are useful to you.</a:t>
            </a:r>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Config console streamlines resource configuration and compliance management</a:t>
            </a:r>
          </a:p>
        </p:txBody>
      </p:sp>
      <p:sp>
        <p:nvSpPr>
          <p:cNvPr id="3" name="Content Placeholder 2"/>
          <p:cNvSpPr>
            <a:spLocks noGrp="1"/>
          </p:cNvSpPr>
          <p:nvPr>
            <p:ph sz="half" idx="1"/>
          </p:nvPr>
        </p:nvSpPr>
        <p:spPr/>
        <p:txBody>
          <a:bodyPr/>
          <a:lstStyle/>
          <a:p>
            <a:r>
              <a:t>07 Jan</a:t>
            </a:r>
          </a:p>
          <a:p>
            <a:endParaRPr/>
          </a:p>
          <a:p>
            <a:r>
              <a:t>We’ve updated the AWS Config console to make it more efficient for you to track your AWS resource configuration changes, and monitor your AWS Config rule and conformance packs compliance. The new AWS Config console experience now includes features, such as Advanced Query, Aggregators, and resource configuration and compliance timeline pages.</a:t>
            </a:r>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Network Firewall is now available in the Asia Pacific (Sydney) Region</a:t>
            </a:r>
          </a:p>
        </p:txBody>
      </p:sp>
      <p:sp>
        <p:nvSpPr>
          <p:cNvPr id="3" name="Content Placeholder 2"/>
          <p:cNvSpPr>
            <a:spLocks noGrp="1"/>
          </p:cNvSpPr>
          <p:nvPr>
            <p:ph sz="half" idx="1"/>
          </p:nvPr>
        </p:nvSpPr>
        <p:spPr/>
        <p:txBody>
          <a:bodyPr/>
          <a:lstStyle/>
          <a:p>
            <a:r>
              <a:t>07 Jan</a:t>
            </a:r>
          </a:p>
          <a:p>
            <a:endParaRPr/>
          </a:p>
          <a:p>
            <a:r>
              <a:t>Starting today, AWS Network Firewall is now available in the Asia Pacific (Sydney) Region.  </a:t>
            </a:r>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AppFlow now supports Salesforce Pardot</a:t>
            </a:r>
          </a:p>
        </p:txBody>
      </p:sp>
      <p:sp>
        <p:nvSpPr>
          <p:cNvPr id="3" name="Content Placeholder 2"/>
          <p:cNvSpPr>
            <a:spLocks noGrp="1"/>
          </p:cNvSpPr>
          <p:nvPr>
            <p:ph sz="half" idx="1"/>
          </p:nvPr>
        </p:nvSpPr>
        <p:spPr/>
        <p:txBody>
          <a:bodyPr/>
          <a:lstStyle/>
          <a:p>
            <a:r>
              <a:t>06 Jan</a:t>
            </a:r>
          </a:p>
          <a:p>
            <a:endParaRPr/>
          </a:p>
          <a:p>
            <a:r>
              <a:t>Amazon AppFlow, a fully managed integration service that enables customers securely transfer data between AWS services and cloud applications, now supports Salesforce Pardot . Salesforce Pardot is a marketing automation solution that helps companies create meaningful connections, generate more pipeline, and empower sales to close more deals. AppFlow makes it easy for customers to configure data transfers with Salesforce Pardot in just a few clicks.</a:t>
            </a: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CloudSearch announces updates to its search instances</a:t>
            </a:r>
          </a:p>
        </p:txBody>
      </p:sp>
      <p:sp>
        <p:nvSpPr>
          <p:cNvPr id="3" name="Content Placeholder 2"/>
          <p:cNvSpPr>
            <a:spLocks noGrp="1"/>
          </p:cNvSpPr>
          <p:nvPr>
            <p:ph sz="half" idx="1"/>
          </p:nvPr>
        </p:nvSpPr>
        <p:spPr/>
        <p:txBody>
          <a:bodyPr/>
          <a:lstStyle/>
          <a:p>
            <a:r>
              <a:t>06 Jan</a:t>
            </a:r>
          </a:p>
          <a:p>
            <a:endParaRPr/>
          </a:p>
          <a:p>
            <a:r>
              <a:t>Amazon CloudSearch has updated the existing search instances with new instances that provide better availability and performance at the same pricing. The new instances are one to one replacements, but leverage newer generation EC2 instances underneath, thereby improving the overall stability of your domain.  </a:t>
            </a: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FreeRTOS includes pre-configured projects for software emulations of microcontroller cores using QEMU open source emulator</a:t>
            </a:r>
          </a:p>
        </p:txBody>
      </p:sp>
      <p:sp>
        <p:nvSpPr>
          <p:cNvPr id="3" name="Content Placeholder 2"/>
          <p:cNvSpPr>
            <a:spLocks noGrp="1"/>
          </p:cNvSpPr>
          <p:nvPr>
            <p:ph sz="half" idx="1"/>
          </p:nvPr>
        </p:nvSpPr>
        <p:spPr/>
        <p:txBody>
          <a:bodyPr>
            <a:normAutofit lnSpcReduction="10000"/>
          </a:bodyPr>
          <a:lstStyle/>
          <a:p>
            <a:r>
              <a:t>06 Jan</a:t>
            </a:r>
          </a:p>
          <a:p>
            <a:endParaRPr/>
          </a:p>
          <a:p>
            <a:r>
              <a:t>FreeRTOS  now includes pre-configured projects that emulate real microcontroller (MCU) cores in software using the QEMU  open source emulator. Running FreeRTOS in an emulator makes it easier to test applications using the actual binary code that will run on your MCU device, without having physical access to the MCU device. MCU emulations reduce development time by giving you access to enhanced debugging capabilities and the flexibility to run design experiments on multiple MCUs before you make the final MCU selection. This release includes a QEMU demo project for the Arm Cortex-M3 based MPS2 + FPGA. For more details, see FreeRTOS README .</a:t>
            </a: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beta exam for AWS Certified SysOps Administrator - Associate</a:t>
            </a:r>
          </a:p>
        </p:txBody>
      </p:sp>
      <p:sp>
        <p:nvSpPr>
          <p:cNvPr id="3" name="Content Placeholder 2"/>
          <p:cNvSpPr>
            <a:spLocks noGrp="1"/>
          </p:cNvSpPr>
          <p:nvPr>
            <p:ph sz="half" idx="1"/>
          </p:nvPr>
        </p:nvSpPr>
        <p:spPr/>
        <p:txBody>
          <a:bodyPr/>
          <a:lstStyle/>
          <a:p>
            <a:r>
              <a:t>05 Jan</a:t>
            </a:r>
          </a:p>
          <a:p>
            <a:endParaRPr/>
          </a:p>
          <a:p>
            <a:r>
              <a:t>Registration is now open for the new AWS Certified SysOps Administrator - Associate beta exam, which will be available from February 16, 2021 to March 26, 2021. AWS Certified SysOps Administrator – Associate is intended for system administrators in cloud operations roles who have at least one year of hands-on experience with deployment, management, networking, and security on AWS.</a:t>
            </a:r>
          </a:p>
        </p:txBody>
      </p:sp>
    </p:spTree>
  </p:cSld>
  <p:clrMapOvr>
    <a:masterClrMapping/>
  </p:clrMapOvr>
</p:sld>
</file>

<file path=ppt/theme/theme1.xml><?xml version="1.0" encoding="utf-8"?>
<a:theme xmlns:a="http://schemas.openxmlformats.org/drawingml/2006/main" name="DeckTemplate-AWS">
  <a:themeElements>
    <a:clrScheme name="Custom 14">
      <a:dk1>
        <a:srgbClr val="002D43"/>
      </a:dk1>
      <a:lt1>
        <a:srgbClr val="FFFFFF"/>
      </a:lt1>
      <a:dk2>
        <a:srgbClr val="232F3E"/>
      </a:dk2>
      <a:lt2>
        <a:srgbClr val="FFFFFF"/>
      </a:lt2>
      <a:accent1>
        <a:srgbClr val="FF9900"/>
      </a:accent1>
      <a:accent2>
        <a:srgbClr val="00A0C8"/>
      </a:accent2>
      <a:accent3>
        <a:srgbClr val="007DBC"/>
      </a:accent3>
      <a:accent4>
        <a:srgbClr val="69AE35"/>
      </a:accent4>
      <a:accent5>
        <a:srgbClr val="1D8900"/>
      </a:accent5>
      <a:accent6>
        <a:srgbClr val="FF5745"/>
      </a:accent6>
      <a:hlink>
        <a:srgbClr val="00E0EA"/>
      </a:hlink>
      <a:folHlink>
        <a:srgbClr val="00A0C8"/>
      </a:folHlink>
    </a:clrScheme>
    <a:fontScheme name="Test">
      <a:majorFont>
        <a:latin typeface="Amazon Ember"/>
        <a:ea typeface=""/>
        <a:cs typeface=""/>
      </a:majorFont>
      <a:minorFont>
        <a:latin typeface="Amazon Emb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900" dirty="0" err="1" smtClean="0">
            <a:latin typeface="Amazon Ember" panose="020B0603020204020204" pitchFamily="34" charset="0"/>
            <a:ea typeface="Amazon Ember" panose="020B0603020204020204" pitchFamily="34" charset="0"/>
            <a:cs typeface="Amazon Ember" panose="020B0603020204020204" pitchFamily="34" charset="0"/>
          </a:defRPr>
        </a:defPPr>
      </a:lstStyle>
    </a:txDef>
  </a:objectDefaults>
  <a:extraClrSchemeLst/>
  <a:extLst>
    <a:ext uri="{05A4C25C-085E-4340-85A3-A5531E510DB2}">
      <thm15:themeFamily xmlns:thm15="http://schemas.microsoft.com/office/thememl/2012/main" name="AWS_Deck_Template.potx" id="{956C5B2E-0233-4212-9383-50A039694C0C}" vid="{0176EEA5-D87D-4097-B356-86DC884F4541}"/>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6A3D6C04DFD740953BA1B2B9E62D60" ma:contentTypeVersion="0" ma:contentTypeDescription="Create a new document." ma:contentTypeScope="" ma:versionID="26617cd14cd3af163c0e97ff614e520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51A3258A-222C-4488-825E-7520D001FB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05B35A6-8B52-46A5-AE45-B98C6459DC10}">
  <ds:schemaRefs>
    <ds:schemaRef ds:uri="http://schemas.microsoft.com/sharepoint/v3/contenttype/forms"/>
  </ds:schemaRefs>
</ds:datastoreItem>
</file>

<file path=customXml/itemProps3.xml><?xml version="1.0" encoding="utf-8"?>
<ds:datastoreItem xmlns:ds="http://schemas.openxmlformats.org/officeDocument/2006/customXml" ds:itemID="{C597C89A-FD0C-431E-81F6-90225B937683}">
  <ds:schemaRefs>
    <ds:schemaRef ds:uri="http://schemas.microsoft.com/office/infopath/2007/PartnerControls"/>
    <ds:schemaRef ds:uri="http://www.w3.org/XML/1998/namespace"/>
    <ds:schemaRef ds:uri="http://schemas.microsoft.com/office/2006/documentManagement/types"/>
    <ds:schemaRef ds:uri="http://purl.org/dc/dcmitype/"/>
    <ds:schemaRef ds:uri="http://schemas.openxmlformats.org/package/2006/metadata/core-properties"/>
    <ds:schemaRef ds:uri="http://purl.org/dc/term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DeckTemplate_AWS</Template>
  <TotalTime>21581</TotalTime>
  <Words>30399</Words>
  <Application>Microsoft Macintosh PowerPoint</Application>
  <PresentationFormat>Custom</PresentationFormat>
  <Paragraphs>1535</Paragraphs>
  <Slides>351</Slides>
  <Notes>25</Notes>
  <HiddenSlides>295</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351</vt:i4>
      </vt:variant>
    </vt:vector>
  </HeadingPairs>
  <TitlesOfParts>
    <vt:vector size="361" baseType="lpstr">
      <vt:lpstr>Amazon Ember</vt:lpstr>
      <vt:lpstr>Amazon Ember Light</vt:lpstr>
      <vt:lpstr>Amazon Ember Regular</vt:lpstr>
      <vt:lpstr>Arial</vt:lpstr>
      <vt:lpstr>Calibri</vt:lpstr>
      <vt:lpstr>Calibri Light</vt:lpstr>
      <vt:lpstr>Gill Sans</vt:lpstr>
      <vt:lpstr>Helvetica Neue</vt:lpstr>
      <vt:lpstr>DeckTemplate-AWS</vt:lpstr>
      <vt:lpstr>1_Office Theme</vt:lpstr>
      <vt:lpstr>PowerPoint Presentation</vt:lpstr>
      <vt:lpstr>PowerPoint Presentation</vt:lpstr>
      <vt:lpstr>Since Last PI</vt:lpstr>
      <vt:lpstr>Important</vt:lpstr>
      <vt:lpstr>Announcing General Availability of AWS Fault Injection Simulator, a fully managed service to run controlled experiments</vt:lpstr>
      <vt:lpstr>AWS Lambda adds four Trusted Advisor checks</vt:lpstr>
      <vt:lpstr>Amazon EventBridge introduces support for API Destinations</vt:lpstr>
      <vt:lpstr>Amazon EventBridge now supports propagation of X-Ray trace context</vt:lpstr>
      <vt:lpstr>AWS Step Functions adds tooling support for YAML</vt:lpstr>
      <vt:lpstr>Amazon EC2 now supports UEFI boot when migrating virtual machines to EC2</vt:lpstr>
      <vt:lpstr>Amazon EC2 Mac Instances now support macOS Big Sur</vt:lpstr>
      <vt:lpstr>Application Load Balancer now supports Application Cookie Stickiness</vt:lpstr>
      <vt:lpstr>Amazon Elastic File System triples read throughput</vt:lpstr>
      <vt:lpstr>Amazon EBS announces CloudWatch metrics with 1-minute granularity on all EBS volume types</vt:lpstr>
      <vt:lpstr>Amazon CloudWatch Agent Now Supports macOS on Amazon EC2 Mac instances</vt:lpstr>
      <vt:lpstr>Amazon CloudWatch Agent now supports OpenTelemetry APIs and SDKs</vt:lpstr>
      <vt:lpstr>Monitor your Amazon Elastic File System (Amazon EFS) storage usage with Amazon CloudWatch</vt:lpstr>
      <vt:lpstr>Introducing AWS Transfer Family support for Amazon Elastic File System</vt:lpstr>
      <vt:lpstr>Amazon Comprehend now identifies documents that contain personally identifiable information (PII)</vt:lpstr>
      <vt:lpstr>Announcing support for multiple containers on Amazon SageMaker Inference endpoints, leading to cost savings of up to 80%</vt:lpstr>
      <vt:lpstr>Amazon EMR Release 5.32 now supports Amazon EMR on EKS, and EMR Studio Preview</vt:lpstr>
      <vt:lpstr>AWS Glue Studio jobs can now update AWS Glue Data Catalog tables</vt:lpstr>
      <vt:lpstr>AWS Glue Studio now supports reading uncatalogued data from Amazon S3 and inferring its schema</vt:lpstr>
      <vt:lpstr>AWS Step Functions adds support for AWS Glue DataBrew jobs to prepare data in analytics and machine learning workflows</vt:lpstr>
      <vt:lpstr>AWS Glue DataBrew supports transformations for seven additional datatypes</vt:lpstr>
      <vt:lpstr>Amazon EKS reduces cluster creation time by 40%</vt:lpstr>
      <vt:lpstr>Amazon ECS now allows you to execute commands in a container running on Amazon EC2 or AWS Fargate</vt:lpstr>
      <vt:lpstr>AWS Fargate updates platform version 1.4.0 to be the LATEST version</vt:lpstr>
      <vt:lpstr>Amazon EKS now supports creation and management of add-ons using AWS CloudFormation</vt:lpstr>
      <vt:lpstr>AWS Proton now supports tagging capabilities</vt:lpstr>
      <vt:lpstr>AWS Config now supports Amazon container services</vt:lpstr>
      <vt:lpstr>Announcing AWS App Mesh Controller for Kubernetes version 1.3.0 with mTLS support</vt:lpstr>
      <vt:lpstr>Amazon ECS announces increased service quotas for tasks per service and services per cluster</vt:lpstr>
      <vt:lpstr>AWS Fargate increases default resource count service quotas to 1000</vt:lpstr>
      <vt:lpstr>Amazon ECS now supports VPC Endpoint policies</vt:lpstr>
      <vt:lpstr>Amazon RDS for MySQL now supports rollback protection for database major version upgrades</vt:lpstr>
      <vt:lpstr>Amazon RDS Proxy now supports database connectivity from multiple Amazon VPCs</vt:lpstr>
      <vt:lpstr>Amazon RDS Proxy adds read-only endpoints for Amazon Aurora Replicas</vt:lpstr>
      <vt:lpstr>Achieve up to 35% better price/performance with Amazon Aurora using new Graviton2 instances</vt:lpstr>
      <vt:lpstr>Amazon Keyspaces (for Apache Cassandra) now supports PCI DSS compliance to help you run payment processing workloads more easily</vt:lpstr>
      <vt:lpstr>You now can use PartiQL with DynamoDB local to query, insert, update, and delete table data in Amazon DynamoDB</vt:lpstr>
      <vt:lpstr>Amazon Aurora supports PostgreSQL 12</vt:lpstr>
      <vt:lpstr>Amazon Timestream can now be used for workloads subject to HIPAA, ISO, and PCI DSS</vt:lpstr>
      <vt:lpstr>AWS Backup adds support for continuous backup and point-in-time recovery of Amazon RDS instances</vt:lpstr>
      <vt:lpstr>Amazon S3 now supports AWS PrivateLink</vt:lpstr>
      <vt:lpstr>Amazon S3 Glacier announces a 40% price reduction for PUT and Lifecycle requests</vt:lpstr>
      <vt:lpstr>S3 Object Lambda allows you to add your own code to S3 GET requests to modify and process data as it is returned to an application</vt:lpstr>
      <vt:lpstr>AWS Control Tower now extends governance to existing OUs in your AWS Organizations</vt:lpstr>
      <vt:lpstr>AWS Audit Manager now supports CIS AWS Foundations Benchmark v1.3.0, Level 1 and 2 as a new standard framework</vt:lpstr>
      <vt:lpstr>IAM Access Analyzer now supports over 100 policy checks with actionable recommendations to help you author secure and functional policies</vt:lpstr>
      <vt:lpstr>IAM Access Analyzer now enables you to validate public and cross-account access before deploying permissions changes</vt:lpstr>
      <vt:lpstr>AWS Security Hub adds 25 new controls to its Foundational Security Best Practices standard</vt:lpstr>
      <vt:lpstr>Amazon VPC Flow Logs now reflects AWS Service name, Traffic Path and Flow Direction</vt:lpstr>
      <vt:lpstr>Amazon Macie announces a slew of new capabilities including support for cross-account sensitive data discovery, scanning by Amazon S3 object prefix, improved pre-scan cost estimation, and added location detail in findings</vt:lpstr>
      <vt:lpstr>Amazon API Gateway now supports data mapping in HTTP APIs</vt:lpstr>
      <vt:lpstr>Thank you!</vt:lpstr>
      <vt:lpstr>Amazon CloudWatch Synthetics supports canary events with Amazon EventBridge</vt:lpstr>
      <vt:lpstr>Amazon EC2 Auto Scaling Instance Refresh now supports phased deployments</vt:lpstr>
      <vt:lpstr>Insights is now generally available for AWS X-Ray</vt:lpstr>
      <vt:lpstr>Amazon MSK now supports the ability to change the size or family of your Apache Kafka brokers</vt:lpstr>
      <vt:lpstr>AWS Glue DataBrew enhances its data quality dashboard with a visual comparison matrix</vt:lpstr>
      <vt:lpstr>AWS Proton introduces deletion protection for in-use templates</vt:lpstr>
      <vt:lpstr>Amazon EKS clusters now support user authentication with OIDC compatible identity providers</vt:lpstr>
      <vt:lpstr>Amazon RDS for Oracle now supports January 2021 Patch Set Update (PSU) for Oracle Database 12.1</vt:lpstr>
      <vt:lpstr>Achieve faster database failover with Amazon Web Services MySQL JDBC Driver - now in preview</vt:lpstr>
      <vt:lpstr>Amazon GuardDuty enhances security incident investigation workflows through new integration with Amazon Detective</vt:lpstr>
      <vt:lpstr>AWS Shield Advanced now supports resource tagging</vt:lpstr>
      <vt:lpstr>Amazon Connect launches new metric capabilities for measuring queue service levels</vt:lpstr>
      <vt:lpstr>Bundle Management APIs now generally available for Amazon WorkSpaces</vt:lpstr>
      <vt:lpstr>Amazon Connect Customer Profiles now supports data sources from Amazon S3</vt:lpstr>
      <vt:lpstr>Good to know</vt:lpstr>
      <vt:lpstr>Amazon QLDB Increases Verification APIs Throughput by an Order of Magnitude</vt:lpstr>
      <vt:lpstr>AWS Copilot launches v1.4 with support for ECS exec and more</vt:lpstr>
      <vt:lpstr>Announcing the General Availability of Amazon Corretto 16</vt:lpstr>
      <vt:lpstr>AWS Cost Anomaly Detection now supports AWS CloudFormation</vt:lpstr>
      <vt:lpstr>AWS Config Adds 3 New Config Rules for Amazon Secrets Manager</vt:lpstr>
      <vt:lpstr>Amazon EC2 Auto Scaling adds support for local time zones for scheduled scaling</vt:lpstr>
      <vt:lpstr>Amazon Elasticsearch Service now publishes events to Amazon CloudWatch and Amazon EventBridge for service software updates</vt:lpstr>
      <vt:lpstr>Amazon RDS for Oracle supports Oracle Management Agent (OMA) version 13.4 for Oracle Enterprise Manager Cloud Control 13cR4</vt:lpstr>
      <vt:lpstr>Announcing General Availability of Amazon Redshift Data Sharing</vt:lpstr>
      <vt:lpstr>Announcing General Availability of Amazon Redshift Cross-database queries</vt:lpstr>
      <vt:lpstr>CloudEndure Migration and CloudEndure Disaster Recovery now support EBS Local Snapshots on AWS Outposts</vt:lpstr>
      <vt:lpstr>Amazon RDS for PostgreSQL supports managed disaster recovery (DR) with Cross-Region Automated Backups</vt:lpstr>
      <vt:lpstr>AWS Proton now supports services without pipelines</vt:lpstr>
      <vt:lpstr>AWS Glue DataBrew adds binning, skewness, binarization, and transpose transformations for pre-processing data for machine learning and analytics</vt:lpstr>
      <vt:lpstr>Amazon Connect now provides an out-of-the-box chat user interface for your website</vt:lpstr>
      <vt:lpstr>AWS Secrets Manager now provides support to replicate secrets in AWS Secrets Manager to multiple AWS Regions</vt:lpstr>
      <vt:lpstr>AWS Systems Manager Change Manager now supports multi-level approvals</vt:lpstr>
      <vt:lpstr>AWS Systems Manager OpsCenter now displays an aggregated view of all operational issues for a specified resource</vt:lpstr>
      <vt:lpstr>AWS Certificate Manager now provides certificate expiry monitoring through Amazon CloudWatch</vt:lpstr>
      <vt:lpstr>AWS Glue DataBrew extends its datasets to support files without an explicit file extension or a header row</vt:lpstr>
      <vt:lpstr>Announcing General Availability of Ethereum on Amazon Managed Blockchain</vt:lpstr>
      <vt:lpstr>Amazon Elasticsearch Service now supports tag-based authorization for configuration APIs</vt:lpstr>
      <vt:lpstr>The AWS Lambda console now features a new navigation design</vt:lpstr>
      <vt:lpstr>Amazon EKS now supports adding KMS envelope encryption to existing clusters to enhance security for secrets</vt:lpstr>
      <vt:lpstr>Amazon Connect now supports 15 minute intervals for historical metric reporting</vt:lpstr>
      <vt:lpstr>Get ready to roll! 2021 AWS DeepRacer League Season is now underway</vt:lpstr>
      <vt:lpstr>Amazon CloudWatch Synthetics now supports cross region bucket access and upgraded dependencies</vt:lpstr>
      <vt:lpstr>AWS Network Firewall Deployment Automations for AWS Transit Gateway is Generally Available</vt:lpstr>
      <vt:lpstr>Amazon Elasticsearch Service now supports rollups, reducing storage costs for extended retention</vt:lpstr>
      <vt:lpstr>Amazon RDS now supports PostgreSQL 13</vt:lpstr>
      <vt:lpstr>Amazon EC2 Auto Scaling now shows scaling history for deleted groups</vt:lpstr>
      <vt:lpstr>Access Amazon EFS file systems from EC2 Mac instances running macOS Big Sur</vt:lpstr>
      <vt:lpstr>Amazon Aurora PostgreSQL Patches 1.8.2 / 2.6.2 / 3.3.2 now available</vt:lpstr>
      <vt:lpstr>Amazon Elasticsearch Service add support for Reporting in Kibana</vt:lpstr>
      <vt:lpstr>Amazon CloudWatch Contributor Insights for Amazon DynamoDB now supports AWS CloudFormation</vt:lpstr>
      <vt:lpstr>Amazon Connect now provides disconnect reason for Voice Calls &amp; Tasks</vt:lpstr>
      <vt:lpstr>AWS CodeBuild supports Arm-based workloads using AWS Graviton2</vt:lpstr>
      <vt:lpstr>AWS Control Tower now provides region selection</vt:lpstr>
      <vt:lpstr>Support for KMS encryption on S3 buckets used by AWS Config</vt:lpstr>
      <vt:lpstr>Amazon RDS Publishes New Events for Multi-AZ Deployments</vt:lpstr>
      <vt:lpstr>Assign a Delegated Administrator to manage AWS CloudFormation StackSets across your AWS Organization</vt:lpstr>
      <vt:lpstr>Amazon Elasticsearch Service adds Trace Analytics, a new feature for distributed tracing</vt:lpstr>
      <vt:lpstr>Amazon EKS and EKS Distro now supports Kubernetes version 1.19</vt:lpstr>
      <vt:lpstr>AWS Direct Connect Announces Native 100 Gbps Dedicated Connections at Select Locations</vt:lpstr>
      <vt:lpstr>Amazon DynamoDB Accelerator (DAX) now supports next generation, burstable general-purpose Amazon EC2 T3 instance types</vt:lpstr>
      <vt:lpstr>Amazon RDS for MySQL and MariaDB support replication filtering</vt:lpstr>
      <vt:lpstr>Now Launch Amazon SageMaker Studio using AWS CloudFormation</vt:lpstr>
      <vt:lpstr>AWS WAF adds support for JSON parsing and inspection</vt:lpstr>
      <vt:lpstr>Introducing Amazon VPC Endpoints for AWS CloudHSM</vt:lpstr>
      <vt:lpstr>AWS Identity and Access Management now supports tags on additional resources</vt:lpstr>
      <vt:lpstr>Amazon Aurora Global Database supports managed planned failover</vt:lpstr>
      <vt:lpstr>AWS Glue DataBrew now allows you to configure the size of the dataset when auto-generating data quality statistics</vt:lpstr>
      <vt:lpstr>Amazon VPC Traffic Mirroring is now supported on select non-Nitro instance types</vt:lpstr>
      <vt:lpstr>Amazon Timestream now offers cross table queries, query execution statistics, and more</vt:lpstr>
      <vt:lpstr>AWS Glue now provides column importance metrics in the FindMatches machine learning transform</vt:lpstr>
      <vt:lpstr>Amazon Keyspaces (for Apache Cassandra) now helps you automate table creation by supporting point-in-time recovery and tag settings in AWS CloudFormation</vt:lpstr>
      <vt:lpstr>AWS Cloud Map now supports resource tagging in AWS Console</vt:lpstr>
      <vt:lpstr>Introducing Amazon EC2 M5n, M5dn, R5n, and R5dn Bare Metal Instances</vt:lpstr>
      <vt:lpstr>AWS Copilot launches v1.2 providing more deployment capabilities</vt:lpstr>
      <vt:lpstr>AWS App Mesh now supports mutual TLS authentication</vt:lpstr>
      <vt:lpstr>AWS Backup Events and Metrics now available in Amazon CloudWatch</vt:lpstr>
      <vt:lpstr>Take actions before and after patching to improve safety during patch installation</vt:lpstr>
      <vt:lpstr>AWS Lambda now supports Node.js 14</vt:lpstr>
      <vt:lpstr>Amazon CloudWatch Synthetics supports Amazon API Gateway in API blueprint</vt:lpstr>
      <vt:lpstr>Amazon RDS for Oracle supports Oracle Application Express (APEX) Version 20.2</vt:lpstr>
      <vt:lpstr>Amazon S3 Batch Operations adds support for Delete Object Tagging</vt:lpstr>
      <vt:lpstr>Scheduled Actions of Application Auto Scaling now support Local Time Zone</vt:lpstr>
      <vt:lpstr>Amazon GuardDuty introduces machine learning domain reputation model to expand threat detection and improve accuracy</vt:lpstr>
      <vt:lpstr>Amazon SNS now supports 1-minute CloudWatch metrics</vt:lpstr>
      <vt:lpstr>Amazon Managed Blockchain now supports resource tagging and tag-based access control</vt:lpstr>
      <vt:lpstr>Amazon CloudWatch now adds Fluent Bit support for container logs from Amazon EKS and Kubernetes</vt:lpstr>
      <vt:lpstr>Amazon Aurora supports in-place upgrades from PostgreSQL 11 to 12</vt:lpstr>
      <vt:lpstr>Amazon Elasticsearch Service extends encryption at rest and node-to-node encryption to existing domains</vt:lpstr>
      <vt:lpstr>Discover, review, and remediate unintended access to Secrets Manager secrets using IAM Access Analyzer</vt:lpstr>
      <vt:lpstr>AWS Shield Advanced now provides mitigation metrics and network traffic timelines</vt:lpstr>
      <vt:lpstr>Amazon Redshift doubles managed storage quota to 128 TB per node for RA3.16XL and RA3.4XL node-types</vt:lpstr>
      <vt:lpstr>Amazon Keyspaces (for Apache Cassandra) now supports JSON syntax to help you read and write data from other systems more easily</vt:lpstr>
      <vt:lpstr>Resource Groups Tagging API launches ResourceARNList parameter for the GetResources operation</vt:lpstr>
      <vt:lpstr>Amazon Detective enhances IP Address Analytics</vt:lpstr>
      <vt:lpstr>Amazon RDS for PostgreSQL Supports pg_cron Extension for Scheduling Database Jobs</vt:lpstr>
      <vt:lpstr>AWS Certificate Manager Private Certificate Authority now supports additional certificate customization</vt:lpstr>
      <vt:lpstr>AWS SDK for Go version 2 is now generally available</vt:lpstr>
      <vt:lpstr>Amazon CloudWatch Application Insights supports Oracle database monitoring</vt:lpstr>
      <vt:lpstr>New Amazon Builders’ Library Article: Making retries safe with idempotent APIs</vt:lpstr>
      <vt:lpstr>Amazon CloudWatch Container Insights now available on AWS Graviton2</vt:lpstr>
      <vt:lpstr>Introducing update to Multi-Region Application Architecture</vt:lpstr>
      <vt:lpstr>Amazon Fraud Detector launches ability to cancel in-progress model trainings</vt:lpstr>
      <vt:lpstr>Amazon RDS for PostgreSQL Supports New Minor Versions 12.5, 11.10, 10.15, 9.6.20, and 9.5.24</vt:lpstr>
      <vt:lpstr>Amazon Redshift now supports fine-grained access control on COPY and UNLOAD commands</vt:lpstr>
      <vt:lpstr>Amazon SNS adds support for message archiving and analytics via Kinesis Data Firehose subscriptions</vt:lpstr>
      <vt:lpstr>Amazon Aurora supports in-place upgrades from MySQL 5.6 to 5.7</vt:lpstr>
      <vt:lpstr>Amazon EC2 API now supports Internet Protocol Version 6 (IPv6)</vt:lpstr>
      <vt:lpstr>AWS CloudFormation now supports AWS DataSync</vt:lpstr>
      <vt:lpstr>Amazon EMR now supports Apache Ranger for fine-grained data access control</vt:lpstr>
      <vt:lpstr>AWS Cloud Map achieves PCI DSS Certification</vt:lpstr>
      <vt:lpstr>AWS App Mesh achieves PCI DSS Certification</vt:lpstr>
      <vt:lpstr>Amazon EC2 Auto Scaling now allows up to 40 instance types when defining a Mixed Instances Policy</vt:lpstr>
      <vt:lpstr>Amazon SQS announces tiered pricing</vt:lpstr>
      <vt:lpstr>Amazon Connect launches new contact search page with an enhanced user experience</vt:lpstr>
      <vt:lpstr>Less Relevant</vt:lpstr>
      <vt:lpstr>Announcing AWS Media Intelligence solutions</vt:lpstr>
      <vt:lpstr>AWS Database Migration Service now supports Db2 LUW version 11.5 as a source</vt:lpstr>
      <vt:lpstr>Sellers can now manage versions and update information of their AMI and Container products through the AWS Marketplace Catalog API</vt:lpstr>
      <vt:lpstr>AWS IoT Core’s Apache Kafka action now supports username and password authentication for Amazon Managed Streaming for Apache Kafka (Amazon MSK)</vt:lpstr>
      <vt:lpstr>AWS Client VPN announces expanded presence inside six AWS Regions</vt:lpstr>
      <vt:lpstr>AWS Solutions Implementation - The Discovering Hot Topics Using Machine Learning solution adds the capability to filter and visualize Twitter topics based on geographical coordinates</vt:lpstr>
      <vt:lpstr>AWS Gateway Load Balancer is now available in additional 9 regions</vt:lpstr>
      <vt:lpstr>AWS Launch Wizard now supports ‘No Rollback on Failure’</vt:lpstr>
      <vt:lpstr>New digital course: AWS Cloud Technical Essentials</vt:lpstr>
      <vt:lpstr>AWS X-Ray Insights is now available in AWS GovCloud (US) Regions</vt:lpstr>
      <vt:lpstr>AWS announces General Availability of Six New Regions for Amazon GameLift</vt:lpstr>
      <vt:lpstr>New AWS SSO gallery app simplifies Azure AD set-up with AWS</vt:lpstr>
      <vt:lpstr>Support for SRT protocol added to AWS Elemental MediaConnect</vt:lpstr>
      <vt:lpstr>AWS announces Developer Preview release of opinionated deployment tool for .NET CLI</vt:lpstr>
      <vt:lpstr>New AWS Solutions Consulting Offer - Deploy Containers on AWS</vt:lpstr>
      <vt:lpstr>New AWS Solutions Consulting Offer - Build Cloud Foundations</vt:lpstr>
      <vt:lpstr>AWS IoT SiteWise Monitor adds support for accessing Monitor portals using AWS Identity and Access Management (IAM) users and roles</vt:lpstr>
      <vt:lpstr>New digital course: Amazon S3 Cost Optimization</vt:lpstr>
      <vt:lpstr>Lower Cost Storage Classes for Amazon Elastic File System are now available in additional regions</vt:lpstr>
      <vt:lpstr>Announcing new Amazon EC2 X2gd instances powered by AWS Graviton2 processors</vt:lpstr>
      <vt:lpstr>AWS Batch now available in the Africa (Cape Town) and the Asia-Pacific (Osaka) Regions</vt:lpstr>
      <vt:lpstr>Announcing new operations plan AWS Managed Services Accelerate</vt:lpstr>
      <vt:lpstr>AWS Glue DataBrew is now available in Asia Pacific (Seoul), North America (Montreal), and South America (Sao Paulo) AWS Regions</vt:lpstr>
      <vt:lpstr>AWS Wavelength is now ISO 9001, 27001, 27017 and 27018 compliant</vt:lpstr>
      <vt:lpstr>New AWS Solutions Consulting Offer - Virtual Desktop Accelerator</vt:lpstr>
      <vt:lpstr>New AWS Solutions Consulting Offer - Conversational AI Platform</vt:lpstr>
      <vt:lpstr>New AWS Solutions Consulting Offer - Design and Implementation for Druva Data Protection Solutions</vt:lpstr>
      <vt:lpstr>Amazon Transcribe supports word-level confidence scores for streaming transcription</vt:lpstr>
      <vt:lpstr>AWS Elemental MediaTailor introduces Channel Assembly for creating virtual linear OTT channels</vt:lpstr>
      <vt:lpstr>Amazon Kinesis Video Streams updates media playback API service quotas to enable up to 10x more simultaneous consumers</vt:lpstr>
      <vt:lpstr>Introducing a new API allowing you to stop in-progress workflows in Amazon Forecast</vt:lpstr>
      <vt:lpstr>Amazon Aurora PostgreSQL-Compatible edition supports simultaneous authentication with both Microsoft Active Directory (AD) and AWS Identity and Access Management (IAM)</vt:lpstr>
      <vt:lpstr>Introducing Lower Cost Storage Classes for Amazon Elastic File System</vt:lpstr>
      <vt:lpstr>Amazon Aurora Global Database Expands Availability to São Paulo and Stockholm</vt:lpstr>
      <vt:lpstr>Introducing Lower Cost Storage Classes for Amazon Elastic File System</vt:lpstr>
      <vt:lpstr>Amazon RDS for PostgreSQL M6g and R6g instances now available in N. California, Canada, São Paulo, and London regions</vt:lpstr>
      <vt:lpstr>Amazon WorkSpaces is available in the Asia Pacific (Mumbai) Region</vt:lpstr>
      <vt:lpstr>Announcing Kotlin-centric developer experience in Amplify Android</vt:lpstr>
      <vt:lpstr>AWS CloudFormation now supports Amazon S3 on Outposts</vt:lpstr>
      <vt:lpstr>Amazon EMR introduces instance fleets to help lower cost and improve cluster provisioning in AWS GovCloud (US) Regions</vt:lpstr>
      <vt:lpstr>AWS IoT Device SDK for Embedded C now supports over-the-air update, AWS IoT Device Defender custom metrics, and multiple shadows for a single IoT device</vt:lpstr>
      <vt:lpstr>Amazon EC2 D3 instances with dense local HDD storage now available in Asia Pacific (Singapore, Sydney and Tokyo), and Europe (Frankfurt) regions</vt:lpstr>
      <vt:lpstr>AWS Proton makes new fields available for Jinja parametrization</vt:lpstr>
      <vt:lpstr>AWS Elemental MediaLive launches Workflow Wizard</vt:lpstr>
      <vt:lpstr>Amazon Quicksight Launches Sankey Diagram, Field folders and more</vt:lpstr>
      <vt:lpstr>AWS IoT Device Defender now supports CloudFormation</vt:lpstr>
      <vt:lpstr>AWS Network Firewall is now available in the US East (Ohio), Asia Pacific (Tokyo), Europe (Frankfurt), and Europe (Stockholm) AWS Regions</vt:lpstr>
      <vt:lpstr>Amazon EMR on EKS is now available in US West (N. California), US East (Ohio), Canada (Central), EU (Frankfurt and London), Asia Pacific (Mumbai, Seoul, Singapore, Sydney, and Tokyo) regions</vt:lpstr>
      <vt:lpstr>Amazon EC2 P4d Instances now available in the US East (Ohio) and Asia Pacific (Tokyo) regions</vt:lpstr>
      <vt:lpstr>Amazon Redshift launches RA3.16xlarge and RA3.4xlarge in AWS GovCloud (US) Regions and RA3.xlplus in additional AWS Regions</vt:lpstr>
      <vt:lpstr>AWS Solutions: Serverless Bot Framework adds Amazon Lex V2 Console and API integration for an improved bot building experience</vt:lpstr>
      <vt:lpstr>Amazon Elastic File System (Amazon EFS) is now available in the AWS Asia Pacific (Osaka) region</vt:lpstr>
      <vt:lpstr>FreeRTOS demonstrates meeting a set of security criteria for IoT platforms</vt:lpstr>
      <vt:lpstr>New AWS Solutions Consulting Offer - Driving Digital Transformation with Sitecore</vt:lpstr>
      <vt:lpstr>Four new digital training offerings for AWS End User Computing</vt:lpstr>
      <vt:lpstr>New AWS Solutions Consulting Offer - Intelligent SAP Migration and Management on AWS</vt:lpstr>
      <vt:lpstr>Amazon Aurora Supports PostgreSQL 11.9, 10.14, and 9.6.19 in AWS GovCloud (US) Regions</vt:lpstr>
      <vt:lpstr>FreeRTOS Long Term Support now includes AWS IoT over-the-air update, AWS IoT Device Defender, and AWS IoT Jobs libraries</vt:lpstr>
      <vt:lpstr>New Amazon SNS Console Now Available in AWS GovCloud (US) Regions</vt:lpstr>
      <vt:lpstr>AWS AppConfig is now available in AWS GovCloud (US) Regions</vt:lpstr>
      <vt:lpstr>AWS CodePipeline now supports 1000 pipelines per account</vt:lpstr>
      <vt:lpstr>Announcing the newly expanded AWS Asia Pacific (Osaka) Region</vt:lpstr>
      <vt:lpstr>AWS Gateway Load Balancer is now available in the US East (Ohio), Asia Pacific (Tokyo), and EU (Frankfurt and Stockholm) Regions</vt:lpstr>
      <vt:lpstr>Real-Time Contact Lens for Amazon Connect is now available in the Europe (London), Europe (Frankfurt), and Asia Pacific (Tokyo) AWS Regions</vt:lpstr>
      <vt:lpstr>Support for AS923-1 frequency band is now generally available for AWS IoT Core for LoRaWAN</vt:lpstr>
      <vt:lpstr>AWS Launch Wizard now allows you to specify IP addresses for SAP deployments</vt:lpstr>
      <vt:lpstr>AWS Elemental MediaTailor now supports many media origins and paths within a single configuration with Configuration Aliases</vt:lpstr>
      <vt:lpstr>New AWS Solutions Consulting Offer - JumpStart for Amazon Textract</vt:lpstr>
      <vt:lpstr>Updated digital course on Coursera and edX - AWS Cloud Practitioner Essentials</vt:lpstr>
      <vt:lpstr>New digital class and lab on DevOps on AWS</vt:lpstr>
      <vt:lpstr>Announcing two new on-demand digital courses for Media Services</vt:lpstr>
      <vt:lpstr>New digital curriculum: Build Modern Apps with Purpose-Built Databases</vt:lpstr>
      <vt:lpstr>Automate quality inspection with Amazon Lookout for Vision — now generally available</vt:lpstr>
      <vt:lpstr>AWS Transfer Family is now available in AWS Middle East (Bahrain), AWS Asia Pacific (Hong Kong), and AWS Africa (Cape Town) Regions</vt:lpstr>
      <vt:lpstr>New troubleshooting feature now generally available for AWS IoT Events</vt:lpstr>
      <vt:lpstr>Amazon RDS for SQL Server now supports Always On Availability Groups for Standard Edition</vt:lpstr>
      <vt:lpstr>AWS Database Migration Service now supports MariaDB version 10.5</vt:lpstr>
      <vt:lpstr>Introducing our new Solutions Training for Partners: Sales Best Practices courses</vt:lpstr>
      <vt:lpstr>New AWS Solutions Implementation: IoT Static IP Endpoints</vt:lpstr>
      <vt:lpstr>Amazon RDS for Oracle now supports January 2021 Release Updates (RU)</vt:lpstr>
      <vt:lpstr>Announcing new Amazon EC2 T4g instances powered by AWS Graviton2 processors in Asia Pacific (Hong Kong), and Europe (Stockholm) regions</vt:lpstr>
      <vt:lpstr>Announcing new Amazon EC2 T4g instances powered by AWS Graviton2 processors along with a T4g free trial in Asia Pacific (Seoul) region</vt:lpstr>
      <vt:lpstr>Now create Amazon SageMaker Studio presigned URL with custom expiration time</vt:lpstr>
      <vt:lpstr>Updated digital training for AWS Partners on End User Computing and Machine Learning</vt:lpstr>
      <vt:lpstr>Amazon Redshift Query Editor now supports clusters with enhanced VPC routing, longer query run times, and all node types</vt:lpstr>
      <vt:lpstr>Simplified Amazon Elastic File System management console now available in AWS GovCloud (US) Regions</vt:lpstr>
      <vt:lpstr>Amazon Pinpoint now supports 10DLC and toll-free numbers</vt:lpstr>
      <vt:lpstr>Amazon ml.Inf1 instances are now available on Amazon SageMaker in 14 additional AWS regions</vt:lpstr>
      <vt:lpstr>Amazon SNS now supports sending SMS messages to US destinations using ten-digit long codes and toll-free numbers</vt:lpstr>
      <vt:lpstr>Update content of inbound and outbound emails using AWS Lambda in Amazon WorkMail</vt:lpstr>
      <vt:lpstr>AWS Config now supports the ability to save advanced queries in AWS GovCloud (US) Regions</vt:lpstr>
      <vt:lpstr>AWS Elemental MediaLive now supports region transfer for AWS Elemental Link</vt:lpstr>
      <vt:lpstr>AWS Elemental Link now available in Europe (Paris) region</vt:lpstr>
      <vt:lpstr>AWS Graviton2 based M6g, C6g, and R6g instances are now available in EU (Stockholm) region, and M6gd, C6gd, and R6gd instances are now available in US West (Northern California), and Asia Pacific (Tokyo) regions</vt:lpstr>
      <vt:lpstr>Announcing General Availability of Amplify Flutter, with new data and authentication support</vt:lpstr>
      <vt:lpstr>Amazon S3 on Outposts adds a smaller storage tier</vt:lpstr>
      <vt:lpstr>AWS Elemental MediaLive expands its automatic input failover capabilities</vt:lpstr>
      <vt:lpstr>Amazon Simple Email Service launches a redesigned service console experience</vt:lpstr>
      <vt:lpstr>AWS CloudFormation StackSets is now available in Japan (Osaka) Region</vt:lpstr>
      <vt:lpstr>Amazon EC2 M5zn instances, with high frequency processors and 100 Gbps networking are now available in Asia Pacific (Singapore and Sydney)</vt:lpstr>
      <vt:lpstr>Introducing Serverless Image Handler v5.2</vt:lpstr>
      <vt:lpstr>Amazon Lex is now available in the AWS GovCloud (US-West) Region</vt:lpstr>
      <vt:lpstr>Announcing AMD instance support for Amazon GameLift FleetIQ</vt:lpstr>
      <vt:lpstr>AWS Cloud9 launches visual source control integration for Git</vt:lpstr>
      <vt:lpstr>AWS DeepComposer launches Transformer Notebook on GitHub</vt:lpstr>
      <vt:lpstr>New digital curriculum: Managing Amazon S3</vt:lpstr>
      <vt:lpstr>AWS Glue is now available in the AWS Africa (Cape Town) Region</vt:lpstr>
      <vt:lpstr>AWS Lake Formation is now available in Asia Pacific (Hong Kong) region</vt:lpstr>
      <vt:lpstr>AWS Data Exchange enables subscribers to export full revisions</vt:lpstr>
      <vt:lpstr>Amazon CloudFront launches in Croatia</vt:lpstr>
      <vt:lpstr>New AWS Solutions Consulting Offer - Persistent Digital Bank and Credit Union Solution</vt:lpstr>
      <vt:lpstr>AWS CloudHSM Adds New Availability Zones</vt:lpstr>
      <vt:lpstr>New AWS Solutions Consulting Offer - Digital Banking Engagement Platform</vt:lpstr>
      <vt:lpstr>New AWS Solutions Consulting Offer - AI-Powered Inventory Management</vt:lpstr>
      <vt:lpstr>Amazon ECS Service Discovery Now Available in Africa (Cape Town) and Europe (Milan)</vt:lpstr>
      <vt:lpstr>Introducing Amazon CloudFront Security Savings Bundle</vt:lpstr>
      <vt:lpstr>AWS Graviton2 M6g, C6g, and R6g instances now available in Asia Pacific (Seoul, Hong Kong) regions, and M6gd, C6gd, and R6gd instances now available in EU (Frankfurt), and Asia Pacific (Singapore, Sydney) regions</vt:lpstr>
      <vt:lpstr>AWS Solutions Implementation - AWS Data Streaming Solution for Amazon MSK adds a template for you to read events and store data to Amazon S3 from a streaming application</vt:lpstr>
      <vt:lpstr>AWS Solutions Implementation - AWS MLOps Framework adds a model monitoring pipeline for customers to take remedial action when there are deviations in model quality</vt:lpstr>
      <vt:lpstr>Introducing Amazon EBS Local Snapshots on Outposts</vt:lpstr>
      <vt:lpstr>Announcing new AWS Wavelength Zone in Osaka, Japan</vt:lpstr>
      <vt:lpstr>AWS Amplify Hosting adds monitoring capabilities with Amazon CloudWatch integration</vt:lpstr>
      <vt:lpstr>Amazon Connect is now available in the AWS GovCloud (US-West) Region</vt:lpstr>
      <vt:lpstr>AWS Elemental MediaLive adds support for VPC outputs</vt:lpstr>
      <vt:lpstr>Amazon Virtual Private Cloud (VPC) customers can now customize reverse DNS for their Elastic IP addresses</vt:lpstr>
      <vt:lpstr>AWS Console Mobile Application adds support for new regions</vt:lpstr>
      <vt:lpstr>Amazon Redshift delivers better cold query performance to three additional AWS regions</vt:lpstr>
      <vt:lpstr>AWS Launch Wizard now configures RHEL and SLES clustering for SAP application High Availability</vt:lpstr>
      <vt:lpstr>Amazon Transcribe Medical now provides automatic Protected Health Information (PHI) identification</vt:lpstr>
      <vt:lpstr>AWS Glue DataBrew is now available in six additional AWS Regions</vt:lpstr>
      <vt:lpstr>AWS Control Tower now available in Canada, Frankfurt, London, Stockholm and Singapore AWS Regions</vt:lpstr>
      <vt:lpstr>AWS Marketplace announces support for multiple Private Marketplace catalogs</vt:lpstr>
      <vt:lpstr>AWS RoboMaker supports data upload configurations in simulation jobs</vt:lpstr>
      <vt:lpstr>Amazon FSx is now available in the AWS Africa (Cape Town), Europe (Milan), and Middle East (Bahrain) Regions</vt:lpstr>
      <vt:lpstr>AWS CodePipeline now available in Europe South (Milan) region</vt:lpstr>
      <vt:lpstr>AWS Security Hub adds 1 new integration globally and adds 5 integrations to AWS GovCloud (US) Regions</vt:lpstr>
      <vt:lpstr>Amazon SES now lets you assign a configuration set to an email identity</vt:lpstr>
      <vt:lpstr>Amazon RDS for SQL Server now supports tempdb on local instance store with R5d and M5d instance types</vt:lpstr>
      <vt:lpstr>AWS Direct Connect launches second location in Italy</vt:lpstr>
      <vt:lpstr>Announcing new Amazon EC2 T4g instances powered by AWS Graviton2 processors along with a T4g free trial in Asia Pacific (Sydney, Singapore), Europe (London), North Americas (Canada Central, San Francisco), and South Americas (Sao Paulo) regions</vt:lpstr>
      <vt:lpstr>Amazon EBS direct APIs now enable you to create EBS snapshots in the Asia Pacific (Osaka-Local) Region directly from any block storage</vt:lpstr>
      <vt:lpstr>Launching Amazon Lex streaming conversation APIs for improved virtual agent conversational experiences</vt:lpstr>
      <vt:lpstr>Amazon Kendra achieves ISO and PCI compliance</vt:lpstr>
      <vt:lpstr>AWS App Mesh is now available in Africa (Cape Town) AWS Region</vt:lpstr>
      <vt:lpstr>AWS Cloud Map Updates Service Level Agreement</vt:lpstr>
      <vt:lpstr>Launching Amazon Lex V2 console and APIs for an improved bot building experience</vt:lpstr>
      <vt:lpstr>New partner training on migration, cloud governance, and machine learning</vt:lpstr>
      <vt:lpstr>Amazon RDS for MariaDB now supports version 10.5.8</vt:lpstr>
      <vt:lpstr>Amazon SQS now supports 1-Minute CloudWatch Metrics in AWS GovCloud (US) Regions</vt:lpstr>
      <vt:lpstr>Amazon Chime SDKs for iOS and Android now support screen share</vt:lpstr>
      <vt:lpstr>Announcing CDK Support for AWS Chalice</vt:lpstr>
      <vt:lpstr>New AWS IoT Device Client simplifies onboarding to AWS IoT Core, AWS IoT Device Management, and AWS IoT Device Defender</vt:lpstr>
      <vt:lpstr>Amazon FSx now supports FIPS 140-2 validated endpoints</vt:lpstr>
      <vt:lpstr>Announcing date and time functions and timezone support in AWS IoT SiteWise</vt:lpstr>
      <vt:lpstr>New self-paced course about designing data lakes on edX and Coursera</vt:lpstr>
      <vt:lpstr>Amazon EC2 P4d Instances now available in the Europe (Ireland) region</vt:lpstr>
      <vt:lpstr>PCI DSS compliance for AWS Wavelength</vt:lpstr>
      <vt:lpstr>Announcing three new digital courses for Amazon S3</vt:lpstr>
      <vt:lpstr>The graphical user interface of Porting Assistant for .NET is now open source</vt:lpstr>
      <vt:lpstr>Amazon Rekognition Custom Labels is now available in the Asia Pacific (Singapore), Asia Pacific (Sydney), Asia Pacific (Seoul), and Asia Pacific (Tokyo) AWS Regions</vt:lpstr>
      <vt:lpstr>Amazon EC2 X1 and X1e instances are now available in additional AWS regions</vt:lpstr>
      <vt:lpstr>Announcing New Segmentation Capabilities for Amazon Pinpoint</vt:lpstr>
      <vt:lpstr>New AWS Public Datasets available from the Illumina, the University of Alaska Fairbanks, IntelinAir, and others</vt:lpstr>
      <vt:lpstr>New digital course and lab: AWS Cloud Development Kit (CDK) Primer</vt:lpstr>
      <vt:lpstr>New digital course: Configuring and Deploying VPCs with Multiple Subnets</vt:lpstr>
      <vt:lpstr>Amplify DataStore launches support for sorting and selectively syncing app data</vt:lpstr>
      <vt:lpstr>Amazon Cognito Identity Pools enables using user attributes from identity providers for access control to simplify permissions management in AWS</vt:lpstr>
      <vt:lpstr>AWS Snow Family console further simplifies Snow data transfer and compute job creation and management</vt:lpstr>
      <vt:lpstr>Amazon AppStream 2.0 now supports using smart cards for Active Directory domain login and streaming applications</vt:lpstr>
      <vt:lpstr>Announcing support for Methods via Uniform Function Call syntax in AWS IoT SiteWise</vt:lpstr>
      <vt:lpstr>Announcing the global expansion of AWS Contact Center Intelligence solutions</vt:lpstr>
      <vt:lpstr>AWS Snowcone now supports multicast streams and routing by providing instances with direct access to external networks</vt:lpstr>
      <vt:lpstr>Amazon Lightsail now supports IPv6</vt:lpstr>
      <vt:lpstr>Customers can now tag resources in the Amazon Braket console</vt:lpstr>
      <vt:lpstr>New AWS Config console streamlines resource configuration and compliance management</vt:lpstr>
      <vt:lpstr>AWS Network Firewall is now available in the Asia Pacific (Sydney) Region</vt:lpstr>
      <vt:lpstr>Amazon AppFlow now supports Salesforce Pardot</vt:lpstr>
      <vt:lpstr>Amazon CloudSearch announces updates to its search instances</vt:lpstr>
      <vt:lpstr>FreeRTOS includes pre-configured projects for software emulations of microcontroller cores using QEMU open source emulator</vt:lpstr>
      <vt:lpstr>New beta exam for AWS Certified SysOps Administrator - Associate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Stanford Guillory</cp:lastModifiedBy>
  <cp:revision>166</cp:revision>
  <dcterms:created xsi:type="dcterms:W3CDTF">2016-06-17T18:22:10Z</dcterms:created>
  <dcterms:modified xsi:type="dcterms:W3CDTF">2021-03-25T13:58:38Z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